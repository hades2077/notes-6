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9" r:id="rId10"/>
    <p:sldId id="264" r:id="rId11"/>
    <p:sldId id="265" r:id="rId12"/>
    <p:sldId id="266" r:id="rId13"/>
    <p:sldId id="268" r:id="rId14"/>
    <p:sldId id="267" r:id="rId15"/>
  </p:sldIdLst>
  <p:sldSz cx="12192000" cy="6858000"/>
  <p:notesSz cx="6858000" cy="9144000"/>
  <p:embeddedFontLst>
    <p:embeddedFont>
      <p:font typeface="Arial Rounded MT Bold" panose="020F0704030504030204" pitchFamily="34" charset="0"/>
      <p:regular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Light" panose="020B0604020202020204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C08017-1966-4052-B8A0-D68B970C4D30}">
  <a:tblStyle styleId="{DAC08017-1966-4052-B8A0-D68B970C4D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068758"/>
            <a:ext cx="11201400" cy="104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0" i="0" u="none" strike="noStrike" cap="none" dirty="0">
                <a:solidFill>
                  <a:srgbClr val="1A1A1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Loaders:</a:t>
            </a:r>
            <a:endParaRPr dirty="0"/>
          </a:p>
        </p:txBody>
      </p:sp>
      <p:sp>
        <p:nvSpPr>
          <p:cNvPr id="86" name="Google Shape;86;p13"/>
          <p:cNvSpPr/>
          <p:nvPr/>
        </p:nvSpPr>
        <p:spPr>
          <a:xfrm>
            <a:off x="762000" y="3281362"/>
            <a:ext cx="2118360" cy="8363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82184"/>
            <a:ext cx="10668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Programs you write are useless if it just sits on the disk !</a:t>
            </a:r>
            <a:endParaRPr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2359372"/>
            <a:ext cx="4953000" cy="282505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762000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  <a:latin typeface="Poppins SemiBold"/>
                <a:cs typeface="Poppins SemiBold"/>
                <a:sym typeface="Poppins SemiBold"/>
              </a:rPr>
              <a:t>Why do we even need a Loader 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3927" y="1693329"/>
            <a:ext cx="49530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Inter" panose="020B0604020202020204" charset="0"/>
                <a:ea typeface="Inter" panose="020B0604020202020204" charset="0"/>
                <a:sym typeface="Inter Light"/>
              </a:rPr>
              <a:t>An 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  <a:sym typeface="Inter"/>
              </a:rPr>
              <a:t>Object Program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  <a:sym typeface="Inter Light"/>
              </a:rPr>
              <a:t> contains the translated instructions and data values, but it lacks a physical place to stay.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462963" y="1662499"/>
            <a:ext cx="4953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800" dirty="0">
                <a:latin typeface="Inter" panose="020B0604020202020204" charset="0"/>
                <a:ea typeface="Inter" panose="020B0604020202020204" charset="0"/>
                <a:sym typeface="Inter Light"/>
              </a:rPr>
              <a:t>Program 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  <a:sym typeface="Wingdings" panose="05000000000000000000" pitchFamily="2" charset="2"/>
              </a:rPr>
              <a:t>  translate into machine code  waiting to be placed in memory</a:t>
            </a:r>
            <a:r>
              <a:rPr lang="en-US" sz="1800" dirty="0">
                <a:latin typeface="Inter" panose="020B0604020202020204" charset="0"/>
                <a:ea typeface="Inter" panose="020B0604020202020204" charset="0"/>
                <a:sym typeface="Inter Light"/>
              </a:rPr>
              <a:t> 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D41CC-DFFD-0151-3233-8F4718E8173A}"/>
              </a:ext>
            </a:extLst>
          </p:cNvPr>
          <p:cNvSpPr txBox="1"/>
          <p:nvPr/>
        </p:nvSpPr>
        <p:spPr>
          <a:xfrm>
            <a:off x="6477000" y="3887864"/>
            <a:ext cx="4776535" cy="82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If the code isn't in the RAM, the CPU doesn't even know it exists. </a:t>
            </a:r>
            <a:endParaRPr lang="en-IN"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28C9C-6F3C-41C4-25BF-54FA5B6969E9}"/>
              </a:ext>
            </a:extLst>
          </p:cNvPr>
          <p:cNvSpPr txBox="1"/>
          <p:nvPr/>
        </p:nvSpPr>
        <p:spPr>
          <a:xfrm>
            <a:off x="733927" y="3887864"/>
            <a:ext cx="5037220" cy="121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800" dirty="0">
                <a:latin typeface="Inter" panose="020B0604020202020204" charset="0"/>
                <a:ea typeface="Inter" panose="020B0604020202020204" charset="0"/>
              </a:rPr>
              <a:t>So, there is a need of system program which actually loads the object program into memory and ensures it executes.</a:t>
            </a:r>
            <a:endParaRPr lang="en-IN" sz="1800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591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628216" y="383311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4 Non – Negotiables: </a:t>
            </a:r>
            <a:endParaRPr b="1"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628216" y="2112062"/>
            <a:ext cx="33336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dirty="0">
                <a:latin typeface="Inter" panose="020B0604020202020204" charset="0"/>
                <a:ea typeface="Inter" panose="020B0604020202020204" charset="0"/>
              </a:rPr>
              <a:t>Memory Allocation:</a:t>
            </a:r>
            <a:endParaRPr sz="16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D9D6D5-4986-287C-A7B8-2031DACA84D6}"/>
              </a:ext>
            </a:extLst>
          </p:cNvPr>
          <p:cNvGrpSpPr/>
          <p:nvPr/>
        </p:nvGrpSpPr>
        <p:grpSpPr>
          <a:xfrm>
            <a:off x="628217" y="1445312"/>
            <a:ext cx="2879721" cy="2789444"/>
            <a:chOff x="762000" y="1411248"/>
            <a:chExt cx="2879721" cy="2789444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762000" y="2649498"/>
              <a:ext cx="2879721" cy="1551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just">
                <a:lnSpc>
                  <a:spcPct val="139925"/>
                </a:lnSpc>
              </a:pPr>
              <a:r>
                <a:rPr lang="en-US" sz="1800" dirty="0">
                  <a:latin typeface="Inter" panose="020B0604020202020204" charset="0"/>
                  <a:ea typeface="Inter" panose="020B0604020202020204" charset="0"/>
                </a:rPr>
                <a:t>It identifies and reserves the necessary memory space to ensure the program runs smoothly.</a:t>
              </a:r>
              <a:endParaRPr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pic>
          <p:nvPicPr>
            <p:cNvPr id="110" name="Google Shape;110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0" y="1411248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C5333CA-5B96-389F-D875-8E21DDCFC895}"/>
              </a:ext>
            </a:extLst>
          </p:cNvPr>
          <p:cNvGrpSpPr/>
          <p:nvPr/>
        </p:nvGrpSpPr>
        <p:grpSpPr>
          <a:xfrm>
            <a:off x="4444742" y="1445312"/>
            <a:ext cx="3333697" cy="3177242"/>
            <a:chOff x="4508450" y="2846189"/>
            <a:chExt cx="3333697" cy="3177242"/>
          </a:xfrm>
        </p:grpSpPr>
        <p:sp>
          <p:nvSpPr>
            <p:cNvPr id="106" name="Google Shape;106;p15"/>
            <p:cNvSpPr txBox="1"/>
            <p:nvPr/>
          </p:nvSpPr>
          <p:spPr>
            <a:xfrm>
              <a:off x="4508450" y="3512939"/>
              <a:ext cx="33336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IN" sz="2400" b="1" dirty="0">
                  <a:latin typeface="Inter" panose="020B0604020202020204" charset="0"/>
                  <a:ea typeface="Inter" panose="020B0604020202020204" charset="0"/>
                </a:rPr>
                <a:t>Symbolic Linking:</a:t>
              </a:r>
              <a:endParaRPr sz="160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4508450" y="4084439"/>
              <a:ext cx="2440690" cy="1938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just">
                <a:lnSpc>
                  <a:spcPct val="139925"/>
                </a:lnSpc>
              </a:pPr>
              <a:r>
                <a:rPr lang="en-US" sz="1800" dirty="0">
                  <a:latin typeface="Inter" panose="020B0604020202020204" charset="0"/>
                  <a:ea typeface="Inter" panose="020B0604020202020204" charset="0"/>
                </a:rPr>
                <a:t>The loader examines and resolves symbolic references found within the object modules.</a:t>
              </a:r>
              <a:endParaRPr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pic>
          <p:nvPicPr>
            <p:cNvPr id="111" name="Google Shape;11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08450" y="28461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CFE5D2A-8397-1A03-088D-28863CEB28D5}"/>
              </a:ext>
            </a:extLst>
          </p:cNvPr>
          <p:cNvGrpSpPr/>
          <p:nvPr/>
        </p:nvGrpSpPr>
        <p:grpSpPr>
          <a:xfrm>
            <a:off x="8080246" y="1353276"/>
            <a:ext cx="3333697" cy="2789444"/>
            <a:chOff x="8254900" y="2846189"/>
            <a:chExt cx="3333697" cy="2789444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8254900" y="3512939"/>
              <a:ext cx="33336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IN" sz="2400" b="1" dirty="0">
                  <a:latin typeface="Inter" panose="020B0604020202020204" charset="0"/>
                  <a:ea typeface="Inter" panose="020B0604020202020204" charset="0"/>
                </a:rPr>
                <a:t>Address Relocation:</a:t>
              </a:r>
              <a:endParaRPr sz="1600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8254900" y="4084439"/>
              <a:ext cx="3002282" cy="15511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just">
                <a:lnSpc>
                  <a:spcPct val="139925"/>
                </a:lnSpc>
              </a:pPr>
              <a:r>
                <a:rPr lang="en-US" sz="1800" dirty="0">
                  <a:latin typeface="Inter" panose="020B0604020202020204" charset="0"/>
                  <a:ea typeface="Inter" panose="020B0604020202020204" charset="0"/>
                </a:rPr>
                <a:t>It adjusts address references to align with the newly assigned memory locations during runtime.</a:t>
              </a:r>
              <a:endParaRPr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  <p:pic>
          <p:nvPicPr>
            <p:cNvPr id="112" name="Google Shape;112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254900" y="2846189"/>
              <a:ext cx="47625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10B9203-C1E3-D370-71AB-8C2F07C094F9}"/>
              </a:ext>
            </a:extLst>
          </p:cNvPr>
          <p:cNvSpPr txBox="1"/>
          <p:nvPr/>
        </p:nvSpPr>
        <p:spPr>
          <a:xfrm>
            <a:off x="471293" y="4804648"/>
            <a:ext cx="10419212" cy="2408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400" b="1" dirty="0">
                <a:latin typeface="Inter" panose="020B0604020202020204" charset="0"/>
                <a:ea typeface="Inter" panose="020B0604020202020204" charset="0"/>
              </a:rPr>
              <a:t>        Code Loading:</a:t>
            </a:r>
            <a:endParaRPr lang="en-US" altLang="en-US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Inter" panose="020B0604020202020204" charset="0"/>
                <a:ea typeface="Inter" panose="020B0604020202020204" charset="0"/>
              </a:rPr>
              <a:t>Finally, the loader transfers the machine-level instructions from the object modules into the allocated memory, setting the stage for the program to execute. </a:t>
            </a:r>
          </a:p>
          <a:p>
            <a:pPr>
              <a:lnSpc>
                <a:spcPct val="150000"/>
              </a:lnSpc>
            </a:pPr>
            <a:br>
              <a:rPr lang="en-IN" b="1" dirty="0">
                <a:latin typeface="Inter" panose="020B0604020202020204" charset="0"/>
                <a:ea typeface="Inter" panose="020B0604020202020204" charset="0"/>
              </a:rPr>
            </a:br>
            <a:endParaRPr lang="en-IN" b="1" dirty="0">
              <a:latin typeface="Inter" panose="020B0604020202020204" charset="0"/>
              <a:ea typeface="Inter" panose="020B0604020202020204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1" name="Google Shape;110;p15" descr="image.png">
            <a:extLst>
              <a:ext uri="{FF2B5EF4-FFF2-40B4-BE49-F238E27FC236}">
                <a16:creationId xmlns:a16="http://schemas.microsoft.com/office/drawing/2014/main" id="{9A3B1270-CC9A-4C7A-40AF-4ADD5F243C1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628217" y="489668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2495550" y="2526059"/>
            <a:ext cx="7200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007A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Absolute Loader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2908077" y="3819935"/>
            <a:ext cx="637584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A4A4A"/>
                </a:solidFill>
                <a:latin typeface="Inter Light"/>
                <a:ea typeface="Inter Light"/>
                <a:sym typeface="Inter Light"/>
              </a:rPr>
              <a:t>A Classic Example and the Simplest form of Loader</a:t>
            </a:r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762000" y="762000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Poppins SemiBold"/>
                <a:cs typeface="Poppins SemiBold"/>
                <a:sym typeface="Poppins SemiBold"/>
              </a:rPr>
              <a:t>Single Pass Design :</a:t>
            </a:r>
            <a:endParaRPr dirty="0"/>
          </a:p>
        </p:txBody>
      </p:sp>
      <p:sp>
        <p:nvSpPr>
          <p:cNvPr id="126" name="Google Shape;126;p17"/>
          <p:cNvSpPr txBox="1"/>
          <p:nvPr/>
        </p:nvSpPr>
        <p:spPr>
          <a:xfrm>
            <a:off x="972312" y="2642782"/>
            <a:ext cx="962025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00" b="0" i="0" u="none" strike="noStrike" cap="none" dirty="0">
                <a:solidFill>
                  <a:srgbClr val="007A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sz="1100" dirty="0"/>
          </a:p>
        </p:txBody>
      </p:sp>
      <p:sp>
        <p:nvSpPr>
          <p:cNvPr id="128" name="Google Shape;128;p17"/>
          <p:cNvSpPr txBox="1"/>
          <p:nvPr/>
        </p:nvSpPr>
        <p:spPr>
          <a:xfrm>
            <a:off x="2486025" y="2344649"/>
            <a:ext cx="8943975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Inter Light"/>
              </a:rPr>
              <a:t>The address written in file == address where the code should go.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The Absolute Loader is the simplest version of this tool. It doesn't worry about relocation or linking.</a:t>
            </a:r>
            <a:endParaRPr lang="en-US" sz="20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  <a:sym typeface="Inter Light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Inter Light"/>
              </a:rPr>
              <a:t>Performs all the 4 functions of the loader</a:t>
            </a:r>
            <a:endParaRPr sz="20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249936" y="605397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600" dirty="0">
                <a:latin typeface="Poppins SemiBold"/>
                <a:ea typeface="Calibri"/>
                <a:cs typeface="Poppins SemiBold"/>
                <a:sym typeface="Poppins SemiBold"/>
              </a:rPr>
              <a:t>The Absolute Loader</a:t>
            </a:r>
            <a:endParaRPr lang="en-US" sz="3600" dirty="0">
              <a:latin typeface="Poppins SemiBold"/>
              <a:ea typeface="Calibri"/>
              <a:cs typeface="Poppins SemiBold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762000" y="1764792"/>
            <a:ext cx="6431461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Loads Program at memory location x200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Inter Light"/>
              </a:rPr>
              <a:t>Header record is checked if the correct program is being loaded or not.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Inter Light"/>
              </a:rPr>
              <a:t>Read each text record -&gt; move it to indicated Address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Inter Light"/>
              </a:rPr>
              <a:t> IF EOF is encountered, Jump to specified address to begin execution</a:t>
            </a:r>
          </a:p>
        </p:txBody>
      </p:sp>
      <p:sp>
        <p:nvSpPr>
          <p:cNvPr id="140" name="Google Shape;140;p18"/>
          <p:cNvSpPr txBox="1"/>
          <p:nvPr/>
        </p:nvSpPr>
        <p:spPr>
          <a:xfrm>
            <a:off x="1181100" y="3654647"/>
            <a:ext cx="609752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74C17-7638-6CE6-2C23-0DA75D786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794" y="1543964"/>
            <a:ext cx="4163804" cy="4683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E30E9-935D-6B3F-D3B9-4F3D6FA9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294D-B5C3-14EA-4D6C-0C57409EF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0"/>
            <a:ext cx="10972800" cy="1470025"/>
          </a:xfrm>
        </p:spPr>
        <p:txBody>
          <a:bodyPr/>
          <a:lstStyle/>
          <a:p>
            <a:r>
              <a:rPr lang="en-US" sz="3600" dirty="0">
                <a:solidFill>
                  <a:srgbClr val="000000"/>
                </a:solidFill>
                <a:latin typeface="Poppins SemiBold"/>
                <a:cs typeface="Poppins SemiBold"/>
                <a:sym typeface="Arial"/>
              </a:rPr>
              <a:t>How Object Code is loaded into Memory: </a:t>
            </a:r>
            <a:endParaRPr lang="en-IN" sz="3600" dirty="0">
              <a:solidFill>
                <a:srgbClr val="000000"/>
              </a:solidFill>
              <a:latin typeface="Poppins SemiBold"/>
              <a:cs typeface="Poppins SemiBold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2A5CD0-B733-0E49-5770-3C995F9B2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529" y="1095582"/>
            <a:ext cx="8566941" cy="576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9556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762000" y="762000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Hypothetical Example</a:t>
            </a:r>
            <a:endParaRPr dirty="0"/>
          </a:p>
        </p:txBody>
      </p:sp>
      <p:graphicFrame>
        <p:nvGraphicFramePr>
          <p:cNvPr id="150" name="Google Shape;150;p19"/>
          <p:cNvGraphicFramePr/>
          <p:nvPr>
            <p:extLst>
              <p:ext uri="{D42A27DB-BD31-4B8C-83A1-F6EECF244321}">
                <p14:modId xmlns:p14="http://schemas.microsoft.com/office/powerpoint/2010/main" val="1245897526"/>
              </p:ext>
            </p:extLst>
          </p:nvPr>
        </p:nvGraphicFramePr>
        <p:xfrm>
          <a:off x="762000" y="1957388"/>
          <a:ext cx="10667975" cy="3562375"/>
        </p:xfrm>
        <a:graphic>
          <a:graphicData uri="http://schemas.openxmlformats.org/drawingml/2006/table">
            <a:tbl>
              <a:tblPr firstRow="1" bandRow="1">
                <a:noFill/>
                <a:tableStyleId>{DAC08017-1966-4052-B8A0-D68B970C4D30}</a:tableStyleId>
              </a:tblPr>
              <a:tblGrid>
                <a:gridCol w="312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 Record Type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Address Field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Hex Content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Memory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</a:t>
                      </a: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(Header)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002000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MY_PROG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Initializes Loader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</a:t>
                      </a: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(Text)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002000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041122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Addr 2000 → 04 11 22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</a:t>
                      </a:r>
                      <a:r>
                        <a:rPr lang="en-US" sz="1650" b="0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(Text)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002003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334455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Addr 2003 → 33 44 55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(End)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002000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Jump to 2000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1" name="Google Shape;151;p19"/>
          <p:cNvSpPr/>
          <p:nvPr/>
        </p:nvSpPr>
        <p:spPr>
          <a:xfrm>
            <a:off x="762000" y="2662237"/>
            <a:ext cx="312256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3884562" y="2662237"/>
            <a:ext cx="23002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6184850" y="2662237"/>
            <a:ext cx="21557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8340625" y="2662237"/>
            <a:ext cx="308937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762000" y="3395662"/>
            <a:ext cx="3122562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884562" y="3395662"/>
            <a:ext cx="2300287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184850" y="3395662"/>
            <a:ext cx="2155775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340625" y="3395662"/>
            <a:ext cx="3089374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62000" y="4148137"/>
            <a:ext cx="3122562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884562" y="4148137"/>
            <a:ext cx="2300287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184850" y="4148137"/>
            <a:ext cx="2155775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340625" y="4148137"/>
            <a:ext cx="3089374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62000" y="4900612"/>
            <a:ext cx="3122562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884562" y="4900612"/>
            <a:ext cx="2300287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184850" y="4900612"/>
            <a:ext cx="2155775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8340625" y="4900612"/>
            <a:ext cx="3089374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62000" y="5634037"/>
            <a:ext cx="3122562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3884562" y="5634037"/>
            <a:ext cx="2300287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184850" y="5634037"/>
            <a:ext cx="2155775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8340625" y="5634037"/>
            <a:ext cx="3089374" cy="952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3A31-3DAA-819F-0669-D0D900037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85216" y="484186"/>
            <a:ext cx="7772400" cy="1470025"/>
          </a:xfrm>
        </p:spPr>
        <p:txBody>
          <a:bodyPr/>
          <a:lstStyle/>
          <a:p>
            <a:r>
              <a:rPr lang="en-US" sz="3600" dirty="0">
                <a:solidFill>
                  <a:srgbClr val="000000"/>
                </a:solidFill>
                <a:latin typeface="Poppins SemiBold"/>
                <a:cs typeface="Poppins SemiBold"/>
              </a:rPr>
              <a:t>Advantages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1867C-6E40-8482-F6C5-7902254B6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4440" y="2450592"/>
            <a:ext cx="4352544" cy="2996184"/>
          </a:xfrm>
        </p:spPr>
        <p:txBody>
          <a:bodyPr>
            <a:normAutofit/>
          </a:bodyPr>
          <a:lstStyle/>
          <a:p>
            <a:pPr marL="4826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Wingdings" panose="05000000000000000000" pitchFamily="2" charset="2"/>
              </a:rPr>
              <a:t>Simple, easy to design and Implement</a:t>
            </a:r>
          </a:p>
          <a:p>
            <a:pPr marL="4826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Wingdings" panose="05000000000000000000" pitchFamily="2" charset="2"/>
              </a:rPr>
              <a:t>There is no memory limit, more core memory is available to user.</a:t>
            </a:r>
            <a:endParaRPr lang="en-IN" sz="20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EBC1A5-509A-7085-F7EC-AD2E33C20AA6}"/>
              </a:ext>
            </a:extLst>
          </p:cNvPr>
          <p:cNvSpPr txBox="1">
            <a:spLocks/>
          </p:cNvSpPr>
          <p:nvPr/>
        </p:nvSpPr>
        <p:spPr>
          <a:xfrm>
            <a:off x="4742688" y="48418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>
                <a:solidFill>
                  <a:srgbClr val="000000"/>
                </a:solidFill>
                <a:latin typeface="Poppins SemiBold"/>
                <a:cs typeface="Poppins SemiBold"/>
              </a:rPr>
              <a:t>Disadvantages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AEDBA3A-BEDA-5BE3-455F-DD70151B0B6F}"/>
              </a:ext>
            </a:extLst>
          </p:cNvPr>
          <p:cNvSpPr txBox="1">
            <a:spLocks/>
          </p:cNvSpPr>
          <p:nvPr/>
        </p:nvSpPr>
        <p:spPr>
          <a:xfrm>
            <a:off x="6461760" y="2450592"/>
            <a:ext cx="4352544" cy="2996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826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Wingdings" panose="05000000000000000000" pitchFamily="2" charset="2"/>
              </a:rPr>
              <a:t>Programmer must tell assembler the address where program is to be loaded.</a:t>
            </a:r>
          </a:p>
          <a:p>
            <a:pPr marL="4826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0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sym typeface="Wingdings" panose="05000000000000000000" pitchFamily="2" charset="2"/>
              </a:rPr>
              <a:t>When subroutines are referenced, their addresses must be specified.</a:t>
            </a:r>
            <a:endParaRPr lang="en-IN" sz="20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423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3625691" y="2526059"/>
            <a:ext cx="494061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007A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dirty="0"/>
          </a:p>
        </p:txBody>
      </p:sp>
      <p:sp>
        <p:nvSpPr>
          <p:cNvPr id="190" name="Google Shape;190;p21"/>
          <p:cNvSpPr txBox="1"/>
          <p:nvPr/>
        </p:nvSpPr>
        <p:spPr>
          <a:xfrm>
            <a:off x="778763" y="2526059"/>
            <a:ext cx="10634472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400" dirty="0">
                <a:solidFill>
                  <a:srgbClr val="007AFF"/>
                </a:solidFill>
                <a:latin typeface="Poppins SemiBold"/>
                <a:cs typeface="Poppins SemiBold"/>
              </a:rPr>
              <a:t>How does a computer start if there is no loader in memory yet?</a:t>
            </a:r>
            <a:endParaRPr sz="4400" dirty="0">
              <a:solidFill>
                <a:srgbClr val="007AFF"/>
              </a:solidFill>
              <a:latin typeface="Poppins SemiBold"/>
              <a:cs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762000" y="762000"/>
            <a:ext cx="11201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Bootstrap Loader:</a:t>
            </a:r>
            <a:endParaRPr dirty="0"/>
          </a:p>
        </p:txBody>
      </p:sp>
      <p:sp>
        <p:nvSpPr>
          <p:cNvPr id="197" name="Google Shape;197;p22"/>
          <p:cNvSpPr txBox="1"/>
          <p:nvPr/>
        </p:nvSpPr>
        <p:spPr>
          <a:xfrm>
            <a:off x="762000" y="3392983"/>
            <a:ext cx="333369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1A"/>
                </a:solidFill>
                <a:latin typeface="Inter" panose="020B0604020202020204" charset="0"/>
                <a:ea typeface="Inter" panose="020B0604020202020204" charset="0"/>
                <a:cs typeface="Poppins"/>
                <a:sym typeface="Poppins"/>
              </a:rPr>
              <a:t>Restart</a:t>
            </a:r>
            <a:endParaRPr sz="1800" b="1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762000" y="3964483"/>
            <a:ext cx="31749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When the computer is first turned on, the Bootstrap is the first code to execute.</a:t>
            </a:r>
            <a:endParaRPr sz="18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4508450" y="3390596"/>
            <a:ext cx="333369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A1A1A"/>
                </a:solidFill>
                <a:latin typeface="Inter" panose="020B0604020202020204" charset="0"/>
                <a:ea typeface="Inter" panose="020B0604020202020204" charset="0"/>
                <a:cs typeface="Poppins"/>
                <a:sym typeface="Poppins"/>
              </a:rPr>
              <a:t>Address 0</a:t>
            </a:r>
            <a:endParaRPr sz="18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4508450" y="3964483"/>
            <a:ext cx="31749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The bootstrap program itself begins residing at memory address 0.</a:t>
            </a:r>
            <a:endParaRPr sz="18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8254900" y="3329558"/>
            <a:ext cx="333369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A1A1A"/>
                </a:solidFill>
                <a:latin typeface="Inter" panose="020B0604020202020204" charset="0"/>
                <a:ea typeface="Inter" panose="020B0604020202020204" charset="0"/>
                <a:cs typeface="Poppins"/>
                <a:sym typeface="Poppins"/>
              </a:rPr>
              <a:t>Load OS</a:t>
            </a:r>
            <a:endParaRPr sz="18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8254900" y="3964483"/>
            <a:ext cx="31749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  <a:cs typeface="Inter Light"/>
                <a:sym typeface="Inter Light"/>
              </a:rPr>
              <a:t>It typically loads the Operating System into memory starting at address 80.</a:t>
            </a:r>
            <a:endParaRPr sz="18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03" name="Google Shape;20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262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8450" y="27262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54900" y="272623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4F4260-66A6-3AF2-C3BA-891EE0ECD8EC}"/>
              </a:ext>
            </a:extLst>
          </p:cNvPr>
          <p:cNvSpPr txBox="1"/>
          <p:nvPr/>
        </p:nvSpPr>
        <p:spPr>
          <a:xfrm>
            <a:off x="3047238" y="905232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7F1FA-1BB0-2A51-B6F0-8AEC8A88A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238" y="232787"/>
            <a:ext cx="8855457" cy="6392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5198DC-8A75-D137-CA51-F886AC7C1B40}"/>
              </a:ext>
            </a:extLst>
          </p:cNvPr>
          <p:cNvSpPr txBox="1"/>
          <p:nvPr/>
        </p:nvSpPr>
        <p:spPr>
          <a:xfrm>
            <a:off x="0" y="2177832"/>
            <a:ext cx="2913633" cy="1970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7AFF"/>
                </a:solidFill>
                <a:latin typeface="Poppins SemiBold"/>
                <a:cs typeface="Poppins SemiBold"/>
              </a:rPr>
              <a:t>SIMPLE </a:t>
            </a:r>
            <a:br>
              <a:rPr lang="en-US" sz="2800" dirty="0">
                <a:solidFill>
                  <a:srgbClr val="007AFF"/>
                </a:solidFill>
                <a:latin typeface="Poppins SemiBold"/>
                <a:cs typeface="Poppins SemiBold"/>
              </a:rPr>
            </a:br>
            <a:r>
              <a:rPr lang="en-US" sz="2800" dirty="0">
                <a:solidFill>
                  <a:srgbClr val="007AFF"/>
                </a:solidFill>
                <a:latin typeface="Poppins SemiBold"/>
                <a:cs typeface="Poppins SemiBold"/>
              </a:rPr>
              <a:t>BOOTSTRAP </a:t>
            </a:r>
            <a:br>
              <a:rPr lang="en-US" sz="2800" dirty="0">
                <a:solidFill>
                  <a:srgbClr val="007AFF"/>
                </a:solidFill>
                <a:latin typeface="Poppins SemiBold"/>
                <a:cs typeface="Poppins SemiBold"/>
              </a:rPr>
            </a:br>
            <a:r>
              <a:rPr lang="en-US" sz="2800" dirty="0">
                <a:solidFill>
                  <a:srgbClr val="007AFF"/>
                </a:solidFill>
                <a:latin typeface="Poppins SemiBold"/>
                <a:cs typeface="Poppins SemiBold"/>
              </a:rPr>
              <a:t>LOADER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544200-B691-5340-730F-C8616119E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Main simulator view">
            <a:extLst>
              <a:ext uri="{FF2B5EF4-FFF2-40B4-BE49-F238E27FC236}">
                <a16:creationId xmlns:a16="http://schemas.microsoft.com/office/drawing/2014/main" id="{A507C203-57FB-3418-0959-370440563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4" y="395383"/>
            <a:ext cx="11461499" cy="606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96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2676524" y="2240982"/>
            <a:ext cx="683895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tx1"/>
                </a:solidFill>
                <a:latin typeface="Arial Rounded MT Bold" panose="020F0704030504030204" pitchFamily="34" charset="0"/>
                <a:ea typeface="Inter Light"/>
                <a:sym typeface="Inter Light"/>
              </a:rPr>
              <a:t>! Questions</a:t>
            </a:r>
            <a:br>
              <a:rPr lang="en-US" sz="4800" dirty="0">
                <a:solidFill>
                  <a:schemeClr val="tx1"/>
                </a:solidFill>
                <a:latin typeface="Arial Rounded MT Bold" panose="020F0704030504030204" pitchFamily="34" charset="0"/>
                <a:ea typeface="Inter Light"/>
                <a:sym typeface="Inter Light"/>
              </a:rPr>
            </a:br>
            <a:r>
              <a:rPr lang="en-US" sz="4800" dirty="0">
                <a:solidFill>
                  <a:schemeClr val="tx1"/>
                </a:solidFill>
                <a:latin typeface="Arial Rounded MT Bold" panose="020F0704030504030204" pitchFamily="34" charset="0"/>
                <a:ea typeface="Inter Light"/>
                <a:sym typeface="Inter Light"/>
              </a:rPr>
              <a:t>{ THANK YOU }</a:t>
            </a:r>
            <a:endParaRPr sz="40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10B87-1CEA-79AA-9567-55E9D2D8A779}"/>
              </a:ext>
            </a:extLst>
          </p:cNvPr>
          <p:cNvSpPr txBox="1"/>
          <p:nvPr/>
        </p:nvSpPr>
        <p:spPr>
          <a:xfrm>
            <a:off x="3047238" y="3275112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49F3B-3C35-AB32-BCFD-B794DE70C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474" y="4259419"/>
            <a:ext cx="2465507" cy="24359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475</Words>
  <Application>Microsoft Office PowerPoint</Application>
  <PresentationFormat>Widescreen</PresentationFormat>
  <Paragraphs>70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Wingdings</vt:lpstr>
      <vt:lpstr>Poppins SemiBold</vt:lpstr>
      <vt:lpstr>Inter</vt:lpstr>
      <vt:lpstr>Inter Light</vt:lpstr>
      <vt:lpstr>Arial Rounded MT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Object Code is loaded into Memory: </vt:lpstr>
      <vt:lpstr>PowerPoint Presentation</vt:lpstr>
      <vt:lpstr>Advantages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Manthan R M</dc:creator>
  <cp:lastModifiedBy>Manthan R M</cp:lastModifiedBy>
  <cp:revision>2</cp:revision>
  <dcterms:modified xsi:type="dcterms:W3CDTF">2026-05-02T18:57:09Z</dcterms:modified>
</cp:coreProperties>
</file>