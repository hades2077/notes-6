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</p:sldIdLst>
  <p:sldSz cy="6858000" cx="12192000"/>
  <p:notesSz cx="6858000" cy="9144000"/>
  <p:embeddedFontLst>
    <p:embeddedFont>
      <p:font typeface="Play"/>
      <p:regular r:id="rId93"/>
      <p:bold r:id="rId94"/>
    </p:embeddedFont>
    <p:embeddedFont>
      <p:font typeface="Garamond"/>
      <p:regular r:id="rId95"/>
      <p:bold r:id="rId96"/>
      <p:italic r:id="rId97"/>
      <p:boldItalic r:id="rId98"/>
    </p:embeddedFont>
    <p:embeddedFont>
      <p:font typeface="Libre Franklin Medium"/>
      <p:regular r:id="rId99"/>
      <p:bold r:id="rId100"/>
      <p:italic r:id="rId101"/>
      <p:boldItalic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45C1D4-BAB2-4E3A-A476-124A4BAA093E}">
  <a:tblStyle styleId="{A545C1D4-BAB2-4E3A-A476-124A4BAA093E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2" Type="http://schemas.openxmlformats.org/officeDocument/2006/relationships/font" Target="fonts/LibreFranklinMedium-boldItalic.fntdata"/><Relationship Id="rId101" Type="http://schemas.openxmlformats.org/officeDocument/2006/relationships/font" Target="fonts/LibreFranklinMedium-italic.fntdata"/><Relationship Id="rId100" Type="http://schemas.openxmlformats.org/officeDocument/2006/relationships/font" Target="fonts/LibreFranklinMedium-bold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Garamond-regular.fntdata"/><Relationship Id="rId94" Type="http://schemas.openxmlformats.org/officeDocument/2006/relationships/font" Target="fonts/Play-bold.fntdata"/><Relationship Id="rId97" Type="http://schemas.openxmlformats.org/officeDocument/2006/relationships/font" Target="fonts/Garamond-italic.fntdata"/><Relationship Id="rId96" Type="http://schemas.openxmlformats.org/officeDocument/2006/relationships/font" Target="fonts/Garamond-bold.fntdata"/><Relationship Id="rId11" Type="http://schemas.openxmlformats.org/officeDocument/2006/relationships/slide" Target="slides/slide6.xml"/><Relationship Id="rId99" Type="http://schemas.openxmlformats.org/officeDocument/2006/relationships/font" Target="fonts/LibreFranklinMedium-regular.fntdata"/><Relationship Id="rId10" Type="http://schemas.openxmlformats.org/officeDocument/2006/relationships/slide" Target="slides/slide5.xml"/><Relationship Id="rId98" Type="http://schemas.openxmlformats.org/officeDocument/2006/relationships/font" Target="fonts/Garamon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font" Target="fonts/Play-regular.fntdata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0:notes"/>
          <p:cNvSpPr/>
          <p:nvPr>
            <p:ph idx="2" type="sldImg"/>
          </p:nvPr>
        </p:nvSpPr>
        <p:spPr>
          <a:xfrm>
            <a:off x="392113" y="690563"/>
            <a:ext cx="6075362" cy="34178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30:notes"/>
          <p:cNvSpPr txBox="1"/>
          <p:nvPr>
            <p:ph idx="1" type="body"/>
          </p:nvPr>
        </p:nvSpPr>
        <p:spPr>
          <a:xfrm>
            <a:off x="914400" y="4343400"/>
            <a:ext cx="5029200" cy="4116388"/>
          </a:xfrm>
          <a:prstGeom prst="rect">
            <a:avLst/>
          </a:prstGeom>
          <a:noFill/>
          <a:ln>
            <a:noFill/>
          </a:ln>
        </p:spPr>
        <p:txBody>
          <a:bodyPr anchorCtr="0" anchor="t" bIns="46525" lIns="93025" spcFirstLastPara="1" rIns="93025" wrap="square" tIns="46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609600" y="277813"/>
            <a:ext cx="10972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609600" y="1125538"/>
            <a:ext cx="5384800" cy="532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6197600" y="1125538"/>
            <a:ext cx="5384800" cy="532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737600" y="6597651"/>
            <a:ext cx="2844800" cy="14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09600" y="277813"/>
            <a:ext cx="10972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609600" y="1125538"/>
            <a:ext cx="5384800" cy="532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6197600" y="1125539"/>
            <a:ext cx="5384800" cy="2587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3" type="body"/>
          </p:nvPr>
        </p:nvSpPr>
        <p:spPr>
          <a:xfrm>
            <a:off x="6197600" y="3865564"/>
            <a:ext cx="5384800" cy="2587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737600" y="6597651"/>
            <a:ext cx="2844800" cy="14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2" name="Google Shape;62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7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8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7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0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6.png"/><Relationship Id="rId4" Type="http://schemas.openxmlformats.org/officeDocument/2006/relationships/image" Target="../media/image6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9.png"/><Relationship Id="rId4" Type="http://schemas.openxmlformats.org/officeDocument/2006/relationships/image" Target="../media/image6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3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5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9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56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7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8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idx="1" type="subTitle"/>
          </p:nvPr>
        </p:nvSpPr>
        <p:spPr>
          <a:xfrm>
            <a:off x="295421" y="2069207"/>
            <a:ext cx="11660061" cy="223263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b="1" lang="en-U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Module 4 : Code Generation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94" y="200582"/>
            <a:ext cx="1084099" cy="126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/>
          <p:nvPr/>
        </p:nvSpPr>
        <p:spPr>
          <a:xfrm>
            <a:off x="1070770" y="218910"/>
            <a:ext cx="67407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A3041"/>
                </a:solidFill>
                <a:latin typeface="Cambria"/>
                <a:ea typeface="Cambria"/>
                <a:cs typeface="Cambria"/>
                <a:sym typeface="Cambria"/>
              </a:rPr>
              <a:t>Vidyavardhaka College of Engineering, Mysuru</a:t>
            </a:r>
            <a:endParaRPr b="1" sz="2400">
              <a:solidFill>
                <a:srgbClr val="0A304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1070769" y="621242"/>
            <a:ext cx="91423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Autonomous Institute, Affiliated to VTU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Accredited by NBA | NAAC with ‘A’ Grade</a:t>
            </a:r>
            <a:endParaRPr/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4254" y="146344"/>
            <a:ext cx="1121229" cy="1121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103239" y="1"/>
            <a:ext cx="11250561" cy="12978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Topics to be covered .. 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280219" y="1179871"/>
            <a:ext cx="11073581" cy="4997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The Target language.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Basic blocks and flow Graph.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Optimization of basic blocks.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The code – generation algorithms.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Introduction to Assembler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Machine architecture for SIC and SIC/XE.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Basic Assembler functions.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SLT: Issues in the design of a code generator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191729" y="132736"/>
            <a:ext cx="11724968" cy="11946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The Target language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191729" y="1150374"/>
            <a:ext cx="11724968" cy="5574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he target machine and its instruction set is a prerequisite for designing a good code generator.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8.2.1 A Simple Target Machine Model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Our target computer models a three-address machine with load and store operations, computation operations, jump operations, and conditional jumps.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underlying computer is a byte-addressable machine with n general-purpose registers, R0, R1, . . . , Rn - 1.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Following Kinds of Instructions are available</a:t>
            </a:r>
            <a:endParaRPr/>
          </a:p>
          <a:p>
            <a:pPr indent="-4572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Load operation ----    example : LD dest , scr   --------- assignment operation  dest = src.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LD r , x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LD r1,r2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162231" y="117986"/>
            <a:ext cx="11695471" cy="65925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Store Operation :  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  ST x , r --- stores the value in register r into x.   i.e.,  x = 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Computation Operation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Op   dst, src1,src2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Where op is operator like ADD, SUB,MUL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example :  sub r1,r2,r3 ==🡺  r1 = r2 – r3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Unconditional Jump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instruction  BR  L causes control to branch to the machine instruction with label 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Conditional  Jump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Bcond r, </a:t>
            </a:r>
            <a:r>
              <a:rPr b="0" i="1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L, 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where r is a register, L is a label, 🡺  cond stands for any of the common tests on values in the register 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For example,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BLTZ r, L causes a jump to label L if the value in register r is less than zero, and allows control to pass to the next machine instruction if not.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206477" y="1"/>
            <a:ext cx="11695471" cy="11798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Target machine has a variety of addressing modes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9"/>
          <p:cNvSpPr txBox="1"/>
          <p:nvPr>
            <p:ph idx="1" type="body"/>
          </p:nvPr>
        </p:nvSpPr>
        <p:spPr>
          <a:xfrm>
            <a:off x="206477" y="1061883"/>
            <a:ext cx="11695471" cy="56781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</a:t>
            </a: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In instructions, a location can be a variable name x referring to the memory location that is reserved for x.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Indexed address of the form a(r)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 :  LD   R1 , a ( R2)   🡺 R1 = contents ( a + contents(R2)).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Memory location can be an integer indexed by a register.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For example,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LD R1, l00(R2) has the effect of setting R1 = contents(100 + contents(R2))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Indirect addressing modes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 : LD R1 , *100(R2) 🡺 R1 = contents(contents(l00 + contents(R2)))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Immediate Addressing Mode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 : LD  R1 , #100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117987" y="117988"/>
            <a:ext cx="11842955" cy="11208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US" sz="2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Example : The three-address statement can be implemented by the machine instructions:</a:t>
            </a:r>
            <a:endParaRPr b="1" sz="2800"/>
          </a:p>
        </p:txBody>
      </p:sp>
      <p:sp>
        <p:nvSpPr>
          <p:cNvPr id="137" name="Google Shape;137;p20"/>
          <p:cNvSpPr txBox="1"/>
          <p:nvPr>
            <p:ph idx="1" type="body"/>
          </p:nvPr>
        </p:nvSpPr>
        <p:spPr>
          <a:xfrm>
            <a:off x="117987" y="1106130"/>
            <a:ext cx="11695471" cy="5633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X = y – Z    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/>
              <a:t>b   = a[i]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a [j] = c                                                  </a:t>
            </a:r>
            <a:endParaRPr/>
          </a:p>
        </p:txBody>
      </p:sp>
      <p:pic>
        <p:nvPicPr>
          <p:cNvPr id="138" name="Google Shape;13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1183" y="1106130"/>
            <a:ext cx="4194895" cy="122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4154" y="2888156"/>
            <a:ext cx="5372906" cy="1120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9075" y="4450468"/>
            <a:ext cx="5877899" cy="1223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221226" y="235974"/>
            <a:ext cx="11132574" cy="62090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 startAt="4"/>
            </a:pPr>
            <a:r>
              <a:rPr lang="en-US"/>
              <a:t>x = *p 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 startAt="4"/>
            </a:pPr>
            <a:r>
              <a:rPr lang="en-US"/>
              <a:t> *p = y      </a:t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365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 startAt="4"/>
            </a:pPr>
            <a:r>
              <a:rPr lang="en-US"/>
              <a:t>If ( x &lt; y)  goto L                                     </a:t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6703" y="235974"/>
            <a:ext cx="6062150" cy="973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3704" y="3738716"/>
            <a:ext cx="6071260" cy="1460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0332" y="1879754"/>
            <a:ext cx="5574891" cy="1460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147484" y="114402"/>
            <a:ext cx="11680722" cy="10949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i="0" lang="en-US" sz="40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Basic Blocks and Flow Graphs</a:t>
            </a:r>
            <a:endParaRPr b="1" sz="4000"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147483" y="1504335"/>
            <a:ext cx="11680721" cy="494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representation is constructed as follows:</a:t>
            </a:r>
            <a:endParaRPr/>
          </a:p>
          <a:p>
            <a:pPr indent="-342900" lvl="0" marL="3429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Partition the intermediate code into basic blocks, which are maximal sequences of consecutive three-address instructions with the properties that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(a) The flow of control can only enter the basic block through the first instruction in the block. That is, there are no jumps into the middle of the block.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(b) Control will leave the block without halting or branching, except possibly at the last instruction in the block.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2. The basic blocks become the nodes of a flow graph, whose edges indicate which blocks can follow which other blocks.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206477" y="0"/>
            <a:ext cx="11695471" cy="10471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US" sz="36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Basic Blocks</a:t>
            </a:r>
            <a:endParaRPr sz="3600"/>
          </a:p>
        </p:txBody>
      </p:sp>
      <p:sp>
        <p:nvSpPr>
          <p:cNvPr id="160" name="Google Shape;160;p23"/>
          <p:cNvSpPr txBox="1"/>
          <p:nvPr>
            <p:ph idx="1" type="body"/>
          </p:nvPr>
        </p:nvSpPr>
        <p:spPr>
          <a:xfrm>
            <a:off x="206477" y="796414"/>
            <a:ext cx="11147323" cy="538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o partition a sequence of three-address instructions into basic blocks</a:t>
            </a:r>
            <a:r>
              <a:rPr b="0" i="0" lang="en-US" sz="1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396" y="1241300"/>
            <a:ext cx="10465165" cy="322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726" y="4657514"/>
            <a:ext cx="10270835" cy="1854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168" name="Google Shape;168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3291" y="365125"/>
            <a:ext cx="5368270" cy="571120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>
            <p:ph idx="2" type="body"/>
          </p:nvPr>
        </p:nvSpPr>
        <p:spPr>
          <a:xfrm>
            <a:off x="560439" y="1560154"/>
            <a:ext cx="536827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i="0" lang="en-US" sz="36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he leaders are instructions 1, </a:t>
            </a:r>
            <a:r>
              <a:rPr i="0" lang="en-US" sz="36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2, </a:t>
            </a:r>
            <a:r>
              <a:rPr b="0" i="0" lang="en-US" sz="36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3, 10, 12, and 13</a:t>
            </a:r>
            <a:r>
              <a:rPr b="0" i="0" lang="en-US" sz="18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8645" y="3206545"/>
            <a:ext cx="4586749" cy="2704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 rot="-5400000">
            <a:off x="800100" y="1491343"/>
            <a:ext cx="3333749" cy="3499103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5"/>
          <p:cNvSpPr txBox="1"/>
          <p:nvPr>
            <p:ph type="title"/>
          </p:nvPr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lang="en-US" sz="36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Flow graph</a:t>
            </a:r>
            <a:endParaRPr/>
          </a:p>
        </p:txBody>
      </p:sp>
      <p:pic>
        <p:nvPicPr>
          <p:cNvPr id="177" name="Google Shape;177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17987"/>
            <a:ext cx="4817806" cy="6740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147484" y="117987"/>
            <a:ext cx="11901948" cy="11798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Optimization of Basic Blocks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142568" y="1120877"/>
            <a:ext cx="11211232" cy="5619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mprovement in the running time of code merely by performing </a:t>
            </a:r>
            <a:r>
              <a:rPr b="0" i="1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optimization within each basic block by itself. More thorough </a:t>
            </a:r>
            <a:r>
              <a:rPr b="0" i="1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global 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optimization, which looks at how information flows among the basic blocks of a program.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0" sz="320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i="0" lang="en-US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DAG Representation of Basic Blocks: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Many important techniques for local optimization begin by transforming a basic block into a DAG (directed acyclic graph).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idx="1" type="body"/>
          </p:nvPr>
        </p:nvSpPr>
        <p:spPr>
          <a:xfrm>
            <a:off x="235974" y="648929"/>
            <a:ext cx="11798710" cy="6046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</a:t>
            </a: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To C</a:t>
            </a:r>
            <a:r>
              <a:rPr b="1" i="0" lang="en-US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onstruct a DAG for a basic block as follows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1. There is a node in the DAG for each of the initial values of the variables appearing in the basic block.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2. There is a node N associated with each statement s within the block. The children of N are those nodes corresponding to statements that are the last definitions, prior to s, of the operands used by 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Node N is labeled by the operator applied at s, and also attached to N is the list of variables for which it is the last definition within the block.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4. Certain nodes are designated </a:t>
            </a:r>
            <a:r>
              <a:rPr b="1" i="1" lang="en-US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nodes</a:t>
            </a:r>
            <a:r>
              <a:rPr b="0" i="1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These are the nodes whose variables are </a:t>
            </a:r>
            <a:r>
              <a:rPr b="1" i="1" lang="en-US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on exit</a:t>
            </a:r>
            <a:r>
              <a:rPr b="0" i="1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from the block; that is, their values may be used later, in another block of the flow graph. Calculation of these </a:t>
            </a:r>
            <a:r>
              <a:rPr b="1" i="0" lang="en-US" u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"live variables" </a:t>
            </a: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is a matter for global flow analysis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132735" y="103239"/>
            <a:ext cx="11916697" cy="6073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i="0" lang="en-US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DAG representation of a basic block lets us perform several code improving</a:t>
            </a: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transformations on the code represented by the block.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i="0" sz="3200" u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a) We can eliminate </a:t>
            </a:r>
            <a:r>
              <a:rPr b="0" i="1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local common subexpressions, </a:t>
            </a: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that is, instructions that compute a value that has already been computed.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b) We can eliminate </a:t>
            </a:r>
            <a:r>
              <a:rPr b="0" i="1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dead code, </a:t>
            </a: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that is, instructions that compute a value that is never used.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c) We can reorder statements that do not depend on one another; such reordering may reduce the time a temporary value needs to be preserved in a register.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d) We can apply algebraic laws to reorder operands of three-address instructions, and sometimes thereby simplify the computation.</a:t>
            </a:r>
            <a:endParaRPr b="1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147484" y="365125"/>
            <a:ext cx="1120631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Finding Local Common Subexpressions</a:t>
            </a:r>
            <a:endParaRPr b="1" sz="3200"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147484" y="1474838"/>
            <a:ext cx="11897032" cy="5161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Common subexpressions can be detected by noticing, as a new node M is about to be added, whether there is an existing node N with the same children, in the same order, and with the same operator.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 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00" name="Google Shape;20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419" y="3690140"/>
            <a:ext cx="3997328" cy="2464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823" y="3150128"/>
            <a:ext cx="5542758" cy="2875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2103" y="2969623"/>
            <a:ext cx="2834302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1037" y="2643187"/>
            <a:ext cx="6526008" cy="3087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/>
          <p:nvPr>
            <p:ph type="title"/>
          </p:nvPr>
        </p:nvSpPr>
        <p:spPr>
          <a:xfrm>
            <a:off x="103239" y="365125"/>
            <a:ext cx="11250561" cy="858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Dead Code Elimination</a:t>
            </a:r>
            <a:endParaRPr b="1" sz="3200"/>
          </a:p>
        </p:txBody>
      </p:sp>
      <p:sp>
        <p:nvSpPr>
          <p:cNvPr id="213" name="Google Shape;213;p31"/>
          <p:cNvSpPr txBox="1"/>
          <p:nvPr>
            <p:ph idx="1" type="body"/>
          </p:nvPr>
        </p:nvSpPr>
        <p:spPr>
          <a:xfrm>
            <a:off x="265471" y="1224116"/>
            <a:ext cx="11695471" cy="5268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operation on DAG's that corresponds to dead-code elimination can be implemented as follows. We delete from a DAG any root (node with no ancestors) that has no live variables attached. Repeated application of this transformation will remove all nodes from the DAG that correspond to dead code.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 a and b are live but c and e are not,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we can immediately remove the root labeled </a:t>
            </a:r>
            <a:r>
              <a:rPr b="1" i="1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Then, the node labeled c becomes a root and can be removed.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roots labeled a and b remain, since they each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have live variables attached.</a:t>
            </a:r>
            <a:endParaRPr sz="2400"/>
          </a:p>
        </p:txBody>
      </p:sp>
      <p:pic>
        <p:nvPicPr>
          <p:cNvPr id="214" name="Google Shape;21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2116" y="3126658"/>
            <a:ext cx="3878826" cy="3547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235974" y="365125"/>
            <a:ext cx="11117826" cy="947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i="0" lang="en-US" sz="40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Use of Algebraic Identities</a:t>
            </a:r>
            <a:endParaRPr b="1" sz="4000"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235974" y="1312606"/>
            <a:ext cx="11720052" cy="51802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4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lgebraic optimizations includes local reduction in strength, that is, replacing a more expensive operator by a cheaper one as in: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 :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pic>
        <p:nvPicPr>
          <p:cNvPr id="221" name="Google Shape;22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5546" y="2100571"/>
            <a:ext cx="4986482" cy="2226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8361" y="4764440"/>
            <a:ext cx="2320413" cy="1020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5019" y="4661335"/>
            <a:ext cx="2536723" cy="1366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028" y="4764440"/>
            <a:ext cx="2454075" cy="1020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 txBox="1"/>
          <p:nvPr>
            <p:ph type="title"/>
          </p:nvPr>
        </p:nvSpPr>
        <p:spPr>
          <a:xfrm>
            <a:off x="147484" y="280220"/>
            <a:ext cx="11206316" cy="8996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i="0" lang="en-US" sz="40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Representation of Array References</a:t>
            </a:r>
            <a:endParaRPr b="1" sz="4000"/>
          </a:p>
        </p:txBody>
      </p:sp>
      <p:sp>
        <p:nvSpPr>
          <p:cNvPr id="230" name="Google Shape;230;p33"/>
          <p:cNvSpPr txBox="1"/>
          <p:nvPr>
            <p:ph idx="1" type="body"/>
          </p:nvPr>
        </p:nvSpPr>
        <p:spPr>
          <a:xfrm>
            <a:off x="147484" y="1061884"/>
            <a:ext cx="11206316" cy="5115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proper way to represent array accesses in a DAG is as follows.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634" y="1733313"/>
            <a:ext cx="10485914" cy="2735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4100052"/>
            <a:ext cx="9780639" cy="1696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132735" y="365125"/>
            <a:ext cx="11221065" cy="608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38" name="Google Shape;238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195" y="1223382"/>
            <a:ext cx="4495495" cy="1967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5806" y="837073"/>
            <a:ext cx="4877994" cy="2189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12625" y="4507578"/>
            <a:ext cx="3303272" cy="18431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6105" y="3912844"/>
            <a:ext cx="4588074" cy="2580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5"/>
          <p:cNvSpPr txBox="1"/>
          <p:nvPr>
            <p:ph type="title"/>
          </p:nvPr>
        </p:nvSpPr>
        <p:spPr>
          <a:xfrm>
            <a:off x="176981" y="365126"/>
            <a:ext cx="11769213" cy="755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i="0" lang="en-US" sz="4000" u="none" strike="noStrike">
                <a:latin typeface="Times New Roman"/>
                <a:ea typeface="Times New Roman"/>
                <a:cs typeface="Times New Roman"/>
                <a:sym typeface="Times New Roman"/>
              </a:rPr>
              <a:t>The Code-Generation Algorithm</a:t>
            </a:r>
            <a:endParaRPr sz="4000"/>
          </a:p>
        </p:txBody>
      </p:sp>
      <p:sp>
        <p:nvSpPr>
          <p:cNvPr id="248" name="Google Shape;248;p35"/>
          <p:cNvSpPr txBox="1"/>
          <p:nvPr>
            <p:ph idx="1" type="body"/>
          </p:nvPr>
        </p:nvSpPr>
        <p:spPr>
          <a:xfrm>
            <a:off x="176981" y="1120878"/>
            <a:ext cx="11176819" cy="5056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Example 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49" name="Google Shape;24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45" y="2070532"/>
            <a:ext cx="3394588" cy="3890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642" y="193141"/>
            <a:ext cx="10009415" cy="6471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ISSUES IN THE DESIGN OF A CODE GENERATOR</a:t>
            </a:r>
            <a:endParaRPr/>
          </a:p>
        </p:txBody>
      </p:sp>
      <p:pic>
        <p:nvPicPr>
          <p:cNvPr id="260" name="Google Shape;260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857" y="1690688"/>
            <a:ext cx="9878785" cy="399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029885"/>
            <a:ext cx="10905066" cy="4798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1" l="5124" r="12333" t="0"/>
          <a:stretch/>
        </p:blipFill>
        <p:spPr>
          <a:xfrm>
            <a:off x="865141" y="871147"/>
            <a:ext cx="10488660" cy="5114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1" name="Google Shape;271;p39"/>
          <p:cNvCxnSpPr/>
          <p:nvPr/>
        </p:nvCxnSpPr>
        <p:spPr>
          <a:xfrm>
            <a:off x="865141" y="5966048"/>
            <a:ext cx="104775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3618" t="0"/>
          <a:stretch/>
        </p:blipFill>
        <p:spPr>
          <a:xfrm>
            <a:off x="865141" y="871147"/>
            <a:ext cx="10488660" cy="5114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40"/>
          <p:cNvCxnSpPr/>
          <p:nvPr/>
        </p:nvCxnSpPr>
        <p:spPr>
          <a:xfrm>
            <a:off x="865141" y="5966048"/>
            <a:ext cx="104775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3204" y="643466"/>
            <a:ext cx="8985591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creenshot of a document&#10;&#10;Description automatically generated" id="287" name="Google Shape;287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6640" y="643466"/>
            <a:ext cx="7258719" cy="5571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924" y="2257959"/>
            <a:ext cx="10836390" cy="2248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 The Simplified Instructional Computer</a:t>
            </a:r>
            <a:endParaRPr/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130629" y="1469571"/>
            <a:ext cx="11789227" cy="5251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SIC is hypothetical computer system architecture.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Like many other products, SIC comes in two versions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standard model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An XE version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“extra equipments”, “extra expensive”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two versions has been designed to be upward compatible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SIC (Simplified Instructional Computer)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SIC/XE (Extra Equipment)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Note :  The two versions have been designed to be upward compatible.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00" name="Google Shape;30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>
            <p:ph type="title"/>
          </p:nvPr>
        </p:nvSpPr>
        <p:spPr>
          <a:xfrm>
            <a:off x="310243" y="365126"/>
            <a:ext cx="11043557" cy="9901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SIC Machine Architecture:</a:t>
            </a:r>
            <a:endParaRPr/>
          </a:p>
        </p:txBody>
      </p:sp>
      <p:sp>
        <p:nvSpPr>
          <p:cNvPr id="306" name="Google Shape;306;p45"/>
          <p:cNvSpPr txBox="1"/>
          <p:nvPr>
            <p:ph idx="1" type="body"/>
          </p:nvPr>
        </p:nvSpPr>
        <p:spPr>
          <a:xfrm>
            <a:off x="310243" y="1355272"/>
            <a:ext cx="11043557" cy="4821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Memory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Registers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Data Formats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Instruction Formats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Addressing Modes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Instruction set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Input and output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4D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6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11" y="480060"/>
            <a:ext cx="10577431" cy="5897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52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7"/>
          <p:cNvSpPr/>
          <p:nvPr/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12" y="480060"/>
            <a:ext cx="11237975" cy="5897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342900" y="457200"/>
            <a:ext cx="11010900" cy="5719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Data Formats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Integers are stored as 24-bit binary number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2’s complement representation for negative values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Characters are stored using 8-bit ASCII codes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 floating-point hardware on the standard version of SIC</a:t>
            </a:r>
            <a:endParaRPr/>
          </a:p>
        </p:txBody>
      </p:sp>
      <p:sp>
        <p:nvSpPr>
          <p:cNvPr id="326" name="Google Shape;326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idx="1" type="body"/>
          </p:nvPr>
        </p:nvSpPr>
        <p:spPr>
          <a:xfrm>
            <a:off x="163286" y="136525"/>
            <a:ext cx="11805557" cy="4876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⚫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Instruction format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24-bit format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flag bit x is used to indicate indexed-addressing mode</a:t>
            </a:r>
            <a:endParaRPr/>
          </a:p>
          <a:p>
            <a:pPr indent="-965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>
              <a:solidFill>
                <a:srgbClr val="FF0066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965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⚫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Addressing Modes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There are two addressing modes available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⯍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Indicated by x bit in the instruction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⯍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(X) represents the contents of reg. X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32" name="Google Shape;33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333" name="Google Shape;33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3175" y="4982369"/>
            <a:ext cx="6067425" cy="17287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49"/>
          <p:cNvGrpSpPr/>
          <p:nvPr/>
        </p:nvGrpSpPr>
        <p:grpSpPr>
          <a:xfrm>
            <a:off x="3744914" y="1875631"/>
            <a:ext cx="5184775" cy="812800"/>
            <a:chOff x="1610" y="1557"/>
            <a:chExt cx="3266" cy="512"/>
          </a:xfrm>
        </p:grpSpPr>
        <p:sp>
          <p:nvSpPr>
            <p:cNvPr id="335" name="Google Shape;335;p49"/>
            <p:cNvSpPr/>
            <p:nvPr/>
          </p:nvSpPr>
          <p:spPr>
            <a:xfrm>
              <a:off x="1610" y="1797"/>
              <a:ext cx="1043" cy="272"/>
            </a:xfrm>
            <a:prstGeom prst="rect">
              <a:avLst/>
            </a:prstGeom>
            <a:solidFill>
              <a:srgbClr val="FFFF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/>
            </a:p>
          </p:txBody>
        </p:sp>
        <p:sp>
          <p:nvSpPr>
            <p:cNvPr id="336" name="Google Shape;336;p49"/>
            <p:cNvSpPr/>
            <p:nvPr/>
          </p:nvSpPr>
          <p:spPr>
            <a:xfrm>
              <a:off x="2653" y="1797"/>
              <a:ext cx="227" cy="272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/>
            </a:p>
          </p:txBody>
        </p:sp>
        <p:sp>
          <p:nvSpPr>
            <p:cNvPr id="337" name="Google Shape;337;p49"/>
            <p:cNvSpPr/>
            <p:nvPr/>
          </p:nvSpPr>
          <p:spPr>
            <a:xfrm>
              <a:off x="2880" y="1797"/>
              <a:ext cx="1996" cy="272"/>
            </a:xfrm>
            <a:prstGeom prst="rect">
              <a:avLst/>
            </a:prstGeom>
            <a:solidFill>
              <a:srgbClr val="CCFF9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/>
            </a:p>
          </p:txBody>
        </p:sp>
        <p:sp>
          <p:nvSpPr>
            <p:cNvPr id="338" name="Google Shape;338;p49"/>
            <p:cNvSpPr txBox="1"/>
            <p:nvPr/>
          </p:nvSpPr>
          <p:spPr>
            <a:xfrm>
              <a:off x="2018" y="1570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339" name="Google Shape;339;p49"/>
            <p:cNvSpPr txBox="1"/>
            <p:nvPr/>
          </p:nvSpPr>
          <p:spPr>
            <a:xfrm>
              <a:off x="2658" y="155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340" name="Google Shape;340;p49"/>
            <p:cNvSpPr txBox="1"/>
            <p:nvPr/>
          </p:nvSpPr>
          <p:spPr>
            <a:xfrm>
              <a:off x="3800" y="1557"/>
              <a:ext cx="27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0"/>
          <p:cNvSpPr txBox="1"/>
          <p:nvPr>
            <p:ph idx="1" type="body"/>
          </p:nvPr>
        </p:nvSpPr>
        <p:spPr>
          <a:xfrm>
            <a:off x="1774826" y="260351"/>
            <a:ext cx="8264525" cy="5916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Example 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LDA TEN (001000)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STCH Buffer ,x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0101 0100 </a:t>
            </a:r>
            <a:r>
              <a:rPr lang="en-US">
                <a:solidFill>
                  <a:srgbClr val="FF0000"/>
                </a:solidFill>
              </a:rPr>
              <a:t>1 </a:t>
            </a:r>
            <a:r>
              <a:rPr lang="en-US">
                <a:solidFill>
                  <a:schemeClr val="accent1"/>
                </a:solidFill>
              </a:rPr>
              <a:t>001 0000 0000 0000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</a:pPr>
            <a:r>
              <a:rPr lang="en-US">
                <a:solidFill>
                  <a:schemeClr val="accent1"/>
                </a:solidFill>
              </a:rPr>
              <a:t>TA=address+ [x]</a:t>
            </a:r>
            <a:endParaRPr/>
          </a:p>
        </p:txBody>
      </p:sp>
      <p:sp>
        <p:nvSpPr>
          <p:cNvPr id="346" name="Google Shape;346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0"/>
          <p:cNvSpPr txBox="1"/>
          <p:nvPr/>
        </p:nvSpPr>
        <p:spPr>
          <a:xfrm>
            <a:off x="3359151" y="1484314"/>
            <a:ext cx="49688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 </a:t>
            </a:r>
            <a:r>
              <a:rPr lang="en-US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en-US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001 0000 0000 0000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Instruction set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Load and store registers (LDA, LDX, STA, STX, etc.)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Integer arithmetic operations (ADD, SUB, MUL, DIV)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Compare instruction (COMP)</a:t>
            </a:r>
            <a:endParaRPr/>
          </a:p>
          <a:p>
            <a:pPr indent="0" lvl="1" marL="342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    Conditional Codes (CC ) to indicate result like ( &lt; , = , or &gt;)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Conditional jump instructions (JLT, JEQ, JGT)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JSUB jumps to the subroutine, placing the return address in register L.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RSUB returns by jumping to the address contained in register L.</a:t>
            </a:r>
            <a:endParaRPr/>
          </a:p>
        </p:txBody>
      </p:sp>
      <p:sp>
        <p:nvSpPr>
          <p:cNvPr id="353" name="Google Shape;353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5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0191" l="0" r="-2" t="3316"/>
          <a:stretch/>
        </p:blipFill>
        <p:spPr>
          <a:xfrm>
            <a:off x="-6588" y="10"/>
            <a:ext cx="12198588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1.3.2 </a:t>
            </a:r>
            <a:r>
              <a:rPr lang="en-US">
                <a:solidFill>
                  <a:srgbClr val="7B9899"/>
                </a:solidFill>
              </a:rPr>
              <a:t>SIC/XE Machine Architecture</a:t>
            </a:r>
            <a:endParaRPr>
              <a:solidFill>
                <a:srgbClr val="7B9899"/>
              </a:solidFill>
            </a:endParaRPr>
          </a:p>
        </p:txBody>
      </p:sp>
      <p:sp>
        <p:nvSpPr>
          <p:cNvPr id="365" name="Google Shape;365;p5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Memory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Memory consists of 8-bit bytes, 3 consecutive bytes form a word (24 bits)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All address are byte addresses.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Words are addresses by the location of their lowest numbered byte.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 megabytes (2^20 bytes) in memory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66" name="Google Shape;366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"/>
          <p:cNvSpPr txBox="1"/>
          <p:nvPr>
            <p:ph type="title"/>
          </p:nvPr>
        </p:nvSpPr>
        <p:spPr>
          <a:xfrm>
            <a:off x="283028" y="50008"/>
            <a:ext cx="1142455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1.3.2 SIC/XE Machine Architecture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72" name="Google Shape;372;p54"/>
          <p:cNvSpPr txBox="1"/>
          <p:nvPr>
            <p:ph idx="1" type="body"/>
          </p:nvPr>
        </p:nvSpPr>
        <p:spPr>
          <a:xfrm>
            <a:off x="484414" y="981076"/>
            <a:ext cx="9726386" cy="5472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Registers: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None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9 registers, 24 bits in length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 	0	Accumulator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X	1	Index register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	2	Linkage register (JSUB)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PC	8	Program counter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SW	9	Status word (Condition Code)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3 additional registers, 24 bits in length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B	     3	Base register; used for addressing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	     4	General working register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	     5	General working register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 additional register, 48 bits in length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F		6	Floating-point accumulator (48 bits)</a:t>
            </a:r>
            <a:endParaRPr/>
          </a:p>
        </p:txBody>
      </p:sp>
      <p:sp>
        <p:nvSpPr>
          <p:cNvPr id="373" name="Google Shape;37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1.3.2 SIC/XE Machine Architecture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79" name="Google Shape;379;p5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Data format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24-bit binary number for integer.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2’s complement for negative values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Characters are stored using 8bit ASCII code.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48-bit floating-point data type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exponent is between 0 and 2047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f*2</a:t>
            </a:r>
            <a:r>
              <a:rPr baseline="30000"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(e-1024)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80" name="Google Shape;38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81" name="Google Shape;381;p55"/>
          <p:cNvSpPr/>
          <p:nvPr/>
        </p:nvSpPr>
        <p:spPr>
          <a:xfrm>
            <a:off x="2855914" y="5084763"/>
            <a:ext cx="287337" cy="4318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382" name="Google Shape;382;p55"/>
          <p:cNvSpPr/>
          <p:nvPr/>
        </p:nvSpPr>
        <p:spPr>
          <a:xfrm>
            <a:off x="3143251" y="5084763"/>
            <a:ext cx="1584325" cy="431800"/>
          </a:xfrm>
          <a:prstGeom prst="rect">
            <a:avLst/>
          </a:pr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exponent</a:t>
            </a:r>
            <a:endParaRPr/>
          </a:p>
        </p:txBody>
      </p:sp>
      <p:sp>
        <p:nvSpPr>
          <p:cNvPr id="383" name="Google Shape;383;p55"/>
          <p:cNvSpPr/>
          <p:nvPr/>
        </p:nvSpPr>
        <p:spPr>
          <a:xfrm>
            <a:off x="4727576" y="5084763"/>
            <a:ext cx="4608513" cy="431800"/>
          </a:xfrm>
          <a:prstGeom prst="rect">
            <a:avLst/>
          </a:prstGeom>
          <a:solidFill>
            <a:srgbClr val="CCFF99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fraction</a:t>
            </a:r>
            <a:endParaRPr/>
          </a:p>
        </p:txBody>
      </p:sp>
      <p:sp>
        <p:nvSpPr>
          <p:cNvPr id="384" name="Google Shape;384;p55"/>
          <p:cNvSpPr txBox="1"/>
          <p:nvPr/>
        </p:nvSpPr>
        <p:spPr>
          <a:xfrm>
            <a:off x="2855913" y="4651376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85" name="Google Shape;385;p55"/>
          <p:cNvSpPr txBox="1"/>
          <p:nvPr/>
        </p:nvSpPr>
        <p:spPr>
          <a:xfrm>
            <a:off x="3721100" y="4651376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386" name="Google Shape;386;p55"/>
          <p:cNvSpPr txBox="1"/>
          <p:nvPr/>
        </p:nvSpPr>
        <p:spPr>
          <a:xfrm>
            <a:off x="6816725" y="4652963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6"/>
          <p:cNvSpPr txBox="1"/>
          <p:nvPr>
            <p:ph type="title"/>
          </p:nvPr>
        </p:nvSpPr>
        <p:spPr>
          <a:xfrm>
            <a:off x="157842" y="136524"/>
            <a:ext cx="11664043" cy="761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1.3.2 SIC/XE Machine Architecture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392" name="Google Shape;392;p56"/>
          <p:cNvSpPr txBox="1"/>
          <p:nvPr>
            <p:ph idx="1" type="body"/>
          </p:nvPr>
        </p:nvSpPr>
        <p:spPr>
          <a:xfrm>
            <a:off x="326571" y="1142999"/>
            <a:ext cx="11027229" cy="5033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Instruction Formats 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The larger memory available on SIC/XE , the addresses will no longer fit into 15-bit field.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4 Formats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Format 1 ( 1 byte)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Format 2 ( 2 bytes)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Format 3 ( 3 bytes )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Format 4 ( 4 bytes )</a:t>
            </a:r>
            <a:endParaRPr/>
          </a:p>
        </p:txBody>
      </p:sp>
      <p:sp>
        <p:nvSpPr>
          <p:cNvPr id="393" name="Google Shape;393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1774826" y="4221164"/>
            <a:ext cx="2663825" cy="1493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6"/>
          <p:cNvSpPr/>
          <p:nvPr/>
        </p:nvSpPr>
        <p:spPr>
          <a:xfrm>
            <a:off x="4438650" y="2959101"/>
            <a:ext cx="6229350" cy="3762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7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 program&#10;&#10;Description automatically generated" id="401" name="Google Shape;401;p5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3589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8"/>
          <p:cNvSpPr txBox="1"/>
          <p:nvPr>
            <p:ph type="title"/>
          </p:nvPr>
        </p:nvSpPr>
        <p:spPr>
          <a:xfrm>
            <a:off x="0" y="44450"/>
            <a:ext cx="10039351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ct val="100000"/>
              <a:buFont typeface="Play"/>
              <a:buNone/>
            </a:pPr>
            <a:r>
              <a:rPr lang="en-US">
                <a:solidFill>
                  <a:srgbClr val="7B9899"/>
                </a:solidFill>
              </a:rPr>
              <a:t>Examples</a:t>
            </a:r>
            <a:endParaRPr>
              <a:solidFill>
                <a:srgbClr val="7B9899"/>
              </a:solidFill>
            </a:endParaRPr>
          </a:p>
        </p:txBody>
      </p:sp>
      <p:sp>
        <p:nvSpPr>
          <p:cNvPr id="407" name="Google Shape;407;p58"/>
          <p:cNvSpPr txBox="1"/>
          <p:nvPr>
            <p:ph idx="1" type="body"/>
          </p:nvPr>
        </p:nvSpPr>
        <p:spPr>
          <a:xfrm>
            <a:off x="212271" y="692151"/>
            <a:ext cx="11459029" cy="6029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Format 1 ( 1byte ) :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RSUB  4C        0100 1100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 Format 2 ( 2 bytes) :   COMPR A, S     1010 0000   0000 0100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Format 3( 3 bytes) :  LDA  # 3     0000  0001 0000   0000  0000  0011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/>
              <a:t>Format 4( 4 bytes ) :  +JSUB RDREC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                                   0100  1011  0001 0000  0001  0000  0011  0110</a:t>
            </a:r>
            <a:endParaRPr/>
          </a:p>
          <a:p>
            <a:pPr indent="-965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965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408" name="Google Shape;408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rgbClr val="89898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Addressing modes</a:t>
            </a:r>
            <a:endParaRPr/>
          </a:p>
        </p:txBody>
      </p:sp>
      <p:sp>
        <p:nvSpPr>
          <p:cNvPr id="414" name="Google Shape;414;p5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n,i,x,b,p,e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 --🡪 indirect addressing flag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  --🡪 Immediate addressing flag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X --🡪 indexed addressing flag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 --🡪 base addressing flag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 --🡪 program counter relative flag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 ---🡪 format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         e=0  -&gt; format 3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             e=1 -🡪format 4</a:t>
            </a:r>
            <a:endParaRPr/>
          </a:p>
        </p:txBody>
      </p:sp>
      <p:sp>
        <p:nvSpPr>
          <p:cNvPr id="415" name="Google Shape;415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0"/>
          <p:cNvSpPr txBox="1"/>
          <p:nvPr>
            <p:ph type="title"/>
          </p:nvPr>
        </p:nvSpPr>
        <p:spPr>
          <a:xfrm>
            <a:off x="1524000" y="1"/>
            <a:ext cx="8515350" cy="8366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1.3.2 SIC/XE Machine Architecture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421" name="Google Shape;421;p60"/>
          <p:cNvSpPr txBox="1"/>
          <p:nvPr>
            <p:ph idx="1" type="body"/>
          </p:nvPr>
        </p:nvSpPr>
        <p:spPr>
          <a:xfrm>
            <a:off x="147485" y="836614"/>
            <a:ext cx="11400502" cy="539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Addressing modes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n  i  x  b  p  e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Simple 		n=0, i=0 (SIC) or n=1, i=1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Immediate	n=0, i=1	TA=Values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Indirect		n=1, i=0	TA=(Operand)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Base relative	b=1, p=0	TA=(B)+disp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	                                                0 &lt;= disp &lt;= 4095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PC relative	b=0, p=1	TA=(PC)+disp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      -2048 &lt;= disp &lt;= 2047</a:t>
            </a:r>
            <a:endParaRPr/>
          </a:p>
        </p:txBody>
      </p:sp>
      <p:sp>
        <p:nvSpPr>
          <p:cNvPr id="422" name="Google Shape;422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423" name="Google Shape;42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4993" y="4385980"/>
            <a:ext cx="7976419" cy="1970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9" name="Google Shape;429;p6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554" l="0" r="2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4988"/>
            <a:ext cx="11963399" cy="6473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" id="440" name="Google Shape;440;p6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8" l="0" r="0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and yellow box with black text&#10;&#10;Description automatically generated" id="446" name="Google Shape;446;p6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2" l="0" r="2033" t="0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graphicFrame>
        <p:nvGraphicFramePr>
          <p:cNvPr id="452" name="Google Shape;452;p65"/>
          <p:cNvGraphicFramePr/>
          <p:nvPr/>
        </p:nvGraphicFramePr>
        <p:xfrm>
          <a:off x="2208213" y="2603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{A545C1D4-BAB2-4E3A-A476-124A4BAA093E}</a:tableStyleId>
              </a:tblPr>
              <a:tblGrid>
                <a:gridCol w="3096200"/>
                <a:gridCol w="1584100"/>
                <a:gridCol w="3384200"/>
              </a:tblGrid>
              <a:tr h="36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mode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indication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Target address calculation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Base relative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b=1,p=0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n=1,i=1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TA=(B)+disp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(o&lt;=disp&lt;=4095)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Program counter relative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b=0,p=1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n=1,i=1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TA=(p)+disp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(-2048&lt;=disp&lt;=2047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20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Direct addressing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n=1,i=1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B=0,p=0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(format 3)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n=1,i=1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B=0,p=0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(format 4)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TA=displacement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TA=address field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Base relative indexed addressing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B=1,p=0,x=1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TA=(B)+(X)+displacement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40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program relative indexed addressing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B=0,p=1,x=1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TA=(p)+(X)+displacement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0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Immediate addressing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i=1,n=0,x=0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TA=operand value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65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Indirect addressing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i=0,n=1,x=0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TA=diaplacement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Play"/>
              <a:buNone/>
            </a:pPr>
            <a:r>
              <a:rPr lang="en-US">
                <a:solidFill>
                  <a:srgbClr val="7B9899"/>
                </a:solidFill>
              </a:rPr>
              <a:t>Special symbol indication</a:t>
            </a:r>
            <a:endParaRPr/>
          </a:p>
        </p:txBody>
      </p:sp>
      <p:sp>
        <p:nvSpPr>
          <p:cNvPr id="458" name="Google Shape;458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#  ---🡪 immediate addressing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@ ---🡪 Indirect addressing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+ ---🡪 format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* ----🡪 current value of PC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 ‘ ‘ --🡪 character string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 m,x  --🡪 index register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Base ---🡪 base register.</a:t>
            </a:r>
            <a:endParaRPr/>
          </a:p>
        </p:txBody>
      </p:sp>
      <p:sp>
        <p:nvSpPr>
          <p:cNvPr id="459" name="Google Shape;459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</a:rPr>
              <a:t>NOTE : 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AutoNum type="arabicPeriod"/>
            </a:pPr>
            <a:r>
              <a:rPr lang="en-US">
                <a:solidFill>
                  <a:srgbClr val="3F3F3F"/>
                </a:solidFill>
              </a:rPr>
              <a:t>We can’t set both b=1 and p=1 which is an invalid instructions.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AutoNum type="arabicPeriod"/>
            </a:pPr>
            <a:r>
              <a:rPr lang="en-US">
                <a:solidFill>
                  <a:srgbClr val="3F3F3F"/>
                </a:solidFill>
              </a:rPr>
              <a:t>Indexing cannot be used with immediate or indirect addressing.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3F3F3F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465" name="Google Shape;465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1.3.2 SIC/XE Machine Architecture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471" name="Google Shape;471;p6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Instruction set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Format 1, 2, 3, or 4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Load and store registers (LDB, STB, etc.)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Floating-point arithmetic operations (ADDF, SUBF, MULF, DIVF)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Register-to-register arithmetic operations (ADDR, SUBR, MULR, DIVR)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 special supervisor call instruction (SVC) is provided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I/O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1 byte at a time, TD, RD, and WD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SIO, TIO, and HIO are used to start, test, and halt the operation of I/O channels.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472" name="Google Shape;472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9"/>
          <p:cNvSpPr txBox="1"/>
          <p:nvPr>
            <p:ph type="title"/>
          </p:nvPr>
        </p:nvSpPr>
        <p:spPr>
          <a:xfrm>
            <a:off x="162232" y="365126"/>
            <a:ext cx="11191568" cy="9769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Introduction to Assembler</a:t>
            </a:r>
            <a:endParaRPr/>
          </a:p>
        </p:txBody>
      </p:sp>
      <p:pic>
        <p:nvPicPr>
          <p:cNvPr id="478" name="Google Shape;478;p6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866" y="1342104"/>
            <a:ext cx="8745792" cy="4910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  Basic Assembler Functions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484" name="Google Shape;484;p70"/>
          <p:cNvSpPr txBox="1"/>
          <p:nvPr>
            <p:ph idx="1" type="body"/>
          </p:nvPr>
        </p:nvSpPr>
        <p:spPr>
          <a:xfrm>
            <a:off x="408214" y="1572759"/>
            <a:ext cx="10776857" cy="4437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Libre Franklin Medium"/>
                <a:ea typeface="Libre Franklin Medium"/>
                <a:cs typeface="Libre Franklin Medium"/>
                <a:sym typeface="Libre Franklin Medium"/>
              </a:rPr>
              <a:t>Figure 2.1 shows an assembler language program for SIC.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line numbers are for reference only.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Indexing addressing is indicated by adding the modifier “X”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Lines beginning with “.” contain comments only. 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Reads records from input device (code F1)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Copies them to output device (code 05)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485" name="Google Shape;485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491" name="Google Shape;49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60350"/>
            <a:ext cx="9144000" cy="6237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497" name="Google Shape;49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981075"/>
            <a:ext cx="9144000" cy="4433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03" name="Google Shape;503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104900"/>
            <a:ext cx="9144000" cy="4167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  Basic Assembler Functions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09" name="Google Shape;509;p74"/>
          <p:cNvSpPr txBox="1"/>
          <p:nvPr>
            <p:ph idx="1" type="body"/>
          </p:nvPr>
        </p:nvSpPr>
        <p:spPr>
          <a:xfrm>
            <a:off x="228601" y="1534886"/>
            <a:ext cx="11789228" cy="4658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Assembler </a:t>
            </a:r>
            <a:r>
              <a:rPr i="1"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directives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(pseudo-instructions)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START, END, BYTE, WORD, RESB, RESW.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These statements are not translated into machine instructions.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Instead, they provide instructions to the assembler itself.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10" name="Google Shape;510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document&#10;&#10;Description automatically generated" id="515" name="Google Shape;515;p7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1084410"/>
            <a:ext cx="10905066" cy="4689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  Basic Assembler Functions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21" name="Google Shape;521;p76"/>
          <p:cNvSpPr txBox="1"/>
          <p:nvPr>
            <p:ph idx="1" type="body"/>
          </p:nvPr>
        </p:nvSpPr>
        <p:spPr>
          <a:xfrm>
            <a:off x="179614" y="1690688"/>
            <a:ext cx="11723915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Data transfer (RD, WD)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 buffer is used to store record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Buffering is necessary for different I/O rates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end of each record is marked with a null character (00</a:t>
            </a:r>
            <a:r>
              <a:rPr baseline="-25000"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16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Buffer length is 4096 Bytes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end of the file is indicated by a zero-length record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Subroutines (JSUB, RSUB)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RDREC, WRREC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Save link (L) register first before nested jump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22" name="Google Shape;522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77"/>
          <p:cNvSpPr txBox="1"/>
          <p:nvPr>
            <p:ph idx="1" type="body"/>
          </p:nvPr>
        </p:nvSpPr>
        <p:spPr>
          <a:xfrm>
            <a:off x="195943" y="261256"/>
            <a:ext cx="11560628" cy="6191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Basic Assembler Functions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3F3F3F"/>
              </a:solidFill>
            </a:endParaRPr>
          </a:p>
          <a:p>
            <a:pPr indent="-274320" lvl="0" marL="27432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</a:rPr>
              <a:t>The translation of source program to object code requires us to accomplish following functions.</a:t>
            </a:r>
            <a:endParaRPr/>
          </a:p>
        </p:txBody>
      </p:sp>
      <p:sp>
        <p:nvSpPr>
          <p:cNvPr id="528" name="Google Shape;528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29" name="Google Shape;52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943" y="2351314"/>
            <a:ext cx="11428716" cy="4245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p7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193618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40" name="Google Shape;54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"/>
            <a:ext cx="9144000" cy="6753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1" name="Google Shape;541;p79"/>
          <p:cNvCxnSpPr/>
          <p:nvPr/>
        </p:nvCxnSpPr>
        <p:spPr>
          <a:xfrm flipH="1">
            <a:off x="9191626" y="1341438"/>
            <a:ext cx="73025" cy="3816350"/>
          </a:xfrm>
          <a:prstGeom prst="straightConnector1">
            <a:avLst/>
          </a:prstGeom>
          <a:noFill/>
          <a:ln cap="flat" cmpd="sng" w="38100">
            <a:solidFill>
              <a:srgbClr val="FF00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79"/>
          <p:cNvCxnSpPr/>
          <p:nvPr/>
        </p:nvCxnSpPr>
        <p:spPr>
          <a:xfrm>
            <a:off x="5448300" y="1196975"/>
            <a:ext cx="647700" cy="0"/>
          </a:xfrm>
          <a:prstGeom prst="straightConnector1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79"/>
          <p:cNvCxnSpPr/>
          <p:nvPr/>
        </p:nvCxnSpPr>
        <p:spPr>
          <a:xfrm>
            <a:off x="5375275" y="6165850"/>
            <a:ext cx="647700" cy="0"/>
          </a:xfrm>
          <a:prstGeom prst="straightConnector1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79"/>
          <p:cNvCxnSpPr/>
          <p:nvPr/>
        </p:nvCxnSpPr>
        <p:spPr>
          <a:xfrm>
            <a:off x="5375275" y="6453188"/>
            <a:ext cx="647700" cy="0"/>
          </a:xfrm>
          <a:prstGeom prst="straightConnector1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79"/>
          <p:cNvCxnSpPr/>
          <p:nvPr/>
        </p:nvCxnSpPr>
        <p:spPr>
          <a:xfrm>
            <a:off x="5375275" y="6742113"/>
            <a:ext cx="647700" cy="0"/>
          </a:xfrm>
          <a:prstGeom prst="straightConnector1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79"/>
          <p:cNvCxnSpPr/>
          <p:nvPr/>
        </p:nvCxnSpPr>
        <p:spPr>
          <a:xfrm>
            <a:off x="5375275" y="5300663"/>
            <a:ext cx="647700" cy="0"/>
          </a:xfrm>
          <a:prstGeom prst="straightConnector1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79"/>
          <p:cNvCxnSpPr/>
          <p:nvPr/>
        </p:nvCxnSpPr>
        <p:spPr>
          <a:xfrm>
            <a:off x="5375275" y="5589588"/>
            <a:ext cx="647700" cy="0"/>
          </a:xfrm>
          <a:prstGeom prst="straightConnector1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79"/>
          <p:cNvCxnSpPr/>
          <p:nvPr/>
        </p:nvCxnSpPr>
        <p:spPr>
          <a:xfrm>
            <a:off x="5375275" y="5876925"/>
            <a:ext cx="647700" cy="0"/>
          </a:xfrm>
          <a:prstGeom prst="straightConnector1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79"/>
          <p:cNvSpPr/>
          <p:nvPr/>
        </p:nvSpPr>
        <p:spPr>
          <a:xfrm>
            <a:off x="6600826" y="1230314"/>
            <a:ext cx="1008063" cy="288925"/>
          </a:xfrm>
          <a:prstGeom prst="ellipse">
            <a:avLst/>
          </a:prstGeom>
          <a:noFill/>
          <a:ln cap="flat" cmpd="sng" w="28575">
            <a:solidFill>
              <a:srgbClr val="339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9"/>
          <p:cNvSpPr/>
          <p:nvPr/>
        </p:nvSpPr>
        <p:spPr>
          <a:xfrm>
            <a:off x="3935413" y="5899150"/>
            <a:ext cx="1008062" cy="287338"/>
          </a:xfrm>
          <a:prstGeom prst="ellipse">
            <a:avLst/>
          </a:prstGeom>
          <a:noFill/>
          <a:ln cap="flat" cmpd="sng" w="28575">
            <a:solidFill>
              <a:srgbClr val="339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79"/>
          <p:cNvCxnSpPr/>
          <p:nvPr/>
        </p:nvCxnSpPr>
        <p:spPr>
          <a:xfrm flipH="1">
            <a:off x="4943475" y="1412875"/>
            <a:ext cx="1657350" cy="4679950"/>
          </a:xfrm>
          <a:prstGeom prst="straightConnector1">
            <a:avLst/>
          </a:prstGeom>
          <a:noFill/>
          <a:ln cap="rnd" cmpd="sng" w="28575">
            <a:solidFill>
              <a:schemeClr val="accent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552" name="Google Shape;552;p79"/>
          <p:cNvSpPr/>
          <p:nvPr/>
        </p:nvSpPr>
        <p:spPr>
          <a:xfrm>
            <a:off x="6588126" y="2065339"/>
            <a:ext cx="1008063" cy="287337"/>
          </a:xfrm>
          <a:prstGeom prst="ellipse">
            <a:avLst/>
          </a:prstGeom>
          <a:noFill/>
          <a:ln cap="flat" cmpd="sng" w="28575">
            <a:solidFill>
              <a:srgbClr val="339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79"/>
          <p:cNvSpPr/>
          <p:nvPr/>
        </p:nvSpPr>
        <p:spPr>
          <a:xfrm>
            <a:off x="3935413" y="5589589"/>
            <a:ext cx="1008062" cy="287337"/>
          </a:xfrm>
          <a:prstGeom prst="ellipse">
            <a:avLst/>
          </a:prstGeom>
          <a:noFill/>
          <a:ln cap="flat" cmpd="sng" w="28575">
            <a:solidFill>
              <a:srgbClr val="339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p79"/>
          <p:cNvCxnSpPr/>
          <p:nvPr/>
        </p:nvCxnSpPr>
        <p:spPr>
          <a:xfrm flipH="1">
            <a:off x="4872039" y="2205038"/>
            <a:ext cx="1728787" cy="3529012"/>
          </a:xfrm>
          <a:prstGeom prst="straightConnector1">
            <a:avLst/>
          </a:prstGeom>
          <a:noFill/>
          <a:ln cap="rnd" cmpd="sng" w="28575">
            <a:solidFill>
              <a:schemeClr val="dk2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555" name="Google Shape;555;p79"/>
          <p:cNvSpPr/>
          <p:nvPr/>
        </p:nvSpPr>
        <p:spPr>
          <a:xfrm>
            <a:off x="6527801" y="2924175"/>
            <a:ext cx="1008063" cy="287338"/>
          </a:xfrm>
          <a:prstGeom prst="ellipse">
            <a:avLst/>
          </a:prstGeom>
          <a:noFill/>
          <a:ln cap="flat" cmpd="sng" w="28575">
            <a:solidFill>
              <a:srgbClr val="339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9"/>
          <p:cNvSpPr/>
          <p:nvPr/>
        </p:nvSpPr>
        <p:spPr>
          <a:xfrm>
            <a:off x="3935413" y="1484314"/>
            <a:ext cx="1008062" cy="287337"/>
          </a:xfrm>
          <a:prstGeom prst="ellipse">
            <a:avLst/>
          </a:prstGeom>
          <a:noFill/>
          <a:ln cap="flat" cmpd="sng" w="28575">
            <a:solidFill>
              <a:srgbClr val="3399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7" name="Google Shape;557;p79"/>
          <p:cNvCxnSpPr/>
          <p:nvPr/>
        </p:nvCxnSpPr>
        <p:spPr>
          <a:xfrm rot="10800000">
            <a:off x="4943476" y="1628776"/>
            <a:ext cx="1584325" cy="1439863"/>
          </a:xfrm>
          <a:prstGeom prst="straightConnector1">
            <a:avLst/>
          </a:prstGeom>
          <a:noFill/>
          <a:ln cap="rnd" cmpd="sng" w="28575">
            <a:solidFill>
              <a:srgbClr val="FF0066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63" name="Google Shape;563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412876"/>
            <a:ext cx="9144000" cy="500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1" y="549275"/>
            <a:ext cx="8474075" cy="768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5" name="Google Shape;565;p80"/>
          <p:cNvCxnSpPr/>
          <p:nvPr/>
        </p:nvCxnSpPr>
        <p:spPr>
          <a:xfrm flipH="1">
            <a:off x="9191626" y="2276475"/>
            <a:ext cx="73025" cy="3384550"/>
          </a:xfrm>
          <a:prstGeom prst="straightConnector1">
            <a:avLst/>
          </a:prstGeom>
          <a:noFill/>
          <a:ln cap="flat" cmpd="sng" w="38100">
            <a:solidFill>
              <a:srgbClr val="FF00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571" name="Google Shape;571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700213"/>
            <a:ext cx="9144000" cy="422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1" y="692150"/>
            <a:ext cx="8474075" cy="768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3" name="Google Shape;573;p81"/>
          <p:cNvCxnSpPr/>
          <p:nvPr/>
        </p:nvCxnSpPr>
        <p:spPr>
          <a:xfrm flipH="1">
            <a:off x="9048750" y="2420938"/>
            <a:ext cx="71438" cy="2087562"/>
          </a:xfrm>
          <a:prstGeom prst="straightConnector1">
            <a:avLst/>
          </a:prstGeom>
          <a:noFill/>
          <a:ln cap="flat" cmpd="sng" w="38100">
            <a:solidFill>
              <a:srgbClr val="FF00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81"/>
          <p:cNvSpPr/>
          <p:nvPr/>
        </p:nvSpPr>
        <p:spPr>
          <a:xfrm>
            <a:off x="2711450" y="4508501"/>
            <a:ext cx="647700" cy="288925"/>
          </a:xfrm>
          <a:prstGeom prst="ellipse">
            <a:avLst/>
          </a:prstGeom>
          <a:noFill/>
          <a:ln cap="flat" cmpd="sng" w="28575">
            <a:solidFill>
              <a:srgbClr val="3333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80" name="Google Shape;580;p82"/>
          <p:cNvSpPr txBox="1"/>
          <p:nvPr>
            <p:ph idx="1" type="body"/>
          </p:nvPr>
        </p:nvSpPr>
        <p:spPr>
          <a:xfrm>
            <a:off x="359229" y="1420586"/>
            <a:ext cx="11593285" cy="4756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forward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reference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10	1000	FIRST STL	RETADR	141033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 reference to a label (RETADR) that is defined later in the program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Most assemblers make two passes over source program.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1 scans the source for label definitions and assigns address (Loc).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2 performs most of the actual translation.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81" name="Google Shape;581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3"/>
          <p:cNvSpPr txBox="1"/>
          <p:nvPr>
            <p:ph type="title"/>
          </p:nvPr>
        </p:nvSpPr>
        <p:spPr>
          <a:xfrm>
            <a:off x="609600" y="277813"/>
            <a:ext cx="10972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587" name="Google Shape;587;p83"/>
          <p:cNvSpPr txBox="1"/>
          <p:nvPr>
            <p:ph idx="1" type="body"/>
          </p:nvPr>
        </p:nvSpPr>
        <p:spPr>
          <a:xfrm>
            <a:off x="277585" y="1125538"/>
            <a:ext cx="11527971" cy="532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object program (OP) will be loaded into memory for execution.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Three types of records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Header: program name, starting address, length.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Text: starting address, length, object code.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End: address of first executable instruction.</a:t>
            </a:r>
            <a:endParaRPr/>
          </a:p>
        </p:txBody>
      </p:sp>
      <p:pic>
        <p:nvPicPr>
          <p:cNvPr id="588" name="Google Shape;588;p83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750" y="3983038"/>
            <a:ext cx="7704138" cy="2259012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83"/>
          <p:cNvSpPr txBox="1"/>
          <p:nvPr>
            <p:ph idx="12" type="sldNum"/>
          </p:nvPr>
        </p:nvSpPr>
        <p:spPr>
          <a:xfrm>
            <a:off x="8737600" y="6597651"/>
            <a:ext cx="2844800" cy="14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590" name="Google Shape;590;p83"/>
          <p:cNvCxnSpPr/>
          <p:nvPr/>
        </p:nvCxnSpPr>
        <p:spPr>
          <a:xfrm>
            <a:off x="4224339" y="6092825"/>
            <a:ext cx="3671887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83"/>
          <p:cNvCxnSpPr/>
          <p:nvPr/>
        </p:nvCxnSpPr>
        <p:spPr>
          <a:xfrm>
            <a:off x="4295775" y="5661025"/>
            <a:ext cx="3671888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8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pic>
        <p:nvPicPr>
          <p:cNvPr id="597" name="Google Shape;597;p8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913" y="1322614"/>
            <a:ext cx="10662557" cy="5398861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cxnSp>
        <p:nvCxnSpPr>
          <p:cNvPr id="599" name="Google Shape;599;p84"/>
          <p:cNvCxnSpPr/>
          <p:nvPr/>
        </p:nvCxnSpPr>
        <p:spPr>
          <a:xfrm>
            <a:off x="4151314" y="2997200"/>
            <a:ext cx="1584325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84"/>
          <p:cNvCxnSpPr/>
          <p:nvPr/>
        </p:nvCxnSpPr>
        <p:spPr>
          <a:xfrm>
            <a:off x="4151314" y="3395663"/>
            <a:ext cx="1584325" cy="0"/>
          </a:xfrm>
          <a:prstGeom prst="straightConnector1">
            <a:avLst/>
          </a:prstGeom>
          <a:noFill/>
          <a:ln cap="flat" cmpd="sng" w="28575">
            <a:solidFill>
              <a:srgbClr val="FF00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85"/>
          <p:cNvSpPr txBox="1"/>
          <p:nvPr>
            <p:ph type="title"/>
          </p:nvPr>
        </p:nvSpPr>
        <p:spPr>
          <a:xfrm>
            <a:off x="609600" y="277813"/>
            <a:ext cx="109728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ibre Franklin Medium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06" name="Google Shape;606;p85"/>
          <p:cNvSpPr txBox="1"/>
          <p:nvPr>
            <p:ph idx="1" type="body"/>
          </p:nvPr>
        </p:nvSpPr>
        <p:spPr>
          <a:xfrm>
            <a:off x="261257" y="1125538"/>
            <a:ext cx="8787493" cy="532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symbol ^ is used to separate fields.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Figure 2.3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		1E(H)=30(D)=16(D)+14(D)</a:t>
            </a:r>
            <a:endParaRPr/>
          </a:p>
        </p:txBody>
      </p:sp>
      <p:pic>
        <p:nvPicPr>
          <p:cNvPr id="607" name="Google Shape;607;p8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00526"/>
            <a:ext cx="774065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85"/>
          <p:cNvPicPr preferRelativeResize="0"/>
          <p:nvPr>
            <p:ph idx="3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25706" y="332582"/>
            <a:ext cx="1628775" cy="5472113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85"/>
          <p:cNvSpPr txBox="1"/>
          <p:nvPr>
            <p:ph idx="12" type="sldNum"/>
          </p:nvPr>
        </p:nvSpPr>
        <p:spPr>
          <a:xfrm>
            <a:off x="8737600" y="6597651"/>
            <a:ext cx="2844800" cy="144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4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4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10" name="Google Shape;610;p85"/>
          <p:cNvSpPr/>
          <p:nvPr/>
        </p:nvSpPr>
        <p:spPr>
          <a:xfrm>
            <a:off x="2424113" y="4581525"/>
            <a:ext cx="215900" cy="287338"/>
          </a:xfrm>
          <a:prstGeom prst="ellipse">
            <a:avLst/>
          </a:prstGeom>
          <a:noFill/>
          <a:ln cap="flat" cmpd="sng" w="952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85"/>
          <p:cNvCxnSpPr/>
          <p:nvPr/>
        </p:nvCxnSpPr>
        <p:spPr>
          <a:xfrm flipH="1" rot="10800000">
            <a:off x="2566988" y="3068639"/>
            <a:ext cx="1873250" cy="1512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17" name="Google Shape;617;p86"/>
          <p:cNvSpPr txBox="1"/>
          <p:nvPr>
            <p:ph idx="1" type="body"/>
          </p:nvPr>
        </p:nvSpPr>
        <p:spPr>
          <a:xfrm>
            <a:off x="408213" y="1534886"/>
            <a:ext cx="11462657" cy="4642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Assembler’s Functions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Convert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mnemonic operation codes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to their machine language equivalents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ts val="2000"/>
              <a:buChar char="•"/>
            </a:pP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STL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to 14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Convert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symbolic operands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(referred label)</a:t>
            </a:r>
            <a:r>
              <a:rPr lang="en-US" u="sng">
                <a:latin typeface="Libre Franklin Medium"/>
                <a:ea typeface="Libre Franklin Medium"/>
                <a:cs typeface="Libre Franklin Medium"/>
                <a:sym typeface="Libre Franklin Medium"/>
              </a:rPr>
              <a:t> 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to their equivalent machine addresses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66"/>
              </a:buClr>
              <a:buSzPts val="2000"/>
              <a:buChar char="•"/>
            </a:pP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RETADR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to 1033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Build the machine instructions in the proper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format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Convert the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data constants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to internal machine representations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Write the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object program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and the assembly listing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18" name="Google Shape;618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24" name="Google Shape;624;p8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Example of Instruction Assemble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Forward reference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STCH        BUFFER, X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25" name="Google Shape;625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26" name="Google Shape;626;p87"/>
          <p:cNvSpPr txBox="1"/>
          <p:nvPr/>
        </p:nvSpPr>
        <p:spPr>
          <a:xfrm>
            <a:off x="2128838" y="41402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b="1" lang="en-US" sz="24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(54)</a:t>
            </a:r>
            <a:r>
              <a:rPr b="1" baseline="-25000" lang="en-US" sz="24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                      </a:t>
            </a:r>
            <a:r>
              <a:rPr b="1" lang="en-US" sz="24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 (001)</a:t>
            </a:r>
            <a:r>
              <a:rPr b="1" baseline="-25000" lang="en-US" sz="24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                                              </a:t>
            </a:r>
            <a:r>
              <a:rPr b="1" lang="en-US" sz="24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(039)</a:t>
            </a:r>
            <a:r>
              <a:rPr b="1" baseline="-25000" lang="en-US" sz="24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endParaRPr/>
          </a:p>
        </p:txBody>
      </p:sp>
      <p:pic>
        <p:nvPicPr>
          <p:cNvPr id="627" name="Google Shape;62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988" y="2997201"/>
            <a:ext cx="8875712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87"/>
          <p:cNvSpPr txBox="1"/>
          <p:nvPr/>
        </p:nvSpPr>
        <p:spPr>
          <a:xfrm>
            <a:off x="9186863" y="2979738"/>
            <a:ext cx="10985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549039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34" name="Google Shape;634;p8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Forward reference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Reference to a label that is defined later in the program.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Libre Franklin Medium"/>
                <a:ea typeface="Libre Franklin Medium"/>
                <a:cs typeface="Libre Franklin Medium"/>
                <a:sym typeface="Libre Franklin Medium"/>
              </a:rPr>
              <a:t>		</a:t>
            </a:r>
            <a:r>
              <a:rPr lang="en-US" sz="2000" u="sng">
                <a:latin typeface="Courier New"/>
                <a:ea typeface="Courier New"/>
                <a:cs typeface="Courier New"/>
                <a:sym typeface="Courier New"/>
              </a:rPr>
              <a:t>Loc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 u="sng">
                <a:latin typeface="Courier New"/>
                <a:ea typeface="Courier New"/>
                <a:cs typeface="Courier New"/>
                <a:sym typeface="Courier New"/>
              </a:rPr>
              <a:t>Label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2000" u="sng">
                <a:latin typeface="Courier New"/>
                <a:ea typeface="Courier New"/>
                <a:cs typeface="Courier New"/>
                <a:sym typeface="Courier New"/>
              </a:rPr>
              <a:t>OP Code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 u="sng">
                <a:latin typeface="Courier New"/>
                <a:ea typeface="Courier New"/>
                <a:cs typeface="Courier New"/>
                <a:sym typeface="Courier New"/>
              </a:rPr>
              <a:t>Operand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-US" sz="2000" u="sng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1000	FIRST		STL		RETADR		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1003	CLOOP		JSUB		RDREC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 …	  …		…		…			1012			J		CLOOP		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		…	  …		…		…			1033	RETADR	RESW		1</a:t>
            </a:r>
            <a:endParaRPr/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5" name="Google Shape;635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36" name="Google Shape;636;p88"/>
          <p:cNvSpPr/>
          <p:nvPr/>
        </p:nvSpPr>
        <p:spPr>
          <a:xfrm>
            <a:off x="2647950" y="3744913"/>
            <a:ext cx="317500" cy="762000"/>
          </a:xfrm>
          <a:custGeom>
            <a:rect b="b" l="l" r="r" t="t"/>
            <a:pathLst>
              <a:path extrusionOk="0" h="480" w="200">
                <a:moveTo>
                  <a:pt x="200" y="480"/>
                </a:moveTo>
                <a:cubicBezTo>
                  <a:pt x="108" y="400"/>
                  <a:pt x="16" y="320"/>
                  <a:pt x="8" y="240"/>
                </a:cubicBezTo>
                <a:cubicBezTo>
                  <a:pt x="0" y="160"/>
                  <a:pt x="128" y="40"/>
                  <a:pt x="152" y="0"/>
                </a:cubicBezTo>
              </a:path>
            </a:pathLst>
          </a:custGeom>
          <a:noFill/>
          <a:ln cap="flat" cmpd="sng" w="2857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88"/>
          <p:cNvSpPr/>
          <p:nvPr/>
        </p:nvSpPr>
        <p:spPr>
          <a:xfrm>
            <a:off x="2114550" y="3135313"/>
            <a:ext cx="762000" cy="2057400"/>
          </a:xfrm>
          <a:custGeom>
            <a:rect b="b" l="l" r="r" t="t"/>
            <a:pathLst>
              <a:path extrusionOk="0" h="1296" w="480">
                <a:moveTo>
                  <a:pt x="480" y="0"/>
                </a:moveTo>
                <a:cubicBezTo>
                  <a:pt x="240" y="228"/>
                  <a:pt x="0" y="456"/>
                  <a:pt x="0" y="672"/>
                </a:cubicBezTo>
                <a:cubicBezTo>
                  <a:pt x="0" y="888"/>
                  <a:pt x="240" y="1092"/>
                  <a:pt x="480" y="1296"/>
                </a:cubicBezTo>
              </a:path>
            </a:pathLst>
          </a:custGeom>
          <a:noFill/>
          <a:ln cap="flat" cmpd="sng" w="28575">
            <a:solidFill>
              <a:srgbClr val="FF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2.1.1  A simple SIC Assembler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43" name="Google Shape;643;p8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functions of the two passes assembler.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1 (define symbol)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Assign addresses to all statements (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generate LOC</a:t>
            </a: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).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Save the values (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address</a:t>
            </a: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) assigned to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all labels</a:t>
            </a: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 for Pass 2.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Perform some processing of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assembler directives</a:t>
            </a: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.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2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Assemble instructions.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Generate data values defined by BYTE, WORD.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Perform processing of assembler directives not done during Pass 1.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Noto Sans Symbols"/>
              <a:buChar char="►"/>
            </a:pPr>
            <a:r>
              <a:rPr lang="en-US">
                <a:solidFill>
                  <a:srgbClr val="3F3F3F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Write the OP (Fig. 2.3) and the assembly listing (Fig. 2.2).</a:t>
            </a:r>
            <a:endParaRPr>
              <a:solidFill>
                <a:srgbClr val="3F3F3F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44" name="Google Shape;644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9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2.1.2  Assembler Data Structure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50" name="Google Shape;650;p90"/>
          <p:cNvSpPr txBox="1"/>
          <p:nvPr>
            <p:ph idx="1" type="body"/>
          </p:nvPr>
        </p:nvSpPr>
        <p:spPr>
          <a:xfrm>
            <a:off x="152400" y="908050"/>
            <a:ext cx="11685814" cy="5545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65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965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⚫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Our simple assembler uses two internal tables: The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OPTAB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and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SYMTAB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OPTAB is used to look up </a:t>
            </a:r>
            <a:r>
              <a:rPr lang="en-US" u="sng">
                <a:latin typeface="Libre Franklin Medium"/>
                <a:ea typeface="Libre Franklin Medium"/>
                <a:cs typeface="Libre Franklin Medium"/>
                <a:sym typeface="Libre Franklin Medium"/>
              </a:rPr>
              <a:t>mnemonic operation codes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and translate them to their machine language equivalents.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⯍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LDA→00, STL→14, …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SYMTAB is used to store values (addresses) assigned to </a:t>
            </a:r>
            <a:r>
              <a:rPr lang="en-US" u="sng">
                <a:latin typeface="Libre Franklin Medium"/>
                <a:ea typeface="Libre Franklin Medium"/>
                <a:cs typeface="Libre Franklin Medium"/>
                <a:sym typeface="Libre Franklin Medium"/>
              </a:rPr>
              <a:t>labels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.</a:t>
            </a:r>
            <a:endParaRPr/>
          </a:p>
          <a:p>
            <a:pPr indent="-228600" lvl="2" marL="8229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⯍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FIRST→1000, COPY→1000, …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⚫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Location Counter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LOCCTR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LOCCTR is a variable for assignment addresses.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LOCCTR is initialized to address specified in START.</a:t>
            </a:r>
            <a:endParaRPr/>
          </a:p>
          <a:p>
            <a:pPr indent="-274320" lvl="1" marL="54864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⚪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When reach a label, the current value of LOCCTR gives the address to be associated with that label.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51" name="Google Shape;651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2.1.2  Assembler Tables and Logic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57" name="Google Shape;657;p91"/>
          <p:cNvSpPr txBox="1"/>
          <p:nvPr>
            <p:ph idx="1" type="body"/>
          </p:nvPr>
        </p:nvSpPr>
        <p:spPr>
          <a:xfrm>
            <a:off x="146957" y="1825625"/>
            <a:ext cx="118055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Operation Code Table (OPTAB)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Contain the mnemonic operation &amp; its machine language equivalents (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at least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Contain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instruction format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&amp;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length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1, OPTAB is used to look up and validate operation codes.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2, OPTAB is used to translate the operation codes to machine language.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SIC/XE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, assembler search OPTAB in Pass 1 to find the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instruction length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for incrementing LOCCTR.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Organize as a hash table (static table).</a:t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58" name="Google Shape;658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9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2.1.2  Assembler Tables and Logic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64" name="Google Shape;664;p92"/>
          <p:cNvSpPr txBox="1"/>
          <p:nvPr>
            <p:ph idx="1" type="body"/>
          </p:nvPr>
        </p:nvSpPr>
        <p:spPr>
          <a:xfrm>
            <a:off x="375557" y="1690688"/>
            <a:ext cx="9209314" cy="47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Symbol Table (SYMTAB)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Include the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name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and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value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(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address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) for each label.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Include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flags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to indicate error conditions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Contain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type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,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length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1, labels are entered into SYMTAB, along with assigned addresses (from LOCCTR).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2, symbols used as operands are look up in SYMTAB to obtain the addresses.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Organize as a hash table (static table).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The entries are rarely deleted from table.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65" name="Google Shape;665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666" name="Google Shape;666;p92"/>
          <p:cNvSpPr txBox="1"/>
          <p:nvPr/>
        </p:nvSpPr>
        <p:spPr>
          <a:xfrm>
            <a:off x="9699625" y="1748746"/>
            <a:ext cx="1654175" cy="34274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COPY	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FIRST 	1000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CLOOP	1003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ENDFIL	1015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EOF	1024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THREE	102D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ZERO	1030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RETADR	1033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LENGTH	1036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BUFFER	1039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66"/>
                </a:solidFill>
                <a:latin typeface="Courier New"/>
                <a:ea typeface="Courier New"/>
                <a:cs typeface="Courier New"/>
                <a:sym typeface="Courier New"/>
              </a:rPr>
              <a:t>RDREC	2039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hlink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B9899"/>
              </a:buClr>
              <a:buSzPts val="4400"/>
              <a:buFont typeface="Libre Franklin Medium"/>
              <a:buNone/>
            </a:pPr>
            <a:r>
              <a:rPr lang="en-US">
                <a:solidFill>
                  <a:srgbClr val="7B9899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2.1.2  Assembler Tables and Logic</a:t>
            </a:r>
            <a:endParaRPr>
              <a:solidFill>
                <a:srgbClr val="7B9899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72" name="Google Shape;672;p93"/>
          <p:cNvSpPr txBox="1"/>
          <p:nvPr>
            <p:ph idx="1" type="body"/>
          </p:nvPr>
        </p:nvSpPr>
        <p:spPr>
          <a:xfrm>
            <a:off x="261257" y="1825625"/>
            <a:ext cx="11658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Pass 1 usually writes an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intermediate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file.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Contain source statement together with its assigned address, error indicators.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This file is used as input to Pass 2.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Figure 2.4 shows the two passes of assembler.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Format with fields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LABEL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,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OPCODE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, and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OPERAND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Denote numeric value with the prefix </a:t>
            </a:r>
            <a:r>
              <a:rPr lang="en-US">
                <a:solidFill>
                  <a:srgbClr val="FF0066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rPr>
              <a:t>#</a:t>
            </a: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>
                <a:latin typeface="Libre Franklin Medium"/>
                <a:ea typeface="Libre Franklin Medium"/>
                <a:cs typeface="Libre Franklin Medium"/>
                <a:sym typeface="Libre Franklin Medium"/>
              </a:rPr>
              <a:t>     #[OPERAND]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673" name="Google Shape;673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fld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79" name="Google Shape;679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7986"/>
            <a:ext cx="11919857" cy="6592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9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1100" y="201994"/>
            <a:ext cx="7973538" cy="6656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9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6285" y="522884"/>
            <a:ext cx="8621485" cy="5649316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96"/>
          <p:cNvSpPr txBox="1"/>
          <p:nvPr/>
        </p:nvSpPr>
        <p:spPr>
          <a:xfrm>
            <a:off x="634181" y="117989"/>
            <a:ext cx="37313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SIC Example 1:</a:t>
            </a: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id="696" name="Google Shape;696;p9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163" y="130630"/>
            <a:ext cx="10953565" cy="654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9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6665" y="410376"/>
            <a:ext cx="5372100" cy="6428907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98"/>
          <p:cNvSpPr txBox="1"/>
          <p:nvPr/>
        </p:nvSpPr>
        <p:spPr>
          <a:xfrm>
            <a:off x="634181" y="117989"/>
            <a:ext cx="37313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SIC Example 2:</a:t>
            </a: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9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4014" y="505930"/>
            <a:ext cx="9290957" cy="6125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table with numbers and letters&#10;&#10;AI-generated content may be incorrect." id="712" name="Google Shape;71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716" y="634181"/>
            <a:ext cx="7226710" cy="6002593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100"/>
          <p:cNvSpPr txBox="1"/>
          <p:nvPr/>
        </p:nvSpPr>
        <p:spPr>
          <a:xfrm>
            <a:off x="634181" y="117989"/>
            <a:ext cx="37313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SIC/XE Example 1:</a:t>
            </a: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table with text on it&#10;&#10;AI-generated content may be incorrect." id="718" name="Google Shape;718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663677"/>
            <a:ext cx="7108723" cy="5796117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101"/>
          <p:cNvSpPr txBox="1"/>
          <p:nvPr/>
        </p:nvSpPr>
        <p:spPr>
          <a:xfrm>
            <a:off x="634181" y="117989"/>
            <a:ext cx="373134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SIC/XE Example 2:</a:t>
            </a:r>
            <a:endParaRPr b="1"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