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y="6858000" cx="12192000"/>
  <p:notesSz cx="6858000" cy="9144000"/>
  <p:embeddedFontLst>
    <p:embeddedFont>
      <p:font typeface="Play"/>
      <p:regular r:id="rId60"/>
      <p:bold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397118-A2DE-4F3B-8AA4-3D1A57D63330}">
  <a:tblStyle styleId="{23397118-A2DE-4F3B-8AA4-3D1A57D63330}"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schemas.openxmlformats.org/officeDocument/2006/relationships/font" Target="fonts/Play-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Play-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6.png"/><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2.png"/><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4.png"/><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3.png"/><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ph idx="1" type="subTitle"/>
          </p:nvPr>
        </p:nvSpPr>
        <p:spPr>
          <a:xfrm>
            <a:off x="295421" y="2069207"/>
            <a:ext cx="11660061" cy="2232630"/>
          </a:xfrm>
          <a:prstGeom prst="rect">
            <a:avLst/>
          </a:prstGeom>
          <a:solidFill>
            <a:schemeClr val="lt1"/>
          </a:solid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None/>
            </a:pPr>
            <a:r>
              <a:rPr b="1" lang="en-US" sz="6000">
                <a:solidFill>
                  <a:schemeClr val="dk1"/>
                </a:solidFill>
                <a:latin typeface="Arial"/>
                <a:ea typeface="Arial"/>
                <a:cs typeface="Arial"/>
                <a:sym typeface="Arial"/>
              </a:rPr>
              <a:t>Module 3 : Syntax Analysis II</a:t>
            </a:r>
            <a:endParaRPr/>
          </a:p>
        </p:txBody>
      </p:sp>
      <p:pic>
        <p:nvPicPr>
          <p:cNvPr id="90" name="Google Shape;90;p13"/>
          <p:cNvPicPr preferRelativeResize="0"/>
          <p:nvPr/>
        </p:nvPicPr>
        <p:blipFill rotWithShape="1">
          <a:blip r:embed="rId3">
            <a:alphaModFix/>
          </a:blip>
          <a:srcRect b="0" l="0" r="0" t="0"/>
          <a:stretch/>
        </p:blipFill>
        <p:spPr>
          <a:xfrm>
            <a:off x="130994" y="200582"/>
            <a:ext cx="1084099" cy="1268697"/>
          </a:xfrm>
          <a:prstGeom prst="rect">
            <a:avLst/>
          </a:prstGeom>
          <a:noFill/>
          <a:ln>
            <a:noFill/>
          </a:ln>
        </p:spPr>
      </p:pic>
      <p:sp>
        <p:nvSpPr>
          <p:cNvPr id="91" name="Google Shape;91;p13"/>
          <p:cNvSpPr/>
          <p:nvPr/>
        </p:nvSpPr>
        <p:spPr>
          <a:xfrm>
            <a:off x="1070770" y="218910"/>
            <a:ext cx="6740756"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400" u="none" cap="none" strike="noStrike">
                <a:solidFill>
                  <a:srgbClr val="0A3041"/>
                </a:solidFill>
                <a:latin typeface="Cambria"/>
                <a:ea typeface="Cambria"/>
                <a:cs typeface="Cambria"/>
                <a:sym typeface="Cambria"/>
              </a:rPr>
              <a:t>Vidyavardhaka College of Engineering, Mysuru</a:t>
            </a:r>
            <a:endParaRPr b="1" sz="2400">
              <a:solidFill>
                <a:srgbClr val="0A3041"/>
              </a:solidFill>
              <a:latin typeface="Cambria"/>
              <a:ea typeface="Cambria"/>
              <a:cs typeface="Cambria"/>
              <a:sym typeface="Cambria"/>
            </a:endParaRPr>
          </a:p>
        </p:txBody>
      </p:sp>
      <p:sp>
        <p:nvSpPr>
          <p:cNvPr id="92" name="Google Shape;92;p13"/>
          <p:cNvSpPr txBox="1"/>
          <p:nvPr/>
        </p:nvSpPr>
        <p:spPr>
          <a:xfrm>
            <a:off x="1070769" y="621242"/>
            <a:ext cx="914237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mbria"/>
                <a:ea typeface="Cambria"/>
                <a:cs typeface="Cambria"/>
                <a:sym typeface="Cambria"/>
              </a:rPr>
              <a:t> Autonomous Institute, Affiliated to VTU</a:t>
            </a:r>
            <a:endParaRPr/>
          </a:p>
          <a:p>
            <a:pPr indent="0" lvl="0" marL="0" marR="0" rtl="0" algn="l">
              <a:spcBef>
                <a:spcPts val="0"/>
              </a:spcBef>
              <a:spcAft>
                <a:spcPts val="0"/>
              </a:spcAft>
              <a:buNone/>
            </a:pPr>
            <a:r>
              <a:rPr lang="en-US" sz="1800">
                <a:solidFill>
                  <a:schemeClr val="dk1"/>
                </a:solidFill>
                <a:latin typeface="Cambria"/>
                <a:ea typeface="Cambria"/>
                <a:cs typeface="Cambria"/>
                <a:sym typeface="Cambria"/>
              </a:rPr>
              <a:t> </a:t>
            </a:r>
            <a:r>
              <a:rPr lang="en-US" sz="1800">
                <a:solidFill>
                  <a:srgbClr val="0070C0"/>
                </a:solidFill>
                <a:latin typeface="Cambria"/>
                <a:ea typeface="Cambria"/>
                <a:cs typeface="Cambria"/>
                <a:sym typeface="Cambria"/>
              </a:rPr>
              <a:t>Accredited by NBA | NAAC with ‘A’ Grade</a:t>
            </a:r>
            <a:endParaRPr/>
          </a:p>
        </p:txBody>
      </p:sp>
      <p:pic>
        <p:nvPicPr>
          <p:cNvPr id="93" name="Google Shape;93;p13"/>
          <p:cNvPicPr preferRelativeResize="0"/>
          <p:nvPr/>
        </p:nvPicPr>
        <p:blipFill rotWithShape="1">
          <a:blip r:embed="rId4">
            <a:alphaModFix/>
          </a:blip>
          <a:srcRect b="0" l="0" r="0" t="0"/>
          <a:stretch/>
        </p:blipFill>
        <p:spPr>
          <a:xfrm>
            <a:off x="10834254" y="146344"/>
            <a:ext cx="1121229" cy="11212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type="title"/>
          </p:nvPr>
        </p:nvSpPr>
        <p:spPr>
          <a:xfrm>
            <a:off x="147484" y="191729"/>
            <a:ext cx="11206316" cy="95864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Introduction to LR parsing</a:t>
            </a:r>
            <a:endParaRPr b="1">
              <a:latin typeface="Times New Roman"/>
              <a:ea typeface="Times New Roman"/>
              <a:cs typeface="Times New Roman"/>
              <a:sym typeface="Times New Roman"/>
            </a:endParaRPr>
          </a:p>
        </p:txBody>
      </p:sp>
      <p:sp>
        <p:nvSpPr>
          <p:cNvPr id="99" name="Google Shape;99;p14"/>
          <p:cNvSpPr txBox="1"/>
          <p:nvPr>
            <p:ph idx="1" type="body"/>
          </p:nvPr>
        </p:nvSpPr>
        <p:spPr>
          <a:xfrm>
            <a:off x="147484" y="1622323"/>
            <a:ext cx="11206316" cy="455464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t> </a:t>
            </a:r>
            <a:r>
              <a:rPr lang="en-US">
                <a:latin typeface="Times New Roman"/>
                <a:ea typeface="Times New Roman"/>
                <a:cs typeface="Times New Roman"/>
                <a:sym typeface="Times New Roman"/>
              </a:rPr>
              <a:t>LR(k) parsing is another technique to perform bottom- up parsing.</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LR(k) will parse the input string by applying rightmost derivation in the reverse.</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LR(k), where</a:t>
            </a:r>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L stands for Left to right scanning of the input.</a:t>
            </a:r>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R stands for rightmost derivation in the reverse.</a:t>
            </a:r>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K stands for no of input symbols of lookahead that are used in making parsing decisions.</a:t>
            </a:r>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162232" y="132735"/>
            <a:ext cx="11191568" cy="11946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Why LR parsers?</a:t>
            </a:r>
            <a:endParaRPr b="1">
              <a:latin typeface="Times New Roman"/>
              <a:ea typeface="Times New Roman"/>
              <a:cs typeface="Times New Roman"/>
              <a:sym typeface="Times New Roman"/>
            </a:endParaRPr>
          </a:p>
        </p:txBody>
      </p:sp>
      <p:sp>
        <p:nvSpPr>
          <p:cNvPr id="105" name="Google Shape;105;p15"/>
          <p:cNvSpPr txBox="1"/>
          <p:nvPr>
            <p:ph idx="1" type="body"/>
          </p:nvPr>
        </p:nvSpPr>
        <p:spPr>
          <a:xfrm>
            <a:off x="162232" y="1548581"/>
            <a:ext cx="11191568" cy="4628382"/>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LR parsers are table driven, much like non recursive LL parsers.</a:t>
            </a:r>
            <a:endParaRPr/>
          </a:p>
          <a:p>
            <a:pPr indent="-228600" lvl="0" marL="228600" rtl="0" algn="just">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A grammar for which we can construct a parsing table using one of the LR parsing Method</a:t>
            </a:r>
            <a:endParaRPr/>
          </a:p>
          <a:p>
            <a:pPr indent="-228600" lvl="0" marL="228600" rtl="0" algn="just">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SLR ( simple LR)</a:t>
            </a:r>
            <a:endParaRPr/>
          </a:p>
          <a:p>
            <a:pPr indent="-228600" lvl="0" marL="228600" rtl="0" algn="just">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CLR ( Canonical LR)</a:t>
            </a:r>
            <a:endParaRPr/>
          </a:p>
          <a:p>
            <a:pPr indent="-228600" lvl="0" marL="228600" rtl="0" algn="just">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LALR (Lookahead LR)</a:t>
            </a:r>
            <a:endParaRPr/>
          </a:p>
          <a:p>
            <a:pPr indent="-228600" lvl="0" marL="228600" rtl="0" algn="just">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For a grammar to be LR it is sufficient that a left-to-right shift reduce parsers be able to recognize handles of right sentential forms when they appears on the top of the stack.</a:t>
            </a:r>
            <a:endParaRPr>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117987" y="365126"/>
            <a:ext cx="11235813" cy="91798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LR parsing Advantages</a:t>
            </a:r>
            <a:endParaRPr b="1">
              <a:latin typeface="Times New Roman"/>
              <a:ea typeface="Times New Roman"/>
              <a:cs typeface="Times New Roman"/>
              <a:sym typeface="Times New Roman"/>
            </a:endParaRPr>
          </a:p>
        </p:txBody>
      </p:sp>
      <p:sp>
        <p:nvSpPr>
          <p:cNvPr id="111" name="Google Shape;111;p16"/>
          <p:cNvSpPr txBox="1"/>
          <p:nvPr>
            <p:ph idx="1" type="body"/>
          </p:nvPr>
        </p:nvSpPr>
        <p:spPr>
          <a:xfrm>
            <a:off x="235974" y="1283110"/>
            <a:ext cx="11117826" cy="4893853"/>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LR parsers can be constructed to recognize virtually all programming language constructs for which context free grammars can be written.</a:t>
            </a:r>
            <a:endParaRPr/>
          </a:p>
          <a:p>
            <a:pPr indent="-228600" lvl="0" marL="228600" rtl="0" algn="just">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LR parsing method is the most generally non- backtracking shift reduce parsing method.</a:t>
            </a:r>
            <a:endParaRPr/>
          </a:p>
          <a:p>
            <a:pPr indent="-228600" lvl="0" marL="228600" rtl="0" algn="just">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LR parsing method can detect a syntactic error as soon as it starts left to right scan of input.</a:t>
            </a:r>
            <a:endParaRPr/>
          </a:p>
          <a:p>
            <a:pPr indent="-228600" lvl="0" marL="228600" rtl="0" algn="just">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LR parsers can describe more languages than LL grammars.</a:t>
            </a:r>
            <a:endParaRPr>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176981" y="365126"/>
            <a:ext cx="11176819" cy="97697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LR parsing Disadvantages</a:t>
            </a:r>
            <a:endParaRPr/>
          </a:p>
        </p:txBody>
      </p:sp>
      <p:sp>
        <p:nvSpPr>
          <p:cNvPr id="117" name="Google Shape;117;p17"/>
          <p:cNvSpPr txBox="1"/>
          <p:nvPr>
            <p:ph idx="1" type="body"/>
          </p:nvPr>
        </p:nvSpPr>
        <p:spPr>
          <a:xfrm>
            <a:off x="176981" y="2168013"/>
            <a:ext cx="11176819" cy="400895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main drawback is they consumes too much time to construct by hand   for a typical programming language grammars.</a:t>
            </a:r>
            <a:endParaRPr/>
          </a:p>
          <a:p>
            <a:pPr indent="-228600" lvl="0" marL="228600" rtl="0" algn="l">
              <a:lnSpc>
                <a:spcPct val="90000"/>
              </a:lnSpc>
              <a:spcBef>
                <a:spcPts val="1000"/>
              </a:spcBef>
              <a:spcAft>
                <a:spcPts val="0"/>
              </a:spcAft>
              <a:buClr>
                <a:schemeClr val="dk1"/>
              </a:buClr>
              <a:buSzPts val="2800"/>
              <a:buChar char="•"/>
            </a:pPr>
            <a:r>
              <a:rPr lang="en-US"/>
              <a:t>This disadvantages can be eliminated using LR parser generators such as YACC.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132735" y="103239"/>
            <a:ext cx="11221065" cy="97339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Types of LR Parsers</a:t>
            </a:r>
            <a:endParaRPr/>
          </a:p>
        </p:txBody>
      </p:sp>
      <p:sp>
        <p:nvSpPr>
          <p:cNvPr id="123" name="Google Shape;123;p18"/>
          <p:cNvSpPr txBox="1"/>
          <p:nvPr>
            <p:ph idx="1" type="body"/>
          </p:nvPr>
        </p:nvSpPr>
        <p:spPr>
          <a:xfrm>
            <a:off x="132735" y="1076632"/>
            <a:ext cx="11221065" cy="5100331"/>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AutoNum type="arabicPeriod"/>
            </a:pPr>
            <a:r>
              <a:rPr lang="en-US"/>
              <a:t>Simple LR Parsers(SLR):</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Easy to implement</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But , sometimes it may fail to produce the parsing table for certain grammars.</a:t>
            </a:r>
            <a:endParaRPr/>
          </a:p>
          <a:p>
            <a:pPr indent="0" lvl="0" marL="0" rtl="0" algn="l">
              <a:lnSpc>
                <a:spcPct val="90000"/>
              </a:lnSpc>
              <a:spcBef>
                <a:spcPts val="1000"/>
              </a:spcBef>
              <a:spcAft>
                <a:spcPts val="0"/>
              </a:spcAft>
              <a:buClr>
                <a:schemeClr val="dk1"/>
              </a:buClr>
              <a:buSzPts val="2800"/>
              <a:buNone/>
            </a:pPr>
            <a:r>
              <a:rPr lang="en-US"/>
              <a:t>2. Canonical LR parsers: (CLR)</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More powerful and works  on very large class of grammars.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Very expensive to implement.</a:t>
            </a:r>
            <a:endParaRPr/>
          </a:p>
          <a:p>
            <a:pPr indent="0" lvl="0" marL="0" rtl="0" algn="l">
              <a:lnSpc>
                <a:spcPct val="90000"/>
              </a:lnSpc>
              <a:spcBef>
                <a:spcPts val="1000"/>
              </a:spcBef>
              <a:spcAft>
                <a:spcPts val="0"/>
              </a:spcAft>
              <a:buClr>
                <a:schemeClr val="dk1"/>
              </a:buClr>
              <a:buSzPts val="2800"/>
              <a:buNone/>
            </a:pPr>
            <a:r>
              <a:rPr lang="en-US"/>
              <a:t>3. Look-Ahead LR parsers: (LALR)</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Intermediate between SLR and CLR.</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Implemented for most of the grammars.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294968" y="221227"/>
            <a:ext cx="11058832" cy="85540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Items and the LR(0) Automaton</a:t>
            </a:r>
            <a:endParaRPr/>
          </a:p>
        </p:txBody>
      </p:sp>
      <p:sp>
        <p:nvSpPr>
          <p:cNvPr id="129" name="Google Shape;129;p19"/>
          <p:cNvSpPr txBox="1"/>
          <p:nvPr>
            <p:ph idx="1" type="body"/>
          </p:nvPr>
        </p:nvSpPr>
        <p:spPr>
          <a:xfrm>
            <a:off x="176981" y="1179871"/>
            <a:ext cx="11176819" cy="5456902"/>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Font typeface="Noto Sans Symbols"/>
              <a:buChar char="⮚"/>
            </a:pPr>
            <a:r>
              <a:rPr lang="en-US"/>
              <a:t> An LR(0) item or item of a grammar G is a production of G with a dot(.) on the right hand side of production.</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example:</a:t>
            </a:r>
            <a:endParaRPr/>
          </a:p>
          <a:p>
            <a:pPr indent="0" lvl="0" marL="0" rtl="0" algn="l">
              <a:lnSpc>
                <a:spcPct val="90000"/>
              </a:lnSpc>
              <a:spcBef>
                <a:spcPts val="1000"/>
              </a:spcBef>
              <a:spcAft>
                <a:spcPts val="0"/>
              </a:spcAft>
              <a:buClr>
                <a:schemeClr val="dk1"/>
              </a:buClr>
              <a:buSzPts val="2800"/>
              <a:buNone/>
            </a:pPr>
            <a:r>
              <a:rPr lang="en-US"/>
              <a:t>Consider the production A-&gt;BCD</a:t>
            </a:r>
            <a:endParaRPr/>
          </a:p>
          <a:p>
            <a:pPr indent="0" lvl="0" marL="0" rtl="0" algn="l">
              <a:lnSpc>
                <a:spcPct val="90000"/>
              </a:lnSpc>
              <a:spcBef>
                <a:spcPts val="1000"/>
              </a:spcBef>
              <a:spcAft>
                <a:spcPts val="0"/>
              </a:spcAft>
              <a:buClr>
                <a:schemeClr val="dk1"/>
              </a:buClr>
              <a:buSzPts val="2800"/>
              <a:buNone/>
            </a:pPr>
            <a:r>
              <a:rPr lang="en-US"/>
              <a:t>The various items that can be obtained using this production are:</a:t>
            </a:r>
            <a:endParaRPr/>
          </a:p>
          <a:p>
            <a:pPr indent="0" lvl="0" marL="0" rtl="0" algn="l">
              <a:lnSpc>
                <a:spcPct val="90000"/>
              </a:lnSpc>
              <a:spcBef>
                <a:spcPts val="1000"/>
              </a:spcBef>
              <a:spcAft>
                <a:spcPts val="0"/>
              </a:spcAft>
              <a:buClr>
                <a:schemeClr val="dk1"/>
              </a:buClr>
              <a:buSzPts val="2800"/>
              <a:buNone/>
            </a:pPr>
            <a:r>
              <a:rPr lang="en-US"/>
              <a:t>A -&gt; .BCD</a:t>
            </a:r>
            <a:endParaRPr/>
          </a:p>
          <a:p>
            <a:pPr indent="0" lvl="0" marL="0" rtl="0" algn="l">
              <a:lnSpc>
                <a:spcPct val="90000"/>
              </a:lnSpc>
              <a:spcBef>
                <a:spcPts val="1000"/>
              </a:spcBef>
              <a:spcAft>
                <a:spcPts val="0"/>
              </a:spcAft>
              <a:buClr>
                <a:schemeClr val="dk1"/>
              </a:buClr>
              <a:buSzPts val="2800"/>
              <a:buNone/>
            </a:pPr>
            <a:r>
              <a:rPr lang="en-US"/>
              <a:t>A-&gt;B.CD</a:t>
            </a:r>
            <a:endParaRPr/>
          </a:p>
          <a:p>
            <a:pPr indent="0" lvl="0" marL="0" rtl="0" algn="l">
              <a:lnSpc>
                <a:spcPct val="90000"/>
              </a:lnSpc>
              <a:spcBef>
                <a:spcPts val="1000"/>
              </a:spcBef>
              <a:spcAft>
                <a:spcPts val="0"/>
              </a:spcAft>
              <a:buClr>
                <a:schemeClr val="dk1"/>
              </a:buClr>
              <a:buSzPts val="2800"/>
              <a:buNone/>
            </a:pPr>
            <a:r>
              <a:rPr lang="en-US"/>
              <a:t>A-&gt;BC.D</a:t>
            </a:r>
            <a:endParaRPr/>
          </a:p>
          <a:p>
            <a:pPr indent="0" lvl="0" marL="0" rtl="0" algn="l">
              <a:lnSpc>
                <a:spcPct val="90000"/>
              </a:lnSpc>
              <a:spcBef>
                <a:spcPts val="1000"/>
              </a:spcBef>
              <a:spcAft>
                <a:spcPts val="0"/>
              </a:spcAft>
              <a:buClr>
                <a:schemeClr val="dk1"/>
              </a:buClr>
              <a:buSzPts val="2800"/>
              <a:buNone/>
            </a:pPr>
            <a:r>
              <a:rPr lang="en-US"/>
              <a:t>A-&gt;BCD.</a:t>
            </a:r>
            <a:endParaRPr/>
          </a:p>
          <a:p>
            <a:pPr indent="0" lvl="0" marL="0" rtl="0" algn="l">
              <a:lnSpc>
                <a:spcPct val="90000"/>
              </a:lnSpc>
              <a:spcBef>
                <a:spcPts val="1000"/>
              </a:spcBef>
              <a:spcAft>
                <a:spcPts val="0"/>
              </a:spcAft>
              <a:buClr>
                <a:schemeClr val="dk1"/>
              </a:buClr>
              <a:buSzPts val="2800"/>
              <a:buNone/>
            </a:pPr>
            <a:r>
              <a:rPr b="1" lang="en-US"/>
              <a:t>Note</a:t>
            </a:r>
            <a:r>
              <a:rPr lang="en-US"/>
              <a:t>: A-&gt;€ (epsilon)   then item is  A-&gt; .</a:t>
            </a:r>
            <a:endParaRPr/>
          </a:p>
          <a:p>
            <a:pPr indent="0" lvl="0" marL="0" rtl="0" algn="l">
              <a:lnSpc>
                <a:spcPct val="90000"/>
              </a:lnSpc>
              <a:spcBef>
                <a:spcPts val="1000"/>
              </a:spcBef>
              <a:spcAft>
                <a:spcPts val="0"/>
              </a:spcAft>
              <a:buClr>
                <a:schemeClr val="dk1"/>
              </a:buClr>
              <a:buSzPts val="2800"/>
              <a:buNone/>
            </a:pPr>
            <a:r>
              <a:rPr lang="en-US"/>
              <a:t>The all above items are called Canonical LR(0) collections , we can construct a DFA.</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176981" y="365125"/>
            <a:ext cx="11176819" cy="77050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Canonical LR(0)</a:t>
            </a:r>
            <a:endParaRPr/>
          </a:p>
        </p:txBody>
      </p:sp>
      <p:sp>
        <p:nvSpPr>
          <p:cNvPr id="135" name="Google Shape;135;p20"/>
          <p:cNvSpPr txBox="1"/>
          <p:nvPr>
            <p:ph idx="1" type="body"/>
          </p:nvPr>
        </p:nvSpPr>
        <p:spPr>
          <a:xfrm>
            <a:off x="176981" y="1135626"/>
            <a:ext cx="11176819" cy="504133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construction of a Canonical LR(0) collection of items for a grammar can be obtained using:</a:t>
            </a:r>
            <a:endParaRPr/>
          </a:p>
          <a:p>
            <a:pPr indent="-514350" lvl="0" marL="514350" rtl="0" algn="l">
              <a:lnSpc>
                <a:spcPct val="90000"/>
              </a:lnSpc>
              <a:spcBef>
                <a:spcPts val="1000"/>
              </a:spcBef>
              <a:spcAft>
                <a:spcPts val="0"/>
              </a:spcAft>
              <a:buClr>
                <a:schemeClr val="dk1"/>
              </a:buClr>
              <a:buSzPts val="2800"/>
              <a:buAutoNum type="arabicPeriod"/>
            </a:pPr>
            <a:r>
              <a:rPr lang="en-US"/>
              <a:t>An augmented grammar</a:t>
            </a:r>
            <a:endParaRPr/>
          </a:p>
          <a:p>
            <a:pPr indent="-514350" lvl="0" marL="514350" rtl="0" algn="l">
              <a:lnSpc>
                <a:spcPct val="90000"/>
              </a:lnSpc>
              <a:spcBef>
                <a:spcPts val="1000"/>
              </a:spcBef>
              <a:spcAft>
                <a:spcPts val="0"/>
              </a:spcAft>
              <a:buClr>
                <a:schemeClr val="dk1"/>
              </a:buClr>
              <a:buSzPts val="2800"/>
              <a:buAutoNum type="arabicPeriod"/>
            </a:pPr>
            <a:r>
              <a:rPr lang="en-US"/>
              <a:t>Closure function </a:t>
            </a:r>
            <a:endParaRPr/>
          </a:p>
          <a:p>
            <a:pPr indent="-514350" lvl="0" marL="514350" rtl="0" algn="l">
              <a:lnSpc>
                <a:spcPct val="90000"/>
              </a:lnSpc>
              <a:spcBef>
                <a:spcPts val="1000"/>
              </a:spcBef>
              <a:spcAft>
                <a:spcPts val="0"/>
              </a:spcAft>
              <a:buClr>
                <a:schemeClr val="dk1"/>
              </a:buClr>
              <a:buSzPts val="2800"/>
              <a:buAutoNum type="arabicPeriod"/>
            </a:pPr>
            <a:r>
              <a:rPr lang="en-US"/>
              <a:t>GOTO  function</a:t>
            </a:r>
            <a:endParaRPr/>
          </a:p>
          <a:p>
            <a:pPr indent="-514350" lvl="0" marL="514350" rtl="0" algn="l">
              <a:lnSpc>
                <a:spcPct val="90000"/>
              </a:lnSpc>
              <a:spcBef>
                <a:spcPts val="1000"/>
              </a:spcBef>
              <a:spcAft>
                <a:spcPts val="0"/>
              </a:spcAft>
              <a:buClr>
                <a:schemeClr val="dk1"/>
              </a:buClr>
              <a:buSzPts val="2800"/>
              <a:buAutoNum type="arabicPeriod"/>
            </a:pPr>
            <a:r>
              <a:rPr lang="en-US"/>
              <a:t>Items Function.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147484" y="176982"/>
            <a:ext cx="11206316" cy="76691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Augmented grammar</a:t>
            </a:r>
            <a:endParaRPr/>
          </a:p>
        </p:txBody>
      </p:sp>
      <p:sp>
        <p:nvSpPr>
          <p:cNvPr id="141" name="Google Shape;141;p21"/>
          <p:cNvSpPr txBox="1"/>
          <p:nvPr>
            <p:ph idx="1" type="body"/>
          </p:nvPr>
        </p:nvSpPr>
        <p:spPr>
          <a:xfrm>
            <a:off x="147484" y="943898"/>
            <a:ext cx="11206316" cy="573712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Let G = ( V, T, S, P) be a grammar an augmented G’ for the grammar G is defined as  G’ = (V’, T, S’,P’).</a:t>
            </a:r>
            <a:endParaRPr/>
          </a:p>
          <a:p>
            <a:pPr indent="-228600" lvl="0" marL="228600" rtl="0" algn="just">
              <a:lnSpc>
                <a:spcPct val="90000"/>
              </a:lnSpc>
              <a:spcBef>
                <a:spcPts val="1000"/>
              </a:spcBef>
              <a:spcAft>
                <a:spcPts val="0"/>
              </a:spcAft>
              <a:buClr>
                <a:schemeClr val="dk1"/>
              </a:buClr>
              <a:buSzPts val="2800"/>
              <a:buChar char="•"/>
            </a:pPr>
            <a:r>
              <a:rPr lang="en-US"/>
              <a:t>We are adding a new production for the start symbol i.e., S’ -&gt; S</a:t>
            </a:r>
            <a:endParaRPr/>
          </a:p>
          <a:p>
            <a:pPr indent="-228600" lvl="0" marL="228600" rtl="0" algn="just">
              <a:lnSpc>
                <a:spcPct val="90000"/>
              </a:lnSpc>
              <a:spcBef>
                <a:spcPts val="1000"/>
              </a:spcBef>
              <a:spcAft>
                <a:spcPts val="0"/>
              </a:spcAft>
              <a:buClr>
                <a:schemeClr val="dk1"/>
              </a:buClr>
              <a:buSzPts val="2800"/>
              <a:buChar char="•"/>
            </a:pPr>
            <a:r>
              <a:rPr lang="en-US"/>
              <a:t>The main purpose of the new starting production is to indicate to the parser when it should stop parsing and announce acceptance of the input.</a:t>
            </a:r>
            <a:endParaRPr/>
          </a:p>
          <a:p>
            <a:pPr indent="-228600" lvl="0" marL="228600" rtl="0" algn="just">
              <a:lnSpc>
                <a:spcPct val="90000"/>
              </a:lnSpc>
              <a:spcBef>
                <a:spcPts val="1000"/>
              </a:spcBef>
              <a:spcAft>
                <a:spcPts val="0"/>
              </a:spcAft>
              <a:buClr>
                <a:schemeClr val="dk1"/>
              </a:buClr>
              <a:buSzPts val="2800"/>
              <a:buChar char="•"/>
            </a:pPr>
            <a:r>
              <a:rPr lang="en-US"/>
              <a:t>Example :                                                        Augmented grammar </a:t>
            </a:r>
            <a:endParaRPr/>
          </a:p>
          <a:p>
            <a:pPr indent="0" lvl="0" marL="0" rtl="0" algn="just">
              <a:lnSpc>
                <a:spcPct val="90000"/>
              </a:lnSpc>
              <a:spcBef>
                <a:spcPts val="1000"/>
              </a:spcBef>
              <a:spcAft>
                <a:spcPts val="0"/>
              </a:spcAft>
              <a:buClr>
                <a:schemeClr val="dk1"/>
              </a:buClr>
              <a:buSzPts val="2800"/>
              <a:buNone/>
            </a:pPr>
            <a:r>
              <a:rPr lang="en-US"/>
              <a:t>E -&gt; E + T | T                                                        E’ -&gt; E</a:t>
            </a:r>
            <a:endParaRPr/>
          </a:p>
          <a:p>
            <a:pPr indent="0" lvl="0" marL="0" rtl="0" algn="just">
              <a:lnSpc>
                <a:spcPct val="90000"/>
              </a:lnSpc>
              <a:spcBef>
                <a:spcPts val="1000"/>
              </a:spcBef>
              <a:spcAft>
                <a:spcPts val="0"/>
              </a:spcAft>
              <a:buClr>
                <a:schemeClr val="dk1"/>
              </a:buClr>
              <a:buSzPts val="2800"/>
              <a:buNone/>
            </a:pPr>
            <a:r>
              <a:rPr lang="en-US"/>
              <a:t>T -&gt; T * F | F                                                         E -&gt; E + T | T </a:t>
            </a:r>
            <a:endParaRPr/>
          </a:p>
          <a:p>
            <a:pPr indent="0" lvl="0" marL="0" rtl="0" algn="just">
              <a:lnSpc>
                <a:spcPct val="90000"/>
              </a:lnSpc>
              <a:spcBef>
                <a:spcPts val="1000"/>
              </a:spcBef>
              <a:spcAft>
                <a:spcPts val="0"/>
              </a:spcAft>
              <a:buClr>
                <a:schemeClr val="dk1"/>
              </a:buClr>
              <a:buSzPts val="2800"/>
              <a:buNone/>
            </a:pPr>
            <a:r>
              <a:rPr lang="en-US"/>
              <a:t>F -&gt; ( E ) | id                                                         T -&gt; T * F | F </a:t>
            </a:r>
            <a:endParaRPr/>
          </a:p>
          <a:p>
            <a:pPr indent="0" lvl="0" marL="0" rtl="0" algn="l">
              <a:lnSpc>
                <a:spcPct val="90000"/>
              </a:lnSpc>
              <a:spcBef>
                <a:spcPts val="1000"/>
              </a:spcBef>
              <a:spcAft>
                <a:spcPts val="0"/>
              </a:spcAft>
              <a:buClr>
                <a:schemeClr val="dk1"/>
              </a:buClr>
              <a:buSzPts val="2800"/>
              <a:buNone/>
            </a:pPr>
            <a:r>
              <a:rPr lang="en-US"/>
              <a:t>                                                                                 F -&gt; ( E ) | id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147484" y="117987"/>
            <a:ext cx="11206316" cy="78166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Closure of Item sets:</a:t>
            </a:r>
            <a:endParaRPr b="1">
              <a:latin typeface="Times New Roman"/>
              <a:ea typeface="Times New Roman"/>
              <a:cs typeface="Times New Roman"/>
              <a:sym typeface="Times New Roman"/>
            </a:endParaRPr>
          </a:p>
        </p:txBody>
      </p:sp>
      <p:sp>
        <p:nvSpPr>
          <p:cNvPr id="147" name="Google Shape;147;p22"/>
          <p:cNvSpPr txBox="1"/>
          <p:nvPr>
            <p:ph idx="1" type="body"/>
          </p:nvPr>
        </p:nvSpPr>
        <p:spPr>
          <a:xfrm>
            <a:off x="147484" y="899652"/>
            <a:ext cx="11897032" cy="5840361"/>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Font typeface="Noto Sans Symbols"/>
              <a:buChar char="⮚"/>
            </a:pPr>
            <a:r>
              <a:rPr lang="en-US"/>
              <a:t> </a:t>
            </a:r>
            <a:r>
              <a:rPr lang="en-US" sz="2600">
                <a:latin typeface="Times New Roman"/>
                <a:ea typeface="Times New Roman"/>
                <a:cs typeface="Times New Roman"/>
                <a:sym typeface="Times New Roman"/>
              </a:rPr>
              <a:t>If I is a set of items for a grammar G then CLOSURE(I) is constructed using the following two rules.</a:t>
            </a:r>
            <a:endParaRPr/>
          </a:p>
          <a:p>
            <a:pPr indent="0" lvl="0" marL="0" rtl="0" algn="just">
              <a:lnSpc>
                <a:spcPct val="90000"/>
              </a:lnSpc>
              <a:spcBef>
                <a:spcPts val="1000"/>
              </a:spcBef>
              <a:spcAft>
                <a:spcPts val="0"/>
              </a:spcAft>
              <a:buClr>
                <a:schemeClr val="dk1"/>
              </a:buClr>
              <a:buSzPct val="100000"/>
              <a:buNone/>
            </a:pPr>
            <a:r>
              <a:rPr b="1" lang="en-US" sz="2600">
                <a:latin typeface="Times New Roman"/>
                <a:ea typeface="Times New Roman"/>
                <a:cs typeface="Times New Roman"/>
                <a:sym typeface="Times New Roman"/>
              </a:rPr>
              <a:t>Rule 1: </a:t>
            </a:r>
            <a:r>
              <a:rPr lang="en-US" sz="2600">
                <a:latin typeface="Times New Roman"/>
                <a:ea typeface="Times New Roman"/>
                <a:cs typeface="Times New Roman"/>
                <a:sym typeface="Times New Roman"/>
              </a:rPr>
              <a:t>Initially, add every item in I to CLOSURE(I).</a:t>
            </a:r>
            <a:endParaRPr/>
          </a:p>
          <a:p>
            <a:pPr indent="0" lvl="0" marL="0" rtl="0" algn="just">
              <a:lnSpc>
                <a:spcPct val="90000"/>
              </a:lnSpc>
              <a:spcBef>
                <a:spcPts val="1000"/>
              </a:spcBef>
              <a:spcAft>
                <a:spcPts val="0"/>
              </a:spcAft>
              <a:buClr>
                <a:schemeClr val="dk1"/>
              </a:buClr>
              <a:buSzPct val="100000"/>
              <a:buNone/>
            </a:pPr>
            <a:r>
              <a:rPr b="1" lang="en-US" sz="2600">
                <a:latin typeface="Times New Roman"/>
                <a:ea typeface="Times New Roman"/>
                <a:cs typeface="Times New Roman"/>
                <a:sym typeface="Times New Roman"/>
              </a:rPr>
              <a:t>Rule 2: </a:t>
            </a:r>
            <a:r>
              <a:rPr lang="en-US" sz="2600">
                <a:latin typeface="Times New Roman"/>
                <a:ea typeface="Times New Roman"/>
                <a:cs typeface="Times New Roman"/>
                <a:sym typeface="Times New Roman"/>
              </a:rPr>
              <a:t>If A -&gt; </a:t>
            </a:r>
            <a:r>
              <a:rPr b="0" i="0" lang="en-US" sz="2600">
                <a:solidFill>
                  <a:srgbClr val="282828"/>
                </a:solidFill>
                <a:highlight>
                  <a:srgbClr val="FFFFFF"/>
                </a:highlight>
                <a:latin typeface="Times New Roman"/>
                <a:ea typeface="Times New Roman"/>
                <a:cs typeface="Times New Roman"/>
                <a:sym typeface="Times New Roman"/>
              </a:rPr>
              <a:t>α .B β is in CLOSURE (I) and B -&gt; γ is a production and B-&gt;. Γ is not there in CLOSURE(</a:t>
            </a:r>
            <a:r>
              <a:rPr lang="en-US" sz="2600">
                <a:solidFill>
                  <a:srgbClr val="282828"/>
                </a:solidFill>
                <a:highlight>
                  <a:srgbClr val="FFFFFF"/>
                </a:highlight>
                <a:latin typeface="Times New Roman"/>
                <a:ea typeface="Times New Roman"/>
                <a:cs typeface="Times New Roman"/>
                <a:sym typeface="Times New Roman"/>
              </a:rPr>
              <a:t>I) , then add B-&gt; .</a:t>
            </a:r>
            <a:r>
              <a:rPr b="0" i="0" lang="en-US" sz="2600">
                <a:solidFill>
                  <a:srgbClr val="282828"/>
                </a:solidFill>
                <a:highlight>
                  <a:srgbClr val="FFFFFF"/>
                </a:highlight>
                <a:latin typeface="Times New Roman"/>
                <a:ea typeface="Times New Roman"/>
                <a:cs typeface="Times New Roman"/>
                <a:sym typeface="Times New Roman"/>
              </a:rPr>
              <a:t> Γ to CLOSURE(</a:t>
            </a:r>
            <a:r>
              <a:rPr lang="en-US" sz="2600">
                <a:solidFill>
                  <a:srgbClr val="282828"/>
                </a:solidFill>
                <a:highlight>
                  <a:srgbClr val="FFFFFF"/>
                </a:highlight>
                <a:latin typeface="Times New Roman"/>
                <a:ea typeface="Times New Roman"/>
                <a:cs typeface="Times New Roman"/>
                <a:sym typeface="Times New Roman"/>
              </a:rPr>
              <a:t>I).</a:t>
            </a:r>
            <a:endParaRPr/>
          </a:p>
          <a:p>
            <a:pPr indent="0" lvl="0" marL="0" rtl="0" algn="just">
              <a:lnSpc>
                <a:spcPct val="90000"/>
              </a:lnSpc>
              <a:spcBef>
                <a:spcPts val="1000"/>
              </a:spcBef>
              <a:spcAft>
                <a:spcPts val="0"/>
              </a:spcAft>
              <a:buClr>
                <a:srgbClr val="282828"/>
              </a:buClr>
              <a:buSzPct val="100000"/>
              <a:buNone/>
            </a:pPr>
            <a:r>
              <a:rPr lang="en-US" sz="2600">
                <a:solidFill>
                  <a:srgbClr val="282828"/>
                </a:solidFill>
                <a:highlight>
                  <a:srgbClr val="FFFFFF"/>
                </a:highlight>
                <a:latin typeface="Times New Roman"/>
                <a:ea typeface="Times New Roman"/>
                <a:cs typeface="Times New Roman"/>
                <a:sym typeface="Times New Roman"/>
              </a:rPr>
              <a:t> apply rule 2 repeatedly until no more new items are added to </a:t>
            </a:r>
            <a:r>
              <a:rPr b="0" i="0" lang="en-US" sz="2600">
                <a:solidFill>
                  <a:srgbClr val="282828"/>
                </a:solidFill>
                <a:highlight>
                  <a:srgbClr val="FFFFFF"/>
                </a:highlight>
                <a:latin typeface="Times New Roman"/>
                <a:ea typeface="Times New Roman"/>
                <a:cs typeface="Times New Roman"/>
                <a:sym typeface="Times New Roman"/>
              </a:rPr>
              <a:t>CLOSURE(</a:t>
            </a:r>
            <a:r>
              <a:rPr lang="en-US" sz="2600">
                <a:solidFill>
                  <a:srgbClr val="282828"/>
                </a:solidFill>
                <a:highlight>
                  <a:srgbClr val="FFFFFF"/>
                </a:highlight>
                <a:latin typeface="Times New Roman"/>
                <a:ea typeface="Times New Roman"/>
                <a:cs typeface="Times New Roman"/>
                <a:sym typeface="Times New Roman"/>
              </a:rPr>
              <a:t>I).</a:t>
            </a:r>
            <a:endParaRPr/>
          </a:p>
          <a:p>
            <a:pPr indent="0" lvl="0" marL="0" rtl="0" algn="just">
              <a:lnSpc>
                <a:spcPct val="90000"/>
              </a:lnSpc>
              <a:spcBef>
                <a:spcPts val="1000"/>
              </a:spcBef>
              <a:spcAft>
                <a:spcPts val="0"/>
              </a:spcAft>
              <a:buClr>
                <a:srgbClr val="282828"/>
              </a:buClr>
              <a:buSzPct val="100000"/>
              <a:buNone/>
            </a:pPr>
            <a:r>
              <a:rPr lang="en-US" sz="2600">
                <a:solidFill>
                  <a:srgbClr val="282828"/>
                </a:solidFill>
                <a:highlight>
                  <a:srgbClr val="FFFFFF"/>
                </a:highlight>
                <a:latin typeface="Times New Roman"/>
                <a:ea typeface="Times New Roman"/>
                <a:cs typeface="Times New Roman"/>
                <a:sym typeface="Times New Roman"/>
              </a:rPr>
              <a:t>Consider an augmented grammar then the closure items set is written as </a:t>
            </a:r>
            <a:endParaRPr/>
          </a:p>
          <a:p>
            <a:pPr indent="0" lvl="0" marL="0" rtl="0" algn="just">
              <a:lnSpc>
                <a:spcPct val="90000"/>
              </a:lnSpc>
              <a:spcBef>
                <a:spcPts val="1000"/>
              </a:spcBef>
              <a:spcAft>
                <a:spcPts val="0"/>
              </a:spcAft>
              <a:buClr>
                <a:srgbClr val="282828"/>
              </a:buClr>
              <a:buSzPct val="100000"/>
              <a:buNone/>
            </a:pPr>
            <a:r>
              <a:rPr lang="en-US">
                <a:solidFill>
                  <a:srgbClr val="282828"/>
                </a:solidFill>
                <a:highlight>
                  <a:srgbClr val="FFFFFF"/>
                </a:highlight>
                <a:latin typeface="Times New Roman"/>
                <a:ea typeface="Times New Roman"/>
                <a:cs typeface="Times New Roman"/>
                <a:sym typeface="Times New Roman"/>
              </a:rPr>
              <a:t>E’ -&gt; . E</a:t>
            </a:r>
            <a:endParaRPr/>
          </a:p>
          <a:p>
            <a:pPr indent="0" lvl="0" marL="0" rtl="0" algn="just">
              <a:lnSpc>
                <a:spcPct val="90000"/>
              </a:lnSpc>
              <a:spcBef>
                <a:spcPts val="1000"/>
              </a:spcBef>
              <a:spcAft>
                <a:spcPts val="0"/>
              </a:spcAft>
              <a:buClr>
                <a:srgbClr val="282828"/>
              </a:buClr>
              <a:buSzPct val="100000"/>
              <a:buNone/>
            </a:pPr>
            <a:r>
              <a:rPr lang="en-US">
                <a:solidFill>
                  <a:srgbClr val="282828"/>
                </a:solidFill>
                <a:highlight>
                  <a:srgbClr val="FFFFFF"/>
                </a:highlight>
                <a:latin typeface="Times New Roman"/>
                <a:ea typeface="Times New Roman"/>
                <a:cs typeface="Times New Roman"/>
                <a:sym typeface="Times New Roman"/>
              </a:rPr>
              <a:t>E -&gt; . E + T</a:t>
            </a:r>
            <a:endParaRPr/>
          </a:p>
          <a:p>
            <a:pPr indent="0" lvl="0" marL="0" rtl="0" algn="just">
              <a:lnSpc>
                <a:spcPct val="90000"/>
              </a:lnSpc>
              <a:spcBef>
                <a:spcPts val="1000"/>
              </a:spcBef>
              <a:spcAft>
                <a:spcPts val="0"/>
              </a:spcAft>
              <a:buClr>
                <a:srgbClr val="282828"/>
              </a:buClr>
              <a:buSzPct val="100000"/>
              <a:buNone/>
            </a:pPr>
            <a:r>
              <a:rPr lang="en-US">
                <a:solidFill>
                  <a:srgbClr val="282828"/>
                </a:solidFill>
                <a:highlight>
                  <a:srgbClr val="FFFFFF"/>
                </a:highlight>
                <a:latin typeface="Times New Roman"/>
                <a:ea typeface="Times New Roman"/>
                <a:cs typeface="Times New Roman"/>
                <a:sym typeface="Times New Roman"/>
              </a:rPr>
              <a:t>E -&gt; . T</a:t>
            </a:r>
            <a:endParaRPr/>
          </a:p>
          <a:p>
            <a:pPr indent="0" lvl="0" marL="0" rtl="0" algn="just">
              <a:lnSpc>
                <a:spcPct val="90000"/>
              </a:lnSpc>
              <a:spcBef>
                <a:spcPts val="1000"/>
              </a:spcBef>
              <a:spcAft>
                <a:spcPts val="0"/>
              </a:spcAft>
              <a:buClr>
                <a:srgbClr val="282828"/>
              </a:buClr>
              <a:buSzPct val="100000"/>
              <a:buNone/>
            </a:pPr>
            <a:r>
              <a:rPr lang="en-US">
                <a:solidFill>
                  <a:srgbClr val="282828"/>
                </a:solidFill>
                <a:highlight>
                  <a:srgbClr val="FFFFFF"/>
                </a:highlight>
                <a:latin typeface="Times New Roman"/>
                <a:ea typeface="Times New Roman"/>
                <a:cs typeface="Times New Roman"/>
                <a:sym typeface="Times New Roman"/>
              </a:rPr>
              <a:t>T -&gt; . T * F</a:t>
            </a:r>
            <a:endParaRPr/>
          </a:p>
          <a:p>
            <a:pPr indent="0" lvl="0" marL="0" rtl="0" algn="just">
              <a:lnSpc>
                <a:spcPct val="90000"/>
              </a:lnSpc>
              <a:spcBef>
                <a:spcPts val="1000"/>
              </a:spcBef>
              <a:spcAft>
                <a:spcPts val="0"/>
              </a:spcAft>
              <a:buClr>
                <a:srgbClr val="282828"/>
              </a:buClr>
              <a:buSzPct val="100000"/>
              <a:buNone/>
            </a:pPr>
            <a:r>
              <a:rPr lang="en-US">
                <a:solidFill>
                  <a:srgbClr val="282828"/>
                </a:solidFill>
                <a:highlight>
                  <a:srgbClr val="FFFFFF"/>
                </a:highlight>
                <a:latin typeface="Times New Roman"/>
                <a:ea typeface="Times New Roman"/>
                <a:cs typeface="Times New Roman"/>
                <a:sym typeface="Times New Roman"/>
              </a:rPr>
              <a:t>T -&gt; . F</a:t>
            </a:r>
            <a:endParaRPr/>
          </a:p>
          <a:p>
            <a:pPr indent="0" lvl="0" marL="0" rtl="0" algn="just">
              <a:lnSpc>
                <a:spcPct val="90000"/>
              </a:lnSpc>
              <a:spcBef>
                <a:spcPts val="1000"/>
              </a:spcBef>
              <a:spcAft>
                <a:spcPts val="0"/>
              </a:spcAft>
              <a:buClr>
                <a:srgbClr val="282828"/>
              </a:buClr>
              <a:buSzPct val="100000"/>
              <a:buNone/>
            </a:pPr>
            <a:r>
              <a:rPr lang="en-US">
                <a:solidFill>
                  <a:srgbClr val="282828"/>
                </a:solidFill>
                <a:highlight>
                  <a:srgbClr val="FFFFFF"/>
                </a:highlight>
                <a:latin typeface="Times New Roman"/>
                <a:ea typeface="Times New Roman"/>
                <a:cs typeface="Times New Roman"/>
                <a:sym typeface="Times New Roman"/>
              </a:rPr>
              <a:t>F -&gt; . ( E ) </a:t>
            </a:r>
            <a:endParaRPr/>
          </a:p>
          <a:p>
            <a:pPr indent="0" lvl="0" marL="0" rtl="0" algn="just">
              <a:lnSpc>
                <a:spcPct val="90000"/>
              </a:lnSpc>
              <a:spcBef>
                <a:spcPts val="1000"/>
              </a:spcBef>
              <a:spcAft>
                <a:spcPts val="0"/>
              </a:spcAft>
              <a:buClr>
                <a:srgbClr val="282828"/>
              </a:buClr>
              <a:buSzPct val="100000"/>
              <a:buNone/>
            </a:pPr>
            <a:r>
              <a:rPr lang="en-US">
                <a:solidFill>
                  <a:srgbClr val="282828"/>
                </a:solidFill>
                <a:highlight>
                  <a:srgbClr val="FFFFFF"/>
                </a:highlight>
                <a:latin typeface="Times New Roman"/>
                <a:ea typeface="Times New Roman"/>
                <a:cs typeface="Times New Roman"/>
                <a:sym typeface="Times New Roman"/>
              </a:rPr>
              <a:t>F -&gt; .id</a:t>
            </a:r>
            <a:endParaRPr/>
          </a:p>
          <a:p>
            <a:pPr indent="0" lvl="0" marL="0" rtl="0" algn="l">
              <a:lnSpc>
                <a:spcPct val="90000"/>
              </a:lnSpc>
              <a:spcBef>
                <a:spcPts val="1000"/>
              </a:spcBef>
              <a:spcAft>
                <a:spcPts val="0"/>
              </a:spcAft>
              <a:buClr>
                <a:schemeClr val="dk1"/>
              </a:buClr>
              <a:buSzPct val="100000"/>
              <a:buNone/>
            </a:pPr>
            <a:r>
              <a:t/>
            </a:r>
            <a:endParaRPr>
              <a:solidFill>
                <a:srgbClr val="282828"/>
              </a:solidFill>
              <a:highlight>
                <a:srgbClr val="FFFFFF"/>
              </a:highlight>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 name="Shape 151"/>
        <p:cNvGrpSpPr/>
        <p:nvPr/>
      </p:nvGrpSpPr>
      <p:grpSpPr>
        <a:xfrm>
          <a:off x="0" y="0"/>
          <a:ext cx="0" cy="0"/>
          <a:chOff x="0" y="0"/>
          <a:chExt cx="0" cy="0"/>
        </a:xfrm>
      </p:grpSpPr>
      <p:pic>
        <p:nvPicPr>
          <p:cNvPr descr="A close-up of a math problem&#10;&#10;Description automatically generated" id="152" name="Google Shape;152;p23"/>
          <p:cNvPicPr preferRelativeResize="0"/>
          <p:nvPr>
            <p:ph idx="1" type="body"/>
          </p:nvPr>
        </p:nvPicPr>
        <p:blipFill rotWithShape="1">
          <a:blip r:embed="rId3">
            <a:alphaModFix/>
          </a:blip>
          <a:srcRect b="0" l="0" r="0" t="0"/>
          <a:stretch/>
        </p:blipFill>
        <p:spPr>
          <a:xfrm>
            <a:off x="1031392" y="643466"/>
            <a:ext cx="10129215" cy="557106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ph type="title"/>
          </p:nvPr>
        </p:nvSpPr>
        <p:spPr>
          <a:xfrm>
            <a:off x="132735" y="235975"/>
            <a:ext cx="11769213" cy="82590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GOTO Function</a:t>
            </a:r>
            <a:endParaRPr b="1">
              <a:latin typeface="Times New Roman"/>
              <a:ea typeface="Times New Roman"/>
              <a:cs typeface="Times New Roman"/>
              <a:sym typeface="Times New Roman"/>
            </a:endParaRPr>
          </a:p>
        </p:txBody>
      </p:sp>
      <p:sp>
        <p:nvSpPr>
          <p:cNvPr id="158" name="Google Shape;158;p24"/>
          <p:cNvSpPr txBox="1"/>
          <p:nvPr>
            <p:ph idx="1" type="body"/>
          </p:nvPr>
        </p:nvSpPr>
        <p:spPr>
          <a:xfrm>
            <a:off x="132735" y="1061884"/>
            <a:ext cx="11221065" cy="5560141"/>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The GOTO(I , X) is a function which accepts set of items I as the first arguments and X which is a grammar symbol which can be either terminal or a non-terminal as the second arguments.</a:t>
            </a:r>
            <a:endParaRPr/>
          </a:p>
          <a:p>
            <a:pPr indent="-228600" lvl="0" marL="228600" rtl="0" algn="just">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It is defined as ,</a:t>
            </a:r>
            <a:endParaRPr/>
          </a:p>
          <a:p>
            <a:pPr indent="0" lvl="0" marL="0" rtl="0" algn="just">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if   A -&gt; </a:t>
            </a:r>
            <a:r>
              <a:rPr b="0" i="0" lang="en-US">
                <a:solidFill>
                  <a:srgbClr val="282828"/>
                </a:solidFill>
                <a:highlight>
                  <a:srgbClr val="FFFFFF"/>
                </a:highlight>
                <a:latin typeface="Arial"/>
                <a:ea typeface="Arial"/>
                <a:cs typeface="Arial"/>
                <a:sym typeface="Arial"/>
              </a:rPr>
              <a:t>α . X β</a:t>
            </a:r>
            <a:r>
              <a:rPr b="1" i="0" lang="en-US">
                <a:solidFill>
                  <a:srgbClr val="282828"/>
                </a:solidFill>
                <a:highlight>
                  <a:srgbClr val="FFFFFF"/>
                </a:highlight>
                <a:latin typeface="Arial"/>
                <a:ea typeface="Arial"/>
                <a:cs typeface="Arial"/>
                <a:sym typeface="Arial"/>
              </a:rPr>
              <a:t> in I</a:t>
            </a:r>
            <a:endParaRPr/>
          </a:p>
          <a:p>
            <a:pPr indent="0" lvl="0" marL="0" rtl="0" algn="just">
              <a:lnSpc>
                <a:spcPct val="90000"/>
              </a:lnSpc>
              <a:spcBef>
                <a:spcPts val="1000"/>
              </a:spcBef>
              <a:spcAft>
                <a:spcPts val="0"/>
              </a:spcAft>
              <a:buClr>
                <a:srgbClr val="282828"/>
              </a:buClr>
              <a:buSzPts val="2800"/>
              <a:buNone/>
            </a:pPr>
            <a:r>
              <a:rPr b="1" lang="en-US">
                <a:solidFill>
                  <a:srgbClr val="282828"/>
                </a:solidFill>
                <a:highlight>
                  <a:srgbClr val="FFFFFF"/>
                </a:highlight>
                <a:latin typeface="Arial"/>
                <a:ea typeface="Arial"/>
                <a:cs typeface="Arial"/>
                <a:sym typeface="Arial"/>
              </a:rPr>
              <a:t>  </a:t>
            </a:r>
            <a:r>
              <a:rPr lang="en-US">
                <a:solidFill>
                  <a:srgbClr val="282828"/>
                </a:solidFill>
                <a:highlight>
                  <a:srgbClr val="FFFFFF"/>
                </a:highlight>
                <a:latin typeface="Arial"/>
                <a:ea typeface="Arial"/>
                <a:cs typeface="Arial"/>
                <a:sym typeface="Arial"/>
              </a:rPr>
              <a:t>GOTO ( I , X ) = CLOSURE ( A - &gt; </a:t>
            </a:r>
            <a:r>
              <a:rPr b="0" i="0" lang="en-US">
                <a:solidFill>
                  <a:srgbClr val="282828"/>
                </a:solidFill>
                <a:highlight>
                  <a:srgbClr val="FFFFFF"/>
                </a:highlight>
                <a:latin typeface="Arial"/>
                <a:ea typeface="Arial"/>
                <a:cs typeface="Arial"/>
                <a:sym typeface="Arial"/>
              </a:rPr>
              <a:t>α  X . β</a:t>
            </a:r>
            <a:r>
              <a:rPr b="1" i="0" lang="en-US">
                <a:solidFill>
                  <a:srgbClr val="282828"/>
                </a:solidFill>
                <a:highlight>
                  <a:srgbClr val="FFFFFF"/>
                </a:highlight>
                <a:latin typeface="Arial"/>
                <a:ea typeface="Arial"/>
                <a:cs typeface="Arial"/>
                <a:sym typeface="Arial"/>
              </a:rPr>
              <a:t> )</a:t>
            </a:r>
            <a:endParaRPr/>
          </a:p>
          <a:p>
            <a:pPr indent="0" lvl="0" marL="0" rtl="0" algn="just">
              <a:lnSpc>
                <a:spcPct val="90000"/>
              </a:lnSpc>
              <a:spcBef>
                <a:spcPts val="1000"/>
              </a:spcBef>
              <a:spcAft>
                <a:spcPts val="0"/>
              </a:spcAft>
              <a:buClr>
                <a:schemeClr val="dk1"/>
              </a:buClr>
              <a:buSzPts val="2800"/>
              <a:buNone/>
            </a:pPr>
            <a:r>
              <a:t/>
            </a:r>
            <a:endParaRPr b="1" i="0">
              <a:solidFill>
                <a:srgbClr val="282828"/>
              </a:solidFill>
              <a:highlight>
                <a:srgbClr val="FFFFFF"/>
              </a:highlight>
              <a:latin typeface="Arial"/>
              <a:ea typeface="Arial"/>
              <a:cs typeface="Arial"/>
              <a:sym typeface="Arial"/>
            </a:endParaRPr>
          </a:p>
          <a:p>
            <a:pPr indent="0" lvl="0" marL="0" rtl="0" algn="just">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title"/>
          </p:nvPr>
        </p:nvSpPr>
        <p:spPr>
          <a:xfrm>
            <a:off x="132735" y="365125"/>
            <a:ext cx="1191669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i="0" lang="en-US" sz="3600" u="none" strike="noStrike">
                <a:latin typeface="Times New Roman"/>
                <a:ea typeface="Times New Roman"/>
                <a:cs typeface="Times New Roman"/>
                <a:sym typeface="Times New Roman"/>
              </a:rPr>
              <a:t>Computation of the canonical collection of sets of LR(0) items</a:t>
            </a:r>
            <a:endParaRPr b="1" sz="3600"/>
          </a:p>
        </p:txBody>
      </p:sp>
      <p:pic>
        <p:nvPicPr>
          <p:cNvPr id="164" name="Google Shape;164;p25"/>
          <p:cNvPicPr preferRelativeResize="0"/>
          <p:nvPr>
            <p:ph idx="1" type="body"/>
          </p:nvPr>
        </p:nvPicPr>
        <p:blipFill rotWithShape="1">
          <a:blip r:embed="rId3">
            <a:alphaModFix/>
          </a:blip>
          <a:srcRect b="0" l="0" r="0" t="0"/>
          <a:stretch/>
        </p:blipFill>
        <p:spPr>
          <a:xfrm>
            <a:off x="280219" y="1887794"/>
            <a:ext cx="10840065" cy="460508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ph idx="1" type="body"/>
          </p:nvPr>
        </p:nvPicPr>
        <p:blipFill rotWithShape="1">
          <a:blip r:embed="rId3">
            <a:alphaModFix/>
          </a:blip>
          <a:srcRect b="0" l="0" r="0" t="0"/>
          <a:stretch/>
        </p:blipFill>
        <p:spPr>
          <a:xfrm>
            <a:off x="634181" y="23431"/>
            <a:ext cx="11208773" cy="6726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
        <p:nvSpPr>
          <p:cNvPr id="174" name="Google Shape;174;p2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5" name="Google Shape;175;p27"/>
          <p:cNvSpPr/>
          <p:nvPr/>
        </p:nvSpPr>
        <p:spPr>
          <a:xfrm flipH="1">
            <a:off x="10208496" y="0"/>
            <a:ext cx="1983504" cy="6858000"/>
          </a:xfrm>
          <a:custGeom>
            <a:rect b="b" l="l" r="r" t="t"/>
            <a:pathLst>
              <a:path extrusionOk="0" h="6858000" w="1983504">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lt2">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pic>
        <p:nvPicPr>
          <p:cNvPr id="176" name="Google Shape;176;p27"/>
          <p:cNvPicPr preferRelativeResize="0"/>
          <p:nvPr/>
        </p:nvPicPr>
        <p:blipFill rotWithShape="1">
          <a:blip r:embed="rId3">
            <a:alphaModFix/>
          </a:blip>
          <a:srcRect b="0" l="0" r="0" t="0"/>
          <a:stretch/>
        </p:blipFill>
        <p:spPr>
          <a:xfrm>
            <a:off x="1460090" y="0"/>
            <a:ext cx="8748405" cy="675476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0" name="Shape 180"/>
        <p:cNvGrpSpPr/>
        <p:nvPr/>
      </p:nvGrpSpPr>
      <p:grpSpPr>
        <a:xfrm>
          <a:off x="0" y="0"/>
          <a:ext cx="0" cy="0"/>
          <a:chOff x="0" y="0"/>
          <a:chExt cx="0" cy="0"/>
        </a:xfrm>
      </p:grpSpPr>
      <p:sp>
        <p:nvSpPr>
          <p:cNvPr id="181" name="Google Shape;181;p28"/>
          <p:cNvSpPr txBox="1"/>
          <p:nvPr>
            <p:ph type="title"/>
          </p:nvPr>
        </p:nvSpPr>
        <p:spPr>
          <a:xfrm>
            <a:off x="132735" y="0"/>
            <a:ext cx="11221065" cy="107663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LR Parsing Algorithm</a:t>
            </a:r>
            <a:endParaRPr b="1"/>
          </a:p>
        </p:txBody>
      </p:sp>
      <p:sp>
        <p:nvSpPr>
          <p:cNvPr id="182" name="Google Shape;182;p28"/>
          <p:cNvSpPr txBox="1"/>
          <p:nvPr>
            <p:ph idx="1" type="body"/>
          </p:nvPr>
        </p:nvSpPr>
        <p:spPr>
          <a:xfrm>
            <a:off x="132735" y="737419"/>
            <a:ext cx="11926530" cy="589935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t> It consists of an input , output , a stack , a driver program and a parsing table has 2 parts (ACTION and GOTO).</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The parsing program reads a characters from an input buffer one at a time,  where a shift – reduce parsers would shift a symbol ,  an LR parsers shift a state.</a:t>
            </a:r>
            <a:endParaRPr/>
          </a:p>
          <a:p>
            <a:pPr indent="-50800" lvl="0" marL="228600" rtl="0" algn="l">
              <a:lnSpc>
                <a:spcPct val="90000"/>
              </a:lnSpc>
              <a:spcBef>
                <a:spcPts val="1000"/>
              </a:spcBef>
              <a:spcAft>
                <a:spcPts val="0"/>
              </a:spcAft>
              <a:buClr>
                <a:schemeClr val="dk1"/>
              </a:buClr>
              <a:buSzPts val="2800"/>
              <a:buFont typeface="Noto Sans Symbols"/>
              <a:buNone/>
            </a:pPr>
            <a:r>
              <a:t/>
            </a:r>
            <a:endParaRPr/>
          </a:p>
        </p:txBody>
      </p:sp>
      <p:pic>
        <p:nvPicPr>
          <p:cNvPr id="183" name="Google Shape;183;p28"/>
          <p:cNvPicPr preferRelativeResize="0"/>
          <p:nvPr/>
        </p:nvPicPr>
        <p:blipFill rotWithShape="1">
          <a:blip r:embed="rId3">
            <a:alphaModFix/>
          </a:blip>
          <a:srcRect b="0" l="0" r="0" t="0"/>
          <a:stretch/>
        </p:blipFill>
        <p:spPr>
          <a:xfrm>
            <a:off x="4469227" y="2492477"/>
            <a:ext cx="7255741" cy="400666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29"/>
          <p:cNvPicPr preferRelativeResize="0"/>
          <p:nvPr>
            <p:ph idx="1" type="body"/>
          </p:nvPr>
        </p:nvPicPr>
        <p:blipFill rotWithShape="1">
          <a:blip r:embed="rId3">
            <a:alphaModFix/>
          </a:blip>
          <a:srcRect b="0" l="0" r="0" t="0"/>
          <a:stretch/>
        </p:blipFill>
        <p:spPr>
          <a:xfrm>
            <a:off x="162232" y="65430"/>
            <a:ext cx="10191136" cy="679256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0"/>
          <p:cNvSpPr txBox="1"/>
          <p:nvPr>
            <p:ph type="ctrTitle"/>
          </p:nvPr>
        </p:nvSpPr>
        <p:spPr>
          <a:xfrm>
            <a:off x="1524000" y="1653305"/>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a:t>Chapter 5</a:t>
            </a:r>
            <a:br>
              <a:rPr lang="en-US"/>
            </a:br>
            <a:r>
              <a:rPr lang="en-US"/>
              <a:t>Syntax-Directed Translation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1"/>
          <p:cNvSpPr txBox="1"/>
          <p:nvPr>
            <p:ph type="title"/>
          </p:nvPr>
        </p:nvSpPr>
        <p:spPr>
          <a:xfrm>
            <a:off x="176981" y="221227"/>
            <a:ext cx="11606980" cy="97339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Introduction</a:t>
            </a:r>
            <a:endParaRPr/>
          </a:p>
        </p:txBody>
      </p:sp>
      <p:sp>
        <p:nvSpPr>
          <p:cNvPr id="199" name="Google Shape;199;p31"/>
          <p:cNvSpPr txBox="1"/>
          <p:nvPr>
            <p:ph idx="1" type="body"/>
          </p:nvPr>
        </p:nvSpPr>
        <p:spPr>
          <a:xfrm>
            <a:off x="176981" y="1710813"/>
            <a:ext cx="11176819" cy="446615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US"/>
              <a:t> </a:t>
            </a:r>
            <a:r>
              <a:rPr lang="en-US" sz="3200">
                <a:latin typeface="Times New Roman"/>
                <a:ea typeface="Times New Roman"/>
                <a:cs typeface="Times New Roman"/>
                <a:sym typeface="Times New Roman"/>
              </a:rPr>
              <a:t>The main goal of the semantic analysis is to check the correctness of program and enable proper execution.</a:t>
            </a:r>
            <a:endParaRPr/>
          </a:p>
          <a:p>
            <a:pPr indent="-228600" lvl="0" marL="228600" rtl="0" algn="just">
              <a:lnSpc>
                <a:spcPct val="90000"/>
              </a:lnSpc>
              <a:spcBef>
                <a:spcPts val="1000"/>
              </a:spcBef>
              <a:spcAft>
                <a:spcPts val="0"/>
              </a:spcAft>
              <a:buClr>
                <a:schemeClr val="dk1"/>
              </a:buClr>
              <a:buSzPts val="3200"/>
              <a:buFont typeface="Noto Sans Symbols"/>
              <a:buChar char="⮚"/>
            </a:pPr>
            <a:r>
              <a:rPr lang="en-US" sz="3200">
                <a:latin typeface="Times New Roman"/>
                <a:ea typeface="Times New Roman"/>
                <a:cs typeface="Times New Roman"/>
                <a:sym typeface="Times New Roman"/>
              </a:rPr>
              <a:t> Semantic analysis is the third phase of the compiler which acts as an interface between syntax analysis phase and Intermediate code generation phase.</a:t>
            </a:r>
            <a:endParaRPr/>
          </a:p>
          <a:p>
            <a:pPr indent="-228600" lvl="0" marL="228600" rtl="0" algn="just">
              <a:lnSpc>
                <a:spcPct val="90000"/>
              </a:lnSpc>
              <a:spcBef>
                <a:spcPts val="1000"/>
              </a:spcBef>
              <a:spcAft>
                <a:spcPts val="0"/>
              </a:spcAft>
              <a:buClr>
                <a:schemeClr val="dk1"/>
              </a:buClr>
              <a:buSzPts val="3200"/>
              <a:buFont typeface="Noto Sans Symbols"/>
              <a:buChar char="⮚"/>
            </a:pPr>
            <a:r>
              <a:rPr lang="en-US" sz="3200">
                <a:latin typeface="Times New Roman"/>
                <a:ea typeface="Times New Roman"/>
                <a:cs typeface="Times New Roman"/>
                <a:sym typeface="Times New Roman"/>
              </a:rPr>
              <a:t> It accepts the parse tree from the syntax analysis phase and adds the semantic information to the parse tree and performs certain checks based on this information.</a:t>
            </a:r>
            <a:endParaRPr sz="32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2"/>
          <p:cNvSpPr txBox="1"/>
          <p:nvPr>
            <p:ph idx="1" type="body"/>
          </p:nvPr>
        </p:nvSpPr>
        <p:spPr>
          <a:xfrm>
            <a:off x="368710" y="339212"/>
            <a:ext cx="10985090" cy="635655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t> The semantics of a languages can be described using two notations namely</a:t>
            </a:r>
            <a:endParaRPr/>
          </a:p>
          <a:p>
            <a:pPr indent="-514350" lvl="0" marL="514350" rtl="0" algn="l">
              <a:lnSpc>
                <a:spcPct val="90000"/>
              </a:lnSpc>
              <a:spcBef>
                <a:spcPts val="1000"/>
              </a:spcBef>
              <a:spcAft>
                <a:spcPts val="0"/>
              </a:spcAft>
              <a:buClr>
                <a:schemeClr val="dk1"/>
              </a:buClr>
              <a:buSzPts val="2800"/>
              <a:buAutoNum type="arabicPeriod"/>
            </a:pPr>
            <a:r>
              <a:rPr lang="en-US"/>
              <a:t>Syntax Directed Definition (SDD)</a:t>
            </a:r>
            <a:endParaRPr/>
          </a:p>
          <a:p>
            <a:pPr indent="-514350" lvl="0" marL="514350" rtl="0" algn="l">
              <a:lnSpc>
                <a:spcPct val="90000"/>
              </a:lnSpc>
              <a:spcBef>
                <a:spcPts val="1000"/>
              </a:spcBef>
              <a:spcAft>
                <a:spcPts val="0"/>
              </a:spcAft>
              <a:buClr>
                <a:schemeClr val="dk1"/>
              </a:buClr>
              <a:buSzPts val="2800"/>
              <a:buAutoNum type="arabicPeriod"/>
            </a:pPr>
            <a:r>
              <a:rPr lang="en-US"/>
              <a:t>Syntax Directed Translations (SDT)</a:t>
            </a:r>
            <a:endParaRPr/>
          </a:p>
          <a:p>
            <a:pPr indent="-336550" lvl="0" marL="51435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Note:  Consider the production E -&gt; E + T, to distinguish E on LHS and E on RHS we will use E</a:t>
            </a:r>
            <a:r>
              <a:rPr lang="en-US" sz="2000"/>
              <a:t>1   </a:t>
            </a:r>
            <a:r>
              <a:rPr lang="en-US"/>
              <a:t>on RHS of production then ,</a:t>
            </a:r>
            <a:endParaRPr/>
          </a:p>
          <a:p>
            <a:pPr indent="0" lvl="0" marL="0" rtl="0" algn="l">
              <a:lnSpc>
                <a:spcPct val="90000"/>
              </a:lnSpc>
              <a:spcBef>
                <a:spcPts val="1000"/>
              </a:spcBef>
              <a:spcAft>
                <a:spcPts val="0"/>
              </a:spcAft>
              <a:buClr>
                <a:schemeClr val="dk1"/>
              </a:buClr>
              <a:buSzPts val="2800"/>
              <a:buNone/>
            </a:pPr>
            <a:r>
              <a:rPr lang="en-US"/>
              <a:t>                            </a:t>
            </a:r>
            <a:endParaRPr/>
          </a:p>
          <a:p>
            <a:pPr indent="0" lvl="0" marL="0" rtl="0" algn="l">
              <a:lnSpc>
                <a:spcPct val="90000"/>
              </a:lnSpc>
              <a:spcBef>
                <a:spcPts val="1000"/>
              </a:spcBef>
              <a:spcAft>
                <a:spcPts val="0"/>
              </a:spcAft>
              <a:buClr>
                <a:schemeClr val="dk1"/>
              </a:buClr>
              <a:buSzPts val="2800"/>
              <a:buNone/>
            </a:pPr>
            <a:r>
              <a:rPr lang="en-US"/>
              <a:t>                                     E -&gt; E</a:t>
            </a:r>
            <a:r>
              <a:rPr lang="en-US" sz="2000"/>
              <a:t>1 </a:t>
            </a:r>
            <a:r>
              <a:rPr lang="en-US"/>
              <a:t>+ T                          parse Tree</a:t>
            </a:r>
            <a:endParaRPr/>
          </a:p>
          <a:p>
            <a:pPr indent="0" lvl="0" marL="0" rtl="0" algn="l">
              <a:lnSpc>
                <a:spcPct val="90000"/>
              </a:lnSpc>
              <a:spcBef>
                <a:spcPts val="1000"/>
              </a:spcBef>
              <a:spcAft>
                <a:spcPts val="0"/>
              </a:spcAft>
              <a:buClr>
                <a:schemeClr val="dk1"/>
              </a:buClr>
              <a:buSzPts val="2800"/>
              <a:buNone/>
            </a:pPr>
            <a:r>
              <a:rPr lang="en-US"/>
              <a:t>                                                                                          </a:t>
            </a:r>
            <a:endParaRPr/>
          </a:p>
          <a:p>
            <a:pPr indent="0" lvl="0" marL="0" rtl="0" algn="l">
              <a:lnSpc>
                <a:spcPct val="90000"/>
              </a:lnSpc>
              <a:spcBef>
                <a:spcPts val="1000"/>
              </a:spcBef>
              <a:spcAft>
                <a:spcPts val="0"/>
              </a:spcAft>
              <a:buClr>
                <a:schemeClr val="dk1"/>
              </a:buClr>
              <a:buSzPts val="2800"/>
              <a:buNone/>
            </a:pPr>
            <a:r>
              <a:rPr lang="en-US"/>
              <a:t>                                                                                         </a:t>
            </a:r>
            <a:endParaRPr/>
          </a:p>
          <a:p>
            <a:pPr indent="0" lvl="0" marL="0" rtl="0" algn="l">
              <a:lnSpc>
                <a:spcPct val="90000"/>
              </a:lnSpc>
              <a:spcBef>
                <a:spcPts val="1000"/>
              </a:spcBef>
              <a:spcAft>
                <a:spcPts val="0"/>
              </a:spcAft>
              <a:buClr>
                <a:schemeClr val="dk1"/>
              </a:buClr>
              <a:buSzPts val="2800"/>
              <a:buNone/>
            </a:pPr>
            <a:r>
              <a:rPr lang="en-US"/>
              <a:t>                                                                                              </a:t>
            </a:r>
            <a:endParaRPr/>
          </a:p>
        </p:txBody>
      </p:sp>
      <p:sp>
        <p:nvSpPr>
          <p:cNvPr id="205" name="Google Shape;205;p32"/>
          <p:cNvSpPr/>
          <p:nvPr/>
        </p:nvSpPr>
        <p:spPr>
          <a:xfrm>
            <a:off x="7152968" y="4601497"/>
            <a:ext cx="604684" cy="619432"/>
          </a:xfrm>
          <a:prstGeom prst="flowChartConnector">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E</a:t>
            </a:r>
            <a:endParaRPr sz="1800">
              <a:solidFill>
                <a:schemeClr val="lt1"/>
              </a:solidFill>
              <a:latin typeface="Arial"/>
              <a:ea typeface="Arial"/>
              <a:cs typeface="Arial"/>
              <a:sym typeface="Arial"/>
            </a:endParaRPr>
          </a:p>
        </p:txBody>
      </p:sp>
      <p:sp>
        <p:nvSpPr>
          <p:cNvPr id="206" name="Google Shape;206;p32"/>
          <p:cNvSpPr/>
          <p:nvPr/>
        </p:nvSpPr>
        <p:spPr>
          <a:xfrm>
            <a:off x="6096000" y="5746955"/>
            <a:ext cx="604684" cy="619432"/>
          </a:xfrm>
          <a:prstGeom prst="flowChartConnector">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 E</a:t>
            </a:r>
            <a:r>
              <a:rPr lang="en-US" sz="1400">
                <a:solidFill>
                  <a:schemeClr val="lt1"/>
                </a:solidFill>
                <a:latin typeface="Arial"/>
                <a:ea typeface="Arial"/>
                <a:cs typeface="Arial"/>
                <a:sym typeface="Arial"/>
              </a:rPr>
              <a:t>1 </a:t>
            </a:r>
            <a:endParaRPr sz="1800">
              <a:solidFill>
                <a:schemeClr val="lt1"/>
              </a:solidFill>
              <a:latin typeface="Arial"/>
              <a:ea typeface="Arial"/>
              <a:cs typeface="Arial"/>
              <a:sym typeface="Arial"/>
            </a:endParaRPr>
          </a:p>
        </p:txBody>
      </p:sp>
      <p:sp>
        <p:nvSpPr>
          <p:cNvPr id="207" name="Google Shape;207;p32"/>
          <p:cNvSpPr/>
          <p:nvPr/>
        </p:nvSpPr>
        <p:spPr>
          <a:xfrm>
            <a:off x="8154014" y="5668297"/>
            <a:ext cx="604684" cy="619432"/>
          </a:xfrm>
          <a:prstGeom prst="flowChartConnector">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T</a:t>
            </a:r>
            <a:endParaRPr sz="1800">
              <a:solidFill>
                <a:schemeClr val="lt1"/>
              </a:solidFill>
              <a:latin typeface="Arial"/>
              <a:ea typeface="Arial"/>
              <a:cs typeface="Arial"/>
              <a:sym typeface="Arial"/>
            </a:endParaRPr>
          </a:p>
        </p:txBody>
      </p:sp>
      <p:cxnSp>
        <p:nvCxnSpPr>
          <p:cNvPr id="208" name="Google Shape;208;p32"/>
          <p:cNvCxnSpPr>
            <a:stCxn id="205" idx="3"/>
            <a:endCxn id="206" idx="0"/>
          </p:cNvCxnSpPr>
          <p:nvPr/>
        </p:nvCxnSpPr>
        <p:spPr>
          <a:xfrm flipH="1">
            <a:off x="6398222" y="5130215"/>
            <a:ext cx="843300" cy="6168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209" name="Google Shape;209;p32"/>
          <p:cNvCxnSpPr>
            <a:stCxn id="205" idx="5"/>
          </p:cNvCxnSpPr>
          <p:nvPr/>
        </p:nvCxnSpPr>
        <p:spPr>
          <a:xfrm>
            <a:off x="7669098" y="5130215"/>
            <a:ext cx="787200" cy="538200"/>
          </a:xfrm>
          <a:prstGeom prst="straightConnector1">
            <a:avLst/>
          </a:prstGeom>
          <a:noFill/>
          <a:ln cap="flat" cmpd="sng" w="19050">
            <a:solidFill>
              <a:schemeClr val="accent1"/>
            </a:solidFill>
            <a:prstDash val="solid"/>
            <a:miter lim="800000"/>
            <a:headEnd len="sm" w="sm" type="none"/>
            <a:tailEnd len="med" w="med" type="triangle"/>
          </a:ln>
        </p:spPr>
      </p:cxnSp>
      <p:sp>
        <p:nvSpPr>
          <p:cNvPr id="210" name="Google Shape;210;p32"/>
          <p:cNvSpPr/>
          <p:nvPr/>
        </p:nvSpPr>
        <p:spPr>
          <a:xfrm>
            <a:off x="7096126" y="5950974"/>
            <a:ext cx="604684" cy="619432"/>
          </a:xfrm>
          <a:prstGeom prst="flowChartConnector">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 +</a:t>
            </a:r>
            <a:r>
              <a:rPr lang="en-US" sz="1400">
                <a:solidFill>
                  <a:schemeClr val="lt1"/>
                </a:solidFill>
                <a:latin typeface="Arial"/>
                <a:ea typeface="Arial"/>
                <a:cs typeface="Arial"/>
                <a:sym typeface="Arial"/>
              </a:rPr>
              <a:t> </a:t>
            </a:r>
            <a:endParaRPr sz="1800">
              <a:solidFill>
                <a:schemeClr val="lt1"/>
              </a:solidFill>
              <a:latin typeface="Arial"/>
              <a:ea typeface="Arial"/>
              <a:cs typeface="Arial"/>
              <a:sym typeface="Arial"/>
            </a:endParaRPr>
          </a:p>
        </p:txBody>
      </p:sp>
      <p:cxnSp>
        <p:nvCxnSpPr>
          <p:cNvPr id="211" name="Google Shape;211;p32"/>
          <p:cNvCxnSpPr>
            <a:stCxn id="205" idx="4"/>
            <a:endCxn id="210" idx="0"/>
          </p:cNvCxnSpPr>
          <p:nvPr/>
        </p:nvCxnSpPr>
        <p:spPr>
          <a:xfrm flipH="1">
            <a:off x="7398610" y="5220929"/>
            <a:ext cx="56700" cy="729900"/>
          </a:xfrm>
          <a:prstGeom prst="straightConnector1">
            <a:avLst/>
          </a:prstGeom>
          <a:noFill/>
          <a:ln cap="flat" cmpd="sng" w="19050">
            <a:solidFill>
              <a:schemeClr val="accent1"/>
            </a:solidFill>
            <a:prstDash val="solid"/>
            <a:miter lim="800000"/>
            <a:headEnd len="sm" w="sm"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3"/>
          <p:cNvSpPr txBox="1"/>
          <p:nvPr>
            <p:ph type="title"/>
          </p:nvPr>
        </p:nvSpPr>
        <p:spPr>
          <a:xfrm>
            <a:off x="191729" y="132736"/>
            <a:ext cx="11724968" cy="95864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Syntax Directed Translation</a:t>
            </a:r>
            <a:endParaRPr/>
          </a:p>
        </p:txBody>
      </p:sp>
      <p:sp>
        <p:nvSpPr>
          <p:cNvPr id="217" name="Google Shape;217;p33"/>
          <p:cNvSpPr txBox="1"/>
          <p:nvPr>
            <p:ph idx="1" type="body"/>
          </p:nvPr>
        </p:nvSpPr>
        <p:spPr>
          <a:xfrm>
            <a:off x="191729" y="1091382"/>
            <a:ext cx="11808542" cy="551589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US"/>
              <a:t> </a:t>
            </a:r>
            <a:r>
              <a:rPr lang="en-US">
                <a:latin typeface="Times New Roman"/>
                <a:ea typeface="Times New Roman"/>
                <a:cs typeface="Times New Roman"/>
                <a:sym typeface="Times New Roman"/>
              </a:rPr>
              <a:t>The most general approach to syntax directed translation is to construct a parse tree or a syntax tree and then to compute the values of a attributes at the node of the tree by visiting the nodes of the tree.</a:t>
            </a:r>
            <a:endParaRPr/>
          </a:p>
          <a:p>
            <a:pPr indent="-228600" lvl="0" marL="228600" rtl="0" algn="just">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Two types of SDT</a:t>
            </a:r>
            <a:endParaRPr/>
          </a:p>
          <a:p>
            <a:pPr indent="-514350" lvl="0" marL="514350" rtl="0" algn="just">
              <a:lnSpc>
                <a:spcPct val="90000"/>
              </a:lnSpc>
              <a:spcBef>
                <a:spcPts val="1000"/>
              </a:spcBef>
              <a:spcAft>
                <a:spcPts val="0"/>
              </a:spcAft>
              <a:buClr>
                <a:schemeClr val="dk1"/>
              </a:buClr>
              <a:buSzPts val="2800"/>
              <a:buAutoNum type="arabicPeriod"/>
            </a:pPr>
            <a:r>
              <a:rPr lang="en-US">
                <a:latin typeface="Times New Roman"/>
                <a:ea typeface="Times New Roman"/>
                <a:cs typeface="Times New Roman"/>
                <a:sym typeface="Times New Roman"/>
              </a:rPr>
              <a:t>L – attributed translations-- ( L stands for Left to right)</a:t>
            </a:r>
            <a:endParaRPr/>
          </a:p>
          <a:p>
            <a:pPr indent="0" lvl="0" marL="0" rtl="0" algn="just">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 It consists of both synthesized and inherited attributes</a:t>
            </a:r>
            <a:endParaRPr/>
          </a:p>
          <a:p>
            <a:pPr indent="-514350" lvl="0" marL="514350" rtl="0" algn="just">
              <a:lnSpc>
                <a:spcPct val="90000"/>
              </a:lnSpc>
              <a:spcBef>
                <a:spcPts val="1000"/>
              </a:spcBef>
              <a:spcAft>
                <a:spcPts val="0"/>
              </a:spcAft>
              <a:buClr>
                <a:schemeClr val="dk1"/>
              </a:buClr>
              <a:buSzPts val="2800"/>
              <a:buAutoNum type="arabicPeriod" startAt="2"/>
            </a:pPr>
            <a:r>
              <a:rPr lang="en-US">
                <a:latin typeface="Times New Roman"/>
                <a:ea typeface="Times New Roman"/>
                <a:cs typeface="Times New Roman"/>
                <a:sym typeface="Times New Roman"/>
              </a:rPr>
              <a:t>S – attributed translations --- ( S for synthesized )</a:t>
            </a:r>
            <a:endParaRPr/>
          </a:p>
          <a:p>
            <a:pPr indent="0" lvl="0" marL="0" rtl="0" algn="just">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 It consists of synthesized attributes</a:t>
            </a:r>
            <a:endParaRPr/>
          </a:p>
          <a:p>
            <a:pPr indent="0" lvl="0" marL="0" rtl="0" algn="just">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 It can be performed easily with bottom-up parse.</a:t>
            </a:r>
            <a:endParaRPr>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Semantic Rules</a:t>
            </a:r>
            <a:endParaRPr/>
          </a:p>
        </p:txBody>
      </p:sp>
      <p:sp>
        <p:nvSpPr>
          <p:cNvPr id="223" name="Google Shape;223;p34"/>
          <p:cNvSpPr txBox="1"/>
          <p:nvPr>
            <p:ph idx="1" type="body"/>
          </p:nvPr>
        </p:nvSpPr>
        <p:spPr>
          <a:xfrm>
            <a:off x="619432" y="1690688"/>
            <a:ext cx="10734368" cy="44862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Rule that describes how to compute the attribute values of the attributes associated with a grammar symbols using attribute values of other symbols is called semantic rule.</a:t>
            </a:r>
            <a:endParaRPr/>
          </a:p>
          <a:p>
            <a:pPr indent="-228600" lvl="0" marL="228600" rtl="0" algn="l">
              <a:lnSpc>
                <a:spcPct val="90000"/>
              </a:lnSpc>
              <a:spcBef>
                <a:spcPts val="1000"/>
              </a:spcBef>
              <a:spcAft>
                <a:spcPts val="0"/>
              </a:spcAft>
              <a:buClr>
                <a:schemeClr val="dk1"/>
              </a:buClr>
              <a:buSzPts val="2800"/>
              <a:buChar char="•"/>
            </a:pPr>
            <a:r>
              <a:rPr lang="en-US"/>
              <a:t>Example :</a:t>
            </a:r>
            <a:endParaRPr/>
          </a:p>
          <a:p>
            <a:pPr indent="0" lvl="0" marL="0" rtl="0" algn="l">
              <a:lnSpc>
                <a:spcPct val="90000"/>
              </a:lnSpc>
              <a:spcBef>
                <a:spcPts val="1000"/>
              </a:spcBef>
              <a:spcAft>
                <a:spcPts val="0"/>
              </a:spcAft>
              <a:buClr>
                <a:schemeClr val="dk1"/>
              </a:buClr>
              <a:buSzPts val="2800"/>
              <a:buNone/>
            </a:pPr>
            <a:r>
              <a:rPr lang="en-US"/>
              <a:t>                                              </a:t>
            </a:r>
            <a:r>
              <a:rPr b="1" lang="en-US" sz="2800"/>
              <a:t>E.val =  E1</a:t>
            </a:r>
            <a:r>
              <a:rPr b="1" lang="en-US" sz="2800">
                <a:solidFill>
                  <a:schemeClr val="dk1"/>
                </a:solidFill>
                <a:latin typeface="Arial"/>
                <a:ea typeface="Arial"/>
                <a:cs typeface="Arial"/>
                <a:sym typeface="Arial"/>
              </a:rPr>
              <a:t>.val </a:t>
            </a:r>
            <a:r>
              <a:rPr b="1" lang="en-US" sz="2800"/>
              <a:t>+ T.val </a:t>
            </a:r>
            <a:endParaRPr/>
          </a:p>
          <a:p>
            <a:pPr indent="0" lvl="0" marL="0" rtl="0" algn="l">
              <a:lnSpc>
                <a:spcPct val="90000"/>
              </a:lnSpc>
              <a:spcBef>
                <a:spcPts val="1000"/>
              </a:spcBef>
              <a:spcAft>
                <a:spcPts val="0"/>
              </a:spcAft>
              <a:buClr>
                <a:schemeClr val="dk1"/>
              </a:buClr>
              <a:buSzPts val="2800"/>
              <a:buNone/>
            </a:pPr>
            <a:r>
              <a:rPr lang="en-US"/>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5"/>
          <p:cNvSpPr txBox="1"/>
          <p:nvPr>
            <p:ph type="title"/>
          </p:nvPr>
        </p:nvSpPr>
        <p:spPr>
          <a:xfrm>
            <a:off x="103239" y="353961"/>
            <a:ext cx="11250561" cy="82591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Syntax Directed Definition (SDD)</a:t>
            </a:r>
            <a:br>
              <a:rPr lang="en-US"/>
            </a:br>
            <a:endParaRPr/>
          </a:p>
        </p:txBody>
      </p:sp>
      <p:sp>
        <p:nvSpPr>
          <p:cNvPr id="229" name="Google Shape;229;p35"/>
          <p:cNvSpPr txBox="1"/>
          <p:nvPr>
            <p:ph idx="1" type="body"/>
          </p:nvPr>
        </p:nvSpPr>
        <p:spPr>
          <a:xfrm>
            <a:off x="103239" y="884903"/>
            <a:ext cx="11985522" cy="529206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US"/>
              <a:t> A syntax Directed definition (SDD) is a context free grammar with attributes and semantic rules.</a:t>
            </a:r>
            <a:endParaRPr/>
          </a:p>
          <a:p>
            <a:pPr indent="-228600" lvl="0" marL="228600" rtl="0" algn="just">
              <a:lnSpc>
                <a:spcPct val="90000"/>
              </a:lnSpc>
              <a:spcBef>
                <a:spcPts val="1000"/>
              </a:spcBef>
              <a:spcAft>
                <a:spcPts val="0"/>
              </a:spcAft>
              <a:buClr>
                <a:schemeClr val="dk1"/>
              </a:buClr>
              <a:buSzPts val="2800"/>
              <a:buFont typeface="Noto Sans Symbols"/>
              <a:buChar char="⮚"/>
            </a:pPr>
            <a:r>
              <a:rPr lang="en-US"/>
              <a:t> The attributes are associated with grammar symbols and semantic rules are associated with Productions.</a:t>
            </a:r>
            <a:endParaRPr/>
          </a:p>
          <a:p>
            <a:pPr indent="-228600" lvl="0" marL="228600" rtl="0" algn="just">
              <a:lnSpc>
                <a:spcPct val="90000"/>
              </a:lnSpc>
              <a:spcBef>
                <a:spcPts val="1000"/>
              </a:spcBef>
              <a:spcAft>
                <a:spcPts val="0"/>
              </a:spcAft>
              <a:buClr>
                <a:schemeClr val="dk1"/>
              </a:buClr>
              <a:buSzPts val="2800"/>
              <a:buFont typeface="Noto Sans Symbols"/>
              <a:buChar char="⮚"/>
            </a:pPr>
            <a:r>
              <a:rPr lang="en-US"/>
              <a:t> Consider the SDD for the production</a:t>
            </a:r>
            <a:endParaRPr/>
          </a:p>
          <a:p>
            <a:pPr indent="0" lvl="0" marL="0" rtl="0" algn="l">
              <a:lnSpc>
                <a:spcPct val="90000"/>
              </a:lnSpc>
              <a:spcBef>
                <a:spcPts val="1000"/>
              </a:spcBef>
              <a:spcAft>
                <a:spcPts val="0"/>
              </a:spcAft>
              <a:buClr>
                <a:schemeClr val="dk1"/>
              </a:buClr>
              <a:buSzPts val="2800"/>
              <a:buNone/>
            </a:pPr>
            <a:r>
              <a:rPr lang="en-US"/>
              <a:t>                             E -&gt; E</a:t>
            </a:r>
            <a:r>
              <a:rPr lang="en-US" sz="2000"/>
              <a:t>1 </a:t>
            </a:r>
            <a:r>
              <a:rPr lang="en-US"/>
              <a:t>+ T </a:t>
            </a:r>
            <a:endParaRPr/>
          </a:p>
          <a:p>
            <a:pPr indent="0" lvl="0" marL="0" rtl="0" algn="l">
              <a:lnSpc>
                <a:spcPct val="90000"/>
              </a:lnSpc>
              <a:spcBef>
                <a:spcPts val="1000"/>
              </a:spcBef>
              <a:spcAft>
                <a:spcPts val="0"/>
              </a:spcAft>
              <a:buClr>
                <a:schemeClr val="dk1"/>
              </a:buClr>
              <a:buSzPts val="2800"/>
              <a:buNone/>
            </a:pPr>
            <a:r>
              <a:t/>
            </a:r>
            <a:endParaRPr/>
          </a:p>
        </p:txBody>
      </p:sp>
      <p:graphicFrame>
        <p:nvGraphicFramePr>
          <p:cNvPr id="230" name="Google Shape;230;p35"/>
          <p:cNvGraphicFramePr/>
          <p:nvPr/>
        </p:nvGraphicFramePr>
        <p:xfrm>
          <a:off x="1294580" y="3964312"/>
          <a:ext cx="3000000" cy="3000000"/>
        </p:xfrm>
        <a:graphic>
          <a:graphicData uri="http://schemas.openxmlformats.org/drawingml/2006/table">
            <a:tbl>
              <a:tblPr bandRow="1" firstRow="1">
                <a:noFill/>
                <a:tableStyleId>{23397118-A2DE-4F3B-8AA4-3D1A57D63330}</a:tableStyleId>
              </a:tblPr>
              <a:tblGrid>
                <a:gridCol w="4684250"/>
                <a:gridCol w="4684250"/>
              </a:tblGrid>
              <a:tr h="716800">
                <a:tc>
                  <a:txBody>
                    <a:bodyPr/>
                    <a:lstStyle/>
                    <a:p>
                      <a:pPr indent="0" lvl="0" marL="0" marR="0" rtl="0" algn="l">
                        <a:spcBef>
                          <a:spcPts val="0"/>
                        </a:spcBef>
                        <a:spcAft>
                          <a:spcPts val="0"/>
                        </a:spcAft>
                        <a:buNone/>
                      </a:pPr>
                      <a:r>
                        <a:rPr lang="en-US" sz="1800" u="none" cap="none" strike="noStrike"/>
                        <a:t>Production</a:t>
                      </a:r>
                      <a:endParaRPr sz="1800"/>
                    </a:p>
                  </a:txBody>
                  <a:tcPr marT="45725" marB="45725" marR="91450" marL="91450"/>
                </a:tc>
                <a:tc>
                  <a:txBody>
                    <a:bodyPr/>
                    <a:lstStyle/>
                    <a:p>
                      <a:pPr indent="0" lvl="0" marL="0" marR="0" rtl="0" algn="l">
                        <a:spcBef>
                          <a:spcPts val="0"/>
                        </a:spcBef>
                        <a:spcAft>
                          <a:spcPts val="0"/>
                        </a:spcAft>
                        <a:buNone/>
                      </a:pPr>
                      <a:r>
                        <a:rPr lang="en-US" sz="1800"/>
                        <a:t>Semantic Rules</a:t>
                      </a:r>
                      <a:endParaRPr sz="1800"/>
                    </a:p>
                  </a:txBody>
                  <a:tcPr marT="45725" marB="45725" marR="91450" marL="91450"/>
                </a:tc>
              </a:tr>
              <a:tr h="716800">
                <a:tc>
                  <a:txBody>
                    <a:bodyPr/>
                    <a:lstStyle/>
                    <a:p>
                      <a:pPr indent="0" lvl="0" marL="0" marR="0" rtl="0" algn="l">
                        <a:lnSpc>
                          <a:spcPct val="100000"/>
                        </a:lnSpc>
                        <a:spcBef>
                          <a:spcPts val="0"/>
                        </a:spcBef>
                        <a:spcAft>
                          <a:spcPts val="0"/>
                        </a:spcAft>
                        <a:buClr>
                          <a:schemeClr val="dk1"/>
                        </a:buClr>
                        <a:buSzPts val="2800"/>
                        <a:buFont typeface="Arial"/>
                        <a:buNone/>
                      </a:pPr>
                      <a:r>
                        <a:rPr b="1" lang="en-US" sz="2800"/>
                        <a:t> E -&gt; E1 + T </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lang="en-US" sz="1800"/>
                        <a:t> </a:t>
                      </a:r>
                      <a:r>
                        <a:rPr b="1" lang="en-US" sz="2800"/>
                        <a:t>E.val =  E1</a:t>
                      </a:r>
                      <a:r>
                        <a:rPr b="1" lang="en-US" sz="2800">
                          <a:solidFill>
                            <a:schemeClr val="dk1"/>
                          </a:solidFill>
                          <a:latin typeface="Arial"/>
                          <a:ea typeface="Arial"/>
                          <a:cs typeface="Arial"/>
                          <a:sym typeface="Arial"/>
                        </a:rPr>
                        <a:t>.val </a:t>
                      </a:r>
                      <a:r>
                        <a:rPr b="1" lang="en-US" sz="2800"/>
                        <a:t>+ T.val </a:t>
                      </a:r>
                      <a:endParaRPr/>
                    </a:p>
                  </a:txBody>
                  <a:tcPr marT="45725" marB="45725" marR="91450" marL="9145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6"/>
          <p:cNvSpPr txBox="1"/>
          <p:nvPr>
            <p:ph type="title"/>
          </p:nvPr>
        </p:nvSpPr>
        <p:spPr>
          <a:xfrm>
            <a:off x="265471" y="365126"/>
            <a:ext cx="9866671" cy="74100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SDD</a:t>
            </a:r>
            <a:endParaRPr/>
          </a:p>
        </p:txBody>
      </p:sp>
      <p:sp>
        <p:nvSpPr>
          <p:cNvPr id="236" name="Google Shape;236;p36"/>
          <p:cNvSpPr txBox="1"/>
          <p:nvPr>
            <p:ph idx="1" type="body"/>
          </p:nvPr>
        </p:nvSpPr>
        <p:spPr>
          <a:xfrm>
            <a:off x="368710" y="1106130"/>
            <a:ext cx="10985090" cy="5070833"/>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US"/>
              <a:t> </a:t>
            </a:r>
            <a:r>
              <a:rPr lang="en-US" sz="3200">
                <a:latin typeface="Times New Roman"/>
                <a:ea typeface="Times New Roman"/>
                <a:cs typeface="Times New Roman"/>
                <a:sym typeface="Times New Roman"/>
              </a:rPr>
              <a:t>An attribute is a property of a programming language construct. </a:t>
            </a:r>
            <a:endParaRPr/>
          </a:p>
          <a:p>
            <a:pPr indent="-228600" lvl="0" marL="228600" rtl="0" algn="just">
              <a:lnSpc>
                <a:spcPct val="90000"/>
              </a:lnSpc>
              <a:spcBef>
                <a:spcPts val="1000"/>
              </a:spcBef>
              <a:spcAft>
                <a:spcPts val="0"/>
              </a:spcAft>
              <a:buClr>
                <a:schemeClr val="dk1"/>
              </a:buClr>
              <a:buSzPts val="3200"/>
              <a:buFont typeface="Noto Sans Symbols"/>
              <a:buChar char="⮚"/>
            </a:pPr>
            <a:r>
              <a:rPr lang="en-US" sz="3200">
                <a:latin typeface="Times New Roman"/>
                <a:ea typeface="Times New Roman"/>
                <a:cs typeface="Times New Roman"/>
                <a:sym typeface="Times New Roman"/>
              </a:rPr>
              <a:t> Attributes are always associated with a grammar symbols.</a:t>
            </a:r>
            <a:endParaRPr/>
          </a:p>
          <a:p>
            <a:pPr indent="-228600" lvl="0" marL="228600" rtl="0" algn="just">
              <a:lnSpc>
                <a:spcPct val="90000"/>
              </a:lnSpc>
              <a:spcBef>
                <a:spcPts val="1000"/>
              </a:spcBef>
              <a:spcAft>
                <a:spcPts val="0"/>
              </a:spcAft>
              <a:buClr>
                <a:schemeClr val="dk1"/>
              </a:buClr>
              <a:buSzPts val="3200"/>
              <a:buFont typeface="Noto Sans Symbols"/>
              <a:buChar char="⮚"/>
            </a:pPr>
            <a:r>
              <a:rPr lang="en-US" sz="3200">
                <a:latin typeface="Times New Roman"/>
                <a:ea typeface="Times New Roman"/>
                <a:cs typeface="Times New Roman"/>
                <a:sym typeface="Times New Roman"/>
              </a:rPr>
              <a:t> If X is a grammar symbol and ‘α’ is a attribute , then X.α is a value of attribute ‘α’ at a particular node X in the parse tree.</a:t>
            </a:r>
            <a:endParaRPr/>
          </a:p>
          <a:p>
            <a:pPr indent="-228600" lvl="0" marL="228600" rtl="0" algn="just">
              <a:lnSpc>
                <a:spcPct val="90000"/>
              </a:lnSpc>
              <a:spcBef>
                <a:spcPts val="1000"/>
              </a:spcBef>
              <a:spcAft>
                <a:spcPts val="0"/>
              </a:spcAft>
              <a:buClr>
                <a:schemeClr val="dk1"/>
              </a:buClr>
              <a:buSzPts val="3200"/>
              <a:buFont typeface="Noto Sans Symbols"/>
              <a:buChar char="⮚"/>
            </a:pPr>
            <a:r>
              <a:rPr lang="en-US" sz="3200">
                <a:latin typeface="Times New Roman"/>
                <a:ea typeface="Times New Roman"/>
                <a:cs typeface="Times New Roman"/>
                <a:sym typeface="Times New Roman"/>
              </a:rPr>
              <a:t>Examples:</a:t>
            </a:r>
            <a:endParaRPr/>
          </a:p>
          <a:p>
            <a:pPr indent="-514350" lvl="0" marL="514350" rtl="0" algn="just">
              <a:lnSpc>
                <a:spcPct val="90000"/>
              </a:lnSpc>
              <a:spcBef>
                <a:spcPts val="1000"/>
              </a:spcBef>
              <a:spcAft>
                <a:spcPts val="0"/>
              </a:spcAft>
              <a:buClr>
                <a:schemeClr val="dk1"/>
              </a:buClr>
              <a:buSzPts val="3200"/>
              <a:buAutoNum type="arabicPeriod"/>
            </a:pPr>
            <a:r>
              <a:rPr lang="en-US" sz="3200">
                <a:latin typeface="Times New Roman"/>
                <a:ea typeface="Times New Roman"/>
                <a:cs typeface="Times New Roman"/>
                <a:sym typeface="Times New Roman"/>
              </a:rPr>
              <a:t>val = attribute</a:t>
            </a:r>
            <a:endParaRPr/>
          </a:p>
          <a:p>
            <a:pPr indent="0" lvl="0" marL="0" rtl="0" algn="just">
              <a:lnSpc>
                <a:spcPct val="90000"/>
              </a:lnSpc>
              <a:spcBef>
                <a:spcPts val="1000"/>
              </a:spcBef>
              <a:spcAft>
                <a:spcPts val="0"/>
              </a:spcAft>
              <a:buClr>
                <a:schemeClr val="dk1"/>
              </a:buClr>
              <a:buSzPts val="3200"/>
              <a:buNone/>
            </a:pPr>
            <a:r>
              <a:rPr lang="en-US" sz="3200">
                <a:latin typeface="Times New Roman"/>
                <a:ea typeface="Times New Roman"/>
                <a:cs typeface="Times New Roman"/>
                <a:sym typeface="Times New Roman"/>
              </a:rPr>
              <a:t>       E = Non-terminal, then node E is represented as E.val</a:t>
            </a:r>
            <a:endParaRPr sz="3200">
              <a:latin typeface="Times New Roman"/>
              <a:ea typeface="Times New Roman"/>
              <a:cs typeface="Times New Roman"/>
              <a:sym typeface="Times New Roman"/>
            </a:endParaRPr>
          </a:p>
          <a:p>
            <a:pPr indent="-514350" lvl="0" marL="514350" rtl="0" algn="just">
              <a:lnSpc>
                <a:spcPct val="90000"/>
              </a:lnSpc>
              <a:spcBef>
                <a:spcPts val="1000"/>
              </a:spcBef>
              <a:spcAft>
                <a:spcPts val="0"/>
              </a:spcAft>
              <a:buClr>
                <a:schemeClr val="dk1"/>
              </a:buClr>
              <a:buSzPts val="3200"/>
              <a:buAutoNum type="arabicPeriod" startAt="2"/>
            </a:pPr>
            <a:r>
              <a:rPr lang="en-US" sz="3200">
                <a:latin typeface="Times New Roman"/>
                <a:ea typeface="Times New Roman"/>
                <a:cs typeface="Times New Roman"/>
                <a:sym typeface="Times New Roman"/>
              </a:rPr>
              <a:t>lexval = attribute</a:t>
            </a:r>
            <a:endParaRPr/>
          </a:p>
          <a:p>
            <a:pPr indent="0" lvl="0" marL="0" rtl="0" algn="just">
              <a:lnSpc>
                <a:spcPct val="90000"/>
              </a:lnSpc>
              <a:spcBef>
                <a:spcPts val="1000"/>
              </a:spcBef>
              <a:spcAft>
                <a:spcPts val="0"/>
              </a:spcAft>
              <a:buClr>
                <a:schemeClr val="dk1"/>
              </a:buClr>
              <a:buSzPts val="3200"/>
              <a:buNone/>
            </a:pPr>
            <a:r>
              <a:rPr lang="en-US" sz="3200">
                <a:latin typeface="Times New Roman"/>
                <a:ea typeface="Times New Roman"/>
                <a:cs typeface="Times New Roman"/>
                <a:sym typeface="Times New Roman"/>
              </a:rPr>
              <a:t>       digit = Terminal, the node digit represented as digit.lexval</a:t>
            </a:r>
            <a:endParaRPr sz="3200">
              <a:latin typeface="Times New Roman"/>
              <a:ea typeface="Times New Roman"/>
              <a:cs typeface="Times New Roman"/>
              <a:sym typeface="Times New Roman"/>
            </a:endParaRPr>
          </a:p>
          <a:p>
            <a:pPr indent="-336550" lvl="0" marL="51435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7"/>
          <p:cNvSpPr txBox="1"/>
          <p:nvPr>
            <p:ph type="title"/>
          </p:nvPr>
        </p:nvSpPr>
        <p:spPr>
          <a:xfrm>
            <a:off x="176981" y="365126"/>
            <a:ext cx="11176819" cy="873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Attributes</a:t>
            </a:r>
            <a:endParaRPr/>
          </a:p>
        </p:txBody>
      </p:sp>
      <p:sp>
        <p:nvSpPr>
          <p:cNvPr id="242" name="Google Shape;242;p37"/>
          <p:cNvSpPr txBox="1"/>
          <p:nvPr>
            <p:ph idx="1" type="body"/>
          </p:nvPr>
        </p:nvSpPr>
        <p:spPr>
          <a:xfrm>
            <a:off x="176981" y="1637071"/>
            <a:ext cx="11176819" cy="453989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Typical Examples of an attributes are </a:t>
            </a:r>
            <a:endParaRPr/>
          </a:p>
          <a:p>
            <a:pPr indent="-514350" lvl="0" marL="514350" rtl="0" algn="l">
              <a:lnSpc>
                <a:spcPct val="90000"/>
              </a:lnSpc>
              <a:spcBef>
                <a:spcPts val="1000"/>
              </a:spcBef>
              <a:spcAft>
                <a:spcPts val="0"/>
              </a:spcAft>
              <a:buClr>
                <a:schemeClr val="dk1"/>
              </a:buClr>
              <a:buSzPts val="2800"/>
              <a:buAutoNum type="arabicPeriod"/>
            </a:pPr>
            <a:r>
              <a:rPr lang="en-US"/>
              <a:t>Data types associated with variables such as int, float, char.</a:t>
            </a:r>
            <a:endParaRPr/>
          </a:p>
          <a:p>
            <a:pPr indent="-514350" lvl="0" marL="514350" rtl="0" algn="l">
              <a:lnSpc>
                <a:spcPct val="90000"/>
              </a:lnSpc>
              <a:spcBef>
                <a:spcPts val="1000"/>
              </a:spcBef>
              <a:spcAft>
                <a:spcPts val="0"/>
              </a:spcAft>
              <a:buClr>
                <a:schemeClr val="dk1"/>
              </a:buClr>
              <a:buSzPts val="2800"/>
              <a:buAutoNum type="arabicPeriod"/>
            </a:pPr>
            <a:r>
              <a:rPr lang="en-US"/>
              <a:t>Value of an expression   e.g.   E.val</a:t>
            </a:r>
            <a:endParaRPr/>
          </a:p>
          <a:p>
            <a:pPr indent="-514350" lvl="0" marL="514350" rtl="0" algn="l">
              <a:lnSpc>
                <a:spcPct val="90000"/>
              </a:lnSpc>
              <a:spcBef>
                <a:spcPts val="1000"/>
              </a:spcBef>
              <a:spcAft>
                <a:spcPts val="0"/>
              </a:spcAft>
              <a:buClr>
                <a:schemeClr val="dk1"/>
              </a:buClr>
              <a:buSzPts val="2800"/>
              <a:buAutoNum type="arabicPeriod"/>
            </a:pPr>
            <a:r>
              <a:rPr lang="en-US"/>
              <a:t>The location of a variable in memory</a:t>
            </a:r>
            <a:endParaRPr/>
          </a:p>
          <a:p>
            <a:pPr indent="-514350" lvl="0" marL="514350" rtl="0" algn="l">
              <a:lnSpc>
                <a:spcPct val="90000"/>
              </a:lnSpc>
              <a:spcBef>
                <a:spcPts val="1000"/>
              </a:spcBef>
              <a:spcAft>
                <a:spcPts val="0"/>
              </a:spcAft>
              <a:buClr>
                <a:schemeClr val="dk1"/>
              </a:buClr>
              <a:buSzPts val="2800"/>
              <a:buAutoNum type="arabicPeriod"/>
            </a:pPr>
            <a:r>
              <a:rPr lang="en-US"/>
              <a:t> The object code of a function or procedure.</a:t>
            </a:r>
            <a:endParaRPr/>
          </a:p>
          <a:p>
            <a:pPr indent="-514350" lvl="0" marL="514350" rtl="0" algn="l">
              <a:lnSpc>
                <a:spcPct val="90000"/>
              </a:lnSpc>
              <a:spcBef>
                <a:spcPts val="1000"/>
              </a:spcBef>
              <a:spcAft>
                <a:spcPts val="0"/>
              </a:spcAft>
              <a:buClr>
                <a:schemeClr val="dk1"/>
              </a:buClr>
              <a:buSzPts val="2800"/>
              <a:buAutoNum type="arabicPeriod"/>
            </a:pPr>
            <a:r>
              <a:rPr lang="en-US"/>
              <a:t>The number of significant digits in a number and so on.</a:t>
            </a:r>
            <a:endParaRPr/>
          </a:p>
          <a:p>
            <a:pPr indent="-336550" lvl="0" marL="51435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8"/>
          <p:cNvSpPr txBox="1"/>
          <p:nvPr>
            <p:ph type="title"/>
          </p:nvPr>
        </p:nvSpPr>
        <p:spPr>
          <a:xfrm>
            <a:off x="206477" y="365125"/>
            <a:ext cx="11147323" cy="8589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Types</a:t>
            </a:r>
            <a:endParaRPr/>
          </a:p>
        </p:txBody>
      </p:sp>
      <p:sp>
        <p:nvSpPr>
          <p:cNvPr id="248" name="Google Shape;248;p38"/>
          <p:cNvSpPr txBox="1"/>
          <p:nvPr>
            <p:ph idx="1" type="body"/>
          </p:nvPr>
        </p:nvSpPr>
        <p:spPr>
          <a:xfrm>
            <a:off x="206477" y="1224116"/>
            <a:ext cx="11147323" cy="4952847"/>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The attribute value for a node in the parse tree may depends on information from its children nodes or its sibling nodes or parent nodes.</a:t>
            </a:r>
            <a:endParaRPr/>
          </a:p>
          <a:p>
            <a:pPr indent="-228600" lvl="0" marL="228600" rtl="0" algn="just">
              <a:lnSpc>
                <a:spcPct val="90000"/>
              </a:lnSpc>
              <a:spcBef>
                <a:spcPts val="1000"/>
              </a:spcBef>
              <a:spcAft>
                <a:spcPts val="0"/>
              </a:spcAft>
              <a:buClr>
                <a:schemeClr val="dk1"/>
              </a:buClr>
              <a:buSzPts val="2800"/>
              <a:buChar char="•"/>
            </a:pPr>
            <a:r>
              <a:rPr lang="en-US"/>
              <a:t>There are 2 types of attributes for the non terminals are</a:t>
            </a:r>
            <a:endParaRPr/>
          </a:p>
          <a:p>
            <a:pPr indent="-514350" lvl="0" marL="514350" rtl="0" algn="just">
              <a:lnSpc>
                <a:spcPct val="90000"/>
              </a:lnSpc>
              <a:spcBef>
                <a:spcPts val="1000"/>
              </a:spcBef>
              <a:spcAft>
                <a:spcPts val="0"/>
              </a:spcAft>
              <a:buClr>
                <a:schemeClr val="dk1"/>
              </a:buClr>
              <a:buSzPts val="2800"/>
              <a:buAutoNum type="arabicPeriod"/>
            </a:pPr>
            <a:r>
              <a:rPr lang="en-US"/>
              <a:t>Synthesized attribute ( S-attributes )</a:t>
            </a:r>
            <a:endParaRPr/>
          </a:p>
          <a:p>
            <a:pPr indent="-514350" lvl="0" marL="514350" rtl="0" algn="just">
              <a:lnSpc>
                <a:spcPct val="90000"/>
              </a:lnSpc>
              <a:spcBef>
                <a:spcPts val="1000"/>
              </a:spcBef>
              <a:spcAft>
                <a:spcPts val="0"/>
              </a:spcAft>
              <a:buClr>
                <a:schemeClr val="dk1"/>
              </a:buClr>
              <a:buSzPts val="2800"/>
              <a:buAutoNum type="arabicPeriod"/>
            </a:pPr>
            <a:r>
              <a:rPr lang="en-US"/>
              <a:t>Inherited attribute (I – attribute)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2" name="Shape 252"/>
        <p:cNvGrpSpPr/>
        <p:nvPr/>
      </p:nvGrpSpPr>
      <p:grpSpPr>
        <a:xfrm>
          <a:off x="0" y="0"/>
          <a:ext cx="0" cy="0"/>
          <a:chOff x="0" y="0"/>
          <a:chExt cx="0" cy="0"/>
        </a:xfrm>
      </p:grpSpPr>
      <p:sp>
        <p:nvSpPr>
          <p:cNvPr id="253" name="Google Shape;253;p39"/>
          <p:cNvSpPr txBox="1"/>
          <p:nvPr>
            <p:ph type="title"/>
          </p:nvPr>
        </p:nvSpPr>
        <p:spPr>
          <a:xfrm>
            <a:off x="265471" y="147485"/>
            <a:ext cx="6386052" cy="87015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Times New Roman"/>
              <a:buNone/>
            </a:pPr>
            <a:r>
              <a:rPr b="1" lang="en-US" sz="3200">
                <a:latin typeface="Times New Roman"/>
                <a:ea typeface="Times New Roman"/>
                <a:cs typeface="Times New Roman"/>
                <a:sym typeface="Times New Roman"/>
              </a:rPr>
              <a:t>Synthesized attributes</a:t>
            </a:r>
            <a:endParaRPr b="1" sz="3200">
              <a:latin typeface="Times New Roman"/>
              <a:ea typeface="Times New Roman"/>
              <a:cs typeface="Times New Roman"/>
              <a:sym typeface="Times New Roman"/>
            </a:endParaRPr>
          </a:p>
        </p:txBody>
      </p:sp>
      <p:sp>
        <p:nvSpPr>
          <p:cNvPr id="254" name="Google Shape;254;p39"/>
          <p:cNvSpPr txBox="1"/>
          <p:nvPr>
            <p:ph idx="1" type="body"/>
          </p:nvPr>
        </p:nvSpPr>
        <p:spPr>
          <a:xfrm>
            <a:off x="265470" y="1253613"/>
            <a:ext cx="5830530" cy="472769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b="0" i="0" lang="en-US" u="none" strike="noStrike">
                <a:latin typeface="Times New Roman"/>
                <a:ea typeface="Times New Roman"/>
                <a:cs typeface="Times New Roman"/>
                <a:sym typeface="Times New Roman"/>
              </a:rPr>
              <a:t>A </a:t>
            </a:r>
            <a:r>
              <a:rPr b="0" i="1" lang="en-US" u="none" strike="noStrike">
                <a:latin typeface="Times New Roman"/>
                <a:ea typeface="Times New Roman"/>
                <a:cs typeface="Times New Roman"/>
                <a:sym typeface="Times New Roman"/>
              </a:rPr>
              <a:t>synthesized attribute</a:t>
            </a:r>
            <a:r>
              <a:rPr lang="en-US">
                <a:latin typeface="Times New Roman"/>
                <a:ea typeface="Times New Roman"/>
                <a:cs typeface="Times New Roman"/>
                <a:sym typeface="Times New Roman"/>
              </a:rPr>
              <a:t>: the attribute value of a non-terminal A derived from the attribute values of its children or itself.</a:t>
            </a:r>
            <a:endParaRPr b="0" i="0" u="none" strike="noStrike">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The attribute values of </a:t>
            </a:r>
            <a:r>
              <a:rPr b="0" i="0" lang="en-US" u="none" strike="noStrike">
                <a:latin typeface="Times New Roman"/>
                <a:ea typeface="Times New Roman"/>
                <a:cs typeface="Times New Roman"/>
                <a:sym typeface="Times New Roman"/>
              </a:rPr>
              <a:t>synthesized attribute</a:t>
            </a:r>
            <a:r>
              <a:rPr lang="en-US">
                <a:latin typeface="Times New Roman"/>
                <a:ea typeface="Times New Roman"/>
                <a:cs typeface="Times New Roman"/>
                <a:sym typeface="Times New Roman"/>
              </a:rPr>
              <a:t>s are passed up from children to the parent node in bottom-up manner.</a:t>
            </a:r>
            <a:endParaRPr sz="2000"/>
          </a:p>
        </p:txBody>
      </p:sp>
      <p:pic>
        <p:nvPicPr>
          <p:cNvPr id="255" name="Google Shape;255;p39"/>
          <p:cNvPicPr preferRelativeResize="0"/>
          <p:nvPr/>
        </p:nvPicPr>
        <p:blipFill rotWithShape="1">
          <a:blip r:embed="rId3">
            <a:alphaModFix/>
          </a:blip>
          <a:srcRect b="0" l="0" r="0" t="0"/>
          <a:stretch/>
        </p:blipFill>
        <p:spPr>
          <a:xfrm>
            <a:off x="6096000" y="1017638"/>
            <a:ext cx="5830530" cy="4321277"/>
          </a:xfrm>
          <a:prstGeom prst="rect">
            <a:avLst/>
          </a:prstGeom>
          <a:noFill/>
          <a:ln>
            <a:noFill/>
          </a:ln>
        </p:spPr>
      </p:pic>
      <p:grpSp>
        <p:nvGrpSpPr>
          <p:cNvPr id="256" name="Google Shape;256;p39"/>
          <p:cNvGrpSpPr/>
          <p:nvPr/>
        </p:nvGrpSpPr>
        <p:grpSpPr>
          <a:xfrm>
            <a:off x="-5025" y="6737718"/>
            <a:ext cx="12207200" cy="123363"/>
            <a:chOff x="-5025" y="6737718"/>
            <a:chExt cx="12207200" cy="123363"/>
          </a:xfrm>
        </p:grpSpPr>
        <p:sp>
          <p:nvSpPr>
            <p:cNvPr id="257" name="Google Shape;257;p39"/>
            <p:cNvSpPr/>
            <p:nvPr/>
          </p:nvSpPr>
          <p:spPr>
            <a:xfrm flipH="1" rot="5400000">
              <a:off x="6036894" y="695800"/>
              <a:ext cx="123362" cy="12207199"/>
            </a:xfrm>
            <a:prstGeom prst="rect">
              <a:avLst/>
            </a:prstGeom>
            <a:gradFill>
              <a:gsLst>
                <a:gs pos="0">
                  <a:schemeClr val="accent5"/>
                </a:gs>
                <a:gs pos="100000">
                  <a:schemeClr val="accent2"/>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8" name="Google Shape;258;p39"/>
            <p:cNvSpPr/>
            <p:nvPr/>
          </p:nvSpPr>
          <p:spPr>
            <a:xfrm rot="-5400000">
              <a:off x="9176406" y="3835311"/>
              <a:ext cx="123362" cy="5928176"/>
            </a:xfrm>
            <a:prstGeom prst="rect">
              <a:avLst/>
            </a:prstGeom>
            <a:gradFill>
              <a:gsLst>
                <a:gs pos="0">
                  <a:srgbClr val="A02B93">
                    <a:alpha val="0"/>
                  </a:srgbClr>
                </a:gs>
                <a:gs pos="19000">
                  <a:srgbClr val="A02B93">
                    <a:alpha val="0"/>
                  </a:srgbClr>
                </a:gs>
                <a:gs pos="100000">
                  <a:srgbClr val="D86CCC"/>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2" name="Shape 262"/>
        <p:cNvGrpSpPr/>
        <p:nvPr/>
      </p:nvGrpSpPr>
      <p:grpSpPr>
        <a:xfrm>
          <a:off x="0" y="0"/>
          <a:ext cx="0" cy="0"/>
          <a:chOff x="0" y="0"/>
          <a:chExt cx="0" cy="0"/>
        </a:xfrm>
      </p:grpSpPr>
      <p:sp>
        <p:nvSpPr>
          <p:cNvPr id="263" name="Google Shape;263;p40"/>
          <p:cNvSpPr txBox="1"/>
          <p:nvPr>
            <p:ph type="title"/>
          </p:nvPr>
        </p:nvSpPr>
        <p:spPr>
          <a:xfrm>
            <a:off x="147482" y="176984"/>
            <a:ext cx="5356453" cy="76691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b="1" lang="en-US" sz="3200"/>
              <a:t>Inherited- attribute</a:t>
            </a:r>
            <a:endParaRPr b="1" sz="3200"/>
          </a:p>
        </p:txBody>
      </p:sp>
      <p:sp>
        <p:nvSpPr>
          <p:cNvPr id="264" name="Google Shape;264;p40"/>
          <p:cNvSpPr txBox="1"/>
          <p:nvPr>
            <p:ph idx="1" type="body"/>
          </p:nvPr>
        </p:nvSpPr>
        <p:spPr>
          <a:xfrm>
            <a:off x="117986" y="929148"/>
            <a:ext cx="5820696" cy="566338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b="0" i="0" lang="en-US" sz="2400" u="none" strike="noStrike">
                <a:latin typeface="Times New Roman"/>
                <a:ea typeface="Times New Roman"/>
                <a:cs typeface="Times New Roman"/>
                <a:sym typeface="Times New Roman"/>
              </a:rPr>
              <a:t>An </a:t>
            </a:r>
            <a:r>
              <a:rPr b="0" i="1" lang="en-US" sz="2400" u="none" strike="noStrike">
                <a:latin typeface="Times New Roman"/>
                <a:ea typeface="Times New Roman"/>
                <a:cs typeface="Times New Roman"/>
                <a:sym typeface="Times New Roman"/>
              </a:rPr>
              <a:t>inherited attribute: </a:t>
            </a:r>
            <a:r>
              <a:rPr b="0" lang="en-US" sz="2400" u="none" strike="noStrike">
                <a:latin typeface="Times New Roman"/>
                <a:ea typeface="Times New Roman"/>
                <a:cs typeface="Times New Roman"/>
                <a:sym typeface="Times New Roman"/>
              </a:rPr>
              <a:t>the attribute value of a non-terminal A derived from the attribute values of its siblings or from its parents or itself.</a:t>
            </a:r>
            <a:endParaRPr/>
          </a:p>
          <a:p>
            <a:pPr indent="-228600" lvl="0" marL="228600" rtl="0" algn="just">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The attribute values of</a:t>
            </a:r>
            <a:r>
              <a:rPr b="0" i="0" lang="en-US" sz="2400" u="none" strike="noStrike">
                <a:latin typeface="Times New Roman"/>
                <a:ea typeface="Times New Roman"/>
                <a:cs typeface="Times New Roman"/>
                <a:sym typeface="Times New Roman"/>
              </a:rPr>
              <a:t> inherited attributes are passed from siblings or from parent to childreb in top-down manner.</a:t>
            </a:r>
            <a:endParaRPr/>
          </a:p>
          <a:p>
            <a:pPr indent="-228600" lvl="0" marL="228600" rtl="0" algn="just">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Example :  D -&gt; T V</a:t>
            </a:r>
            <a:endParaRPr/>
          </a:p>
          <a:p>
            <a:pPr indent="0" lvl="0" marL="0" rtl="0" algn="l">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Single declaration :-  D = int Sum</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Terminals can have synthesized attributes but not inherited attributes.</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 Attributes for a terminals have lexical values that are supplied by the lexical analyzers.</a:t>
            </a:r>
            <a:endParaRPr/>
          </a:p>
          <a:p>
            <a:pPr indent="0" lvl="0" marL="0" rtl="0" algn="l">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t/>
            </a:r>
            <a:endParaRPr sz="2000"/>
          </a:p>
        </p:txBody>
      </p:sp>
      <p:pic>
        <p:nvPicPr>
          <p:cNvPr id="265" name="Google Shape;265;p40"/>
          <p:cNvPicPr preferRelativeResize="0"/>
          <p:nvPr/>
        </p:nvPicPr>
        <p:blipFill rotWithShape="1">
          <a:blip r:embed="rId3">
            <a:alphaModFix/>
          </a:blip>
          <a:srcRect b="0" l="0" r="0" t="0"/>
          <a:stretch/>
        </p:blipFill>
        <p:spPr>
          <a:xfrm rot="-5400000">
            <a:off x="6788410" y="853021"/>
            <a:ext cx="4435878" cy="5820696"/>
          </a:xfrm>
          <a:prstGeom prst="rect">
            <a:avLst/>
          </a:prstGeom>
          <a:noFill/>
          <a:ln>
            <a:noFill/>
          </a:ln>
        </p:spPr>
      </p:pic>
      <p:grpSp>
        <p:nvGrpSpPr>
          <p:cNvPr id="266" name="Google Shape;266;p40"/>
          <p:cNvGrpSpPr/>
          <p:nvPr/>
        </p:nvGrpSpPr>
        <p:grpSpPr>
          <a:xfrm>
            <a:off x="-5025" y="6737718"/>
            <a:ext cx="12207200" cy="123363"/>
            <a:chOff x="-5025" y="6737718"/>
            <a:chExt cx="12207200" cy="123363"/>
          </a:xfrm>
        </p:grpSpPr>
        <p:sp>
          <p:nvSpPr>
            <p:cNvPr id="267" name="Google Shape;267;p40"/>
            <p:cNvSpPr/>
            <p:nvPr/>
          </p:nvSpPr>
          <p:spPr>
            <a:xfrm flipH="1" rot="5400000">
              <a:off x="6036894" y="695800"/>
              <a:ext cx="123362" cy="12207199"/>
            </a:xfrm>
            <a:prstGeom prst="rect">
              <a:avLst/>
            </a:prstGeom>
            <a:gradFill>
              <a:gsLst>
                <a:gs pos="0">
                  <a:schemeClr val="accent5"/>
                </a:gs>
                <a:gs pos="100000">
                  <a:schemeClr val="accent2"/>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8" name="Google Shape;268;p40"/>
            <p:cNvSpPr/>
            <p:nvPr/>
          </p:nvSpPr>
          <p:spPr>
            <a:xfrm rot="-5400000">
              <a:off x="9176406" y="3835311"/>
              <a:ext cx="123362" cy="5928176"/>
            </a:xfrm>
            <a:prstGeom prst="rect">
              <a:avLst/>
            </a:prstGeom>
            <a:gradFill>
              <a:gsLst>
                <a:gs pos="0">
                  <a:srgbClr val="A02B93">
                    <a:alpha val="0"/>
                  </a:srgbClr>
                </a:gs>
                <a:gs pos="19000">
                  <a:srgbClr val="A02B93">
                    <a:alpha val="0"/>
                  </a:srgbClr>
                </a:gs>
                <a:gs pos="100000">
                  <a:srgbClr val="D86CCC"/>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1"/>
          <p:cNvSpPr txBox="1"/>
          <p:nvPr>
            <p:ph type="title"/>
          </p:nvPr>
        </p:nvSpPr>
        <p:spPr>
          <a:xfrm>
            <a:off x="285135" y="427704"/>
            <a:ext cx="11621729" cy="10176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Annotated Parse tree</a:t>
            </a:r>
            <a:endParaRPr b="1"/>
          </a:p>
        </p:txBody>
      </p:sp>
      <p:sp>
        <p:nvSpPr>
          <p:cNvPr id="274" name="Google Shape;274;p41"/>
          <p:cNvSpPr txBox="1"/>
          <p:nvPr>
            <p:ph idx="1" type="body"/>
          </p:nvPr>
        </p:nvSpPr>
        <p:spPr>
          <a:xfrm>
            <a:off x="235973" y="1601505"/>
            <a:ext cx="11621729" cy="3654989"/>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A parse tree showing the attribute values of each node is called annotated parse tree.</a:t>
            </a:r>
            <a:endParaRPr/>
          </a:p>
          <a:p>
            <a:pPr indent="-228600" lvl="0" marL="228600" rtl="0" algn="just">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The terminals in annotated parse tree can have only synthesized attribute values and are obtained directly from the lexical analyzer. </a:t>
            </a:r>
            <a:endParaRPr/>
          </a:p>
          <a:p>
            <a:pPr indent="0" lvl="0" marL="0" rtl="0" algn="just">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2"/>
          <p:cNvSpPr txBox="1"/>
          <p:nvPr>
            <p:ph type="title"/>
          </p:nvPr>
        </p:nvSpPr>
        <p:spPr>
          <a:xfrm>
            <a:off x="132735" y="221227"/>
            <a:ext cx="11769213" cy="11651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Times New Roman"/>
              <a:buNone/>
            </a:pPr>
            <a:r>
              <a:rPr b="1" lang="en-US" sz="3200">
                <a:latin typeface="Times New Roman"/>
                <a:ea typeface="Times New Roman"/>
                <a:cs typeface="Times New Roman"/>
                <a:sym typeface="Times New Roman"/>
              </a:rPr>
              <a:t>1. Write the SDD for a simple Desk calculator and show annotated parse tree for expression  3 * 5 + 4 n</a:t>
            </a:r>
            <a:endParaRPr/>
          </a:p>
        </p:txBody>
      </p:sp>
      <p:pic>
        <p:nvPicPr>
          <p:cNvPr id="280" name="Google Shape;280;p42"/>
          <p:cNvPicPr preferRelativeResize="0"/>
          <p:nvPr>
            <p:ph idx="1" type="body"/>
          </p:nvPr>
        </p:nvPicPr>
        <p:blipFill rotWithShape="1">
          <a:blip r:embed="rId3">
            <a:alphaModFix/>
          </a:blip>
          <a:srcRect b="0" l="0" r="0" t="0"/>
          <a:stretch/>
        </p:blipFill>
        <p:spPr>
          <a:xfrm>
            <a:off x="648929" y="1287908"/>
            <a:ext cx="9453716" cy="520138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4" name="Shape 284"/>
        <p:cNvGrpSpPr/>
        <p:nvPr/>
      </p:nvGrpSpPr>
      <p:grpSpPr>
        <a:xfrm>
          <a:off x="0" y="0"/>
          <a:ext cx="0" cy="0"/>
          <a:chOff x="0" y="0"/>
          <a:chExt cx="0" cy="0"/>
        </a:xfrm>
      </p:grpSpPr>
      <p:sp>
        <p:nvSpPr>
          <p:cNvPr id="285" name="Google Shape;285;p4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 name="Google Shape;286;p43"/>
          <p:cNvSpPr/>
          <p:nvPr/>
        </p:nvSpPr>
        <p:spPr>
          <a:xfrm flipH="1" rot="-2700000">
            <a:off x="-376156" y="-253670"/>
            <a:ext cx="1827638" cy="1376989"/>
          </a:xfrm>
          <a:custGeom>
            <a:rect b="b" l="l" r="r" t="t"/>
            <a:pathLst>
              <a:path extrusionOk="0" h="1376989" w="1827638">
                <a:moveTo>
                  <a:pt x="0" y="987379"/>
                </a:moveTo>
                <a:lnTo>
                  <a:pt x="987379" y="0"/>
                </a:lnTo>
                <a:lnTo>
                  <a:pt x="1827638" y="840260"/>
                </a:lnTo>
                <a:lnTo>
                  <a:pt x="1827638" y="1376989"/>
                </a:lnTo>
                <a:lnTo>
                  <a:pt x="0" y="1376989"/>
                </a:lnTo>
                <a:close/>
              </a:path>
            </a:pathLst>
          </a:cu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7" name="Google Shape;287;p43"/>
          <p:cNvSpPr/>
          <p:nvPr/>
        </p:nvSpPr>
        <p:spPr>
          <a:xfrm flipH="1" rot="-2700000">
            <a:off x="891641" y="422146"/>
            <a:ext cx="645368" cy="64536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8" name="Google Shape;288;p43"/>
          <p:cNvSpPr/>
          <p:nvPr/>
        </p:nvSpPr>
        <p:spPr>
          <a:xfrm flipH="1" rot="-2700000">
            <a:off x="10043482" y="655140"/>
            <a:ext cx="687472" cy="687472"/>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9" name="Google Shape;289;p43"/>
          <p:cNvSpPr/>
          <p:nvPr/>
        </p:nvSpPr>
        <p:spPr>
          <a:xfrm flipH="1" rot="10800000">
            <a:off x="9356643" y="0"/>
            <a:ext cx="2835357" cy="1480837"/>
          </a:xfrm>
          <a:custGeom>
            <a:rect b="b" l="l" r="r" t="t"/>
            <a:pathLst>
              <a:path extrusionOk="0" h="1480837" w="2835357">
                <a:moveTo>
                  <a:pt x="2835357" y="1480837"/>
                </a:moveTo>
                <a:lnTo>
                  <a:pt x="0" y="1480837"/>
                </a:lnTo>
                <a:lnTo>
                  <a:pt x="1552727" y="0"/>
                </a:lnTo>
                <a:lnTo>
                  <a:pt x="2835357" y="1223245"/>
                </a:lnTo>
                <a:close/>
              </a:path>
            </a:pathLst>
          </a:cu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0" name="Google Shape;290;p43"/>
          <p:cNvSpPr/>
          <p:nvPr/>
        </p:nvSpPr>
        <p:spPr>
          <a:xfrm flipH="1">
            <a:off x="7976344" y="6115501"/>
            <a:ext cx="1494513" cy="742499"/>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91" name="Google Shape;291;p43"/>
          <p:cNvPicPr preferRelativeResize="0"/>
          <p:nvPr>
            <p:ph idx="1" type="body"/>
          </p:nvPr>
        </p:nvPicPr>
        <p:blipFill rotWithShape="1">
          <a:blip r:embed="rId3">
            <a:alphaModFix/>
          </a:blip>
          <a:srcRect b="0" l="0" r="0" t="0"/>
          <a:stretch/>
        </p:blipFill>
        <p:spPr>
          <a:xfrm>
            <a:off x="1843548" y="394819"/>
            <a:ext cx="8156418" cy="5819714"/>
          </a:xfrm>
          <a:prstGeom prst="rect">
            <a:avLst/>
          </a:prstGeom>
          <a:noFill/>
          <a:ln>
            <a:noFill/>
          </a:ln>
        </p:spPr>
      </p:pic>
      <p:sp>
        <p:nvSpPr>
          <p:cNvPr id="292" name="Google Shape;292;p43"/>
          <p:cNvSpPr/>
          <p:nvPr/>
        </p:nvSpPr>
        <p:spPr>
          <a:xfrm flipH="1">
            <a:off x="7604080" y="6453143"/>
            <a:ext cx="814903" cy="404857"/>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4"/>
          <p:cNvSpPr txBox="1"/>
          <p:nvPr>
            <p:ph type="title"/>
          </p:nvPr>
        </p:nvSpPr>
        <p:spPr>
          <a:xfrm>
            <a:off x="103239" y="162233"/>
            <a:ext cx="11901948" cy="152845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sz="4400">
                <a:latin typeface="Times New Roman"/>
                <a:ea typeface="Times New Roman"/>
                <a:cs typeface="Times New Roman"/>
                <a:sym typeface="Times New Roman"/>
              </a:rPr>
              <a:t>2. </a:t>
            </a:r>
            <a:r>
              <a:rPr b="1" lang="en-US" sz="3600">
                <a:latin typeface="Times New Roman"/>
                <a:ea typeface="Times New Roman"/>
                <a:cs typeface="Times New Roman"/>
                <a:sym typeface="Times New Roman"/>
              </a:rPr>
              <a:t>Write the SDD for a simple Desk calculator and show annotated parse tree for expression( 3 + 4) * ( 5 + 6) n</a:t>
            </a:r>
            <a:endParaRPr sz="3600"/>
          </a:p>
        </p:txBody>
      </p:sp>
      <p:sp>
        <p:nvSpPr>
          <p:cNvPr id="298" name="Google Shape;298;p44"/>
          <p:cNvSpPr txBox="1"/>
          <p:nvPr>
            <p:ph idx="1" type="body"/>
          </p:nvPr>
        </p:nvSpPr>
        <p:spPr>
          <a:xfrm>
            <a:off x="186813" y="1690689"/>
            <a:ext cx="11166987" cy="448627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Given grammar is </a:t>
            </a:r>
            <a:endParaRPr/>
          </a:p>
          <a:p>
            <a:pPr indent="0" lvl="0" marL="0" rtl="0" algn="l">
              <a:lnSpc>
                <a:spcPct val="90000"/>
              </a:lnSpc>
              <a:spcBef>
                <a:spcPts val="1000"/>
              </a:spcBef>
              <a:spcAft>
                <a:spcPts val="0"/>
              </a:spcAft>
              <a:buClr>
                <a:schemeClr val="dk1"/>
              </a:buClr>
              <a:buSzPts val="2800"/>
              <a:buNone/>
            </a:pPr>
            <a:r>
              <a:rPr lang="en-US"/>
              <a:t> L -&gt; En</a:t>
            </a:r>
            <a:endParaRPr/>
          </a:p>
          <a:p>
            <a:pPr indent="0" lvl="0" marL="0" rtl="0" algn="l">
              <a:lnSpc>
                <a:spcPct val="90000"/>
              </a:lnSpc>
              <a:spcBef>
                <a:spcPts val="1000"/>
              </a:spcBef>
              <a:spcAft>
                <a:spcPts val="0"/>
              </a:spcAft>
              <a:buClr>
                <a:schemeClr val="dk1"/>
              </a:buClr>
              <a:buSzPts val="2800"/>
              <a:buNone/>
            </a:pPr>
            <a:r>
              <a:rPr lang="en-US"/>
              <a:t> E-&gt; E + T | E – T | T</a:t>
            </a:r>
            <a:endParaRPr/>
          </a:p>
          <a:p>
            <a:pPr indent="0" lvl="0" marL="0" rtl="0" algn="l">
              <a:lnSpc>
                <a:spcPct val="90000"/>
              </a:lnSpc>
              <a:spcBef>
                <a:spcPts val="1000"/>
              </a:spcBef>
              <a:spcAft>
                <a:spcPts val="0"/>
              </a:spcAft>
              <a:buClr>
                <a:schemeClr val="dk1"/>
              </a:buClr>
              <a:buSzPts val="2800"/>
              <a:buNone/>
            </a:pPr>
            <a:r>
              <a:rPr lang="en-US"/>
              <a:t> T -&gt; T * F | T / F | F</a:t>
            </a:r>
            <a:endParaRPr/>
          </a:p>
          <a:p>
            <a:pPr indent="0" lvl="0" marL="0" rtl="0" algn="l">
              <a:lnSpc>
                <a:spcPct val="90000"/>
              </a:lnSpc>
              <a:spcBef>
                <a:spcPts val="1000"/>
              </a:spcBef>
              <a:spcAft>
                <a:spcPts val="0"/>
              </a:spcAft>
              <a:buClr>
                <a:schemeClr val="dk1"/>
              </a:buClr>
              <a:buSzPts val="2800"/>
              <a:buNone/>
            </a:pPr>
            <a:r>
              <a:rPr lang="en-US"/>
              <a:t> F -&gt; ( E ) | digit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45"/>
          <p:cNvPicPr preferRelativeResize="0"/>
          <p:nvPr>
            <p:ph idx="1" type="body"/>
          </p:nvPr>
        </p:nvPicPr>
        <p:blipFill rotWithShape="1">
          <a:blip r:embed="rId3">
            <a:alphaModFix/>
          </a:blip>
          <a:srcRect b="0" l="0" r="0" t="0"/>
          <a:stretch/>
        </p:blipFill>
        <p:spPr>
          <a:xfrm rot="-5400000">
            <a:off x="2809172" y="-2476232"/>
            <a:ext cx="6510313" cy="119221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46"/>
          <p:cNvPicPr preferRelativeResize="0"/>
          <p:nvPr/>
        </p:nvPicPr>
        <p:blipFill rotWithShape="1">
          <a:blip r:embed="rId3">
            <a:alphaModFix/>
          </a:blip>
          <a:srcRect b="0" l="0" r="0" t="0"/>
          <a:stretch/>
        </p:blipFill>
        <p:spPr>
          <a:xfrm rot="-5400000">
            <a:off x="2551847" y="-1820833"/>
            <a:ext cx="6429545" cy="1014689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type="title"/>
          </p:nvPr>
        </p:nvSpPr>
        <p:spPr>
          <a:xfrm>
            <a:off x="162232" y="191729"/>
            <a:ext cx="11665974" cy="87015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Evaluating an SDD at the nodes of a Parse Tree</a:t>
            </a:r>
            <a:endParaRPr b="1">
              <a:latin typeface="Times New Roman"/>
              <a:ea typeface="Times New Roman"/>
              <a:cs typeface="Times New Roman"/>
              <a:sym typeface="Times New Roman"/>
            </a:endParaRPr>
          </a:p>
        </p:txBody>
      </p:sp>
      <p:sp>
        <p:nvSpPr>
          <p:cNvPr id="314" name="Google Shape;314;p47"/>
          <p:cNvSpPr txBox="1"/>
          <p:nvPr>
            <p:ph idx="1" type="body"/>
          </p:nvPr>
        </p:nvSpPr>
        <p:spPr>
          <a:xfrm>
            <a:off x="162231" y="2005781"/>
            <a:ext cx="11665973" cy="417118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We can easily obtain an SDD using the following steps.</a:t>
            </a:r>
            <a:endParaRPr/>
          </a:p>
          <a:p>
            <a:pPr indent="0" lvl="0" marL="0" rtl="0" algn="just">
              <a:lnSpc>
                <a:spcPct val="90000"/>
              </a:lnSpc>
              <a:spcBef>
                <a:spcPts val="1000"/>
              </a:spcBef>
              <a:spcAft>
                <a:spcPts val="0"/>
              </a:spcAft>
              <a:buClr>
                <a:schemeClr val="dk1"/>
              </a:buClr>
              <a:buSzPts val="2800"/>
              <a:buNone/>
            </a:pPr>
            <a:r>
              <a:rPr b="1" lang="en-US">
                <a:latin typeface="Times New Roman"/>
                <a:ea typeface="Times New Roman"/>
                <a:cs typeface="Times New Roman"/>
                <a:sym typeface="Times New Roman"/>
              </a:rPr>
              <a:t>Step 1 : </a:t>
            </a:r>
            <a:r>
              <a:rPr lang="en-US">
                <a:latin typeface="Times New Roman"/>
                <a:ea typeface="Times New Roman"/>
                <a:cs typeface="Times New Roman"/>
                <a:sym typeface="Times New Roman"/>
              </a:rPr>
              <a:t>Construct the parse tree</a:t>
            </a:r>
            <a:endParaRPr/>
          </a:p>
          <a:p>
            <a:pPr indent="0" lvl="0" marL="0" rtl="0" algn="just">
              <a:lnSpc>
                <a:spcPct val="90000"/>
              </a:lnSpc>
              <a:spcBef>
                <a:spcPts val="1000"/>
              </a:spcBef>
              <a:spcAft>
                <a:spcPts val="0"/>
              </a:spcAft>
              <a:buClr>
                <a:schemeClr val="dk1"/>
              </a:buClr>
              <a:buSzPts val="2800"/>
              <a:buNone/>
            </a:pPr>
            <a:r>
              <a:rPr b="1" lang="en-US">
                <a:latin typeface="Times New Roman"/>
                <a:ea typeface="Times New Roman"/>
                <a:cs typeface="Times New Roman"/>
                <a:sym typeface="Times New Roman"/>
              </a:rPr>
              <a:t>Step 2 : </a:t>
            </a:r>
            <a:r>
              <a:rPr lang="en-US">
                <a:latin typeface="Times New Roman"/>
                <a:ea typeface="Times New Roman"/>
                <a:cs typeface="Times New Roman"/>
                <a:sym typeface="Times New Roman"/>
              </a:rPr>
              <a:t>Use the rules to evaluate attributes of all the nodes of the parse tree.</a:t>
            </a:r>
            <a:endParaRPr/>
          </a:p>
          <a:p>
            <a:pPr indent="0" lvl="0" marL="0" rtl="0" algn="just">
              <a:lnSpc>
                <a:spcPct val="90000"/>
              </a:lnSpc>
              <a:spcBef>
                <a:spcPts val="1000"/>
              </a:spcBef>
              <a:spcAft>
                <a:spcPts val="0"/>
              </a:spcAft>
              <a:buClr>
                <a:schemeClr val="dk1"/>
              </a:buClr>
              <a:buSzPts val="2800"/>
              <a:buNone/>
            </a:pPr>
            <a:r>
              <a:rPr b="1" lang="en-US">
                <a:latin typeface="Times New Roman"/>
                <a:ea typeface="Times New Roman"/>
                <a:cs typeface="Times New Roman"/>
                <a:sym typeface="Times New Roman"/>
              </a:rPr>
              <a:t>Step 3: </a:t>
            </a:r>
            <a:r>
              <a:rPr lang="en-US">
                <a:latin typeface="Times New Roman"/>
                <a:ea typeface="Times New Roman"/>
                <a:cs typeface="Times New Roman"/>
                <a:sym typeface="Times New Roman"/>
              </a:rPr>
              <a:t>Obtain the attribute values for each non-terminals and write the semantic rules for each production. When complete annotated parse tree is ready, we will have the complete SDD.  </a:t>
            </a:r>
            <a:endParaRPr>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8"/>
          <p:cNvSpPr txBox="1"/>
          <p:nvPr>
            <p:ph type="title"/>
          </p:nvPr>
        </p:nvSpPr>
        <p:spPr>
          <a:xfrm>
            <a:off x="162232" y="117988"/>
            <a:ext cx="11739715" cy="92914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Circular dependency</a:t>
            </a:r>
            <a:endParaRPr b="1">
              <a:latin typeface="Times New Roman"/>
              <a:ea typeface="Times New Roman"/>
              <a:cs typeface="Times New Roman"/>
              <a:sym typeface="Times New Roman"/>
            </a:endParaRPr>
          </a:p>
        </p:txBody>
      </p:sp>
      <p:sp>
        <p:nvSpPr>
          <p:cNvPr id="320" name="Google Shape;320;p48"/>
          <p:cNvSpPr txBox="1"/>
          <p:nvPr>
            <p:ph idx="1" type="body"/>
          </p:nvPr>
        </p:nvSpPr>
        <p:spPr>
          <a:xfrm>
            <a:off x="162232" y="1047136"/>
            <a:ext cx="11191568" cy="512982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If the attribute value of a parent node depends on the attribute value of a child node and vice-versa, then we say there exists a circular dependency between the child node and parent node. </a:t>
            </a:r>
            <a:endParaRPr/>
          </a:p>
          <a:p>
            <a:pPr indent="-228600" lvl="0" marL="228600" rtl="0" algn="just">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 In this situation, it is not possible to evaluate the attribute of either parent node or the child node since one value depends on another value.</a:t>
            </a:r>
            <a:endParaRPr/>
          </a:p>
          <a:p>
            <a:pPr indent="-50800" lvl="0" marL="228600" rtl="0" algn="just">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pic>
        <p:nvPicPr>
          <p:cNvPr id="321" name="Google Shape;321;p48"/>
          <p:cNvPicPr preferRelativeResize="0"/>
          <p:nvPr/>
        </p:nvPicPr>
        <p:blipFill rotWithShape="1">
          <a:blip r:embed="rId3">
            <a:alphaModFix/>
          </a:blip>
          <a:srcRect b="0" l="0" r="0" t="0"/>
          <a:stretch/>
        </p:blipFill>
        <p:spPr>
          <a:xfrm>
            <a:off x="861081" y="3726831"/>
            <a:ext cx="5819938" cy="1671079"/>
          </a:xfrm>
          <a:prstGeom prst="rect">
            <a:avLst/>
          </a:prstGeom>
          <a:noFill/>
          <a:ln>
            <a:noFill/>
          </a:ln>
        </p:spPr>
      </p:pic>
      <p:pic>
        <p:nvPicPr>
          <p:cNvPr id="322" name="Google Shape;322;p48"/>
          <p:cNvPicPr preferRelativeResize="0"/>
          <p:nvPr/>
        </p:nvPicPr>
        <p:blipFill rotWithShape="1">
          <a:blip r:embed="rId4">
            <a:alphaModFix/>
          </a:blip>
          <a:srcRect b="0" l="0" r="0" t="0"/>
          <a:stretch/>
        </p:blipFill>
        <p:spPr>
          <a:xfrm>
            <a:off x="7698658" y="3612050"/>
            <a:ext cx="3392129" cy="228631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9"/>
          <p:cNvSpPr txBox="1"/>
          <p:nvPr>
            <p:ph type="title"/>
          </p:nvPr>
        </p:nvSpPr>
        <p:spPr>
          <a:xfrm>
            <a:off x="162232" y="365125"/>
            <a:ext cx="11577484" cy="71150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Times New Roman"/>
              <a:buNone/>
            </a:pPr>
            <a:r>
              <a:rPr b="1" lang="en-US" sz="4000">
                <a:latin typeface="Times New Roman"/>
                <a:ea typeface="Times New Roman"/>
                <a:cs typeface="Times New Roman"/>
                <a:sym typeface="Times New Roman"/>
              </a:rPr>
              <a:t>Why we have to evaluate inherited attributes</a:t>
            </a:r>
            <a:endParaRPr b="1" sz="4000">
              <a:latin typeface="Times New Roman"/>
              <a:ea typeface="Times New Roman"/>
              <a:cs typeface="Times New Roman"/>
              <a:sym typeface="Times New Roman"/>
            </a:endParaRPr>
          </a:p>
        </p:txBody>
      </p:sp>
      <p:sp>
        <p:nvSpPr>
          <p:cNvPr id="328" name="Google Shape;328;p49"/>
          <p:cNvSpPr txBox="1"/>
          <p:nvPr>
            <p:ph idx="1" type="body"/>
          </p:nvPr>
        </p:nvSpPr>
        <p:spPr>
          <a:xfrm>
            <a:off x="162232" y="1076632"/>
            <a:ext cx="11867536" cy="510033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latin typeface="Times New Roman"/>
                <a:ea typeface="Times New Roman"/>
                <a:cs typeface="Times New Roman"/>
                <a:sym typeface="Times New Roman"/>
              </a:rPr>
              <a:t>Consider the following grammar</a:t>
            </a:r>
            <a:endParaRPr/>
          </a:p>
          <a:p>
            <a:pPr indent="0" lvl="0" marL="0" rtl="0" algn="l">
              <a:lnSpc>
                <a:spcPct val="90000"/>
              </a:lnSpc>
              <a:spcBef>
                <a:spcPts val="1000"/>
              </a:spcBef>
              <a:spcAft>
                <a:spcPts val="0"/>
              </a:spcAft>
              <a:buClr>
                <a:schemeClr val="dk1"/>
              </a:buClr>
              <a:buSzPts val="3200"/>
              <a:buNone/>
            </a:pPr>
            <a:r>
              <a:rPr lang="en-US" sz="3200">
                <a:latin typeface="Times New Roman"/>
                <a:ea typeface="Times New Roman"/>
                <a:cs typeface="Times New Roman"/>
                <a:sym typeface="Times New Roman"/>
              </a:rPr>
              <a:t>T -&gt; T * F | F</a:t>
            </a:r>
            <a:endParaRPr/>
          </a:p>
          <a:p>
            <a:pPr indent="0" lvl="0" marL="0" rtl="0" algn="l">
              <a:lnSpc>
                <a:spcPct val="90000"/>
              </a:lnSpc>
              <a:spcBef>
                <a:spcPts val="1000"/>
              </a:spcBef>
              <a:spcAft>
                <a:spcPts val="0"/>
              </a:spcAft>
              <a:buClr>
                <a:schemeClr val="dk1"/>
              </a:buClr>
              <a:buSzPts val="3200"/>
              <a:buNone/>
            </a:pPr>
            <a:r>
              <a:rPr lang="en-US" sz="3200">
                <a:latin typeface="Times New Roman"/>
                <a:ea typeface="Times New Roman"/>
                <a:cs typeface="Times New Roman"/>
                <a:sym typeface="Times New Roman"/>
              </a:rPr>
              <a:t>F -&gt; digit</a:t>
            </a:r>
            <a:endParaRPr/>
          </a:p>
          <a:p>
            <a:pPr indent="-228600" lvl="0" marL="228600" rtl="0" algn="l">
              <a:lnSpc>
                <a:spcPct val="90000"/>
              </a:lnSpc>
              <a:spcBef>
                <a:spcPts val="1000"/>
              </a:spcBef>
              <a:spcAft>
                <a:spcPts val="0"/>
              </a:spcAft>
              <a:buClr>
                <a:schemeClr val="dk1"/>
              </a:buClr>
              <a:buSzPts val="3200"/>
              <a:buFont typeface="Noto Sans Symbols"/>
              <a:buChar char="❖"/>
            </a:pPr>
            <a:r>
              <a:rPr lang="en-US" sz="3200">
                <a:latin typeface="Times New Roman"/>
                <a:ea typeface="Times New Roman"/>
                <a:cs typeface="Times New Roman"/>
                <a:sym typeface="Times New Roman"/>
              </a:rPr>
              <a:t> Using the above productions, we can generate an un-parenthesized expression consisting of only * operator.</a:t>
            </a:r>
            <a:endParaRPr/>
          </a:p>
          <a:p>
            <a:pPr indent="-228600" lvl="0" marL="228600" rtl="0" algn="l">
              <a:lnSpc>
                <a:spcPct val="90000"/>
              </a:lnSpc>
              <a:spcBef>
                <a:spcPts val="1000"/>
              </a:spcBef>
              <a:spcAft>
                <a:spcPts val="0"/>
              </a:spcAft>
              <a:buClr>
                <a:schemeClr val="dk1"/>
              </a:buClr>
              <a:buSzPts val="3200"/>
              <a:buFont typeface="Noto Sans Symbols"/>
              <a:buChar char="❖"/>
            </a:pPr>
            <a:r>
              <a:rPr lang="en-US" sz="3200">
                <a:latin typeface="Times New Roman"/>
                <a:ea typeface="Times New Roman"/>
                <a:cs typeface="Times New Roman"/>
                <a:sym typeface="Times New Roman"/>
              </a:rPr>
              <a:t> The above grammar has left -recursion and it is suitable for bottom-up parser such as LR parsers.</a:t>
            </a:r>
            <a:endParaRPr/>
          </a:p>
          <a:p>
            <a:pPr indent="-228600" lvl="0" marL="228600" rtl="0" algn="l">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Consider annotated parse tree for evaluating the expression 3 * 5 is shown below. </a:t>
            </a:r>
            <a:endParaRPr sz="3200">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type="title"/>
          </p:nvPr>
        </p:nvSpPr>
        <p:spPr>
          <a:xfrm>
            <a:off x="162231" y="162232"/>
            <a:ext cx="11916698" cy="168131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Times New Roman"/>
              <a:buNone/>
            </a:pPr>
            <a:r>
              <a:rPr b="1" lang="en-US" sz="3200">
                <a:latin typeface="Times New Roman"/>
                <a:ea typeface="Times New Roman"/>
                <a:cs typeface="Times New Roman"/>
                <a:sym typeface="Times New Roman"/>
              </a:rPr>
              <a:t>Example : Obtain SDD for the following grammar using Top-down approach for the expression 3 * 3</a:t>
            </a:r>
            <a:endParaRPr b="1" sz="3200">
              <a:latin typeface="Times New Roman"/>
              <a:ea typeface="Times New Roman"/>
              <a:cs typeface="Times New Roman"/>
              <a:sym typeface="Times New Roman"/>
            </a:endParaRPr>
          </a:p>
        </p:txBody>
      </p:sp>
      <p:sp>
        <p:nvSpPr>
          <p:cNvPr id="334" name="Google Shape;334;p50"/>
          <p:cNvSpPr txBox="1"/>
          <p:nvPr>
            <p:ph idx="1" type="body"/>
          </p:nvPr>
        </p:nvSpPr>
        <p:spPr>
          <a:xfrm>
            <a:off x="162231" y="1843546"/>
            <a:ext cx="11867538" cy="433341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Grammar : T -&gt; T * F | F</a:t>
            </a:r>
            <a:endParaRPr/>
          </a:p>
          <a:p>
            <a:pPr indent="0" lvl="0" marL="0" rtl="0" algn="l">
              <a:lnSpc>
                <a:spcPct val="90000"/>
              </a:lnSpc>
              <a:spcBef>
                <a:spcPts val="1000"/>
              </a:spcBef>
              <a:spcAft>
                <a:spcPts val="0"/>
              </a:spcAft>
              <a:buClr>
                <a:schemeClr val="dk1"/>
              </a:buClr>
              <a:buSzPts val="2800"/>
              <a:buNone/>
            </a:pPr>
            <a:r>
              <a:rPr lang="en-US"/>
              <a:t>                       F -&gt; digit</a:t>
            </a:r>
            <a:endParaRPr/>
          </a:p>
          <a:p>
            <a:pPr indent="0" lvl="0" marL="0" rtl="0" algn="l">
              <a:lnSpc>
                <a:spcPct val="90000"/>
              </a:lnSpc>
              <a:spcBef>
                <a:spcPts val="1000"/>
              </a:spcBef>
              <a:spcAft>
                <a:spcPts val="0"/>
              </a:spcAft>
              <a:buClr>
                <a:schemeClr val="dk1"/>
              </a:buClr>
              <a:buSzPts val="2800"/>
              <a:buNone/>
            </a:pPr>
            <a:r>
              <a:rPr lang="en-US"/>
              <a:t>Solution:</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The given grammar has left recursion and hence it is not suitable for top-down parsers.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After removing left recursion , the grammar is written as </a:t>
            </a:r>
            <a:endParaRPr/>
          </a:p>
          <a:p>
            <a:pPr indent="0" lvl="0" marL="0" rtl="0" algn="l">
              <a:lnSpc>
                <a:spcPct val="90000"/>
              </a:lnSpc>
              <a:spcBef>
                <a:spcPts val="1000"/>
              </a:spcBef>
              <a:spcAft>
                <a:spcPts val="0"/>
              </a:spcAft>
              <a:buClr>
                <a:schemeClr val="dk1"/>
              </a:buClr>
              <a:buSzPts val="2800"/>
              <a:buNone/>
            </a:pPr>
            <a:r>
              <a:rPr lang="en-US"/>
              <a:t> T - &gt; F  T’</a:t>
            </a:r>
            <a:endParaRPr/>
          </a:p>
          <a:p>
            <a:pPr indent="0" lvl="0" marL="0" rtl="0" algn="l">
              <a:lnSpc>
                <a:spcPct val="90000"/>
              </a:lnSpc>
              <a:spcBef>
                <a:spcPts val="1000"/>
              </a:spcBef>
              <a:spcAft>
                <a:spcPts val="0"/>
              </a:spcAft>
              <a:buClr>
                <a:schemeClr val="dk1"/>
              </a:buClr>
              <a:buSzPts val="2800"/>
              <a:buNone/>
            </a:pPr>
            <a:r>
              <a:rPr lang="en-US"/>
              <a:t>T’ -&gt; * F T’ | </a:t>
            </a:r>
            <a:r>
              <a:rPr b="0" i="0" lang="en-US">
                <a:solidFill>
                  <a:srgbClr val="282828"/>
                </a:solidFill>
                <a:highlight>
                  <a:srgbClr val="FFFFFF"/>
                </a:highlight>
                <a:latin typeface="Arial"/>
                <a:ea typeface="Arial"/>
                <a:cs typeface="Arial"/>
                <a:sym typeface="Arial"/>
              </a:rPr>
              <a:t>ε</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p51"/>
          <p:cNvPicPr preferRelativeResize="0"/>
          <p:nvPr>
            <p:ph idx="1" type="body"/>
          </p:nvPr>
        </p:nvPicPr>
        <p:blipFill rotWithShape="1">
          <a:blip r:embed="rId3">
            <a:alphaModFix/>
          </a:blip>
          <a:srcRect b="0" l="0" r="0" t="0"/>
          <a:stretch/>
        </p:blipFill>
        <p:spPr>
          <a:xfrm>
            <a:off x="177525" y="710838"/>
            <a:ext cx="6120036" cy="4097136"/>
          </a:xfrm>
          <a:prstGeom prst="rect">
            <a:avLst/>
          </a:prstGeom>
          <a:noFill/>
          <a:ln>
            <a:noFill/>
          </a:ln>
        </p:spPr>
      </p:pic>
      <p:pic>
        <p:nvPicPr>
          <p:cNvPr id="340" name="Google Shape;340;p51"/>
          <p:cNvPicPr preferRelativeResize="0"/>
          <p:nvPr/>
        </p:nvPicPr>
        <p:blipFill rotWithShape="1">
          <a:blip r:embed="rId4">
            <a:alphaModFix/>
          </a:blip>
          <a:srcRect b="0" l="0" r="0" t="0"/>
          <a:stretch/>
        </p:blipFill>
        <p:spPr>
          <a:xfrm>
            <a:off x="6213409" y="1209368"/>
            <a:ext cx="4988257" cy="322989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2"/>
          <p:cNvSpPr txBox="1"/>
          <p:nvPr>
            <p:ph type="title"/>
          </p:nvPr>
        </p:nvSpPr>
        <p:spPr>
          <a:xfrm>
            <a:off x="206477" y="365126"/>
            <a:ext cx="11695471" cy="74100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Evaluation Orders for SDD</a:t>
            </a:r>
            <a:endParaRPr/>
          </a:p>
        </p:txBody>
      </p:sp>
      <p:sp>
        <p:nvSpPr>
          <p:cNvPr id="346" name="Google Shape;346;p52"/>
          <p:cNvSpPr txBox="1"/>
          <p:nvPr>
            <p:ph idx="1" type="body"/>
          </p:nvPr>
        </p:nvSpPr>
        <p:spPr>
          <a:xfrm>
            <a:off x="206477" y="1106130"/>
            <a:ext cx="11695471" cy="507083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t> Dependency Graphs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Ordering the evaluation of attributes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S-attributed definition</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L-attributed definition</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Semantic rules with controlled side effects.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3"/>
          <p:cNvSpPr txBox="1"/>
          <p:nvPr>
            <p:ph type="title"/>
          </p:nvPr>
        </p:nvSpPr>
        <p:spPr>
          <a:xfrm>
            <a:off x="176981" y="365126"/>
            <a:ext cx="11710219" cy="1050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Evaluation orders for SDD’s</a:t>
            </a:r>
            <a:endParaRPr b="1">
              <a:latin typeface="Times New Roman"/>
              <a:ea typeface="Times New Roman"/>
              <a:cs typeface="Times New Roman"/>
              <a:sym typeface="Times New Roman"/>
            </a:endParaRPr>
          </a:p>
        </p:txBody>
      </p:sp>
      <p:sp>
        <p:nvSpPr>
          <p:cNvPr id="352" name="Google Shape;352;p53"/>
          <p:cNvSpPr txBox="1"/>
          <p:nvPr>
            <p:ph idx="1" type="body"/>
          </p:nvPr>
        </p:nvSpPr>
        <p:spPr>
          <a:xfrm>
            <a:off x="304799" y="1991032"/>
            <a:ext cx="11464413" cy="4185931"/>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The evaluation order to find attribute values in a parse tree using semantic rules can be easily obtained with the help of dependency graph.</a:t>
            </a:r>
            <a:endParaRPr/>
          </a:p>
          <a:p>
            <a:pPr indent="-228600" lvl="0" marL="228600" rtl="0" algn="just">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While annotated parse tree shows the values of attributes, a dependency graph helps us to determine how those values can be computed.</a:t>
            </a:r>
            <a:endParaRPr>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4"/>
          <p:cNvSpPr txBox="1"/>
          <p:nvPr>
            <p:ph type="title"/>
          </p:nvPr>
        </p:nvSpPr>
        <p:spPr>
          <a:xfrm>
            <a:off x="147484" y="147484"/>
            <a:ext cx="11206316" cy="104713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Dependency Graphs</a:t>
            </a:r>
            <a:endParaRPr b="1">
              <a:latin typeface="Times New Roman"/>
              <a:ea typeface="Times New Roman"/>
              <a:cs typeface="Times New Roman"/>
              <a:sym typeface="Times New Roman"/>
            </a:endParaRPr>
          </a:p>
        </p:txBody>
      </p:sp>
      <p:sp>
        <p:nvSpPr>
          <p:cNvPr id="358" name="Google Shape;358;p54"/>
          <p:cNvSpPr txBox="1"/>
          <p:nvPr>
            <p:ph idx="1" type="body"/>
          </p:nvPr>
        </p:nvSpPr>
        <p:spPr>
          <a:xfrm>
            <a:off x="147483" y="1356852"/>
            <a:ext cx="11606981" cy="5353664"/>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3600"/>
              <a:buChar char="•"/>
            </a:pPr>
            <a:r>
              <a:rPr b="1" i="1" lang="en-US" sz="3600" u="none" strike="noStrike">
                <a:latin typeface="Times New Roman"/>
                <a:ea typeface="Times New Roman"/>
                <a:cs typeface="Times New Roman"/>
                <a:sym typeface="Times New Roman"/>
              </a:rPr>
              <a:t>A</a:t>
            </a:r>
            <a:r>
              <a:rPr b="1" i="1" lang="en-US" sz="1800" u="none" strike="noStrike">
                <a:latin typeface="Times New Roman"/>
                <a:ea typeface="Times New Roman"/>
                <a:cs typeface="Times New Roman"/>
                <a:sym typeface="Times New Roman"/>
              </a:rPr>
              <a:t> </a:t>
            </a:r>
            <a:r>
              <a:rPr b="1" i="1" lang="en-US" sz="3200" u="none" strike="noStrike">
                <a:latin typeface="Times New Roman"/>
                <a:ea typeface="Times New Roman"/>
                <a:cs typeface="Times New Roman"/>
                <a:sym typeface="Times New Roman"/>
              </a:rPr>
              <a:t>dependency graph </a:t>
            </a:r>
            <a:r>
              <a:rPr b="0" i="0" lang="en-US" sz="3200" u="none" strike="noStrike">
                <a:latin typeface="Times New Roman"/>
                <a:ea typeface="Times New Roman"/>
                <a:cs typeface="Times New Roman"/>
                <a:sym typeface="Times New Roman"/>
              </a:rPr>
              <a:t>depicts the flow of information among the attribute instances in a particular parse tree;</a:t>
            </a:r>
            <a:endParaRPr/>
          </a:p>
          <a:p>
            <a:pPr indent="-228600" lvl="0" marL="228600" rtl="0" algn="just">
              <a:lnSpc>
                <a:spcPct val="90000"/>
              </a:lnSpc>
              <a:spcBef>
                <a:spcPts val="1000"/>
              </a:spcBef>
              <a:spcAft>
                <a:spcPts val="0"/>
              </a:spcAft>
              <a:buClr>
                <a:schemeClr val="dk1"/>
              </a:buClr>
              <a:buSzPts val="3200"/>
              <a:buChar char="•"/>
            </a:pPr>
            <a:r>
              <a:rPr b="0" i="0" lang="en-US" sz="3200" u="none" strike="noStrike">
                <a:latin typeface="Times New Roman"/>
                <a:ea typeface="Times New Roman"/>
                <a:cs typeface="Times New Roman"/>
                <a:sym typeface="Times New Roman"/>
              </a:rPr>
              <a:t> </a:t>
            </a:r>
            <a:r>
              <a:rPr lang="en-US" sz="3200">
                <a:latin typeface="Times New Roman"/>
                <a:ea typeface="Times New Roman"/>
                <a:cs typeface="Times New Roman"/>
                <a:sym typeface="Times New Roman"/>
              </a:rPr>
              <a:t>A</a:t>
            </a:r>
            <a:r>
              <a:rPr b="0" i="0" lang="en-US" sz="3200" u="none" strike="noStrike">
                <a:latin typeface="Times New Roman"/>
                <a:ea typeface="Times New Roman"/>
                <a:cs typeface="Times New Roman"/>
                <a:sym typeface="Times New Roman"/>
              </a:rPr>
              <a:t>n edge from one attribute instance to another means that the value of the first is needed to compute the second.</a:t>
            </a:r>
            <a:endParaRPr/>
          </a:p>
          <a:p>
            <a:pPr indent="-25400" lvl="0" marL="228600" rtl="0" algn="just">
              <a:lnSpc>
                <a:spcPct val="90000"/>
              </a:lnSpc>
              <a:spcBef>
                <a:spcPts val="1000"/>
              </a:spcBef>
              <a:spcAft>
                <a:spcPts val="0"/>
              </a:spcAft>
              <a:buClr>
                <a:schemeClr val="dk1"/>
              </a:buClr>
              <a:buSzPts val="3200"/>
              <a:buNone/>
            </a:pPr>
            <a:r>
              <a:t/>
            </a:r>
            <a:endParaRPr sz="32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Example: </a:t>
            </a:r>
            <a:endParaRPr/>
          </a:p>
          <a:p>
            <a:pPr indent="0" lvl="0" marL="0" rtl="0" algn="just">
              <a:lnSpc>
                <a:spcPct val="90000"/>
              </a:lnSpc>
              <a:spcBef>
                <a:spcPts val="1000"/>
              </a:spcBef>
              <a:spcAft>
                <a:spcPts val="0"/>
              </a:spcAft>
              <a:buClr>
                <a:schemeClr val="dk1"/>
              </a:buClr>
              <a:buSzPts val="3200"/>
              <a:buNone/>
            </a:pPr>
            <a:r>
              <a:t/>
            </a:r>
            <a:endParaRPr sz="3200"/>
          </a:p>
        </p:txBody>
      </p:sp>
      <p:pic>
        <p:nvPicPr>
          <p:cNvPr id="359" name="Google Shape;359;p54"/>
          <p:cNvPicPr preferRelativeResize="0"/>
          <p:nvPr/>
        </p:nvPicPr>
        <p:blipFill rotWithShape="1">
          <a:blip r:embed="rId3">
            <a:alphaModFix/>
          </a:blip>
          <a:srcRect b="0" l="0" r="0" t="0"/>
          <a:stretch/>
        </p:blipFill>
        <p:spPr>
          <a:xfrm>
            <a:off x="3038238" y="3429000"/>
            <a:ext cx="5265103" cy="981630"/>
          </a:xfrm>
          <a:prstGeom prst="rect">
            <a:avLst/>
          </a:prstGeom>
          <a:noFill/>
          <a:ln>
            <a:noFill/>
          </a:ln>
        </p:spPr>
      </p:pic>
      <p:pic>
        <p:nvPicPr>
          <p:cNvPr id="360" name="Google Shape;360;p54"/>
          <p:cNvPicPr preferRelativeResize="0"/>
          <p:nvPr/>
        </p:nvPicPr>
        <p:blipFill rotWithShape="1">
          <a:blip r:embed="rId4">
            <a:alphaModFix/>
          </a:blip>
          <a:srcRect b="0" l="0" r="0" t="0"/>
          <a:stretch/>
        </p:blipFill>
        <p:spPr>
          <a:xfrm>
            <a:off x="2286000" y="4468761"/>
            <a:ext cx="8952271" cy="2212258"/>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5"/>
          <p:cNvSpPr txBox="1"/>
          <p:nvPr>
            <p:ph type="title"/>
          </p:nvPr>
        </p:nvSpPr>
        <p:spPr>
          <a:xfrm>
            <a:off x="147484" y="273664"/>
            <a:ext cx="11206316" cy="81474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Example</a:t>
            </a:r>
            <a:endParaRPr/>
          </a:p>
        </p:txBody>
      </p:sp>
      <p:pic>
        <p:nvPicPr>
          <p:cNvPr id="366" name="Google Shape;366;p55"/>
          <p:cNvPicPr preferRelativeResize="0"/>
          <p:nvPr>
            <p:ph idx="1" type="body"/>
          </p:nvPr>
        </p:nvPicPr>
        <p:blipFill rotWithShape="1">
          <a:blip r:embed="rId3">
            <a:alphaModFix/>
          </a:blip>
          <a:srcRect b="0" l="0" r="0" t="0"/>
          <a:stretch/>
        </p:blipFill>
        <p:spPr>
          <a:xfrm>
            <a:off x="5574890" y="273664"/>
            <a:ext cx="6346722" cy="4914533"/>
          </a:xfrm>
          <a:prstGeom prst="rect">
            <a:avLst/>
          </a:prstGeom>
          <a:noFill/>
          <a:ln>
            <a:noFill/>
          </a:ln>
        </p:spPr>
      </p:pic>
      <p:pic>
        <p:nvPicPr>
          <p:cNvPr id="367" name="Google Shape;367;p55"/>
          <p:cNvPicPr preferRelativeResize="0"/>
          <p:nvPr/>
        </p:nvPicPr>
        <p:blipFill rotWithShape="1">
          <a:blip r:embed="rId4">
            <a:alphaModFix/>
          </a:blip>
          <a:srcRect b="0" l="0" r="0" t="0"/>
          <a:stretch/>
        </p:blipFill>
        <p:spPr>
          <a:xfrm>
            <a:off x="147484" y="1728477"/>
            <a:ext cx="4954914" cy="409713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6"/>
          <p:cNvSpPr txBox="1"/>
          <p:nvPr>
            <p:ph type="title"/>
          </p:nvPr>
        </p:nvSpPr>
        <p:spPr>
          <a:xfrm>
            <a:off x="206478" y="365125"/>
            <a:ext cx="11503742" cy="10064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Ordering the evaluation of attributes</a:t>
            </a:r>
            <a:endParaRPr b="1"/>
          </a:p>
        </p:txBody>
      </p:sp>
      <p:sp>
        <p:nvSpPr>
          <p:cNvPr id="373" name="Google Shape;373;p56"/>
          <p:cNvSpPr txBox="1"/>
          <p:nvPr>
            <p:ph idx="1" type="body"/>
          </p:nvPr>
        </p:nvSpPr>
        <p:spPr>
          <a:xfrm>
            <a:off x="206478" y="1371600"/>
            <a:ext cx="11147322" cy="4805363"/>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The dependency graph characterize the possible orders in which we can evaluate the attributes at the various nodes of a parse tree.</a:t>
            </a:r>
            <a:endParaRPr/>
          </a:p>
          <a:p>
            <a:pPr indent="-228600" lvl="0" marL="228600" rtl="0" algn="just">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Ordering embeds a directed graph into a liner order and is called a topological sort of the graph.</a:t>
            </a:r>
            <a:endParaRPr/>
          </a:p>
          <a:p>
            <a:pPr indent="0" lvl="0" marL="0" rtl="0" algn="just">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7"/>
          <p:cNvSpPr txBox="1"/>
          <p:nvPr>
            <p:ph type="title"/>
          </p:nvPr>
        </p:nvSpPr>
        <p:spPr>
          <a:xfrm>
            <a:off x="838200" y="365125"/>
            <a:ext cx="10515600" cy="62301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b="1" lang="en-US"/>
              <a:t>S-Attributed Definition:</a:t>
            </a:r>
            <a:endParaRPr b="1"/>
          </a:p>
        </p:txBody>
      </p:sp>
      <p:sp>
        <p:nvSpPr>
          <p:cNvPr id="379" name="Google Shape;379;p57"/>
          <p:cNvSpPr txBox="1"/>
          <p:nvPr>
            <p:ph idx="1" type="body"/>
          </p:nvPr>
        </p:nvSpPr>
        <p:spPr>
          <a:xfrm>
            <a:off x="838200" y="1135626"/>
            <a:ext cx="10515600" cy="5041337"/>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Given an SDD, it is very difficult to tell whether there exists a cycle in the dependency graph corresponding a parse tree.</a:t>
            </a:r>
            <a:endParaRPr/>
          </a:p>
          <a:p>
            <a:pPr indent="-228600" lvl="0" marL="228600" rtl="0" algn="just">
              <a:lnSpc>
                <a:spcPct val="90000"/>
              </a:lnSpc>
              <a:spcBef>
                <a:spcPts val="1000"/>
              </a:spcBef>
              <a:spcAft>
                <a:spcPts val="0"/>
              </a:spcAft>
              <a:buClr>
                <a:schemeClr val="dk1"/>
              </a:buClr>
              <a:buSzPts val="2800"/>
              <a:buChar char="•"/>
            </a:pPr>
            <a:r>
              <a:rPr lang="en-US"/>
              <a:t>But, in practice, translations can be implemented using classes of SDD’s that will guarantee an evaluation order, since they do not permit dependency graphs with cycles.</a:t>
            </a:r>
            <a:endParaRPr/>
          </a:p>
          <a:p>
            <a:pPr indent="-228600" lvl="0" marL="228600" rtl="0" algn="just">
              <a:lnSpc>
                <a:spcPct val="90000"/>
              </a:lnSpc>
              <a:spcBef>
                <a:spcPts val="1000"/>
              </a:spcBef>
              <a:spcAft>
                <a:spcPts val="0"/>
              </a:spcAft>
              <a:buClr>
                <a:schemeClr val="dk1"/>
              </a:buClr>
              <a:buSzPts val="2800"/>
              <a:buChar char="•"/>
            </a:pPr>
            <a:r>
              <a:rPr lang="en-US"/>
              <a:t>The 2 classes of SDD’s that guarantee an evaluation order are:</a:t>
            </a:r>
            <a:endParaRPr/>
          </a:p>
          <a:p>
            <a:pPr indent="-514350" lvl="0" marL="514350" rtl="0" algn="just">
              <a:lnSpc>
                <a:spcPct val="90000"/>
              </a:lnSpc>
              <a:spcBef>
                <a:spcPts val="1000"/>
              </a:spcBef>
              <a:spcAft>
                <a:spcPts val="0"/>
              </a:spcAft>
              <a:buClr>
                <a:schemeClr val="dk1"/>
              </a:buClr>
              <a:buSzPts val="2800"/>
              <a:buAutoNum type="alphaLcPeriod"/>
            </a:pPr>
            <a:r>
              <a:rPr lang="en-US"/>
              <a:t>S-attributed definition </a:t>
            </a:r>
            <a:endParaRPr/>
          </a:p>
          <a:p>
            <a:pPr indent="-514350" lvl="0" marL="514350" rtl="0" algn="just">
              <a:lnSpc>
                <a:spcPct val="90000"/>
              </a:lnSpc>
              <a:spcBef>
                <a:spcPts val="1000"/>
              </a:spcBef>
              <a:spcAft>
                <a:spcPts val="0"/>
              </a:spcAft>
              <a:buClr>
                <a:schemeClr val="dk1"/>
              </a:buClr>
              <a:buSzPts val="2800"/>
              <a:buAutoNum type="alphaLcPeriod"/>
            </a:pPr>
            <a:r>
              <a:rPr lang="en-US"/>
              <a:t>L-attributed definition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8"/>
          <p:cNvSpPr txBox="1"/>
          <p:nvPr>
            <p:ph idx="1" type="body"/>
          </p:nvPr>
        </p:nvSpPr>
        <p:spPr>
          <a:xfrm>
            <a:off x="838200" y="648929"/>
            <a:ext cx="10515600" cy="5528034"/>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3200"/>
              <a:buChar char="•"/>
            </a:pPr>
            <a:r>
              <a:rPr b="1" lang="en-US" sz="3200"/>
              <a:t>S-Attributed definition: </a:t>
            </a:r>
            <a:r>
              <a:rPr lang="en-US"/>
              <a:t>An SDD is S-attributed if every attribute is synthesized.</a:t>
            </a:r>
            <a:endParaRPr/>
          </a:p>
          <a:p>
            <a:pPr indent="-228600" lvl="0" marL="228600" rtl="0" algn="just">
              <a:lnSpc>
                <a:spcPct val="90000"/>
              </a:lnSpc>
              <a:spcBef>
                <a:spcPts val="1000"/>
              </a:spcBef>
              <a:spcAft>
                <a:spcPts val="0"/>
              </a:spcAft>
              <a:buClr>
                <a:schemeClr val="dk1"/>
              </a:buClr>
              <a:buSzPts val="2800"/>
              <a:buChar char="•"/>
            </a:pPr>
            <a:r>
              <a:rPr lang="en-US"/>
              <a:t>In an S-attributed SDD, each semantic rule computes the attribute value of a non terminal that occurs on LHS of the production that represents head of the production with the help of the attribute values of non terminals on the right hand side of the production that represent body of the production.</a:t>
            </a:r>
            <a:endParaRPr/>
          </a:p>
          <a:p>
            <a:pPr indent="-50800" lvl="0" marL="228600" rtl="0" algn="just">
              <a:lnSpc>
                <a:spcPct val="90000"/>
              </a:lnSpc>
              <a:spcBef>
                <a:spcPts val="1000"/>
              </a:spcBef>
              <a:spcAft>
                <a:spcPts val="0"/>
              </a:spcAft>
              <a:buClr>
                <a:schemeClr val="dk1"/>
              </a:buClr>
              <a:buSzPts val="2800"/>
              <a:buNone/>
            </a:pPr>
            <a:r>
              <a:t/>
            </a:r>
            <a:endParaRPr/>
          </a:p>
        </p:txBody>
      </p:sp>
      <p:pic>
        <p:nvPicPr>
          <p:cNvPr id="385" name="Google Shape;385;p58"/>
          <p:cNvPicPr preferRelativeResize="0"/>
          <p:nvPr/>
        </p:nvPicPr>
        <p:blipFill rotWithShape="1">
          <a:blip r:embed="rId3">
            <a:alphaModFix/>
          </a:blip>
          <a:srcRect b="0" l="0" r="0" t="0"/>
          <a:stretch/>
        </p:blipFill>
        <p:spPr>
          <a:xfrm>
            <a:off x="1106129" y="3429000"/>
            <a:ext cx="9453716" cy="306029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9"/>
          <p:cNvSpPr txBox="1"/>
          <p:nvPr>
            <p:ph idx="1" type="body"/>
          </p:nvPr>
        </p:nvSpPr>
        <p:spPr>
          <a:xfrm>
            <a:off x="838200" y="678426"/>
            <a:ext cx="10515600" cy="5498537"/>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3200"/>
              <a:buChar char="•"/>
            </a:pPr>
            <a:r>
              <a:rPr b="1" lang="en-US" sz="3200"/>
              <a:t>L-attributed definition:</a:t>
            </a:r>
            <a:endParaRPr/>
          </a:p>
          <a:p>
            <a:pPr indent="-228600" lvl="0" marL="228600" rtl="0" algn="just">
              <a:lnSpc>
                <a:spcPct val="90000"/>
              </a:lnSpc>
              <a:spcBef>
                <a:spcPts val="1000"/>
              </a:spcBef>
              <a:spcAft>
                <a:spcPts val="0"/>
              </a:spcAft>
              <a:buClr>
                <a:schemeClr val="dk1"/>
              </a:buClr>
              <a:buSzPts val="2800"/>
              <a:buChar char="•"/>
            </a:pPr>
            <a:r>
              <a:rPr lang="en-US"/>
              <a:t>the idea behind this class is that, between the attributes associated with the production body, dependency graph it just can go from left to right but not from right to left (hence L-attributed).</a:t>
            </a:r>
            <a:endParaRPr/>
          </a:p>
          <a:p>
            <a:pPr indent="-228600" lvl="0" marL="228600" rtl="0" algn="just">
              <a:lnSpc>
                <a:spcPct val="90000"/>
              </a:lnSpc>
              <a:spcBef>
                <a:spcPts val="1000"/>
              </a:spcBef>
              <a:spcAft>
                <a:spcPts val="0"/>
              </a:spcAft>
              <a:buClr>
                <a:schemeClr val="dk1"/>
              </a:buClr>
              <a:buSzPts val="2800"/>
              <a:buChar char="•"/>
            </a:pPr>
            <a:r>
              <a:rPr lang="en-US"/>
              <a:t>More-precisely, each attribute must be either:</a:t>
            </a:r>
            <a:endParaRPr/>
          </a:p>
          <a:p>
            <a:pPr indent="-514350" lvl="0" marL="514350" rtl="0" algn="just">
              <a:lnSpc>
                <a:spcPct val="90000"/>
              </a:lnSpc>
              <a:spcBef>
                <a:spcPts val="1000"/>
              </a:spcBef>
              <a:spcAft>
                <a:spcPts val="0"/>
              </a:spcAft>
              <a:buClr>
                <a:schemeClr val="dk1"/>
              </a:buClr>
              <a:buSzPts val="2800"/>
              <a:buAutoNum type="alphaLcPeriod"/>
            </a:pPr>
            <a:r>
              <a:rPr lang="en-US"/>
              <a:t>Synthesized, or</a:t>
            </a:r>
            <a:endParaRPr/>
          </a:p>
          <a:p>
            <a:pPr indent="-514350" lvl="0" marL="514350" rtl="0" algn="just">
              <a:lnSpc>
                <a:spcPct val="90000"/>
              </a:lnSpc>
              <a:spcBef>
                <a:spcPts val="1000"/>
              </a:spcBef>
              <a:spcAft>
                <a:spcPts val="0"/>
              </a:spcAft>
              <a:buClr>
                <a:schemeClr val="dk1"/>
              </a:buClr>
              <a:buSzPts val="2800"/>
              <a:buAutoNum type="alphaLcPeriod"/>
            </a:pPr>
            <a:r>
              <a:rPr lang="en-US"/>
              <a:t>Inherited.</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0"/>
          <p:cNvSpPr txBox="1"/>
          <p:nvPr>
            <p:ph type="ctrTitle"/>
          </p:nvPr>
        </p:nvSpPr>
        <p:spPr>
          <a:xfrm>
            <a:off x="1524000" y="1710813"/>
            <a:ext cx="9144000" cy="2566066"/>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a:t>Chapter-6</a:t>
            </a:r>
            <a:br>
              <a:rPr lang="en-US"/>
            </a:br>
            <a:r>
              <a:rPr lang="en-US"/>
              <a:t>Intermediate-Code Generator</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Variants of Syntax Trees:</a:t>
            </a:r>
            <a:endParaRPr/>
          </a:p>
        </p:txBody>
      </p:sp>
      <p:sp>
        <p:nvSpPr>
          <p:cNvPr id="401" name="Google Shape;401;p61"/>
          <p:cNvSpPr txBox="1"/>
          <p:nvPr>
            <p:ph idx="1" type="body"/>
          </p:nvPr>
        </p:nvSpPr>
        <p:spPr>
          <a:xfrm>
            <a:off x="838200" y="1548581"/>
            <a:ext cx="10515600" cy="4628382"/>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Nodes in a syntax tree represent constructs in the source program; the children of a node represent the meaningful components of a construct.</a:t>
            </a:r>
            <a:endParaRPr/>
          </a:p>
          <a:p>
            <a:pPr indent="-228600" lvl="0" marL="228600" rtl="0" algn="just">
              <a:lnSpc>
                <a:spcPct val="90000"/>
              </a:lnSpc>
              <a:spcBef>
                <a:spcPts val="1000"/>
              </a:spcBef>
              <a:spcAft>
                <a:spcPts val="0"/>
              </a:spcAft>
              <a:buClr>
                <a:schemeClr val="dk1"/>
              </a:buClr>
              <a:buSzPts val="2800"/>
              <a:buChar char="•"/>
            </a:pPr>
            <a:r>
              <a:rPr lang="en-US"/>
              <a:t>A </a:t>
            </a:r>
            <a:r>
              <a:rPr b="1" lang="en-US"/>
              <a:t>directed acyclic graph</a:t>
            </a:r>
            <a:r>
              <a:rPr lang="en-US"/>
              <a:t>(called a </a:t>
            </a:r>
            <a:r>
              <a:rPr b="1" lang="en-US"/>
              <a:t>DAG</a:t>
            </a:r>
            <a:r>
              <a:rPr lang="en-US"/>
              <a:t>) for an expression identifies the common ‘subexpressions’ of the expression.</a:t>
            </a:r>
            <a:endParaRPr/>
          </a:p>
          <a:p>
            <a:pPr indent="-228600" lvl="0" marL="228600" rtl="0" algn="just">
              <a:lnSpc>
                <a:spcPct val="90000"/>
              </a:lnSpc>
              <a:spcBef>
                <a:spcPts val="1000"/>
              </a:spcBef>
              <a:spcAft>
                <a:spcPts val="0"/>
              </a:spcAft>
              <a:buClr>
                <a:schemeClr val="dk1"/>
              </a:buClr>
              <a:buSzPts val="2800"/>
              <a:buChar char="•"/>
            </a:pPr>
            <a:r>
              <a:rPr lang="en-US"/>
              <a:t>DAG’s can be constructed by using the same techniques that construct syntax trees.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Directed Acyclic Graphs for Expressions</a:t>
            </a:r>
            <a:endParaRPr/>
          </a:p>
        </p:txBody>
      </p:sp>
      <p:sp>
        <p:nvSpPr>
          <p:cNvPr id="407" name="Google Shape;407;p62"/>
          <p:cNvSpPr txBox="1"/>
          <p:nvPr>
            <p:ph idx="1" type="body"/>
          </p:nvPr>
        </p:nvSpPr>
        <p:spPr>
          <a:xfrm>
            <a:off x="838200" y="1690688"/>
            <a:ext cx="10515600" cy="448627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Like the syntax tree for an expression, an DAG has leaves corresponding to atomic of parents and interior nodes corresponding to operators.</a:t>
            </a:r>
            <a:endParaRPr/>
          </a:p>
          <a:p>
            <a:pPr indent="-228600" lvl="0" marL="228600" rtl="0" algn="just">
              <a:lnSpc>
                <a:spcPct val="90000"/>
              </a:lnSpc>
              <a:spcBef>
                <a:spcPts val="1000"/>
              </a:spcBef>
              <a:spcAft>
                <a:spcPts val="0"/>
              </a:spcAft>
              <a:buClr>
                <a:schemeClr val="dk1"/>
              </a:buClr>
              <a:buSzPts val="2800"/>
              <a:buChar char="•"/>
            </a:pPr>
            <a:r>
              <a:rPr lang="en-US"/>
              <a:t>The difference is that a node N in a DAG has more than one parent if N represents a common subexpression; in a syntax tree, the tree for a common sub expression would be replicated as many times as the expression appears in the original expression.</a:t>
            </a:r>
            <a:endParaRPr/>
          </a:p>
          <a:p>
            <a:pPr indent="-228600" lvl="0" marL="228600" rtl="0" algn="just">
              <a:lnSpc>
                <a:spcPct val="90000"/>
              </a:lnSpc>
              <a:spcBef>
                <a:spcPts val="1000"/>
              </a:spcBef>
              <a:spcAft>
                <a:spcPts val="0"/>
              </a:spcAft>
              <a:buClr>
                <a:schemeClr val="dk1"/>
              </a:buClr>
              <a:buSzPts val="2800"/>
              <a:buChar char="•"/>
            </a:pPr>
            <a:r>
              <a:rPr lang="en-US"/>
              <a:t>Thus, a DAG not only represents expressions more succinctly, it gives the compiler important clues regarding the generation of efficient code to evaluate the expressions.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3"/>
          <p:cNvSpPr txBox="1"/>
          <p:nvPr>
            <p:ph idx="1" type="body"/>
          </p:nvPr>
        </p:nvSpPr>
        <p:spPr>
          <a:xfrm>
            <a:off x="471948" y="825910"/>
            <a:ext cx="10881852" cy="5515896"/>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The SDD Can construct either syntax trees or DAG’s.</a:t>
            </a:r>
            <a:endParaRPr/>
          </a:p>
          <a:p>
            <a:pPr indent="-228600" lvl="0" marL="228600" rtl="0" algn="just">
              <a:lnSpc>
                <a:spcPct val="90000"/>
              </a:lnSpc>
              <a:spcBef>
                <a:spcPts val="1000"/>
              </a:spcBef>
              <a:spcAft>
                <a:spcPts val="0"/>
              </a:spcAft>
              <a:buClr>
                <a:schemeClr val="dk1"/>
              </a:buClr>
              <a:buSzPts val="2800"/>
              <a:buChar char="•"/>
            </a:pPr>
            <a:r>
              <a:rPr lang="en-US"/>
              <a:t>it was used to construct syntax trees, where functions ‘Leaf’ and ‘Node’ created a fresh node each time they were called.</a:t>
            </a:r>
            <a:endParaRPr/>
          </a:p>
          <a:p>
            <a:pPr indent="-228600" lvl="0" marL="228600" rtl="0" algn="just">
              <a:lnSpc>
                <a:spcPct val="90000"/>
              </a:lnSpc>
              <a:spcBef>
                <a:spcPts val="1000"/>
              </a:spcBef>
              <a:spcAft>
                <a:spcPts val="0"/>
              </a:spcAft>
              <a:buClr>
                <a:schemeClr val="dk1"/>
              </a:buClr>
              <a:buSzPts val="2800"/>
              <a:buChar char="•"/>
            </a:pPr>
            <a:r>
              <a:rPr lang="en-US"/>
              <a:t>It will construct a DAG if, before creating a new node, these functions first check whether an identical node already exists.</a:t>
            </a:r>
            <a:endParaRPr/>
          </a:p>
          <a:p>
            <a:pPr indent="-228600" lvl="0" marL="228600" rtl="0" algn="just">
              <a:lnSpc>
                <a:spcPct val="90000"/>
              </a:lnSpc>
              <a:spcBef>
                <a:spcPts val="1000"/>
              </a:spcBef>
              <a:spcAft>
                <a:spcPts val="0"/>
              </a:spcAft>
              <a:buClr>
                <a:schemeClr val="dk1"/>
              </a:buClr>
              <a:buSzPts val="2800"/>
              <a:buChar char="•"/>
            </a:pPr>
            <a:r>
              <a:rPr lang="en-US"/>
              <a:t>If a previously created identical node exists, the existing node is returned.</a:t>
            </a:r>
            <a:endParaRPr/>
          </a:p>
          <a:p>
            <a:pPr indent="-228600" lvl="0" marL="228600" rtl="0" algn="just">
              <a:lnSpc>
                <a:spcPct val="90000"/>
              </a:lnSpc>
              <a:spcBef>
                <a:spcPts val="1000"/>
              </a:spcBef>
              <a:spcAft>
                <a:spcPts val="0"/>
              </a:spcAft>
              <a:buClr>
                <a:schemeClr val="dk1"/>
              </a:buClr>
              <a:buSzPts val="2800"/>
              <a:buChar char="•"/>
            </a:pPr>
            <a:r>
              <a:rPr lang="en-US"/>
              <a:t>For instance, before constructing a new node, </a:t>
            </a:r>
            <a:r>
              <a:rPr b="1" lang="en-US">
                <a:solidFill>
                  <a:srgbClr val="FF0000"/>
                </a:solidFill>
              </a:rPr>
              <a:t>Node(op, left, right) </a:t>
            </a:r>
            <a:r>
              <a:rPr lang="en-US"/>
              <a:t>we check whether there is already a node with label op, and children ‘left’ and ‘right’, in that order.</a:t>
            </a:r>
            <a:endParaRPr/>
          </a:p>
          <a:p>
            <a:pPr indent="-228600" lvl="0" marL="228600" rtl="0" algn="just">
              <a:lnSpc>
                <a:spcPct val="90000"/>
              </a:lnSpc>
              <a:spcBef>
                <a:spcPts val="1000"/>
              </a:spcBef>
              <a:spcAft>
                <a:spcPts val="0"/>
              </a:spcAft>
              <a:buClr>
                <a:schemeClr val="dk1"/>
              </a:buClr>
              <a:buSzPts val="2800"/>
              <a:buChar char="•"/>
            </a:pPr>
            <a:r>
              <a:rPr lang="en-US"/>
              <a:t>If so, ‘Node’ returns the existing node; otherwise, it creates a new node.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Three Address Code:</a:t>
            </a:r>
            <a:endParaRPr/>
          </a:p>
        </p:txBody>
      </p:sp>
      <p:sp>
        <p:nvSpPr>
          <p:cNvPr id="418" name="Google Shape;418;p64"/>
          <p:cNvSpPr txBox="1"/>
          <p:nvPr>
            <p:ph idx="1" type="body"/>
          </p:nvPr>
        </p:nvSpPr>
        <p:spPr>
          <a:xfrm>
            <a:off x="838200" y="1563330"/>
            <a:ext cx="10515600" cy="4613634"/>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It is an intermediate code used by the optimising compilers.</a:t>
            </a:r>
            <a:endParaRPr/>
          </a:p>
          <a:p>
            <a:pPr indent="-228600" lvl="0" marL="228600" rtl="0" algn="just">
              <a:lnSpc>
                <a:spcPct val="90000"/>
              </a:lnSpc>
              <a:spcBef>
                <a:spcPts val="1000"/>
              </a:spcBef>
              <a:spcAft>
                <a:spcPts val="0"/>
              </a:spcAft>
              <a:buClr>
                <a:schemeClr val="dk1"/>
              </a:buClr>
              <a:buSzPts val="2800"/>
              <a:buChar char="•"/>
            </a:pPr>
            <a:r>
              <a:rPr lang="en-US"/>
              <a:t>In three address code, the given expression is broken down into several separate instructions.</a:t>
            </a:r>
            <a:endParaRPr/>
          </a:p>
          <a:p>
            <a:pPr indent="-228600" lvl="0" marL="228600" rtl="0" algn="just">
              <a:lnSpc>
                <a:spcPct val="90000"/>
              </a:lnSpc>
              <a:spcBef>
                <a:spcPts val="1000"/>
              </a:spcBef>
              <a:spcAft>
                <a:spcPts val="0"/>
              </a:spcAft>
              <a:buClr>
                <a:schemeClr val="dk1"/>
              </a:buClr>
              <a:buSzPts val="2800"/>
              <a:buChar char="•"/>
            </a:pPr>
            <a:r>
              <a:rPr lang="en-US"/>
              <a:t>These instructions are easily translated into assembly language.</a:t>
            </a:r>
            <a:endParaRPr/>
          </a:p>
          <a:p>
            <a:pPr indent="-228600" lvl="0" marL="228600" rtl="0" algn="just">
              <a:lnSpc>
                <a:spcPct val="90000"/>
              </a:lnSpc>
              <a:spcBef>
                <a:spcPts val="1000"/>
              </a:spcBef>
              <a:spcAft>
                <a:spcPts val="0"/>
              </a:spcAft>
              <a:buClr>
                <a:schemeClr val="dk1"/>
              </a:buClr>
              <a:buSzPts val="2800"/>
              <a:buChar char="•"/>
            </a:pPr>
            <a:r>
              <a:rPr lang="en-US"/>
              <a:t>Each three address code has atmost 3 operands.</a:t>
            </a:r>
            <a:endParaRPr/>
          </a:p>
          <a:p>
            <a:pPr indent="-228600" lvl="0" marL="228600" rtl="0" algn="just">
              <a:lnSpc>
                <a:spcPct val="90000"/>
              </a:lnSpc>
              <a:spcBef>
                <a:spcPts val="1000"/>
              </a:spcBef>
              <a:spcAft>
                <a:spcPts val="0"/>
              </a:spcAft>
              <a:buClr>
                <a:schemeClr val="dk1"/>
              </a:buClr>
              <a:buSzPts val="2800"/>
              <a:buChar char="•"/>
            </a:pPr>
            <a:r>
              <a:rPr lang="en-US"/>
              <a:t>It is a combination of assignment and a binary operator.</a:t>
            </a:r>
            <a:endParaRPr/>
          </a:p>
          <a:p>
            <a:pPr indent="-228600" lvl="0" marL="228600" rtl="0" algn="just">
              <a:lnSpc>
                <a:spcPct val="90000"/>
              </a:lnSpc>
              <a:spcBef>
                <a:spcPts val="1000"/>
              </a:spcBef>
              <a:spcAft>
                <a:spcPts val="0"/>
              </a:spcAft>
              <a:buClr>
                <a:schemeClr val="dk1"/>
              </a:buClr>
              <a:buSzPts val="2800"/>
              <a:buChar char="•"/>
            </a:pPr>
            <a:r>
              <a:rPr lang="en-US"/>
              <a:t>In three address code, there is atmost one operator on the right hand side of the instruction.</a:t>
            </a:r>
            <a:endParaRPr/>
          </a:p>
          <a:p>
            <a:pPr indent="-228600" lvl="0" marL="228600" rtl="0" algn="just">
              <a:lnSpc>
                <a:spcPct val="90000"/>
              </a:lnSpc>
              <a:spcBef>
                <a:spcPts val="1000"/>
              </a:spcBef>
              <a:spcAft>
                <a:spcPts val="0"/>
              </a:spcAft>
              <a:buClr>
                <a:schemeClr val="dk1"/>
              </a:buClr>
              <a:buSzPts val="2800"/>
              <a:buChar char="•"/>
            </a:pPr>
            <a:r>
              <a:rPr lang="en-US"/>
              <a:t>Example:      </a:t>
            </a:r>
            <a:r>
              <a:rPr b="1" lang="en-US">
                <a:solidFill>
                  <a:srgbClr val="FF0000"/>
                </a:solidFill>
              </a:rPr>
              <a:t>x+y*z</a:t>
            </a:r>
            <a:endParaRPr b="1">
              <a:solidFill>
                <a:srgbClr val="FF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Different Representations of Three Address Code:</a:t>
            </a:r>
            <a:endParaRPr/>
          </a:p>
        </p:txBody>
      </p:sp>
      <p:sp>
        <p:nvSpPr>
          <p:cNvPr id="424" name="Google Shape;424;p6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Three address code can be represented in various forms viz. </a:t>
            </a:r>
            <a:r>
              <a:rPr b="1" lang="en-US">
                <a:solidFill>
                  <a:srgbClr val="FF0000"/>
                </a:solidFill>
              </a:rPr>
              <a:t>quadruples, triples and indirect triples</a:t>
            </a:r>
            <a:r>
              <a:rPr lang="en-US"/>
              <a:t>.</a:t>
            </a:r>
            <a:endParaRPr/>
          </a:p>
          <a:p>
            <a:pPr indent="-50800" lvl="0" marL="228600" rtl="0" algn="l">
              <a:lnSpc>
                <a:spcPct val="90000"/>
              </a:lnSpc>
              <a:spcBef>
                <a:spcPts val="1000"/>
              </a:spcBef>
              <a:spcAft>
                <a:spcPts val="0"/>
              </a:spcAft>
              <a:buClr>
                <a:schemeClr val="dk1"/>
              </a:buClr>
              <a:buSzPts val="2800"/>
              <a:buNone/>
            </a:pPr>
            <a:r>
              <a:t/>
            </a:r>
            <a:endParaRPr/>
          </a:p>
          <a:p>
            <a:pPr indent="-514350" lvl="0" marL="514350" rtl="0" algn="l">
              <a:lnSpc>
                <a:spcPct val="90000"/>
              </a:lnSpc>
              <a:spcBef>
                <a:spcPts val="1000"/>
              </a:spcBef>
              <a:spcAft>
                <a:spcPts val="0"/>
              </a:spcAft>
              <a:buClr>
                <a:schemeClr val="dk1"/>
              </a:buClr>
              <a:buSzPts val="2800"/>
              <a:buAutoNum type="arabicPeriod"/>
            </a:pPr>
            <a:r>
              <a:rPr b="1" lang="en-US"/>
              <a:t>Quadruples: </a:t>
            </a:r>
            <a:r>
              <a:rPr lang="en-US"/>
              <a:t>It will be constructed by consulting every production during the construction of three address code. It consists of 4 fields namely, </a:t>
            </a:r>
            <a:r>
              <a:rPr b="1" lang="en-US">
                <a:solidFill>
                  <a:srgbClr val="FF0000"/>
                </a:solidFill>
              </a:rPr>
              <a:t>op, arg1, arg2, and result</a:t>
            </a:r>
            <a:r>
              <a:rPr lang="en-US"/>
              <a:t>.</a:t>
            </a:r>
            <a:endParaRPr/>
          </a:p>
          <a:p>
            <a:pPr indent="-514350" lvl="0" marL="514350" rtl="0" algn="l">
              <a:lnSpc>
                <a:spcPct val="90000"/>
              </a:lnSpc>
              <a:spcBef>
                <a:spcPts val="1000"/>
              </a:spcBef>
              <a:spcAft>
                <a:spcPts val="0"/>
              </a:spcAft>
              <a:buClr>
                <a:schemeClr val="dk1"/>
              </a:buClr>
              <a:buSzPts val="2800"/>
              <a:buAutoNum type="arabicPeriod"/>
            </a:pPr>
            <a:r>
              <a:rPr b="1" lang="en-US"/>
              <a:t>Triples: </a:t>
            </a:r>
            <a:r>
              <a:rPr lang="en-US"/>
              <a:t>It will be constructed by consulting quadruple representation and we have to write references. It consists of 3 fields namely, </a:t>
            </a:r>
            <a:r>
              <a:rPr b="1" lang="en-US">
                <a:solidFill>
                  <a:srgbClr val="FF0000"/>
                </a:solidFill>
              </a:rPr>
              <a:t>op, arg1, and arg2</a:t>
            </a:r>
            <a:r>
              <a:rPr lang="en-US"/>
              <a:t>.</a:t>
            </a:r>
            <a:endParaRPr/>
          </a:p>
          <a:p>
            <a:pPr indent="-336550" lvl="0" marL="51435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6"/>
          <p:cNvSpPr txBox="1"/>
          <p:nvPr>
            <p:ph idx="1" type="body"/>
          </p:nvPr>
        </p:nvSpPr>
        <p:spPr>
          <a:xfrm>
            <a:off x="838200" y="1474839"/>
            <a:ext cx="10515600" cy="4702124"/>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Font typeface="Play"/>
              <a:buAutoNum type="arabicPeriod" startAt="3"/>
            </a:pPr>
            <a:r>
              <a:rPr b="1" lang="en-US"/>
              <a:t>Indirect Triples: </a:t>
            </a:r>
            <a:r>
              <a:rPr lang="en-US"/>
              <a:t>It makes use of pointers to the listing of all references to the competitions which is made separately and stored. it requires less space than triplet representation.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