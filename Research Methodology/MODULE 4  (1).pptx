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257" r:id="rId3"/>
    <p:sldId id="300" r:id="rId4"/>
    <p:sldId id="258" r:id="rId5"/>
    <p:sldId id="259" r:id="rId6"/>
    <p:sldId id="283" r:id="rId7"/>
    <p:sldId id="284" r:id="rId8"/>
    <p:sldId id="260" r:id="rId9"/>
    <p:sldId id="261" r:id="rId10"/>
    <p:sldId id="262" r:id="rId11"/>
    <p:sldId id="291" r:id="rId12"/>
    <p:sldId id="263" r:id="rId13"/>
    <p:sldId id="268" r:id="rId14"/>
    <p:sldId id="264" r:id="rId15"/>
    <p:sldId id="265" r:id="rId16"/>
    <p:sldId id="292" r:id="rId17"/>
    <p:sldId id="269" r:id="rId18"/>
    <p:sldId id="293" r:id="rId19"/>
    <p:sldId id="294" r:id="rId20"/>
    <p:sldId id="270" r:id="rId21"/>
    <p:sldId id="297" r:id="rId22"/>
    <p:sldId id="273" r:id="rId23"/>
    <p:sldId id="275" r:id="rId24"/>
    <p:sldId id="298" r:id="rId25"/>
    <p:sldId id="277" r:id="rId26"/>
    <p:sldId id="288" r:id="rId27"/>
    <p:sldId id="299" r:id="rId28"/>
    <p:sldId id="278" r:id="rId29"/>
    <p:sldId id="295" r:id="rId30"/>
    <p:sldId id="280" r:id="rId31"/>
    <p:sldId id="301" r:id="rId32"/>
    <p:sldId id="333" r:id="rId33"/>
    <p:sldId id="282" r:id="rId34"/>
    <p:sldId id="303" r:id="rId35"/>
    <p:sldId id="305" r:id="rId36"/>
    <p:sldId id="306" r:id="rId37"/>
    <p:sldId id="332" r:id="rId38"/>
    <p:sldId id="307" r:id="rId39"/>
    <p:sldId id="334" r:id="rId40"/>
    <p:sldId id="335" r:id="rId41"/>
    <p:sldId id="308" r:id="rId42"/>
    <p:sldId id="309" r:id="rId43"/>
    <p:sldId id="310" r:id="rId44"/>
    <p:sldId id="311" r:id="rId45"/>
    <p:sldId id="312" r:id="rId46"/>
    <p:sldId id="313" r:id="rId47"/>
    <p:sldId id="315" r:id="rId48"/>
    <p:sldId id="317" r:id="rId49"/>
    <p:sldId id="336" r:id="rId50"/>
    <p:sldId id="319" r:id="rId51"/>
    <p:sldId id="321" r:id="rId52"/>
    <p:sldId id="322" r:id="rId53"/>
    <p:sldId id="323" r:id="rId54"/>
    <p:sldId id="324" r:id="rId55"/>
    <p:sldId id="325" r:id="rId56"/>
    <p:sldId id="326" r:id="rId57"/>
    <p:sldId id="327" r:id="rId58"/>
    <p:sldId id="330" r:id="rId59"/>
    <p:sldId id="331"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FF8"/>
    <a:srgbClr val="F1F1F1"/>
    <a:srgbClr val="F8CCE4"/>
    <a:srgbClr val="16C0B4"/>
    <a:srgbClr val="1197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0883" autoAdjust="0"/>
  </p:normalViewPr>
  <p:slideViewPr>
    <p:cSldViewPr snapToGrid="0">
      <p:cViewPr varScale="1">
        <p:scale>
          <a:sx n="57" d="100"/>
          <a:sy n="57" d="100"/>
        </p:scale>
        <p:origin x="10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3BCFF4-15C6-4545-9A34-91D3E050B55E}" type="datetimeFigureOut">
              <a:rPr lang="en-IN" smtClean="0"/>
              <a:t>29-06-2024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3DCFD-C393-4050-93C4-105AC070A687}" type="slidenum">
              <a:rPr lang="en-IN" smtClean="0"/>
              <a:t>‹#›</a:t>
            </a:fld>
            <a:endParaRPr lang="en-IN"/>
          </a:p>
        </p:txBody>
      </p:sp>
    </p:spTree>
    <p:extLst>
      <p:ext uri="{BB962C8B-B14F-4D97-AF65-F5344CB8AC3E}">
        <p14:creationId xmlns:p14="http://schemas.microsoft.com/office/powerpoint/2010/main" val="252308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of collecting primary and secondary data differ since primary data are to be originally collected, while in case of secondary data the nature of data collection work is merely that of compilation.</a:t>
            </a:r>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2</a:t>
            </a:fld>
            <a:endParaRPr lang="en-IN" dirty="0"/>
          </a:p>
        </p:txBody>
      </p:sp>
    </p:spTree>
    <p:extLst>
      <p:ext uri="{BB962C8B-B14F-4D97-AF65-F5344CB8AC3E}">
        <p14:creationId xmlns:p14="http://schemas.microsoft.com/office/powerpoint/2010/main" val="213550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It must be systematically planned and recorded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way we all observe things around us, but this sort of observation is not scientific observation.</a:t>
            </a:r>
          </a:p>
          <a:p>
            <a:endParaRPr lang="en-US" dirty="0"/>
          </a:p>
        </p:txBody>
      </p:sp>
      <p:sp>
        <p:nvSpPr>
          <p:cNvPr id="4" name="Slide Number Placeholder 3"/>
          <p:cNvSpPr>
            <a:spLocks noGrp="1"/>
          </p:cNvSpPr>
          <p:nvPr>
            <p:ph type="sldNum" sz="quarter" idx="5"/>
          </p:nvPr>
        </p:nvSpPr>
        <p:spPr/>
        <p:txBody>
          <a:bodyPr/>
          <a:lstStyle/>
          <a:p>
            <a:fld id="{B783DCFD-C393-4050-93C4-105AC070A687}" type="slidenum">
              <a:rPr lang="en-IN" smtClean="0"/>
              <a:t>5</a:t>
            </a:fld>
            <a:endParaRPr lang="en-IN" dirty="0"/>
          </a:p>
        </p:txBody>
      </p:sp>
    </p:spTree>
    <p:extLst>
      <p:ext uri="{BB962C8B-B14F-4D97-AF65-F5344CB8AC3E}">
        <p14:creationId xmlns:p14="http://schemas.microsoft.com/office/powerpoint/2010/main" val="25681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he can experience what the members of the group experience</a:t>
            </a: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8</a:t>
            </a:fld>
            <a:endParaRPr lang="en-IN" dirty="0"/>
          </a:p>
        </p:txBody>
      </p:sp>
    </p:spTree>
    <p:extLst>
      <p:ext uri="{BB962C8B-B14F-4D97-AF65-F5344CB8AC3E}">
        <p14:creationId xmlns:p14="http://schemas.microsoft.com/office/powerpoint/2010/main" val="833375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Occasional field checks .</a:t>
            </a:r>
          </a:p>
          <a:p>
            <a:r>
              <a:rPr lang="en-US" sz="1200" dirty="0">
                <a:latin typeface="Calibri" panose="020F0502020204030204" pitchFamily="34" charset="0"/>
                <a:ea typeface="Calibri" panose="020F0502020204030204" pitchFamily="34" charset="0"/>
                <a:cs typeface="Calibri" panose="020F0502020204030204" pitchFamily="34" charset="0"/>
              </a:rPr>
              <a:t> to ensure that interviewers are not deviating from topic</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Appropriate actions, if the respondents refuse to cooperate. Or is not available.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12</a:t>
            </a:fld>
            <a:endParaRPr lang="en-IN" dirty="0"/>
          </a:p>
        </p:txBody>
      </p:sp>
    </p:spTree>
    <p:extLst>
      <p:ext uri="{BB962C8B-B14F-4D97-AF65-F5344CB8AC3E}">
        <p14:creationId xmlns:p14="http://schemas.microsoft.com/office/powerpoint/2010/main" val="2148920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successful implementation of the interview method, </a:t>
            </a:r>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13</a:t>
            </a:fld>
            <a:endParaRPr lang="en-IN" dirty="0"/>
          </a:p>
        </p:txBody>
      </p:sp>
    </p:spTree>
    <p:extLst>
      <p:ext uri="{BB962C8B-B14F-4D97-AF65-F5344CB8AC3E}">
        <p14:creationId xmlns:p14="http://schemas.microsoft.com/office/powerpoint/2010/main" val="4164969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18</a:t>
            </a:fld>
            <a:endParaRPr lang="en-IN"/>
          </a:p>
        </p:txBody>
      </p:sp>
    </p:spTree>
    <p:extLst>
      <p:ext uri="{BB962C8B-B14F-4D97-AF65-F5344CB8AC3E}">
        <p14:creationId xmlns:p14="http://schemas.microsoft.com/office/powerpoint/2010/main" val="2706450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21</a:t>
            </a:fld>
            <a:endParaRPr lang="en-IN"/>
          </a:p>
        </p:txBody>
      </p:sp>
    </p:spTree>
    <p:extLst>
      <p:ext uri="{BB962C8B-B14F-4D97-AF65-F5344CB8AC3E}">
        <p14:creationId xmlns:p14="http://schemas.microsoft.com/office/powerpoint/2010/main" val="3724089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solidFill>
                  <a:schemeClr val="tx1"/>
                </a:solidFill>
                <a:latin typeface="Calibri" panose="020F0502020204030204" pitchFamily="34" charset="0"/>
                <a:ea typeface="Calibri" panose="020F0502020204030204" pitchFamily="34" charset="0"/>
                <a:cs typeface="Calibri" panose="020F0502020204030204" pitchFamily="34" charset="0"/>
              </a:rPr>
              <a:t>closed (i.e., of the type ‘yes’ or ‘no’), ranking, with choices etc. or  open (i.e., inviting free response) </a:t>
            </a:r>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22</a:t>
            </a:fld>
            <a:endParaRPr lang="en-IN"/>
          </a:p>
        </p:txBody>
      </p:sp>
    </p:spTree>
    <p:extLst>
      <p:ext uri="{BB962C8B-B14F-4D97-AF65-F5344CB8AC3E}">
        <p14:creationId xmlns:p14="http://schemas.microsoft.com/office/powerpoint/2010/main" val="3683764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very much like the collection of data through questionnaire.</a:t>
            </a: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29</a:t>
            </a:fld>
            <a:endParaRPr lang="en-IN"/>
          </a:p>
        </p:txBody>
      </p:sp>
    </p:spTree>
    <p:extLst>
      <p:ext uri="{BB962C8B-B14F-4D97-AF65-F5344CB8AC3E}">
        <p14:creationId xmlns:p14="http://schemas.microsoft.com/office/powerpoint/2010/main" val="1687676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Definition of various terms, units of collection The researcher must scrutinize the used primarily during data collection.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the available data are found to be unsuitable, they should not be used by the researcher.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the researcher finds differences in these, the data will remain unsuitable for the present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latin typeface="Calibri" panose="020F0502020204030204" pitchFamily="34" charset="0"/>
                <a:ea typeface="Calibri" panose="020F0502020204030204" pitchFamily="34" charset="0"/>
                <a:cs typeface="Calibri" panose="020F0502020204030204" pitchFamily="34" charset="0"/>
              </a:rPr>
              <a:t>Researcher</a:t>
            </a:r>
            <a:r>
              <a:rPr lang="en-US" sz="1200" dirty="0">
                <a:latin typeface="Calibri" panose="020F0502020204030204" pitchFamily="34" charset="0"/>
                <a:ea typeface="Calibri" panose="020F0502020204030204" pitchFamily="34" charset="0"/>
                <a:cs typeface="Calibri" panose="020F0502020204030204" pitchFamily="34" charset="0"/>
              </a:rPr>
              <a:t> should not ignore data if they are readily available from authentic 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32</a:t>
            </a:fld>
            <a:endParaRPr lang="en-IN"/>
          </a:p>
        </p:txBody>
      </p:sp>
    </p:spTree>
    <p:extLst>
      <p:ext uri="{BB962C8B-B14F-4D97-AF65-F5344CB8AC3E}">
        <p14:creationId xmlns:p14="http://schemas.microsoft.com/office/powerpoint/2010/main" val="3527359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a:latin typeface="Calibri" panose="020F0502020204030204" pitchFamily="34" charset="0"/>
                <a:ea typeface="Calibri" panose="020F0502020204030204" pitchFamily="34" charset="0"/>
                <a:cs typeface="Calibri" panose="020F0502020204030204" pitchFamily="34" charset="0"/>
              </a:rPr>
              <a:t>If hypotheses are tested and upheld several times, the researcher may arrive at generalizations.</a:t>
            </a:r>
          </a:p>
          <a:p>
            <a:pPr algn="just"/>
            <a:r>
              <a:rPr lang="en-US" sz="1200">
                <a:latin typeface="Calibri" panose="020F0502020204030204" pitchFamily="34" charset="0"/>
                <a:ea typeface="Calibri" panose="020F0502020204030204" pitchFamily="34" charset="0"/>
                <a:cs typeface="Calibri" panose="020F0502020204030204" pitchFamily="34" charset="0"/>
              </a:rPr>
              <a:t>If the researcher has no hypothesis to start with, he will try to explain his findings based on some theory. </a:t>
            </a: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34</a:t>
            </a:fld>
            <a:endParaRPr lang="en-IN"/>
          </a:p>
        </p:txBody>
      </p:sp>
    </p:spTree>
    <p:extLst>
      <p:ext uri="{BB962C8B-B14F-4D97-AF65-F5344CB8AC3E}">
        <p14:creationId xmlns:p14="http://schemas.microsoft.com/office/powerpoint/2010/main" val="3825936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36</a:t>
            </a:fld>
            <a:endParaRPr lang="en-IN"/>
          </a:p>
        </p:txBody>
      </p:sp>
    </p:spTree>
    <p:extLst>
      <p:ext uri="{BB962C8B-B14F-4D97-AF65-F5344CB8AC3E}">
        <p14:creationId xmlns:p14="http://schemas.microsoft.com/office/powerpoint/2010/main" val="1175095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value of index lies in the fact that it</a:t>
            </a: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44</a:t>
            </a:fld>
            <a:endParaRPr lang="en-IN"/>
          </a:p>
        </p:txBody>
      </p:sp>
    </p:spTree>
    <p:extLst>
      <p:ext uri="{BB962C8B-B14F-4D97-AF65-F5344CB8AC3E}">
        <p14:creationId xmlns:p14="http://schemas.microsoft.com/office/powerpoint/2010/main" val="1013310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sz="1200" dirty="0">
                <a:latin typeface="Calibri" panose="020F0502020204030204" pitchFamily="34" charset="0"/>
                <a:ea typeface="Calibri" panose="020F0502020204030204" pitchFamily="34" charset="0"/>
                <a:cs typeface="Calibri" panose="020F0502020204030204" pitchFamily="34" charset="0"/>
              </a:rPr>
              <a:t>Methodology</a:t>
            </a:r>
          </a:p>
          <a:p>
            <a:pPr lvl="2"/>
            <a:r>
              <a:rPr lang="en-US" sz="1200" dirty="0">
                <a:latin typeface="Calibri" panose="020F0502020204030204" pitchFamily="34" charset="0"/>
                <a:ea typeface="Calibri" panose="020F0502020204030204" pitchFamily="34" charset="0"/>
                <a:cs typeface="Calibri" panose="020F0502020204030204" pitchFamily="34" charset="0"/>
              </a:rPr>
              <a:t>How was the study carried out?</a:t>
            </a:r>
          </a:p>
          <a:p>
            <a:pPr lvl="2"/>
            <a:r>
              <a:rPr lang="en-US" sz="1200" dirty="0">
                <a:latin typeface="Calibri" panose="020F0502020204030204" pitchFamily="34" charset="0"/>
                <a:ea typeface="Calibri" panose="020F0502020204030204" pitchFamily="34" charset="0"/>
                <a:cs typeface="Calibri" panose="020F0502020204030204" pitchFamily="34" charset="0"/>
              </a:rPr>
              <a:t>What was its basic design?</a:t>
            </a:r>
          </a:p>
          <a:p>
            <a:pPr lvl="2"/>
            <a:r>
              <a:rPr lang="en-US" sz="1200" dirty="0">
                <a:latin typeface="Calibri" panose="020F0502020204030204" pitchFamily="34" charset="0"/>
                <a:ea typeface="Calibri" panose="020F0502020204030204" pitchFamily="34" charset="0"/>
                <a:cs typeface="Calibri" panose="020F0502020204030204" pitchFamily="34" charset="0"/>
              </a:rPr>
              <a:t>what were the experimental manipulations? </a:t>
            </a:r>
          </a:p>
          <a:p>
            <a:pPr lvl="2"/>
            <a:r>
              <a:rPr lang="en-US" sz="1200" dirty="0">
                <a:latin typeface="Calibri" panose="020F0502020204030204" pitchFamily="34" charset="0"/>
                <a:ea typeface="Calibri" panose="020F0502020204030204" pitchFamily="34" charset="0"/>
                <a:cs typeface="Calibri" panose="020F0502020204030204" pitchFamily="34" charset="0"/>
              </a:rPr>
              <a:t>Regarding the sample used in the study, Who were the subjects? </a:t>
            </a:r>
          </a:p>
          <a:p>
            <a:pPr lvl="2"/>
            <a:r>
              <a:rPr lang="en-US" sz="1200" dirty="0">
                <a:latin typeface="Calibri" panose="020F0502020204030204" pitchFamily="34" charset="0"/>
                <a:ea typeface="Calibri" panose="020F0502020204030204" pitchFamily="34" charset="0"/>
                <a:cs typeface="Calibri" panose="020F0502020204030204" pitchFamily="34" charset="0"/>
              </a:rPr>
              <a:t>How many were there? </a:t>
            </a:r>
          </a:p>
          <a:p>
            <a:pPr lvl="2"/>
            <a:r>
              <a:rPr lang="en-US" sz="1200" dirty="0">
                <a:latin typeface="Calibri" panose="020F0502020204030204" pitchFamily="34" charset="0"/>
                <a:ea typeface="Calibri" panose="020F0502020204030204" pitchFamily="34" charset="0"/>
                <a:cs typeface="Calibri" panose="020F0502020204030204" pitchFamily="34" charset="0"/>
              </a:rPr>
              <a:t>How were they selected? </a:t>
            </a:r>
          </a:p>
          <a:p>
            <a:pPr lvl="2"/>
            <a:r>
              <a:rPr lang="en-US" sz="1200" dirty="0">
                <a:latin typeface="Calibri" panose="020F0502020204030204" pitchFamily="34" charset="0"/>
                <a:ea typeface="Calibri" panose="020F0502020204030204" pitchFamily="34" charset="0"/>
                <a:cs typeface="Calibri" panose="020F0502020204030204" pitchFamily="34" charset="0"/>
              </a:rPr>
              <a:t>The statistical analysis adopted.</a:t>
            </a:r>
          </a:p>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45</a:t>
            </a:fld>
            <a:endParaRPr lang="en-IN"/>
          </a:p>
        </p:txBody>
      </p:sp>
    </p:spTree>
    <p:extLst>
      <p:ext uri="{BB962C8B-B14F-4D97-AF65-F5344CB8AC3E}">
        <p14:creationId xmlns:p14="http://schemas.microsoft.com/office/powerpoint/2010/main" val="2212341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sz="1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OUTLINE OF A TECHNICAL REPORT </a:t>
            </a:r>
          </a:p>
          <a:p>
            <a:pPr marL="457200" indent="-457200"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Summary of results: </a:t>
            </a:r>
            <a:r>
              <a:rPr lang="en-US" sz="1200" dirty="0">
                <a:latin typeface="Calibri" panose="020F0502020204030204" pitchFamily="34" charset="0"/>
                <a:ea typeface="Calibri" panose="020F0502020204030204" pitchFamily="34" charset="0"/>
                <a:cs typeface="Calibri" panose="020F0502020204030204" pitchFamily="34" charset="0"/>
              </a:rPr>
              <a:t>Review of the main findings.</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Nature of the study</a:t>
            </a:r>
            <a:r>
              <a:rPr lang="en-US" sz="1200" dirty="0">
                <a:latin typeface="Calibri" panose="020F0502020204030204" pitchFamily="34" charset="0"/>
                <a:ea typeface="Calibri" panose="020F0502020204030204" pitchFamily="34" charset="0"/>
                <a:cs typeface="Calibri" panose="020F0502020204030204" pitchFamily="34" charset="0"/>
              </a:rPr>
              <a:t>: General objectives of study, formulation of the problem in operational terms, the working hypothesis, the type of analysis and data required, etc. </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Methods employed</a:t>
            </a:r>
            <a:r>
              <a:rPr lang="en-US" sz="1200" dirty="0">
                <a:latin typeface="Calibri" panose="020F0502020204030204" pitchFamily="34" charset="0"/>
                <a:ea typeface="Calibri" panose="020F0502020204030204" pitchFamily="34" charset="0"/>
                <a:cs typeface="Calibri" panose="020F0502020204030204" pitchFamily="34" charset="0"/>
              </a:rPr>
              <a:t>: Specific methods used in the study and their limitations.</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Data:</a:t>
            </a:r>
            <a:r>
              <a:rPr lang="en-US" sz="1200" dirty="0">
                <a:latin typeface="Calibri" panose="020F0502020204030204" pitchFamily="34" charset="0"/>
                <a:ea typeface="Calibri" panose="020F0502020204030204" pitchFamily="34" charset="0"/>
                <a:cs typeface="Calibri" panose="020F0502020204030204" pitchFamily="34" charset="0"/>
              </a:rPr>
              <a:t> Data collected, their sources, methods employed, characteristics and limitations.</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Analysis of data and presentation of findings:</a:t>
            </a:r>
            <a:r>
              <a:rPr lang="en-US" sz="1200" dirty="0">
                <a:latin typeface="Calibri" panose="020F0502020204030204" pitchFamily="34" charset="0"/>
                <a:ea typeface="Calibri" panose="020F0502020204030204" pitchFamily="34" charset="0"/>
                <a:cs typeface="Calibri" panose="020F0502020204030204" pitchFamily="34" charset="0"/>
              </a:rPr>
              <a:t> Presentation of the findings in the form of tables and charts. (Main Body)</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Conclusions:</a:t>
            </a:r>
            <a:r>
              <a:rPr lang="en-US" sz="1200" dirty="0">
                <a:latin typeface="Calibri" panose="020F0502020204030204" pitchFamily="34" charset="0"/>
                <a:ea typeface="Calibri" panose="020F0502020204030204" pitchFamily="34" charset="0"/>
                <a:cs typeface="Calibri" panose="020F0502020204030204" pitchFamily="34" charset="0"/>
              </a:rPr>
              <a:t> A detailed summary of the findings and the implications drawn from the results.</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Bibliography:</a:t>
            </a:r>
            <a:r>
              <a:rPr lang="en-US" sz="1200" dirty="0">
                <a:latin typeface="Calibri" panose="020F0502020204030204" pitchFamily="34" charset="0"/>
                <a:ea typeface="Calibri" panose="020F0502020204030204" pitchFamily="34" charset="0"/>
                <a:cs typeface="Calibri" panose="020F0502020204030204" pitchFamily="34" charset="0"/>
              </a:rPr>
              <a:t> Bibliography of various sources consulted. </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Technical appendices</a:t>
            </a:r>
            <a:r>
              <a:rPr lang="en-US" sz="1200" dirty="0">
                <a:latin typeface="Calibri" panose="020F0502020204030204" pitchFamily="34" charset="0"/>
                <a:ea typeface="Calibri" panose="020F0502020204030204" pitchFamily="34" charset="0"/>
                <a:cs typeface="Calibri" panose="020F0502020204030204" pitchFamily="34" charset="0"/>
              </a:rPr>
              <a:t>: Additional information on all the technical matters.</a:t>
            </a:r>
          </a:p>
          <a:p>
            <a:pPr algn="just">
              <a:buFont typeface="+mj-lt"/>
              <a:buAutoNum type="arabicPeriod"/>
            </a:pPr>
            <a:r>
              <a:rPr lang="en-US" sz="1200" b="1" dirty="0">
                <a:latin typeface="Calibri" panose="020F0502020204030204" pitchFamily="34" charset="0"/>
                <a:ea typeface="Calibri" panose="020F0502020204030204" pitchFamily="34" charset="0"/>
                <a:cs typeface="Calibri" panose="020F0502020204030204" pitchFamily="34" charset="0"/>
              </a:rPr>
              <a:t>Index:</a:t>
            </a:r>
            <a:r>
              <a:rPr lang="en-US" sz="1200" dirty="0">
                <a:latin typeface="Calibri" panose="020F0502020204030204" pitchFamily="34" charset="0"/>
                <a:ea typeface="Calibri" panose="020F0502020204030204" pitchFamily="34" charset="0"/>
                <a:cs typeface="Calibri" panose="020F0502020204030204" pitchFamily="34" charset="0"/>
              </a:rPr>
              <a:t> Index must be prepared and be given invariably in the report at the end.</a:t>
            </a:r>
            <a:endParaRPr lang="en-IN" sz="1200" dirty="0">
              <a:latin typeface="Calibri" panose="020F0502020204030204" pitchFamily="34" charset="0"/>
              <a:ea typeface="Calibri" panose="020F0502020204030204" pitchFamily="34" charset="0"/>
              <a:cs typeface="Calibri" panose="020F0502020204030204" pitchFamily="34" charset="0"/>
            </a:endParaRPr>
          </a:p>
          <a:p>
            <a:endParaRPr lang="en-US" dirty="0"/>
          </a:p>
          <a:p>
            <a:r>
              <a:rPr lang="en-US" dirty="0"/>
              <a:t>Methods employed: Specific methods used in the study and their limitations. For instance, in sampling studies we should give details of sample design viz., sample size, sample selection.</a:t>
            </a:r>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50</a:t>
            </a:fld>
            <a:endParaRPr lang="en-IN"/>
          </a:p>
        </p:txBody>
      </p:sp>
    </p:spTree>
    <p:extLst>
      <p:ext uri="{BB962C8B-B14F-4D97-AF65-F5344CB8AC3E}">
        <p14:creationId xmlns:p14="http://schemas.microsoft.com/office/powerpoint/2010/main" val="1106647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83DCFD-C393-4050-93C4-105AC070A687}" type="slidenum">
              <a:rPr lang="en-IN" smtClean="0"/>
              <a:t>51</a:t>
            </a:fld>
            <a:endParaRPr lang="en-IN"/>
          </a:p>
        </p:txBody>
      </p:sp>
    </p:spTree>
    <p:extLst>
      <p:ext uri="{BB962C8B-B14F-4D97-AF65-F5344CB8AC3E}">
        <p14:creationId xmlns:p14="http://schemas.microsoft.com/office/powerpoint/2010/main" val="126465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224310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44557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666999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86C2BA-9860-4358-98C5-303989DD153A}" type="datetimeFigureOut">
              <a:rPr lang="en-IN" smtClean="0"/>
              <a:t>29-06-2024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180076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86C2BA-9860-4358-98C5-303989DD153A}" type="datetimeFigureOut">
              <a:rPr lang="en-IN" smtClean="0"/>
              <a:t>29-06-2024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328522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86C2BA-9860-4358-98C5-303989DD153A}" type="datetimeFigureOut">
              <a:rPr lang="en-IN" smtClean="0"/>
              <a:t>29-06-2024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413951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86C2BA-9860-4358-98C5-303989DD153A}" type="datetimeFigureOut">
              <a:rPr lang="en-IN" smtClean="0"/>
              <a:t>29-06-2024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95035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86C2BA-9860-4358-98C5-303989DD153A}" type="datetimeFigureOut">
              <a:rPr lang="en-IN" smtClean="0"/>
              <a:t>29-06-2024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3023026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86C2BA-9860-4358-98C5-303989DD153A}" type="datetimeFigureOut">
              <a:rPr lang="en-IN" smtClean="0"/>
              <a:t>29-06-2024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4150384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3206871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28882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4099839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91642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821280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1371206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86C2BA-9860-4358-98C5-303989DD153A}" type="datetimeFigureOut">
              <a:rPr lang="en-IN" smtClean="0"/>
              <a:t>29-06-2024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1572D8-FF6E-40BE-A389-2EBFFDC3301A}" type="slidenum">
              <a:rPr lang="en-IN" smtClean="0"/>
              <a:t>‹#›</a:t>
            </a:fld>
            <a:endParaRPr lang="en-IN"/>
          </a:p>
        </p:txBody>
      </p:sp>
    </p:spTree>
    <p:extLst>
      <p:ext uri="{BB962C8B-B14F-4D97-AF65-F5344CB8AC3E}">
        <p14:creationId xmlns:p14="http://schemas.microsoft.com/office/powerpoint/2010/main" val="2713134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886C2BA-9860-4358-98C5-303989DD153A}" type="datetimeFigureOut">
              <a:rPr lang="en-IN" smtClean="0"/>
              <a:t>29-06-2024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B1572D8-FF6E-40BE-A389-2EBFFDC3301A}" type="slidenum">
              <a:rPr lang="en-IN" smtClean="0"/>
              <a:t>‹#›</a:t>
            </a:fld>
            <a:endParaRPr lang="en-IN"/>
          </a:p>
        </p:txBody>
      </p:sp>
    </p:spTree>
    <p:extLst>
      <p:ext uri="{BB962C8B-B14F-4D97-AF65-F5344CB8AC3E}">
        <p14:creationId xmlns:p14="http://schemas.microsoft.com/office/powerpoint/2010/main" val="8125429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1" name="Picture 10" descr="A cartoon of people holding a pen and a magnifying glass&#10;&#10;Description automatically generated">
            <a:extLst>
              <a:ext uri="{FF2B5EF4-FFF2-40B4-BE49-F238E27FC236}">
                <a16:creationId xmlns:a16="http://schemas.microsoft.com/office/drawing/2014/main" id="{8CC48446-A906-571A-6203-51945E23D2F0}"/>
              </a:ext>
            </a:extLst>
          </p:cNvPr>
          <p:cNvPicPr>
            <a:picLocks noChangeAspect="1"/>
          </p:cNvPicPr>
          <p:nvPr/>
        </p:nvPicPr>
        <p:blipFill rotWithShape="1">
          <a:blip r:embed="rId2">
            <a:extLst>
              <a:ext uri="{28A0092B-C50C-407E-A947-70E740481C1C}">
                <a14:useLocalDpi xmlns:a14="http://schemas.microsoft.com/office/drawing/2010/main" val="0"/>
              </a:ext>
            </a:extLst>
          </a:blip>
          <a:srcRect l="14719" t="13309" r="32638" b="19736"/>
          <a:stretch/>
        </p:blipFill>
        <p:spPr>
          <a:xfrm>
            <a:off x="56021" y="81509"/>
            <a:ext cx="5159829" cy="6694981"/>
          </a:xfrm>
          <a:prstGeom prst="rect">
            <a:avLst/>
          </a:prstGeom>
        </p:spPr>
      </p:pic>
      <p:sp>
        <p:nvSpPr>
          <p:cNvPr id="2" name="Title 1">
            <a:extLst>
              <a:ext uri="{FF2B5EF4-FFF2-40B4-BE49-F238E27FC236}">
                <a16:creationId xmlns:a16="http://schemas.microsoft.com/office/drawing/2014/main" id="{1D038BBE-6393-A4FA-E96E-CB1AD43AB964}"/>
              </a:ext>
            </a:extLst>
          </p:cNvPr>
          <p:cNvSpPr>
            <a:spLocks noGrp="1"/>
          </p:cNvSpPr>
          <p:nvPr>
            <p:ph type="ctrTitle"/>
          </p:nvPr>
        </p:nvSpPr>
        <p:spPr>
          <a:xfrm>
            <a:off x="5473918" y="468484"/>
            <a:ext cx="6509657" cy="5921032"/>
          </a:xfrm>
          <a:solidFill>
            <a:schemeClr val="bg1"/>
          </a:solidFill>
        </p:spPr>
        <p:txBody>
          <a:bodyPr>
            <a:noAutofit/>
          </a:bodyPr>
          <a:lstStyle/>
          <a:p>
            <a:pPr algn="ctr">
              <a:lnSpc>
                <a:spcPct val="90000"/>
              </a:lnSpc>
            </a:pPr>
            <a:r>
              <a:rPr lang="en-IN" sz="6000" b="1" dirty="0">
                <a:solidFill>
                  <a:srgbClr val="7030A0"/>
                </a:solidFill>
              </a:rPr>
              <a:t>MODULE 4</a:t>
            </a:r>
            <a:br>
              <a:rPr lang="en-IN" sz="6000" b="1" dirty="0">
                <a:solidFill>
                  <a:srgbClr val="7030A0"/>
                </a:solidFill>
              </a:rPr>
            </a:br>
            <a:br>
              <a:rPr lang="en-IN" sz="6000" b="1" dirty="0">
                <a:solidFill>
                  <a:srgbClr val="7030A0"/>
                </a:solidFill>
              </a:rPr>
            </a:br>
            <a:r>
              <a:rPr lang="en-IN" sz="6000" b="1" dirty="0">
                <a:solidFill>
                  <a:srgbClr val="7030A0"/>
                </a:solidFill>
              </a:rPr>
              <a:t>DATA </a:t>
            </a:r>
            <a:br>
              <a:rPr lang="en-IN" sz="6000" b="1" dirty="0">
                <a:solidFill>
                  <a:srgbClr val="7030A0"/>
                </a:solidFill>
              </a:rPr>
            </a:br>
            <a:r>
              <a:rPr lang="en-IN" sz="6000" b="1" dirty="0">
                <a:solidFill>
                  <a:srgbClr val="7030A0"/>
                </a:solidFill>
              </a:rPr>
              <a:t>COLLECTION</a:t>
            </a:r>
            <a:br>
              <a:rPr lang="en-IN" sz="6000" b="1" dirty="0">
                <a:solidFill>
                  <a:srgbClr val="7030A0"/>
                </a:solidFill>
              </a:rPr>
            </a:br>
            <a:r>
              <a:rPr lang="en-IN" sz="6000" b="1" dirty="0">
                <a:solidFill>
                  <a:srgbClr val="7030A0"/>
                </a:solidFill>
              </a:rPr>
              <a:t>INTERPRETATION</a:t>
            </a:r>
            <a:br>
              <a:rPr lang="en-IN" sz="6000" b="1" dirty="0">
                <a:solidFill>
                  <a:srgbClr val="7030A0"/>
                </a:solidFill>
              </a:rPr>
            </a:br>
            <a:r>
              <a:rPr lang="en-IN" sz="6000" b="1" dirty="0">
                <a:solidFill>
                  <a:srgbClr val="7030A0"/>
                </a:solidFill>
              </a:rPr>
              <a:t>AND REPORTING</a:t>
            </a:r>
            <a:br>
              <a:rPr lang="en-IN" sz="6000" b="1" dirty="0">
                <a:solidFill>
                  <a:srgbClr val="7030A0"/>
                </a:solidFill>
              </a:rPr>
            </a:br>
            <a:endParaRPr lang="en-IN" sz="6000" b="1" dirty="0">
              <a:solidFill>
                <a:srgbClr val="7030A0"/>
              </a:solidFill>
            </a:endParaRPr>
          </a:p>
        </p:txBody>
      </p:sp>
      <p:sp>
        <p:nvSpPr>
          <p:cNvPr id="15" name="Title 1">
            <a:extLst>
              <a:ext uri="{FF2B5EF4-FFF2-40B4-BE49-F238E27FC236}">
                <a16:creationId xmlns:a16="http://schemas.microsoft.com/office/drawing/2014/main" id="{A26FC49A-29E9-731A-B406-67769D413533}"/>
              </a:ext>
            </a:extLst>
          </p:cNvPr>
          <p:cNvSpPr txBox="1">
            <a:spLocks/>
          </p:cNvSpPr>
          <p:nvPr/>
        </p:nvSpPr>
        <p:spPr>
          <a:xfrm>
            <a:off x="5473918" y="169989"/>
            <a:ext cx="6251589" cy="989671"/>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90000"/>
              </a:lnSpc>
            </a:pPr>
            <a:endParaRPr lang="en-IN" sz="6000" b="1" dirty="0">
              <a:solidFill>
                <a:srgbClr val="7030A0"/>
              </a:solidFill>
            </a:endParaRPr>
          </a:p>
        </p:txBody>
      </p:sp>
    </p:spTree>
    <p:extLst>
      <p:ext uri="{BB962C8B-B14F-4D97-AF65-F5344CB8AC3E}">
        <p14:creationId xmlns:p14="http://schemas.microsoft.com/office/powerpoint/2010/main" val="442524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box with colorful objects flying out of it&#10;&#10;Description automatically generated">
            <a:extLst>
              <a:ext uri="{FF2B5EF4-FFF2-40B4-BE49-F238E27FC236}">
                <a16:creationId xmlns:a16="http://schemas.microsoft.com/office/drawing/2014/main" id="{44B45F23-28D5-D978-1887-3BAEC288034D}"/>
              </a:ext>
            </a:extLst>
          </p:cNvPr>
          <p:cNvPicPr>
            <a:picLocks noChangeAspect="1"/>
          </p:cNvPicPr>
          <p:nvPr/>
        </p:nvPicPr>
        <p:blipFill rotWithShape="1">
          <a:blip r:embed="rId3">
            <a:extLst>
              <a:ext uri="{28A0092B-C50C-407E-A947-70E740481C1C}">
                <a14:useLocalDpi xmlns:a14="http://schemas.microsoft.com/office/drawing/2010/main" val="0"/>
              </a:ext>
            </a:extLst>
          </a:blip>
          <a:srcRect l="28860" t="8889" r="27168" b="28147"/>
          <a:stretch/>
        </p:blipFill>
        <p:spPr>
          <a:xfrm>
            <a:off x="6335487" y="0"/>
            <a:ext cx="3397875" cy="4889325"/>
          </a:xfrm>
          <a:prstGeom prst="rect">
            <a:avLst/>
          </a:prstGeom>
        </p:spPr>
      </p:pic>
      <p:sp>
        <p:nvSpPr>
          <p:cNvPr id="2" name="Title 1">
            <a:extLst>
              <a:ext uri="{FF2B5EF4-FFF2-40B4-BE49-F238E27FC236}">
                <a16:creationId xmlns:a16="http://schemas.microsoft.com/office/drawing/2014/main" id="{0393DB03-C92B-99E2-73F4-15BA9C76CF52}"/>
              </a:ext>
            </a:extLst>
          </p:cNvPr>
          <p:cNvSpPr>
            <a:spLocks noGrp="1"/>
          </p:cNvSpPr>
          <p:nvPr>
            <p:ph type="title"/>
          </p:nvPr>
        </p:nvSpPr>
        <p:spPr>
          <a:xfrm>
            <a:off x="578774" y="0"/>
            <a:ext cx="5277740" cy="1320800"/>
          </a:xfrm>
        </p:spPr>
        <p:txBody>
          <a:bodyPr anchor="ctr">
            <a:normAutofit/>
          </a:bodyPr>
          <a:lstStyle/>
          <a:p>
            <a:r>
              <a:rPr lang="en-US" b="1" dirty="0"/>
              <a:t>DATA COLLECTION</a:t>
            </a:r>
            <a:endParaRPr lang="en-IN" b="1" dirty="0"/>
          </a:p>
        </p:txBody>
      </p:sp>
      <p:sp>
        <p:nvSpPr>
          <p:cNvPr id="3" name="Content Placeholder 2">
            <a:extLst>
              <a:ext uri="{FF2B5EF4-FFF2-40B4-BE49-F238E27FC236}">
                <a16:creationId xmlns:a16="http://schemas.microsoft.com/office/drawing/2014/main" id="{0117F337-1D31-970A-C20F-B05F19133E4C}"/>
              </a:ext>
            </a:extLst>
          </p:cNvPr>
          <p:cNvSpPr>
            <a:spLocks noGrp="1"/>
          </p:cNvSpPr>
          <p:nvPr>
            <p:ph idx="1"/>
          </p:nvPr>
        </p:nvSpPr>
        <p:spPr>
          <a:xfrm>
            <a:off x="578774" y="1137332"/>
            <a:ext cx="5756713" cy="3532639"/>
          </a:xfrm>
        </p:spPr>
        <p:txBody>
          <a:bodyPr>
            <a:noAutofit/>
          </a:bodyPr>
          <a:lstStyle/>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The process of collecting data from the samples.</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It begins after defining the research problem &amp; research design.</a:t>
            </a:r>
          </a:p>
          <a:p>
            <a:pPr algn="just">
              <a:lnSpc>
                <a:spcPct val="90000"/>
              </a:lnSpc>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just">
              <a:lnSpc>
                <a:spcPct val="90000"/>
              </a:lnSpc>
              <a:buNone/>
            </a:pPr>
            <a:r>
              <a:rPr lang="en-US" sz="2400" b="1" dirty="0">
                <a:solidFill>
                  <a:srgbClr val="7030A0"/>
                </a:solidFill>
                <a:latin typeface="Calibri" panose="020F0502020204030204" pitchFamily="34" charset="0"/>
                <a:ea typeface="Calibri" panose="020F0502020204030204" pitchFamily="34" charset="0"/>
                <a:cs typeface="Calibri" panose="020F0502020204030204" pitchFamily="34" charset="0"/>
              </a:rPr>
              <a:t>TYPES OF DATA </a:t>
            </a:r>
          </a:p>
          <a:p>
            <a:pPr marL="0" indent="0" algn="just">
              <a:lnSpc>
                <a:spcPct val="90000"/>
              </a:lnSpc>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lgn="just">
              <a:lnSpc>
                <a:spcPct val="90000"/>
              </a:lnSpc>
              <a:buNone/>
            </a:pPr>
            <a:r>
              <a:rPr lang="en-US" sz="2400" b="1" dirty="0">
                <a:latin typeface="Calibri" panose="020F0502020204030204" pitchFamily="34" charset="0"/>
                <a:ea typeface="Calibri" panose="020F0502020204030204" pitchFamily="34" charset="0"/>
                <a:cs typeface="Calibri" panose="020F0502020204030204" pitchFamily="34" charset="0"/>
              </a:rPr>
              <a:t>Primary data : </a:t>
            </a:r>
            <a:r>
              <a:rPr lang="en-US" sz="2400" dirty="0">
                <a:latin typeface="Calibri" panose="020F0502020204030204" pitchFamily="34" charset="0"/>
                <a:ea typeface="Calibri" panose="020F0502020204030204" pitchFamily="34" charset="0"/>
                <a:cs typeface="Calibri" panose="020F0502020204030204" pitchFamily="34" charset="0"/>
              </a:rPr>
              <a:t>The data collected fresh and for the first time. The data would be original. </a:t>
            </a:r>
          </a:p>
        </p:txBody>
      </p:sp>
      <p:sp>
        <p:nvSpPr>
          <p:cNvPr id="7" name="TextBox 6">
            <a:extLst>
              <a:ext uri="{FF2B5EF4-FFF2-40B4-BE49-F238E27FC236}">
                <a16:creationId xmlns:a16="http://schemas.microsoft.com/office/drawing/2014/main" id="{E78F7EFA-0958-AA0A-C365-51F31802558D}"/>
              </a:ext>
            </a:extLst>
          </p:cNvPr>
          <p:cNvSpPr txBox="1"/>
          <p:nvPr/>
        </p:nvSpPr>
        <p:spPr>
          <a:xfrm>
            <a:off x="578774" y="5050173"/>
            <a:ext cx="9074773" cy="830997"/>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Secondary data: </a:t>
            </a:r>
            <a:r>
              <a:rPr lang="en-US" sz="2400" dirty="0">
                <a:latin typeface="Calibri" panose="020F0502020204030204" pitchFamily="34" charset="0"/>
                <a:ea typeface="Calibri" panose="020F0502020204030204" pitchFamily="34" charset="0"/>
                <a:cs typeface="Calibri" panose="020F0502020204030204" pitchFamily="34" charset="0"/>
              </a:rPr>
              <a:t>The data that has already been collected by someone  and which have already been passed through the statistical process.</a:t>
            </a:r>
          </a:p>
        </p:txBody>
      </p:sp>
    </p:spTree>
    <p:extLst>
      <p:ext uri="{BB962C8B-B14F-4D97-AF65-F5344CB8AC3E}">
        <p14:creationId xmlns:p14="http://schemas.microsoft.com/office/powerpoint/2010/main" val="2911048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FA255-ED60-BF86-2466-D4B162229E43}"/>
              </a:ext>
            </a:extLst>
          </p:cNvPr>
          <p:cNvSpPr>
            <a:spLocks noGrp="1"/>
          </p:cNvSpPr>
          <p:nvPr>
            <p:ph type="title"/>
          </p:nvPr>
        </p:nvSpPr>
        <p:spPr>
          <a:xfrm>
            <a:off x="2364619" y="141513"/>
            <a:ext cx="6931780" cy="689429"/>
          </a:xfrm>
        </p:spPr>
        <p:txBody>
          <a:bodyPr/>
          <a:lstStyle/>
          <a:p>
            <a:r>
              <a:rPr lang="en-US" b="1" dirty="0">
                <a:solidFill>
                  <a:srgbClr val="7030A0"/>
                </a:solidFill>
              </a:rPr>
              <a:t>PRIMARY VS SECONDARY DATA</a:t>
            </a:r>
            <a:endParaRPr lang="en-IN" b="1" dirty="0">
              <a:solidFill>
                <a:srgbClr val="7030A0"/>
              </a:solidFill>
            </a:endParaRPr>
          </a:p>
        </p:txBody>
      </p:sp>
      <p:pic>
        <p:nvPicPr>
          <p:cNvPr id="9" name="Picture 8" descr="A diagram of different colored circles with text&#10;&#10;Description automatically generated">
            <a:extLst>
              <a:ext uri="{FF2B5EF4-FFF2-40B4-BE49-F238E27FC236}">
                <a16:creationId xmlns:a16="http://schemas.microsoft.com/office/drawing/2014/main" id="{0AE917C2-6078-3CEE-2FCE-53660568F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1" y="976085"/>
            <a:ext cx="5325966" cy="5192486"/>
          </a:xfrm>
          <a:prstGeom prst="rect">
            <a:avLst/>
          </a:prstGeom>
        </p:spPr>
      </p:pic>
      <p:graphicFrame>
        <p:nvGraphicFramePr>
          <p:cNvPr id="4" name="Table 3">
            <a:extLst>
              <a:ext uri="{FF2B5EF4-FFF2-40B4-BE49-F238E27FC236}">
                <a16:creationId xmlns:a16="http://schemas.microsoft.com/office/drawing/2014/main" id="{C2A37601-2813-6EEC-9A8B-EB171084DFE5}"/>
              </a:ext>
            </a:extLst>
          </p:cNvPr>
          <p:cNvGraphicFramePr>
            <a:graphicFrameLocks noGrp="1"/>
          </p:cNvGraphicFramePr>
          <p:nvPr>
            <p:extLst>
              <p:ext uri="{D42A27DB-BD31-4B8C-83A1-F6EECF244321}">
                <p14:modId xmlns:p14="http://schemas.microsoft.com/office/powerpoint/2010/main" val="2781084191"/>
              </p:ext>
            </p:extLst>
          </p:nvPr>
        </p:nvGraphicFramePr>
        <p:xfrm>
          <a:off x="5685195" y="976085"/>
          <a:ext cx="5418234" cy="5268999"/>
        </p:xfrm>
        <a:graphic>
          <a:graphicData uri="http://schemas.openxmlformats.org/drawingml/2006/table">
            <a:tbl>
              <a:tblPr firstRow="1" bandRow="1">
                <a:tableStyleId>{5C22544A-7EE6-4342-B048-85BDC9FD1C3A}</a:tableStyleId>
              </a:tblPr>
              <a:tblGrid>
                <a:gridCol w="2709117">
                  <a:extLst>
                    <a:ext uri="{9D8B030D-6E8A-4147-A177-3AD203B41FA5}">
                      <a16:colId xmlns:a16="http://schemas.microsoft.com/office/drawing/2014/main" val="1023920399"/>
                    </a:ext>
                  </a:extLst>
                </a:gridCol>
                <a:gridCol w="2709117">
                  <a:extLst>
                    <a:ext uri="{9D8B030D-6E8A-4147-A177-3AD203B41FA5}">
                      <a16:colId xmlns:a16="http://schemas.microsoft.com/office/drawing/2014/main" val="379088122"/>
                    </a:ext>
                  </a:extLst>
                </a:gridCol>
              </a:tblGrid>
              <a:tr h="425204">
                <a:tc>
                  <a:txBody>
                    <a:bodyPr/>
                    <a:lstStyle/>
                    <a:p>
                      <a:pPr algn="ctr"/>
                      <a:r>
                        <a:rPr lang="en-US" dirty="0"/>
                        <a:t>PRIMARY DATA</a:t>
                      </a:r>
                      <a:endParaRPr lang="en-IN" dirty="0"/>
                    </a:p>
                  </a:txBody>
                  <a:tcPr/>
                </a:tc>
                <a:tc>
                  <a:txBody>
                    <a:bodyPr/>
                    <a:lstStyle/>
                    <a:p>
                      <a:pPr algn="ctr"/>
                      <a:r>
                        <a:rPr lang="en-US" dirty="0"/>
                        <a:t>SECONDARY DATA</a:t>
                      </a:r>
                      <a:endParaRPr lang="en-IN" dirty="0"/>
                    </a:p>
                  </a:txBody>
                  <a:tcPr/>
                </a:tc>
                <a:extLst>
                  <a:ext uri="{0D108BD9-81ED-4DB2-BD59-A6C34878D82A}">
                    <a16:rowId xmlns:a16="http://schemas.microsoft.com/office/drawing/2014/main" val="1392219128"/>
                  </a:ext>
                </a:extLst>
              </a:tr>
              <a:tr h="721529">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Real time data</a:t>
                      </a:r>
                      <a:endParaRPr lang="en-IN" dirty="0"/>
                    </a:p>
                    <a:p>
                      <a:pPr algn="just"/>
                      <a:endParaRPr lang="en-IN" dirty="0"/>
                    </a:p>
                  </a:txBody>
                  <a:tcPr/>
                </a:tc>
                <a:tc>
                  <a:txBody>
                    <a:bodyPr/>
                    <a:lstStyle/>
                    <a:p>
                      <a:pPr algn="just"/>
                      <a:r>
                        <a:rPr lang="en-US" dirty="0"/>
                        <a:t>Past Data</a:t>
                      </a:r>
                      <a:endParaRPr lang="en-IN" dirty="0"/>
                    </a:p>
                  </a:txBody>
                  <a:tcPr/>
                </a:tc>
                <a:extLst>
                  <a:ext uri="{0D108BD9-81ED-4DB2-BD59-A6C34878D82A}">
                    <a16:rowId xmlns:a16="http://schemas.microsoft.com/office/drawing/2014/main" val="4122142525"/>
                  </a:ext>
                </a:extLst>
              </a:tr>
              <a:tr h="721529">
                <a:tc>
                  <a:txBody>
                    <a:bodyPr/>
                    <a:lstStyle/>
                    <a:p>
                      <a:pPr algn="just"/>
                      <a:r>
                        <a:rPr lang="en-US" dirty="0"/>
                        <a:t>Specific to the researchers needs.</a:t>
                      </a:r>
                      <a:endParaRPr lang="en-IN" dirty="0"/>
                    </a:p>
                  </a:txBody>
                  <a:tcPr/>
                </a:tc>
                <a:tc>
                  <a:txBody>
                    <a:bodyPr/>
                    <a:lstStyle/>
                    <a:p>
                      <a:pPr algn="just"/>
                      <a:r>
                        <a:rPr lang="en-US" dirty="0"/>
                        <a:t>Not specific to the researchers needs.</a:t>
                      </a:r>
                      <a:endParaRPr lang="en-IN" dirty="0"/>
                    </a:p>
                  </a:txBody>
                  <a:tcPr/>
                </a:tc>
                <a:extLst>
                  <a:ext uri="{0D108BD9-81ED-4DB2-BD59-A6C34878D82A}">
                    <a16:rowId xmlns:a16="http://schemas.microsoft.com/office/drawing/2014/main" val="328897120"/>
                  </a:ext>
                </a:extLst>
              </a:tr>
              <a:tr h="425204">
                <a:tc>
                  <a:txBody>
                    <a:bodyPr/>
                    <a:lstStyle/>
                    <a:p>
                      <a:pPr algn="just"/>
                      <a:r>
                        <a:rPr lang="en-US" dirty="0"/>
                        <a:t>Expensive</a:t>
                      </a:r>
                      <a:endParaRPr lang="en-IN" dirty="0"/>
                    </a:p>
                  </a:txBody>
                  <a:tcPr/>
                </a:tc>
                <a:tc>
                  <a:txBody>
                    <a:bodyPr/>
                    <a:lstStyle/>
                    <a:p>
                      <a:pPr algn="just"/>
                      <a:r>
                        <a:rPr lang="en-US" dirty="0"/>
                        <a:t>Low cost or Free</a:t>
                      </a:r>
                      <a:endParaRPr lang="en-IN" dirty="0"/>
                    </a:p>
                  </a:txBody>
                  <a:tcPr/>
                </a:tc>
                <a:extLst>
                  <a:ext uri="{0D108BD9-81ED-4DB2-BD59-A6C34878D82A}">
                    <a16:rowId xmlns:a16="http://schemas.microsoft.com/office/drawing/2014/main" val="2611201433"/>
                  </a:ext>
                </a:extLst>
              </a:tr>
              <a:tr h="128261">
                <a:tc>
                  <a:txBody>
                    <a:bodyPr/>
                    <a:lstStyle/>
                    <a:p>
                      <a:pPr algn="just"/>
                      <a:r>
                        <a:rPr lang="en-US" dirty="0"/>
                        <a:t>High level of control on data quality. </a:t>
                      </a:r>
                      <a:endParaRPr lang="en-IN" dirty="0"/>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Lacks control over data quality. </a:t>
                      </a:r>
                      <a:endParaRPr lang="en-IN" dirty="0"/>
                    </a:p>
                    <a:p>
                      <a:pPr algn="just"/>
                      <a:endParaRPr lang="en-IN" dirty="0"/>
                    </a:p>
                  </a:txBody>
                  <a:tcPr/>
                </a:tc>
                <a:extLst>
                  <a:ext uri="{0D108BD9-81ED-4DB2-BD59-A6C34878D82A}">
                    <a16:rowId xmlns:a16="http://schemas.microsoft.com/office/drawing/2014/main" val="1027157470"/>
                  </a:ext>
                </a:extLst>
              </a:tr>
              <a:tr h="425204">
                <a:tc>
                  <a:txBody>
                    <a:bodyPr/>
                    <a:lstStyle/>
                    <a:p>
                      <a:pPr algn="just"/>
                      <a:r>
                        <a:rPr lang="en-US" dirty="0"/>
                        <a:t>More time consuming</a:t>
                      </a:r>
                      <a:endParaRPr lang="en-IN" dirty="0"/>
                    </a:p>
                  </a:txBody>
                  <a:tcPr/>
                </a:tc>
                <a:tc>
                  <a:txBody>
                    <a:bodyPr/>
                    <a:lstStyle/>
                    <a:p>
                      <a:pPr algn="just"/>
                      <a:r>
                        <a:rPr lang="en-US" dirty="0"/>
                        <a:t>Less time consuming</a:t>
                      </a:r>
                      <a:endParaRPr lang="en-IN" dirty="0"/>
                    </a:p>
                  </a:txBody>
                  <a:tcPr/>
                </a:tc>
                <a:extLst>
                  <a:ext uri="{0D108BD9-81ED-4DB2-BD59-A6C34878D82A}">
                    <a16:rowId xmlns:a16="http://schemas.microsoft.com/office/drawing/2014/main" val="1603562103"/>
                  </a:ext>
                </a:extLst>
              </a:tr>
              <a:tr h="721529">
                <a:tc>
                  <a:txBody>
                    <a:bodyPr/>
                    <a:lstStyle/>
                    <a:p>
                      <a:pPr algn="just"/>
                      <a:r>
                        <a:rPr lang="en-US" dirty="0"/>
                        <a:t>More capable to solve specific problem.</a:t>
                      </a:r>
                      <a:endParaRPr lang="en-IN" dirty="0"/>
                    </a:p>
                  </a:txBody>
                  <a:tcPr/>
                </a:tc>
                <a:tc>
                  <a:txBody>
                    <a:bodyPr/>
                    <a:lstStyle/>
                    <a:p>
                      <a:pPr algn="just"/>
                      <a:r>
                        <a:rPr lang="en-US" dirty="0"/>
                        <a:t>Less capable to solve a specific problem.</a:t>
                      </a:r>
                      <a:endParaRPr lang="en-IN" dirty="0"/>
                    </a:p>
                  </a:txBody>
                  <a:tcPr/>
                </a:tc>
                <a:extLst>
                  <a:ext uri="{0D108BD9-81ED-4DB2-BD59-A6C34878D82A}">
                    <a16:rowId xmlns:a16="http://schemas.microsoft.com/office/drawing/2014/main" val="1040588316"/>
                  </a:ext>
                </a:extLst>
              </a:tr>
              <a:tr h="721529">
                <a:tc>
                  <a:txBody>
                    <a:bodyPr/>
                    <a:lstStyle/>
                    <a:p>
                      <a:pPr algn="just"/>
                      <a:r>
                        <a:rPr lang="en-US" dirty="0"/>
                        <a:t>Owner of data, data can be hidden from competitors.</a:t>
                      </a:r>
                      <a:endParaRPr lang="en-IN" dirty="0"/>
                    </a:p>
                  </a:txBody>
                  <a:tcPr/>
                </a:tc>
                <a:tc>
                  <a:txBody>
                    <a:bodyPr/>
                    <a:lstStyle/>
                    <a:p>
                      <a:pPr algn="just"/>
                      <a:r>
                        <a:rPr lang="en-US" dirty="0"/>
                        <a:t>Competitors also have access to data. </a:t>
                      </a:r>
                      <a:endParaRPr lang="en-IN" dirty="0"/>
                    </a:p>
                  </a:txBody>
                  <a:tcPr/>
                </a:tc>
                <a:extLst>
                  <a:ext uri="{0D108BD9-81ED-4DB2-BD59-A6C34878D82A}">
                    <a16:rowId xmlns:a16="http://schemas.microsoft.com/office/drawing/2014/main" val="804247667"/>
                  </a:ext>
                </a:extLst>
              </a:tr>
            </a:tbl>
          </a:graphicData>
        </a:graphic>
      </p:graphicFrame>
    </p:spTree>
    <p:extLst>
      <p:ext uri="{BB962C8B-B14F-4D97-AF65-F5344CB8AC3E}">
        <p14:creationId xmlns:p14="http://schemas.microsoft.com/office/powerpoint/2010/main" val="1086056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business process&#10;&#10;Description automatically generated">
            <a:extLst>
              <a:ext uri="{FF2B5EF4-FFF2-40B4-BE49-F238E27FC236}">
                <a16:creationId xmlns:a16="http://schemas.microsoft.com/office/drawing/2014/main" id="{0F2DA8E0-6E59-97A0-00B3-27D92257653E}"/>
              </a:ext>
            </a:extLst>
          </p:cNvPr>
          <p:cNvPicPr>
            <a:picLocks noChangeAspect="1"/>
          </p:cNvPicPr>
          <p:nvPr/>
        </p:nvPicPr>
        <p:blipFill rotWithShape="1">
          <a:blip r:embed="rId2">
            <a:extLst>
              <a:ext uri="{28A0092B-C50C-407E-A947-70E740481C1C}">
                <a14:useLocalDpi xmlns:a14="http://schemas.microsoft.com/office/drawing/2010/main" val="0"/>
              </a:ext>
            </a:extLst>
          </a:blip>
          <a:srcRect l="5833" r="8095"/>
          <a:stretch/>
        </p:blipFill>
        <p:spPr>
          <a:xfrm>
            <a:off x="0" y="0"/>
            <a:ext cx="12192000" cy="6858000"/>
          </a:xfrm>
          <a:prstGeom prst="rect">
            <a:avLst/>
          </a:prstGeom>
        </p:spPr>
      </p:pic>
    </p:spTree>
    <p:extLst>
      <p:ext uri="{BB962C8B-B14F-4D97-AF65-F5344CB8AC3E}">
        <p14:creationId xmlns:p14="http://schemas.microsoft.com/office/powerpoint/2010/main" val="175084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artoon characters standing on a road&#10;&#10;Description automatically generated">
            <a:extLst>
              <a:ext uri="{FF2B5EF4-FFF2-40B4-BE49-F238E27FC236}">
                <a16:creationId xmlns:a16="http://schemas.microsoft.com/office/drawing/2014/main" id="{A2ADDE4D-47C6-D560-D4B7-5E2EECC7B7D5}"/>
              </a:ext>
            </a:extLst>
          </p:cNvPr>
          <p:cNvPicPr>
            <a:picLocks noChangeAspect="1"/>
          </p:cNvPicPr>
          <p:nvPr/>
        </p:nvPicPr>
        <p:blipFill rotWithShape="1">
          <a:blip r:embed="rId3">
            <a:extLst>
              <a:ext uri="{28A0092B-C50C-407E-A947-70E740481C1C}">
                <a14:useLocalDpi xmlns:a14="http://schemas.microsoft.com/office/drawing/2010/main" val="0"/>
              </a:ext>
            </a:extLst>
          </a:blip>
          <a:srcRect l="6021" r="56417"/>
          <a:stretch/>
        </p:blipFill>
        <p:spPr>
          <a:xfrm>
            <a:off x="6230710" y="8466"/>
            <a:ext cx="4763558"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3BFAC3B9-CEE4-12A3-A7AF-A9C43572FA54}"/>
              </a:ext>
            </a:extLst>
          </p:cNvPr>
          <p:cNvSpPr>
            <a:spLocks noGrp="1"/>
          </p:cNvSpPr>
          <p:nvPr>
            <p:ph type="title"/>
          </p:nvPr>
        </p:nvSpPr>
        <p:spPr>
          <a:xfrm>
            <a:off x="471763" y="156238"/>
            <a:ext cx="5919410" cy="1320800"/>
          </a:xfrm>
        </p:spPr>
        <p:txBody>
          <a:bodyPr>
            <a:normAutofit/>
          </a:bodyPr>
          <a:lstStyle/>
          <a:p>
            <a:r>
              <a:rPr lang="en-IN" b="1" dirty="0"/>
              <a:t>OBSERVATION METHOD</a:t>
            </a:r>
          </a:p>
        </p:txBody>
      </p:sp>
      <p:sp>
        <p:nvSpPr>
          <p:cNvPr id="3" name="Content Placeholder 2">
            <a:extLst>
              <a:ext uri="{FF2B5EF4-FFF2-40B4-BE49-F238E27FC236}">
                <a16:creationId xmlns:a16="http://schemas.microsoft.com/office/drawing/2014/main" id="{9112BE2E-7E13-A9CC-AC0C-71AC0C797E51}"/>
              </a:ext>
            </a:extLst>
          </p:cNvPr>
          <p:cNvSpPr>
            <a:spLocks noGrp="1"/>
          </p:cNvSpPr>
          <p:nvPr>
            <p:ph idx="1"/>
          </p:nvPr>
        </p:nvSpPr>
        <p:spPr>
          <a:xfrm>
            <a:off x="489152" y="1073556"/>
            <a:ext cx="6445048" cy="5628206"/>
          </a:xfrm>
        </p:spPr>
        <p:txBody>
          <a:bodyPr>
            <a:noAutofit/>
          </a:bodyPr>
          <a:lstStyle/>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The information is collected by investigator’s own direct observation.</a:t>
            </a:r>
          </a:p>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The Respondent is not involved in the process. </a:t>
            </a:r>
          </a:p>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Observation becomes a scientific tool, when it serves a formulated research purpose.</a:t>
            </a:r>
          </a:p>
          <a:p>
            <a:pPr marL="0" indent="0">
              <a:lnSpc>
                <a:spcPct val="90000"/>
              </a:lnSpc>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nSpc>
                <a:spcPct val="90000"/>
              </a:lnSpc>
              <a:buNone/>
            </a:pPr>
            <a:r>
              <a:rPr lang="en-US" sz="2400" dirty="0">
                <a:latin typeface="Calibri" panose="020F0502020204030204" pitchFamily="34" charset="0"/>
                <a:ea typeface="Calibri" panose="020F0502020204030204" pitchFamily="34" charset="0"/>
                <a:cs typeface="Calibri" panose="020F0502020204030204" pitchFamily="34" charset="0"/>
              </a:rPr>
              <a:t>Thinks to keep in mind while planning an observation.</a:t>
            </a:r>
          </a:p>
          <a:p>
            <a:pPr marL="857250" lvl="1" indent="-457200">
              <a:lnSpc>
                <a:spcPct val="90000"/>
              </a:lnSpc>
              <a:buFont typeface="+mj-lt"/>
              <a:buAutoNum type="arabicPeriod"/>
            </a:pPr>
            <a:r>
              <a:rPr lang="en-US" sz="2200" dirty="0">
                <a:solidFill>
                  <a:srgbClr val="7030A0"/>
                </a:solidFill>
                <a:latin typeface="Calibri" panose="020F0502020204030204" pitchFamily="34" charset="0"/>
                <a:ea typeface="Calibri" panose="020F0502020204030204" pitchFamily="34" charset="0"/>
                <a:cs typeface="Calibri" panose="020F0502020204030204" pitchFamily="34" charset="0"/>
              </a:rPr>
              <a:t>Need to be planned systematically. </a:t>
            </a:r>
          </a:p>
          <a:p>
            <a:pPr marL="857250" lvl="1" indent="-457200">
              <a:lnSpc>
                <a:spcPct val="90000"/>
              </a:lnSpc>
              <a:buFont typeface="+mj-lt"/>
              <a:buAutoNum type="arabicPeriod"/>
            </a:pPr>
            <a:r>
              <a:rPr lang="en-US" sz="2200" dirty="0">
                <a:solidFill>
                  <a:srgbClr val="7030A0"/>
                </a:solidFill>
                <a:latin typeface="Calibri" panose="020F0502020204030204" pitchFamily="34" charset="0"/>
                <a:ea typeface="Calibri" panose="020F0502020204030204" pitchFamily="34" charset="0"/>
                <a:cs typeface="Calibri" panose="020F0502020204030204" pitchFamily="34" charset="0"/>
              </a:rPr>
              <a:t>What is to be observed? </a:t>
            </a:r>
          </a:p>
          <a:p>
            <a:pPr marL="857250" lvl="1" indent="-457200">
              <a:lnSpc>
                <a:spcPct val="90000"/>
              </a:lnSpc>
              <a:buFont typeface="+mj-lt"/>
              <a:buAutoNum type="arabicPeriod"/>
            </a:pPr>
            <a:r>
              <a:rPr lang="en-US" sz="2200" dirty="0">
                <a:solidFill>
                  <a:srgbClr val="7030A0"/>
                </a:solidFill>
                <a:latin typeface="Calibri" panose="020F0502020204030204" pitchFamily="34" charset="0"/>
                <a:ea typeface="Calibri" panose="020F0502020204030204" pitchFamily="34" charset="0"/>
                <a:cs typeface="Calibri" panose="020F0502020204030204" pitchFamily="34" charset="0"/>
              </a:rPr>
              <a:t>How the observations should be recorded? </a:t>
            </a:r>
          </a:p>
          <a:p>
            <a:pPr marL="857250" lvl="1" indent="-457200">
              <a:lnSpc>
                <a:spcPct val="90000"/>
              </a:lnSpc>
              <a:buFont typeface="+mj-lt"/>
              <a:buAutoNum type="arabicPeriod"/>
            </a:pPr>
            <a:r>
              <a:rPr lang="en-US" sz="2200" dirty="0">
                <a:solidFill>
                  <a:srgbClr val="7030A0"/>
                </a:solidFill>
                <a:latin typeface="Calibri" panose="020F0502020204030204" pitchFamily="34" charset="0"/>
                <a:ea typeface="Calibri" panose="020F0502020204030204" pitchFamily="34" charset="0"/>
                <a:cs typeface="Calibri" panose="020F0502020204030204" pitchFamily="34" charset="0"/>
              </a:rPr>
              <a:t>How the accuracy of observation can be ensured?</a:t>
            </a:r>
          </a:p>
          <a:p>
            <a:pPr marL="0" indent="0">
              <a:lnSpc>
                <a:spcPct val="9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Tree>
    <p:extLst>
      <p:ext uri="{BB962C8B-B14F-4D97-AF65-F5344CB8AC3E}">
        <p14:creationId xmlns:p14="http://schemas.microsoft.com/office/powerpoint/2010/main" val="2065637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62828C-BCEE-263C-8026-E782CA1A519E}"/>
              </a:ext>
            </a:extLst>
          </p:cNvPr>
          <p:cNvSpPr>
            <a:spLocks noGrp="1"/>
          </p:cNvSpPr>
          <p:nvPr>
            <p:ph type="title"/>
          </p:nvPr>
        </p:nvSpPr>
        <p:spPr>
          <a:xfrm>
            <a:off x="806206" y="1197055"/>
            <a:ext cx="3300646" cy="4463889"/>
          </a:xfrm>
        </p:spPr>
        <p:txBody>
          <a:bodyPr anchor="ctr">
            <a:normAutofit/>
          </a:bodyPr>
          <a:lstStyle/>
          <a:p>
            <a:pPr algn="ctr"/>
            <a:r>
              <a:rPr lang="en-US" sz="3200" b="1" dirty="0"/>
              <a:t>STRUCTURED  </a:t>
            </a:r>
            <a:br>
              <a:rPr lang="en-US" sz="3200" b="1" dirty="0"/>
            </a:br>
            <a:r>
              <a:rPr lang="en-US" sz="3200" b="1" dirty="0"/>
              <a:t>VS UNSTRUCTURED OBSERVATION</a:t>
            </a:r>
            <a:endParaRPr lang="en-IN" sz="3200" b="1" dirty="0"/>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389EA6-3F00-6EB3-144E-24432BDF236E}"/>
              </a:ext>
            </a:extLst>
          </p:cNvPr>
          <p:cNvSpPr>
            <a:spLocks noGrp="1"/>
          </p:cNvSpPr>
          <p:nvPr>
            <p:ph idx="1"/>
          </p:nvPr>
        </p:nvSpPr>
        <p:spPr>
          <a:xfrm>
            <a:off x="4913058" y="58295"/>
            <a:ext cx="6341016" cy="6705600"/>
          </a:xfrm>
        </p:spPr>
        <p:txBody>
          <a:bodyPr anchor="ctr">
            <a:noAutofit/>
          </a:bodyPr>
          <a:lstStyle/>
          <a:p>
            <a:pPr marL="0" indent="0" algn="just">
              <a:buNone/>
            </a:pPr>
            <a:r>
              <a:rPr lang="en-US" sz="2300" b="1" dirty="0">
                <a:latin typeface="Calibri" panose="020F0502020204030204" pitchFamily="34" charset="0"/>
                <a:ea typeface="Calibri" panose="020F0502020204030204" pitchFamily="34" charset="0"/>
                <a:cs typeface="Calibri" panose="020F0502020204030204" pitchFamily="34" charset="0"/>
              </a:rPr>
              <a:t>STRUCTURED OBSERVATION </a:t>
            </a:r>
          </a:p>
          <a:p>
            <a:pPr algn="just"/>
            <a:r>
              <a:rPr lang="en-US" sz="2300" dirty="0">
                <a:latin typeface="Calibri" panose="020F0502020204030204" pitchFamily="34" charset="0"/>
                <a:ea typeface="Calibri" panose="020F0502020204030204" pitchFamily="34" charset="0"/>
                <a:cs typeface="Calibri" panose="020F0502020204030204" pitchFamily="34" charset="0"/>
              </a:rPr>
              <a:t>Also called Systematic Observation.</a:t>
            </a:r>
          </a:p>
          <a:p>
            <a:pPr algn="just"/>
            <a:r>
              <a:rPr lang="en-US" sz="2300" dirty="0">
                <a:latin typeface="Calibri" panose="020F0502020204030204" pitchFamily="34" charset="0"/>
                <a:ea typeface="Calibri" panose="020F0502020204030204" pitchFamily="34" charset="0"/>
                <a:cs typeface="Calibri" panose="020F0502020204030204" pitchFamily="34" charset="0"/>
              </a:rPr>
              <a:t>The researcher specifies in detail what is to be observed and how the measurements are to be recorded.</a:t>
            </a:r>
          </a:p>
          <a:p>
            <a:pPr algn="just"/>
            <a:r>
              <a:rPr lang="en-US" sz="2300" dirty="0">
                <a:latin typeface="Calibri" panose="020F0502020204030204" pitchFamily="34" charset="0"/>
                <a:ea typeface="Calibri" panose="020F0502020204030204" pitchFamily="34" charset="0"/>
                <a:cs typeface="Calibri" panose="020F0502020204030204" pitchFamily="34" charset="0"/>
              </a:rPr>
              <a:t>It defines all the units of observation in advance.</a:t>
            </a:r>
          </a:p>
          <a:p>
            <a:pPr marL="400050" lvl="1" indent="0" algn="just">
              <a:buNone/>
            </a:pPr>
            <a:r>
              <a:rPr lang="en-US" sz="2100" dirty="0">
                <a:solidFill>
                  <a:srgbClr val="7030A0"/>
                </a:solidFill>
                <a:latin typeface="Calibri" panose="020F0502020204030204" pitchFamily="34" charset="0"/>
                <a:ea typeface="Calibri" panose="020F0502020204030204" pitchFamily="34" charset="0"/>
                <a:cs typeface="Calibri" panose="020F0502020204030204" pitchFamily="34" charset="0"/>
              </a:rPr>
              <a:t>E.g. An auditor performing inventory analysis in a store.</a:t>
            </a:r>
          </a:p>
          <a:p>
            <a:pPr marL="0" indent="0" algn="just">
              <a:buNone/>
            </a:pPr>
            <a:endParaRPr lang="en-US" sz="23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300" b="1" dirty="0">
                <a:latin typeface="Calibri" panose="020F0502020204030204" pitchFamily="34" charset="0"/>
                <a:ea typeface="Calibri" panose="020F0502020204030204" pitchFamily="34" charset="0"/>
                <a:cs typeface="Calibri" panose="020F0502020204030204" pitchFamily="34" charset="0"/>
              </a:rPr>
              <a:t>UNSTRUCTURED OBSERVATION </a:t>
            </a:r>
          </a:p>
          <a:p>
            <a:pPr algn="just"/>
            <a:r>
              <a:rPr lang="en-US" sz="2300" dirty="0">
                <a:latin typeface="Calibri" panose="020F0502020204030204" pitchFamily="34" charset="0"/>
                <a:ea typeface="Calibri" panose="020F0502020204030204" pitchFamily="34" charset="0"/>
                <a:cs typeface="Calibri" panose="020F0502020204030204" pitchFamily="34" charset="0"/>
              </a:rPr>
              <a:t>The units of observation are not predefined.</a:t>
            </a:r>
          </a:p>
          <a:p>
            <a:pPr algn="just"/>
            <a:r>
              <a:rPr lang="en-US" sz="2300" dirty="0">
                <a:latin typeface="Calibri" panose="020F0502020204030204" pitchFamily="34" charset="0"/>
                <a:ea typeface="Calibri" panose="020F0502020204030204" pitchFamily="34" charset="0"/>
                <a:cs typeface="Calibri" panose="020F0502020204030204" pitchFamily="34" charset="0"/>
              </a:rPr>
              <a:t> It monitors all the aspects of the phenomenon that seems relevant to the problem in hand. </a:t>
            </a:r>
          </a:p>
          <a:p>
            <a:pPr marL="400050" lvl="1" indent="0" algn="just">
              <a:buNone/>
            </a:pPr>
            <a:r>
              <a:rPr lang="en-US" sz="2100" dirty="0">
                <a:solidFill>
                  <a:srgbClr val="7030A0"/>
                </a:solidFill>
                <a:latin typeface="Calibri" panose="020F0502020204030204" pitchFamily="34" charset="0"/>
                <a:ea typeface="Calibri" panose="020F0502020204030204" pitchFamily="34" charset="0"/>
                <a:cs typeface="Calibri" panose="020F0502020204030204" pitchFamily="34" charset="0"/>
              </a:rPr>
              <a:t>E.g. Observing children playing with new toys. </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Tree>
    <p:extLst>
      <p:ext uri="{BB962C8B-B14F-4D97-AF65-F5344CB8AC3E}">
        <p14:creationId xmlns:p14="http://schemas.microsoft.com/office/powerpoint/2010/main" val="1178200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12D9-78BD-0C85-41D8-36CD9B908015}"/>
              </a:ext>
            </a:extLst>
          </p:cNvPr>
          <p:cNvSpPr>
            <a:spLocks noGrp="1"/>
          </p:cNvSpPr>
          <p:nvPr>
            <p:ph type="title"/>
          </p:nvPr>
        </p:nvSpPr>
        <p:spPr>
          <a:xfrm>
            <a:off x="1146000" y="740228"/>
            <a:ext cx="9141000" cy="1190171"/>
          </a:xfrm>
        </p:spPr>
        <p:txBody>
          <a:bodyPr/>
          <a:lstStyle/>
          <a:p>
            <a:r>
              <a:rPr lang="en-US" b="1" dirty="0"/>
              <a:t>OBSERVATION METHOD PROS AND CONS</a:t>
            </a:r>
            <a:endParaRPr lang="en-IN" b="1" dirty="0"/>
          </a:p>
        </p:txBody>
      </p:sp>
      <p:graphicFrame>
        <p:nvGraphicFramePr>
          <p:cNvPr id="4" name="Table 3">
            <a:extLst>
              <a:ext uri="{FF2B5EF4-FFF2-40B4-BE49-F238E27FC236}">
                <a16:creationId xmlns:a16="http://schemas.microsoft.com/office/drawing/2014/main" id="{FDB9D437-958C-FE43-438D-7A8D17758FA5}"/>
              </a:ext>
            </a:extLst>
          </p:cNvPr>
          <p:cNvGraphicFramePr>
            <a:graphicFrameLocks noGrp="1"/>
          </p:cNvGraphicFramePr>
          <p:nvPr>
            <p:extLst>
              <p:ext uri="{D42A27DB-BD31-4B8C-83A1-F6EECF244321}">
                <p14:modId xmlns:p14="http://schemas.microsoft.com/office/powerpoint/2010/main" val="2831835516"/>
              </p:ext>
            </p:extLst>
          </p:nvPr>
        </p:nvGraphicFramePr>
        <p:xfrm>
          <a:off x="1240972" y="1662611"/>
          <a:ext cx="8174543" cy="4480560"/>
        </p:xfrm>
        <a:graphic>
          <a:graphicData uri="http://schemas.openxmlformats.org/drawingml/2006/table">
            <a:tbl>
              <a:tblPr firstRow="1" bandRow="1">
                <a:tableStyleId>{5C22544A-7EE6-4342-B048-85BDC9FD1C3A}</a:tableStyleId>
              </a:tblPr>
              <a:tblGrid>
                <a:gridCol w="4110543">
                  <a:extLst>
                    <a:ext uri="{9D8B030D-6E8A-4147-A177-3AD203B41FA5}">
                      <a16:colId xmlns:a16="http://schemas.microsoft.com/office/drawing/2014/main" val="3294500831"/>
                    </a:ext>
                  </a:extLst>
                </a:gridCol>
                <a:gridCol w="4064000">
                  <a:extLst>
                    <a:ext uri="{9D8B030D-6E8A-4147-A177-3AD203B41FA5}">
                      <a16:colId xmlns:a16="http://schemas.microsoft.com/office/drawing/2014/main" val="3772170825"/>
                    </a:ext>
                  </a:extLst>
                </a:gridCol>
              </a:tblGrid>
              <a:tr h="370840">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MERITS </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DEMERITS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27792144"/>
                  </a:ext>
                </a:extLst>
              </a:tr>
              <a:tr h="370840">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Subjective bias is eliminated if done accurately.</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latin typeface="Calibri" panose="020F0502020204030204" pitchFamily="34" charset="0"/>
                          <a:ea typeface="Calibri" panose="020F0502020204030204" pitchFamily="34" charset="0"/>
                          <a:cs typeface="Calibri" panose="020F0502020204030204" pitchFamily="34" charset="0"/>
                        </a:rPr>
                        <a:t>It is an expensive method. </a:t>
                      </a:r>
                    </a:p>
                    <a:p>
                      <a:pPr algn="l"/>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25620832"/>
                  </a:ext>
                </a:extLst>
              </a:tr>
              <a:tr h="370840">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Not complicated by the past behavior or future intentions.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The information provided by this method is very limited</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33187288"/>
                  </a:ext>
                </a:extLst>
              </a:tr>
              <a:tr h="370840">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It is independent of respondent's willingness to respond.</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Unforeseen factors may interfere with the observational task. </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55326582"/>
                  </a:ext>
                </a:extLst>
              </a:tr>
              <a:tr h="370840">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Relatively less demanding of active cooperation from respondents. </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sz="2400" dirty="0">
                          <a:latin typeface="Calibri" panose="020F0502020204030204" pitchFamily="34" charset="0"/>
                          <a:ea typeface="Calibri" panose="020F0502020204030204" pitchFamily="34" charset="0"/>
                          <a:cs typeface="Calibri" panose="020F0502020204030204" pitchFamily="34" charset="0"/>
                        </a:rPr>
                        <a:t>People are rarely accessible to direct observation</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7232997"/>
                  </a:ext>
                </a:extLst>
              </a:tr>
            </a:tbl>
          </a:graphicData>
        </a:graphic>
      </p:graphicFrame>
    </p:spTree>
    <p:extLst>
      <p:ext uri="{BB962C8B-B14F-4D97-AF65-F5344CB8AC3E}">
        <p14:creationId xmlns:p14="http://schemas.microsoft.com/office/powerpoint/2010/main" val="101714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A2B0B-745B-42FA-43D5-0FDD7DF98465}"/>
              </a:ext>
            </a:extLst>
          </p:cNvPr>
          <p:cNvSpPr>
            <a:spLocks noGrp="1"/>
          </p:cNvSpPr>
          <p:nvPr>
            <p:ph type="title"/>
          </p:nvPr>
        </p:nvSpPr>
        <p:spPr>
          <a:xfrm>
            <a:off x="783770" y="402771"/>
            <a:ext cx="8001001" cy="1320800"/>
          </a:xfrm>
        </p:spPr>
        <p:txBody>
          <a:bodyPr/>
          <a:lstStyle/>
          <a:p>
            <a:r>
              <a:rPr lang="en-US" b="1" dirty="0"/>
              <a:t>BASED ON </a:t>
            </a:r>
            <a:r>
              <a:rPr lang="en-US" sz="3600" b="1" dirty="0">
                <a:ea typeface="Calibri" panose="020F0502020204030204" pitchFamily="34" charset="0"/>
                <a:cs typeface="Calibri" panose="020F0502020204030204" pitchFamily="34" charset="0"/>
              </a:rPr>
              <a:t>OBSERVER PARTICIPATION</a:t>
            </a:r>
            <a:endParaRPr lang="en-IN" b="1" dirty="0"/>
          </a:p>
        </p:txBody>
      </p:sp>
      <p:sp>
        <p:nvSpPr>
          <p:cNvPr id="3" name="Content Placeholder 2">
            <a:extLst>
              <a:ext uri="{FF2B5EF4-FFF2-40B4-BE49-F238E27FC236}">
                <a16:creationId xmlns:a16="http://schemas.microsoft.com/office/drawing/2014/main" id="{441EF38F-BB03-BF5F-255F-1DB3DEB827E0}"/>
              </a:ext>
            </a:extLst>
          </p:cNvPr>
          <p:cNvSpPr>
            <a:spLocks noGrp="1"/>
          </p:cNvSpPr>
          <p:nvPr>
            <p:ph idx="1"/>
          </p:nvPr>
        </p:nvSpPr>
        <p:spPr>
          <a:xfrm>
            <a:off x="677334" y="1578429"/>
            <a:ext cx="8912980" cy="4876800"/>
          </a:xfrm>
        </p:spPr>
        <p:txBody>
          <a:bodyPr>
            <a:normAutofit/>
          </a:bodyPr>
          <a:lstStyle/>
          <a:p>
            <a:pPr algn="just"/>
            <a:r>
              <a:rPr lang="en-US" sz="2400" b="1" dirty="0">
                <a:latin typeface="Calibri" panose="020F0502020204030204" pitchFamily="34" charset="0"/>
                <a:ea typeface="Calibri" panose="020F0502020204030204" pitchFamily="34" charset="0"/>
                <a:cs typeface="Calibri" panose="020F0502020204030204" pitchFamily="34" charset="0"/>
              </a:rPr>
              <a:t>PARTICIPANT OBSERVATION </a:t>
            </a:r>
            <a:r>
              <a:rPr lang="en-US" sz="2400" dirty="0">
                <a:latin typeface="Calibri" panose="020F0502020204030204" pitchFamily="34" charset="0"/>
                <a:ea typeface="Calibri" panose="020F0502020204030204" pitchFamily="34" charset="0"/>
                <a:cs typeface="Calibri" panose="020F0502020204030204" pitchFamily="34" charset="0"/>
              </a:rPr>
              <a:t>: If the observer observes by making himself, a member of the group he is observing.</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b="1" dirty="0">
                <a:latin typeface="Calibri" panose="020F0502020204030204" pitchFamily="34" charset="0"/>
                <a:ea typeface="Calibri" panose="020F0502020204030204" pitchFamily="34" charset="0"/>
                <a:cs typeface="Calibri" panose="020F0502020204030204" pitchFamily="34" charset="0"/>
              </a:rPr>
              <a:t>NON-PARTICIPANT OBSERVATION</a:t>
            </a:r>
            <a:r>
              <a:rPr lang="en-US" sz="2400" dirty="0">
                <a:latin typeface="Calibri" panose="020F0502020204030204" pitchFamily="34" charset="0"/>
                <a:ea typeface="Calibri" panose="020F0502020204030204" pitchFamily="34" charset="0"/>
                <a:cs typeface="Calibri" panose="020F0502020204030204" pitchFamily="34" charset="0"/>
              </a:rPr>
              <a:t> : The observer observes without any attempt on his part to experience through participation what others feel.</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b="1" dirty="0">
                <a:latin typeface="Calibri" panose="020F0502020204030204" pitchFamily="34" charset="0"/>
                <a:ea typeface="Calibri" panose="020F0502020204030204" pitchFamily="34" charset="0"/>
                <a:cs typeface="Calibri" panose="020F0502020204030204" pitchFamily="34" charset="0"/>
              </a:rPr>
              <a:t>DISGUISED OBSERVATION: </a:t>
            </a:r>
            <a:r>
              <a:rPr lang="en-US" sz="2400" dirty="0">
                <a:latin typeface="Calibri" panose="020F0502020204030204" pitchFamily="34" charset="0"/>
                <a:ea typeface="Calibri" panose="020F0502020204030204" pitchFamily="34" charset="0"/>
                <a:cs typeface="Calibri" panose="020F0502020204030204" pitchFamily="34" charset="0"/>
              </a:rPr>
              <a:t>The observer is observing in such a manner that his presence may be unknown to the people he is observing.</a:t>
            </a:r>
          </a:p>
        </p:txBody>
      </p:sp>
      <p:pic>
        <p:nvPicPr>
          <p:cNvPr id="8" name="Picture 7" descr="A group of people in a circle&#10;&#10;Description automatically generated">
            <a:extLst>
              <a:ext uri="{FF2B5EF4-FFF2-40B4-BE49-F238E27FC236}">
                <a16:creationId xmlns:a16="http://schemas.microsoft.com/office/drawing/2014/main" id="{7FF0B677-66CD-DCEC-095E-8C1E7B33BB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9486" y="4597236"/>
            <a:ext cx="2292514" cy="2173954"/>
          </a:xfrm>
          <a:prstGeom prst="rect">
            <a:avLst/>
          </a:prstGeom>
        </p:spPr>
      </p:pic>
      <p:pic>
        <p:nvPicPr>
          <p:cNvPr id="10" name="Picture 9" descr="A group of people in a circle&#10;&#10;Description automatically generated">
            <a:extLst>
              <a:ext uri="{FF2B5EF4-FFF2-40B4-BE49-F238E27FC236}">
                <a16:creationId xmlns:a16="http://schemas.microsoft.com/office/drawing/2014/main" id="{DC0197A8-FDA6-725E-B1AA-A296A9ABA9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3158" y="0"/>
            <a:ext cx="2308842" cy="2299607"/>
          </a:xfrm>
          <a:prstGeom prst="rect">
            <a:avLst/>
          </a:prstGeom>
        </p:spPr>
      </p:pic>
      <p:pic>
        <p:nvPicPr>
          <p:cNvPr id="12" name="Picture 11" descr="A blue circle with a white and blue people&#10;&#10;Description automatically generated">
            <a:extLst>
              <a:ext uri="{FF2B5EF4-FFF2-40B4-BE49-F238E27FC236}">
                <a16:creationId xmlns:a16="http://schemas.microsoft.com/office/drawing/2014/main" id="{05D4EA45-39F5-D013-5A7E-42EAF62C61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3158" y="2297629"/>
            <a:ext cx="2308843" cy="2308843"/>
          </a:xfrm>
          <a:prstGeom prst="rect">
            <a:avLst/>
          </a:prstGeom>
        </p:spPr>
      </p:pic>
    </p:spTree>
    <p:extLst>
      <p:ext uri="{BB962C8B-B14F-4D97-AF65-F5344CB8AC3E}">
        <p14:creationId xmlns:p14="http://schemas.microsoft.com/office/powerpoint/2010/main" val="2451049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83877-75EC-B164-83CF-2CBD757F4D3B}"/>
              </a:ext>
            </a:extLst>
          </p:cNvPr>
          <p:cNvSpPr>
            <a:spLocks noGrp="1"/>
          </p:cNvSpPr>
          <p:nvPr>
            <p:ph type="title"/>
          </p:nvPr>
        </p:nvSpPr>
        <p:spPr>
          <a:xfrm>
            <a:off x="677333" y="315686"/>
            <a:ext cx="10654695" cy="1320800"/>
          </a:xfrm>
        </p:spPr>
        <p:txBody>
          <a:bodyPr/>
          <a:lstStyle/>
          <a:p>
            <a:pPr algn="ctr"/>
            <a:r>
              <a:rPr lang="en-US" b="1" dirty="0"/>
              <a:t>MERITS &amp; DEMERITS OF </a:t>
            </a:r>
            <a:br>
              <a:rPr lang="en-US" b="1" dirty="0"/>
            </a:br>
            <a:r>
              <a:rPr lang="en-US" b="1" dirty="0"/>
              <a:t>PARTICIPANT OBSERVATION</a:t>
            </a:r>
            <a:endParaRPr lang="en-IN" b="1" dirty="0"/>
          </a:p>
        </p:txBody>
      </p:sp>
      <p:graphicFrame>
        <p:nvGraphicFramePr>
          <p:cNvPr id="4" name="Table 3">
            <a:extLst>
              <a:ext uri="{FF2B5EF4-FFF2-40B4-BE49-F238E27FC236}">
                <a16:creationId xmlns:a16="http://schemas.microsoft.com/office/drawing/2014/main" id="{18164945-2F21-66C2-652D-CF4A64091675}"/>
              </a:ext>
            </a:extLst>
          </p:cNvPr>
          <p:cNvGraphicFramePr>
            <a:graphicFrameLocks noGrp="1"/>
          </p:cNvGraphicFramePr>
          <p:nvPr>
            <p:extLst>
              <p:ext uri="{D42A27DB-BD31-4B8C-83A1-F6EECF244321}">
                <p14:modId xmlns:p14="http://schemas.microsoft.com/office/powerpoint/2010/main" val="1854928534"/>
              </p:ext>
            </p:extLst>
          </p:nvPr>
        </p:nvGraphicFramePr>
        <p:xfrm>
          <a:off x="489856" y="1636486"/>
          <a:ext cx="11024809" cy="4806405"/>
        </p:xfrm>
        <a:graphic>
          <a:graphicData uri="http://schemas.openxmlformats.org/drawingml/2006/table">
            <a:tbl>
              <a:tblPr firstRow="1" bandRow="1">
                <a:tableStyleId>{5C22544A-7EE6-4342-B048-85BDC9FD1C3A}</a:tableStyleId>
              </a:tblPr>
              <a:tblGrid>
                <a:gridCol w="5543790">
                  <a:extLst>
                    <a:ext uri="{9D8B030D-6E8A-4147-A177-3AD203B41FA5}">
                      <a16:colId xmlns:a16="http://schemas.microsoft.com/office/drawing/2014/main" val="3294500831"/>
                    </a:ext>
                  </a:extLst>
                </a:gridCol>
                <a:gridCol w="5481019">
                  <a:extLst>
                    <a:ext uri="{9D8B030D-6E8A-4147-A177-3AD203B41FA5}">
                      <a16:colId xmlns:a16="http://schemas.microsoft.com/office/drawing/2014/main" val="3772170825"/>
                    </a:ext>
                  </a:extLst>
                </a:gridCol>
              </a:tblGrid>
              <a:tr h="500667">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MERITS </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DEMERITS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27792144"/>
                  </a:ext>
                </a:extLst>
              </a:tr>
              <a:tr h="1301735">
                <a:tc>
                  <a:txBody>
                    <a:bodyPr/>
                    <a:lstStyle/>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Researcher is enabled to record the natural behavior of the group directly.</a:t>
                      </a:r>
                    </a:p>
                  </a:txBody>
                  <a:tcPr/>
                </a:tc>
                <a:tc>
                  <a:txBody>
                    <a:bodyPr/>
                    <a:lstStyle/>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Observers' presence may create artificial situation.</a:t>
                      </a:r>
                    </a:p>
                  </a:txBody>
                  <a:tcPr/>
                </a:tc>
                <a:extLst>
                  <a:ext uri="{0D108BD9-81ED-4DB2-BD59-A6C34878D82A}">
                    <a16:rowId xmlns:a16="http://schemas.microsoft.com/office/drawing/2014/main" val="3925620832"/>
                  </a:ext>
                </a:extLst>
              </a:tr>
              <a:tr h="1301735">
                <a:tc>
                  <a:txBody>
                    <a:bodyPr/>
                    <a:lstStyle/>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Researcher can even verify the truth of statements made by informants.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Time consuming and challenging to collect data while participating.</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33187288"/>
                  </a:ext>
                </a:extLst>
              </a:tr>
              <a:tr h="1702268">
                <a:tc>
                  <a:txBody>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Gets more of direct and  information.</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Gather more information easily.</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42900" indent="-342900" algn="l">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May lose the objectivity to the extent he participates emotionally.</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55326582"/>
                  </a:ext>
                </a:extLst>
              </a:tr>
            </a:tbl>
          </a:graphicData>
        </a:graphic>
      </p:graphicFrame>
    </p:spTree>
    <p:extLst>
      <p:ext uri="{BB962C8B-B14F-4D97-AF65-F5344CB8AC3E}">
        <p14:creationId xmlns:p14="http://schemas.microsoft.com/office/powerpoint/2010/main" val="234415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7AABB-2195-B239-C8B3-340DE6AFB5D2}"/>
              </a:ext>
            </a:extLst>
          </p:cNvPr>
          <p:cNvSpPr>
            <a:spLocks noGrp="1"/>
          </p:cNvSpPr>
          <p:nvPr>
            <p:ph idx="1"/>
          </p:nvPr>
        </p:nvSpPr>
        <p:spPr>
          <a:xfrm>
            <a:off x="655564" y="1110343"/>
            <a:ext cx="8434008" cy="5606143"/>
          </a:xfrm>
        </p:spPr>
        <p:txBody>
          <a:bodyPr>
            <a:normAutofit/>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CONTROLLED OBSERVATION:  </a:t>
            </a:r>
            <a:r>
              <a:rPr lang="en-US" sz="2400" dirty="0">
                <a:latin typeface="Calibri" panose="020F0502020204030204" pitchFamily="34" charset="0"/>
                <a:ea typeface="Calibri" panose="020F0502020204030204" pitchFamily="34" charset="0"/>
                <a:cs typeface="Calibri" panose="020F0502020204030204" pitchFamily="34" charset="0"/>
              </a:rPr>
              <a:t>Observation takes place according to definite pre-arranged plans.</a:t>
            </a:r>
          </a:p>
          <a:p>
            <a:r>
              <a:rPr lang="en-US" sz="2400" dirty="0">
                <a:latin typeface="Calibri" panose="020F0502020204030204" pitchFamily="34" charset="0"/>
                <a:ea typeface="Calibri" panose="020F0502020204030204" pitchFamily="34" charset="0"/>
                <a:cs typeface="Calibri" panose="020F0502020204030204" pitchFamily="34" charset="0"/>
              </a:rPr>
              <a:t>It takes place in a laboratory or under controlled conditions.</a:t>
            </a:r>
          </a:p>
          <a:p>
            <a:r>
              <a:rPr lang="en-US" sz="2400" dirty="0">
                <a:latin typeface="Calibri" panose="020F0502020204030204" pitchFamily="34" charset="0"/>
                <a:ea typeface="Calibri" panose="020F0502020204030204" pitchFamily="34" charset="0"/>
                <a:cs typeface="Calibri" panose="020F0502020204030204" pitchFamily="34" charset="0"/>
              </a:rPr>
              <a:t>We use mechanical instruments as aids to accuracy and standardization. </a:t>
            </a:r>
          </a:p>
          <a:p>
            <a:r>
              <a:rPr lang="en-US" sz="2400" dirty="0">
                <a:latin typeface="Calibri" panose="020F0502020204030204" pitchFamily="34" charset="0"/>
                <a:ea typeface="Calibri" panose="020F0502020204030204" pitchFamily="34" charset="0"/>
                <a:cs typeface="Calibri" panose="020F0502020204030204" pitchFamily="34" charset="0"/>
              </a:rPr>
              <a:t>These observations supply formalized data.</a:t>
            </a: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NON-CONTROLLED OBSERVATION: </a:t>
            </a:r>
            <a:r>
              <a:rPr lang="en-US" sz="2400" dirty="0">
                <a:latin typeface="Calibri" panose="020F0502020204030204" pitchFamily="34" charset="0"/>
                <a:ea typeface="Calibri" panose="020F0502020204030204" pitchFamily="34" charset="0"/>
                <a:cs typeface="Calibri" panose="020F0502020204030204" pitchFamily="34" charset="0"/>
              </a:rPr>
              <a:t>The observation takes place in the natural setting.</a:t>
            </a:r>
          </a:p>
          <a:p>
            <a:r>
              <a:rPr lang="en-US" sz="2400" dirty="0">
                <a:latin typeface="Calibri" panose="020F0502020204030204" pitchFamily="34" charset="0"/>
                <a:ea typeface="Calibri" panose="020F0502020204030204" pitchFamily="34" charset="0"/>
                <a:cs typeface="Calibri" panose="020F0502020204030204" pitchFamily="34" charset="0"/>
              </a:rPr>
              <a:t>It gives a spontaneous picture of life and persons. </a:t>
            </a:r>
          </a:p>
          <a:p>
            <a:r>
              <a:rPr lang="en-US" sz="2400" dirty="0">
                <a:latin typeface="Calibri" panose="020F0502020204030204" pitchFamily="34" charset="0"/>
                <a:ea typeface="Calibri" panose="020F0502020204030204" pitchFamily="34" charset="0"/>
                <a:cs typeface="Calibri" panose="020F0502020204030204" pitchFamily="34" charset="0"/>
              </a:rPr>
              <a:t>It tends to supply naturalness and completeness of behavior.</a:t>
            </a:r>
          </a:p>
          <a:p>
            <a:r>
              <a:rPr lang="en-US" sz="2400" dirty="0">
                <a:latin typeface="Calibri" panose="020F0502020204030204" pitchFamily="34" charset="0"/>
                <a:ea typeface="Calibri" panose="020F0502020204030204" pitchFamily="34" charset="0"/>
                <a:cs typeface="Calibri" panose="020F0502020204030204" pitchFamily="34" charset="0"/>
              </a:rPr>
              <a:t> Allows sufficient time for observing.</a:t>
            </a:r>
          </a:p>
        </p:txBody>
      </p:sp>
      <p:sp>
        <p:nvSpPr>
          <p:cNvPr id="4" name="Title 1">
            <a:extLst>
              <a:ext uri="{FF2B5EF4-FFF2-40B4-BE49-F238E27FC236}">
                <a16:creationId xmlns:a16="http://schemas.microsoft.com/office/drawing/2014/main" id="{36064903-52B3-13B8-1A06-063673FBD678}"/>
              </a:ext>
            </a:extLst>
          </p:cNvPr>
          <p:cNvSpPr>
            <a:spLocks noGrp="1"/>
          </p:cNvSpPr>
          <p:nvPr>
            <p:ph type="title"/>
          </p:nvPr>
        </p:nvSpPr>
        <p:spPr>
          <a:xfrm>
            <a:off x="741752" y="250371"/>
            <a:ext cx="8261631" cy="1320800"/>
          </a:xfrm>
        </p:spPr>
        <p:txBody>
          <a:bodyPr/>
          <a:lstStyle/>
          <a:p>
            <a:r>
              <a:rPr lang="en-US" b="1" dirty="0"/>
              <a:t>BASED ON OBSERVATION SETTING</a:t>
            </a:r>
            <a:endParaRPr lang="en-IN" dirty="0"/>
          </a:p>
        </p:txBody>
      </p:sp>
    </p:spTree>
    <p:extLst>
      <p:ext uri="{BB962C8B-B14F-4D97-AF65-F5344CB8AC3E}">
        <p14:creationId xmlns:p14="http://schemas.microsoft.com/office/powerpoint/2010/main" val="2572918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C356-4D7B-4363-B5C3-4559A60D5C67}"/>
              </a:ext>
            </a:extLst>
          </p:cNvPr>
          <p:cNvSpPr>
            <a:spLocks noGrp="1"/>
          </p:cNvSpPr>
          <p:nvPr>
            <p:ph type="title"/>
          </p:nvPr>
        </p:nvSpPr>
        <p:spPr/>
        <p:txBody>
          <a:bodyPr/>
          <a:lstStyle/>
          <a:p>
            <a:endParaRPr lang="en-IN" dirty="0"/>
          </a:p>
        </p:txBody>
      </p:sp>
      <p:pic>
        <p:nvPicPr>
          <p:cNvPr id="7" name="Content Placeholder 6" descr="A person sitting at a desk talking to a person&#10;&#10;Description automatically generated">
            <a:extLst>
              <a:ext uri="{FF2B5EF4-FFF2-40B4-BE49-F238E27FC236}">
                <a16:creationId xmlns:a16="http://schemas.microsoft.com/office/drawing/2014/main" id="{53322CDD-53F8-4906-1782-574C6717E65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2779" t="8134" r="11656" b="69210"/>
          <a:stretch/>
        </p:blipFill>
        <p:spPr>
          <a:xfrm>
            <a:off x="417935" y="250371"/>
            <a:ext cx="11356129" cy="1790302"/>
          </a:xfrm>
        </p:spPr>
      </p:pic>
      <p:pic>
        <p:nvPicPr>
          <p:cNvPr id="8" name="Content Placeholder 6" descr="A person sitting at a desk talking to a person&#10;&#10;Description automatically generated">
            <a:extLst>
              <a:ext uri="{FF2B5EF4-FFF2-40B4-BE49-F238E27FC236}">
                <a16:creationId xmlns:a16="http://schemas.microsoft.com/office/drawing/2014/main" id="{AE6BDE47-385F-843E-5EEF-E963BADB22A4}"/>
              </a:ext>
            </a:extLst>
          </p:cNvPr>
          <p:cNvPicPr>
            <a:picLocks noChangeAspect="1"/>
          </p:cNvPicPr>
          <p:nvPr/>
        </p:nvPicPr>
        <p:blipFill rotWithShape="1">
          <a:blip r:embed="rId2">
            <a:extLst>
              <a:ext uri="{28A0092B-C50C-407E-A947-70E740481C1C}">
                <a14:useLocalDpi xmlns:a14="http://schemas.microsoft.com/office/drawing/2010/main" val="0"/>
              </a:ext>
            </a:extLst>
          </a:blip>
          <a:srcRect l="25531" t="29990" r="19337" b="13619"/>
          <a:stretch/>
        </p:blipFill>
        <p:spPr>
          <a:xfrm>
            <a:off x="417935" y="2383176"/>
            <a:ext cx="5971004" cy="3211285"/>
          </a:xfrm>
          <a:prstGeom prst="rect">
            <a:avLst/>
          </a:prstGeom>
        </p:spPr>
      </p:pic>
      <p:pic>
        <p:nvPicPr>
          <p:cNvPr id="10" name="Picture 9" descr="A person talking on the phone&#10;&#10;Description automatically generated">
            <a:extLst>
              <a:ext uri="{FF2B5EF4-FFF2-40B4-BE49-F238E27FC236}">
                <a16:creationId xmlns:a16="http://schemas.microsoft.com/office/drawing/2014/main" id="{B04C0528-B7F9-7236-A331-137E1C637F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0539" y="2135326"/>
            <a:ext cx="5443525" cy="3706984"/>
          </a:xfrm>
          <a:prstGeom prst="rect">
            <a:avLst/>
          </a:prstGeom>
        </p:spPr>
      </p:pic>
      <p:sp>
        <p:nvSpPr>
          <p:cNvPr id="11" name="TextBox 10">
            <a:extLst>
              <a:ext uri="{FF2B5EF4-FFF2-40B4-BE49-F238E27FC236}">
                <a16:creationId xmlns:a16="http://schemas.microsoft.com/office/drawing/2014/main" id="{2B23630F-BD97-5D00-6424-AC22ACFEC913}"/>
              </a:ext>
            </a:extLst>
          </p:cNvPr>
          <p:cNvSpPr txBox="1"/>
          <p:nvPr/>
        </p:nvSpPr>
        <p:spPr>
          <a:xfrm>
            <a:off x="568477" y="5861646"/>
            <a:ext cx="5011180" cy="646331"/>
          </a:xfrm>
          <a:prstGeom prst="rect">
            <a:avLst/>
          </a:prstGeom>
          <a:noFill/>
        </p:spPr>
        <p:txBody>
          <a:bodyPr wrap="none" rtlCol="0">
            <a:spAutoFit/>
          </a:bodyPr>
          <a:lstStyle/>
          <a:p>
            <a:r>
              <a:rPr lang="en-US" sz="3600" b="1" dirty="0">
                <a:solidFill>
                  <a:srgbClr val="FF0000"/>
                </a:solidFill>
              </a:rPr>
              <a:t>PERSONAL INTERVIEW </a:t>
            </a:r>
            <a:endParaRPr lang="en-IN" sz="3600" b="1" dirty="0">
              <a:solidFill>
                <a:srgbClr val="FF0000"/>
              </a:solidFill>
            </a:endParaRPr>
          </a:p>
        </p:txBody>
      </p:sp>
      <p:sp>
        <p:nvSpPr>
          <p:cNvPr id="12" name="TextBox 11">
            <a:extLst>
              <a:ext uri="{FF2B5EF4-FFF2-40B4-BE49-F238E27FC236}">
                <a16:creationId xmlns:a16="http://schemas.microsoft.com/office/drawing/2014/main" id="{1C819E9E-625F-CB5E-EE09-38BCE8081564}"/>
              </a:ext>
            </a:extLst>
          </p:cNvPr>
          <p:cNvSpPr txBox="1"/>
          <p:nvPr/>
        </p:nvSpPr>
        <p:spPr>
          <a:xfrm>
            <a:off x="6284100" y="5861647"/>
            <a:ext cx="5489964" cy="646331"/>
          </a:xfrm>
          <a:prstGeom prst="rect">
            <a:avLst/>
          </a:prstGeom>
          <a:noFill/>
        </p:spPr>
        <p:txBody>
          <a:bodyPr wrap="none" rtlCol="0">
            <a:spAutoFit/>
          </a:bodyPr>
          <a:lstStyle/>
          <a:p>
            <a:r>
              <a:rPr lang="en-US" sz="3600" b="1" dirty="0">
                <a:solidFill>
                  <a:srgbClr val="FF0000"/>
                </a:solidFill>
              </a:rPr>
              <a:t>TELEPHONIC INTERVIEW </a:t>
            </a:r>
            <a:endParaRPr lang="en-IN" sz="3600" b="1" dirty="0">
              <a:solidFill>
                <a:srgbClr val="FF0000"/>
              </a:solidFill>
            </a:endParaRPr>
          </a:p>
        </p:txBody>
      </p:sp>
    </p:spTree>
    <p:extLst>
      <p:ext uri="{BB962C8B-B14F-4D97-AF65-F5344CB8AC3E}">
        <p14:creationId xmlns:p14="http://schemas.microsoft.com/office/powerpoint/2010/main" val="1962935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9914-6475-0684-617F-44AEABF672B6}"/>
              </a:ext>
            </a:extLst>
          </p:cNvPr>
          <p:cNvSpPr>
            <a:spLocks noGrp="1"/>
          </p:cNvSpPr>
          <p:nvPr>
            <p:ph type="title"/>
          </p:nvPr>
        </p:nvSpPr>
        <p:spPr>
          <a:xfrm>
            <a:off x="916818" y="314324"/>
            <a:ext cx="8335411" cy="1320800"/>
          </a:xfrm>
        </p:spPr>
        <p:txBody>
          <a:bodyPr/>
          <a:lstStyle/>
          <a:p>
            <a:r>
              <a:rPr lang="en-IN" b="1" dirty="0"/>
              <a:t>INTERVIEW METHOD - </a:t>
            </a:r>
            <a:r>
              <a:rPr lang="en-US" b="1" dirty="0"/>
              <a:t>PERSONAL</a:t>
            </a:r>
            <a:endParaRPr lang="en-IN" b="1" dirty="0"/>
          </a:p>
        </p:txBody>
      </p:sp>
      <p:sp useBgFill="1">
        <p:nvSpPr>
          <p:cNvPr id="3" name="Content Placeholder 2">
            <a:extLst>
              <a:ext uri="{FF2B5EF4-FFF2-40B4-BE49-F238E27FC236}">
                <a16:creationId xmlns:a16="http://schemas.microsoft.com/office/drawing/2014/main" id="{69107CB5-3805-4F13-6DAD-C097AFCAA5F5}"/>
              </a:ext>
            </a:extLst>
          </p:cNvPr>
          <p:cNvSpPr>
            <a:spLocks noGrp="1"/>
          </p:cNvSpPr>
          <p:nvPr>
            <p:ph idx="1"/>
          </p:nvPr>
        </p:nvSpPr>
        <p:spPr>
          <a:xfrm>
            <a:off x="655562" y="1266373"/>
            <a:ext cx="11307837" cy="954313"/>
          </a:xfrm>
        </p:spPr>
        <p:txBody>
          <a:bodyPr>
            <a:noAutofit/>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PERSONAL INTERVIEW : </a:t>
            </a:r>
            <a:r>
              <a:rPr lang="en-US" sz="2400" dirty="0">
                <a:solidFill>
                  <a:srgbClr val="040C28"/>
                </a:solidFill>
                <a:latin typeface="Calibri" panose="020F0502020204030204" pitchFamily="34" charset="0"/>
                <a:ea typeface="Calibri" panose="020F0502020204030204" pitchFamily="34" charset="0"/>
                <a:cs typeface="Calibri" panose="020F0502020204030204" pitchFamily="34" charset="0"/>
              </a:rPr>
              <a:t>It is a </a:t>
            </a:r>
            <a:r>
              <a:rPr lang="en-US" sz="2400" b="0" i="0"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face-to-face meeting or two-way communication between the interviewer and the interviewee.</a:t>
            </a:r>
          </a:p>
          <a:p>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group of people sitting at a table&#10;&#10;Description automatically generated">
            <a:extLst>
              <a:ext uri="{FF2B5EF4-FFF2-40B4-BE49-F238E27FC236}">
                <a16:creationId xmlns:a16="http://schemas.microsoft.com/office/drawing/2014/main" id="{309F3877-B318-C3AA-6A23-19D8ED433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3316" y="1926775"/>
            <a:ext cx="4218684" cy="3174998"/>
          </a:xfrm>
          <a:prstGeom prst="rect">
            <a:avLst/>
          </a:prstGeom>
        </p:spPr>
      </p:pic>
      <p:sp>
        <p:nvSpPr>
          <p:cNvPr id="6" name="TextBox 5">
            <a:extLst>
              <a:ext uri="{FF2B5EF4-FFF2-40B4-BE49-F238E27FC236}">
                <a16:creationId xmlns:a16="http://schemas.microsoft.com/office/drawing/2014/main" id="{ABADF762-3CA6-F916-F884-AE73696AB88B}"/>
              </a:ext>
            </a:extLst>
          </p:cNvPr>
          <p:cNvSpPr txBox="1"/>
          <p:nvPr/>
        </p:nvSpPr>
        <p:spPr>
          <a:xfrm>
            <a:off x="655562" y="2220686"/>
            <a:ext cx="9173602" cy="4493538"/>
          </a:xfrm>
          <a:prstGeom prst="rect">
            <a:avLst/>
          </a:prstGeom>
          <a:noFill/>
        </p:spPr>
        <p:txBody>
          <a:bodyPr wrap="none" rtlCol="0">
            <a:spAutoFit/>
          </a:bodyPr>
          <a:lstStyle/>
          <a:p>
            <a:pPr marL="0" indent="0">
              <a:buNone/>
            </a:pPr>
            <a:r>
              <a:rPr lang="en-US" sz="2200" b="1" dirty="0">
                <a:latin typeface="Calibri" panose="020F0502020204030204" pitchFamily="34" charset="0"/>
                <a:ea typeface="Calibri" panose="020F0502020204030204" pitchFamily="34" charset="0"/>
                <a:cs typeface="Calibri" panose="020F0502020204030204" pitchFamily="34" charset="0"/>
              </a:rPr>
              <a:t>BASIC PRINCIPLES OF INTERVIEWING</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Interviewers should be carefully selected and trained.</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Interviewer need to be honest, sincere, impartial. </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Interviewer should have good practical experience.</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Occasional field checks.</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Appropriate actions, if the respondents refuse to cooperate.</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Should create friendly atmosphere of trust and confidence.</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questions must be asked properly and intelligently.</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responses must be recorded accurately and completely.</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interviewer must answer legitimate questions by the respondent.</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interviewer must clear the doubts by the respondent. </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interviewer should not show surprise or disapproval of the responses. </a:t>
            </a:r>
          </a:p>
          <a:p>
            <a:pPr marL="457200" indent="-457200">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Should discouraging irrelevant conversation.</a:t>
            </a:r>
            <a:endParaRPr lang="en-IN" sz="2200" dirty="0"/>
          </a:p>
        </p:txBody>
      </p:sp>
    </p:spTree>
    <p:extLst>
      <p:ext uri="{BB962C8B-B14F-4D97-AF65-F5344CB8AC3E}">
        <p14:creationId xmlns:p14="http://schemas.microsoft.com/office/powerpoint/2010/main" val="3796444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6DB61-F99B-8F55-C140-27F6784F9F16}"/>
              </a:ext>
            </a:extLst>
          </p:cNvPr>
          <p:cNvSpPr>
            <a:spLocks noGrp="1"/>
          </p:cNvSpPr>
          <p:nvPr>
            <p:ph type="title"/>
          </p:nvPr>
        </p:nvSpPr>
        <p:spPr>
          <a:xfrm>
            <a:off x="524934" y="257629"/>
            <a:ext cx="8596668" cy="620485"/>
          </a:xfrm>
        </p:spPr>
        <p:txBody>
          <a:bodyPr>
            <a:normAutofit fontScale="90000"/>
          </a:bodyPr>
          <a:lstStyle/>
          <a:p>
            <a:pPr algn="ctr"/>
            <a:r>
              <a:rPr lang="en-US" b="1" dirty="0"/>
              <a:t>PERSONAL INTERVIEW TYPES</a:t>
            </a:r>
            <a:endParaRPr lang="en-IN" b="1" dirty="0"/>
          </a:p>
        </p:txBody>
      </p:sp>
      <p:sp>
        <p:nvSpPr>
          <p:cNvPr id="3" name="Content Placeholder 2">
            <a:extLst>
              <a:ext uri="{FF2B5EF4-FFF2-40B4-BE49-F238E27FC236}">
                <a16:creationId xmlns:a16="http://schemas.microsoft.com/office/drawing/2014/main" id="{9343670C-8D3B-CE9E-6B37-520B8B4F06E3}"/>
              </a:ext>
            </a:extLst>
          </p:cNvPr>
          <p:cNvSpPr>
            <a:spLocks noGrp="1"/>
          </p:cNvSpPr>
          <p:nvPr>
            <p:ph idx="1"/>
          </p:nvPr>
        </p:nvSpPr>
        <p:spPr>
          <a:xfrm>
            <a:off x="395202" y="1894115"/>
            <a:ext cx="5167399" cy="4706256"/>
          </a:xfrm>
        </p:spPr>
        <p:txBody>
          <a:bodyPr>
            <a:noAutofit/>
          </a:bodyPr>
          <a:lstStyle/>
          <a:p>
            <a:pPr marL="0" indent="0" algn="just">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DIRECT PERSONAL INVESTIGATION </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The interviewer collects the information personally from the sources concerned by meeting in person.</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It involves spot enquiry.</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P</a:t>
            </a:r>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rovides the investigator an opportunity to explain the study and objectives.</a:t>
            </a:r>
          </a:p>
          <a:p>
            <a:pPr algn="just"/>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investigator can also ask the respondent to expand the answers essential for the investigation.</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a:t>
            </a:r>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he respondents might also provide supplementary information to the interviewer.</a:t>
            </a: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descr="A close up of a screen&#10;&#10;Description automatically generated">
            <a:extLst>
              <a:ext uri="{FF2B5EF4-FFF2-40B4-BE49-F238E27FC236}">
                <a16:creationId xmlns:a16="http://schemas.microsoft.com/office/drawing/2014/main" id="{260EAADB-FA39-A421-F4AB-A673314B9E49}"/>
              </a:ext>
            </a:extLst>
          </p:cNvPr>
          <p:cNvPicPr>
            <a:picLocks noChangeAspect="1"/>
          </p:cNvPicPr>
          <p:nvPr/>
        </p:nvPicPr>
        <p:blipFill rotWithShape="1">
          <a:blip r:embed="rId3">
            <a:extLst>
              <a:ext uri="{28A0092B-C50C-407E-A947-70E740481C1C}">
                <a14:useLocalDpi xmlns:a14="http://schemas.microsoft.com/office/drawing/2010/main" val="0"/>
              </a:ext>
            </a:extLst>
          </a:blip>
          <a:srcRect t="14208" b="15201"/>
          <a:stretch/>
        </p:blipFill>
        <p:spPr>
          <a:xfrm>
            <a:off x="0" y="-14515"/>
            <a:ext cx="12192000" cy="1730829"/>
          </a:xfrm>
          <a:prstGeom prst="rect">
            <a:avLst/>
          </a:prstGeom>
        </p:spPr>
      </p:pic>
      <p:sp>
        <p:nvSpPr>
          <p:cNvPr id="7" name="Content Placeholder 2">
            <a:extLst>
              <a:ext uri="{FF2B5EF4-FFF2-40B4-BE49-F238E27FC236}">
                <a16:creationId xmlns:a16="http://schemas.microsoft.com/office/drawing/2014/main" id="{6EB670D0-050D-D1C4-019C-8E745A1DC2E7}"/>
              </a:ext>
            </a:extLst>
          </p:cNvPr>
          <p:cNvSpPr txBox="1">
            <a:spLocks/>
          </p:cNvSpPr>
          <p:nvPr/>
        </p:nvSpPr>
        <p:spPr>
          <a:xfrm>
            <a:off x="6168414" y="1890486"/>
            <a:ext cx="5493971" cy="47062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INDIRECT ORAL INVESTIGATION</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The interviewer must approach a third person who has knowledge about the problem under investigation.</a:t>
            </a:r>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It is used when the area of investigation is large.</a:t>
            </a:r>
          </a:p>
          <a:p>
            <a:pPr algn="just"/>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Used when respondents feel reluctant in parting information known to them. </a:t>
            </a:r>
          </a:p>
          <a:p>
            <a:pPr algn="just"/>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a:t>
            </a:r>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he investigator prepares a list of questions related to the investigation, and then asks from different persons and records their answers. </a:t>
            </a:r>
          </a:p>
          <a:p>
            <a:pPr algn="just"/>
            <a:r>
              <a:rPr lang="en-US" sz="20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person from whom these questions are asked is known as a </a:t>
            </a:r>
            <a:r>
              <a:rPr lang="en-US" sz="2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witness. </a:t>
            </a:r>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9" name="Straight Connector 8">
            <a:extLst>
              <a:ext uri="{FF2B5EF4-FFF2-40B4-BE49-F238E27FC236}">
                <a16:creationId xmlns:a16="http://schemas.microsoft.com/office/drawing/2014/main" id="{F8B1C10C-346F-80F8-70BF-B17EE5B58CC6}"/>
              </a:ext>
            </a:extLst>
          </p:cNvPr>
          <p:cNvCxnSpPr/>
          <p:nvPr/>
        </p:nvCxnSpPr>
        <p:spPr>
          <a:xfrm>
            <a:off x="5791200" y="1716314"/>
            <a:ext cx="0" cy="5141686"/>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97460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F7D21-0B61-80E9-8AC5-1B71E4C54AEA}"/>
              </a:ext>
            </a:extLst>
          </p:cNvPr>
          <p:cNvSpPr>
            <a:spLocks noGrp="1"/>
          </p:cNvSpPr>
          <p:nvPr>
            <p:ph idx="1"/>
          </p:nvPr>
        </p:nvSpPr>
        <p:spPr>
          <a:xfrm>
            <a:off x="688219" y="906122"/>
            <a:ext cx="9402838" cy="5592649"/>
          </a:xfrm>
        </p:spPr>
        <p:txBody>
          <a:bodyPr>
            <a:noAutofit/>
          </a:bodyPr>
          <a:lstStyle/>
          <a:p>
            <a:pPr marL="0" indent="0">
              <a:buNone/>
            </a:pPr>
            <a:r>
              <a:rPr lang="en-US" sz="2300" b="1" dirty="0">
                <a:latin typeface="Calibri" panose="020F0502020204030204" pitchFamily="34" charset="0"/>
                <a:ea typeface="Calibri" panose="020F0502020204030204" pitchFamily="34" charset="0"/>
                <a:cs typeface="Calibri" panose="020F0502020204030204" pitchFamily="34" charset="0"/>
              </a:rPr>
              <a:t>STRUCTURED INTERVIEW</a:t>
            </a:r>
          </a:p>
          <a:p>
            <a:r>
              <a:rPr lang="en-US" sz="2300" dirty="0">
                <a:latin typeface="Calibri" panose="020F0502020204030204" pitchFamily="34" charset="0"/>
                <a:ea typeface="Calibri" panose="020F0502020204030204" pitchFamily="34" charset="0"/>
                <a:cs typeface="Calibri" panose="020F0502020204030204" pitchFamily="34" charset="0"/>
              </a:rPr>
              <a:t>Uses a set of predetermined questions &amp; highly standardized techniques of recording.</a:t>
            </a:r>
          </a:p>
          <a:p>
            <a:r>
              <a:rPr lang="en-US" sz="2300" dirty="0">
                <a:latin typeface="Calibri" panose="020F0502020204030204" pitchFamily="34" charset="0"/>
                <a:ea typeface="Calibri" panose="020F0502020204030204" pitchFamily="34" charset="0"/>
                <a:cs typeface="Calibri" panose="020F0502020204030204" pitchFamily="34" charset="0"/>
              </a:rPr>
              <a:t>Here the interviewer follows a rigid procedure of, asking questions.</a:t>
            </a:r>
          </a:p>
          <a:p>
            <a:r>
              <a:rPr lang="en-US" sz="2300" dirty="0">
                <a:latin typeface="Calibri" panose="020F0502020204030204" pitchFamily="34" charset="0"/>
                <a:ea typeface="Calibri" panose="020F0502020204030204" pitchFamily="34" charset="0"/>
                <a:cs typeface="Calibri" panose="020F0502020204030204" pitchFamily="34" charset="0"/>
              </a:rPr>
              <a:t>Interviewer cannot skip or alter the sequence of questions.</a:t>
            </a:r>
          </a:p>
          <a:p>
            <a:pPr marL="0" indent="0">
              <a:buNone/>
            </a:pPr>
            <a:r>
              <a:rPr lang="en-US" sz="2300" b="1" dirty="0">
                <a:latin typeface="Calibri" panose="020F0502020204030204" pitchFamily="34" charset="0"/>
                <a:ea typeface="Calibri" panose="020F0502020204030204" pitchFamily="34" charset="0"/>
                <a:cs typeface="Calibri" panose="020F0502020204030204" pitchFamily="34" charset="0"/>
              </a:rPr>
              <a:t>UNSTRUCTURED INTERVIEWS</a:t>
            </a:r>
            <a:endParaRPr lang="en-US" sz="2300" dirty="0">
              <a:latin typeface="Calibri" panose="020F0502020204030204" pitchFamily="34" charset="0"/>
              <a:ea typeface="Calibri" panose="020F0502020204030204" pitchFamily="34" charset="0"/>
              <a:cs typeface="Calibri" panose="020F0502020204030204" pitchFamily="34" charset="0"/>
            </a:endParaRPr>
          </a:p>
          <a:p>
            <a:r>
              <a:rPr lang="en-US" sz="2300" dirty="0">
                <a:latin typeface="Calibri" panose="020F0502020204030204" pitchFamily="34" charset="0"/>
                <a:ea typeface="Calibri" panose="020F0502020204030204" pitchFamily="34" charset="0"/>
                <a:cs typeface="Calibri" panose="020F0502020204030204" pitchFamily="34" charset="0"/>
              </a:rPr>
              <a:t>They follow a more flexible approach with no pre-determined questions and standardized recording techniques.</a:t>
            </a:r>
          </a:p>
          <a:p>
            <a:r>
              <a:rPr lang="en-US" sz="2300" dirty="0">
                <a:latin typeface="Calibri" panose="020F0502020204030204" pitchFamily="34" charset="0"/>
                <a:ea typeface="Calibri" panose="020F0502020204030204" pitchFamily="34" charset="0"/>
                <a:cs typeface="Calibri" panose="020F0502020204030204" pitchFamily="34" charset="0"/>
              </a:rPr>
              <a:t>The interviewer has the freedom to ask, supplementary questions or omit certain questions if required. </a:t>
            </a:r>
          </a:p>
          <a:p>
            <a:r>
              <a:rPr lang="en-US" sz="2300" dirty="0">
                <a:latin typeface="Calibri" panose="020F0502020204030204" pitchFamily="34" charset="0"/>
                <a:ea typeface="Calibri" panose="020F0502020204030204" pitchFamily="34" charset="0"/>
                <a:cs typeface="Calibri" panose="020F0502020204030204" pitchFamily="34" charset="0"/>
              </a:rPr>
              <a:t>He may even change the sequence of questions. </a:t>
            </a:r>
          </a:p>
          <a:p>
            <a:r>
              <a:rPr lang="en-US" sz="2300" dirty="0">
                <a:latin typeface="Calibri" panose="020F0502020204030204" pitchFamily="34" charset="0"/>
                <a:ea typeface="Calibri" panose="020F0502020204030204" pitchFamily="34" charset="0"/>
                <a:cs typeface="Calibri" panose="020F0502020204030204" pitchFamily="34" charset="0"/>
              </a:rPr>
              <a:t>Its needs deep knowledge and greater skill on the part of the interviewer.</a:t>
            </a:r>
          </a:p>
        </p:txBody>
      </p:sp>
      <p:sp>
        <p:nvSpPr>
          <p:cNvPr id="2" name="Title 1">
            <a:extLst>
              <a:ext uri="{FF2B5EF4-FFF2-40B4-BE49-F238E27FC236}">
                <a16:creationId xmlns:a16="http://schemas.microsoft.com/office/drawing/2014/main" id="{11464C8A-D2E9-F317-F03E-5EE1E8346D18}"/>
              </a:ext>
            </a:extLst>
          </p:cNvPr>
          <p:cNvSpPr>
            <a:spLocks noGrp="1"/>
          </p:cNvSpPr>
          <p:nvPr>
            <p:ph type="title"/>
          </p:nvPr>
        </p:nvSpPr>
        <p:spPr>
          <a:xfrm>
            <a:off x="524934" y="257629"/>
            <a:ext cx="8596668" cy="620485"/>
          </a:xfrm>
        </p:spPr>
        <p:txBody>
          <a:bodyPr>
            <a:normAutofit fontScale="90000"/>
          </a:bodyPr>
          <a:lstStyle/>
          <a:p>
            <a:pPr algn="ctr"/>
            <a:r>
              <a:rPr lang="en-US" b="1" dirty="0"/>
              <a:t>PERSONAL INTERVIEW TYPES</a:t>
            </a:r>
            <a:endParaRPr lang="en-IN" b="1" dirty="0"/>
          </a:p>
        </p:txBody>
      </p:sp>
    </p:spTree>
    <p:extLst>
      <p:ext uri="{BB962C8B-B14F-4D97-AF65-F5344CB8AC3E}">
        <p14:creationId xmlns:p14="http://schemas.microsoft.com/office/powerpoint/2010/main" val="2791630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2A8386-7331-7E5E-6D3D-AB7B464CD02B}"/>
              </a:ext>
            </a:extLst>
          </p:cNvPr>
          <p:cNvSpPr>
            <a:spLocks noGrp="1"/>
          </p:cNvSpPr>
          <p:nvPr>
            <p:ph idx="1"/>
          </p:nvPr>
        </p:nvSpPr>
        <p:spPr>
          <a:xfrm>
            <a:off x="503163" y="959322"/>
            <a:ext cx="10010018" cy="5898678"/>
          </a:xfrm>
        </p:spPr>
        <p:txBody>
          <a:bodyPr>
            <a:noAutofit/>
          </a:bodyPr>
          <a:lstStyle/>
          <a:p>
            <a:pPr marL="0" indent="0">
              <a:buNone/>
            </a:pPr>
            <a:r>
              <a:rPr lang="en-US" sz="2300" b="1" dirty="0">
                <a:latin typeface="Calibri" panose="020F0502020204030204" pitchFamily="34" charset="0"/>
                <a:ea typeface="Calibri" panose="020F0502020204030204" pitchFamily="34" charset="0"/>
                <a:cs typeface="Calibri" panose="020F0502020204030204" pitchFamily="34" charset="0"/>
              </a:rPr>
              <a:t>FOCUSSED INTERVIEW</a:t>
            </a:r>
          </a:p>
          <a:p>
            <a:r>
              <a:rPr lang="en-US" sz="2300" dirty="0">
                <a:latin typeface="Calibri" panose="020F0502020204030204" pitchFamily="34" charset="0"/>
                <a:ea typeface="Calibri" panose="020F0502020204030204" pitchFamily="34" charset="0"/>
                <a:cs typeface="Calibri" panose="020F0502020204030204" pitchFamily="34" charset="0"/>
              </a:rPr>
              <a:t>It focuses on the given experience of the respondent and its effects. </a:t>
            </a:r>
          </a:p>
          <a:p>
            <a:r>
              <a:rPr lang="en-US" sz="2300" dirty="0">
                <a:latin typeface="Calibri" panose="020F0502020204030204" pitchFamily="34" charset="0"/>
                <a:ea typeface="Calibri" panose="020F0502020204030204" pitchFamily="34" charset="0"/>
                <a:cs typeface="Calibri" panose="020F0502020204030204" pitchFamily="34" charset="0"/>
              </a:rPr>
              <a:t>Interviewer has the freedom to decide the sequence of questions. </a:t>
            </a:r>
          </a:p>
          <a:p>
            <a:r>
              <a:rPr lang="en-US" sz="2300" dirty="0">
                <a:latin typeface="Calibri" panose="020F0502020204030204" pitchFamily="34" charset="0"/>
                <a:ea typeface="Calibri" panose="020F0502020204030204" pitchFamily="34" charset="0"/>
                <a:cs typeface="Calibri" panose="020F0502020204030204" pitchFamily="34" charset="0"/>
              </a:rPr>
              <a:t>He also has the freedom to explore reasons and motives behind the responses. </a:t>
            </a:r>
          </a:p>
          <a:p>
            <a:r>
              <a:rPr lang="en-US" sz="2300" dirty="0">
                <a:latin typeface="Calibri" panose="020F0502020204030204" pitchFamily="34" charset="0"/>
                <a:ea typeface="Calibri" panose="020F0502020204030204" pitchFamily="34" charset="0"/>
                <a:cs typeface="Calibri" panose="020F0502020204030204" pitchFamily="34" charset="0"/>
              </a:rPr>
              <a:t>The interview aims to confine the respondent to a discussion that is of concern. </a:t>
            </a:r>
          </a:p>
          <a:p>
            <a:pPr marL="0" indent="0">
              <a:buNone/>
            </a:pPr>
            <a:r>
              <a:rPr lang="en-US" sz="2300" b="1" dirty="0">
                <a:latin typeface="Calibri" panose="020F0502020204030204" pitchFamily="34" charset="0"/>
                <a:ea typeface="Calibri" panose="020F0502020204030204" pitchFamily="34" charset="0"/>
                <a:cs typeface="Calibri" panose="020F0502020204030204" pitchFamily="34" charset="0"/>
              </a:rPr>
              <a:t>CLINICAL INTERVIEW</a:t>
            </a:r>
          </a:p>
          <a:p>
            <a:r>
              <a:rPr lang="en-US" sz="2300" dirty="0">
                <a:latin typeface="Calibri" panose="020F0502020204030204" pitchFamily="34" charset="0"/>
                <a:ea typeface="Calibri" panose="020F0502020204030204" pitchFamily="34" charset="0"/>
                <a:cs typeface="Calibri" panose="020F0502020204030204" pitchFamily="34" charset="0"/>
              </a:rPr>
              <a:t>It is concerned with broad underlying feelings </a:t>
            </a:r>
            <a:r>
              <a:rPr lang="en-US" sz="2300" dirty="0" err="1">
                <a:latin typeface="Calibri" panose="020F0502020204030204" pitchFamily="34" charset="0"/>
                <a:ea typeface="Calibri" panose="020F0502020204030204" pitchFamily="34" charset="0"/>
                <a:cs typeface="Calibri" panose="020F0502020204030204" pitchFamily="34" charset="0"/>
              </a:rPr>
              <a:t>wrt</a:t>
            </a:r>
            <a:r>
              <a:rPr lang="en-US" sz="2300" dirty="0">
                <a:latin typeface="Calibri" panose="020F0502020204030204" pitchFamily="34" charset="0"/>
                <a:ea typeface="Calibri" panose="020F0502020204030204" pitchFamily="34" charset="0"/>
                <a:cs typeface="Calibri" panose="020F0502020204030204" pitchFamily="34" charset="0"/>
              </a:rPr>
              <a:t> to individual’s life experience. </a:t>
            </a:r>
          </a:p>
          <a:p>
            <a:r>
              <a:rPr lang="en-US" sz="2300" dirty="0">
                <a:latin typeface="Calibri" panose="020F0502020204030204" pitchFamily="34" charset="0"/>
                <a:ea typeface="Calibri" panose="020F0502020204030204" pitchFamily="34" charset="0"/>
                <a:cs typeface="Calibri" panose="020F0502020204030204" pitchFamily="34" charset="0"/>
              </a:rPr>
              <a:t>The method of obtaining  information is left to the interviewer’s discretion.</a:t>
            </a:r>
          </a:p>
          <a:p>
            <a:pPr marL="0" indent="0">
              <a:buNone/>
            </a:pPr>
            <a:r>
              <a:rPr lang="en-US" sz="2300" b="1" dirty="0">
                <a:latin typeface="Calibri" panose="020F0502020204030204" pitchFamily="34" charset="0"/>
                <a:ea typeface="Calibri" panose="020F0502020204030204" pitchFamily="34" charset="0"/>
                <a:cs typeface="Calibri" panose="020F0502020204030204" pitchFamily="34" charset="0"/>
              </a:rPr>
              <a:t>NON-DIRECTIVE INTERVIEW</a:t>
            </a:r>
          </a:p>
          <a:p>
            <a:pPr marL="0" indent="0">
              <a:buNone/>
            </a:pPr>
            <a:r>
              <a:rPr lang="en-US" sz="2300" dirty="0">
                <a:latin typeface="Calibri" panose="020F0502020204030204" pitchFamily="34" charset="0"/>
                <a:ea typeface="Calibri" panose="020F0502020204030204" pitchFamily="34" charset="0"/>
                <a:cs typeface="Calibri" panose="020F0502020204030204" pitchFamily="34" charset="0"/>
              </a:rPr>
              <a:t>The interviewer’s role is to encourage the respondent to talk on the given topic.</a:t>
            </a:r>
          </a:p>
          <a:p>
            <a:pPr marL="0" indent="0">
              <a:buNone/>
            </a:pPr>
            <a:r>
              <a:rPr lang="en-US" sz="2300" dirty="0">
                <a:latin typeface="Calibri" panose="020F0502020204030204" pitchFamily="34" charset="0"/>
                <a:ea typeface="Calibri" panose="020F0502020204030204" pitchFamily="34" charset="0"/>
                <a:cs typeface="Calibri" panose="020F0502020204030204" pitchFamily="34" charset="0"/>
              </a:rPr>
              <a:t>There involves minimum questioning. </a:t>
            </a:r>
          </a:p>
        </p:txBody>
      </p:sp>
      <p:sp>
        <p:nvSpPr>
          <p:cNvPr id="2" name="Title 1">
            <a:extLst>
              <a:ext uri="{FF2B5EF4-FFF2-40B4-BE49-F238E27FC236}">
                <a16:creationId xmlns:a16="http://schemas.microsoft.com/office/drawing/2014/main" id="{DC44E86C-552F-4529-E111-193B13D6D0D6}"/>
              </a:ext>
            </a:extLst>
          </p:cNvPr>
          <p:cNvSpPr>
            <a:spLocks noGrp="1"/>
          </p:cNvSpPr>
          <p:nvPr>
            <p:ph type="title"/>
          </p:nvPr>
        </p:nvSpPr>
        <p:spPr>
          <a:xfrm>
            <a:off x="524934" y="257629"/>
            <a:ext cx="8596668" cy="620485"/>
          </a:xfrm>
        </p:spPr>
        <p:txBody>
          <a:bodyPr>
            <a:normAutofit fontScale="90000"/>
          </a:bodyPr>
          <a:lstStyle/>
          <a:p>
            <a:pPr algn="ctr"/>
            <a:r>
              <a:rPr lang="en-US" b="1" dirty="0"/>
              <a:t>PERSONAL INTERVIEW TYPES</a:t>
            </a:r>
            <a:endParaRPr lang="en-IN" b="1" dirty="0"/>
          </a:p>
        </p:txBody>
      </p:sp>
    </p:spTree>
    <p:extLst>
      <p:ext uri="{BB962C8B-B14F-4D97-AF65-F5344CB8AC3E}">
        <p14:creationId xmlns:p14="http://schemas.microsoft.com/office/powerpoint/2010/main" val="1049515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C1092-1BB7-9E19-E49D-C28F83A9AFD3}"/>
              </a:ext>
            </a:extLst>
          </p:cNvPr>
          <p:cNvSpPr>
            <a:spLocks noGrp="1"/>
          </p:cNvSpPr>
          <p:nvPr>
            <p:ph type="title"/>
          </p:nvPr>
        </p:nvSpPr>
        <p:spPr>
          <a:xfrm>
            <a:off x="2395440" y="315686"/>
            <a:ext cx="6878562" cy="762000"/>
          </a:xfrm>
        </p:spPr>
        <p:txBody>
          <a:bodyPr>
            <a:normAutofit fontScale="90000"/>
          </a:bodyPr>
          <a:lstStyle/>
          <a:p>
            <a:pPr algn="ctr"/>
            <a:r>
              <a:rPr lang="en-US" b="1" dirty="0"/>
              <a:t>PERSONAL INTERVIEW</a:t>
            </a:r>
            <a:br>
              <a:rPr lang="en-IN" b="1" dirty="0"/>
            </a:br>
            <a:endParaRPr lang="en-IN" dirty="0"/>
          </a:p>
        </p:txBody>
      </p:sp>
      <p:sp>
        <p:nvSpPr>
          <p:cNvPr id="3" name="Content Placeholder 2">
            <a:extLst>
              <a:ext uri="{FF2B5EF4-FFF2-40B4-BE49-F238E27FC236}">
                <a16:creationId xmlns:a16="http://schemas.microsoft.com/office/drawing/2014/main" id="{F8FBB21A-E79E-4B3C-F603-9B31A1B26091}"/>
              </a:ext>
            </a:extLst>
          </p:cNvPr>
          <p:cNvSpPr>
            <a:spLocks noGrp="1"/>
          </p:cNvSpPr>
          <p:nvPr>
            <p:ph idx="1"/>
          </p:nvPr>
        </p:nvSpPr>
        <p:spPr/>
        <p:txBody>
          <a:bodyPr/>
          <a:lstStyle/>
          <a:p>
            <a:endParaRPr lang="en-IN" dirty="0"/>
          </a:p>
        </p:txBody>
      </p:sp>
      <p:graphicFrame>
        <p:nvGraphicFramePr>
          <p:cNvPr id="4" name="Table 3">
            <a:extLst>
              <a:ext uri="{FF2B5EF4-FFF2-40B4-BE49-F238E27FC236}">
                <a16:creationId xmlns:a16="http://schemas.microsoft.com/office/drawing/2014/main" id="{8F60136C-2EBE-BFB0-98DE-A093B26D32A0}"/>
              </a:ext>
            </a:extLst>
          </p:cNvPr>
          <p:cNvGraphicFramePr>
            <a:graphicFrameLocks noGrp="1"/>
          </p:cNvGraphicFramePr>
          <p:nvPr>
            <p:extLst>
              <p:ext uri="{D42A27DB-BD31-4B8C-83A1-F6EECF244321}">
                <p14:modId xmlns:p14="http://schemas.microsoft.com/office/powerpoint/2010/main" val="1659197026"/>
              </p:ext>
            </p:extLst>
          </p:nvPr>
        </p:nvGraphicFramePr>
        <p:xfrm>
          <a:off x="478971" y="1077686"/>
          <a:ext cx="11310258" cy="4973864"/>
        </p:xfrm>
        <a:graphic>
          <a:graphicData uri="http://schemas.openxmlformats.org/drawingml/2006/table">
            <a:tbl>
              <a:tblPr firstRow="1" bandRow="1">
                <a:tableStyleId>{5C22544A-7EE6-4342-B048-85BDC9FD1C3A}</a:tableStyleId>
              </a:tblPr>
              <a:tblGrid>
                <a:gridCol w="5687326">
                  <a:extLst>
                    <a:ext uri="{9D8B030D-6E8A-4147-A177-3AD203B41FA5}">
                      <a16:colId xmlns:a16="http://schemas.microsoft.com/office/drawing/2014/main" val="3294500831"/>
                    </a:ext>
                  </a:extLst>
                </a:gridCol>
                <a:gridCol w="5622932">
                  <a:extLst>
                    <a:ext uri="{9D8B030D-6E8A-4147-A177-3AD203B41FA5}">
                      <a16:colId xmlns:a16="http://schemas.microsoft.com/office/drawing/2014/main" val="3772170825"/>
                    </a:ext>
                  </a:extLst>
                </a:gridCol>
              </a:tblGrid>
              <a:tr h="365579">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DEMERITS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27792144"/>
                  </a:ext>
                </a:extLst>
              </a:tr>
              <a:tr h="325664">
                <a:tc>
                  <a:txBody>
                    <a:bodyPr/>
                    <a:lstStyle/>
                    <a:p>
                      <a:pPr marL="342900" indent="-342900" algn="just">
                        <a:buFont typeface="Arial" panose="020B0604020202020204" pitchFamily="34" charset="0"/>
                        <a:buChar char="•"/>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Can obtain more information in greater depth.</a:t>
                      </a:r>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It is a very expensive method, specially when the sample is very large. </a:t>
                      </a:r>
                    </a:p>
                    <a:p>
                      <a:pPr marL="342900" indent="-342900" algn="just">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25620832"/>
                  </a:ext>
                </a:extLst>
              </a:tr>
              <a:tr h="950504">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Offers greater flexibility, the questions can be restructured as required.</a:t>
                      </a:r>
                    </a:p>
                  </a:txBody>
                  <a:tcP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Possibility of the bias by the interviewer as well as the respondent.</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33187288"/>
                  </a:ext>
                </a:extLst>
              </a:tr>
              <a:tr h="950504">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The interviewer can collect supplementary information about the respondent’s personal characteristics.</a:t>
                      </a:r>
                    </a:p>
                  </a:txBody>
                  <a:tcP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Relatively more-time-consuming, specially when the sample is large.</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23413657"/>
                  </a:ext>
                </a:extLst>
              </a:tr>
              <a:tr h="950504">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Interviewer can control which persons will answer the questions. </a:t>
                      </a:r>
                    </a:p>
                  </a:txBody>
                  <a:tcP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Certain types of respondents (high profile), may not be easily approachable.</a:t>
                      </a:r>
                    </a:p>
                  </a:txBody>
                  <a:tcPr/>
                </a:tc>
                <a:extLst>
                  <a:ext uri="{0D108BD9-81ED-4DB2-BD59-A6C34878D82A}">
                    <a16:rowId xmlns:a16="http://schemas.microsoft.com/office/drawing/2014/main" val="2455326582"/>
                  </a:ext>
                </a:extLst>
              </a:tr>
            </a:tbl>
          </a:graphicData>
        </a:graphic>
      </p:graphicFrame>
    </p:spTree>
    <p:extLst>
      <p:ext uri="{BB962C8B-B14F-4D97-AF65-F5344CB8AC3E}">
        <p14:creationId xmlns:p14="http://schemas.microsoft.com/office/powerpoint/2010/main" val="1394936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hone with people and text&#10;&#10;Description automatically generated">
            <a:extLst>
              <a:ext uri="{FF2B5EF4-FFF2-40B4-BE49-F238E27FC236}">
                <a16:creationId xmlns:a16="http://schemas.microsoft.com/office/drawing/2014/main" id="{8B5761F7-06EE-ECE8-28F8-5F328F46741F}"/>
              </a:ext>
            </a:extLst>
          </p:cNvPr>
          <p:cNvPicPr>
            <a:picLocks noChangeAspect="1"/>
          </p:cNvPicPr>
          <p:nvPr/>
        </p:nvPicPr>
        <p:blipFill rotWithShape="1">
          <a:blip r:embed="rId2">
            <a:extLst>
              <a:ext uri="{28A0092B-C50C-407E-A947-70E740481C1C}">
                <a14:useLocalDpi xmlns:a14="http://schemas.microsoft.com/office/drawing/2010/main" val="0"/>
              </a:ext>
            </a:extLst>
          </a:blip>
          <a:srcRect l="1790" t="14209" r="21060" b="29216"/>
          <a:stretch/>
        </p:blipFill>
        <p:spPr>
          <a:xfrm>
            <a:off x="4811240" y="0"/>
            <a:ext cx="7233406" cy="6866467"/>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1777D66B-37E5-B3F6-99CB-F520982EA662}"/>
              </a:ext>
            </a:extLst>
          </p:cNvPr>
          <p:cNvSpPr>
            <a:spLocks noGrp="1"/>
          </p:cNvSpPr>
          <p:nvPr>
            <p:ph type="title"/>
          </p:nvPr>
        </p:nvSpPr>
        <p:spPr>
          <a:xfrm>
            <a:off x="595368" y="829113"/>
            <a:ext cx="5418667" cy="1320800"/>
          </a:xfrm>
        </p:spPr>
        <p:txBody>
          <a:bodyPr>
            <a:normAutofit/>
          </a:bodyPr>
          <a:lstStyle/>
          <a:p>
            <a:pPr>
              <a:lnSpc>
                <a:spcPct val="90000"/>
              </a:lnSpc>
            </a:pPr>
            <a:r>
              <a:rPr lang="en-US" sz="2800" b="1" dirty="0"/>
              <a:t>TELEPHONIC INTERVIEW</a:t>
            </a:r>
            <a:br>
              <a:rPr lang="en-US" sz="2800" b="1" dirty="0"/>
            </a:br>
            <a:endParaRPr lang="en-IN" sz="2800" b="1" dirty="0"/>
          </a:p>
        </p:txBody>
      </p:sp>
      <p:sp>
        <p:nvSpPr>
          <p:cNvPr id="3" name="Content Placeholder 2">
            <a:extLst>
              <a:ext uri="{FF2B5EF4-FFF2-40B4-BE49-F238E27FC236}">
                <a16:creationId xmlns:a16="http://schemas.microsoft.com/office/drawing/2014/main" id="{494AA44E-14E2-8D73-D712-1D0CB40C6CDF}"/>
              </a:ext>
            </a:extLst>
          </p:cNvPr>
          <p:cNvSpPr>
            <a:spLocks noGrp="1"/>
          </p:cNvSpPr>
          <p:nvPr>
            <p:ph idx="1"/>
          </p:nvPr>
        </p:nvSpPr>
        <p:spPr>
          <a:xfrm>
            <a:off x="147354" y="2148114"/>
            <a:ext cx="5850675" cy="3880773"/>
          </a:xfrm>
        </p:spPr>
        <p:txBody>
          <a:bodyPr>
            <a:normAutofit/>
          </a:bodyPr>
          <a:lstStyle/>
          <a:p>
            <a:pPr algn="just"/>
            <a:r>
              <a:rPr lang="en-US" sz="2800" dirty="0">
                <a:latin typeface="Calibri" panose="020F0502020204030204" pitchFamily="34" charset="0"/>
                <a:ea typeface="Calibri" panose="020F0502020204030204" pitchFamily="34" charset="0"/>
                <a:cs typeface="Calibri" panose="020F0502020204030204" pitchFamily="34" charset="0"/>
              </a:rPr>
              <a:t>This method of collecting information involves contacting respondents over telephone. </a:t>
            </a:r>
          </a:p>
          <a:p>
            <a:pPr algn="just"/>
            <a:r>
              <a:rPr lang="en-US" sz="2800" dirty="0">
                <a:latin typeface="Calibri" panose="020F0502020204030204" pitchFamily="34" charset="0"/>
                <a:ea typeface="Calibri" panose="020F0502020204030204" pitchFamily="34" charset="0"/>
                <a:cs typeface="Calibri" panose="020F0502020204030204" pitchFamily="34" charset="0"/>
              </a:rPr>
              <a:t>It is not a very widely used method but plays important part in industrial surveys.</a:t>
            </a:r>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52385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C83C-D2BD-C017-EA90-A5DFB85A381A}"/>
              </a:ext>
            </a:extLst>
          </p:cNvPr>
          <p:cNvSpPr>
            <a:spLocks noGrp="1"/>
          </p:cNvSpPr>
          <p:nvPr>
            <p:ph type="title"/>
          </p:nvPr>
        </p:nvSpPr>
        <p:spPr>
          <a:xfrm>
            <a:off x="1504648" y="136730"/>
            <a:ext cx="8596668" cy="852714"/>
          </a:xfrm>
        </p:spPr>
        <p:txBody>
          <a:bodyPr/>
          <a:lstStyle/>
          <a:p>
            <a:pPr algn="ctr"/>
            <a:r>
              <a:rPr lang="en-US" sz="3600" b="1" dirty="0"/>
              <a:t>TELEPHONIC INTERVIEW</a:t>
            </a:r>
            <a:endParaRPr lang="en-IN" dirty="0"/>
          </a:p>
        </p:txBody>
      </p:sp>
      <p:sp>
        <p:nvSpPr>
          <p:cNvPr id="3" name="Content Placeholder 2">
            <a:extLst>
              <a:ext uri="{FF2B5EF4-FFF2-40B4-BE49-F238E27FC236}">
                <a16:creationId xmlns:a16="http://schemas.microsoft.com/office/drawing/2014/main" id="{6CCF3056-33DA-9C4F-3ADE-CC4958F9F314}"/>
              </a:ext>
            </a:extLst>
          </p:cNvPr>
          <p:cNvSpPr>
            <a:spLocks noGrp="1"/>
          </p:cNvSpPr>
          <p:nvPr>
            <p:ph idx="1"/>
          </p:nvPr>
        </p:nvSpPr>
        <p:spPr/>
        <p:txBody>
          <a:bodyPr/>
          <a:lstStyle/>
          <a:p>
            <a:endParaRPr lang="en-IN"/>
          </a:p>
        </p:txBody>
      </p:sp>
      <p:graphicFrame>
        <p:nvGraphicFramePr>
          <p:cNvPr id="4" name="Table 3">
            <a:extLst>
              <a:ext uri="{FF2B5EF4-FFF2-40B4-BE49-F238E27FC236}">
                <a16:creationId xmlns:a16="http://schemas.microsoft.com/office/drawing/2014/main" id="{08B04E4C-5ACB-985C-D923-4AE5FB873575}"/>
              </a:ext>
            </a:extLst>
          </p:cNvPr>
          <p:cNvGraphicFramePr>
            <a:graphicFrameLocks noGrp="1"/>
          </p:cNvGraphicFramePr>
          <p:nvPr>
            <p:extLst>
              <p:ext uri="{D42A27DB-BD31-4B8C-83A1-F6EECF244321}">
                <p14:modId xmlns:p14="http://schemas.microsoft.com/office/powerpoint/2010/main" val="3223236986"/>
              </p:ext>
            </p:extLst>
          </p:nvPr>
        </p:nvGraphicFramePr>
        <p:xfrm>
          <a:off x="677334" y="787574"/>
          <a:ext cx="11324489" cy="5933696"/>
        </p:xfrm>
        <a:graphic>
          <a:graphicData uri="http://schemas.openxmlformats.org/drawingml/2006/table">
            <a:tbl>
              <a:tblPr firstRow="1" bandRow="1">
                <a:tableStyleId>{5C22544A-7EE6-4342-B048-85BDC9FD1C3A}</a:tableStyleId>
              </a:tblPr>
              <a:tblGrid>
                <a:gridCol w="5694481">
                  <a:extLst>
                    <a:ext uri="{9D8B030D-6E8A-4147-A177-3AD203B41FA5}">
                      <a16:colId xmlns:a16="http://schemas.microsoft.com/office/drawing/2014/main" val="3294500831"/>
                    </a:ext>
                  </a:extLst>
                </a:gridCol>
                <a:gridCol w="5630008">
                  <a:extLst>
                    <a:ext uri="{9D8B030D-6E8A-4147-A177-3AD203B41FA5}">
                      <a16:colId xmlns:a16="http://schemas.microsoft.com/office/drawing/2014/main" val="3772170825"/>
                    </a:ext>
                  </a:extLst>
                </a:gridCol>
              </a:tblGrid>
              <a:tr h="418221">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DEMERITS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27792144"/>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It is more flexible, faster, cheaper in comparison to other method. </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Little time is given to respondents for answers.</a:t>
                      </a:r>
                    </a:p>
                  </a:txBody>
                  <a:tcPr marL="108000" marR="108000" marT="0" marB="0" anchor="ctr"/>
                </a:tc>
                <a:extLst>
                  <a:ext uri="{0D108BD9-81ED-4DB2-BD59-A6C34878D82A}">
                    <a16:rowId xmlns:a16="http://schemas.microsoft.com/office/drawing/2014/main" val="3925620832"/>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Recall is easy, callbacks are simple and economical.</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Interview period is not likely to exceed five minutes in most cases. </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3733187288"/>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There is a higher rate of response, and respondents are easy to access.  </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Surveys are restricted to respondents who have telephone facilities.</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2323413657"/>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Interviewer can explain requirements more easily, wider distribution of sample is possible.</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Possibility of the bias of the interviewer is relatively more. </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2455326582"/>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No field staff is required to recorded the responses. </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Questions must be short and to the point.</a:t>
                      </a:r>
                      <a:endParaRPr lang="en-IN" sz="24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2960359635"/>
                  </a:ext>
                </a:extLst>
              </a:tr>
            </a:tbl>
          </a:graphicData>
        </a:graphic>
      </p:graphicFrame>
      <p:sp>
        <p:nvSpPr>
          <p:cNvPr id="5" name="Title 1">
            <a:extLst>
              <a:ext uri="{FF2B5EF4-FFF2-40B4-BE49-F238E27FC236}">
                <a16:creationId xmlns:a16="http://schemas.microsoft.com/office/drawing/2014/main" id="{BEAFDF7F-40CC-E611-479E-6917493E7A5B}"/>
              </a:ext>
            </a:extLst>
          </p:cNvPr>
          <p:cNvSpPr txBox="1">
            <a:spLocks/>
          </p:cNvSpPr>
          <p:nvPr/>
        </p:nvSpPr>
        <p:spPr>
          <a:xfrm>
            <a:off x="595368" y="829113"/>
            <a:ext cx="541866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90000"/>
              </a:lnSpc>
            </a:pPr>
            <a:br>
              <a:rPr lang="en-US" sz="2800" b="1" dirty="0"/>
            </a:br>
            <a:endParaRPr lang="en-IN" sz="2800" b="1" dirty="0"/>
          </a:p>
        </p:txBody>
      </p:sp>
    </p:spTree>
    <p:extLst>
      <p:ext uri="{BB962C8B-B14F-4D97-AF65-F5344CB8AC3E}">
        <p14:creationId xmlns:p14="http://schemas.microsoft.com/office/powerpoint/2010/main" val="766251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artoon character writing on a clipboard&#10;&#10;Description automatically generated">
            <a:extLst>
              <a:ext uri="{FF2B5EF4-FFF2-40B4-BE49-F238E27FC236}">
                <a16:creationId xmlns:a16="http://schemas.microsoft.com/office/drawing/2014/main" id="{9BF95FD6-0B02-DF26-72B9-1346978CD0E4}"/>
              </a:ext>
            </a:extLst>
          </p:cNvPr>
          <p:cNvPicPr>
            <a:picLocks noChangeAspect="1"/>
          </p:cNvPicPr>
          <p:nvPr/>
        </p:nvPicPr>
        <p:blipFill rotWithShape="1">
          <a:blip r:embed="rId2">
            <a:extLst>
              <a:ext uri="{28A0092B-C50C-407E-A947-70E740481C1C}">
                <a14:useLocalDpi xmlns:a14="http://schemas.microsoft.com/office/drawing/2010/main" val="0"/>
              </a:ext>
            </a:extLst>
          </a:blip>
          <a:srcRect l="18532" r="17210"/>
          <a:stretch/>
        </p:blipFill>
        <p:spPr>
          <a:xfrm>
            <a:off x="4847319" y="10885"/>
            <a:ext cx="7344681"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F6DFDF50-C5D1-2ACC-B628-B101A94FCAE7}"/>
              </a:ext>
            </a:extLst>
          </p:cNvPr>
          <p:cNvSpPr>
            <a:spLocks noGrp="1"/>
          </p:cNvSpPr>
          <p:nvPr>
            <p:ph type="title"/>
          </p:nvPr>
        </p:nvSpPr>
        <p:spPr>
          <a:xfrm>
            <a:off x="130569" y="1778000"/>
            <a:ext cx="5854420" cy="3623733"/>
          </a:xfrm>
        </p:spPr>
        <p:txBody>
          <a:bodyPr>
            <a:noAutofit/>
          </a:bodyPr>
          <a:lstStyle/>
          <a:p>
            <a:pPr algn="ctr">
              <a:lnSpc>
                <a:spcPct val="90000"/>
              </a:lnSpc>
            </a:pPr>
            <a:r>
              <a:rPr lang="en-US" sz="6000" b="1" dirty="0">
                <a:solidFill>
                  <a:schemeClr val="accent4">
                    <a:lumMod val="50000"/>
                  </a:schemeClr>
                </a:solidFill>
              </a:rPr>
              <a:t>QUESTIONNAIR METHOD OF </a:t>
            </a:r>
            <a:br>
              <a:rPr lang="en-US" sz="6000" b="1" dirty="0">
                <a:solidFill>
                  <a:schemeClr val="accent4">
                    <a:lumMod val="50000"/>
                  </a:schemeClr>
                </a:solidFill>
              </a:rPr>
            </a:br>
            <a:r>
              <a:rPr lang="en-US" sz="6000" b="1" dirty="0">
                <a:solidFill>
                  <a:schemeClr val="accent4">
                    <a:lumMod val="50000"/>
                  </a:schemeClr>
                </a:solidFill>
              </a:rPr>
              <a:t>DATA </a:t>
            </a:r>
            <a:br>
              <a:rPr lang="en-US" sz="6000" b="1" dirty="0">
                <a:solidFill>
                  <a:schemeClr val="accent4">
                    <a:lumMod val="50000"/>
                  </a:schemeClr>
                </a:solidFill>
              </a:rPr>
            </a:br>
            <a:r>
              <a:rPr lang="en-US" sz="6000" b="1" dirty="0">
                <a:solidFill>
                  <a:schemeClr val="accent4">
                    <a:lumMod val="50000"/>
                  </a:schemeClr>
                </a:solidFill>
              </a:rPr>
              <a:t>COLLECTION</a:t>
            </a:r>
            <a:endParaRPr lang="en-IN" sz="6000" b="1" dirty="0">
              <a:solidFill>
                <a:schemeClr val="accent4">
                  <a:lumMod val="50000"/>
                </a:schemeClr>
              </a:solidFill>
            </a:endParaRPr>
          </a:p>
        </p:txBody>
      </p:sp>
      <p:cxnSp>
        <p:nvCxnSpPr>
          <p:cNvPr id="12" name="Straight Connector 1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644255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oup of people standing next to a questionnaire&#10;&#10;Description automatically generated">
            <a:extLst>
              <a:ext uri="{FF2B5EF4-FFF2-40B4-BE49-F238E27FC236}">
                <a16:creationId xmlns:a16="http://schemas.microsoft.com/office/drawing/2014/main" id="{A0EF24F2-8118-855B-D969-544CBAB5C43D}"/>
              </a:ext>
            </a:extLst>
          </p:cNvPr>
          <p:cNvPicPr>
            <a:picLocks noChangeAspect="1"/>
          </p:cNvPicPr>
          <p:nvPr/>
        </p:nvPicPr>
        <p:blipFill rotWithShape="1">
          <a:blip r:embed="rId2">
            <a:extLst>
              <a:ext uri="{28A0092B-C50C-407E-A947-70E740481C1C}">
                <a14:useLocalDpi xmlns:a14="http://schemas.microsoft.com/office/drawing/2010/main" val="0"/>
              </a:ext>
            </a:extLst>
          </a:blip>
          <a:srcRect l="18191" r="27612" b="23904"/>
          <a:stretch/>
        </p:blipFill>
        <p:spPr>
          <a:xfrm>
            <a:off x="4905106" y="0"/>
            <a:ext cx="6142198" cy="6866467"/>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9C1C5781-015A-94F0-A57E-B483E0A9C510}"/>
              </a:ext>
            </a:extLst>
          </p:cNvPr>
          <p:cNvSpPr>
            <a:spLocks noGrp="1"/>
          </p:cNvSpPr>
          <p:nvPr>
            <p:ph type="title"/>
          </p:nvPr>
        </p:nvSpPr>
        <p:spPr>
          <a:xfrm>
            <a:off x="438393" y="293914"/>
            <a:ext cx="8020353" cy="1320800"/>
          </a:xfrm>
        </p:spPr>
        <p:txBody>
          <a:bodyPr>
            <a:normAutofit/>
          </a:bodyPr>
          <a:lstStyle/>
          <a:p>
            <a:r>
              <a:rPr lang="en-US" sz="3300" b="1" dirty="0"/>
              <a:t>DATA COLLECTION - QUESTIONNAIRES</a:t>
            </a:r>
            <a:endParaRPr lang="en-IN" sz="3300" b="1" dirty="0"/>
          </a:p>
        </p:txBody>
      </p:sp>
      <p:sp>
        <p:nvSpPr>
          <p:cNvPr id="3" name="Content Placeholder 2">
            <a:extLst>
              <a:ext uri="{FF2B5EF4-FFF2-40B4-BE49-F238E27FC236}">
                <a16:creationId xmlns:a16="http://schemas.microsoft.com/office/drawing/2014/main" id="{28A4051F-5D21-61C2-CA1E-EA1AF4A50EC7}"/>
              </a:ext>
            </a:extLst>
          </p:cNvPr>
          <p:cNvSpPr>
            <a:spLocks noGrp="1"/>
          </p:cNvSpPr>
          <p:nvPr>
            <p:ph idx="1"/>
          </p:nvPr>
        </p:nvSpPr>
        <p:spPr>
          <a:xfrm>
            <a:off x="255674" y="1116580"/>
            <a:ext cx="6142198" cy="5316877"/>
          </a:xfrm>
        </p:spPr>
        <p:txBody>
          <a:bodyPr>
            <a:noAutofit/>
          </a:bodyPr>
          <a:lstStyle/>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Used for big enquiries. </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A questionnaire is sent to the respondents with a request to answer and return.</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 A questionnaire consists of several questions printed or typed.</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The respondents must answer the questions on their own.</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Quite often questionnaire is considered as the heart of a survey operation.</a:t>
            </a:r>
          </a:p>
          <a:p>
            <a:pPr algn="just">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It is used by private individuals, research workers, private and public organizations and governments. </a:t>
            </a:r>
          </a:p>
          <a:p>
            <a:pPr marL="0" indent="0" algn="just">
              <a:lnSpc>
                <a:spcPct val="9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724813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8C83C-D2BD-C017-EA90-A5DFB85A381A}"/>
              </a:ext>
            </a:extLst>
          </p:cNvPr>
          <p:cNvSpPr>
            <a:spLocks noGrp="1"/>
          </p:cNvSpPr>
          <p:nvPr>
            <p:ph type="title"/>
          </p:nvPr>
        </p:nvSpPr>
        <p:spPr>
          <a:xfrm>
            <a:off x="1504648" y="136730"/>
            <a:ext cx="8596668" cy="852714"/>
          </a:xfrm>
        </p:spPr>
        <p:txBody>
          <a:bodyPr/>
          <a:lstStyle/>
          <a:p>
            <a:pPr algn="ctr"/>
            <a:r>
              <a:rPr lang="en-US" sz="3600" b="1" dirty="0"/>
              <a:t>QUESTIONNAIR METHOD</a:t>
            </a:r>
            <a:endParaRPr lang="en-IN" dirty="0"/>
          </a:p>
        </p:txBody>
      </p:sp>
      <p:sp>
        <p:nvSpPr>
          <p:cNvPr id="3" name="Content Placeholder 2">
            <a:extLst>
              <a:ext uri="{FF2B5EF4-FFF2-40B4-BE49-F238E27FC236}">
                <a16:creationId xmlns:a16="http://schemas.microsoft.com/office/drawing/2014/main" id="{6CCF3056-33DA-9C4F-3ADE-CC4958F9F314}"/>
              </a:ext>
            </a:extLst>
          </p:cNvPr>
          <p:cNvSpPr>
            <a:spLocks noGrp="1"/>
          </p:cNvSpPr>
          <p:nvPr>
            <p:ph idx="1"/>
          </p:nvPr>
        </p:nvSpPr>
        <p:spPr/>
        <p:txBody>
          <a:bodyPr/>
          <a:lstStyle/>
          <a:p>
            <a:endParaRPr lang="en-IN"/>
          </a:p>
        </p:txBody>
      </p:sp>
      <p:graphicFrame>
        <p:nvGraphicFramePr>
          <p:cNvPr id="4" name="Table 3">
            <a:extLst>
              <a:ext uri="{FF2B5EF4-FFF2-40B4-BE49-F238E27FC236}">
                <a16:creationId xmlns:a16="http://schemas.microsoft.com/office/drawing/2014/main" id="{08B04E4C-5ACB-985C-D923-4AE5FB873575}"/>
              </a:ext>
            </a:extLst>
          </p:cNvPr>
          <p:cNvGraphicFramePr>
            <a:graphicFrameLocks noGrp="1"/>
          </p:cNvGraphicFramePr>
          <p:nvPr>
            <p:extLst>
              <p:ext uri="{D42A27DB-BD31-4B8C-83A1-F6EECF244321}">
                <p14:modId xmlns:p14="http://schemas.microsoft.com/office/powerpoint/2010/main" val="4148600866"/>
              </p:ext>
            </p:extLst>
          </p:nvPr>
        </p:nvGraphicFramePr>
        <p:xfrm>
          <a:off x="433755" y="777670"/>
          <a:ext cx="11324489" cy="5943600"/>
        </p:xfrm>
        <a:graphic>
          <a:graphicData uri="http://schemas.openxmlformats.org/drawingml/2006/table">
            <a:tbl>
              <a:tblPr firstRow="1" bandRow="1">
                <a:tableStyleId>{5C22544A-7EE6-4342-B048-85BDC9FD1C3A}</a:tableStyleId>
              </a:tblPr>
              <a:tblGrid>
                <a:gridCol w="5694481">
                  <a:extLst>
                    <a:ext uri="{9D8B030D-6E8A-4147-A177-3AD203B41FA5}">
                      <a16:colId xmlns:a16="http://schemas.microsoft.com/office/drawing/2014/main" val="3294500831"/>
                    </a:ext>
                  </a:extLst>
                </a:gridCol>
                <a:gridCol w="5630008">
                  <a:extLst>
                    <a:ext uri="{9D8B030D-6E8A-4147-A177-3AD203B41FA5}">
                      <a16:colId xmlns:a16="http://schemas.microsoft.com/office/drawing/2014/main" val="3772170825"/>
                    </a:ext>
                  </a:extLst>
                </a:gridCol>
              </a:tblGrid>
              <a:tr h="418221">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DEMERITS</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27792144"/>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Low cost even when the universe is large and is widely spread geographically.</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Low rate of return of the duly filled in questionnaires. It can be used only when respondents are cooperating. </a:t>
                      </a:r>
                    </a:p>
                  </a:txBody>
                  <a:tcPr marL="108000" marR="108000" marT="0" marB="0" anchor="ctr"/>
                </a:tc>
                <a:extLst>
                  <a:ext uri="{0D108BD9-81ED-4DB2-BD59-A6C34878D82A}">
                    <a16:rowId xmlns:a16="http://schemas.microsoft.com/office/drawing/2014/main" val="3925620832"/>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It is free from the bias of the interviewer, and answers are in respondents own words. </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The control over questionnaire may be lost once it is sent. </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3733187288"/>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Respondents have adequate time to give out the answers. </a:t>
                      </a:r>
                    </a:p>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tc>
                  <a:txBody>
                    <a:bodyPr/>
                    <a:lstStyle/>
                    <a:p>
                      <a:pPr marL="342900" indent="-34290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Possibility of ambiguous replies, Omission of replies altogether, leads to bias.</a:t>
                      </a:r>
                    </a:p>
                  </a:txBody>
                  <a:tcPr marL="108000" marR="108000" marT="0" marB="0" anchor="ctr"/>
                </a:tc>
                <a:extLst>
                  <a:ext uri="{0D108BD9-81ED-4DB2-BD59-A6C34878D82A}">
                    <a16:rowId xmlns:a16="http://schemas.microsoft.com/office/drawing/2014/main" val="2323413657"/>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Respondents, who are not easily approachable, can be reached conveniently.</a:t>
                      </a:r>
                    </a:p>
                  </a:txBody>
                  <a:tcPr marL="108000" marR="108000" marT="0" marB="0" anchor="ctr"/>
                </a:tc>
                <a:tc>
                  <a:txBody>
                    <a:bodyPr/>
                    <a:lstStyle/>
                    <a:p>
                      <a:pPr marL="342900" indent="-34290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of data collection is the slowest of all.</a:t>
                      </a: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2455326582"/>
                  </a:ext>
                </a:extLst>
              </a:tr>
              <a:tr h="1087376">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Large samples can be made use of and thus the results can be made more dependable and reliable</a:t>
                      </a:r>
                    </a:p>
                  </a:txBody>
                  <a:tcPr marL="108000" marR="108000" marT="0" marB="0" anchor="ctr"/>
                </a:tc>
                <a:tc>
                  <a:txBody>
                    <a:bodyPr/>
                    <a:lstStyle/>
                    <a:p>
                      <a:pPr marL="342900" marR="0" lvl="0" indent="-3429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latin typeface="Calibri" panose="020F0502020204030204" pitchFamily="34" charset="0"/>
                          <a:ea typeface="Calibri" panose="020F0502020204030204" pitchFamily="34" charset="0"/>
                          <a:cs typeface="Calibri" panose="020F0502020204030204" pitchFamily="34" charset="0"/>
                        </a:rPr>
                        <a:t>It is difficult to know whether respondents are truly representative.</a:t>
                      </a:r>
                    </a:p>
                    <a:p>
                      <a:pPr marL="342900" indent="-342900" algn="just">
                        <a:buFont typeface="Arial" panose="020B0604020202020204" pitchFamily="34" charset="0"/>
                        <a:buChar char="•"/>
                      </a:pPr>
                      <a:endParaRPr lang="en-IN" sz="2400" dirty="0">
                        <a:latin typeface="Calibri" panose="020F0502020204030204" pitchFamily="34" charset="0"/>
                        <a:ea typeface="Calibri" panose="020F0502020204030204" pitchFamily="34" charset="0"/>
                        <a:cs typeface="Calibri" panose="020F0502020204030204" pitchFamily="34" charset="0"/>
                      </a:endParaRPr>
                    </a:p>
                  </a:txBody>
                  <a:tcPr marL="108000" marR="108000" marT="0" marB="0" anchor="ctr"/>
                </a:tc>
                <a:extLst>
                  <a:ext uri="{0D108BD9-81ED-4DB2-BD59-A6C34878D82A}">
                    <a16:rowId xmlns:a16="http://schemas.microsoft.com/office/drawing/2014/main" val="2960359635"/>
                  </a:ext>
                </a:extLst>
              </a:tr>
            </a:tbl>
          </a:graphicData>
        </a:graphic>
      </p:graphicFrame>
      <p:sp>
        <p:nvSpPr>
          <p:cNvPr id="5" name="Title 1">
            <a:extLst>
              <a:ext uri="{FF2B5EF4-FFF2-40B4-BE49-F238E27FC236}">
                <a16:creationId xmlns:a16="http://schemas.microsoft.com/office/drawing/2014/main" id="{BEAFDF7F-40CC-E611-479E-6917493E7A5B}"/>
              </a:ext>
            </a:extLst>
          </p:cNvPr>
          <p:cNvSpPr txBox="1">
            <a:spLocks/>
          </p:cNvSpPr>
          <p:nvPr/>
        </p:nvSpPr>
        <p:spPr>
          <a:xfrm>
            <a:off x="595368" y="829113"/>
            <a:ext cx="541866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90000"/>
              </a:lnSpc>
            </a:pPr>
            <a:br>
              <a:rPr lang="en-US" sz="2800" b="1" dirty="0"/>
            </a:br>
            <a:endParaRPr lang="en-IN" sz="2800" b="1" dirty="0"/>
          </a:p>
        </p:txBody>
      </p:sp>
    </p:spTree>
    <p:extLst>
      <p:ext uri="{BB962C8B-B14F-4D97-AF65-F5344CB8AC3E}">
        <p14:creationId xmlns:p14="http://schemas.microsoft.com/office/powerpoint/2010/main" val="4209222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96047-FBEC-2089-F23B-D52DD543D223}"/>
              </a:ext>
            </a:extLst>
          </p:cNvPr>
          <p:cNvSpPr txBox="1">
            <a:spLocks/>
          </p:cNvSpPr>
          <p:nvPr/>
        </p:nvSpPr>
        <p:spPr>
          <a:xfrm>
            <a:off x="3649663" y="3970451"/>
            <a:ext cx="3632880" cy="132080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IN" b="1" dirty="0"/>
          </a:p>
        </p:txBody>
      </p:sp>
      <p:graphicFrame>
        <p:nvGraphicFramePr>
          <p:cNvPr id="5" name="Table 4">
            <a:extLst>
              <a:ext uri="{FF2B5EF4-FFF2-40B4-BE49-F238E27FC236}">
                <a16:creationId xmlns:a16="http://schemas.microsoft.com/office/drawing/2014/main" id="{D86A6549-6102-DD26-FBD9-9FFB1341D87F}"/>
              </a:ext>
            </a:extLst>
          </p:cNvPr>
          <p:cNvGraphicFramePr>
            <a:graphicFrameLocks noGrp="1"/>
          </p:cNvGraphicFramePr>
          <p:nvPr>
            <p:extLst>
              <p:ext uri="{D42A27DB-BD31-4B8C-83A1-F6EECF244321}">
                <p14:modId xmlns:p14="http://schemas.microsoft.com/office/powerpoint/2010/main" val="658243690"/>
              </p:ext>
            </p:extLst>
          </p:nvPr>
        </p:nvGraphicFramePr>
        <p:xfrm>
          <a:off x="555171" y="432445"/>
          <a:ext cx="11081657" cy="5929081"/>
        </p:xfrm>
        <a:graphic>
          <a:graphicData uri="http://schemas.openxmlformats.org/drawingml/2006/table">
            <a:tbl>
              <a:tblPr firstRow="1" bandRow="1">
                <a:tableStyleId>{5C22544A-7EE6-4342-B048-85BDC9FD1C3A}</a:tableStyleId>
              </a:tblPr>
              <a:tblGrid>
                <a:gridCol w="2340252">
                  <a:extLst>
                    <a:ext uri="{9D8B030D-6E8A-4147-A177-3AD203B41FA5}">
                      <a16:colId xmlns:a16="http://schemas.microsoft.com/office/drawing/2014/main" val="431600879"/>
                    </a:ext>
                  </a:extLst>
                </a:gridCol>
                <a:gridCol w="8741405">
                  <a:extLst>
                    <a:ext uri="{9D8B030D-6E8A-4147-A177-3AD203B41FA5}">
                      <a16:colId xmlns:a16="http://schemas.microsoft.com/office/drawing/2014/main" val="1429038633"/>
                    </a:ext>
                  </a:extLst>
                </a:gridCol>
              </a:tblGrid>
              <a:tr h="3007441">
                <a:tc>
                  <a:txBody>
                    <a:bodyPr/>
                    <a:lstStyle/>
                    <a:p>
                      <a:pPr lvl="0" algn="ctr"/>
                      <a:r>
                        <a:rPr lang="en-US"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STRUCTURED QUESTIONNAIRE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It has concrete and pre-determined questions.</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The wording and the order of questions is same for all respondents.</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The responses for question will be closed type.</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Questions can have alternative replies. </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They are inexpensive to analyze.</a:t>
                      </a:r>
                    </a:p>
                    <a:p>
                      <a:pPr marL="0" lvl="0" indent="0" algn="just">
                        <a:buFont typeface="+mj-lt"/>
                        <a:buNone/>
                      </a:pPr>
                      <a:r>
                        <a:rPr lang="en-IN" sz="2300" b="0" dirty="0" err="1">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Eg</a:t>
                      </a:r>
                      <a:r>
                        <a:rPr lang="en-IN" sz="2300" b="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 Do you like the college library services?</a:t>
                      </a:r>
                    </a:p>
                  </a:txBody>
                  <a:tcPr marT="324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0872066"/>
                  </a:ext>
                </a:extLst>
              </a:tr>
              <a:tr h="226766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br>
                        <a:rPr lang="en-US"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br>
                      <a:r>
                        <a:rPr lang="en-US"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UNSTRUCTURED QUESTIONNAIRE</a:t>
                      </a:r>
                      <a:br>
                        <a:rPr lang="en-IN"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br>
                      <a:endParaRPr lang="en-IN"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lvl="0" algn="ctr"/>
                      <a:endParaRPr lang="en-IN" sz="23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Question formulation is largely the responsibility of the researcher.</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Uses open ended Question with no choices.</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These questions Invite free responses.</a:t>
                      </a:r>
                    </a:p>
                    <a:p>
                      <a:pPr marL="457200" lvl="0" indent="-457200" algn="just">
                        <a:buFont typeface="+mj-lt"/>
                        <a:buAutoNum type="arabicPeriod"/>
                      </a:pPr>
                      <a:r>
                        <a:rPr lang="en-US" sz="2300" b="0" dirty="0">
                          <a:solidFill>
                            <a:schemeClr val="tx1"/>
                          </a:solidFill>
                          <a:latin typeface="Calibri" panose="020F0502020204030204" pitchFamily="34" charset="0"/>
                          <a:ea typeface="Calibri" panose="020F0502020204030204" pitchFamily="34" charset="0"/>
                          <a:cs typeface="Calibri" panose="020F0502020204030204" pitchFamily="34" charset="0"/>
                        </a:rPr>
                        <a:t>Here the  replies are to be taken down in the respondent’s own words .</a:t>
                      </a:r>
                    </a:p>
                    <a:p>
                      <a:pPr lvl="0" algn="just"/>
                      <a:r>
                        <a:rPr lang="en-IN" sz="2300" b="0" dirty="0" err="1">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Eg</a:t>
                      </a:r>
                      <a:r>
                        <a:rPr lang="en-IN" sz="2300" b="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 What are the services and facilities you  expect from college library?</a:t>
                      </a:r>
                    </a:p>
                    <a:p>
                      <a:pPr lvl="0" algn="just"/>
                      <a:r>
                        <a:rPr lang="en-IN" sz="2300" b="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Response: ______________________________________________</a:t>
                      </a:r>
                    </a:p>
                  </a:txBody>
                  <a:tcPr marR="144000" marT="216000" marB="25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9473360"/>
                  </a:ext>
                </a:extLst>
              </a:tr>
            </a:tbl>
          </a:graphicData>
        </a:graphic>
      </p:graphicFrame>
      <p:sp>
        <p:nvSpPr>
          <p:cNvPr id="8" name="Oval 7">
            <a:extLst>
              <a:ext uri="{FF2B5EF4-FFF2-40B4-BE49-F238E27FC236}">
                <a16:creationId xmlns:a16="http://schemas.microsoft.com/office/drawing/2014/main" id="{FB1F65BA-717F-84F1-0B8B-7D676543BC72}"/>
              </a:ext>
            </a:extLst>
          </p:cNvPr>
          <p:cNvSpPr/>
          <p:nvPr/>
        </p:nvSpPr>
        <p:spPr>
          <a:xfrm>
            <a:off x="3709218" y="2887549"/>
            <a:ext cx="290966" cy="304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AAE8E787-43F8-12BC-EBBA-7C469BB8EF0A}"/>
              </a:ext>
            </a:extLst>
          </p:cNvPr>
          <p:cNvSpPr/>
          <p:nvPr/>
        </p:nvSpPr>
        <p:spPr>
          <a:xfrm>
            <a:off x="4889999" y="2919815"/>
            <a:ext cx="290966" cy="3048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A98CFA5F-6029-1417-7462-21CD1C72097F}"/>
              </a:ext>
            </a:extLst>
          </p:cNvPr>
          <p:cNvSpPr txBox="1"/>
          <p:nvPr/>
        </p:nvSpPr>
        <p:spPr>
          <a:xfrm>
            <a:off x="3953692" y="2887549"/>
            <a:ext cx="619080" cy="369332"/>
          </a:xfrm>
          <a:prstGeom prst="rect">
            <a:avLst/>
          </a:prstGeom>
          <a:noFill/>
        </p:spPr>
        <p:txBody>
          <a:bodyPr wrap="none" rtlCol="0">
            <a:spAutoFit/>
          </a:bodyPr>
          <a:lstStyle/>
          <a:p>
            <a:r>
              <a:rPr lang="en-US" dirty="0">
                <a:solidFill>
                  <a:schemeClr val="accent3">
                    <a:lumMod val="50000"/>
                  </a:schemeClr>
                </a:solidFill>
              </a:rPr>
              <a:t>YES</a:t>
            </a:r>
            <a:r>
              <a:rPr lang="en-US" dirty="0"/>
              <a:t> </a:t>
            </a:r>
          </a:p>
        </p:txBody>
      </p:sp>
      <p:sp>
        <p:nvSpPr>
          <p:cNvPr id="11" name="TextBox 10">
            <a:extLst>
              <a:ext uri="{FF2B5EF4-FFF2-40B4-BE49-F238E27FC236}">
                <a16:creationId xmlns:a16="http://schemas.microsoft.com/office/drawing/2014/main" id="{54833BFD-4919-EE15-5F36-E9FFAEBB6929}"/>
              </a:ext>
            </a:extLst>
          </p:cNvPr>
          <p:cNvSpPr txBox="1"/>
          <p:nvPr/>
        </p:nvSpPr>
        <p:spPr>
          <a:xfrm>
            <a:off x="5180965" y="2900680"/>
            <a:ext cx="487634" cy="369332"/>
          </a:xfrm>
          <a:prstGeom prst="rect">
            <a:avLst/>
          </a:prstGeom>
          <a:noFill/>
        </p:spPr>
        <p:txBody>
          <a:bodyPr wrap="none" rtlCol="0">
            <a:spAutoFit/>
          </a:bodyPr>
          <a:lstStyle/>
          <a:p>
            <a:r>
              <a:rPr lang="en-US" dirty="0">
                <a:solidFill>
                  <a:schemeClr val="accent3">
                    <a:lumMod val="50000"/>
                  </a:schemeClr>
                </a:solidFill>
              </a:rPr>
              <a:t>NO</a:t>
            </a:r>
          </a:p>
        </p:txBody>
      </p:sp>
    </p:spTree>
    <p:extLst>
      <p:ext uri="{BB962C8B-B14F-4D97-AF65-F5344CB8AC3E}">
        <p14:creationId xmlns:p14="http://schemas.microsoft.com/office/powerpoint/2010/main" val="474836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olorful question mark&#10;&#10;Description automatically generated">
            <a:extLst>
              <a:ext uri="{FF2B5EF4-FFF2-40B4-BE49-F238E27FC236}">
                <a16:creationId xmlns:a16="http://schemas.microsoft.com/office/drawing/2014/main" id="{442E9DF3-BD76-50DB-3421-0A730D8BD75F}"/>
              </a:ext>
            </a:extLst>
          </p:cNvPr>
          <p:cNvPicPr>
            <a:picLocks noChangeAspect="1"/>
          </p:cNvPicPr>
          <p:nvPr/>
        </p:nvPicPr>
        <p:blipFill rotWithShape="1">
          <a:blip r:embed="rId2">
            <a:extLst>
              <a:ext uri="{28A0092B-C50C-407E-A947-70E740481C1C}">
                <a14:useLocalDpi xmlns:a14="http://schemas.microsoft.com/office/drawing/2010/main" val="0"/>
              </a:ext>
            </a:extLst>
          </a:blip>
          <a:srcRect l="3342" t="13030" r="1108" b="13936"/>
          <a:stretch/>
        </p:blipFill>
        <p:spPr>
          <a:xfrm>
            <a:off x="-80874" y="0"/>
            <a:ext cx="5290437" cy="6858000"/>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6F5098D7-3043-00A5-CCCE-3E0F64F8DC08}"/>
              </a:ext>
            </a:extLst>
          </p:cNvPr>
          <p:cNvSpPr>
            <a:spLocks noGrp="1"/>
          </p:cNvSpPr>
          <p:nvPr>
            <p:ph type="title"/>
          </p:nvPr>
        </p:nvSpPr>
        <p:spPr>
          <a:xfrm>
            <a:off x="4681591" y="239485"/>
            <a:ext cx="4832523" cy="1320800"/>
          </a:xfrm>
        </p:spPr>
        <p:txBody>
          <a:bodyPr>
            <a:normAutofit/>
          </a:bodyPr>
          <a:lstStyle/>
          <a:p>
            <a:r>
              <a:rPr lang="en-US" b="1" dirty="0"/>
              <a:t>QUESTION SEQUENCE</a:t>
            </a:r>
            <a:endParaRPr lang="en-IN" b="1" dirty="0"/>
          </a:p>
        </p:txBody>
      </p:sp>
      <p:sp>
        <p:nvSpPr>
          <p:cNvPr id="3" name="Content Placeholder 2">
            <a:extLst>
              <a:ext uri="{FF2B5EF4-FFF2-40B4-BE49-F238E27FC236}">
                <a16:creationId xmlns:a16="http://schemas.microsoft.com/office/drawing/2014/main" id="{F073CE4A-69A1-45CA-37E2-8C1701CFCA47}"/>
              </a:ext>
            </a:extLst>
          </p:cNvPr>
          <p:cNvSpPr>
            <a:spLocks noGrp="1"/>
          </p:cNvSpPr>
          <p:nvPr>
            <p:ph idx="1"/>
          </p:nvPr>
        </p:nvSpPr>
        <p:spPr>
          <a:xfrm>
            <a:off x="4517571" y="1072018"/>
            <a:ext cx="5290437" cy="3216954"/>
          </a:xfrm>
        </p:spPr>
        <p:txBody>
          <a:bodyPr>
            <a:noAutofit/>
          </a:bodyPr>
          <a:lstStyle/>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Questions that are easiest to answer must be put in the beginning. </a:t>
            </a:r>
          </a:p>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The opening questions should arouse human interest.</a:t>
            </a:r>
          </a:p>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Questions concerning the research should follow the opening sequence. </a:t>
            </a:r>
          </a:p>
          <a:p>
            <a:pPr>
              <a:lnSpc>
                <a:spcPct val="90000"/>
              </a:lnSpc>
            </a:pPr>
            <a:r>
              <a:rPr lang="en-US" sz="2400" dirty="0">
                <a:latin typeface="Calibri" panose="020F0502020204030204" pitchFamily="34" charset="0"/>
                <a:ea typeface="Calibri" panose="020F0502020204030204" pitchFamily="34" charset="0"/>
                <a:cs typeface="Calibri" panose="020F0502020204030204" pitchFamily="34" charset="0"/>
              </a:rPr>
              <a:t>Question-sequence goes from the general to the more specific.</a:t>
            </a:r>
          </a:p>
          <a:p>
            <a:pPr marL="0" indent="0">
              <a:lnSpc>
                <a:spcPct val="90000"/>
              </a:lnSpc>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4" name="Isosceles Triangle 1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Content Placeholder 2">
            <a:extLst>
              <a:ext uri="{FF2B5EF4-FFF2-40B4-BE49-F238E27FC236}">
                <a16:creationId xmlns:a16="http://schemas.microsoft.com/office/drawing/2014/main" id="{603DE8AB-2878-B9C4-E9BF-A76BC2DD5B55}"/>
              </a:ext>
            </a:extLst>
          </p:cNvPr>
          <p:cNvSpPr txBox="1">
            <a:spLocks/>
          </p:cNvSpPr>
          <p:nvPr/>
        </p:nvSpPr>
        <p:spPr>
          <a:xfrm>
            <a:off x="3323240" y="4368868"/>
            <a:ext cx="7696198" cy="198424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90000"/>
              </a:lnSpc>
              <a:buNone/>
            </a:pPr>
            <a:r>
              <a:rPr lang="en-US" sz="24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Avoided questions like:</a:t>
            </a:r>
          </a:p>
          <a:p>
            <a:pPr marL="457200" indent="-457200">
              <a:lnSpc>
                <a:spcPct val="90000"/>
              </a:lnSpc>
              <a:buFont typeface="+mj-lt"/>
              <a:buAutoNum type="arabicPeriod"/>
            </a:pPr>
            <a:r>
              <a:rPr lang="en-US" sz="24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Questions that put great strain on the respondent.</a:t>
            </a:r>
          </a:p>
          <a:p>
            <a:pPr marL="457200" indent="-457200">
              <a:lnSpc>
                <a:spcPct val="90000"/>
              </a:lnSpc>
              <a:buFont typeface="+mj-lt"/>
              <a:buAutoNum type="arabicPeriod"/>
            </a:pPr>
            <a:r>
              <a:rPr lang="en-US" sz="24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Questions of a personal character.</a:t>
            </a:r>
          </a:p>
          <a:p>
            <a:pPr marL="457200" indent="-457200">
              <a:lnSpc>
                <a:spcPct val="90000"/>
              </a:lnSpc>
              <a:buFont typeface="+mj-lt"/>
              <a:buAutoNum type="arabicPeriod"/>
            </a:pPr>
            <a:r>
              <a:rPr lang="en-US" sz="240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Questions related to personal wealth.</a:t>
            </a:r>
          </a:p>
        </p:txBody>
      </p:sp>
    </p:spTree>
    <p:extLst>
      <p:ext uri="{BB962C8B-B14F-4D97-AF65-F5344CB8AC3E}">
        <p14:creationId xmlns:p14="http://schemas.microsoft.com/office/powerpoint/2010/main" val="3673810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4" descr="A diagram of a diagram&#10;&#10;Description automatically generated">
            <a:extLst>
              <a:ext uri="{FF2B5EF4-FFF2-40B4-BE49-F238E27FC236}">
                <a16:creationId xmlns:a16="http://schemas.microsoft.com/office/drawing/2014/main" id="{DCAE83AB-6BE4-A971-E8C0-E5A98C58E639}"/>
              </a:ext>
            </a:extLst>
          </p:cNvPr>
          <p:cNvPicPr>
            <a:picLocks noChangeAspect="1"/>
          </p:cNvPicPr>
          <p:nvPr/>
        </p:nvPicPr>
        <p:blipFill rotWithShape="1">
          <a:blip r:embed="rId2">
            <a:extLst>
              <a:ext uri="{28A0092B-C50C-407E-A947-70E740481C1C}">
                <a14:useLocalDpi xmlns:a14="http://schemas.microsoft.com/office/drawing/2010/main" val="0"/>
              </a:ext>
            </a:extLst>
          </a:blip>
          <a:srcRect l="2053" t="8869" r="6786"/>
          <a:stretch/>
        </p:blipFill>
        <p:spPr>
          <a:xfrm>
            <a:off x="1" y="0"/>
            <a:ext cx="12192000" cy="6842727"/>
          </a:xfrm>
          <a:prstGeom prst="rect">
            <a:avLst/>
          </a:prstGeom>
        </p:spPr>
      </p:pic>
      <p:pic>
        <p:nvPicPr>
          <p:cNvPr id="9" name="Content Placeholder 8" descr="A colorful question mark&#10;&#10;Description automatically generated">
            <a:extLst>
              <a:ext uri="{FF2B5EF4-FFF2-40B4-BE49-F238E27FC236}">
                <a16:creationId xmlns:a16="http://schemas.microsoft.com/office/drawing/2014/main" id="{33DDC87F-B78B-966F-D23B-639E0B8AC2E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5841" b="8257"/>
          <a:stretch/>
        </p:blipFill>
        <p:spPr>
          <a:xfrm>
            <a:off x="10163180" y="58816"/>
            <a:ext cx="2028820" cy="2895600"/>
          </a:xfrm>
        </p:spPr>
      </p:pic>
      <p:sp>
        <p:nvSpPr>
          <p:cNvPr id="6" name="TextBox 5">
            <a:extLst>
              <a:ext uri="{FF2B5EF4-FFF2-40B4-BE49-F238E27FC236}">
                <a16:creationId xmlns:a16="http://schemas.microsoft.com/office/drawing/2014/main" id="{C22FFD21-C78C-4369-AB88-EEBFA96A6900}"/>
              </a:ext>
            </a:extLst>
          </p:cNvPr>
          <p:cNvSpPr txBox="1"/>
          <p:nvPr/>
        </p:nvSpPr>
        <p:spPr>
          <a:xfrm>
            <a:off x="5399314" y="3341915"/>
            <a:ext cx="2331087" cy="369332"/>
          </a:xfrm>
          <a:prstGeom prst="rect">
            <a:avLst/>
          </a:prstGeom>
          <a:noFill/>
        </p:spPr>
        <p:txBody>
          <a:bodyPr wrap="none" rtlCol="0">
            <a:spAutoFit/>
          </a:bodyPr>
          <a:lstStyle/>
          <a:p>
            <a:r>
              <a:rPr lang="en-US"/>
              <a:t>(General to Specific)</a:t>
            </a:r>
            <a:endParaRPr lang="en-IN" dirty="0"/>
          </a:p>
        </p:txBody>
      </p:sp>
    </p:spTree>
    <p:extLst>
      <p:ext uri="{BB962C8B-B14F-4D97-AF65-F5344CB8AC3E}">
        <p14:creationId xmlns:p14="http://schemas.microsoft.com/office/powerpoint/2010/main" val="422727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3A8B1-2906-EFF1-C6E6-7B3E4DFA78A3}"/>
              </a:ext>
            </a:extLst>
          </p:cNvPr>
          <p:cNvSpPr>
            <a:spLocks noGrp="1"/>
          </p:cNvSpPr>
          <p:nvPr>
            <p:ph type="title"/>
          </p:nvPr>
        </p:nvSpPr>
        <p:spPr>
          <a:xfrm>
            <a:off x="1349828" y="239486"/>
            <a:ext cx="8077200" cy="1320800"/>
          </a:xfrm>
        </p:spPr>
        <p:txBody>
          <a:bodyPr>
            <a:normAutofit/>
          </a:bodyPr>
          <a:lstStyle/>
          <a:p>
            <a:pPr algn="ctr"/>
            <a:r>
              <a:rPr lang="en-US" sz="2800" b="1" dirty="0"/>
              <a:t>QUESTION FORMULATION AND WORDING</a:t>
            </a:r>
            <a:endParaRPr lang="en-IN" sz="2800" b="1" dirty="0"/>
          </a:p>
        </p:txBody>
      </p:sp>
      <p:pic>
        <p:nvPicPr>
          <p:cNvPr id="5" name="Picture 4" descr="Different coloured question marks">
            <a:extLst>
              <a:ext uri="{FF2B5EF4-FFF2-40B4-BE49-F238E27FC236}">
                <a16:creationId xmlns:a16="http://schemas.microsoft.com/office/drawing/2014/main" id="{1179FFA8-6502-4B9D-4D3B-98EABD1CA9F3}"/>
              </a:ext>
            </a:extLst>
          </p:cNvPr>
          <p:cNvPicPr>
            <a:picLocks noChangeAspect="1"/>
          </p:cNvPicPr>
          <p:nvPr/>
        </p:nvPicPr>
        <p:blipFill rotWithShape="1">
          <a:blip r:embed="rId2"/>
          <a:srcRect l="39676" r="37931" b="-1"/>
          <a:stretch/>
        </p:blipFill>
        <p:spPr>
          <a:xfrm>
            <a:off x="20" y="10"/>
            <a:ext cx="1967798"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1EEC1085-400E-25BE-1D67-BCE89A707269}"/>
              </a:ext>
            </a:extLst>
          </p:cNvPr>
          <p:cNvSpPr>
            <a:spLocks noGrp="1"/>
          </p:cNvSpPr>
          <p:nvPr>
            <p:ph idx="1"/>
          </p:nvPr>
        </p:nvSpPr>
        <p:spPr>
          <a:xfrm>
            <a:off x="2099695" y="1039360"/>
            <a:ext cx="7992609" cy="5350554"/>
          </a:xfrm>
        </p:spPr>
        <p:txBody>
          <a:bodyPr>
            <a:noAutofit/>
          </a:bodyPr>
          <a:lstStyle/>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Questions must be very clear.</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Questions should also be impartial. </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 should be easy to understand.</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Questions must be simple &amp; convey only one thought at a time.</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Simple and familiar words must be chosen to frame questions.</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Words with ambiguous meanings must be avoided. </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Words with emotional connotations should be avoided.</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 Be Cautious in using phrases that reflect upon the prestige of the respondent. </a:t>
            </a:r>
          </a:p>
          <a:p>
            <a:pPr>
              <a:lnSpc>
                <a:spcPct val="9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 wording and formulation is an art and can be learnt only by practice. </a:t>
            </a:r>
            <a:endParaRPr lang="en-IN" sz="2400" dirty="0">
              <a:latin typeface="Calibri" panose="020F0502020204030204" pitchFamily="34" charset="0"/>
              <a:ea typeface="Calibri" panose="020F0502020204030204" pitchFamily="34" charset="0"/>
              <a:cs typeface="Calibri" panose="020F0502020204030204" pitchFamily="34" charset="0"/>
            </a:endParaRPr>
          </a:p>
          <a:p>
            <a:pPr>
              <a:lnSpc>
                <a:spcPct val="90000"/>
              </a:lnSpc>
              <a:buFont typeface="+mj-lt"/>
              <a:buAutoNum type="arabicPeriod"/>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965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1E85CD-89EE-F1E0-2704-627439AA8BF7}"/>
              </a:ext>
            </a:extLst>
          </p:cNvPr>
          <p:cNvSpPr>
            <a:spLocks noGrp="1"/>
          </p:cNvSpPr>
          <p:nvPr>
            <p:ph idx="1"/>
          </p:nvPr>
        </p:nvSpPr>
        <p:spPr>
          <a:xfrm>
            <a:off x="6368143" y="2751355"/>
            <a:ext cx="5639801" cy="3880773"/>
          </a:xfrm>
        </p:spPr>
        <p:txBody>
          <a:bodyPr>
            <a:noAutofit/>
          </a:bodyPr>
          <a:lstStyle/>
          <a:p>
            <a:pPr marL="0" indent="0" algn="ctr">
              <a:buNone/>
            </a:pPr>
            <a:r>
              <a:rPr lang="en-US" sz="2400" b="1" dirty="0">
                <a:latin typeface="Calibri" panose="020F0502020204030204" pitchFamily="34" charset="0"/>
                <a:ea typeface="Calibri" panose="020F0502020204030204" pitchFamily="34" charset="0"/>
                <a:cs typeface="Calibri" panose="020F0502020204030204" pitchFamily="34" charset="0"/>
              </a:rPr>
              <a:t>MULTIPLE CHOICE QUESTIONS</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Respondent selects one of the alternative possible answers .</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Closed Questions :Question with only two possible answers (‘Yes’ or ‘No’)</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They can be easily handled, Simple and quick to answer</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Forces an opinion on an issue about which the respondent has no opinion.</a:t>
            </a:r>
          </a:p>
        </p:txBody>
      </p:sp>
      <p:pic>
        <p:nvPicPr>
          <p:cNvPr id="5" name="Picture 4" descr="A blue and yellow background with a blue and white background with a blue and white background with a blue and white background with a blue and white background with a red and white sign with a white text&#10;&#10;Description automatically generated with medium confidence">
            <a:extLst>
              <a:ext uri="{FF2B5EF4-FFF2-40B4-BE49-F238E27FC236}">
                <a16:creationId xmlns:a16="http://schemas.microsoft.com/office/drawing/2014/main" id="{1ECAAD40-0F09-0F92-AC84-E237EBCFF99D}"/>
              </a:ext>
            </a:extLst>
          </p:cNvPr>
          <p:cNvPicPr>
            <a:picLocks noChangeAspect="1"/>
          </p:cNvPicPr>
          <p:nvPr/>
        </p:nvPicPr>
        <p:blipFill rotWithShape="1">
          <a:blip r:embed="rId2">
            <a:extLst>
              <a:ext uri="{28A0092B-C50C-407E-A947-70E740481C1C}">
                <a14:useLocalDpi xmlns:a14="http://schemas.microsoft.com/office/drawing/2010/main" val="0"/>
              </a:ext>
            </a:extLst>
          </a:blip>
          <a:srcRect t="36532" b="18016"/>
          <a:stretch/>
        </p:blipFill>
        <p:spPr>
          <a:xfrm>
            <a:off x="-1" y="0"/>
            <a:ext cx="12192000" cy="2569028"/>
          </a:xfrm>
          <a:prstGeom prst="rect">
            <a:avLst/>
          </a:prstGeom>
        </p:spPr>
      </p:pic>
      <p:sp>
        <p:nvSpPr>
          <p:cNvPr id="10" name="Content Placeholder 2">
            <a:extLst>
              <a:ext uri="{FF2B5EF4-FFF2-40B4-BE49-F238E27FC236}">
                <a16:creationId xmlns:a16="http://schemas.microsoft.com/office/drawing/2014/main" id="{2E472ABC-816A-F388-5DA1-F0E94788DB5B}"/>
              </a:ext>
            </a:extLst>
          </p:cNvPr>
          <p:cNvSpPr txBox="1">
            <a:spLocks/>
          </p:cNvSpPr>
          <p:nvPr/>
        </p:nvSpPr>
        <p:spPr>
          <a:xfrm>
            <a:off x="260255" y="2664269"/>
            <a:ext cx="5041088" cy="396785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None/>
            </a:pPr>
            <a:r>
              <a:rPr lang="en-US" sz="2400" b="1" dirty="0">
                <a:latin typeface="Calibri" panose="020F0502020204030204" pitchFamily="34" charset="0"/>
                <a:ea typeface="Calibri" panose="020F0502020204030204" pitchFamily="34" charset="0"/>
                <a:cs typeface="Calibri" panose="020F0502020204030204" pitchFamily="34" charset="0"/>
              </a:rPr>
              <a:t>OPEN-END QUESTIONS</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Respondent must answer in his own words.</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Takes time to answer.</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Open-ended questions are more difficult to analyze.</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Appropriate for complex issues.</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Respondents have an opportunity to express their opinions.</a:t>
            </a:r>
          </a:p>
        </p:txBody>
      </p:sp>
      <p:cxnSp>
        <p:nvCxnSpPr>
          <p:cNvPr id="12" name="Straight Connector 11">
            <a:extLst>
              <a:ext uri="{FF2B5EF4-FFF2-40B4-BE49-F238E27FC236}">
                <a16:creationId xmlns:a16="http://schemas.microsoft.com/office/drawing/2014/main" id="{622077D3-070D-F56A-1E58-494CDF444F1A}"/>
              </a:ext>
            </a:extLst>
          </p:cNvPr>
          <p:cNvCxnSpPr/>
          <p:nvPr/>
        </p:nvCxnSpPr>
        <p:spPr>
          <a:xfrm>
            <a:off x="5878286" y="2664269"/>
            <a:ext cx="0" cy="4073988"/>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91890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5F668A-3118-9567-E125-47127E141403}"/>
              </a:ext>
            </a:extLst>
          </p:cNvPr>
          <p:cNvSpPr>
            <a:spLocks noGrp="1"/>
          </p:cNvSpPr>
          <p:nvPr>
            <p:ph idx="1"/>
          </p:nvPr>
        </p:nvSpPr>
        <p:spPr>
          <a:xfrm>
            <a:off x="557590" y="1333274"/>
            <a:ext cx="9348409" cy="5219925"/>
          </a:xfrm>
        </p:spPr>
        <p:txBody>
          <a:bodyPr>
            <a:noAutofit/>
          </a:bodyPr>
          <a:lstStyle/>
          <a:p>
            <a:pPr marL="457200" indent="-457200" algn="just">
              <a:lnSpc>
                <a:spcPct val="15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size of the questionnaire should be kept minimum.</a:t>
            </a:r>
          </a:p>
          <a:p>
            <a:pPr marL="457200" indent="-457200" algn="just">
              <a:lnSpc>
                <a:spcPct val="15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Questions should proceed in logical sequence, (easy to more difficult ones).</a:t>
            </a:r>
          </a:p>
          <a:p>
            <a:pPr marL="457200" indent="-457200" algn="just">
              <a:lnSpc>
                <a:spcPct val="15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Personal and intimate questions should be left to the end. </a:t>
            </a:r>
          </a:p>
          <a:p>
            <a:pPr marL="457200" indent="-457200" algn="just">
              <a:lnSpc>
                <a:spcPct val="15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Technical terms and vague expressions should be avoided in a questionnaire. </a:t>
            </a:r>
          </a:p>
          <a:p>
            <a:pPr marL="457200" indent="-457200" algn="just">
              <a:lnSpc>
                <a:spcPct val="150000"/>
              </a:lnSpc>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Questions may be dichotomous (yes or no answers), multiple choice (alternative answers listed) or open-ended.</a:t>
            </a:r>
          </a:p>
        </p:txBody>
      </p:sp>
      <p:sp>
        <p:nvSpPr>
          <p:cNvPr id="4" name="Title 1">
            <a:extLst>
              <a:ext uri="{FF2B5EF4-FFF2-40B4-BE49-F238E27FC236}">
                <a16:creationId xmlns:a16="http://schemas.microsoft.com/office/drawing/2014/main" id="{CA8B3906-DE67-F1F9-E0AF-DD32009D2309}"/>
              </a:ext>
            </a:extLst>
          </p:cNvPr>
          <p:cNvSpPr txBox="1">
            <a:spLocks/>
          </p:cNvSpPr>
          <p:nvPr/>
        </p:nvSpPr>
        <p:spPr>
          <a:xfrm>
            <a:off x="677334" y="515467"/>
            <a:ext cx="883375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ESSENTIALS OF A GOOD QUESTIONNAIRE</a:t>
            </a:r>
            <a:endParaRPr lang="en-IN" b="1" dirty="0"/>
          </a:p>
        </p:txBody>
      </p:sp>
    </p:spTree>
    <p:extLst>
      <p:ext uri="{BB962C8B-B14F-4D97-AF65-F5344CB8AC3E}">
        <p14:creationId xmlns:p14="http://schemas.microsoft.com/office/powerpoint/2010/main" val="3180450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5F668A-3118-9567-E125-47127E141403}"/>
              </a:ext>
            </a:extLst>
          </p:cNvPr>
          <p:cNvSpPr>
            <a:spLocks noGrp="1"/>
          </p:cNvSpPr>
          <p:nvPr>
            <p:ph idx="1"/>
          </p:nvPr>
        </p:nvSpPr>
        <p:spPr>
          <a:xfrm>
            <a:off x="507092" y="740228"/>
            <a:ext cx="9174239" cy="6041572"/>
          </a:xfrm>
        </p:spPr>
        <p:txBody>
          <a:bodyPr>
            <a:noAutofit/>
          </a:bodyPr>
          <a:lstStyle/>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There should be some control questions that ensure the reliability of the respondent.</a:t>
            </a:r>
          </a:p>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Questions affecting the sentiments of respondents should be avoided.</a:t>
            </a:r>
          </a:p>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Adequate space for answers should be provided in the questionnaire. </a:t>
            </a:r>
          </a:p>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There should always be provision for indicating  uncertainty. (“do not know,” “no preference”). </a:t>
            </a:r>
          </a:p>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Brief directions about filling up the questionnaire should be given in the questionnaire.</a:t>
            </a:r>
          </a:p>
          <a:p>
            <a:pPr marL="457200" indent="-457200" algn="just">
              <a:lnSpc>
                <a:spcPct val="150000"/>
              </a:lnSpc>
              <a:buAutoNum type="arabicPeriod" startAt="6"/>
            </a:pPr>
            <a:r>
              <a:rPr lang="en-US" sz="2400" dirty="0">
                <a:latin typeface="Calibri" panose="020F0502020204030204" pitchFamily="34" charset="0"/>
                <a:ea typeface="Calibri" panose="020F0502020204030204" pitchFamily="34" charset="0"/>
                <a:cs typeface="Calibri" panose="020F0502020204030204" pitchFamily="34" charset="0"/>
              </a:rPr>
              <a:t>Good physical appearance of the questionnaire.</a:t>
            </a:r>
          </a:p>
          <a:p>
            <a:pPr algn="just">
              <a:lnSpc>
                <a:spcPct val="150000"/>
              </a:lnSpc>
            </a:pPr>
            <a:endParaRPr lang="en-IN" sz="2400" dirty="0"/>
          </a:p>
        </p:txBody>
      </p:sp>
      <p:sp>
        <p:nvSpPr>
          <p:cNvPr id="4" name="Title 1">
            <a:extLst>
              <a:ext uri="{FF2B5EF4-FFF2-40B4-BE49-F238E27FC236}">
                <a16:creationId xmlns:a16="http://schemas.microsoft.com/office/drawing/2014/main" id="{CA8B3906-DE67-F1F9-E0AF-DD32009D2309}"/>
              </a:ext>
            </a:extLst>
          </p:cNvPr>
          <p:cNvSpPr txBox="1">
            <a:spLocks/>
          </p:cNvSpPr>
          <p:nvPr/>
        </p:nvSpPr>
        <p:spPr>
          <a:xfrm>
            <a:off x="677333" y="79828"/>
            <a:ext cx="883375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ESSENTIALS OF A GOOD QUESTIONNAIRE</a:t>
            </a:r>
            <a:endParaRPr lang="en-IN" b="1" dirty="0"/>
          </a:p>
        </p:txBody>
      </p:sp>
    </p:spTree>
    <p:extLst>
      <p:ext uri="{BB962C8B-B14F-4D97-AF65-F5344CB8AC3E}">
        <p14:creationId xmlns:p14="http://schemas.microsoft.com/office/powerpoint/2010/main" val="4219271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F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14BE-E747-6DAD-0245-5D1F7D468B2B}"/>
              </a:ext>
            </a:extLst>
          </p:cNvPr>
          <p:cNvSpPr>
            <a:spLocks noGrp="1"/>
          </p:cNvSpPr>
          <p:nvPr>
            <p:ph type="title"/>
          </p:nvPr>
        </p:nvSpPr>
        <p:spPr>
          <a:xfrm>
            <a:off x="2759841" y="209877"/>
            <a:ext cx="6672317" cy="1480457"/>
          </a:xfrm>
        </p:spPr>
        <p:txBody>
          <a:bodyPr>
            <a:noAutofit/>
          </a:bodyPr>
          <a:lstStyle/>
          <a:p>
            <a:pPr algn="ctr"/>
            <a:r>
              <a:rPr lang="en-US" sz="4400" b="1" dirty="0"/>
              <a:t>COLLECTION OF DATA THROUGH SCHEDULES</a:t>
            </a:r>
            <a:endParaRPr lang="en-IN" sz="4400" b="1" dirty="0"/>
          </a:p>
        </p:txBody>
      </p:sp>
      <p:pic>
        <p:nvPicPr>
          <p:cNvPr id="8" name="Picture 7" descr="A screenshot of a cell phone&#10;&#10;Description automatically generated">
            <a:extLst>
              <a:ext uri="{FF2B5EF4-FFF2-40B4-BE49-F238E27FC236}">
                <a16:creationId xmlns:a16="http://schemas.microsoft.com/office/drawing/2014/main" id="{2168401F-91EA-8ADD-F03A-B1144C9FBC96}"/>
              </a:ext>
            </a:extLst>
          </p:cNvPr>
          <p:cNvPicPr>
            <a:picLocks noChangeAspect="1"/>
          </p:cNvPicPr>
          <p:nvPr/>
        </p:nvPicPr>
        <p:blipFill rotWithShape="1">
          <a:blip r:embed="rId3">
            <a:extLst>
              <a:ext uri="{28A0092B-C50C-407E-A947-70E740481C1C}">
                <a14:useLocalDpi xmlns:a14="http://schemas.microsoft.com/office/drawing/2010/main" val="0"/>
              </a:ext>
            </a:extLst>
          </a:blip>
          <a:srcRect l="37277" t="47833" r="39089" b="15168"/>
          <a:stretch/>
        </p:blipFill>
        <p:spPr>
          <a:xfrm>
            <a:off x="1" y="0"/>
            <a:ext cx="3018035" cy="2906486"/>
          </a:xfrm>
          <a:prstGeom prst="rect">
            <a:avLst/>
          </a:prstGeom>
        </p:spPr>
      </p:pic>
      <p:sp>
        <p:nvSpPr>
          <p:cNvPr id="15" name="Content Placeholder 2">
            <a:extLst>
              <a:ext uri="{FF2B5EF4-FFF2-40B4-BE49-F238E27FC236}">
                <a16:creationId xmlns:a16="http://schemas.microsoft.com/office/drawing/2014/main" id="{6FB4E8BF-1A1A-47E2-72C9-1A27A53FE0D1}"/>
              </a:ext>
            </a:extLst>
          </p:cNvPr>
          <p:cNvSpPr>
            <a:spLocks noGrp="1"/>
          </p:cNvSpPr>
          <p:nvPr>
            <p:ph idx="1"/>
          </p:nvPr>
        </p:nvSpPr>
        <p:spPr>
          <a:xfrm>
            <a:off x="2984127" y="1560257"/>
            <a:ext cx="8010444" cy="1480457"/>
          </a:xfrm>
        </p:spPr>
        <p:txBody>
          <a:bodyPr>
            <a:no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Schedules:  </a:t>
            </a:r>
            <a:r>
              <a:rPr lang="en-US" sz="2400" dirty="0">
                <a:latin typeface="Calibri" panose="020F0502020204030204" pitchFamily="34" charset="0"/>
                <a:ea typeface="Calibri" panose="020F0502020204030204" pitchFamily="34" charset="0"/>
                <a:cs typeface="Calibri" panose="020F0502020204030204" pitchFamily="34" charset="0"/>
              </a:rPr>
              <a:t>They are proforma containing a set of questions. </a:t>
            </a:r>
          </a:p>
          <a:p>
            <a:r>
              <a:rPr lang="en-US" sz="2400" dirty="0">
                <a:latin typeface="Calibri" panose="020F0502020204030204" pitchFamily="34" charset="0"/>
                <a:ea typeface="Calibri" panose="020F0502020204030204" pitchFamily="34" charset="0"/>
                <a:cs typeface="Calibri" panose="020F0502020204030204" pitchFamily="34" charset="0"/>
              </a:rPr>
              <a:t>Schedules are filled in by the enumerators who are specially appointed for the purpose. </a:t>
            </a:r>
          </a:p>
        </p:txBody>
      </p:sp>
      <p:sp>
        <p:nvSpPr>
          <p:cNvPr id="3" name="Content Placeholder 2">
            <a:extLst>
              <a:ext uri="{FF2B5EF4-FFF2-40B4-BE49-F238E27FC236}">
                <a16:creationId xmlns:a16="http://schemas.microsoft.com/office/drawing/2014/main" id="{84936DF0-D6B7-90EE-DAB6-6F0F21AAE508}"/>
              </a:ext>
            </a:extLst>
          </p:cNvPr>
          <p:cNvSpPr txBox="1">
            <a:spLocks/>
          </p:cNvSpPr>
          <p:nvPr/>
        </p:nvSpPr>
        <p:spPr>
          <a:xfrm>
            <a:off x="447754" y="2917372"/>
            <a:ext cx="9654189" cy="35814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The enumerators go to respondents and record the replies.</a:t>
            </a:r>
          </a:p>
          <a:p>
            <a:pPr algn="just"/>
            <a:r>
              <a:rPr lang="en-US" sz="2400" dirty="0">
                <a:latin typeface="Calibri" panose="020F0502020204030204" pitchFamily="34" charset="0"/>
                <a:ea typeface="Calibri" panose="020F0502020204030204" pitchFamily="34" charset="0"/>
                <a:cs typeface="Calibri" panose="020F0502020204030204" pitchFamily="34" charset="0"/>
              </a:rPr>
              <a:t>Enumerators explain the aims and objects of the investigation.</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enumerators should be trained</a:t>
            </a:r>
          </a:p>
          <a:p>
            <a:pPr algn="just"/>
            <a:r>
              <a:rPr lang="en-US" sz="2400" dirty="0">
                <a:latin typeface="Calibri" panose="020F0502020204030204" pitchFamily="34" charset="0"/>
                <a:ea typeface="Calibri" panose="020F0502020204030204" pitchFamily="34" charset="0"/>
                <a:cs typeface="Calibri" panose="020F0502020204030204" pitchFamily="34" charset="0"/>
              </a:rPr>
              <a:t>Enumerators be capable of cross examining the truth.</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They should be honest, sincere, hardworking and should have patience.</a:t>
            </a:r>
          </a:p>
          <a:p>
            <a:pPr algn="just"/>
            <a:r>
              <a:rPr lang="en-US" sz="2400" dirty="0">
                <a:latin typeface="Calibri" panose="020F0502020204030204" pitchFamily="34" charset="0"/>
                <a:ea typeface="Calibri" panose="020F0502020204030204" pitchFamily="34" charset="0"/>
                <a:cs typeface="Calibri" panose="020F0502020204030204" pitchFamily="34" charset="0"/>
              </a:rPr>
              <a:t>Schedules are very useful in extensive enquiries.</a:t>
            </a:r>
          </a:p>
          <a:p>
            <a:pPr algn="just"/>
            <a:r>
              <a:rPr lang="en-US" sz="2400" dirty="0">
                <a:latin typeface="Calibri" panose="020F0502020204030204" pitchFamily="34" charset="0"/>
                <a:ea typeface="Calibri" panose="020F0502020204030204" pitchFamily="34" charset="0"/>
                <a:cs typeface="Calibri" panose="020F0502020204030204" pitchFamily="34" charset="0"/>
              </a:rPr>
              <a:t>Population census all over the world is conducted through this method.</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3769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33024-82E2-C46D-001B-CF4FF803E399}"/>
              </a:ext>
            </a:extLst>
          </p:cNvPr>
          <p:cNvSpPr>
            <a:spLocks noGrp="1"/>
          </p:cNvSpPr>
          <p:nvPr>
            <p:ph type="title"/>
          </p:nvPr>
        </p:nvSpPr>
        <p:spPr>
          <a:xfrm>
            <a:off x="2710542" y="97971"/>
            <a:ext cx="7949067" cy="1320800"/>
          </a:xfrm>
        </p:spPr>
        <p:txBody>
          <a:bodyPr>
            <a:normAutofit/>
          </a:bodyPr>
          <a:lstStyle/>
          <a:p>
            <a:r>
              <a:rPr lang="en-IN" b="1" dirty="0"/>
              <a:t>COLLECTION OF SECONDARY DATA</a:t>
            </a:r>
          </a:p>
        </p:txBody>
      </p:sp>
      <p:pic>
        <p:nvPicPr>
          <p:cNvPr id="5" name="Picture 4" descr="Books stacked on a table">
            <a:extLst>
              <a:ext uri="{FF2B5EF4-FFF2-40B4-BE49-F238E27FC236}">
                <a16:creationId xmlns:a16="http://schemas.microsoft.com/office/drawing/2014/main" id="{226113DB-0AC7-F10A-675B-26CC7656CDEE}"/>
              </a:ext>
            </a:extLst>
          </p:cNvPr>
          <p:cNvPicPr>
            <a:picLocks noChangeAspect="1"/>
          </p:cNvPicPr>
          <p:nvPr/>
        </p:nvPicPr>
        <p:blipFill rotWithShape="1">
          <a:blip r:embed="rId2"/>
          <a:srcRect l="41062" r="32365" b="1"/>
          <a:stretch/>
        </p:blipFill>
        <p:spPr>
          <a:xfrm>
            <a:off x="19" y="10"/>
            <a:ext cx="2710523"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BC45D44C-2298-2513-A71A-087CC751FBD0}"/>
              </a:ext>
            </a:extLst>
          </p:cNvPr>
          <p:cNvSpPr>
            <a:spLocks noGrp="1"/>
          </p:cNvSpPr>
          <p:nvPr>
            <p:ph idx="1"/>
          </p:nvPr>
        </p:nvSpPr>
        <p:spPr>
          <a:xfrm>
            <a:off x="2642734" y="979713"/>
            <a:ext cx="9342438" cy="5529944"/>
          </a:xfrm>
        </p:spPr>
        <p:txBody>
          <a:bodyPr>
            <a:noAutofit/>
          </a:bodyPr>
          <a:lstStyle/>
          <a:p>
            <a:pPr marL="0" indent="0">
              <a:lnSpc>
                <a:spcPct val="90000"/>
              </a:lnSpc>
              <a:buNone/>
            </a:pPr>
            <a:r>
              <a:rPr lang="en-US" sz="2200" b="1" dirty="0">
                <a:latin typeface="Calibri" panose="020F0502020204030204" pitchFamily="34" charset="0"/>
                <a:ea typeface="Calibri" panose="020F0502020204030204" pitchFamily="34" charset="0"/>
                <a:cs typeface="Calibri" panose="020F0502020204030204" pitchFamily="34" charset="0"/>
              </a:rPr>
              <a:t>SECONDARY DATA: </a:t>
            </a:r>
            <a:r>
              <a:rPr lang="en-US" sz="2200" dirty="0">
                <a:latin typeface="Calibri" panose="020F0502020204030204" pitchFamily="34" charset="0"/>
                <a:ea typeface="Calibri" panose="020F0502020204030204" pitchFamily="34" charset="0"/>
                <a:cs typeface="Calibri" panose="020F0502020204030204" pitchFamily="34" charset="0"/>
              </a:rPr>
              <a:t>The data that is already available. The  data which has already been collected and analyzed by someone.</a:t>
            </a:r>
          </a:p>
          <a:p>
            <a:pPr marL="0" indent="0">
              <a:lnSpc>
                <a:spcPct val="90000"/>
              </a:lnSpc>
              <a:buNone/>
            </a:pPr>
            <a:r>
              <a:rPr lang="en-US" sz="2200" b="1" dirty="0">
                <a:latin typeface="Calibri" panose="020F0502020204030204" pitchFamily="34" charset="0"/>
                <a:ea typeface="Calibri" panose="020F0502020204030204" pitchFamily="34" charset="0"/>
                <a:cs typeface="Calibri" panose="020F0502020204030204" pitchFamily="34" charset="0"/>
              </a:rPr>
              <a:t>SOURCES OF PUBLISHED DATA</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Various publications of the central, state are local governments. </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Publications of foreign governments or of international bodies.</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Technical and trade journals, books, magazines and newspapers.</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Reports and publications of various associations like industry, banks, stock exchanges.</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Reports by research scholars, Public records, historical documents.</a:t>
            </a:r>
            <a:endParaRPr lang="en-US" sz="2200" b="1" dirty="0">
              <a:latin typeface="Calibri" panose="020F0502020204030204" pitchFamily="34" charset="0"/>
              <a:ea typeface="Calibri" panose="020F0502020204030204" pitchFamily="34" charset="0"/>
              <a:cs typeface="Calibri" panose="020F0502020204030204" pitchFamily="34" charset="0"/>
            </a:endParaRPr>
          </a:p>
          <a:p>
            <a:pPr marL="0" indent="0">
              <a:lnSpc>
                <a:spcPct val="90000"/>
              </a:lnSpc>
              <a:buNone/>
            </a:pPr>
            <a:r>
              <a:rPr lang="en-US" sz="2200" b="1" dirty="0">
                <a:latin typeface="Calibri" panose="020F0502020204030204" pitchFamily="34" charset="0"/>
                <a:ea typeface="Calibri" panose="020F0502020204030204" pitchFamily="34" charset="0"/>
                <a:cs typeface="Calibri" panose="020F0502020204030204" pitchFamily="34" charset="0"/>
              </a:rPr>
              <a:t>SOURCES OF UNPUBLISHED DATA</a:t>
            </a:r>
            <a:endParaRPr lang="en-US" sz="2200" dirty="0">
              <a:latin typeface="Calibri" panose="020F0502020204030204" pitchFamily="34" charset="0"/>
              <a:ea typeface="Calibri" panose="020F0502020204030204" pitchFamily="34" charset="0"/>
              <a:cs typeface="Calibri" panose="020F0502020204030204" pitchFamily="34" charset="0"/>
            </a:endParaRP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Diary write ups, Letters</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Unpublished biographies and autobiographies </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Scholars and research workers, trade associations, labor bureaus.</a:t>
            </a:r>
          </a:p>
          <a:p>
            <a:pPr marL="457200" indent="-457200">
              <a:lnSpc>
                <a:spcPct val="90000"/>
              </a:lnSpc>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Public/ private individuals and organizations.</a:t>
            </a:r>
          </a:p>
          <a:p>
            <a:pPr marL="457200" indent="-457200">
              <a:lnSpc>
                <a:spcPct val="90000"/>
              </a:lnSpc>
              <a:buFont typeface="+mj-lt"/>
              <a:buAutoNum type="arabicPeriod"/>
            </a:pP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3924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B30299-35C1-43A0-BE3F-8EA64B1C662C}"/>
              </a:ext>
            </a:extLst>
          </p:cNvPr>
          <p:cNvSpPr>
            <a:spLocks noGrp="1"/>
          </p:cNvSpPr>
          <p:nvPr>
            <p:ph idx="1"/>
          </p:nvPr>
        </p:nvSpPr>
        <p:spPr>
          <a:xfrm>
            <a:off x="709988" y="1171484"/>
            <a:ext cx="8798155" cy="5191293"/>
          </a:xfrm>
        </p:spPr>
        <p:txBody>
          <a:bodyPr>
            <a:noAutofit/>
          </a:bodyPr>
          <a:lstStyle/>
          <a:p>
            <a:pPr marL="0" indent="0" algn="just">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latin typeface="Calibri" panose="020F0502020204030204" pitchFamily="34" charset="0"/>
                <a:ea typeface="Calibri" panose="020F0502020204030204" pitchFamily="34" charset="0"/>
                <a:cs typeface="Calibri" panose="020F0502020204030204" pitchFamily="34" charset="0"/>
              </a:rPr>
              <a:t>SECONDARY DATA: </a:t>
            </a:r>
            <a:r>
              <a:rPr lang="en-US" sz="2400" dirty="0">
                <a:latin typeface="Calibri" panose="020F0502020204030204" pitchFamily="34" charset="0"/>
                <a:ea typeface="Calibri" panose="020F0502020204030204" pitchFamily="34" charset="0"/>
                <a:cs typeface="Calibri" panose="020F0502020204030204" pitchFamily="34" charset="0"/>
              </a:rPr>
              <a:t>The data that is already available. The  data which has already been collected and analyzed by someone.</a:t>
            </a:r>
          </a:p>
          <a:p>
            <a:pPr marL="0" indent="0" algn="just">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latin typeface="Calibri" panose="020F0502020204030204" pitchFamily="34" charset="0"/>
                <a:ea typeface="Calibri" panose="020F0502020204030204" pitchFamily="34" charset="0"/>
                <a:cs typeface="Calibri" panose="020F0502020204030204" pitchFamily="34" charset="0"/>
              </a:rPr>
              <a:t>RELIABILITY OF DATA</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Who collected the data?</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What were the sources of data? </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Were they collected using proper methods, was there any bias ?</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At what time were they collected?</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What level of accuracy was desired? Was it achieved ?</a:t>
            </a:r>
          </a:p>
          <a:p>
            <a:pPr marL="0" indent="0" algn="just">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C9D96CF5-7EBD-B435-EC81-5BA347FC3E72}"/>
              </a:ext>
            </a:extLst>
          </p:cNvPr>
          <p:cNvSpPr>
            <a:spLocks noGrp="1"/>
          </p:cNvSpPr>
          <p:nvPr>
            <p:ph type="title"/>
          </p:nvPr>
        </p:nvSpPr>
        <p:spPr>
          <a:xfrm>
            <a:off x="399647" y="504580"/>
            <a:ext cx="8798154" cy="796367"/>
          </a:xfrm>
        </p:spPr>
        <p:txBody>
          <a:bodyPr>
            <a:normAutofit/>
          </a:bodyPr>
          <a:lstStyle/>
          <a:p>
            <a:pPr marL="0" indent="0">
              <a:buNone/>
            </a:pPr>
            <a:r>
              <a:rPr lang="en-US" sz="3600" b="1" dirty="0"/>
              <a:t>CHARACTERISTICS OF SECONDARY DATA</a:t>
            </a:r>
          </a:p>
        </p:txBody>
      </p:sp>
    </p:spTree>
    <p:extLst>
      <p:ext uri="{BB962C8B-B14F-4D97-AF65-F5344CB8AC3E}">
        <p14:creationId xmlns:p14="http://schemas.microsoft.com/office/powerpoint/2010/main" val="1021627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5E634-D4BB-4DA7-17F3-47DC4377AE8F}"/>
              </a:ext>
            </a:extLst>
          </p:cNvPr>
          <p:cNvSpPr>
            <a:spLocks noGrp="1"/>
          </p:cNvSpPr>
          <p:nvPr>
            <p:ph idx="1"/>
          </p:nvPr>
        </p:nvSpPr>
        <p:spPr>
          <a:xfrm>
            <a:off x="677334" y="1394460"/>
            <a:ext cx="8596668" cy="5063489"/>
          </a:xfrm>
        </p:spPr>
        <p:txBody>
          <a:bodyPr>
            <a:normAutofit/>
          </a:bodyPr>
          <a:lstStyle/>
          <a:p>
            <a:pPr marL="0" indent="0" algn="just">
              <a:buNone/>
            </a:pPr>
            <a:r>
              <a:rPr lang="en-US" sz="2400" b="1" dirty="0">
                <a:latin typeface="Calibri" panose="020F0502020204030204" pitchFamily="34" charset="0"/>
                <a:ea typeface="Calibri" panose="020F0502020204030204" pitchFamily="34" charset="0"/>
                <a:cs typeface="Calibri" panose="020F0502020204030204" pitchFamily="34" charset="0"/>
              </a:rPr>
              <a:t>SUITABILITY OF DATA </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data that are suitable for one enquiry may not be suitable  for another enquiry, nature of original enquiry might be different.</a:t>
            </a:r>
          </a:p>
          <a:p>
            <a:pPr marL="0" indent="0" algn="just">
              <a:buNone/>
            </a:pPr>
            <a:r>
              <a:rPr lang="en-US" sz="2400" b="1" dirty="0">
                <a:latin typeface="Calibri" panose="020F0502020204030204" pitchFamily="34" charset="0"/>
                <a:ea typeface="Calibri" panose="020F0502020204030204" pitchFamily="34" charset="0"/>
                <a:cs typeface="Calibri" panose="020F0502020204030204" pitchFamily="34" charset="0"/>
              </a:rPr>
              <a:t>ADEQUACY OF DATA</a:t>
            </a:r>
          </a:p>
          <a:p>
            <a:pPr algn="just"/>
            <a:r>
              <a:rPr lang="en-IN" sz="2400" dirty="0">
                <a:latin typeface="Calibri" panose="020F0502020204030204" pitchFamily="34" charset="0"/>
                <a:ea typeface="Calibri" panose="020F0502020204030204" pitchFamily="34" charset="0"/>
                <a:cs typeface="Calibri" panose="020F0502020204030204" pitchFamily="34" charset="0"/>
              </a:rPr>
              <a:t>Data is inadequate if it does not meet the desired level of accuracy.</a:t>
            </a:r>
          </a:p>
          <a:p>
            <a:pPr algn="just"/>
            <a:r>
              <a:rPr lang="en-US" sz="2400" dirty="0">
                <a:latin typeface="Calibri" panose="020F0502020204030204" pitchFamily="34" charset="0"/>
                <a:ea typeface="Calibri" panose="020F0502020204030204" pitchFamily="34" charset="0"/>
                <a:cs typeface="Calibri" panose="020F0502020204030204" pitchFamily="34" charset="0"/>
              </a:rPr>
              <a:t>Data is inadequate if  is related to an area which may be either narrow or wider than the area of the present enquiry.</a:t>
            </a:r>
          </a:p>
          <a:p>
            <a:pPr algn="just"/>
            <a:r>
              <a:rPr lang="en-US" sz="2400" dirty="0">
                <a:latin typeface="Calibri" panose="020F0502020204030204" pitchFamily="34" charset="0"/>
                <a:ea typeface="Calibri" panose="020F0502020204030204" pitchFamily="34" charset="0"/>
                <a:cs typeface="Calibri" panose="020F0502020204030204" pitchFamily="34" charset="0"/>
              </a:rPr>
              <a:t>Researcher should not use secondary data without proper validation.</a:t>
            </a:r>
          </a:p>
          <a:p>
            <a:pPr marL="0" indent="0" algn="just">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IN" sz="2400" dirty="0"/>
          </a:p>
        </p:txBody>
      </p:sp>
      <p:sp>
        <p:nvSpPr>
          <p:cNvPr id="4" name="Title 1">
            <a:extLst>
              <a:ext uri="{FF2B5EF4-FFF2-40B4-BE49-F238E27FC236}">
                <a16:creationId xmlns:a16="http://schemas.microsoft.com/office/drawing/2014/main" id="{831AEAE6-BC20-8850-6F52-47AFB86BDF5A}"/>
              </a:ext>
            </a:extLst>
          </p:cNvPr>
          <p:cNvSpPr txBox="1">
            <a:spLocks/>
          </p:cNvSpPr>
          <p:nvPr/>
        </p:nvSpPr>
        <p:spPr>
          <a:xfrm>
            <a:off x="475848" y="400051"/>
            <a:ext cx="8798154" cy="79636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CHARACTERISTICS OF SECONDARY DATA</a:t>
            </a:r>
          </a:p>
        </p:txBody>
      </p:sp>
    </p:spTree>
    <p:extLst>
      <p:ext uri="{BB962C8B-B14F-4D97-AF65-F5344CB8AC3E}">
        <p14:creationId xmlns:p14="http://schemas.microsoft.com/office/powerpoint/2010/main" val="580635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3" name="Straight Connector 12">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Isosceles Triangle 16">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Isosceles Triangle 20">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Isosceles Triangle 21">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pic>
        <p:nvPicPr>
          <p:cNvPr id="8" name="Picture 7" descr="Angled shot of pen on a graph">
            <a:extLst>
              <a:ext uri="{FF2B5EF4-FFF2-40B4-BE49-F238E27FC236}">
                <a16:creationId xmlns:a16="http://schemas.microsoft.com/office/drawing/2014/main" id="{366FB49D-7F4B-223D-CD6B-25D777E18300}"/>
              </a:ext>
            </a:extLst>
          </p:cNvPr>
          <p:cNvPicPr>
            <a:picLocks noChangeAspect="1"/>
          </p:cNvPicPr>
          <p:nvPr/>
        </p:nvPicPr>
        <p:blipFill rotWithShape="1">
          <a:blip r:embed="rId2">
            <a:duotone>
              <a:prstClr val="black"/>
              <a:prstClr val="white"/>
            </a:duotone>
          </a:blip>
          <a:srcRect l="472" r="30759" b="-2"/>
          <a:stretch/>
        </p:blipFill>
        <p:spPr>
          <a:xfrm>
            <a:off x="5123543" y="-1"/>
            <a:ext cx="7065281" cy="6858001"/>
          </a:xfrm>
          <a:custGeom>
            <a:avLst/>
            <a:gdLst/>
            <a:ahLst/>
            <a:cxnLst/>
            <a:rect l="l" t="t" r="r" b="b"/>
            <a:pathLst>
              <a:path w="7065281" h="6858001">
                <a:moveTo>
                  <a:pt x="379987" y="0"/>
                </a:moveTo>
                <a:lnTo>
                  <a:pt x="7065281" y="0"/>
                </a:lnTo>
                <a:lnTo>
                  <a:pt x="7065281" y="6858001"/>
                </a:lnTo>
                <a:lnTo>
                  <a:pt x="27809" y="6858001"/>
                </a:lnTo>
                <a:lnTo>
                  <a:pt x="1803228" y="4521201"/>
                </a:lnTo>
                <a:close/>
                <a:moveTo>
                  <a:pt x="0" y="0"/>
                </a:moveTo>
                <a:lnTo>
                  <a:pt x="379987" y="0"/>
                </a:lnTo>
                <a:lnTo>
                  <a:pt x="0" y="407"/>
                </a:lnTo>
                <a:close/>
              </a:path>
            </a:pathLst>
          </a:custGeom>
        </p:spPr>
      </p:pic>
      <p:sp>
        <p:nvSpPr>
          <p:cNvPr id="6" name="Title 1">
            <a:extLst>
              <a:ext uri="{FF2B5EF4-FFF2-40B4-BE49-F238E27FC236}">
                <a16:creationId xmlns:a16="http://schemas.microsoft.com/office/drawing/2014/main" id="{79927842-9C8E-5F26-5951-B4DCB778F92E}"/>
              </a:ext>
            </a:extLst>
          </p:cNvPr>
          <p:cNvSpPr txBox="1">
            <a:spLocks/>
          </p:cNvSpPr>
          <p:nvPr/>
        </p:nvSpPr>
        <p:spPr>
          <a:xfrm>
            <a:off x="407086" y="1657533"/>
            <a:ext cx="6016757" cy="4047759"/>
          </a:xfrm>
          <a:prstGeom prst="rect">
            <a:avLst/>
          </a:prstGeom>
        </p:spPr>
        <p:txBody>
          <a:bodyPr vert="horz" lIns="91440" tIns="45720" rIns="91440" bIns="45720" rtlCol="0" anchor="b">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90000"/>
              </a:lnSpc>
              <a:spcAft>
                <a:spcPts val="600"/>
              </a:spcAft>
            </a:pPr>
            <a:br>
              <a:rPr lang="en-US" sz="5400" b="1" dirty="0"/>
            </a:br>
            <a:r>
              <a:rPr lang="en-US" sz="5400" b="1" dirty="0"/>
              <a:t>DATA </a:t>
            </a:r>
          </a:p>
          <a:p>
            <a:pPr algn="ctr">
              <a:lnSpc>
                <a:spcPct val="90000"/>
              </a:lnSpc>
              <a:spcAft>
                <a:spcPts val="600"/>
              </a:spcAft>
            </a:pPr>
            <a:r>
              <a:rPr lang="en-US" sz="5400" b="1" dirty="0"/>
              <a:t>INTERPRETATION </a:t>
            </a:r>
          </a:p>
          <a:p>
            <a:pPr algn="ctr">
              <a:lnSpc>
                <a:spcPct val="90000"/>
              </a:lnSpc>
              <a:spcAft>
                <a:spcPts val="600"/>
              </a:spcAft>
            </a:pPr>
            <a:r>
              <a:rPr lang="en-US" sz="5400" b="1" dirty="0"/>
              <a:t>AND </a:t>
            </a:r>
          </a:p>
          <a:p>
            <a:pPr algn="ctr">
              <a:lnSpc>
                <a:spcPct val="90000"/>
              </a:lnSpc>
              <a:spcAft>
                <a:spcPts val="600"/>
              </a:spcAft>
            </a:pPr>
            <a:r>
              <a:rPr lang="en-US" sz="5400" b="1" dirty="0"/>
              <a:t>REPORT WRITING</a:t>
            </a:r>
            <a:br>
              <a:rPr lang="en-US" sz="5400" b="1" dirty="0"/>
            </a:br>
            <a:endParaRPr lang="en-US" sz="5400" b="1" dirty="0"/>
          </a:p>
        </p:txBody>
      </p:sp>
      <p:cxnSp>
        <p:nvCxnSpPr>
          <p:cNvPr id="24" name="Straight Connector 23">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8"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0"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971500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7CCD-01CE-6889-6E00-F6993A5D4C29}"/>
              </a:ext>
            </a:extLst>
          </p:cNvPr>
          <p:cNvSpPr>
            <a:spLocks noGrp="1"/>
          </p:cNvSpPr>
          <p:nvPr>
            <p:ph type="title"/>
          </p:nvPr>
        </p:nvSpPr>
        <p:spPr>
          <a:xfrm>
            <a:off x="677334" y="348344"/>
            <a:ext cx="8596668" cy="1320800"/>
          </a:xfrm>
        </p:spPr>
        <p:txBody>
          <a:bodyPr/>
          <a:lstStyle/>
          <a:p>
            <a:r>
              <a:rPr lang="en-US" b="1" dirty="0"/>
              <a:t>INTERPRETATION OF DATA</a:t>
            </a:r>
            <a:endParaRPr lang="en-IN" b="1" dirty="0"/>
          </a:p>
        </p:txBody>
      </p:sp>
      <p:sp>
        <p:nvSpPr>
          <p:cNvPr id="3" name="Content Placeholder 2">
            <a:extLst>
              <a:ext uri="{FF2B5EF4-FFF2-40B4-BE49-F238E27FC236}">
                <a16:creationId xmlns:a16="http://schemas.microsoft.com/office/drawing/2014/main" id="{090F5DFE-033D-5DE5-9E35-D3D0ABCC4266}"/>
              </a:ext>
            </a:extLst>
          </p:cNvPr>
          <p:cNvSpPr>
            <a:spLocks noGrp="1"/>
          </p:cNvSpPr>
          <p:nvPr>
            <p:ph idx="1"/>
          </p:nvPr>
        </p:nvSpPr>
        <p:spPr>
          <a:xfrm>
            <a:off x="677335" y="1190171"/>
            <a:ext cx="8596668" cy="5319485"/>
          </a:xfrm>
        </p:spPr>
        <p:txBody>
          <a:bodyPr>
            <a:no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Interpretation refers to the task of drawing inferences from the collected facts after an analytical or experimental study. </a:t>
            </a:r>
          </a:p>
          <a:p>
            <a:pPr algn="just"/>
            <a:r>
              <a:rPr lang="en-US" sz="2400" dirty="0">
                <a:latin typeface="Calibri" panose="020F0502020204030204" pitchFamily="34" charset="0"/>
                <a:ea typeface="Calibri" panose="020F0502020204030204" pitchFamily="34" charset="0"/>
                <a:cs typeface="Calibri" panose="020F0502020204030204" pitchFamily="34" charset="0"/>
              </a:rPr>
              <a:t>Interpretation is concerned with relationships within the collected data.</a:t>
            </a:r>
          </a:p>
          <a:p>
            <a:pPr algn="just"/>
            <a:r>
              <a:rPr lang="en-US" sz="2400" dirty="0">
                <a:latin typeface="Calibri" panose="020F0502020204030204" pitchFamily="34" charset="0"/>
                <a:ea typeface="Calibri" panose="020F0502020204030204" pitchFamily="34" charset="0"/>
                <a:cs typeface="Calibri" panose="020F0502020204030204" pitchFamily="34" charset="0"/>
              </a:rPr>
              <a:t>Need to be done carefully, to avoid misleading conclusions.</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dirty="0">
                <a:latin typeface="Calibri" panose="020F0502020204030204" pitchFamily="34" charset="0"/>
                <a:ea typeface="Calibri" panose="020F0502020204030204" pitchFamily="34" charset="0"/>
                <a:cs typeface="Calibri" panose="020F0502020204030204" pitchFamily="34" charset="0"/>
              </a:rPr>
              <a:t>The task of interpretation has two major aspects</a:t>
            </a:r>
          </a:p>
          <a:p>
            <a:pPr marL="457200" indent="-457200"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Establish continuity in research by linking the results to other studies. </a:t>
            </a:r>
          </a:p>
          <a:p>
            <a:pPr marL="457200" indent="-4572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Establishment of some explanatory concepts.</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50050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59762-3AAE-C9CA-119D-7229108330AF}"/>
              </a:ext>
            </a:extLst>
          </p:cNvPr>
          <p:cNvSpPr>
            <a:spLocks noGrp="1"/>
          </p:cNvSpPr>
          <p:nvPr>
            <p:ph type="title"/>
          </p:nvPr>
        </p:nvSpPr>
        <p:spPr/>
        <p:txBody>
          <a:bodyPr/>
          <a:lstStyle/>
          <a:p>
            <a:r>
              <a:rPr lang="en-IN" b="1" dirty="0"/>
              <a:t>WHY INTERPRETATION?</a:t>
            </a:r>
          </a:p>
        </p:txBody>
      </p:sp>
      <p:sp>
        <p:nvSpPr>
          <p:cNvPr id="3" name="Content Placeholder 2">
            <a:extLst>
              <a:ext uri="{FF2B5EF4-FFF2-40B4-BE49-F238E27FC236}">
                <a16:creationId xmlns:a16="http://schemas.microsoft.com/office/drawing/2014/main" id="{67F3F36B-3A46-B9FB-536F-544E836B424A}"/>
              </a:ext>
            </a:extLst>
          </p:cNvPr>
          <p:cNvSpPr>
            <a:spLocks noGrp="1"/>
          </p:cNvSpPr>
          <p:nvPr>
            <p:ph idx="1"/>
          </p:nvPr>
        </p:nvSpPr>
        <p:spPr>
          <a:xfrm>
            <a:off x="677334" y="1501756"/>
            <a:ext cx="9169031" cy="4354758"/>
          </a:xfrm>
        </p:spPr>
        <p:txBody>
          <a:bodyPr>
            <a:norm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b="1" dirty="0">
                <a:latin typeface="Calibri" panose="020F0502020204030204" pitchFamily="34" charset="0"/>
                <a:ea typeface="Calibri" panose="020F0502020204030204" pitchFamily="34" charset="0"/>
                <a:cs typeface="Calibri" panose="020F0502020204030204" pitchFamily="34" charset="0"/>
              </a:rPr>
              <a:t>usefulness and utility of research</a:t>
            </a:r>
            <a:r>
              <a:rPr lang="en-US" sz="2400" dirty="0">
                <a:latin typeface="Calibri" panose="020F0502020204030204" pitchFamily="34" charset="0"/>
                <a:ea typeface="Calibri" panose="020F0502020204030204" pitchFamily="34" charset="0"/>
                <a:cs typeface="Calibri" panose="020F0502020204030204" pitchFamily="34" charset="0"/>
              </a:rPr>
              <a:t> findings lie in proper interpretation. </a:t>
            </a:r>
          </a:p>
          <a:p>
            <a:pPr algn="just"/>
            <a:r>
              <a:rPr lang="en-US" sz="2400" dirty="0">
                <a:latin typeface="Calibri" panose="020F0502020204030204" pitchFamily="34" charset="0"/>
                <a:ea typeface="Calibri" panose="020F0502020204030204" pitchFamily="34" charset="0"/>
                <a:cs typeface="Calibri" panose="020F0502020204030204" pitchFamily="34" charset="0"/>
              </a:rPr>
              <a:t>Interpretation gives the researcher a good </a:t>
            </a:r>
            <a:r>
              <a:rPr lang="en-US" sz="2400" b="1" dirty="0">
                <a:latin typeface="Calibri" panose="020F0502020204030204" pitchFamily="34" charset="0"/>
                <a:ea typeface="Calibri" panose="020F0502020204030204" pitchFamily="34" charset="0"/>
                <a:cs typeface="Calibri" panose="020F0502020204030204" pitchFamily="34" charset="0"/>
              </a:rPr>
              <a:t>understanding of the abstract principle </a:t>
            </a:r>
            <a:r>
              <a:rPr lang="en-US" sz="2400" dirty="0">
                <a:latin typeface="Calibri" panose="020F0502020204030204" pitchFamily="34" charset="0"/>
                <a:ea typeface="Calibri" panose="020F0502020204030204" pitchFamily="34" charset="0"/>
                <a:cs typeface="Calibri" panose="020F0502020204030204" pitchFamily="34" charset="0"/>
              </a:rPr>
              <a:t>that works beneath the findings. </a:t>
            </a:r>
          </a:p>
          <a:p>
            <a:pPr algn="just"/>
            <a:r>
              <a:rPr lang="en-US" sz="2400" dirty="0">
                <a:latin typeface="Calibri" panose="020F0502020204030204" pitchFamily="34" charset="0"/>
                <a:ea typeface="Calibri" panose="020F0502020204030204" pitchFamily="34" charset="0"/>
                <a:cs typeface="Calibri" panose="020F0502020204030204" pitchFamily="34" charset="0"/>
              </a:rPr>
              <a:t>If hypotheses are tested and upheld several times, the researcher may </a:t>
            </a:r>
            <a:r>
              <a:rPr lang="en-US" sz="2400" b="1" dirty="0">
                <a:latin typeface="Calibri" panose="020F0502020204030204" pitchFamily="34" charset="0"/>
                <a:ea typeface="Calibri" panose="020F0502020204030204" pitchFamily="34" charset="0"/>
                <a:cs typeface="Calibri" panose="020F0502020204030204" pitchFamily="34" charset="0"/>
              </a:rPr>
              <a:t>arrive at generalizations that leads to establishment of explanatory concepts </a:t>
            </a:r>
            <a:r>
              <a:rPr lang="en-US" sz="2400" dirty="0">
                <a:latin typeface="Calibri" panose="020F0502020204030204" pitchFamily="34" charset="0"/>
                <a:ea typeface="Calibri" panose="020F0502020204030204" pitchFamily="34" charset="0"/>
                <a:cs typeface="Calibri" panose="020F0502020204030204" pitchFamily="34" charset="0"/>
              </a:rPr>
              <a:t>.</a:t>
            </a:r>
          </a:p>
          <a:p>
            <a:pPr algn="just"/>
            <a:r>
              <a:rPr lang="en-US" sz="2400" dirty="0">
                <a:latin typeface="Calibri" panose="020F0502020204030204" pitchFamily="34" charset="0"/>
                <a:ea typeface="Calibri" panose="020F0502020204030204" pitchFamily="34" charset="0"/>
                <a:cs typeface="Calibri" panose="020F0502020204030204" pitchFamily="34" charset="0"/>
              </a:rPr>
              <a:t>If the researcher has no hypothesis to start with, he will try to </a:t>
            </a:r>
            <a:r>
              <a:rPr lang="en-US" sz="2400" b="1" dirty="0">
                <a:latin typeface="Calibri" panose="020F0502020204030204" pitchFamily="34" charset="0"/>
                <a:ea typeface="Calibri" panose="020F0502020204030204" pitchFamily="34" charset="0"/>
                <a:cs typeface="Calibri" panose="020F0502020204030204" pitchFamily="34" charset="0"/>
              </a:rPr>
              <a:t>explain the findings based on some theory</a:t>
            </a:r>
            <a:r>
              <a:rPr lang="en-US" sz="2400" dirty="0">
                <a:latin typeface="Calibri" panose="020F0502020204030204" pitchFamily="34" charset="0"/>
                <a:ea typeface="Calibri" panose="020F0502020204030204" pitchFamily="34" charset="0"/>
                <a:cs typeface="Calibri" panose="020F0502020204030204" pitchFamily="34" charset="0"/>
              </a:rPr>
              <a:t>. (as in Exploratory study )</a:t>
            </a:r>
          </a:p>
        </p:txBody>
      </p:sp>
    </p:spTree>
    <p:extLst>
      <p:ext uri="{BB962C8B-B14F-4D97-AF65-F5344CB8AC3E}">
        <p14:creationId xmlns:p14="http://schemas.microsoft.com/office/powerpoint/2010/main" val="4269606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5EF8-FA54-C391-1547-E0D38EB20A89}"/>
              </a:ext>
            </a:extLst>
          </p:cNvPr>
          <p:cNvSpPr>
            <a:spLocks noGrp="1"/>
          </p:cNvSpPr>
          <p:nvPr>
            <p:ph type="title"/>
          </p:nvPr>
        </p:nvSpPr>
        <p:spPr>
          <a:xfrm>
            <a:off x="677333" y="210666"/>
            <a:ext cx="8596668" cy="1320800"/>
          </a:xfrm>
        </p:spPr>
        <p:txBody>
          <a:bodyPr/>
          <a:lstStyle/>
          <a:p>
            <a:r>
              <a:rPr lang="en-IN" dirty="0"/>
              <a:t>TECHNIQUE OF INTERPRETATION</a:t>
            </a:r>
          </a:p>
        </p:txBody>
      </p:sp>
      <p:sp>
        <p:nvSpPr>
          <p:cNvPr id="3" name="Content Placeholder 2">
            <a:extLst>
              <a:ext uri="{FF2B5EF4-FFF2-40B4-BE49-F238E27FC236}">
                <a16:creationId xmlns:a16="http://schemas.microsoft.com/office/drawing/2014/main" id="{6BE1F88C-A146-1D73-20F3-C5AF50FF9CD9}"/>
              </a:ext>
            </a:extLst>
          </p:cNvPr>
          <p:cNvSpPr>
            <a:spLocks noGrp="1"/>
          </p:cNvSpPr>
          <p:nvPr>
            <p:ph idx="1"/>
          </p:nvPr>
        </p:nvSpPr>
        <p:spPr>
          <a:xfrm>
            <a:off x="677334" y="990599"/>
            <a:ext cx="9358206" cy="5656735"/>
          </a:xfrm>
        </p:spPr>
        <p:txBody>
          <a:bodyPr>
            <a:noAutofit/>
          </a:bodyPr>
          <a:lstStyle/>
          <a:p>
            <a:pPr marL="0" indent="0" algn="just">
              <a:buNone/>
            </a:pPr>
            <a:r>
              <a:rPr lang="en-US" sz="2400" b="1" dirty="0">
                <a:latin typeface="Calibri" panose="020F0502020204030204" pitchFamily="34" charset="0"/>
                <a:ea typeface="Calibri" panose="020F0502020204030204" pitchFamily="34" charset="0"/>
                <a:cs typeface="Calibri" panose="020F0502020204030204" pitchFamily="34" charset="0"/>
              </a:rPr>
              <a:t>Interpretation is an art that one learns through practice and experience. </a:t>
            </a:r>
          </a:p>
          <a:p>
            <a:pPr marL="0" indent="0" algn="just">
              <a:buNone/>
            </a:pPr>
            <a:r>
              <a:rPr lang="en-US" sz="2400" dirty="0">
                <a:latin typeface="Calibri" panose="020F0502020204030204" pitchFamily="34" charset="0"/>
                <a:ea typeface="Calibri" panose="020F0502020204030204" pitchFamily="34" charset="0"/>
                <a:cs typeface="Calibri" panose="020F0502020204030204" pitchFamily="34" charset="0"/>
              </a:rPr>
              <a:t>The steps in interpretation:</a:t>
            </a:r>
          </a:p>
          <a:p>
            <a:pPr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Researcher must give reasonable explanations for the relations derived.</a:t>
            </a:r>
          </a:p>
          <a:p>
            <a:pPr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Additional information, collected during the study, must be considered.</a:t>
            </a:r>
          </a:p>
          <a:p>
            <a:pPr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Before the final interpretation it is advisable to consult someone having insight into the study. </a:t>
            </a:r>
          </a:p>
          <a:p>
            <a:pPr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person need to be frank and honest enough to point out omissions and errors. </a:t>
            </a:r>
          </a:p>
          <a:p>
            <a:pPr algn="just">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Must consider all relevant factors affecting the problem to avoid false generalization. (Never hurry)</a:t>
            </a:r>
          </a:p>
        </p:txBody>
      </p:sp>
    </p:spTree>
    <p:extLst>
      <p:ext uri="{BB962C8B-B14F-4D97-AF65-F5344CB8AC3E}">
        <p14:creationId xmlns:p14="http://schemas.microsoft.com/office/powerpoint/2010/main" val="758504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06612B-F48B-A677-3857-E93AE1B3DC68}"/>
              </a:ext>
            </a:extLst>
          </p:cNvPr>
          <p:cNvSpPr>
            <a:spLocks noGrp="1"/>
          </p:cNvSpPr>
          <p:nvPr>
            <p:ph type="title"/>
          </p:nvPr>
        </p:nvSpPr>
        <p:spPr/>
        <p:txBody>
          <a:bodyPr/>
          <a:lstStyle/>
          <a:p>
            <a:endParaRPr lang="en-IN"/>
          </a:p>
        </p:txBody>
      </p:sp>
      <p:pic>
        <p:nvPicPr>
          <p:cNvPr id="9" name="Picture 8" descr="A person writing on a notebook&#10;&#10;Description automatically generated">
            <a:extLst>
              <a:ext uri="{FF2B5EF4-FFF2-40B4-BE49-F238E27FC236}">
                <a16:creationId xmlns:a16="http://schemas.microsoft.com/office/drawing/2014/main" id="{15BBBD37-C19D-8362-8D28-3A293C1B9366}"/>
              </a:ext>
            </a:extLst>
          </p:cNvPr>
          <p:cNvPicPr>
            <a:picLocks noChangeAspect="1"/>
          </p:cNvPicPr>
          <p:nvPr/>
        </p:nvPicPr>
        <p:blipFill rotWithShape="1">
          <a:blip r:embed="rId2">
            <a:extLst>
              <a:ext uri="{28A0092B-C50C-407E-A947-70E740481C1C}">
                <a14:useLocalDpi xmlns:a14="http://schemas.microsoft.com/office/drawing/2010/main" val="0"/>
              </a:ext>
            </a:extLst>
          </a:blip>
          <a:srcRect l="7053" t="6984" r="18661" b="4616"/>
          <a:stretch/>
        </p:blipFill>
        <p:spPr>
          <a:xfrm>
            <a:off x="0" y="0"/>
            <a:ext cx="12192000" cy="6858000"/>
          </a:xfrm>
          <a:prstGeom prst="rect">
            <a:avLst/>
          </a:prstGeom>
        </p:spPr>
      </p:pic>
    </p:spTree>
    <p:extLst>
      <p:ext uri="{BB962C8B-B14F-4D97-AF65-F5344CB8AC3E}">
        <p14:creationId xmlns:p14="http://schemas.microsoft.com/office/powerpoint/2010/main" val="1508345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9" name="Picture 8" descr="A child writing on a book&#10;&#10;Description automatically generated">
            <a:extLst>
              <a:ext uri="{FF2B5EF4-FFF2-40B4-BE49-F238E27FC236}">
                <a16:creationId xmlns:a16="http://schemas.microsoft.com/office/drawing/2014/main" id="{D7CD5401-FB9B-C669-1DF2-E9EB8E0BDE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2129" y="1691640"/>
            <a:ext cx="5139871" cy="5006659"/>
          </a:xfrm>
          <a:prstGeom prst="rect">
            <a:avLst/>
          </a:prstGeom>
        </p:spPr>
      </p:pic>
      <p:sp>
        <p:nvSpPr>
          <p:cNvPr id="2" name="Title 1">
            <a:extLst>
              <a:ext uri="{FF2B5EF4-FFF2-40B4-BE49-F238E27FC236}">
                <a16:creationId xmlns:a16="http://schemas.microsoft.com/office/drawing/2014/main" id="{3C2268D3-24B5-EDEA-BB3C-915F8CA4A5DD}"/>
              </a:ext>
            </a:extLst>
          </p:cNvPr>
          <p:cNvSpPr>
            <a:spLocks noGrp="1"/>
          </p:cNvSpPr>
          <p:nvPr>
            <p:ph type="title"/>
          </p:nvPr>
        </p:nvSpPr>
        <p:spPr>
          <a:xfrm>
            <a:off x="1796886" y="0"/>
            <a:ext cx="5849784" cy="1320800"/>
          </a:xfrm>
        </p:spPr>
        <p:txBody>
          <a:bodyPr anchor="ctr">
            <a:normAutofit/>
          </a:bodyPr>
          <a:lstStyle/>
          <a:p>
            <a:pPr algn="ctr"/>
            <a:r>
              <a:rPr lang="en-US" sz="3300" b="1" dirty="0"/>
              <a:t>STEPS IN WRITING REPORT</a:t>
            </a:r>
            <a:endParaRPr lang="en-IN" sz="3300" b="1" dirty="0"/>
          </a:p>
        </p:txBody>
      </p:sp>
      <p:sp>
        <p:nvSpPr>
          <p:cNvPr id="3" name="Content Placeholder 2">
            <a:extLst>
              <a:ext uri="{FF2B5EF4-FFF2-40B4-BE49-F238E27FC236}">
                <a16:creationId xmlns:a16="http://schemas.microsoft.com/office/drawing/2014/main" id="{2114EDE9-3948-CC50-903B-19424433DAB9}"/>
              </a:ext>
            </a:extLst>
          </p:cNvPr>
          <p:cNvSpPr>
            <a:spLocks noGrp="1"/>
          </p:cNvSpPr>
          <p:nvPr>
            <p:ph idx="1"/>
          </p:nvPr>
        </p:nvSpPr>
        <p:spPr>
          <a:xfrm>
            <a:off x="685165" y="1611630"/>
            <a:ext cx="6812915" cy="4869179"/>
          </a:xfrm>
        </p:spPr>
        <p:txBody>
          <a:bodyPr>
            <a:noAutofit/>
          </a:bodyPr>
          <a:lstStyle/>
          <a:p>
            <a:pPr marL="0" indent="0" algn="just">
              <a:lnSpc>
                <a:spcPct val="90000"/>
              </a:lnSpc>
              <a:buNone/>
            </a:pPr>
            <a:r>
              <a:rPr lang="en-US" sz="2800" dirty="0">
                <a:latin typeface="Calibri" panose="020F0502020204030204" pitchFamily="34" charset="0"/>
                <a:ea typeface="Calibri" panose="020F0502020204030204" pitchFamily="34" charset="0"/>
                <a:cs typeface="Calibri" panose="020F0502020204030204" pitchFamily="34" charset="0"/>
              </a:rPr>
              <a:t>The usual steps involved in writing report are:</a:t>
            </a:r>
          </a:p>
          <a:p>
            <a:pPr marL="0" indent="0" algn="just">
              <a:lnSpc>
                <a:spcPct val="90000"/>
              </a:lnSpc>
              <a:buNone/>
            </a:pPr>
            <a:r>
              <a:rPr lang="en-US" sz="2800" dirty="0">
                <a:latin typeface="Calibri" panose="020F0502020204030204" pitchFamily="34" charset="0"/>
                <a:ea typeface="Calibri" panose="020F0502020204030204" pitchFamily="34" charset="0"/>
                <a:cs typeface="Calibri" panose="020F0502020204030204" pitchFamily="34" charset="0"/>
              </a:rPr>
              <a:t> </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Logical analysis of the subject-matter</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Preparation of the final outline</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Preparation of the rough draft</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Rewriting and polishing</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Preparation of the final bibliography</a:t>
            </a:r>
          </a:p>
          <a:p>
            <a:pPr algn="just">
              <a:lnSpc>
                <a:spcPct val="90000"/>
              </a:lnSpc>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Writing the final draft</a:t>
            </a:r>
          </a:p>
          <a:p>
            <a:pPr algn="just">
              <a:lnSpc>
                <a:spcPct val="90000"/>
              </a:lnSpc>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8428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C95897-4ECE-3F47-6FF6-E247DEFAA57D}"/>
              </a:ext>
            </a:extLst>
          </p:cNvPr>
          <p:cNvSpPr>
            <a:spLocks noGrp="1"/>
          </p:cNvSpPr>
          <p:nvPr>
            <p:ph idx="1"/>
          </p:nvPr>
        </p:nvSpPr>
        <p:spPr>
          <a:xfrm>
            <a:off x="677334" y="308611"/>
            <a:ext cx="8706696" cy="6446519"/>
          </a:xfrm>
        </p:spPr>
        <p:txBody>
          <a:bodyPr>
            <a:noAutofit/>
          </a:bodyPr>
          <a:lstStyle/>
          <a:p>
            <a:pPr marL="0" indent="0" algn="just">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1. LOGICAL ANALYSIS OF THE SUBJECT-MATTER</a:t>
            </a:r>
          </a:p>
          <a:p>
            <a:pPr marL="0" indent="0" algn="just">
              <a:buNone/>
            </a:pPr>
            <a:r>
              <a:rPr lang="en-US" sz="2400" dirty="0">
                <a:latin typeface="Calibri" panose="020F0502020204030204" pitchFamily="34" charset="0"/>
                <a:ea typeface="Calibri" panose="020F0502020204030204" pitchFamily="34" charset="0"/>
                <a:cs typeface="Calibri" panose="020F0502020204030204" pitchFamily="34" charset="0"/>
              </a:rPr>
              <a:t>Logical analysis is concerned with the development of a subject logically or chronologically.</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Logical Development: </a:t>
            </a:r>
            <a:r>
              <a:rPr lang="en-US" sz="2400" dirty="0">
                <a:latin typeface="Calibri" panose="020F0502020204030204" pitchFamily="34" charset="0"/>
                <a:ea typeface="Calibri" panose="020F0502020204030204" pitchFamily="34" charset="0"/>
                <a:cs typeface="Calibri" panose="020F0502020204030204" pitchFamily="34" charset="0"/>
              </a:rPr>
              <a:t>The logical development is made based on mental connections and associations between the one thing and another by means of analysis. </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Chronological Development: </a:t>
            </a:r>
            <a:r>
              <a:rPr lang="en-US" sz="2400" dirty="0">
                <a:latin typeface="Calibri" panose="020F0502020204030204" pitchFamily="34" charset="0"/>
                <a:ea typeface="Calibri" panose="020F0502020204030204" pitchFamily="34" charset="0"/>
                <a:cs typeface="Calibri" panose="020F0502020204030204" pitchFamily="34" charset="0"/>
              </a:rPr>
              <a:t>It is based on a connection or sequence in time or occurrence. </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2. PREPARATION OF THE FINAL OUTLINE</a:t>
            </a:r>
          </a:p>
          <a:p>
            <a:pPr algn="just"/>
            <a:r>
              <a:rPr lang="en-US" sz="2400" dirty="0">
                <a:latin typeface="Calibri" panose="020F0502020204030204" pitchFamily="34" charset="0"/>
                <a:ea typeface="Calibri" panose="020F0502020204030204" pitchFamily="34" charset="0"/>
                <a:cs typeface="Calibri" panose="020F0502020204030204" pitchFamily="34" charset="0"/>
              </a:rPr>
              <a:t>Outlines are the framework upon which long written works are constructed. </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They are an aid to the logical organization of the material.</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They act as a reminder of the points to be stressed in the report.</a:t>
            </a:r>
            <a:endParaRPr lang="en-IN" sz="2400" dirty="0"/>
          </a:p>
        </p:txBody>
      </p:sp>
    </p:spTree>
    <p:extLst>
      <p:ext uri="{BB962C8B-B14F-4D97-AF65-F5344CB8AC3E}">
        <p14:creationId xmlns:p14="http://schemas.microsoft.com/office/powerpoint/2010/main" val="2184652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91EAE-EC9E-12F4-FD7D-BCA287088372}"/>
              </a:ext>
            </a:extLst>
          </p:cNvPr>
          <p:cNvSpPr>
            <a:spLocks noGrp="1"/>
          </p:cNvSpPr>
          <p:nvPr>
            <p:ph idx="1"/>
          </p:nvPr>
        </p:nvSpPr>
        <p:spPr>
          <a:xfrm>
            <a:off x="654474" y="674529"/>
            <a:ext cx="8596668" cy="5508941"/>
          </a:xfrm>
        </p:spPr>
        <p:txBody>
          <a:bodyPr>
            <a:noAutofit/>
          </a:bodyPr>
          <a:lstStyle/>
          <a:p>
            <a:pPr marL="0" indent="0">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3. PREPARATION OF THE ROUGH DRAFT</a:t>
            </a:r>
          </a:p>
          <a:p>
            <a:r>
              <a:rPr lang="en-US" sz="2400" dirty="0">
                <a:latin typeface="Calibri" panose="020F0502020204030204" pitchFamily="34" charset="0"/>
                <a:ea typeface="Calibri" panose="020F0502020204030204" pitchFamily="34" charset="0"/>
                <a:cs typeface="Calibri" panose="020F0502020204030204" pitchFamily="34" charset="0"/>
              </a:rPr>
              <a:t>The researcher roughly writes down what he has done in the context of his research study.</a:t>
            </a:r>
          </a:p>
          <a:p>
            <a:r>
              <a:rPr lang="en-US" sz="2400" dirty="0">
                <a:latin typeface="Calibri" panose="020F0502020204030204" pitchFamily="34" charset="0"/>
                <a:ea typeface="Calibri" panose="020F0502020204030204" pitchFamily="34" charset="0"/>
                <a:cs typeface="Calibri" panose="020F0502020204030204" pitchFamily="34" charset="0"/>
              </a:rPr>
              <a:t> He will write down the procedure adopted by him for </a:t>
            </a:r>
          </a:p>
          <a:p>
            <a:pPr lvl="1">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Sampling</a:t>
            </a:r>
          </a:p>
          <a:p>
            <a:pPr lvl="1">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Data collection.</a:t>
            </a:r>
          </a:p>
          <a:p>
            <a:pPr lvl="1">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Techniques for Data Analysis.</a:t>
            </a:r>
          </a:p>
          <a:p>
            <a:r>
              <a:rPr lang="en-US" sz="2400" dirty="0">
                <a:latin typeface="Calibri" panose="020F0502020204030204" pitchFamily="34" charset="0"/>
                <a:ea typeface="Calibri" panose="020F0502020204030204" pitchFamily="34" charset="0"/>
                <a:cs typeface="Calibri" panose="020F0502020204030204" pitchFamily="34" charset="0"/>
              </a:rPr>
              <a:t>Limitations faced by the researcher.</a:t>
            </a:r>
          </a:p>
          <a:p>
            <a:r>
              <a:rPr lang="en-US" sz="2400" dirty="0">
                <a:latin typeface="Calibri" panose="020F0502020204030204" pitchFamily="34" charset="0"/>
                <a:ea typeface="Calibri" panose="020F0502020204030204" pitchFamily="34" charset="0"/>
                <a:cs typeface="Calibri" panose="020F0502020204030204" pitchFamily="34" charset="0"/>
              </a:rPr>
              <a:t>Broad findings and generalizations with respect to the study.</a:t>
            </a:r>
          </a:p>
          <a:p>
            <a:r>
              <a:rPr lang="en-US" sz="2400" dirty="0">
                <a:latin typeface="Calibri" panose="020F0502020204030204" pitchFamily="34" charset="0"/>
                <a:ea typeface="Calibri" panose="020F0502020204030204" pitchFamily="34" charset="0"/>
                <a:cs typeface="Calibri" panose="020F0502020204030204" pitchFamily="34" charset="0"/>
              </a:rPr>
              <a:t>Various suggestions he wants to offer regarding the problem concerned. </a:t>
            </a:r>
          </a:p>
        </p:txBody>
      </p:sp>
    </p:spTree>
    <p:extLst>
      <p:ext uri="{BB962C8B-B14F-4D97-AF65-F5344CB8AC3E}">
        <p14:creationId xmlns:p14="http://schemas.microsoft.com/office/powerpoint/2010/main" val="4148920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C3B195-7EFA-7EE1-A48A-7579C3BDC2E5}"/>
              </a:ext>
            </a:extLst>
          </p:cNvPr>
          <p:cNvSpPr>
            <a:spLocks noGrp="1"/>
          </p:cNvSpPr>
          <p:nvPr>
            <p:ph idx="1"/>
          </p:nvPr>
        </p:nvSpPr>
        <p:spPr>
          <a:xfrm>
            <a:off x="723054" y="651829"/>
            <a:ext cx="8596668" cy="5828981"/>
          </a:xfrm>
        </p:spPr>
        <p:txBody>
          <a:bodyPr>
            <a:noAutofit/>
          </a:bodyPr>
          <a:lstStyle/>
          <a:p>
            <a:pPr marL="0" indent="0" algn="just">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4.</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REWRITING AND POLISHING</a:t>
            </a:r>
          </a:p>
          <a:p>
            <a:pPr algn="just"/>
            <a:r>
              <a:rPr lang="en-US" sz="2400" dirty="0">
                <a:latin typeface="Calibri" panose="020F0502020204030204" pitchFamily="34" charset="0"/>
                <a:ea typeface="Calibri" panose="020F0502020204030204" pitchFamily="34" charset="0"/>
                <a:cs typeface="Calibri" panose="020F0502020204030204" pitchFamily="34" charset="0"/>
              </a:rPr>
              <a:t>This is the most difficult part of all formal writing and requires more time.</a:t>
            </a:r>
          </a:p>
          <a:p>
            <a:pPr algn="just"/>
            <a:r>
              <a:rPr lang="en-US" sz="2400" dirty="0">
                <a:latin typeface="Calibri" panose="020F0502020204030204" pitchFamily="34" charset="0"/>
                <a:ea typeface="Calibri" panose="020F0502020204030204" pitchFamily="34" charset="0"/>
                <a:cs typeface="Calibri" panose="020F0502020204030204" pitchFamily="34" charset="0"/>
              </a:rPr>
              <a:t>Check the report for weaknesses in the presentation. </a:t>
            </a:r>
          </a:p>
          <a:p>
            <a:pPr algn="just"/>
            <a:r>
              <a:rPr lang="en-US" sz="2400" dirty="0">
                <a:latin typeface="Calibri" panose="020F0502020204030204" pitchFamily="34" charset="0"/>
                <a:ea typeface="Calibri" panose="020F0502020204030204" pitchFamily="34" charset="0"/>
                <a:cs typeface="Calibri" panose="020F0502020204030204" pitchFamily="34" charset="0"/>
              </a:rPr>
              <a:t>He should check the mechanics of writing—grammar, spelling and usage. </a:t>
            </a:r>
          </a:p>
          <a:p>
            <a:pPr marL="0" indent="0">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5. PREPARATION OF THE FINAL BIBLIOGRAPHY</a:t>
            </a:r>
          </a:p>
          <a:p>
            <a:r>
              <a:rPr lang="en-US" sz="2400" b="1" dirty="0">
                <a:latin typeface="Calibri" panose="020F0502020204030204" pitchFamily="34" charset="0"/>
                <a:ea typeface="Calibri" panose="020F0502020204030204" pitchFamily="34" charset="0"/>
                <a:cs typeface="Calibri" panose="020F0502020204030204" pitchFamily="34" charset="0"/>
              </a:rPr>
              <a:t>Bibliography</a:t>
            </a:r>
            <a:r>
              <a:rPr lang="en-US" sz="2400" dirty="0">
                <a:latin typeface="Calibri" panose="020F0502020204030204" pitchFamily="34" charset="0"/>
                <a:ea typeface="Calibri" panose="020F0502020204030204" pitchFamily="34" charset="0"/>
                <a:cs typeface="Calibri" panose="020F0502020204030204" pitchFamily="34" charset="0"/>
              </a:rPr>
              <a:t> is a list of books or works referenced by the researcher. </a:t>
            </a:r>
          </a:p>
          <a:p>
            <a:r>
              <a:rPr lang="en-US" sz="2400" dirty="0">
                <a:latin typeface="Calibri" panose="020F0502020204030204" pitchFamily="34" charset="0"/>
                <a:ea typeface="Calibri" panose="020F0502020204030204" pitchFamily="34" charset="0"/>
                <a:cs typeface="Calibri" panose="020F0502020204030204" pitchFamily="34" charset="0"/>
              </a:rPr>
              <a:t>The bibliography should be arranged alphabetically.</a:t>
            </a:r>
          </a:p>
          <a:p>
            <a:pPr marL="914400" lvl="1"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Part1 :</a:t>
            </a:r>
            <a:r>
              <a:rPr lang="en-US" sz="2400" dirty="0">
                <a:latin typeface="Calibri" panose="020F0502020204030204" pitchFamily="34" charset="0"/>
                <a:ea typeface="Calibri" panose="020F0502020204030204" pitchFamily="34" charset="0"/>
                <a:cs typeface="Calibri" panose="020F0502020204030204" pitchFamily="34" charset="0"/>
              </a:rPr>
              <a:t> Names of books and pamphlets.</a:t>
            </a:r>
          </a:p>
          <a:p>
            <a:pPr marL="914400" lvl="1"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Part 2 :</a:t>
            </a:r>
            <a:r>
              <a:rPr lang="en-US" sz="2400" dirty="0">
                <a:latin typeface="Calibri" panose="020F0502020204030204" pitchFamily="34" charset="0"/>
                <a:ea typeface="Calibri" panose="020F0502020204030204" pitchFamily="34" charset="0"/>
                <a:cs typeface="Calibri" panose="020F0502020204030204" pitchFamily="34" charset="0"/>
              </a:rPr>
              <a:t> Names of magazine and newspaper articles.</a:t>
            </a:r>
            <a:endPar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0380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B7309-952B-DA10-2191-C0AAF89BDF8D}"/>
              </a:ext>
            </a:extLst>
          </p:cNvPr>
          <p:cNvSpPr>
            <a:spLocks noGrp="1"/>
          </p:cNvSpPr>
          <p:nvPr>
            <p:ph type="title"/>
          </p:nvPr>
        </p:nvSpPr>
        <p:spPr>
          <a:xfrm>
            <a:off x="2231814" y="162243"/>
            <a:ext cx="8596668" cy="1320800"/>
          </a:xfrm>
        </p:spPr>
        <p:txBody>
          <a:bodyPr/>
          <a:lstStyle/>
          <a:p>
            <a:r>
              <a:rPr lang="en-US" b="1" dirty="0"/>
              <a:t>BIBLIOGRAPHY ENTRY FORMAT</a:t>
            </a:r>
            <a:endParaRPr lang="en-IN" b="1" dirty="0"/>
          </a:p>
        </p:txBody>
      </p:sp>
      <p:sp>
        <p:nvSpPr>
          <p:cNvPr id="3" name="Content Placeholder 2">
            <a:extLst>
              <a:ext uri="{FF2B5EF4-FFF2-40B4-BE49-F238E27FC236}">
                <a16:creationId xmlns:a16="http://schemas.microsoft.com/office/drawing/2014/main" id="{F0406622-31B9-E0C1-2CF3-3649E556F1CC}"/>
              </a:ext>
            </a:extLst>
          </p:cNvPr>
          <p:cNvSpPr>
            <a:spLocks noGrp="1"/>
          </p:cNvSpPr>
          <p:nvPr>
            <p:ph idx="1"/>
          </p:nvPr>
        </p:nvSpPr>
        <p:spPr>
          <a:xfrm>
            <a:off x="677334" y="1060133"/>
            <a:ext cx="10364046" cy="1468755"/>
          </a:xfrm>
        </p:spPr>
        <p:txBody>
          <a:bodyPr>
            <a:no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The bibliography entries can have more than one acceptable form, but importantly it must remain consistent.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58C08C3F-2DF5-E425-9F5E-E091FA3C28B6}"/>
              </a:ext>
            </a:extLst>
          </p:cNvPr>
          <p:cNvGraphicFramePr>
            <a:graphicFrameLocks noGrp="1"/>
          </p:cNvGraphicFramePr>
          <p:nvPr>
            <p:extLst>
              <p:ext uri="{D42A27DB-BD31-4B8C-83A1-F6EECF244321}">
                <p14:modId xmlns:p14="http://schemas.microsoft.com/office/powerpoint/2010/main" val="3016237385"/>
              </p:ext>
            </p:extLst>
          </p:nvPr>
        </p:nvGraphicFramePr>
        <p:xfrm>
          <a:off x="467043" y="1905953"/>
          <a:ext cx="11257914" cy="4297680"/>
        </p:xfrm>
        <a:graphic>
          <a:graphicData uri="http://schemas.openxmlformats.org/drawingml/2006/table">
            <a:tbl>
              <a:tblPr firstRow="1" bandRow="1">
                <a:tableStyleId>{0E3FDE45-AF77-4B5C-9715-49D594BDF05E}</a:tableStyleId>
              </a:tblPr>
              <a:tblGrid>
                <a:gridCol w="5430837">
                  <a:extLst>
                    <a:ext uri="{9D8B030D-6E8A-4147-A177-3AD203B41FA5}">
                      <a16:colId xmlns:a16="http://schemas.microsoft.com/office/drawing/2014/main" val="168687533"/>
                    </a:ext>
                  </a:extLst>
                </a:gridCol>
                <a:gridCol w="5827077">
                  <a:extLst>
                    <a:ext uri="{9D8B030D-6E8A-4147-A177-3AD203B41FA5}">
                      <a16:colId xmlns:a16="http://schemas.microsoft.com/office/drawing/2014/main" val="2505114111"/>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dirty="0">
                          <a:solidFill>
                            <a:schemeClr val="accent1">
                              <a:lumMod val="75000"/>
                            </a:schemeClr>
                          </a:solidFill>
                        </a:rPr>
                        <a:t>FOR BOOKS AND PAMPHLETS </a:t>
                      </a:r>
                    </a:p>
                    <a:p>
                      <a:pPr algn="ctr"/>
                      <a:endParaRPr lang="en-IN" sz="24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dirty="0">
                          <a:solidFill>
                            <a:schemeClr val="accent1">
                              <a:lumMod val="75000"/>
                            </a:schemeClr>
                          </a:solidFill>
                        </a:rPr>
                        <a:t>FOR MAGAZINES AND NEWSPAPERS </a:t>
                      </a:r>
                    </a:p>
                    <a:p>
                      <a:pPr algn="ctr"/>
                      <a:endParaRPr lang="en-IN" sz="24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9032236"/>
                  </a:ext>
                </a:extLst>
              </a:tr>
              <a:tr h="370840">
                <a:tc>
                  <a:txBody>
                    <a:bodyPr/>
                    <a:lstStyle/>
                    <a:p>
                      <a:pPr algn="l">
                        <a:buFont typeface="+mj-lt"/>
                        <a:buAutoNum type="arabicPeriod"/>
                      </a:pPr>
                      <a:r>
                        <a:rPr lang="en-US" sz="2400" dirty="0"/>
                        <a:t>Name of author, </a:t>
                      </a:r>
                      <a:r>
                        <a:rPr lang="en-US" sz="2400" b="1" dirty="0"/>
                        <a:t>last name first</a:t>
                      </a:r>
                      <a:r>
                        <a:rPr lang="en-US" sz="2400" dirty="0"/>
                        <a:t>. </a:t>
                      </a:r>
                    </a:p>
                    <a:p>
                      <a:pPr algn="l">
                        <a:buFont typeface="+mj-lt"/>
                        <a:buAutoNum type="arabicPeriod"/>
                      </a:pPr>
                      <a:r>
                        <a:rPr lang="en-US" sz="2400" dirty="0"/>
                        <a:t>Title of book, indicate italics. </a:t>
                      </a:r>
                    </a:p>
                    <a:p>
                      <a:pPr algn="l">
                        <a:buFont typeface="+mj-lt"/>
                        <a:buAutoNum type="arabicPeriod"/>
                      </a:pPr>
                      <a:r>
                        <a:rPr lang="en-US" sz="2400" dirty="0"/>
                        <a:t>Place, publisher</a:t>
                      </a:r>
                    </a:p>
                    <a:p>
                      <a:pPr algn="l">
                        <a:buFont typeface="+mj-lt"/>
                        <a:buAutoNum type="arabicPeriod"/>
                      </a:pPr>
                      <a:r>
                        <a:rPr lang="en-US" sz="2400" dirty="0"/>
                        <a:t>Date of publication. </a:t>
                      </a:r>
                    </a:p>
                    <a:p>
                      <a:pPr algn="l">
                        <a:buFont typeface="+mj-lt"/>
                        <a:buAutoNum type="arabicPeriod"/>
                      </a:pPr>
                      <a:r>
                        <a:rPr lang="en-US" sz="2400" dirty="0"/>
                        <a:t>Number of volumes.</a:t>
                      </a:r>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buFont typeface="+mj-lt"/>
                        <a:buAutoNum type="arabicPeriod"/>
                      </a:pPr>
                      <a:r>
                        <a:rPr lang="en-US" sz="2400" dirty="0"/>
                        <a:t>Name of the author</a:t>
                      </a:r>
                      <a:r>
                        <a:rPr lang="en-US" sz="2400" b="1" dirty="0"/>
                        <a:t>, last name first</a:t>
                      </a:r>
                      <a:r>
                        <a:rPr lang="en-US" sz="2400" dirty="0"/>
                        <a:t>.</a:t>
                      </a:r>
                    </a:p>
                    <a:p>
                      <a:pPr algn="l">
                        <a:buFont typeface="+mj-lt"/>
                        <a:buAutoNum type="arabicPeriod"/>
                      </a:pPr>
                      <a:r>
                        <a:rPr lang="en-US" sz="2400" dirty="0"/>
                        <a:t>Title of article, in quotation marks.</a:t>
                      </a:r>
                    </a:p>
                    <a:p>
                      <a:pPr algn="l">
                        <a:buFont typeface="+mj-lt"/>
                        <a:buAutoNum type="arabicPeriod"/>
                      </a:pPr>
                      <a:r>
                        <a:rPr lang="en-US" sz="2400" dirty="0"/>
                        <a:t> Name of periodical.</a:t>
                      </a:r>
                    </a:p>
                    <a:p>
                      <a:pPr algn="l">
                        <a:buFont typeface="+mj-lt"/>
                        <a:buAutoNum type="arabicPeriod"/>
                      </a:pPr>
                      <a:r>
                        <a:rPr lang="en-US" sz="2400" dirty="0"/>
                        <a:t>The volume number. </a:t>
                      </a:r>
                    </a:p>
                    <a:p>
                      <a:pPr algn="l">
                        <a:buFont typeface="+mj-lt"/>
                        <a:buAutoNum type="arabicPeriod"/>
                      </a:pPr>
                      <a:r>
                        <a:rPr lang="en-US" sz="2400" dirty="0"/>
                        <a:t>The date of the issue. </a:t>
                      </a:r>
                    </a:p>
                    <a:p>
                      <a:pPr algn="l">
                        <a:buFont typeface="+mj-lt"/>
                        <a:buAutoNum type="arabicPeriod"/>
                      </a:pPr>
                      <a:r>
                        <a:rPr lang="en-US" sz="2400" dirty="0"/>
                        <a:t>The pagination.</a:t>
                      </a:r>
                      <a:endParaRPr lang="en-US" sz="2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689966134"/>
                  </a:ext>
                </a:extLst>
              </a:tr>
              <a:tr h="370840">
                <a:tc>
                  <a:txBody>
                    <a:bodyPr/>
                    <a:lstStyle/>
                    <a:p>
                      <a:pPr algn="l"/>
                      <a:r>
                        <a:rPr lang="en-IN" sz="1800" dirty="0"/>
                        <a:t>Example </a:t>
                      </a:r>
                    </a:p>
                    <a:p>
                      <a:pPr algn="l"/>
                      <a:r>
                        <a:rPr lang="en-IN" sz="1800" dirty="0"/>
                        <a:t>Kothari, C.R., </a:t>
                      </a:r>
                      <a:r>
                        <a:rPr lang="en-IN" sz="1800" i="1" dirty="0"/>
                        <a:t>Quantitative Techniques</a:t>
                      </a:r>
                      <a:r>
                        <a:rPr lang="en-IN" sz="1800" dirty="0"/>
                        <a:t>, New Delhi, Vikas Publishing House </a:t>
                      </a:r>
                      <a:r>
                        <a:rPr lang="en-IN" sz="1800" dirty="0" err="1"/>
                        <a:t>Pvt.</a:t>
                      </a:r>
                      <a:r>
                        <a:rPr lang="en-IN" sz="1800" dirty="0"/>
                        <a:t> Ltd., 1978.</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sz="1800" dirty="0"/>
                        <a:t>Example </a:t>
                      </a:r>
                    </a:p>
                    <a:p>
                      <a:pPr algn="l"/>
                      <a:r>
                        <a:rPr lang="en-US" sz="1800" dirty="0"/>
                        <a:t>Robert V. </a:t>
                      </a:r>
                      <a:r>
                        <a:rPr lang="en-US" sz="1800" dirty="0" err="1"/>
                        <a:t>Roosa</a:t>
                      </a:r>
                      <a:r>
                        <a:rPr lang="en-US" sz="1800" dirty="0"/>
                        <a:t>, “Coping with Short-term International Money Flows”, </a:t>
                      </a:r>
                      <a:r>
                        <a:rPr lang="en-US" sz="1800" i="1" dirty="0"/>
                        <a:t>The Banker</a:t>
                      </a:r>
                      <a:r>
                        <a:rPr lang="en-US" sz="1800" dirty="0"/>
                        <a:t>, London, September 1971, p. 995</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81777892"/>
                  </a:ext>
                </a:extLst>
              </a:tr>
            </a:tbl>
          </a:graphicData>
        </a:graphic>
      </p:graphicFrame>
    </p:spTree>
    <p:extLst>
      <p:ext uri="{BB962C8B-B14F-4D97-AF65-F5344CB8AC3E}">
        <p14:creationId xmlns:p14="http://schemas.microsoft.com/office/powerpoint/2010/main" val="1423473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FB52B-B887-7A84-E772-76AE7A7FCFE3}"/>
              </a:ext>
            </a:extLst>
          </p:cNvPr>
          <p:cNvSpPr>
            <a:spLocks noGrp="1"/>
          </p:cNvSpPr>
          <p:nvPr>
            <p:ph idx="1"/>
          </p:nvPr>
        </p:nvSpPr>
        <p:spPr>
          <a:xfrm>
            <a:off x="677334" y="594679"/>
            <a:ext cx="9369636" cy="6011861"/>
          </a:xfrm>
        </p:spPr>
        <p:txBody>
          <a:bodyPr>
            <a:noAutofit/>
          </a:bodyPr>
          <a:lstStyle/>
          <a:p>
            <a:pPr marL="0" indent="0" algn="just">
              <a:buNone/>
            </a:pPr>
            <a:r>
              <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6. WRITING THE FINAL DRAFT</a:t>
            </a:r>
          </a:p>
          <a:p>
            <a:pPr marL="0" indent="0" algn="just">
              <a:buNone/>
            </a:pPr>
            <a:endPar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The final draft is the most effective in communicating the research findings to others. </a:t>
            </a:r>
            <a:endParaRPr lang="en-US"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It should be written in concise and objective style and in simple language.</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report should avoid vague expressions such as “it seems”, “there may be” etc.</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researcher must avoid abstract terminology (hard to understand).</a:t>
            </a:r>
          </a:p>
          <a:p>
            <a:pPr algn="just"/>
            <a:r>
              <a:rPr lang="en-US" sz="2400" dirty="0">
                <a:latin typeface="Calibri" panose="020F0502020204030204" pitchFamily="34" charset="0"/>
                <a:ea typeface="Calibri" panose="020F0502020204030204" pitchFamily="34" charset="0"/>
                <a:cs typeface="Calibri" panose="020F0502020204030204" pitchFamily="34" charset="0"/>
              </a:rPr>
              <a:t>A research report should not be dull, It needs to maintain interest for the reader.</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report must have originality. </a:t>
            </a:r>
          </a:p>
        </p:txBody>
      </p:sp>
    </p:spTree>
    <p:extLst>
      <p:ext uri="{BB962C8B-B14F-4D97-AF65-F5344CB8AC3E}">
        <p14:creationId xmlns:p14="http://schemas.microsoft.com/office/powerpoint/2010/main" val="3656804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67B4-A0CE-4F96-7662-7EE36B296A16}"/>
              </a:ext>
            </a:extLst>
          </p:cNvPr>
          <p:cNvSpPr>
            <a:spLocks noGrp="1"/>
          </p:cNvSpPr>
          <p:nvPr>
            <p:ph type="title"/>
          </p:nvPr>
        </p:nvSpPr>
        <p:spPr>
          <a:xfrm>
            <a:off x="677334" y="419128"/>
            <a:ext cx="8596668" cy="1320800"/>
          </a:xfrm>
        </p:spPr>
        <p:txBody>
          <a:bodyPr/>
          <a:lstStyle/>
          <a:p>
            <a:r>
              <a:rPr lang="en-US" dirty="0"/>
              <a:t>LAYOUT OF THE RESEARCH REPORT</a:t>
            </a:r>
            <a:endParaRPr lang="en-IN" dirty="0"/>
          </a:p>
        </p:txBody>
      </p:sp>
      <p:sp>
        <p:nvSpPr>
          <p:cNvPr id="3" name="Content Placeholder 2">
            <a:extLst>
              <a:ext uri="{FF2B5EF4-FFF2-40B4-BE49-F238E27FC236}">
                <a16:creationId xmlns:a16="http://schemas.microsoft.com/office/drawing/2014/main" id="{7997BAC8-E75B-61E5-B549-2CA90BFE1B43}"/>
              </a:ext>
            </a:extLst>
          </p:cNvPr>
          <p:cNvSpPr>
            <a:spLocks noGrp="1"/>
          </p:cNvSpPr>
          <p:nvPr>
            <p:ph idx="1"/>
          </p:nvPr>
        </p:nvSpPr>
        <p:spPr>
          <a:xfrm>
            <a:off x="473922" y="1280160"/>
            <a:ext cx="11244156" cy="4903470"/>
          </a:xfrm>
        </p:spPr>
        <p:txBody>
          <a:bodyPr numCol="2">
            <a:noAutofit/>
          </a:bodyPr>
          <a:lstStyle/>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1. PRELIMINARY PAGES</a:t>
            </a:r>
          </a:p>
          <a:p>
            <a:r>
              <a:rPr lang="en-US" sz="2400" dirty="0">
                <a:latin typeface="Calibri" panose="020F0502020204030204" pitchFamily="34" charset="0"/>
                <a:ea typeface="Calibri" panose="020F0502020204030204" pitchFamily="34" charset="0"/>
                <a:cs typeface="Calibri" panose="020F0502020204030204" pitchFamily="34" charset="0"/>
              </a:rPr>
              <a:t>Title and date</a:t>
            </a:r>
          </a:p>
          <a:p>
            <a:r>
              <a:rPr lang="en-US" sz="2400" dirty="0">
                <a:latin typeface="Calibri" panose="020F0502020204030204" pitchFamily="34" charset="0"/>
                <a:ea typeface="Calibri" panose="020F0502020204030204" pitchFamily="34" charset="0"/>
                <a:cs typeface="Calibri" panose="020F0502020204030204" pitchFamily="34" charset="0"/>
              </a:rPr>
              <a:t>Acknowledgements.</a:t>
            </a:r>
          </a:p>
          <a:p>
            <a:r>
              <a:rPr lang="en-US" sz="2400" dirty="0">
                <a:latin typeface="Calibri" panose="020F0502020204030204" pitchFamily="34" charset="0"/>
                <a:ea typeface="Calibri" panose="020F0502020204030204" pitchFamily="34" charset="0"/>
                <a:cs typeface="Calibri" panose="020F0502020204030204" pitchFamily="34" charset="0"/>
              </a:rPr>
              <a:t>Table of contents (Index) </a:t>
            </a:r>
          </a:p>
          <a:p>
            <a:r>
              <a:rPr lang="en-US" sz="2400" dirty="0">
                <a:latin typeface="Calibri" panose="020F0502020204030204" pitchFamily="34" charset="0"/>
                <a:ea typeface="Calibri" panose="020F0502020204030204" pitchFamily="34" charset="0"/>
                <a:cs typeface="Calibri" panose="020F0502020204030204" pitchFamily="34" charset="0"/>
              </a:rPr>
              <a:t>List of tables and illustrations.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2. MAIN TEXT</a:t>
            </a:r>
          </a:p>
          <a:p>
            <a:pPr marL="0" indent="0">
              <a:buNone/>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It</a:t>
            </a:r>
            <a:r>
              <a:rPr lang="en-US" sz="2400" dirty="0">
                <a:latin typeface="Calibri" panose="020F0502020204030204" pitchFamily="34" charset="0"/>
                <a:ea typeface="Calibri" panose="020F0502020204030204" pitchFamily="34" charset="0"/>
                <a:cs typeface="Calibri" panose="020F0502020204030204" pitchFamily="34" charset="0"/>
              </a:rPr>
              <a:t> provides the complete outline of the research report. Each main section of the report should begin on a new page. </a:t>
            </a:r>
          </a:p>
          <a:p>
            <a:r>
              <a:rPr lang="en-US" sz="2400" dirty="0">
                <a:latin typeface="Calibri" panose="020F0502020204030204" pitchFamily="34" charset="0"/>
                <a:ea typeface="Calibri" panose="020F0502020204030204" pitchFamily="34" charset="0"/>
                <a:cs typeface="Calibri" panose="020F0502020204030204" pitchFamily="34" charset="0"/>
              </a:rPr>
              <a:t>Introduction</a:t>
            </a: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 Statement of findings and recommendations.</a:t>
            </a:r>
          </a:p>
          <a:p>
            <a:r>
              <a:rPr lang="en-US" sz="2400" dirty="0">
                <a:latin typeface="Calibri" panose="020F0502020204030204" pitchFamily="34" charset="0"/>
                <a:ea typeface="Calibri" panose="020F0502020204030204" pitchFamily="34" charset="0"/>
                <a:cs typeface="Calibri" panose="020F0502020204030204" pitchFamily="34" charset="0"/>
              </a:rPr>
              <a:t>The results.</a:t>
            </a:r>
          </a:p>
          <a:p>
            <a:r>
              <a:rPr lang="en-US" sz="2400" dirty="0">
                <a:latin typeface="Calibri" panose="020F0502020204030204" pitchFamily="34" charset="0"/>
                <a:ea typeface="Calibri" panose="020F0502020204030204" pitchFamily="34" charset="0"/>
                <a:cs typeface="Calibri" panose="020F0502020204030204" pitchFamily="34" charset="0"/>
              </a:rPr>
              <a:t>The implications drawn from the results</a:t>
            </a:r>
          </a:p>
          <a:p>
            <a:r>
              <a:rPr lang="en-US" sz="2400" dirty="0">
                <a:latin typeface="Calibri" panose="020F0502020204030204" pitchFamily="34" charset="0"/>
                <a:ea typeface="Calibri" panose="020F0502020204030204" pitchFamily="34" charset="0"/>
                <a:cs typeface="Calibri" panose="020F0502020204030204" pitchFamily="34" charset="0"/>
              </a:rPr>
              <a:t>The summary.</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3. THE CONCLUSION (END)</a:t>
            </a:r>
          </a:p>
          <a:p>
            <a:r>
              <a:rPr lang="en-US" sz="2400" dirty="0">
                <a:latin typeface="Calibri" panose="020F0502020204030204" pitchFamily="34" charset="0"/>
                <a:ea typeface="Calibri" panose="020F0502020204030204" pitchFamily="34" charset="0"/>
                <a:cs typeface="Calibri" panose="020F0502020204030204" pitchFamily="34" charset="0"/>
              </a:rPr>
              <a:t>Appendices of all technical  or additional data.</a:t>
            </a:r>
          </a:p>
          <a:p>
            <a:r>
              <a:rPr lang="en-US" sz="2400" dirty="0">
                <a:latin typeface="Calibri" panose="020F0502020204030204" pitchFamily="34" charset="0"/>
                <a:ea typeface="Calibri" panose="020F0502020204030204" pitchFamily="34" charset="0"/>
                <a:cs typeface="Calibri" panose="020F0502020204030204" pitchFamily="34" charset="0"/>
              </a:rPr>
              <a:t>Bibliography of sources consulted. </a:t>
            </a: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400050" indent="-400050">
              <a:buFont typeface="+mj-lt"/>
              <a:buAutoNum type="arabicPeriod"/>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572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BC8B-F08F-0730-110A-CBB3680535FB}"/>
              </a:ext>
            </a:extLst>
          </p:cNvPr>
          <p:cNvSpPr>
            <a:spLocks noGrp="1"/>
          </p:cNvSpPr>
          <p:nvPr>
            <p:ph type="title"/>
          </p:nvPr>
        </p:nvSpPr>
        <p:spPr>
          <a:xfrm>
            <a:off x="780242" y="151130"/>
            <a:ext cx="5852776" cy="1320800"/>
          </a:xfrm>
        </p:spPr>
        <p:txBody>
          <a:bodyPr/>
          <a:lstStyle/>
          <a:p>
            <a:r>
              <a:rPr lang="en-US" b="1" dirty="0"/>
              <a:t>SECTIONS OF MAIN TEXT</a:t>
            </a:r>
            <a:endParaRPr lang="en-IN" b="1" dirty="0"/>
          </a:p>
        </p:txBody>
      </p:sp>
      <p:sp>
        <p:nvSpPr>
          <p:cNvPr id="3" name="Content Placeholder 2">
            <a:extLst>
              <a:ext uri="{FF2B5EF4-FFF2-40B4-BE49-F238E27FC236}">
                <a16:creationId xmlns:a16="http://schemas.microsoft.com/office/drawing/2014/main" id="{5DAE67CB-0E07-EDA7-E596-7FA2C3B42639}"/>
              </a:ext>
            </a:extLst>
          </p:cNvPr>
          <p:cNvSpPr>
            <a:spLocks noGrp="1"/>
          </p:cNvSpPr>
          <p:nvPr>
            <p:ph idx="1"/>
          </p:nvPr>
        </p:nvSpPr>
        <p:spPr>
          <a:xfrm>
            <a:off x="780242" y="1250950"/>
            <a:ext cx="8596668" cy="4566920"/>
          </a:xfrm>
        </p:spPr>
        <p:txBody>
          <a:bodyPr>
            <a:noAutofit/>
          </a:bodyPr>
          <a:lstStyle/>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1. INTRODUCTION</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Introduces the research project to the readers.</a:t>
            </a:r>
          </a:p>
          <a:p>
            <a:pPr algn="just"/>
            <a:r>
              <a:rPr lang="en-US" sz="2400" dirty="0">
                <a:latin typeface="Calibri" panose="020F0502020204030204" pitchFamily="34" charset="0"/>
                <a:ea typeface="Calibri" panose="020F0502020204030204" pitchFamily="34" charset="0"/>
                <a:cs typeface="Calibri" panose="020F0502020204030204" pitchFamily="34" charset="0"/>
              </a:rPr>
              <a:t>It should contain a clear statement of the objectives of research.</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hypotheses of study, if any.</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definitions of the major concepts employed in the study.</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methodology adopted in conducting the study.</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scope of the study.</a:t>
            </a:r>
          </a:p>
          <a:p>
            <a:pPr algn="just"/>
            <a:r>
              <a:rPr lang="en-US" sz="2400" dirty="0">
                <a:latin typeface="Calibri" panose="020F0502020204030204" pitchFamily="34" charset="0"/>
                <a:ea typeface="Calibri" panose="020F0502020204030204" pitchFamily="34" charset="0"/>
                <a:cs typeface="Calibri" panose="020F0502020204030204" pitchFamily="34" charset="0"/>
              </a:rPr>
              <a:t>Should narrate the various limitations, under which the research project was completed.</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49499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EA52A-B622-F46C-AC44-F8050A912AE2}"/>
              </a:ext>
            </a:extLst>
          </p:cNvPr>
          <p:cNvSpPr>
            <a:spLocks noGrp="1"/>
          </p:cNvSpPr>
          <p:nvPr>
            <p:ph idx="1"/>
          </p:nvPr>
        </p:nvSpPr>
        <p:spPr>
          <a:xfrm>
            <a:off x="528744" y="1086169"/>
            <a:ext cx="10409766" cy="5200331"/>
          </a:xfrm>
        </p:spPr>
        <p:txBody>
          <a:bodyPr>
            <a:noAutofit/>
          </a:bodyPr>
          <a:lstStyle/>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2. STATEMENT OF FINDINGS AND RECOMMENDATIONS</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statement of findings and recommendations must be stated in a non-technical and summarized manner so that it can be easily understood by all.</a:t>
            </a:r>
          </a:p>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3. RESULTS</a:t>
            </a:r>
          </a:p>
          <a:p>
            <a:pPr algn="just"/>
            <a:r>
              <a:rPr lang="en-US" sz="2400" dirty="0">
                <a:latin typeface="Calibri" panose="020F0502020204030204" pitchFamily="34" charset="0"/>
                <a:ea typeface="Calibri" panose="020F0502020204030204" pitchFamily="34" charset="0"/>
                <a:cs typeface="Calibri" panose="020F0502020204030204" pitchFamily="34" charset="0"/>
              </a:rPr>
              <a:t>Presentation of the findings of the study, (supporting data as tables and charts. </a:t>
            </a:r>
            <a:endPar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Should contain statistical summaries.</a:t>
            </a:r>
          </a:p>
          <a:p>
            <a:pPr algn="just"/>
            <a:r>
              <a:rPr lang="en-US" sz="2400" dirty="0">
                <a:latin typeface="Calibri" panose="020F0502020204030204" pitchFamily="34" charset="0"/>
                <a:ea typeface="Calibri" panose="020F0502020204030204" pitchFamily="34" charset="0"/>
                <a:cs typeface="Calibri" panose="020F0502020204030204" pitchFamily="34" charset="0"/>
              </a:rPr>
              <a:t>Results should be presented in a logical sequence.</a:t>
            </a:r>
          </a:p>
          <a:p>
            <a:pPr algn="just"/>
            <a:r>
              <a:rPr lang="en-US" sz="2400" dirty="0">
                <a:latin typeface="Calibri" panose="020F0502020204030204" pitchFamily="34" charset="0"/>
                <a:ea typeface="Calibri" panose="020F0502020204030204" pitchFamily="34" charset="0"/>
                <a:cs typeface="Calibri" panose="020F0502020204030204" pitchFamily="34" charset="0"/>
              </a:rPr>
              <a:t>Should include all relevant results.</a:t>
            </a:r>
          </a:p>
          <a:p>
            <a:pPr algn="just"/>
            <a:r>
              <a:rPr lang="en-US" sz="2400" dirty="0">
                <a:latin typeface="Calibri" panose="020F0502020204030204" pitchFamily="34" charset="0"/>
                <a:ea typeface="Calibri" panose="020F0502020204030204" pitchFamily="34" charset="0"/>
                <a:cs typeface="Calibri" panose="020F0502020204030204" pitchFamily="34" charset="0"/>
              </a:rPr>
              <a:t>Clearly state the problem concerned and how he worked on it.</a:t>
            </a:r>
          </a:p>
          <a:p>
            <a:pPr algn="just"/>
            <a:r>
              <a:rPr lang="en-US" sz="2400" dirty="0">
                <a:latin typeface="Calibri" panose="020F0502020204030204" pitchFamily="34" charset="0"/>
                <a:ea typeface="Calibri" panose="020F0502020204030204" pitchFamily="34" charset="0"/>
                <a:cs typeface="Calibri" panose="020F0502020204030204" pitchFamily="34" charset="0"/>
              </a:rPr>
              <a:t>The conclusions from the study, and the reasoning behind the conclusions.</a:t>
            </a:r>
          </a:p>
        </p:txBody>
      </p:sp>
      <p:sp>
        <p:nvSpPr>
          <p:cNvPr id="4" name="Title 1">
            <a:extLst>
              <a:ext uri="{FF2B5EF4-FFF2-40B4-BE49-F238E27FC236}">
                <a16:creationId xmlns:a16="http://schemas.microsoft.com/office/drawing/2014/main" id="{BA895EC4-2B46-732B-0A4C-8B0A894C35BA}"/>
              </a:ext>
            </a:extLst>
          </p:cNvPr>
          <p:cNvSpPr txBox="1">
            <a:spLocks/>
          </p:cNvSpPr>
          <p:nvPr/>
        </p:nvSpPr>
        <p:spPr>
          <a:xfrm>
            <a:off x="780242" y="151130"/>
            <a:ext cx="585277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a:t>SECTIONS OF MAIN TEXT</a:t>
            </a:r>
            <a:endParaRPr lang="en-IN" b="1" dirty="0"/>
          </a:p>
        </p:txBody>
      </p:sp>
    </p:spTree>
    <p:extLst>
      <p:ext uri="{BB962C8B-B14F-4D97-AF65-F5344CB8AC3E}">
        <p14:creationId xmlns:p14="http://schemas.microsoft.com/office/powerpoint/2010/main" val="272945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4119D-2FEE-6475-386E-A2F50D2EA002}"/>
              </a:ext>
            </a:extLst>
          </p:cNvPr>
          <p:cNvSpPr>
            <a:spLocks noGrp="1"/>
          </p:cNvSpPr>
          <p:nvPr>
            <p:ph idx="1"/>
          </p:nvPr>
        </p:nvSpPr>
        <p:spPr>
          <a:xfrm>
            <a:off x="540174" y="800419"/>
            <a:ext cx="9552516" cy="5906451"/>
          </a:xfrm>
        </p:spPr>
        <p:txBody>
          <a:bodyPr>
            <a:noAutofit/>
          </a:bodyPr>
          <a:lstStyle/>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4. IMPLICATIONS OF THE RESULTS</a:t>
            </a:r>
          </a:p>
          <a:p>
            <a:pPr marL="0" indent="0" algn="just">
              <a:buNone/>
            </a:pP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The conclusion drawn should be related to the hypotheses stated. </a:t>
            </a:r>
          </a:p>
          <a:p>
            <a:pPr algn="just"/>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Inferences drawn from the present study may apply in similar circumstances.</a:t>
            </a:r>
          </a:p>
          <a:p>
            <a:pPr algn="just"/>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The conditions of the present study may limit the extent of legitimate generalizations of the inferences.</a:t>
            </a:r>
          </a:p>
          <a:p>
            <a:pPr algn="just"/>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The relevant questions that remain unanswered or new questions raised by the study with suggestions on the kind of research that may apply.</a:t>
            </a:r>
          </a:p>
          <a:p>
            <a:pPr marL="0" indent="0" algn="just">
              <a:buNone/>
            </a:pP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5. SUMMARY</a:t>
            </a:r>
          </a:p>
          <a:p>
            <a:pPr algn="just"/>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The researcher should conclude the research report with a summary. The summary </a:t>
            </a:r>
            <a:r>
              <a:rPr lang="en-US" sz="2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extracts and highlights the most important points from a larger body of work</a:t>
            </a:r>
            <a:r>
              <a:rPr lang="en-US" sz="2400" i="0" dirty="0">
                <a:solidFill>
                  <a:schemeClr val="tx1"/>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AF0C968C-27D4-038E-D5EC-088CEE360290}"/>
              </a:ext>
            </a:extLst>
          </p:cNvPr>
          <p:cNvSpPr txBox="1">
            <a:spLocks/>
          </p:cNvSpPr>
          <p:nvPr/>
        </p:nvSpPr>
        <p:spPr>
          <a:xfrm>
            <a:off x="780242" y="151130"/>
            <a:ext cx="5852776"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SECTIONS OF MAIN TEXT</a:t>
            </a:r>
            <a:endParaRPr lang="en-IN" b="1" dirty="0"/>
          </a:p>
        </p:txBody>
      </p:sp>
    </p:spTree>
    <p:extLst>
      <p:ext uri="{BB962C8B-B14F-4D97-AF65-F5344CB8AC3E}">
        <p14:creationId xmlns:p14="http://schemas.microsoft.com/office/powerpoint/2010/main" val="18607906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471E-DC63-B1EA-9EA9-6C3588C7B3DA}"/>
              </a:ext>
            </a:extLst>
          </p:cNvPr>
          <p:cNvSpPr>
            <a:spLocks noGrp="1"/>
          </p:cNvSpPr>
          <p:nvPr>
            <p:ph type="title"/>
          </p:nvPr>
        </p:nvSpPr>
        <p:spPr>
          <a:xfrm>
            <a:off x="700194" y="152400"/>
            <a:ext cx="8596668" cy="1320800"/>
          </a:xfrm>
        </p:spPr>
        <p:txBody>
          <a:bodyPr/>
          <a:lstStyle/>
          <a:p>
            <a:r>
              <a:rPr lang="en-IN" b="1" dirty="0"/>
              <a:t>TYPES OF REPORTS</a:t>
            </a:r>
          </a:p>
        </p:txBody>
      </p:sp>
      <p:sp>
        <p:nvSpPr>
          <p:cNvPr id="3" name="Content Placeholder 2">
            <a:extLst>
              <a:ext uri="{FF2B5EF4-FFF2-40B4-BE49-F238E27FC236}">
                <a16:creationId xmlns:a16="http://schemas.microsoft.com/office/drawing/2014/main" id="{580422C8-223A-6535-C71F-0A15B987F164}"/>
              </a:ext>
            </a:extLst>
          </p:cNvPr>
          <p:cNvSpPr>
            <a:spLocks noGrp="1"/>
          </p:cNvSpPr>
          <p:nvPr>
            <p:ph idx="1"/>
          </p:nvPr>
        </p:nvSpPr>
        <p:spPr>
          <a:xfrm>
            <a:off x="563034" y="991870"/>
            <a:ext cx="11244156" cy="5713730"/>
          </a:xfrm>
        </p:spPr>
        <p:txBody>
          <a:bodyPr>
            <a:noAutofit/>
          </a:bodyPr>
          <a:lstStyle/>
          <a:p>
            <a:pPr marL="0" indent="0" algn="just">
              <a:buNone/>
            </a:pPr>
            <a:r>
              <a:rPr lang="en-US" sz="2400" dirty="0">
                <a:latin typeface="Calibri" panose="020F0502020204030204" pitchFamily="34" charset="0"/>
                <a:ea typeface="Calibri" panose="020F0502020204030204" pitchFamily="34" charset="0"/>
                <a:cs typeface="Calibri" panose="020F0502020204030204" pitchFamily="34" charset="0"/>
              </a:rPr>
              <a:t>Research reports vary greatly in length and type.</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Business firms:</a:t>
            </a:r>
            <a:r>
              <a:rPr lang="en-US" sz="2400" dirty="0">
                <a:latin typeface="Calibri" panose="020F0502020204030204" pitchFamily="34" charset="0"/>
                <a:ea typeface="Calibri" panose="020F0502020204030204" pitchFamily="34" charset="0"/>
                <a:cs typeface="Calibri" panose="020F0502020204030204" pitchFamily="34" charset="0"/>
              </a:rPr>
              <a:t>  Reports in the letter form, just one or two pages in length. </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Financial institutions: </a:t>
            </a:r>
            <a:r>
              <a:rPr lang="en-US" sz="2400" dirty="0">
                <a:latin typeface="Calibri" panose="020F0502020204030204" pitchFamily="34" charset="0"/>
                <a:ea typeface="Calibri" panose="020F0502020204030204" pitchFamily="34" charset="0"/>
                <a:cs typeface="Calibri" panose="020F0502020204030204" pitchFamily="34" charset="0"/>
              </a:rPr>
              <a:t>Short balance-sheet type of tabulation for their annual reports</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Mathematicians:</a:t>
            </a:r>
            <a:r>
              <a:rPr lang="en-US" sz="2400" dirty="0">
                <a:latin typeface="Calibri" panose="020F0502020204030204" pitchFamily="34" charset="0"/>
                <a:ea typeface="Calibri" panose="020F0502020204030204" pitchFamily="34" charset="0"/>
                <a:cs typeface="Calibri" panose="020F0502020204030204" pitchFamily="34" charset="0"/>
              </a:rPr>
              <a:t> Present the results in algebraic notations. </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Chemists: </a:t>
            </a:r>
            <a:r>
              <a:rPr lang="en-US" sz="2400" dirty="0">
                <a:latin typeface="Calibri" panose="020F0502020204030204" pitchFamily="34" charset="0"/>
                <a:ea typeface="Calibri" panose="020F0502020204030204" pitchFamily="34" charset="0"/>
                <a:cs typeface="Calibri" panose="020F0502020204030204" pitchFamily="34" charset="0"/>
              </a:rPr>
              <a:t>Present the results in symbols and formulae. </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Students of literature:</a:t>
            </a:r>
            <a:r>
              <a:rPr lang="en-US" sz="2400" dirty="0">
                <a:latin typeface="Calibri" panose="020F0502020204030204" pitchFamily="34" charset="0"/>
                <a:ea typeface="Calibri" panose="020F0502020204030204" pitchFamily="34" charset="0"/>
                <a:cs typeface="Calibri" panose="020F0502020204030204" pitchFamily="34" charset="0"/>
              </a:rPr>
              <a:t> long reports presenting the critical analysis of some writer.</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Clinical psychologists: </a:t>
            </a:r>
            <a:r>
              <a:rPr lang="en-US" sz="2400" dirty="0">
                <a:latin typeface="Calibri" panose="020F0502020204030204" pitchFamily="34" charset="0"/>
                <a:ea typeface="Calibri" panose="020F0502020204030204" pitchFamily="34" charset="0"/>
                <a:cs typeface="Calibri" panose="020F0502020204030204" pitchFamily="34" charset="0"/>
              </a:rPr>
              <a:t>case-history form. </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News items </a:t>
            </a:r>
            <a:r>
              <a:rPr lang="en-US" sz="2400" dirty="0">
                <a:latin typeface="Calibri" panose="020F0502020204030204" pitchFamily="34" charset="0"/>
                <a:ea typeface="Calibri" panose="020F0502020204030204" pitchFamily="34" charset="0"/>
                <a:cs typeface="Calibri" panose="020F0502020204030204" pitchFamily="34" charset="0"/>
              </a:rPr>
              <a:t>in the daily papers are also forms of report writing.</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Book-reviews: </a:t>
            </a:r>
            <a:r>
              <a:rPr lang="en-US" sz="2400" dirty="0">
                <a:latin typeface="Calibri" panose="020F0502020204030204" pitchFamily="34" charset="0"/>
                <a:ea typeface="Calibri" panose="020F0502020204030204" pitchFamily="34" charset="0"/>
                <a:cs typeface="Calibri" panose="020F0502020204030204" pitchFamily="34" charset="0"/>
              </a:rPr>
              <a:t>Analyze the content of the book and report on the authors  intentions, his language, his style etc.</a:t>
            </a:r>
          </a:p>
          <a:p>
            <a:pPr algn="just"/>
            <a:r>
              <a:rPr lang="en-US" sz="2400" b="1" dirty="0">
                <a:latin typeface="Calibri" panose="020F0502020204030204" pitchFamily="34" charset="0"/>
                <a:ea typeface="Calibri" panose="020F0502020204030204" pitchFamily="34" charset="0"/>
                <a:cs typeface="Calibri" panose="020F0502020204030204" pitchFamily="34" charset="0"/>
              </a:rPr>
              <a:t>Ph.D. theses </a:t>
            </a:r>
            <a:r>
              <a:rPr lang="en-US" sz="2400" dirty="0">
                <a:latin typeface="Calibri" panose="020F0502020204030204" pitchFamily="34" charset="0"/>
                <a:ea typeface="Calibri" panose="020F0502020204030204" pitchFamily="34" charset="0"/>
                <a:cs typeface="Calibri" panose="020F0502020204030204" pitchFamily="34" charset="0"/>
              </a:rPr>
              <a:t>report-writing, usually done by students in academic institutions.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15192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2009E-C7CC-6320-17EE-701B07361C36}"/>
              </a:ext>
            </a:extLst>
          </p:cNvPr>
          <p:cNvSpPr>
            <a:spLocks noGrp="1"/>
          </p:cNvSpPr>
          <p:nvPr>
            <p:ph type="title"/>
          </p:nvPr>
        </p:nvSpPr>
        <p:spPr>
          <a:xfrm>
            <a:off x="677334" y="185854"/>
            <a:ext cx="8596668" cy="1320800"/>
          </a:xfrm>
        </p:spPr>
        <p:txBody>
          <a:bodyPr/>
          <a:lstStyle/>
          <a:p>
            <a:r>
              <a:rPr lang="en-US" b="1" dirty="0"/>
              <a:t>TECHNICAL VS POPULAR REPORT</a:t>
            </a:r>
            <a:endParaRPr lang="en-IN" dirty="0"/>
          </a:p>
        </p:txBody>
      </p:sp>
      <p:sp>
        <p:nvSpPr>
          <p:cNvPr id="3" name="Content Placeholder 2">
            <a:extLst>
              <a:ext uri="{FF2B5EF4-FFF2-40B4-BE49-F238E27FC236}">
                <a16:creationId xmlns:a16="http://schemas.microsoft.com/office/drawing/2014/main" id="{E1288FF6-8F07-F000-51A4-BC90F4AB9A0D}"/>
              </a:ext>
            </a:extLst>
          </p:cNvPr>
          <p:cNvSpPr>
            <a:spLocks noGrp="1"/>
          </p:cNvSpPr>
          <p:nvPr>
            <p:ph idx="1"/>
          </p:nvPr>
        </p:nvSpPr>
        <p:spPr>
          <a:xfrm>
            <a:off x="527824" y="968917"/>
            <a:ext cx="10986842" cy="5703230"/>
          </a:xfrm>
        </p:spPr>
        <p:txBody>
          <a:bodyPr>
            <a:noAutofit/>
          </a:bodyPr>
          <a:lstStyle/>
          <a:p>
            <a:pPr marL="0" indent="0">
              <a:buNone/>
            </a:pPr>
            <a:r>
              <a:rPr lang="en-US" sz="23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TECHNICAL REPORT</a:t>
            </a:r>
          </a:p>
          <a:p>
            <a:r>
              <a:rPr lang="en-US" sz="2300" dirty="0">
                <a:solidFill>
                  <a:srgbClr val="040C28"/>
                </a:solidFill>
                <a:latin typeface="Calibri" panose="020F0502020204030204" pitchFamily="34" charset="0"/>
                <a:ea typeface="Calibri" panose="020F0502020204030204" pitchFamily="34" charset="0"/>
                <a:cs typeface="Calibri" panose="020F0502020204030204" pitchFamily="34" charset="0"/>
              </a:rPr>
              <a:t>It </a:t>
            </a:r>
            <a:r>
              <a:rPr lang="en-US" sz="2300" b="0" i="0"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describes the process, progress, or results of scientific research</a:t>
            </a:r>
            <a:r>
              <a:rPr lang="en-US" sz="2300" b="0" i="0" dirty="0">
                <a:solidFill>
                  <a:srgbClr val="4D5156"/>
                </a:solidFill>
                <a:effectLst/>
                <a:latin typeface="Calibri" panose="020F0502020204030204" pitchFamily="34" charset="0"/>
                <a:ea typeface="Calibri" panose="020F0502020204030204" pitchFamily="34" charset="0"/>
                <a:cs typeface="Calibri" panose="020F0502020204030204" pitchFamily="34" charset="0"/>
              </a:rPr>
              <a:t>. </a:t>
            </a:r>
          </a:p>
          <a:p>
            <a:r>
              <a:rPr lang="en-US" sz="2300" b="0" i="0" dirty="0">
                <a:solidFill>
                  <a:srgbClr val="4D5156"/>
                </a:solidFill>
                <a:effectLst/>
                <a:latin typeface="Calibri" panose="020F0502020204030204" pitchFamily="34" charset="0"/>
                <a:ea typeface="Calibri" panose="020F0502020204030204" pitchFamily="34" charset="0"/>
                <a:cs typeface="Calibri" panose="020F0502020204030204" pitchFamily="34" charset="0"/>
              </a:rPr>
              <a:t>It emphasizes on the assumptions made during study.</a:t>
            </a:r>
          </a:p>
          <a:p>
            <a:r>
              <a:rPr lang="en-US" sz="2300" b="0" i="0" dirty="0">
                <a:solidFill>
                  <a:srgbClr val="4D5156"/>
                </a:solidFill>
                <a:effectLst/>
                <a:latin typeface="Calibri" panose="020F0502020204030204" pitchFamily="34" charset="0"/>
                <a:ea typeface="Calibri" panose="020F0502020204030204" pitchFamily="34" charset="0"/>
                <a:cs typeface="Calibri" panose="020F0502020204030204" pitchFamily="34" charset="0"/>
              </a:rPr>
              <a:t>It also include recommendations and conclusions of the research.</a:t>
            </a:r>
          </a:p>
          <a:p>
            <a:r>
              <a:rPr lang="en-US" sz="2300" dirty="0">
                <a:solidFill>
                  <a:srgbClr val="4D5156"/>
                </a:solidFill>
                <a:latin typeface="Calibri" panose="020F0502020204030204" pitchFamily="34" charset="0"/>
                <a:ea typeface="Calibri" panose="020F0502020204030204" pitchFamily="34" charset="0"/>
                <a:cs typeface="Calibri" panose="020F0502020204030204" pitchFamily="34" charset="0"/>
              </a:rPr>
              <a:t>It is very lengthy with multiple identifiable sections.</a:t>
            </a:r>
          </a:p>
          <a:p>
            <a:pPr marL="0" indent="0">
              <a:buNone/>
            </a:pPr>
            <a:r>
              <a:rPr lang="en-US" sz="23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POPULAR REPORT BUSINESS REPORT</a:t>
            </a:r>
          </a:p>
          <a:p>
            <a:r>
              <a:rPr lang="en-US" sz="2300" b="0" i="0" dirty="0">
                <a:solidFill>
                  <a:srgbClr val="4D5156"/>
                </a:solidFill>
                <a:effectLst/>
                <a:latin typeface="Calibri" panose="020F0502020204030204" pitchFamily="34" charset="0"/>
                <a:ea typeface="Calibri" panose="020F0502020204030204" pitchFamily="34" charset="0"/>
                <a:cs typeface="Calibri" panose="020F0502020204030204" pitchFamily="34" charset="0"/>
              </a:rPr>
              <a:t>An approach of presenting financial and non-financial  information to non-professional users (e.g., citizens) in a concise, and easy-to-read format.</a:t>
            </a:r>
            <a:endParaRPr lang="en-US" sz="2300" dirty="0">
              <a:latin typeface="Calibri" panose="020F0502020204030204" pitchFamily="34" charset="0"/>
              <a:ea typeface="Calibri" panose="020F0502020204030204" pitchFamily="34" charset="0"/>
              <a:cs typeface="Calibri" panose="020F0502020204030204" pitchFamily="34" charset="0"/>
            </a:endParaRPr>
          </a:p>
          <a:p>
            <a:r>
              <a:rPr lang="en-US" sz="2300" dirty="0">
                <a:latin typeface="Calibri" panose="020F0502020204030204" pitchFamily="34" charset="0"/>
                <a:ea typeface="Calibri" panose="020F0502020204030204" pitchFamily="34" charset="0"/>
                <a:cs typeface="Calibri" panose="020F0502020204030204" pitchFamily="34" charset="0"/>
              </a:rPr>
              <a:t>Aims at simplicity and attractiveness and policy implications.</a:t>
            </a:r>
          </a:p>
          <a:p>
            <a:r>
              <a:rPr lang="en-US" sz="2300" dirty="0">
                <a:latin typeface="Calibri" panose="020F0502020204030204" pitchFamily="34" charset="0"/>
                <a:ea typeface="Calibri" panose="020F0502020204030204" pitchFamily="34" charset="0"/>
                <a:cs typeface="Calibri" panose="020F0502020204030204" pitchFamily="34" charset="0"/>
              </a:rPr>
              <a:t>Involves minimal of technical details, and liberal use of charts and diagrams.</a:t>
            </a:r>
          </a:p>
          <a:p>
            <a:r>
              <a:rPr lang="en-US" sz="2300" dirty="0">
                <a:latin typeface="Calibri" panose="020F0502020204030204" pitchFamily="34" charset="0"/>
                <a:ea typeface="Calibri" panose="020F0502020204030204" pitchFamily="34" charset="0"/>
                <a:cs typeface="Calibri" panose="020F0502020204030204" pitchFamily="34" charset="0"/>
              </a:rPr>
              <a:t>Attractive layout along with large prints, many subheadings, even an occasional cartoon.</a:t>
            </a:r>
          </a:p>
          <a:p>
            <a:endParaRPr lang="en-IN" sz="23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25519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65DDD-32CD-0435-A747-FD8503FADB90}"/>
              </a:ext>
            </a:extLst>
          </p:cNvPr>
          <p:cNvSpPr>
            <a:spLocks noGrp="1"/>
          </p:cNvSpPr>
          <p:nvPr>
            <p:ph type="title"/>
          </p:nvPr>
        </p:nvSpPr>
        <p:spPr>
          <a:xfrm>
            <a:off x="677334" y="156237"/>
            <a:ext cx="8596668" cy="1320800"/>
          </a:xfrm>
        </p:spPr>
        <p:txBody>
          <a:bodyPr/>
          <a:lstStyle/>
          <a:p>
            <a:r>
              <a:rPr lang="en-US" b="1" dirty="0"/>
              <a:t>TECHNICAL REPORT</a:t>
            </a:r>
            <a:endParaRPr lang="en-IN" b="1" dirty="0"/>
          </a:p>
        </p:txBody>
      </p:sp>
      <p:sp>
        <p:nvSpPr>
          <p:cNvPr id="3" name="Content Placeholder 2">
            <a:extLst>
              <a:ext uri="{FF2B5EF4-FFF2-40B4-BE49-F238E27FC236}">
                <a16:creationId xmlns:a16="http://schemas.microsoft.com/office/drawing/2014/main" id="{6879BB67-E045-84FF-3F99-03AE204E5F29}"/>
              </a:ext>
            </a:extLst>
          </p:cNvPr>
          <p:cNvSpPr>
            <a:spLocks noGrp="1"/>
          </p:cNvSpPr>
          <p:nvPr>
            <p:ph idx="1"/>
          </p:nvPr>
        </p:nvSpPr>
        <p:spPr>
          <a:xfrm>
            <a:off x="845397" y="816637"/>
            <a:ext cx="10501206" cy="5753073"/>
          </a:xfrm>
        </p:spPr>
        <p:txBody>
          <a:bodyPr>
            <a:noAutofit/>
          </a:bodyPr>
          <a:lstStyle/>
          <a:p>
            <a:pPr marL="0" indent="0" algn="just">
              <a:buNone/>
            </a:pPr>
            <a:r>
              <a:rPr lang="en-US" sz="2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OUTLINE OF A TECHNICAL REPORT </a:t>
            </a:r>
          </a:p>
          <a:p>
            <a:pPr marL="457200" indent="-457200"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Summary of results: </a:t>
            </a:r>
            <a:r>
              <a:rPr lang="en-US" sz="2200" dirty="0">
                <a:latin typeface="Calibri" panose="020F0502020204030204" pitchFamily="34" charset="0"/>
                <a:ea typeface="Calibri" panose="020F0502020204030204" pitchFamily="34" charset="0"/>
                <a:cs typeface="Calibri" panose="020F0502020204030204" pitchFamily="34" charset="0"/>
              </a:rPr>
              <a:t>Review of the main findings.</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Nature of the study</a:t>
            </a:r>
            <a:r>
              <a:rPr lang="en-US" sz="2200" dirty="0">
                <a:latin typeface="Calibri" panose="020F0502020204030204" pitchFamily="34" charset="0"/>
                <a:ea typeface="Calibri" panose="020F0502020204030204" pitchFamily="34" charset="0"/>
                <a:cs typeface="Calibri" panose="020F0502020204030204" pitchFamily="34" charset="0"/>
              </a:rPr>
              <a:t>: General objectives of study, formulation of the problem in operational terms, the working hypothesis, the type of analysis and data required, etc. </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Methods employed</a:t>
            </a:r>
            <a:r>
              <a:rPr lang="en-US" sz="2200" dirty="0">
                <a:latin typeface="Calibri" panose="020F0502020204030204" pitchFamily="34" charset="0"/>
                <a:ea typeface="Calibri" panose="020F0502020204030204" pitchFamily="34" charset="0"/>
                <a:cs typeface="Calibri" panose="020F0502020204030204" pitchFamily="34" charset="0"/>
              </a:rPr>
              <a:t>: Specific methods used in the study and their limitations.</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Data:</a:t>
            </a:r>
            <a:r>
              <a:rPr lang="en-US" sz="2200" dirty="0">
                <a:latin typeface="Calibri" panose="020F0502020204030204" pitchFamily="34" charset="0"/>
                <a:ea typeface="Calibri" panose="020F0502020204030204" pitchFamily="34" charset="0"/>
                <a:cs typeface="Calibri" panose="020F0502020204030204" pitchFamily="34" charset="0"/>
              </a:rPr>
              <a:t> Data collected, their sources, methods employed, characteristics and limitations.</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Analysis of data and presentation of findings:</a:t>
            </a:r>
            <a:r>
              <a:rPr lang="en-US" sz="2200" dirty="0">
                <a:latin typeface="Calibri" panose="020F0502020204030204" pitchFamily="34" charset="0"/>
                <a:ea typeface="Calibri" panose="020F0502020204030204" pitchFamily="34" charset="0"/>
                <a:cs typeface="Calibri" panose="020F0502020204030204" pitchFamily="34" charset="0"/>
              </a:rPr>
              <a:t> Presentation of the findings in the form of tables and charts. (Main Body)</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Conclusions:</a:t>
            </a:r>
            <a:r>
              <a:rPr lang="en-US" sz="2200" dirty="0">
                <a:latin typeface="Calibri" panose="020F0502020204030204" pitchFamily="34" charset="0"/>
                <a:ea typeface="Calibri" panose="020F0502020204030204" pitchFamily="34" charset="0"/>
                <a:cs typeface="Calibri" panose="020F0502020204030204" pitchFamily="34" charset="0"/>
              </a:rPr>
              <a:t> A detailed summary of the findings and the implications drawn from the results.</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Bibliography:</a:t>
            </a:r>
            <a:r>
              <a:rPr lang="en-US" sz="2200" dirty="0">
                <a:latin typeface="Calibri" panose="020F0502020204030204" pitchFamily="34" charset="0"/>
                <a:ea typeface="Calibri" panose="020F0502020204030204" pitchFamily="34" charset="0"/>
                <a:cs typeface="Calibri" panose="020F0502020204030204" pitchFamily="34" charset="0"/>
              </a:rPr>
              <a:t> Bibliography of various sources consulted. </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Technical appendices</a:t>
            </a:r>
            <a:r>
              <a:rPr lang="en-US" sz="2200" dirty="0">
                <a:latin typeface="Calibri" panose="020F0502020204030204" pitchFamily="34" charset="0"/>
                <a:ea typeface="Calibri" panose="020F0502020204030204" pitchFamily="34" charset="0"/>
                <a:cs typeface="Calibri" panose="020F0502020204030204" pitchFamily="34" charset="0"/>
              </a:rPr>
              <a:t>: Additional information on all the technical matters.</a:t>
            </a:r>
          </a:p>
          <a:p>
            <a:pPr algn="just">
              <a:buFont typeface="+mj-lt"/>
              <a:buAutoNum type="arabicPeriod"/>
            </a:pPr>
            <a:r>
              <a:rPr lang="en-US" sz="2200" b="1" dirty="0">
                <a:latin typeface="Calibri" panose="020F0502020204030204" pitchFamily="34" charset="0"/>
                <a:ea typeface="Calibri" panose="020F0502020204030204" pitchFamily="34" charset="0"/>
                <a:cs typeface="Calibri" panose="020F0502020204030204" pitchFamily="34" charset="0"/>
              </a:rPr>
              <a:t>Index:</a:t>
            </a:r>
            <a:r>
              <a:rPr lang="en-US" sz="2200" dirty="0">
                <a:latin typeface="Calibri" panose="020F0502020204030204" pitchFamily="34" charset="0"/>
                <a:ea typeface="Calibri" panose="020F0502020204030204" pitchFamily="34" charset="0"/>
                <a:cs typeface="Calibri" panose="020F0502020204030204" pitchFamily="34" charset="0"/>
              </a:rPr>
              <a:t> Index must be prepared and be given invariably in the report at the end.</a:t>
            </a: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713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04BB-4F3F-52F5-3164-96611AC639C3}"/>
              </a:ext>
            </a:extLst>
          </p:cNvPr>
          <p:cNvSpPr>
            <a:spLocks noGrp="1"/>
          </p:cNvSpPr>
          <p:nvPr>
            <p:ph type="title"/>
          </p:nvPr>
        </p:nvSpPr>
        <p:spPr>
          <a:xfrm>
            <a:off x="677334" y="210820"/>
            <a:ext cx="8596668" cy="1320800"/>
          </a:xfrm>
        </p:spPr>
        <p:txBody>
          <a:bodyPr/>
          <a:lstStyle/>
          <a:p>
            <a:r>
              <a:rPr lang="en-IN" b="1" dirty="0"/>
              <a:t>POPULAR REPORT</a:t>
            </a:r>
          </a:p>
        </p:txBody>
      </p:sp>
      <p:sp>
        <p:nvSpPr>
          <p:cNvPr id="3" name="Content Placeholder 2">
            <a:extLst>
              <a:ext uri="{FF2B5EF4-FFF2-40B4-BE49-F238E27FC236}">
                <a16:creationId xmlns:a16="http://schemas.microsoft.com/office/drawing/2014/main" id="{8CAE5CD4-D18D-E36F-F57E-3AF5348B60FB}"/>
              </a:ext>
            </a:extLst>
          </p:cNvPr>
          <p:cNvSpPr>
            <a:spLocks noGrp="1"/>
          </p:cNvSpPr>
          <p:nvPr>
            <p:ph idx="1"/>
          </p:nvPr>
        </p:nvSpPr>
        <p:spPr>
          <a:xfrm>
            <a:off x="677334" y="970157"/>
            <a:ext cx="9325310" cy="5519854"/>
          </a:xfrm>
        </p:spPr>
        <p:txBody>
          <a:bodyPr>
            <a:noAutofit/>
          </a:bodyPr>
          <a:lstStyle/>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OUTLINE OF A POPULAR REPORT</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The findings and their implications:</a:t>
            </a:r>
            <a:r>
              <a:rPr lang="en-US" sz="2400" dirty="0">
                <a:latin typeface="Calibri" panose="020F0502020204030204" pitchFamily="34" charset="0"/>
                <a:ea typeface="Calibri" panose="020F0502020204030204" pitchFamily="34" charset="0"/>
                <a:cs typeface="Calibri" panose="020F0502020204030204" pitchFamily="34" charset="0"/>
              </a:rPr>
              <a:t> Emphasis in the report is given on the findings of most practical interest.</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Recommendations for action: </a:t>
            </a:r>
            <a:r>
              <a:rPr lang="en-US" sz="2400" dirty="0">
                <a:latin typeface="Calibri" panose="020F0502020204030204" pitchFamily="34" charset="0"/>
                <a:ea typeface="Calibri" panose="020F0502020204030204" pitchFamily="34" charset="0"/>
                <a:cs typeface="Calibri" panose="020F0502020204030204" pitchFamily="34" charset="0"/>
              </a:rPr>
              <a:t>Recommendations for action based on the findings of the study.</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Objectives of the study: </a:t>
            </a:r>
            <a:r>
              <a:rPr lang="en-US" sz="2400" dirty="0">
                <a:latin typeface="Calibri" panose="020F0502020204030204" pitchFamily="34" charset="0"/>
                <a:ea typeface="Calibri" panose="020F0502020204030204" pitchFamily="34" charset="0"/>
                <a:cs typeface="Calibri" panose="020F0502020204030204" pitchFamily="34" charset="0"/>
              </a:rPr>
              <a:t>A general review of the objectives of the project under study.</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Methods employed: </a:t>
            </a:r>
            <a:r>
              <a:rPr lang="en-US" sz="2400" dirty="0">
                <a:latin typeface="Calibri" panose="020F0502020204030204" pitchFamily="34" charset="0"/>
                <a:ea typeface="Calibri" panose="020F0502020204030204" pitchFamily="34" charset="0"/>
                <a:cs typeface="Calibri" panose="020F0502020204030204" pitchFamily="34" charset="0"/>
              </a:rPr>
              <a:t>Non-technical description of the methods used.</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Results</a:t>
            </a:r>
            <a:r>
              <a:rPr lang="en-US" sz="2400" dirty="0">
                <a:latin typeface="Calibri" panose="020F0502020204030204" pitchFamily="34" charset="0"/>
                <a:ea typeface="Calibri" panose="020F0502020204030204" pitchFamily="34" charset="0"/>
                <a:cs typeface="Calibri" panose="020F0502020204030204" pitchFamily="34" charset="0"/>
              </a:rPr>
              <a:t>: The results are presented in clear and non-technical terms with liberal use of all sorts of illustrations such as charts, diagrams etc.</a:t>
            </a:r>
          </a:p>
          <a:p>
            <a:pPr marL="457200" indent="-457200">
              <a:buFont typeface="+mj-lt"/>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Technical appendices: </a:t>
            </a:r>
            <a:r>
              <a:rPr lang="en-US" sz="2400" dirty="0">
                <a:latin typeface="Calibri" panose="020F0502020204030204" pitchFamily="34" charset="0"/>
                <a:ea typeface="Calibri" panose="020F0502020204030204" pitchFamily="34" charset="0"/>
                <a:cs typeface="Calibri" panose="020F0502020204030204" pitchFamily="34" charset="0"/>
              </a:rPr>
              <a:t>More detailed information on methods used, forms.</a:t>
            </a:r>
          </a:p>
        </p:txBody>
      </p:sp>
    </p:spTree>
    <p:extLst>
      <p:ext uri="{BB962C8B-B14F-4D97-AF65-F5344CB8AC3E}">
        <p14:creationId xmlns:p14="http://schemas.microsoft.com/office/powerpoint/2010/main" val="21447197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EBB65-CD14-D0B1-EDC4-CF08C8FAAB8D}"/>
              </a:ext>
            </a:extLst>
          </p:cNvPr>
          <p:cNvSpPr>
            <a:spLocks noGrp="1"/>
          </p:cNvSpPr>
          <p:nvPr>
            <p:ph type="title"/>
          </p:nvPr>
        </p:nvSpPr>
        <p:spPr>
          <a:xfrm>
            <a:off x="184774" y="275064"/>
            <a:ext cx="9581788" cy="1320800"/>
          </a:xfrm>
        </p:spPr>
        <p:txBody>
          <a:bodyPr>
            <a:normAutofit/>
          </a:bodyPr>
          <a:lstStyle/>
          <a:p>
            <a:r>
              <a:rPr lang="en-US" sz="3400" b="1" dirty="0"/>
              <a:t>MECHANICS OF WRITING A RESEARCH REPORT</a:t>
            </a:r>
            <a:endParaRPr lang="en-IN" sz="3400" b="1" dirty="0"/>
          </a:p>
        </p:txBody>
      </p:sp>
      <p:sp>
        <p:nvSpPr>
          <p:cNvPr id="3" name="Content Placeholder 2">
            <a:extLst>
              <a:ext uri="{FF2B5EF4-FFF2-40B4-BE49-F238E27FC236}">
                <a16:creationId xmlns:a16="http://schemas.microsoft.com/office/drawing/2014/main" id="{A5D31B42-C847-D3EB-7D56-03C3FD21377A}"/>
              </a:ext>
            </a:extLst>
          </p:cNvPr>
          <p:cNvSpPr>
            <a:spLocks noGrp="1"/>
          </p:cNvSpPr>
          <p:nvPr>
            <p:ph idx="1"/>
          </p:nvPr>
        </p:nvSpPr>
        <p:spPr>
          <a:xfrm>
            <a:off x="677334" y="1315844"/>
            <a:ext cx="9089228" cy="5267091"/>
          </a:xfrm>
        </p:spPr>
        <p:txBody>
          <a:bodyPr>
            <a:normAutofit/>
          </a:bodyPr>
          <a:lstStyle/>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1. SIZE AND PHYSICAL DESIGN</a:t>
            </a:r>
          </a:p>
          <a:p>
            <a:r>
              <a:rPr lang="en-US" sz="2400" dirty="0">
                <a:latin typeface="Calibri" panose="020F0502020204030204" pitchFamily="34" charset="0"/>
                <a:ea typeface="Calibri" panose="020F0502020204030204" pitchFamily="34" charset="0"/>
                <a:cs typeface="Calibri" panose="020F0502020204030204" pitchFamily="34" charset="0"/>
              </a:rPr>
              <a:t>The manuscript should be written on unruled paper 812″ × 11″ in size.</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If</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written by hand</a:t>
            </a:r>
          </a:p>
          <a:p>
            <a:r>
              <a:rPr lang="en-US" sz="2400" dirty="0">
                <a:latin typeface="Calibri" panose="020F0502020204030204" pitchFamily="34" charset="0"/>
                <a:ea typeface="Calibri" panose="020F0502020204030204" pitchFamily="34" charset="0"/>
                <a:cs typeface="Calibri" panose="020F0502020204030204" pitchFamily="34" charset="0"/>
              </a:rPr>
              <a:t>Use black or blue-black ink should be used.</a:t>
            </a:r>
          </a:p>
          <a:p>
            <a:r>
              <a:rPr lang="en-US" sz="2400" dirty="0">
                <a:latin typeface="Calibri" panose="020F0502020204030204" pitchFamily="34" charset="0"/>
                <a:ea typeface="Calibri" panose="020F0502020204030204" pitchFamily="34" charset="0"/>
                <a:cs typeface="Calibri" panose="020F0502020204030204" pitchFamily="34" charset="0"/>
              </a:rPr>
              <a:t> A margin of at least 1.5 inch on left, and 0.5 inch on right hand side of paper.</a:t>
            </a:r>
          </a:p>
          <a:p>
            <a:r>
              <a:rPr lang="en-US" sz="2400" dirty="0">
                <a:latin typeface="Calibri" panose="020F0502020204030204" pitchFamily="34" charset="0"/>
                <a:ea typeface="Calibri" panose="020F0502020204030204" pitchFamily="34" charset="0"/>
                <a:cs typeface="Calibri" panose="020F0502020204030204" pitchFamily="34" charset="0"/>
              </a:rPr>
              <a:t>There should also be one-inch margins, top and bottom. </a:t>
            </a:r>
          </a:p>
          <a:p>
            <a:r>
              <a:rPr lang="en-US" sz="2400" dirty="0">
                <a:latin typeface="Calibri" panose="020F0502020204030204" pitchFamily="34" charset="0"/>
                <a:ea typeface="Calibri" panose="020F0502020204030204" pitchFamily="34" charset="0"/>
                <a:cs typeface="Calibri" panose="020F0502020204030204" pitchFamily="34" charset="0"/>
              </a:rPr>
              <a:t>The paper should be neat and legible. </a:t>
            </a:r>
          </a:p>
          <a:p>
            <a:r>
              <a:rPr lang="en-US" sz="2400" b="1" dirty="0">
                <a:latin typeface="Calibri" panose="020F0502020204030204" pitchFamily="34" charset="0"/>
                <a:ea typeface="Calibri" panose="020F0502020204030204" pitchFamily="34" charset="0"/>
                <a:cs typeface="Calibri" panose="020F0502020204030204" pitchFamily="34" charset="0"/>
              </a:rPr>
              <a:t>If typed, </a:t>
            </a:r>
            <a:r>
              <a:rPr lang="en-US" sz="2400" dirty="0">
                <a:latin typeface="Calibri" panose="020F0502020204030204" pitchFamily="34" charset="0"/>
                <a:ea typeface="Calibri" panose="020F0502020204030204" pitchFamily="34" charset="0"/>
                <a:cs typeface="Calibri" panose="020F0502020204030204" pitchFamily="34" charset="0"/>
              </a:rPr>
              <a:t>all typing should be double-spaced.</a:t>
            </a:r>
          </a:p>
        </p:txBody>
      </p:sp>
    </p:spTree>
    <p:extLst>
      <p:ext uri="{BB962C8B-B14F-4D97-AF65-F5344CB8AC3E}">
        <p14:creationId xmlns:p14="http://schemas.microsoft.com/office/powerpoint/2010/main" val="40159053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51058-28BB-656B-DD74-24E179F3C3B3}"/>
              </a:ext>
            </a:extLst>
          </p:cNvPr>
          <p:cNvSpPr>
            <a:spLocks noGrp="1"/>
          </p:cNvSpPr>
          <p:nvPr>
            <p:ph idx="1"/>
          </p:nvPr>
        </p:nvSpPr>
        <p:spPr>
          <a:xfrm>
            <a:off x="610427" y="855896"/>
            <a:ext cx="8923866" cy="5857138"/>
          </a:xfrm>
        </p:spPr>
        <p:txBody>
          <a:bodyPr>
            <a:noAutofit/>
          </a:bodyPr>
          <a:lstStyle/>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2. PROCEDURE</a:t>
            </a:r>
          </a:p>
          <a:p>
            <a:pPr algn="just"/>
            <a:r>
              <a:rPr lang="en-US" sz="2400" dirty="0">
                <a:latin typeface="Calibri" panose="020F0502020204030204" pitchFamily="34" charset="0"/>
                <a:ea typeface="Calibri" panose="020F0502020204030204" pitchFamily="34" charset="0"/>
                <a:cs typeface="Calibri" panose="020F0502020204030204" pitchFamily="34" charset="0"/>
              </a:rPr>
              <a:t> Various steps in writing the report should be strictly adhered.</a:t>
            </a:r>
          </a:p>
          <a:p>
            <a:pPr marL="0" indent="0" algn="just">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3. LAYOUT</a:t>
            </a:r>
          </a:p>
          <a:p>
            <a:pPr algn="just"/>
            <a:r>
              <a:rPr lang="en-US" sz="2400" dirty="0">
                <a:latin typeface="Calibri" panose="020F0502020204030204" pitchFamily="34" charset="0"/>
                <a:ea typeface="Calibri" panose="020F0502020204030204" pitchFamily="34" charset="0"/>
                <a:cs typeface="Calibri" panose="020F0502020204030204" pitchFamily="34" charset="0"/>
              </a:rPr>
              <a:t>Layout of the report should be thought of and decided and accordingly adopted based on the objective. </a:t>
            </a:r>
          </a:p>
          <a:p>
            <a:pPr marL="0" indent="0" algn="just">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4. TREATMENT OF QUOTATIONS</a:t>
            </a:r>
          </a:p>
          <a:p>
            <a:pPr algn="just"/>
            <a:r>
              <a:rPr lang="en-US" sz="2400" dirty="0">
                <a:latin typeface="Calibri" panose="020F0502020204030204" pitchFamily="34" charset="0"/>
                <a:ea typeface="Calibri" panose="020F0502020204030204" pitchFamily="34" charset="0"/>
                <a:cs typeface="Calibri" panose="020F0502020204030204" pitchFamily="34" charset="0"/>
              </a:rPr>
              <a:t>Quotations should be placed in quotation marks and double spaced.</a:t>
            </a:r>
          </a:p>
          <a:p>
            <a:pPr algn="just"/>
            <a:r>
              <a:rPr lang="en-US" sz="2400" dirty="0">
                <a:latin typeface="Calibri" panose="020F0502020204030204" pitchFamily="34" charset="0"/>
                <a:ea typeface="Calibri" panose="020F0502020204030204" pitchFamily="34" charset="0"/>
                <a:cs typeface="Calibri" panose="020F0502020204030204" pitchFamily="34" charset="0"/>
              </a:rPr>
              <a:t>If of considerable length, then it should be single-spaced and indented at least 0.5” to the right of the normal text margin.</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AF6F51-E24B-F8A8-21E2-27111322BB39}"/>
              </a:ext>
            </a:extLst>
          </p:cNvPr>
          <p:cNvSpPr>
            <a:spLocks noGrp="1"/>
          </p:cNvSpPr>
          <p:nvPr>
            <p:ph type="title"/>
          </p:nvPr>
        </p:nvSpPr>
        <p:spPr>
          <a:xfrm>
            <a:off x="184774" y="275064"/>
            <a:ext cx="9581788" cy="1320800"/>
          </a:xfrm>
        </p:spPr>
        <p:txBody>
          <a:bodyPr>
            <a:normAutofit/>
          </a:bodyPr>
          <a:lstStyle/>
          <a:p>
            <a:r>
              <a:rPr lang="en-US" sz="3400" b="1" dirty="0"/>
              <a:t>MECHANICS OF WRITING A RESEARCH REPORT</a:t>
            </a:r>
            <a:endParaRPr lang="en-IN" sz="3400" b="1" dirty="0"/>
          </a:p>
        </p:txBody>
      </p:sp>
    </p:spTree>
    <p:extLst>
      <p:ext uri="{BB962C8B-B14F-4D97-AF65-F5344CB8AC3E}">
        <p14:creationId xmlns:p14="http://schemas.microsoft.com/office/powerpoint/2010/main" val="40092740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8B41B-ACAC-4CDD-D545-36A799A759CD}"/>
              </a:ext>
            </a:extLst>
          </p:cNvPr>
          <p:cNvSpPr>
            <a:spLocks noGrp="1"/>
          </p:cNvSpPr>
          <p:nvPr>
            <p:ph idx="1"/>
          </p:nvPr>
        </p:nvSpPr>
        <p:spPr>
          <a:xfrm>
            <a:off x="543519" y="1583473"/>
            <a:ext cx="9046529" cy="3972312"/>
          </a:xfrm>
        </p:spPr>
        <p:txBody>
          <a:bodyPr>
            <a:normAutofit/>
          </a:bodyPr>
          <a:lstStyle/>
          <a:p>
            <a:pPr marL="0" indent="0" algn="just">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5. THE FOOTNOTES</a:t>
            </a:r>
            <a:endParaRPr lang="en-US" sz="2400" b="0" i="0" dirty="0">
              <a:solidFill>
                <a:schemeClr val="accent2">
                  <a:lumMod val="75000"/>
                </a:schemeClr>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just"/>
            <a:r>
              <a:rPr lang="en-US" sz="2400" b="0" i="0" dirty="0">
                <a:solidFill>
                  <a:srgbClr val="202124"/>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Footnotes are </a:t>
            </a:r>
            <a:r>
              <a:rPr lang="en-US" sz="2400" b="0" i="0"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notes placed at the bottom of the page in a piece of academic writing and indicated in the text with superscript numbers.</a:t>
            </a:r>
          </a:p>
          <a:p>
            <a:pPr algn="just"/>
            <a:r>
              <a:rPr lang="en-US" sz="2400" b="0" i="0" dirty="0">
                <a:solidFill>
                  <a:srgbClr val="40404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These notes serve as references to cited works and offer supplementary information to aid the reader’s understanding.  </a:t>
            </a:r>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latin typeface="Calibri" panose="020F0502020204030204" pitchFamily="34" charset="0"/>
                <a:ea typeface="Calibri" panose="020F0502020204030204" pitchFamily="34" charset="0"/>
                <a:cs typeface="Calibri" panose="020F0502020204030204" pitchFamily="34" charset="0"/>
              </a:rPr>
              <a:t>Footnotes should be numbered consecutively, usually beginning with 1 in each chapter separately. </a:t>
            </a:r>
          </a:p>
          <a:p>
            <a:pPr algn="just"/>
            <a:r>
              <a:rPr lang="en-US" sz="2400" dirty="0">
                <a:latin typeface="Calibri" panose="020F0502020204030204" pitchFamily="34" charset="0"/>
                <a:ea typeface="Calibri" panose="020F0502020204030204" pitchFamily="34" charset="0"/>
                <a:cs typeface="Calibri" panose="020F0502020204030204" pitchFamily="34" charset="0"/>
              </a:rPr>
              <a:t>Footnotes are always typed in single space though they are divided from one another by double space.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ED89EA90-7A58-CA36-F495-16ACCEB19C0E}"/>
              </a:ext>
            </a:extLst>
          </p:cNvPr>
          <p:cNvSpPr>
            <a:spLocks noGrp="1"/>
          </p:cNvSpPr>
          <p:nvPr>
            <p:ph type="title"/>
          </p:nvPr>
        </p:nvSpPr>
        <p:spPr>
          <a:xfrm>
            <a:off x="184774" y="275064"/>
            <a:ext cx="9581788" cy="1320800"/>
          </a:xfrm>
        </p:spPr>
        <p:txBody>
          <a:bodyPr/>
          <a:lstStyle/>
          <a:p>
            <a:r>
              <a:rPr lang="en-US" dirty="0"/>
              <a:t>MECHANICS OF WRITING A RESEARCH REPORT</a:t>
            </a:r>
            <a:endParaRPr lang="en-IN" dirty="0"/>
          </a:p>
        </p:txBody>
      </p:sp>
    </p:spTree>
    <p:extLst>
      <p:ext uri="{BB962C8B-B14F-4D97-AF65-F5344CB8AC3E}">
        <p14:creationId xmlns:p14="http://schemas.microsoft.com/office/powerpoint/2010/main" val="3518953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AFB5A-9504-F8E1-8A36-65DE199225DB}"/>
              </a:ext>
            </a:extLst>
          </p:cNvPr>
          <p:cNvSpPr>
            <a:spLocks noGrp="1"/>
          </p:cNvSpPr>
          <p:nvPr>
            <p:ph idx="1"/>
          </p:nvPr>
        </p:nvSpPr>
        <p:spPr>
          <a:xfrm>
            <a:off x="476610" y="1271239"/>
            <a:ext cx="10507341" cy="4928839"/>
          </a:xfrm>
        </p:spPr>
        <p:txBody>
          <a:bodyPr numCol="2">
            <a:noAutofit/>
          </a:bodyPr>
          <a:lstStyle/>
          <a:p>
            <a:pPr marL="0" indent="0">
              <a:buNone/>
            </a:pPr>
            <a:endParaRPr lang="en-US" sz="25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500" b="1" dirty="0">
                <a:latin typeface="Calibri" panose="020F0502020204030204" pitchFamily="34" charset="0"/>
                <a:ea typeface="Calibri" panose="020F0502020204030204" pitchFamily="34" charset="0"/>
                <a:cs typeface="Calibri" panose="020F0502020204030204" pitchFamily="34" charset="0"/>
              </a:rPr>
              <a:t>Reference Format</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Author’s name in normal order </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Title of work, underlined to indicate italics.</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Place and date of publication.</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Number of volume (multivolume reference )</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Pagination references.</a:t>
            </a:r>
          </a:p>
          <a:p>
            <a:pPr marL="0" indent="0">
              <a:buNone/>
            </a:pPr>
            <a:endParaRPr lang="en-US" sz="2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5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5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500" b="1" dirty="0">
                <a:latin typeface="Calibri" panose="020F0502020204030204" pitchFamily="34" charset="0"/>
                <a:ea typeface="Calibri" panose="020F0502020204030204" pitchFamily="34" charset="0"/>
                <a:cs typeface="Calibri" panose="020F0502020204030204" pitchFamily="34" charset="0"/>
              </a:rPr>
              <a:t>Regarding periodicals reference </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Name of the author in normal order.</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Title of article, in quotation marks.</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Name of periodical, underlined to indicate italics.</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Volume number</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Date of issuance</a:t>
            </a:r>
          </a:p>
          <a:p>
            <a:pPr>
              <a:buFont typeface="+mj-lt"/>
              <a:buAutoNum type="arabicPeriod"/>
            </a:pPr>
            <a:r>
              <a:rPr lang="en-US" sz="2500" dirty="0">
                <a:latin typeface="Calibri" panose="020F0502020204030204" pitchFamily="34" charset="0"/>
                <a:ea typeface="Calibri" panose="020F0502020204030204" pitchFamily="34" charset="0"/>
                <a:cs typeface="Calibri" panose="020F0502020204030204" pitchFamily="34" charset="0"/>
              </a:rPr>
              <a:t>Pagination. </a:t>
            </a:r>
          </a:p>
          <a:p>
            <a:pPr marL="0" indent="0">
              <a:buNone/>
            </a:pP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C221337F-E981-5624-4ACF-773B7C34D58E}"/>
              </a:ext>
            </a:extLst>
          </p:cNvPr>
          <p:cNvSpPr txBox="1">
            <a:spLocks/>
          </p:cNvSpPr>
          <p:nvPr/>
        </p:nvSpPr>
        <p:spPr>
          <a:xfrm>
            <a:off x="-178419" y="107796"/>
            <a:ext cx="9946887"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t>MECHANICS OF WRITING RESEARCH REPORT</a:t>
            </a:r>
            <a:endParaRPr lang="en-IN" b="1" dirty="0"/>
          </a:p>
        </p:txBody>
      </p:sp>
    </p:spTree>
    <p:extLst>
      <p:ext uri="{BB962C8B-B14F-4D97-AF65-F5344CB8AC3E}">
        <p14:creationId xmlns:p14="http://schemas.microsoft.com/office/powerpoint/2010/main" val="1818763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65FC18-85EE-91B0-8626-AE7980A07274}"/>
              </a:ext>
            </a:extLst>
          </p:cNvPr>
          <p:cNvSpPr>
            <a:spLocks noGrp="1"/>
          </p:cNvSpPr>
          <p:nvPr>
            <p:ph idx="1"/>
          </p:nvPr>
        </p:nvSpPr>
        <p:spPr>
          <a:xfrm>
            <a:off x="532367" y="211873"/>
            <a:ext cx="9459125" cy="6467707"/>
          </a:xfrm>
        </p:spPr>
        <p:txBody>
          <a:bodyPr>
            <a:noAutofit/>
          </a:bodyPr>
          <a:lstStyle/>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Second-hand quotations </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Original author and title “quoted or cited in,”</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Second author and work</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Case of multiple authorship</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Name of first author is given and the others are indicated by “et al.” or “and others”.</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A single page should be referred to as p.</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More than one page be referred to as pp. </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If Several pages referred to at a stretch </a:t>
            </a:r>
            <a:r>
              <a:rPr lang="en-US" sz="2400" dirty="0" err="1">
                <a:latin typeface="Calibri" panose="020F0502020204030204" pitchFamily="34" charset="0"/>
                <a:ea typeface="Calibri" panose="020F0502020204030204" pitchFamily="34" charset="0"/>
                <a:cs typeface="Calibri" panose="020F0502020204030204" pitchFamily="34" charset="0"/>
              </a:rPr>
              <a:t>eg</a:t>
            </a:r>
            <a:r>
              <a:rPr lang="en-US" sz="2400" dirty="0">
                <a:latin typeface="Calibri" panose="020F0502020204030204" pitchFamily="34" charset="0"/>
                <a:ea typeface="Calibri" panose="020F0502020204030204" pitchFamily="34" charset="0"/>
                <a:cs typeface="Calibri" panose="020F0502020204030204" pitchFamily="34" charset="0"/>
              </a:rPr>
              <a:t>: pp. 190ff, (190 and following </a:t>
            </a:r>
            <a:r>
              <a:rPr lang="en-US" sz="2400" dirty="0" err="1">
                <a:latin typeface="Calibri" panose="020F0502020204030204" pitchFamily="34" charset="0"/>
                <a:ea typeface="Calibri" panose="020F0502020204030204" pitchFamily="34" charset="0"/>
                <a:cs typeface="Calibri" panose="020F0502020204030204" pitchFamily="34" charset="0"/>
              </a:rPr>
              <a:t>pgs</a:t>
            </a:r>
            <a:r>
              <a:rPr lang="en-US" sz="2400" dirty="0">
                <a:latin typeface="Calibri" panose="020F0502020204030204" pitchFamily="34" charset="0"/>
                <a:ea typeface="Calibri" panose="020F0502020204030204" pitchFamily="34" charset="0"/>
                <a:cs typeface="Calibri" panose="020F0502020204030204" pitchFamily="34" charset="0"/>
              </a:rPr>
              <a:t>).</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If only for page 190 and the following page ‘190f’.</a:t>
            </a:r>
          </a:p>
          <a:p>
            <a:pPr>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Roman numerical is generally used to indicate the number of the volume of a book. </a:t>
            </a:r>
          </a:p>
          <a:p>
            <a:pPr>
              <a:buFont typeface="+mj-lt"/>
              <a:buAutoNum type="arabicPeriod"/>
            </a:pPr>
            <a:endParaRPr lang="en-US" sz="2400" dirty="0">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endParaRPr lang="en-US"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22428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5B9E5-35A7-2E0A-8D5B-B25ABD958A70}"/>
              </a:ext>
            </a:extLst>
          </p:cNvPr>
          <p:cNvSpPr>
            <a:spLocks noGrp="1"/>
          </p:cNvSpPr>
          <p:nvPr>
            <p:ph type="title"/>
          </p:nvPr>
        </p:nvSpPr>
        <p:spPr>
          <a:xfrm>
            <a:off x="1449791" y="252491"/>
            <a:ext cx="8251769" cy="660400"/>
          </a:xfrm>
        </p:spPr>
        <p:txBody>
          <a:bodyPr>
            <a:normAutofit/>
          </a:bodyPr>
          <a:lstStyle/>
          <a:p>
            <a:pPr algn="ctr"/>
            <a:r>
              <a:rPr lang="en-US" sz="2800" b="1" dirty="0"/>
              <a:t>COMMON ABBREVIATIONS IN REPORT-WRITING</a:t>
            </a:r>
            <a:endParaRPr lang="en-IN" sz="2800" b="1" dirty="0"/>
          </a:p>
        </p:txBody>
      </p:sp>
      <p:sp>
        <p:nvSpPr>
          <p:cNvPr id="3" name="Content Placeholder 2">
            <a:extLst>
              <a:ext uri="{FF2B5EF4-FFF2-40B4-BE49-F238E27FC236}">
                <a16:creationId xmlns:a16="http://schemas.microsoft.com/office/drawing/2014/main" id="{0E2DC977-03B2-2286-5C90-D6053E96C54C}"/>
              </a:ext>
            </a:extLst>
          </p:cNvPr>
          <p:cNvSpPr>
            <a:spLocks noGrp="1"/>
          </p:cNvSpPr>
          <p:nvPr>
            <p:ph idx="1"/>
          </p:nvPr>
        </p:nvSpPr>
        <p:spPr>
          <a:xfrm>
            <a:off x="498915" y="912891"/>
            <a:ext cx="11510948" cy="5945109"/>
          </a:xfrm>
        </p:spPr>
        <p:txBody>
          <a:bodyPr numCol="3">
            <a:noAutofit/>
          </a:bodyPr>
          <a:lstStyle/>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anon</a:t>
            </a:r>
            <a:r>
              <a:rPr lang="en-US" sz="2000" dirty="0">
                <a:latin typeface="Calibri" panose="020F0502020204030204" pitchFamily="34" charset="0"/>
                <a:ea typeface="Calibri" panose="020F0502020204030204" pitchFamily="34" charset="0"/>
                <a:cs typeface="Calibri" panose="020F0502020204030204" pitchFamily="34" charset="0"/>
              </a:rPr>
              <a:t>., anonymous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ante</a:t>
            </a:r>
            <a:r>
              <a:rPr lang="en-US" sz="2000" dirty="0">
                <a:latin typeface="Calibri" panose="020F0502020204030204" pitchFamily="34" charset="0"/>
                <a:ea typeface="Calibri" panose="020F0502020204030204" pitchFamily="34" charset="0"/>
                <a:cs typeface="Calibri" panose="020F0502020204030204" pitchFamily="34" charset="0"/>
              </a:rPr>
              <a:t>., before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art., </a:t>
            </a:r>
            <a:r>
              <a:rPr lang="en-US" sz="2000" dirty="0">
                <a:latin typeface="Calibri" panose="020F0502020204030204" pitchFamily="34" charset="0"/>
                <a:ea typeface="Calibri" panose="020F0502020204030204" pitchFamily="34" charset="0"/>
                <a:cs typeface="Calibri" panose="020F0502020204030204" pitchFamily="34" charset="0"/>
              </a:rPr>
              <a:t>article </a:t>
            </a:r>
          </a:p>
          <a:p>
            <a:pPr>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aug.</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augmented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bk.,</a:t>
            </a:r>
            <a:r>
              <a:rPr lang="en-US" sz="2000" dirty="0">
                <a:latin typeface="Calibri" panose="020F0502020204030204" pitchFamily="34" charset="0"/>
                <a:ea typeface="Calibri" panose="020F0502020204030204" pitchFamily="34" charset="0"/>
                <a:cs typeface="Calibri" panose="020F0502020204030204" pitchFamily="34" charset="0"/>
              </a:rPr>
              <a:t> book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bull</a:t>
            </a:r>
            <a:r>
              <a:rPr lang="en-US" sz="2000" dirty="0">
                <a:latin typeface="Calibri" panose="020F0502020204030204" pitchFamily="34" charset="0"/>
                <a:ea typeface="Calibri" panose="020F0502020204030204" pitchFamily="34" charset="0"/>
                <a:cs typeface="Calibri" panose="020F0502020204030204" pitchFamily="34" charset="0"/>
              </a:rPr>
              <a:t>., bulletin</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 cf., </a:t>
            </a:r>
            <a:r>
              <a:rPr lang="en-US" sz="2000" dirty="0">
                <a:latin typeface="Calibri" panose="020F0502020204030204" pitchFamily="34" charset="0"/>
                <a:ea typeface="Calibri" panose="020F0502020204030204" pitchFamily="34" charset="0"/>
                <a:cs typeface="Calibri" panose="020F0502020204030204" pitchFamily="34" charset="0"/>
              </a:rPr>
              <a:t>compare </a:t>
            </a:r>
          </a:p>
          <a:p>
            <a:pPr>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ch.</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chapter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col</a:t>
            </a:r>
            <a:r>
              <a:rPr lang="en-US" sz="2000" dirty="0">
                <a:latin typeface="Calibri" panose="020F0502020204030204" pitchFamily="34" charset="0"/>
                <a:ea typeface="Calibri" panose="020F0502020204030204" pitchFamily="34" charset="0"/>
                <a:cs typeface="Calibri" panose="020F0502020204030204" pitchFamily="34" charset="0"/>
              </a:rPr>
              <a:t>., column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diss.</a:t>
            </a:r>
            <a:r>
              <a:rPr lang="en-US" sz="2000" dirty="0">
                <a:latin typeface="Calibri" panose="020F0502020204030204" pitchFamily="34" charset="0"/>
                <a:ea typeface="Calibri" panose="020F0502020204030204" pitchFamily="34" charset="0"/>
                <a:cs typeface="Calibri" panose="020F0502020204030204" pitchFamily="34" charset="0"/>
              </a:rPr>
              <a:t>, dissertation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ed.</a:t>
            </a:r>
            <a:r>
              <a:rPr lang="en-US" sz="2000" dirty="0">
                <a:latin typeface="Calibri" panose="020F0502020204030204" pitchFamily="34" charset="0"/>
                <a:ea typeface="Calibri" panose="020F0502020204030204" pitchFamily="34" charset="0"/>
                <a:cs typeface="Calibri" panose="020F0502020204030204" pitchFamily="34" charset="0"/>
              </a:rPr>
              <a:t>, editor, edition, edited.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ed. cit</a:t>
            </a:r>
            <a:r>
              <a:rPr lang="en-US" sz="2000" dirty="0">
                <a:latin typeface="Calibri" panose="020F0502020204030204" pitchFamily="34" charset="0"/>
                <a:ea typeface="Calibri" panose="020F0502020204030204" pitchFamily="34" charset="0"/>
                <a:cs typeface="Calibri" panose="020F0502020204030204" pitchFamily="34" charset="0"/>
              </a:rPr>
              <a:t>., edition cited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e.g</a:t>
            </a:r>
            <a:r>
              <a:rPr lang="en-US" sz="2000" dirty="0">
                <a:latin typeface="Calibri" panose="020F0502020204030204" pitchFamily="34" charset="0"/>
                <a:ea typeface="Calibri" panose="020F0502020204030204" pitchFamily="34" charset="0"/>
                <a:cs typeface="Calibri" panose="020F0502020204030204" pitchFamily="34" charset="0"/>
              </a:rPr>
              <a:t>. for example</a:t>
            </a:r>
          </a:p>
          <a:p>
            <a:pPr>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eng.</a:t>
            </a:r>
            <a:r>
              <a:rPr lang="en-US" sz="2000" dirty="0">
                <a:latin typeface="Calibri" panose="020F0502020204030204" pitchFamily="34" charset="0"/>
                <a:ea typeface="Calibri" panose="020F0502020204030204" pitchFamily="34" charset="0"/>
                <a:cs typeface="Calibri" panose="020F0502020204030204" pitchFamily="34" charset="0"/>
              </a:rPr>
              <a:t>, enlarged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et.al</a:t>
            </a:r>
            <a:r>
              <a:rPr lang="en-US" sz="2000" dirty="0">
                <a:latin typeface="Calibri" panose="020F0502020204030204" pitchFamily="34" charset="0"/>
                <a:ea typeface="Calibri" panose="020F0502020204030204" pitchFamily="34" charset="0"/>
                <a:cs typeface="Calibri" panose="020F0502020204030204" pitchFamily="34" charset="0"/>
              </a:rPr>
              <a:t>., and other</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et seq</a:t>
            </a:r>
            <a:r>
              <a:rPr lang="en-US" sz="2000" dirty="0">
                <a:latin typeface="Calibri" panose="020F0502020204030204" pitchFamily="34" charset="0"/>
                <a:ea typeface="Calibri" panose="020F0502020204030204" pitchFamily="34" charset="0"/>
                <a:cs typeface="Calibri" panose="020F0502020204030204" pitchFamily="34" charset="0"/>
              </a:rPr>
              <a:t>. and the following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ex</a:t>
            </a:r>
            <a:r>
              <a:rPr lang="en-US" sz="2000" dirty="0">
                <a:latin typeface="Calibri" panose="020F0502020204030204" pitchFamily="34" charset="0"/>
                <a:ea typeface="Calibri" panose="020F0502020204030204" pitchFamily="34" charset="0"/>
                <a:cs typeface="Calibri" panose="020F0502020204030204" pitchFamily="34" charset="0"/>
              </a:rPr>
              <a:t>., example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f., ff., </a:t>
            </a:r>
            <a:r>
              <a:rPr lang="en-US" sz="2000" dirty="0">
                <a:latin typeface="Calibri" panose="020F0502020204030204" pitchFamily="34" charset="0"/>
                <a:ea typeface="Calibri" panose="020F0502020204030204" pitchFamily="34" charset="0"/>
                <a:cs typeface="Calibri" panose="020F0502020204030204" pitchFamily="34" charset="0"/>
              </a:rPr>
              <a:t>and the following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fig(s)</a:t>
            </a:r>
            <a:r>
              <a:rPr lang="en-US" sz="2000" dirty="0">
                <a:latin typeface="Calibri" panose="020F0502020204030204" pitchFamily="34" charset="0"/>
                <a:ea typeface="Calibri" panose="020F0502020204030204" pitchFamily="34" charset="0"/>
                <a:cs typeface="Calibri" panose="020F0502020204030204" pitchFamily="34" charset="0"/>
              </a:rPr>
              <a:t>.,figure(s)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fn.</a:t>
            </a:r>
            <a:r>
              <a:rPr lang="en-US" sz="2000" dirty="0">
                <a:latin typeface="Calibri" panose="020F0502020204030204" pitchFamily="34" charset="0"/>
                <a:ea typeface="Calibri" panose="020F0502020204030204" pitchFamily="34" charset="0"/>
                <a:cs typeface="Calibri" panose="020F0502020204030204" pitchFamily="34" charset="0"/>
              </a:rPr>
              <a:t>, footnote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ibid</a:t>
            </a:r>
            <a:r>
              <a:rPr lang="en-US" sz="2000" dirty="0">
                <a:latin typeface="Calibri" panose="020F0502020204030204" pitchFamily="34" charset="0"/>
                <a:ea typeface="Calibri" panose="020F0502020204030204" pitchFamily="34" charset="0"/>
                <a:cs typeface="Calibri" panose="020F0502020204030204" pitchFamily="34" charset="0"/>
              </a:rPr>
              <a:t>., in the same place</a:t>
            </a:r>
          </a:p>
          <a:p>
            <a:pPr marL="457200" indent="-457200">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illust</a:t>
            </a:r>
            <a:r>
              <a:rPr lang="en-US" sz="2000" b="1" dirty="0">
                <a:latin typeface="Calibri" panose="020F0502020204030204" pitchFamily="34" charset="0"/>
                <a:ea typeface="Calibri" panose="020F0502020204030204" pitchFamily="34" charset="0"/>
                <a:cs typeface="Calibri" panose="020F0502020204030204" pitchFamily="34" charset="0"/>
              </a:rPr>
              <a:t>(s). </a:t>
            </a:r>
            <a:r>
              <a:rPr lang="en-US" sz="2000" dirty="0">
                <a:latin typeface="Calibri" panose="020F0502020204030204" pitchFamily="34" charset="0"/>
                <a:ea typeface="Calibri" panose="020F0502020204030204" pitchFamily="34" charset="0"/>
                <a:cs typeface="Calibri" panose="020F0502020204030204" pitchFamily="34" charset="0"/>
              </a:rPr>
              <a:t>illustrated, illustration(s) </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Intro., intro</a:t>
            </a:r>
            <a:r>
              <a:rPr lang="en-US" sz="2000" dirty="0">
                <a:latin typeface="Calibri" panose="020F0502020204030204" pitchFamily="34" charset="0"/>
                <a:ea typeface="Calibri" panose="020F0502020204030204" pitchFamily="34" charset="0"/>
                <a:cs typeface="Calibri" panose="020F0502020204030204" pitchFamily="34" charset="0"/>
              </a:rPr>
              <a:t>., introduction</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N.B</a:t>
            </a:r>
            <a:r>
              <a:rPr lang="en-US" sz="2000" dirty="0">
                <a:latin typeface="Calibri" panose="020F0502020204030204" pitchFamily="34" charset="0"/>
                <a:ea typeface="Calibri" panose="020F0502020204030204" pitchFamily="34" charset="0"/>
                <a:cs typeface="Calibri" panose="020F0502020204030204" pitchFamily="34" charset="0"/>
              </a:rPr>
              <a:t>., nota bene: note well</a:t>
            </a:r>
          </a:p>
          <a:p>
            <a:pPr marL="457200" indent="-457200">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 n.d., </a:t>
            </a:r>
            <a:r>
              <a:rPr lang="en-US" sz="2000" dirty="0">
                <a:latin typeface="Calibri" panose="020F0502020204030204" pitchFamily="34" charset="0"/>
                <a:ea typeface="Calibri" panose="020F0502020204030204" pitchFamily="34" charset="0"/>
                <a:cs typeface="Calibri" panose="020F0502020204030204" pitchFamily="34" charset="0"/>
              </a:rPr>
              <a:t>no date </a:t>
            </a:r>
          </a:p>
          <a:p>
            <a:pPr marL="457200" indent="-457200">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n.p</a:t>
            </a:r>
            <a:r>
              <a:rPr lang="en-US" sz="2000" dirty="0" err="1">
                <a:latin typeface="Calibri" panose="020F0502020204030204" pitchFamily="34" charset="0"/>
                <a:ea typeface="Calibri" panose="020F0502020204030204" pitchFamily="34" charset="0"/>
                <a:cs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 no place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no pub</a:t>
            </a:r>
            <a:r>
              <a:rPr lang="en-US" sz="2000" dirty="0">
                <a:latin typeface="Calibri" panose="020F0502020204030204" pitchFamily="34" charset="0"/>
                <a:ea typeface="Calibri" panose="020F0502020204030204" pitchFamily="34" charset="0"/>
                <a:cs typeface="Calibri" panose="020F0502020204030204" pitchFamily="34" charset="0"/>
              </a:rPr>
              <a:t>., no publisher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no(s)., </a:t>
            </a:r>
            <a:r>
              <a:rPr lang="en-US" sz="2000" dirty="0">
                <a:latin typeface="Calibri" panose="020F0502020204030204" pitchFamily="34" charset="0"/>
                <a:ea typeface="Calibri" panose="020F0502020204030204" pitchFamily="34" charset="0"/>
                <a:cs typeface="Calibri" panose="020F0502020204030204" pitchFamily="34" charset="0"/>
              </a:rPr>
              <a:t>number(s) </a:t>
            </a:r>
          </a:p>
          <a:p>
            <a:pPr>
              <a:buFont typeface="+mj-lt"/>
              <a:buAutoNum type="arabicPeriod"/>
            </a:pPr>
            <a:r>
              <a:rPr lang="en-US" sz="2000" b="1" dirty="0" err="1">
                <a:latin typeface="Calibri" panose="020F0502020204030204" pitchFamily="34" charset="0"/>
                <a:ea typeface="Calibri" panose="020F0502020204030204" pitchFamily="34" charset="0"/>
                <a:cs typeface="Calibri" panose="020F0502020204030204" pitchFamily="34" charset="0"/>
              </a:rPr>
              <a:t>o.p</a:t>
            </a:r>
            <a:r>
              <a:rPr lang="en-US" sz="2000" dirty="0" err="1">
                <a:latin typeface="Calibri" panose="020F0502020204030204" pitchFamily="34" charset="0"/>
                <a:ea typeface="Calibri" panose="020F0502020204030204" pitchFamily="34" charset="0"/>
                <a:cs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 out of print</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p. or pp</a:t>
            </a:r>
            <a:r>
              <a:rPr lang="en-US" sz="2000" dirty="0">
                <a:latin typeface="Calibri" panose="020F0502020204030204" pitchFamily="34" charset="0"/>
                <a:ea typeface="Calibri" panose="020F0502020204030204" pitchFamily="34" charset="0"/>
                <a:cs typeface="Calibri" panose="020F0502020204030204" pitchFamily="34" charset="0"/>
              </a:rPr>
              <a:t>., page(s)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passim: </a:t>
            </a:r>
            <a:r>
              <a:rPr lang="en-US" sz="2000" dirty="0">
                <a:latin typeface="Calibri" panose="020F0502020204030204" pitchFamily="34" charset="0"/>
                <a:ea typeface="Calibri" panose="020F0502020204030204" pitchFamily="34" charset="0"/>
                <a:cs typeface="Calibri" panose="020F0502020204030204" pitchFamily="34" charset="0"/>
              </a:rPr>
              <a:t>here and there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post</a:t>
            </a:r>
            <a:r>
              <a:rPr lang="en-US" sz="2000" dirty="0">
                <a:latin typeface="Calibri" panose="020F0502020204030204" pitchFamily="34" charset="0"/>
                <a:ea typeface="Calibri" panose="020F0502020204030204" pitchFamily="34" charset="0"/>
                <a:cs typeface="Calibri" panose="020F0502020204030204" pitchFamily="34" charset="0"/>
              </a:rPr>
              <a:t>: after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rev., </a:t>
            </a:r>
            <a:r>
              <a:rPr lang="en-US" sz="2000" dirty="0">
                <a:latin typeface="Calibri" panose="020F0502020204030204" pitchFamily="34" charset="0"/>
                <a:ea typeface="Calibri" panose="020F0502020204030204" pitchFamily="34" charset="0"/>
                <a:cs typeface="Calibri" panose="020F0502020204030204" pitchFamily="34" charset="0"/>
              </a:rPr>
              <a:t>revised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tr., trans., </a:t>
            </a:r>
            <a:r>
              <a:rPr lang="en-US" sz="2000" dirty="0">
                <a:latin typeface="Calibri" panose="020F0502020204030204" pitchFamily="34" charset="0"/>
                <a:ea typeface="Calibri" panose="020F0502020204030204" pitchFamily="34" charset="0"/>
                <a:cs typeface="Calibri" panose="020F0502020204030204" pitchFamily="34" charset="0"/>
              </a:rPr>
              <a:t>translator, translated, translation</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vid or vide: </a:t>
            </a:r>
            <a:r>
              <a:rPr lang="en-US" sz="2000" dirty="0">
                <a:latin typeface="Calibri" panose="020F0502020204030204" pitchFamily="34" charset="0"/>
                <a:ea typeface="Calibri" panose="020F0502020204030204" pitchFamily="34" charset="0"/>
                <a:cs typeface="Calibri" panose="020F0502020204030204" pitchFamily="34" charset="0"/>
              </a:rPr>
              <a:t>see, refer to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viz., </a:t>
            </a:r>
            <a:r>
              <a:rPr lang="en-US" sz="2000" dirty="0">
                <a:latin typeface="Calibri" panose="020F0502020204030204" pitchFamily="34" charset="0"/>
                <a:ea typeface="Calibri" panose="020F0502020204030204" pitchFamily="34" charset="0"/>
                <a:cs typeface="Calibri" panose="020F0502020204030204" pitchFamily="34" charset="0"/>
              </a:rPr>
              <a:t>namely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vol. or vol(s)., </a:t>
            </a:r>
            <a:r>
              <a:rPr lang="en-US" sz="2000" dirty="0">
                <a:latin typeface="Calibri" panose="020F0502020204030204" pitchFamily="34" charset="0"/>
                <a:ea typeface="Calibri" panose="020F0502020204030204" pitchFamily="34" charset="0"/>
                <a:cs typeface="Calibri" panose="020F0502020204030204" pitchFamily="34" charset="0"/>
              </a:rPr>
              <a:t>volume(s) </a:t>
            </a:r>
          </a:p>
          <a:p>
            <a:pPr>
              <a:buFont typeface="+mj-lt"/>
              <a:buAutoNum type="arabicPeriod"/>
            </a:pPr>
            <a:r>
              <a:rPr lang="en-US" sz="2000" b="1" dirty="0">
                <a:latin typeface="Calibri" panose="020F0502020204030204" pitchFamily="34" charset="0"/>
                <a:ea typeface="Calibri" panose="020F0502020204030204" pitchFamily="34" charset="0"/>
                <a:cs typeface="Calibri" panose="020F0502020204030204" pitchFamily="34" charset="0"/>
              </a:rPr>
              <a:t>vs., </a:t>
            </a:r>
            <a:r>
              <a:rPr lang="en-US" sz="2000" dirty="0">
                <a:latin typeface="Calibri" panose="020F0502020204030204" pitchFamily="34" charset="0"/>
                <a:ea typeface="Calibri" panose="020F0502020204030204" pitchFamily="34" charset="0"/>
                <a:cs typeface="Calibri" panose="020F0502020204030204" pitchFamily="34" charset="0"/>
              </a:rPr>
              <a:t>versus: against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0445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935D3B-313F-44C1-593B-04B84109C9C5}"/>
              </a:ext>
            </a:extLst>
          </p:cNvPr>
          <p:cNvSpPr>
            <a:spLocks noGrp="1"/>
          </p:cNvSpPr>
          <p:nvPr>
            <p:ph idx="1"/>
          </p:nvPr>
        </p:nvSpPr>
        <p:spPr>
          <a:xfrm>
            <a:off x="457201" y="83634"/>
            <a:ext cx="9300116" cy="6690732"/>
          </a:xfrm>
        </p:spPr>
        <p:txBody>
          <a:bodyPr>
            <a:noAutofit/>
          </a:bodyPr>
          <a:lstStyle/>
          <a:p>
            <a:pPr marL="0" indent="0" algn="just">
              <a:buNone/>
            </a:pPr>
            <a:r>
              <a:rPr lang="en-US" sz="2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6. USE OF STATISTICS, CHARTS AND GRAPHS</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The use of statistics in research reports contributes towards the clarification and simplification of the research results.</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Statistics are usually presented in the form of tables, charts, bars and line-graphs and pictograms. </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Statistics , charts and graphs should be self explanatory.</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Statistical presentations should be neat and attractive. </a:t>
            </a:r>
          </a:p>
          <a:p>
            <a:pPr algn="just"/>
            <a:endParaRPr lang="en-US" sz="2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2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7. THE FINAL DRAFT</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Rewriting the rough draft of the report should be done with great care.</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Are the sentences written in the report clear? </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Are they grammatically, correct? </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Do they say what is meant’?</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Do the various points incorporated in the report fit together logically?</a:t>
            </a:r>
          </a:p>
          <a:p>
            <a:pPr algn="just">
              <a:buFont typeface="+mj-lt"/>
              <a:buAutoNum type="arabicPeriod"/>
            </a:pPr>
            <a:r>
              <a:rPr lang="en-US" sz="2200" dirty="0">
                <a:latin typeface="Calibri" panose="020F0502020204030204" pitchFamily="34" charset="0"/>
                <a:ea typeface="Calibri" panose="020F0502020204030204" pitchFamily="34" charset="0"/>
                <a:cs typeface="Calibri" panose="020F0502020204030204" pitchFamily="34" charset="0"/>
              </a:rPr>
              <a:t>Sentences that seem clear to the writer may prove quite confusing to others.</a:t>
            </a:r>
          </a:p>
        </p:txBody>
      </p:sp>
    </p:spTree>
    <p:extLst>
      <p:ext uri="{BB962C8B-B14F-4D97-AF65-F5344CB8AC3E}">
        <p14:creationId xmlns:p14="http://schemas.microsoft.com/office/powerpoint/2010/main" val="38371001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75882-9E1A-36A3-EB70-F72A18E12585}"/>
              </a:ext>
            </a:extLst>
          </p:cNvPr>
          <p:cNvSpPr>
            <a:spLocks noGrp="1"/>
          </p:cNvSpPr>
          <p:nvPr>
            <p:ph idx="1"/>
          </p:nvPr>
        </p:nvSpPr>
        <p:spPr>
          <a:xfrm>
            <a:off x="688485" y="501805"/>
            <a:ext cx="8596668" cy="5854390"/>
          </a:xfrm>
        </p:spPr>
        <p:txBody>
          <a:bodyPr>
            <a:noAutofit/>
          </a:bodyPr>
          <a:lstStyle/>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8. BIBLIOGRAPHY</a:t>
            </a:r>
          </a:p>
          <a:p>
            <a:r>
              <a:rPr lang="en-US" sz="2400" dirty="0">
                <a:latin typeface="Calibri" panose="020F0502020204030204" pitchFamily="34" charset="0"/>
                <a:ea typeface="Calibri" panose="020F0502020204030204" pitchFamily="34" charset="0"/>
                <a:cs typeface="Calibri" panose="020F0502020204030204" pitchFamily="34" charset="0"/>
              </a:rPr>
              <a:t>Bibliography should be prepared and appended to the research report.</a:t>
            </a:r>
          </a:p>
          <a:p>
            <a:pPr marL="0" indent="0">
              <a:buNone/>
            </a:pPr>
            <a:r>
              <a:rPr lang="en-US" sz="2400"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9. PREPARATION OF THE INDEX</a:t>
            </a:r>
          </a:p>
          <a:p>
            <a:r>
              <a:rPr lang="en-US" sz="2400" dirty="0">
                <a:latin typeface="Calibri" panose="020F0502020204030204" pitchFamily="34" charset="0"/>
                <a:ea typeface="Calibri" panose="020F0502020204030204" pitchFamily="34" charset="0"/>
                <a:cs typeface="Calibri" panose="020F0502020204030204" pitchFamily="34" charset="0"/>
              </a:rPr>
              <a:t>Index, acts as a good guide, to the reader. </a:t>
            </a:r>
          </a:p>
          <a:p>
            <a:r>
              <a:rPr lang="en-US" sz="2400" dirty="0">
                <a:latin typeface="Calibri" panose="020F0502020204030204" pitchFamily="34" charset="0"/>
                <a:ea typeface="Calibri" panose="020F0502020204030204" pitchFamily="34" charset="0"/>
                <a:cs typeface="Calibri" panose="020F0502020204030204" pitchFamily="34" charset="0"/>
              </a:rPr>
              <a:t>Index may be prepared both as subject index and as author index.</a:t>
            </a:r>
          </a:p>
          <a:p>
            <a:r>
              <a:rPr lang="en-US" sz="2400" b="1" dirty="0">
                <a:latin typeface="Calibri" panose="020F0502020204030204" pitchFamily="34" charset="0"/>
                <a:ea typeface="Calibri" panose="020F0502020204030204" pitchFamily="34" charset="0"/>
                <a:cs typeface="Calibri" panose="020F0502020204030204" pitchFamily="34" charset="0"/>
              </a:rPr>
              <a:t>SUBJECT INDEX </a:t>
            </a:r>
            <a:r>
              <a:rPr lang="en-US" sz="2400" dirty="0">
                <a:latin typeface="Calibri" panose="020F0502020204030204" pitchFamily="34" charset="0"/>
                <a:ea typeface="Calibri" panose="020F0502020204030204" pitchFamily="34" charset="0"/>
                <a:cs typeface="Calibri" panose="020F0502020204030204" pitchFamily="34" charset="0"/>
              </a:rPr>
              <a:t>gives the names of the subject-topics or concepts along with the number of pages on which they have appeared or discussed in the report.</a:t>
            </a:r>
          </a:p>
          <a:p>
            <a:r>
              <a:rPr lang="en-US" sz="2400" b="1" dirty="0">
                <a:latin typeface="Calibri" panose="020F0502020204030204" pitchFamily="34" charset="0"/>
                <a:ea typeface="Calibri" panose="020F0502020204030204" pitchFamily="34" charset="0"/>
                <a:cs typeface="Calibri" panose="020F0502020204030204" pitchFamily="34" charset="0"/>
              </a:rPr>
              <a:t>AUTHOR INDEX </a:t>
            </a:r>
            <a:r>
              <a:rPr lang="en-US" sz="2400" dirty="0">
                <a:latin typeface="Calibri" panose="020F0502020204030204" pitchFamily="34" charset="0"/>
                <a:ea typeface="Calibri" panose="020F0502020204030204" pitchFamily="34" charset="0"/>
                <a:cs typeface="Calibri" panose="020F0502020204030204" pitchFamily="34" charset="0"/>
              </a:rPr>
              <a:t>gives the similar information regarding the names of authors.</a:t>
            </a:r>
          </a:p>
          <a:p>
            <a:r>
              <a:rPr lang="en-US" sz="2400" dirty="0">
                <a:latin typeface="Calibri" panose="020F0502020204030204" pitchFamily="34" charset="0"/>
                <a:ea typeface="Calibri" panose="020F0502020204030204" pitchFamily="34" charset="0"/>
                <a:cs typeface="Calibri" panose="020F0502020204030204" pitchFamily="34" charset="0"/>
              </a:rPr>
              <a:t>The index should always be arranged alphabetically. </a:t>
            </a:r>
          </a:p>
        </p:txBody>
      </p:sp>
    </p:spTree>
    <p:extLst>
      <p:ext uri="{BB962C8B-B14F-4D97-AF65-F5344CB8AC3E}">
        <p14:creationId xmlns:p14="http://schemas.microsoft.com/office/powerpoint/2010/main" val="4008857748"/>
      </p:ext>
    </p:extLst>
  </p:cSld>
  <p:clrMapOvr>
    <a:masterClrMapping/>
  </p:clrMapOvr>
</p:sld>
</file>

<file path=ppt/theme/theme1.xml><?xml version="1.0" encoding="utf-8"?>
<a:theme xmlns:a="http://schemas.openxmlformats.org/drawingml/2006/main" name="Facet">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5140</TotalTime>
  <Words>5532</Words>
  <Application>Microsoft Office PowerPoint</Application>
  <PresentationFormat>Widescreen</PresentationFormat>
  <Paragraphs>644</Paragraphs>
  <Slides>59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Arial</vt:lpstr>
      <vt:lpstr>Calibri</vt:lpstr>
      <vt:lpstr>Trebuchet MS</vt:lpstr>
      <vt:lpstr>Wingdings</vt:lpstr>
      <vt:lpstr>Wingdings 3</vt:lpstr>
      <vt:lpstr>Facet</vt:lpstr>
      <vt:lpstr>MODULE 4  DATA  COLLECTION INTERPRETATION AND REPORTING </vt:lpstr>
      <vt:lpstr>DATA COLLECTION</vt:lpstr>
      <vt:lpstr>PRIMARY VS SECONDARY DATA</vt:lpstr>
      <vt:lpstr>PowerPoint Presentation</vt:lpstr>
      <vt:lpstr>OBSERVATION METHOD</vt:lpstr>
      <vt:lpstr>STRUCTURED   VS UNSTRUCTURED OBSERVATION</vt:lpstr>
      <vt:lpstr>OBSERVATION METHOD PROS AND CONS</vt:lpstr>
      <vt:lpstr>BASED ON OBSERVER PARTICIPATION</vt:lpstr>
      <vt:lpstr>MERITS &amp; DEMERITS OF  PARTICIPANT OBSERVATION</vt:lpstr>
      <vt:lpstr>BASED ON OBSERVATION SETTING</vt:lpstr>
      <vt:lpstr>PowerPoint Presentation</vt:lpstr>
      <vt:lpstr>INTERVIEW METHOD - PERSONAL</vt:lpstr>
      <vt:lpstr>PERSONAL INTERVIEW TYPES</vt:lpstr>
      <vt:lpstr>PERSONAL INTERVIEW TYPES</vt:lpstr>
      <vt:lpstr>PERSONAL INTERVIEW TYPES</vt:lpstr>
      <vt:lpstr>PERSONAL INTERVIEW </vt:lpstr>
      <vt:lpstr>TELEPHONIC INTERVIEW </vt:lpstr>
      <vt:lpstr>TELEPHONIC INTERVIEW</vt:lpstr>
      <vt:lpstr>QUESTIONNAIR METHOD OF  DATA  COLLECTION</vt:lpstr>
      <vt:lpstr>DATA COLLECTION - QUESTIONNAIRES</vt:lpstr>
      <vt:lpstr>QUESTIONNAIR METHOD</vt:lpstr>
      <vt:lpstr>PowerPoint Presentation</vt:lpstr>
      <vt:lpstr>QUESTION SEQUENCE</vt:lpstr>
      <vt:lpstr>PowerPoint Presentation</vt:lpstr>
      <vt:lpstr>QUESTION FORMULATION AND WORDING</vt:lpstr>
      <vt:lpstr>PowerPoint Presentation</vt:lpstr>
      <vt:lpstr>PowerPoint Presentation</vt:lpstr>
      <vt:lpstr>PowerPoint Presentation</vt:lpstr>
      <vt:lpstr>COLLECTION OF DATA THROUGH SCHEDULES</vt:lpstr>
      <vt:lpstr>COLLECTION OF SECONDARY DATA</vt:lpstr>
      <vt:lpstr>CHARACTERISTICS OF SECONDARY DATA</vt:lpstr>
      <vt:lpstr>PowerPoint Presentation</vt:lpstr>
      <vt:lpstr>PowerPoint Presentation</vt:lpstr>
      <vt:lpstr>INTERPRETATION OF DATA</vt:lpstr>
      <vt:lpstr>WHY INTERPRETATION?</vt:lpstr>
      <vt:lpstr>TECHNIQUE OF INTERPRETATION</vt:lpstr>
      <vt:lpstr>PowerPoint Presentation</vt:lpstr>
      <vt:lpstr>STEPS IN WRITING REPORT</vt:lpstr>
      <vt:lpstr>PowerPoint Presentation</vt:lpstr>
      <vt:lpstr>PowerPoint Presentation</vt:lpstr>
      <vt:lpstr>PowerPoint Presentation</vt:lpstr>
      <vt:lpstr>BIBLIOGRAPHY ENTRY FORMAT</vt:lpstr>
      <vt:lpstr>PowerPoint Presentation</vt:lpstr>
      <vt:lpstr>LAYOUT OF THE RESEARCH REPORT</vt:lpstr>
      <vt:lpstr>SECTIONS OF MAIN TEXT</vt:lpstr>
      <vt:lpstr>PowerPoint Presentation</vt:lpstr>
      <vt:lpstr>PowerPoint Presentation</vt:lpstr>
      <vt:lpstr>TYPES OF REPORTS</vt:lpstr>
      <vt:lpstr>TECHNICAL VS POPULAR REPORT</vt:lpstr>
      <vt:lpstr>TECHNICAL REPORT</vt:lpstr>
      <vt:lpstr>POPULAR REPORT</vt:lpstr>
      <vt:lpstr>MECHANICS OF WRITING A RESEARCH REPORT</vt:lpstr>
      <vt:lpstr>MECHANICS OF WRITING A RESEARCH REPORT</vt:lpstr>
      <vt:lpstr>MECHANICS OF WRITING A RESEARCH REPORT</vt:lpstr>
      <vt:lpstr>PowerPoint Presentation</vt:lpstr>
      <vt:lpstr>PowerPoint Presentation</vt:lpstr>
      <vt:lpstr>COMMON ABBREVIATIONS IN REPORT-WRITING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COLLECTION INTERPRETATION REPORT  WRITING</dc:title>
  <dc:creator>Susan Shaju</dc:creator>
  <cp:lastModifiedBy>Susan Shaju</cp:lastModifiedBy>
  <cp:revision>287</cp:revision>
  <dcterms:created xsi:type="dcterms:W3CDTF">2024-05-30T09:06:12Z</dcterms:created>
  <dcterms:modified xsi:type="dcterms:W3CDTF">2024-06-29T10:55:13Z</dcterms:modified>
</cp:coreProperties>
</file>