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0" r:id="rId3"/>
    <p:sldId id="262" r:id="rId4"/>
    <p:sldId id="263" r:id="rId5"/>
    <p:sldId id="264" r:id="rId6"/>
    <p:sldId id="265" r:id="rId7"/>
    <p:sldId id="266" r:id="rId8"/>
    <p:sldId id="267" r:id="rId9"/>
    <p:sldId id="268" r:id="rId10"/>
    <p:sldId id="269" r:id="rId11"/>
    <p:sldId id="270" r:id="rId12"/>
    <p:sldId id="271" r:id="rId13"/>
    <p:sldId id="273"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851D4-2523-885A-8983-3AE5B6D3A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75E6F4-22B5-4374-3231-FC349BA344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A9A3ED-7E4D-B9CB-B6F9-A6A2780F7FD7}"/>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5" name="Footer Placeholder 4">
            <a:extLst>
              <a:ext uri="{FF2B5EF4-FFF2-40B4-BE49-F238E27FC236}">
                <a16:creationId xmlns:a16="http://schemas.microsoft.com/office/drawing/2014/main" id="{B0D7785E-BD29-A613-7467-899644258D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68EAF1-E5AC-95AB-F2A3-D6FCB053C1AC}"/>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2026395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8ACFB-598F-DABE-545F-2452EB2996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8877EF-3E9C-459D-32E0-46320D6E86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D71E09-E564-D4BE-A411-982D1D4BAA39}"/>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5" name="Footer Placeholder 4">
            <a:extLst>
              <a:ext uri="{FF2B5EF4-FFF2-40B4-BE49-F238E27FC236}">
                <a16:creationId xmlns:a16="http://schemas.microsoft.com/office/drawing/2014/main" id="{611B559F-FB77-4F0A-5632-26E0E2F28C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97F1B8-49DE-7A4A-3CE8-0382189865A4}"/>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214586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789B-F632-BD98-A0BB-D3DCC5BE35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FFBCEE-1BE7-A8C9-D31B-2BB7BA5155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B2F36B-C7A3-E93D-8A52-1D184057522D}"/>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5" name="Footer Placeholder 4">
            <a:extLst>
              <a:ext uri="{FF2B5EF4-FFF2-40B4-BE49-F238E27FC236}">
                <a16:creationId xmlns:a16="http://schemas.microsoft.com/office/drawing/2014/main" id="{7BE3482E-5778-4047-FF8A-2F5D24D84B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C73806-62FD-6F54-30EB-12FAA2527901}"/>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989479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5F11-2C3D-D8D0-2777-A518096E4F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BA83D3-A552-4EE9-95A4-4DCF7B164F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631DB8-9CEF-9D9E-9BBB-D1432BBAE8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92BF51-23A6-BD7B-A91A-12B3DBB25DC6}"/>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6" name="Footer Placeholder 5">
            <a:extLst>
              <a:ext uri="{FF2B5EF4-FFF2-40B4-BE49-F238E27FC236}">
                <a16:creationId xmlns:a16="http://schemas.microsoft.com/office/drawing/2014/main" id="{5020A41B-CFB0-E205-5F3D-47F30A555F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D0D93C-F73B-4148-9332-602CA3AFEE59}"/>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2003024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A8B1-35B6-F466-B754-F4215FD5F3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CE05C8-5B10-F54E-DA05-0D6A099316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81C8DA-CD68-EAAE-2BA2-E9305379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3FD2CB-13B1-1326-B7BA-097FE9AB4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45054D-ED26-693D-1498-3449BBFFC1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35C09A-0262-43A7-4E92-92EF0402F39E}"/>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8" name="Footer Placeholder 7">
            <a:extLst>
              <a:ext uri="{FF2B5EF4-FFF2-40B4-BE49-F238E27FC236}">
                <a16:creationId xmlns:a16="http://schemas.microsoft.com/office/drawing/2014/main" id="{2D353740-FEA2-FED6-39FA-97A68E52C0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DF230B-2D65-B874-8048-10C0DE5E1CDD}"/>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604973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6B749-7ACF-0CF5-F2E8-0DF23D2BC5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601C36-EE0B-B26B-22D2-0BB476C8BE95}"/>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4" name="Footer Placeholder 3">
            <a:extLst>
              <a:ext uri="{FF2B5EF4-FFF2-40B4-BE49-F238E27FC236}">
                <a16:creationId xmlns:a16="http://schemas.microsoft.com/office/drawing/2014/main" id="{83638D05-D294-BB39-7C80-4F6AB517722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E5D1D9-2537-947A-0111-AB8D1C0F90AF}"/>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1430269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F24B28-08D7-5D58-0027-E4E0C188FAD6}"/>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3" name="Footer Placeholder 2">
            <a:extLst>
              <a:ext uri="{FF2B5EF4-FFF2-40B4-BE49-F238E27FC236}">
                <a16:creationId xmlns:a16="http://schemas.microsoft.com/office/drawing/2014/main" id="{441A967D-3A64-4563-B26E-F259512063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A0B52A-9EF2-A07A-8200-228BB3295E79}"/>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275685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47B21-5293-9E41-EA1E-22141CDF4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C822E9-EB51-BA5C-B502-5E0AB27DFC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A5967F-8506-359F-9D56-E64923BFD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102278-2D31-0AE8-EB77-6CE59086BCB3}"/>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6" name="Footer Placeholder 5">
            <a:extLst>
              <a:ext uri="{FF2B5EF4-FFF2-40B4-BE49-F238E27FC236}">
                <a16:creationId xmlns:a16="http://schemas.microsoft.com/office/drawing/2014/main" id="{963EE11D-21D2-3285-1157-E7148444C0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9D7FA1-9F28-9AAE-5902-DB0EE78161B4}"/>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387185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4CBB-1791-67C2-73E1-F37D477BEC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BADC23-1B49-B17E-C9BD-0669DA693A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37747F-D21F-418D-5A46-57F0AB04C5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AFE76-0701-020F-3066-C02BF5F56B2E}"/>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6" name="Footer Placeholder 5">
            <a:extLst>
              <a:ext uri="{FF2B5EF4-FFF2-40B4-BE49-F238E27FC236}">
                <a16:creationId xmlns:a16="http://schemas.microsoft.com/office/drawing/2014/main" id="{C2209224-E0D4-51EF-550F-3D11A5CD1C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76FC45-A473-E961-A7F4-486623146172}"/>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334351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B1A84-422F-01CA-D457-25621A4EB6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D4EFB9-57FD-412E-7C38-7E1CE61BF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E1193F-59EB-F449-8887-A56A09B40F70}"/>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5" name="Footer Placeholder 4">
            <a:extLst>
              <a:ext uri="{FF2B5EF4-FFF2-40B4-BE49-F238E27FC236}">
                <a16:creationId xmlns:a16="http://schemas.microsoft.com/office/drawing/2014/main" id="{93D5336D-231B-DFD7-1166-EEA2501A96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657912-34CD-ACB7-A923-D1468815EE01}"/>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2192767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0F455-F20E-41F8-68DE-66CCDEBB7F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CB9285-3B52-0190-72DD-C7A8AD35F7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E3F55B-F9E0-C9D3-388B-F8328E294C7B}"/>
              </a:ext>
            </a:extLst>
          </p:cNvPr>
          <p:cNvSpPr>
            <a:spLocks noGrp="1"/>
          </p:cNvSpPr>
          <p:nvPr>
            <p:ph type="dt" sz="half" idx="10"/>
          </p:nvPr>
        </p:nvSpPr>
        <p:spPr/>
        <p:txBody>
          <a:bodyPr/>
          <a:lstStyle/>
          <a:p>
            <a:fld id="{225E76F1-985C-450A-9E68-0B12FFD633C9}" type="datetimeFigureOut">
              <a:rPr lang="en-IN" smtClean="0"/>
              <a:t>08-01-2024</a:t>
            </a:fld>
            <a:endParaRPr lang="en-IN"/>
          </a:p>
        </p:txBody>
      </p:sp>
      <p:sp>
        <p:nvSpPr>
          <p:cNvPr id="5" name="Footer Placeholder 4">
            <a:extLst>
              <a:ext uri="{FF2B5EF4-FFF2-40B4-BE49-F238E27FC236}">
                <a16:creationId xmlns:a16="http://schemas.microsoft.com/office/drawing/2014/main" id="{5C74F3C6-F965-AC79-C1C5-C5D4E09345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C28D7-B00D-1CE8-07E3-438A1F0AD3CC}"/>
              </a:ext>
            </a:extLst>
          </p:cNvPr>
          <p:cNvSpPr>
            <a:spLocks noGrp="1"/>
          </p:cNvSpPr>
          <p:nvPr>
            <p:ph type="sldNum" sz="quarter" idx="12"/>
          </p:nvPr>
        </p:nvSpPr>
        <p:spPr/>
        <p:txBody>
          <a:bodyPr/>
          <a:lstStyle/>
          <a:p>
            <a:fld id="{FFC7D56B-4E74-479E-A869-EA87E4B1DC6F}" type="slidenum">
              <a:rPr lang="en-IN" smtClean="0"/>
              <a:t>‹#›</a:t>
            </a:fld>
            <a:endParaRPr lang="en-IN"/>
          </a:p>
        </p:txBody>
      </p:sp>
    </p:spTree>
    <p:extLst>
      <p:ext uri="{BB962C8B-B14F-4D97-AF65-F5344CB8AC3E}">
        <p14:creationId xmlns:p14="http://schemas.microsoft.com/office/powerpoint/2010/main" val="262794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B8E479-1A5E-63E6-58F7-744D337D36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1781B5-BBB1-9054-0F24-2B6040A079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8F953F-B533-6B4A-4906-1D984D5ACC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E76F1-985C-450A-9E68-0B12FFD633C9}" type="datetimeFigureOut">
              <a:rPr lang="en-IN" smtClean="0"/>
              <a:t>08-01-2024</a:t>
            </a:fld>
            <a:endParaRPr lang="en-IN"/>
          </a:p>
        </p:txBody>
      </p:sp>
      <p:sp>
        <p:nvSpPr>
          <p:cNvPr id="5" name="Footer Placeholder 4">
            <a:extLst>
              <a:ext uri="{FF2B5EF4-FFF2-40B4-BE49-F238E27FC236}">
                <a16:creationId xmlns:a16="http://schemas.microsoft.com/office/drawing/2014/main" id="{67E1D6E7-AEAB-8CB9-9EC8-0268C745B0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9D83CF-630E-5C6C-6528-42FEB9F4C1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7D56B-4E74-479E-A869-EA87E4B1DC6F}" type="slidenum">
              <a:rPr lang="en-IN" smtClean="0"/>
              <a:t>‹#›</a:t>
            </a:fld>
            <a:endParaRPr lang="en-IN"/>
          </a:p>
        </p:txBody>
      </p:sp>
    </p:spTree>
    <p:extLst>
      <p:ext uri="{BB962C8B-B14F-4D97-AF65-F5344CB8AC3E}">
        <p14:creationId xmlns:p14="http://schemas.microsoft.com/office/powerpoint/2010/main" val="1645403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22274-0AFD-90E6-4046-62D8A671EA15}"/>
              </a:ext>
            </a:extLst>
          </p:cNvPr>
          <p:cNvSpPr>
            <a:spLocks noGrp="1"/>
          </p:cNvSpPr>
          <p:nvPr>
            <p:ph type="ctrTitle"/>
          </p:nvPr>
        </p:nvSpPr>
        <p:spPr/>
        <p:txBody>
          <a:bodyPr>
            <a:normAutofit fontScale="90000"/>
          </a:bodyPr>
          <a:lstStyle/>
          <a:p>
            <a:r>
              <a:rPr lang="en-US" sz="6000" b="1" dirty="0">
                <a:effectLst/>
                <a:latin typeface="Cambria" panose="02040503050406030204" pitchFamily="18" charset="0"/>
                <a:ea typeface="Times New Roman" panose="02020603050405020304" pitchFamily="18" charset="0"/>
              </a:rPr>
              <a:t>Sampling Design &amp; Measurement Techniques</a:t>
            </a:r>
            <a:endParaRPr lang="en-IN" dirty="0"/>
          </a:p>
        </p:txBody>
      </p:sp>
      <p:sp>
        <p:nvSpPr>
          <p:cNvPr id="3" name="Subtitle 2">
            <a:extLst>
              <a:ext uri="{FF2B5EF4-FFF2-40B4-BE49-F238E27FC236}">
                <a16:creationId xmlns:a16="http://schemas.microsoft.com/office/drawing/2014/main" id="{A7F8009B-AB8E-6611-B0D6-8DFAEBE49E91}"/>
              </a:ext>
            </a:extLst>
          </p:cNvPr>
          <p:cNvSpPr>
            <a:spLocks noGrp="1"/>
          </p:cNvSpPr>
          <p:nvPr>
            <p:ph type="subTitle" idx="1"/>
          </p:nvPr>
        </p:nvSpPr>
        <p:spPr/>
        <p:txBody>
          <a:bodyPr/>
          <a:lstStyle/>
          <a:p>
            <a:r>
              <a:rPr lang="en-US" sz="2400" b="1" dirty="0">
                <a:effectLst/>
                <a:latin typeface="Cambria" panose="02040503050406030204" pitchFamily="18" charset="0"/>
                <a:ea typeface="Times New Roman" panose="02020603050405020304" pitchFamily="18" charset="0"/>
              </a:rPr>
              <a:t>MODULE 3</a:t>
            </a:r>
            <a:endParaRPr lang="en-IN" dirty="0"/>
          </a:p>
        </p:txBody>
      </p:sp>
    </p:spTree>
    <p:extLst>
      <p:ext uri="{BB962C8B-B14F-4D97-AF65-F5344CB8AC3E}">
        <p14:creationId xmlns:p14="http://schemas.microsoft.com/office/powerpoint/2010/main" val="2139676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7B45E-579D-D2E2-744F-DC0EEC8C0413}"/>
              </a:ext>
            </a:extLst>
          </p:cNvPr>
          <p:cNvSpPr>
            <a:spLocks noGrp="1"/>
          </p:cNvSpPr>
          <p:nvPr>
            <p:ph type="title"/>
          </p:nvPr>
        </p:nvSpPr>
        <p:spPr>
          <a:xfrm>
            <a:off x="0" y="110295"/>
            <a:ext cx="12192000" cy="1325563"/>
          </a:xfrm>
        </p:spPr>
        <p:txBody>
          <a:bodyPr>
            <a:normAutofit/>
          </a:bodyPr>
          <a:lstStyle/>
          <a:p>
            <a:pPr algn="just"/>
            <a:r>
              <a:rPr lang="en-US" sz="4400" b="1" dirty="0">
                <a:effectLst/>
                <a:latin typeface="Cambria" panose="02040503050406030204" pitchFamily="18" charset="0"/>
                <a:ea typeface="Times New Roman" panose="02020603050405020304" pitchFamily="18" charset="0"/>
              </a:rPr>
              <a:t>MODULE 3: Sampling Design &amp; Measurement Techniques</a:t>
            </a:r>
            <a:endParaRPr lang="en-IN" dirty="0"/>
          </a:p>
        </p:txBody>
      </p:sp>
      <p:sp>
        <p:nvSpPr>
          <p:cNvPr id="3" name="Content Placeholder 2">
            <a:extLst>
              <a:ext uri="{FF2B5EF4-FFF2-40B4-BE49-F238E27FC236}">
                <a16:creationId xmlns:a16="http://schemas.microsoft.com/office/drawing/2014/main" id="{AA0C99B4-0B05-6D5C-8E79-B283EA1E0B5D}"/>
              </a:ext>
            </a:extLst>
          </p:cNvPr>
          <p:cNvSpPr>
            <a:spLocks noGrp="1"/>
          </p:cNvSpPr>
          <p:nvPr>
            <p:ph idx="1"/>
          </p:nvPr>
        </p:nvSpPr>
        <p:spPr>
          <a:xfrm>
            <a:off x="358520" y="1465864"/>
            <a:ext cx="10515600" cy="5084838"/>
          </a:xfrm>
        </p:spPr>
        <p:txBody>
          <a:bodyPr>
            <a:normAutofit lnSpcReduction="10000"/>
          </a:bodyPr>
          <a:lstStyle/>
          <a:p>
            <a:pPr marL="0" indent="0" algn="just">
              <a:lnSpc>
                <a:spcPct val="115000"/>
              </a:lnSpc>
              <a:buNone/>
            </a:pPr>
            <a:r>
              <a:rPr lang="en-US" sz="3200" b="1" dirty="0">
                <a:effectLst/>
                <a:latin typeface="Cambria" panose="02040503050406030204" pitchFamily="18" charset="0"/>
                <a:ea typeface="Times New Roman" panose="02020603050405020304" pitchFamily="18" charset="0"/>
              </a:rPr>
              <a:t>Sampling Design: </a:t>
            </a:r>
          </a:p>
          <a:p>
            <a:pPr algn="just">
              <a:lnSpc>
                <a:spcPct val="115000"/>
              </a:lnSpc>
            </a:pPr>
            <a:r>
              <a:rPr lang="en-US" sz="2400" dirty="0">
                <a:effectLst/>
                <a:latin typeface="Cambria" panose="02040503050406030204" pitchFamily="18" charset="0"/>
                <a:ea typeface="Times New Roman" panose="02020603050405020304" pitchFamily="18" charset="0"/>
              </a:rPr>
              <a:t>Introduction</a:t>
            </a:r>
          </a:p>
          <a:p>
            <a:pPr algn="just">
              <a:lnSpc>
                <a:spcPct val="115000"/>
              </a:lnSpc>
            </a:pPr>
            <a:r>
              <a:rPr lang="en-US" sz="2400" dirty="0">
                <a:effectLst/>
                <a:latin typeface="Cambria" panose="02040503050406030204" pitchFamily="18" charset="0"/>
                <a:ea typeface="Times New Roman" panose="02020603050405020304" pitchFamily="18" charset="0"/>
              </a:rPr>
              <a:t>Steps in sampling design</a:t>
            </a:r>
          </a:p>
          <a:p>
            <a:pPr algn="just">
              <a:lnSpc>
                <a:spcPct val="115000"/>
              </a:lnSpc>
            </a:pPr>
            <a:r>
              <a:rPr lang="en-US" sz="2400" dirty="0">
                <a:effectLst/>
                <a:latin typeface="Cambria" panose="02040503050406030204" pitchFamily="18" charset="0"/>
                <a:ea typeface="Times New Roman" panose="02020603050405020304" pitchFamily="18" charset="0"/>
              </a:rPr>
              <a:t>Characteristics of a good sample design</a:t>
            </a:r>
          </a:p>
          <a:p>
            <a:pPr algn="just">
              <a:lnSpc>
                <a:spcPct val="115000"/>
              </a:lnSpc>
            </a:pPr>
            <a:r>
              <a:rPr lang="en-US" sz="2400" dirty="0">
                <a:effectLst/>
                <a:latin typeface="Cambria" panose="02040503050406030204" pitchFamily="18" charset="0"/>
                <a:ea typeface="Times New Roman" panose="02020603050405020304" pitchFamily="18" charset="0"/>
              </a:rPr>
              <a:t>probability and non- probability sample designs.</a:t>
            </a:r>
            <a:endParaRPr lang="en-IN" sz="2400" dirty="0">
              <a:effectLst/>
              <a:latin typeface="Times New Roman" panose="02020603050405020304" pitchFamily="18" charset="0"/>
              <a:ea typeface="Times New Roman" panose="02020603050405020304" pitchFamily="18" charset="0"/>
            </a:endParaRPr>
          </a:p>
          <a:p>
            <a:pPr marL="0" indent="0">
              <a:buNone/>
            </a:pPr>
            <a:r>
              <a:rPr lang="en-US" sz="3200" b="1" dirty="0">
                <a:effectLst/>
                <a:latin typeface="Cambria" panose="02040503050406030204" pitchFamily="18" charset="0"/>
                <a:ea typeface="Times New Roman" panose="02020603050405020304" pitchFamily="18" charset="0"/>
                <a:cs typeface="Times New Roman" panose="02020603050405020304" pitchFamily="18" charset="0"/>
              </a:rPr>
              <a:t>Measurement and Scaling Techniques: </a:t>
            </a:r>
          </a:p>
          <a:p>
            <a:r>
              <a:rPr lang="en-US" sz="2400" dirty="0">
                <a:effectLst/>
                <a:latin typeface="Cambria" panose="02040503050406030204" pitchFamily="18" charset="0"/>
                <a:ea typeface="Times New Roman" panose="02020603050405020304" pitchFamily="18" charset="0"/>
                <a:cs typeface="Times New Roman" panose="02020603050405020304" pitchFamily="18" charset="0"/>
              </a:rPr>
              <a:t>Introduction</a:t>
            </a:r>
          </a:p>
          <a:p>
            <a:r>
              <a:rPr lang="en-US" sz="2400" dirty="0">
                <a:effectLst/>
                <a:latin typeface="Cambria" panose="02040503050406030204" pitchFamily="18" charset="0"/>
                <a:ea typeface="Times New Roman" panose="02020603050405020304" pitchFamily="18" charset="0"/>
                <a:cs typeface="Times New Roman" panose="02020603050405020304" pitchFamily="18" charset="0"/>
              </a:rPr>
              <a:t>Measurement scales </a:t>
            </a:r>
          </a:p>
          <a:p>
            <a:r>
              <a:rPr lang="en-US" sz="2400" dirty="0">
                <a:effectLst/>
                <a:latin typeface="Cambria" panose="02040503050406030204" pitchFamily="18" charset="0"/>
                <a:ea typeface="Times New Roman" panose="02020603050405020304" pitchFamily="18" charset="0"/>
                <a:cs typeface="Times New Roman" panose="02020603050405020304" pitchFamily="18" charset="0"/>
              </a:rPr>
              <a:t>Sources of error in measurement</a:t>
            </a:r>
          </a:p>
          <a:p>
            <a:r>
              <a:rPr lang="en-US" sz="2400" dirty="0">
                <a:effectLst/>
                <a:latin typeface="Cambria" panose="02040503050406030204" pitchFamily="18" charset="0"/>
                <a:ea typeface="Times New Roman" panose="02020603050405020304" pitchFamily="18" charset="0"/>
                <a:cs typeface="Times New Roman" panose="02020603050405020304" pitchFamily="18" charset="0"/>
              </a:rPr>
              <a:t>Tests of sound measurement.</a:t>
            </a:r>
            <a:endParaRPr lang="en-IN" sz="3600" dirty="0"/>
          </a:p>
        </p:txBody>
      </p:sp>
    </p:spTree>
    <p:extLst>
      <p:ext uri="{BB962C8B-B14F-4D97-AF65-F5344CB8AC3E}">
        <p14:creationId xmlns:p14="http://schemas.microsoft.com/office/powerpoint/2010/main" val="1484803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AB84F-3D84-8403-2518-C3E361158C94}"/>
              </a:ext>
            </a:extLst>
          </p:cNvPr>
          <p:cNvSpPr>
            <a:spLocks noGrp="1"/>
          </p:cNvSpPr>
          <p:nvPr>
            <p:ph type="title"/>
          </p:nvPr>
        </p:nvSpPr>
        <p:spPr>
          <a:xfrm>
            <a:off x="448460" y="-279445"/>
            <a:ext cx="10515600" cy="1325563"/>
          </a:xfrm>
        </p:spPr>
        <p:txBody>
          <a:bodyPr/>
          <a:lstStyle/>
          <a:p>
            <a:r>
              <a:rPr lang="en-US" b="1" dirty="0"/>
              <a:t>Introduction to Sampling Design:</a:t>
            </a:r>
            <a:endParaRPr lang="en-IN" b="1" dirty="0"/>
          </a:p>
        </p:txBody>
      </p:sp>
      <p:sp>
        <p:nvSpPr>
          <p:cNvPr id="3" name="Content Placeholder 2">
            <a:extLst>
              <a:ext uri="{FF2B5EF4-FFF2-40B4-BE49-F238E27FC236}">
                <a16:creationId xmlns:a16="http://schemas.microsoft.com/office/drawing/2014/main" id="{84752D58-5A98-BFA8-0489-A831B0D1BBA3}"/>
              </a:ext>
            </a:extLst>
          </p:cNvPr>
          <p:cNvSpPr>
            <a:spLocks noGrp="1"/>
          </p:cNvSpPr>
          <p:nvPr>
            <p:ph idx="1"/>
          </p:nvPr>
        </p:nvSpPr>
        <p:spPr>
          <a:xfrm>
            <a:off x="223608" y="671382"/>
            <a:ext cx="11843474" cy="6186617"/>
          </a:xfrm>
        </p:spPr>
        <p:txBody>
          <a:bodyPr>
            <a:normAutofit fontScale="92500" lnSpcReduction="20000"/>
          </a:bodyPr>
          <a:lstStyle/>
          <a:p>
            <a:pPr algn="just"/>
            <a:r>
              <a:rPr lang="en-US" b="0" i="0" dirty="0">
                <a:solidFill>
                  <a:srgbClr val="374151"/>
                </a:solidFill>
                <a:effectLst/>
                <a:latin typeface="Söhne"/>
              </a:rPr>
              <a:t>Sampling design is a crucial aspect of research methodology, particularly in fields such as statistics, social sciences, and market research. </a:t>
            </a:r>
          </a:p>
          <a:p>
            <a:pPr algn="just"/>
            <a:r>
              <a:rPr lang="en-US" b="0" i="0" dirty="0">
                <a:solidFill>
                  <a:srgbClr val="374151"/>
                </a:solidFill>
                <a:effectLst/>
                <a:latin typeface="Söhne"/>
              </a:rPr>
              <a:t>It involves selecting a subset, or sample, from a larger population for the purpose of studying and drawing conclusions about that population. </a:t>
            </a:r>
          </a:p>
          <a:p>
            <a:pPr algn="just"/>
            <a:r>
              <a:rPr lang="en-US" b="0" i="0" dirty="0">
                <a:solidFill>
                  <a:srgbClr val="374151"/>
                </a:solidFill>
                <a:effectLst/>
                <a:latin typeface="Söhne"/>
              </a:rPr>
              <a:t>An effective sampling design is essential to ensure that the sample accurately represents the characteristics of the entire population. </a:t>
            </a:r>
          </a:p>
          <a:p>
            <a:pPr algn="just"/>
            <a:r>
              <a:rPr lang="en-US" b="0" i="0" dirty="0">
                <a:solidFill>
                  <a:srgbClr val="374151"/>
                </a:solidFill>
                <a:effectLst/>
                <a:latin typeface="Söhne"/>
              </a:rPr>
              <a:t>Here are some key concepts and considerations in the introduction to sampling design:</a:t>
            </a:r>
          </a:p>
          <a:p>
            <a:pPr algn="l">
              <a:buFont typeface="+mj-lt"/>
              <a:buAutoNum type="arabicPeriod"/>
            </a:pPr>
            <a:r>
              <a:rPr lang="en-US" b="1" i="0" dirty="0">
                <a:solidFill>
                  <a:srgbClr val="374151"/>
                </a:solidFill>
                <a:effectLst/>
                <a:latin typeface="Söhne"/>
              </a:rPr>
              <a:t>Population:</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The population is the entire group of individuals, objects, or events that the researcher is interested in studying.</a:t>
            </a:r>
          </a:p>
          <a:p>
            <a:pPr lvl="1" algn="l">
              <a:buFont typeface="Wingdings" panose="05000000000000000000" pitchFamily="2" charset="2"/>
              <a:buChar char="Ø"/>
            </a:pPr>
            <a:r>
              <a:rPr lang="en-US" b="0" i="0" dirty="0">
                <a:solidFill>
                  <a:srgbClr val="374151"/>
                </a:solidFill>
                <a:effectLst/>
                <a:latin typeface="Söhne"/>
              </a:rPr>
              <a:t>It could be people, animals, plants, products, data points, etc.</a:t>
            </a:r>
          </a:p>
          <a:p>
            <a:pPr algn="l">
              <a:buFont typeface="+mj-lt"/>
              <a:buAutoNum type="arabicPeriod"/>
            </a:pPr>
            <a:r>
              <a:rPr lang="en-US" b="1" i="0" dirty="0">
                <a:solidFill>
                  <a:srgbClr val="374151"/>
                </a:solidFill>
                <a:effectLst/>
                <a:latin typeface="Söhne"/>
              </a:rPr>
              <a:t>Sampling Frame:</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The sampling frame is a list or representation of all the elements in the population from which the sample will be drawn.</a:t>
            </a:r>
          </a:p>
          <a:p>
            <a:pPr lvl="1" algn="l">
              <a:buFont typeface="Wingdings" panose="05000000000000000000" pitchFamily="2" charset="2"/>
              <a:buChar char="Ø"/>
            </a:pPr>
            <a:r>
              <a:rPr lang="en-US" b="0" i="0" dirty="0">
                <a:solidFill>
                  <a:srgbClr val="374151"/>
                </a:solidFill>
                <a:effectLst/>
                <a:latin typeface="Söhne"/>
              </a:rPr>
              <a:t>It's important that the sampling frame is comprehensive and accurately reflects the population.</a:t>
            </a:r>
          </a:p>
          <a:p>
            <a:pPr algn="l">
              <a:buFont typeface="+mj-lt"/>
              <a:buAutoNum type="arabicPeriod"/>
            </a:pPr>
            <a:r>
              <a:rPr lang="en-US" b="1" i="0" dirty="0">
                <a:solidFill>
                  <a:srgbClr val="374151"/>
                </a:solidFill>
                <a:effectLst/>
                <a:latin typeface="Söhne"/>
              </a:rPr>
              <a:t>Sample:</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The sample is the subset of the population selected for the study.</a:t>
            </a:r>
          </a:p>
          <a:p>
            <a:pPr lvl="1" algn="l">
              <a:buFont typeface="Wingdings" panose="05000000000000000000" pitchFamily="2" charset="2"/>
              <a:buChar char="Ø"/>
            </a:pPr>
            <a:r>
              <a:rPr lang="en-US" b="0" i="0" dirty="0">
                <a:solidFill>
                  <a:srgbClr val="374151"/>
                </a:solidFill>
                <a:effectLst/>
                <a:latin typeface="Söhne"/>
              </a:rPr>
              <a:t>The goal is for the sample to be representative of the population to make valid inferences.</a:t>
            </a:r>
          </a:p>
        </p:txBody>
      </p:sp>
    </p:spTree>
    <p:extLst>
      <p:ext uri="{BB962C8B-B14F-4D97-AF65-F5344CB8AC3E}">
        <p14:creationId xmlns:p14="http://schemas.microsoft.com/office/powerpoint/2010/main" val="422317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7A3BAE-BD8E-9CE6-05C8-E55192E88829}"/>
              </a:ext>
            </a:extLst>
          </p:cNvPr>
          <p:cNvSpPr>
            <a:spLocks noGrp="1"/>
          </p:cNvSpPr>
          <p:nvPr>
            <p:ph idx="1"/>
          </p:nvPr>
        </p:nvSpPr>
        <p:spPr>
          <a:xfrm>
            <a:off x="193622" y="0"/>
            <a:ext cx="11888449" cy="6858000"/>
          </a:xfrm>
        </p:spPr>
        <p:txBody>
          <a:bodyPr>
            <a:normAutofit fontScale="92500" lnSpcReduction="10000"/>
          </a:bodyPr>
          <a:lstStyle/>
          <a:p>
            <a:pPr marL="0" indent="0" algn="l">
              <a:buNone/>
            </a:pPr>
            <a:r>
              <a:rPr lang="en-US" b="1" dirty="0">
                <a:solidFill>
                  <a:srgbClr val="374151"/>
                </a:solidFill>
                <a:latin typeface="Söhne"/>
              </a:rPr>
              <a:t>4. </a:t>
            </a:r>
            <a:r>
              <a:rPr lang="en-US" b="1" i="0" dirty="0">
                <a:solidFill>
                  <a:srgbClr val="374151"/>
                </a:solidFill>
                <a:effectLst/>
                <a:latin typeface="Söhne"/>
              </a:rPr>
              <a:t>Sampling Methods:</a:t>
            </a:r>
            <a:endParaRPr lang="en-US" b="0" i="0" dirty="0">
              <a:solidFill>
                <a:srgbClr val="374151"/>
              </a:solidFill>
              <a:effectLst/>
              <a:latin typeface="Söhne"/>
            </a:endParaRPr>
          </a:p>
          <a:p>
            <a:pPr marL="457200" lvl="1" indent="0" algn="l">
              <a:buNone/>
            </a:pPr>
            <a:r>
              <a:rPr lang="en-US" dirty="0">
                <a:solidFill>
                  <a:srgbClr val="374151"/>
                </a:solidFill>
                <a:latin typeface="Söhne"/>
              </a:rPr>
              <a:t>a. </a:t>
            </a:r>
            <a:r>
              <a:rPr lang="en-US" b="0" i="0" dirty="0">
                <a:solidFill>
                  <a:srgbClr val="374151"/>
                </a:solidFill>
                <a:effectLst/>
                <a:latin typeface="Söhne"/>
              </a:rPr>
              <a:t>There are various sampling methods, including:</a:t>
            </a:r>
          </a:p>
          <a:p>
            <a:pPr lvl="2"/>
            <a:r>
              <a:rPr lang="en-US" b="1" i="0" dirty="0">
                <a:solidFill>
                  <a:srgbClr val="374151"/>
                </a:solidFill>
                <a:effectLst/>
                <a:latin typeface="Söhne"/>
              </a:rPr>
              <a:t>Random Sampling:</a:t>
            </a:r>
            <a:r>
              <a:rPr lang="en-US" b="0" i="0" dirty="0">
                <a:solidFill>
                  <a:srgbClr val="374151"/>
                </a:solidFill>
                <a:effectLst/>
                <a:latin typeface="Söhne"/>
              </a:rPr>
              <a:t> Each member of the population has an equal chance of being selected.</a:t>
            </a:r>
          </a:p>
          <a:p>
            <a:pPr lvl="2"/>
            <a:r>
              <a:rPr lang="en-US" b="1" i="0" dirty="0">
                <a:solidFill>
                  <a:srgbClr val="374151"/>
                </a:solidFill>
                <a:effectLst/>
                <a:latin typeface="Söhne"/>
              </a:rPr>
              <a:t>Stratified Sampling:</a:t>
            </a:r>
            <a:r>
              <a:rPr lang="en-US" b="0" i="0" dirty="0">
                <a:solidFill>
                  <a:srgbClr val="374151"/>
                </a:solidFill>
                <a:effectLst/>
                <a:latin typeface="Söhne"/>
              </a:rPr>
              <a:t> The population is divided into subgroups (strata), and samples are randomly selected from each stratum.</a:t>
            </a:r>
          </a:p>
          <a:p>
            <a:pPr lvl="2"/>
            <a:r>
              <a:rPr lang="en-US" b="1" i="0" dirty="0">
                <a:solidFill>
                  <a:srgbClr val="374151"/>
                </a:solidFill>
                <a:effectLst/>
                <a:latin typeface="Söhne"/>
              </a:rPr>
              <a:t>Systematic Sampling:</a:t>
            </a:r>
            <a:r>
              <a:rPr lang="en-US" b="0" i="0" dirty="0">
                <a:solidFill>
                  <a:srgbClr val="374151"/>
                </a:solidFill>
                <a:effectLst/>
                <a:latin typeface="Söhne"/>
              </a:rPr>
              <a:t> Every nth individual is selected from a list after an initial random start.</a:t>
            </a:r>
          </a:p>
          <a:p>
            <a:pPr lvl="2"/>
            <a:r>
              <a:rPr lang="en-US" b="1" i="0" dirty="0">
                <a:solidFill>
                  <a:srgbClr val="374151"/>
                </a:solidFill>
                <a:effectLst/>
                <a:latin typeface="Söhne"/>
              </a:rPr>
              <a:t>Cluster Sampling:</a:t>
            </a:r>
            <a:r>
              <a:rPr lang="en-US" b="0" i="0" dirty="0">
                <a:solidFill>
                  <a:srgbClr val="374151"/>
                </a:solidFill>
                <a:effectLst/>
                <a:latin typeface="Söhne"/>
              </a:rPr>
              <a:t> The population is divided into clusters, and entire clusters are randomly selected.</a:t>
            </a:r>
          </a:p>
          <a:p>
            <a:pPr marL="0" indent="0" algn="l">
              <a:buNone/>
            </a:pPr>
            <a:r>
              <a:rPr lang="en-US" b="1" i="0" dirty="0">
                <a:solidFill>
                  <a:srgbClr val="374151"/>
                </a:solidFill>
                <a:effectLst/>
                <a:latin typeface="Söhne"/>
              </a:rPr>
              <a:t>5. Sampling Bias:</a:t>
            </a:r>
            <a:endParaRPr lang="en-US" b="0" i="0" dirty="0">
              <a:solidFill>
                <a:srgbClr val="374151"/>
              </a:solidFill>
              <a:effectLst/>
              <a:latin typeface="Söhne"/>
            </a:endParaRPr>
          </a:p>
          <a:p>
            <a:pPr lvl="1" algn="just">
              <a:buFont typeface="Wingdings" panose="05000000000000000000" pitchFamily="2" charset="2"/>
              <a:buChar char="Ø"/>
            </a:pPr>
            <a:r>
              <a:rPr lang="en-US" b="0" i="0" dirty="0">
                <a:solidFill>
                  <a:srgbClr val="374151"/>
                </a:solidFill>
                <a:effectLst/>
                <a:latin typeface="Söhne"/>
              </a:rPr>
              <a:t>Bias occurs when the sample is not representative of the population, leading to inaccurate conclusions.</a:t>
            </a:r>
          </a:p>
          <a:p>
            <a:pPr lvl="1" algn="just">
              <a:buFont typeface="Wingdings" panose="05000000000000000000" pitchFamily="2" charset="2"/>
              <a:buChar char="Ø"/>
            </a:pPr>
            <a:r>
              <a:rPr lang="en-US" b="0" i="0" dirty="0">
                <a:solidFill>
                  <a:srgbClr val="374151"/>
                </a:solidFill>
                <a:effectLst/>
                <a:latin typeface="Söhne"/>
              </a:rPr>
              <a:t>It can result from flawed sampling methods, non-response, or under coverage.</a:t>
            </a:r>
          </a:p>
          <a:p>
            <a:pPr marL="0" indent="0" algn="l">
              <a:buNone/>
            </a:pPr>
            <a:r>
              <a:rPr lang="en-US" b="1" i="0" dirty="0">
                <a:solidFill>
                  <a:srgbClr val="374151"/>
                </a:solidFill>
                <a:effectLst/>
                <a:latin typeface="Söhne"/>
              </a:rPr>
              <a:t>6. Sample Size:</a:t>
            </a:r>
            <a:endParaRPr lang="en-US" b="0" i="0" dirty="0">
              <a:solidFill>
                <a:srgbClr val="374151"/>
              </a:solidFill>
              <a:effectLst/>
              <a:latin typeface="Söhne"/>
            </a:endParaRPr>
          </a:p>
          <a:p>
            <a:pPr lvl="1" algn="just">
              <a:buFont typeface="Wingdings" panose="05000000000000000000" pitchFamily="2" charset="2"/>
              <a:buChar char="Ø"/>
            </a:pPr>
            <a:r>
              <a:rPr lang="en-US" b="0" i="0" dirty="0">
                <a:solidFill>
                  <a:srgbClr val="374151"/>
                </a:solidFill>
                <a:effectLst/>
                <a:latin typeface="Söhne"/>
              </a:rPr>
              <a:t>The size of the sample is a critical consideration. A larger sample size generally increases the precision of the study but may also increase costs and time.</a:t>
            </a:r>
          </a:p>
          <a:p>
            <a:pPr marL="0" indent="0" algn="l">
              <a:buNone/>
            </a:pPr>
            <a:r>
              <a:rPr lang="en-US" b="1" i="0" dirty="0">
                <a:solidFill>
                  <a:srgbClr val="374151"/>
                </a:solidFill>
                <a:effectLst/>
                <a:latin typeface="Söhne"/>
              </a:rPr>
              <a:t>7. Sampling Error:</a:t>
            </a:r>
            <a:endParaRPr lang="en-US" b="0" i="0" dirty="0">
              <a:solidFill>
                <a:srgbClr val="374151"/>
              </a:solidFill>
              <a:effectLst/>
              <a:latin typeface="Söhne"/>
            </a:endParaRPr>
          </a:p>
          <a:p>
            <a:pPr lvl="1" algn="just">
              <a:buFont typeface="Wingdings" panose="05000000000000000000" pitchFamily="2" charset="2"/>
              <a:buChar char="Ø"/>
            </a:pPr>
            <a:r>
              <a:rPr lang="en-US" b="0" i="0" dirty="0">
                <a:solidFill>
                  <a:srgbClr val="374151"/>
                </a:solidFill>
                <a:effectLst/>
                <a:latin typeface="Söhne"/>
              </a:rPr>
              <a:t>This refers to the variability between the sample and the population. No sample can perfectly represent the entire population, so there will always be some level of error.</a:t>
            </a:r>
          </a:p>
          <a:p>
            <a:pPr marL="0" indent="0" algn="l">
              <a:buNone/>
            </a:pPr>
            <a:r>
              <a:rPr lang="en-US" b="1" i="0" dirty="0">
                <a:solidFill>
                  <a:srgbClr val="374151"/>
                </a:solidFill>
                <a:effectLst/>
                <a:latin typeface="Söhne"/>
              </a:rPr>
              <a:t>8. Statistical Power:</a:t>
            </a:r>
            <a:endParaRPr lang="en-US" b="0" i="0" dirty="0">
              <a:solidFill>
                <a:srgbClr val="374151"/>
              </a:solidFill>
              <a:effectLst/>
              <a:latin typeface="Söhne"/>
            </a:endParaRPr>
          </a:p>
          <a:p>
            <a:pPr lvl="1" algn="just">
              <a:buFont typeface="Wingdings" panose="05000000000000000000" pitchFamily="2" charset="2"/>
              <a:buChar char="Ø"/>
            </a:pPr>
            <a:r>
              <a:rPr lang="en-US" b="0" i="0" dirty="0">
                <a:solidFill>
                  <a:srgbClr val="374151"/>
                </a:solidFill>
                <a:effectLst/>
                <a:latin typeface="Söhne"/>
              </a:rPr>
              <a:t>Statistical power is the ability of a study to detect a true effect if it exists. It is influenced by factors such as sample size and effect size.</a:t>
            </a:r>
          </a:p>
        </p:txBody>
      </p:sp>
    </p:spTree>
    <p:extLst>
      <p:ext uri="{BB962C8B-B14F-4D97-AF65-F5344CB8AC3E}">
        <p14:creationId xmlns:p14="http://schemas.microsoft.com/office/powerpoint/2010/main" val="2927425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346E-D17D-11D0-EF7A-27C107A98B46}"/>
              </a:ext>
            </a:extLst>
          </p:cNvPr>
          <p:cNvSpPr>
            <a:spLocks noGrp="1"/>
          </p:cNvSpPr>
          <p:nvPr>
            <p:ph type="title"/>
          </p:nvPr>
        </p:nvSpPr>
        <p:spPr>
          <a:xfrm>
            <a:off x="253582" y="-369391"/>
            <a:ext cx="10515600" cy="1325563"/>
          </a:xfrm>
        </p:spPr>
        <p:txBody>
          <a:bodyPr/>
          <a:lstStyle/>
          <a:p>
            <a:r>
              <a:rPr lang="en-US" sz="4400" b="1" dirty="0">
                <a:effectLst/>
                <a:latin typeface="Cambria" panose="02040503050406030204" pitchFamily="18" charset="0"/>
                <a:ea typeface="Times New Roman" panose="02020603050405020304" pitchFamily="18" charset="0"/>
              </a:rPr>
              <a:t>Steps involved in sampling design</a:t>
            </a:r>
            <a:endParaRPr lang="en-IN" b="1" dirty="0"/>
          </a:p>
        </p:txBody>
      </p:sp>
      <p:sp>
        <p:nvSpPr>
          <p:cNvPr id="3" name="Content Placeholder 2">
            <a:extLst>
              <a:ext uri="{FF2B5EF4-FFF2-40B4-BE49-F238E27FC236}">
                <a16:creationId xmlns:a16="http://schemas.microsoft.com/office/drawing/2014/main" id="{033D8E66-E001-9F44-80C2-A623BFC1D78A}"/>
              </a:ext>
            </a:extLst>
          </p:cNvPr>
          <p:cNvSpPr>
            <a:spLocks noGrp="1"/>
          </p:cNvSpPr>
          <p:nvPr>
            <p:ph idx="1"/>
          </p:nvPr>
        </p:nvSpPr>
        <p:spPr>
          <a:xfrm>
            <a:off x="28738" y="596433"/>
            <a:ext cx="12133282" cy="6493915"/>
          </a:xfrm>
        </p:spPr>
        <p:txBody>
          <a:bodyPr>
            <a:normAutofit fontScale="92500" lnSpcReduction="10000"/>
          </a:bodyPr>
          <a:lstStyle/>
          <a:p>
            <a:pPr marL="0" indent="0" algn="just">
              <a:buNone/>
            </a:pPr>
            <a:r>
              <a:rPr lang="en-US" b="0" i="0" dirty="0">
                <a:solidFill>
                  <a:srgbClr val="374151"/>
                </a:solidFill>
                <a:effectLst/>
                <a:latin typeface="Söhne"/>
              </a:rPr>
              <a:t>Ensuring the selection of a representative and unbiased sample from the larger population involves several key steps in the process of sampling design. These steps play a crucial role in the validity and reliability of research findings. Let's provide an overview of the steps in sampling design:</a:t>
            </a:r>
          </a:p>
          <a:p>
            <a:pPr marL="0" indent="0" algn="just">
              <a:buNone/>
            </a:pPr>
            <a:r>
              <a:rPr lang="en-US" b="1" i="0" dirty="0">
                <a:solidFill>
                  <a:srgbClr val="374151"/>
                </a:solidFill>
                <a:effectLst/>
                <a:latin typeface="Söhne"/>
              </a:rPr>
              <a:t>1. Define the Population:</a:t>
            </a:r>
            <a:endParaRPr lang="en-US" b="0" i="0" dirty="0">
              <a:solidFill>
                <a:srgbClr val="374151"/>
              </a:solidFill>
              <a:effectLst/>
              <a:latin typeface="Söhne"/>
            </a:endParaRPr>
          </a:p>
          <a:p>
            <a:pPr lvl="1" algn="just"/>
            <a:r>
              <a:rPr lang="en-US" b="0" i="0" dirty="0">
                <a:solidFill>
                  <a:srgbClr val="374151"/>
                </a:solidFill>
                <a:effectLst/>
                <a:latin typeface="Söhne"/>
              </a:rPr>
              <a:t>Clearly define the target population that the study aims to investigate. The population should be well-defined and relevant to the research question.</a:t>
            </a:r>
          </a:p>
          <a:p>
            <a:pPr marL="0" indent="0" algn="l">
              <a:buNone/>
            </a:pPr>
            <a:r>
              <a:rPr lang="en-US" b="1" i="0" dirty="0">
                <a:solidFill>
                  <a:srgbClr val="374151"/>
                </a:solidFill>
                <a:effectLst/>
                <a:latin typeface="Söhne"/>
              </a:rPr>
              <a:t>2. Identify the Sampling Frame:</a:t>
            </a:r>
            <a:endParaRPr lang="en-US" b="0" i="0" dirty="0">
              <a:solidFill>
                <a:srgbClr val="374151"/>
              </a:solidFill>
              <a:effectLst/>
              <a:latin typeface="Söhne"/>
            </a:endParaRPr>
          </a:p>
          <a:p>
            <a:pPr lvl="1" algn="just"/>
            <a:r>
              <a:rPr lang="en-US" b="0" i="0" dirty="0">
                <a:solidFill>
                  <a:srgbClr val="374151"/>
                </a:solidFill>
                <a:effectLst/>
                <a:latin typeface="Söhne"/>
              </a:rPr>
              <a:t>Create a sampling frame, which is a list or representation of all the elements in the population. The sampling frame should be comprehensive and accurately represent the entire population.</a:t>
            </a:r>
          </a:p>
          <a:p>
            <a:pPr marL="0" indent="0" algn="l">
              <a:buNone/>
            </a:pPr>
            <a:r>
              <a:rPr lang="en-US" b="1" i="0" dirty="0">
                <a:solidFill>
                  <a:srgbClr val="374151"/>
                </a:solidFill>
                <a:effectLst/>
                <a:latin typeface="Söhne"/>
              </a:rPr>
              <a:t>3. Select the Sampling Method:</a:t>
            </a:r>
            <a:endParaRPr lang="en-US" b="0" i="0" dirty="0">
              <a:solidFill>
                <a:srgbClr val="374151"/>
              </a:solidFill>
              <a:effectLst/>
              <a:latin typeface="Söhne"/>
            </a:endParaRPr>
          </a:p>
          <a:p>
            <a:pPr lvl="1" algn="just"/>
            <a:r>
              <a:rPr lang="en-US" b="0" i="0" dirty="0">
                <a:solidFill>
                  <a:srgbClr val="374151"/>
                </a:solidFill>
                <a:effectLst/>
                <a:latin typeface="Söhne"/>
              </a:rPr>
              <a:t>Choose an appropriate sampling method based on the research objectives, available resources, and the characteristics of the population. Common methods include random sampling, stratified sampling, systematic sampling, and cluster sampling.</a:t>
            </a:r>
          </a:p>
          <a:p>
            <a:pPr marL="0" indent="0" algn="l">
              <a:buNone/>
            </a:pPr>
            <a:r>
              <a:rPr lang="en-US" b="1" i="0" dirty="0">
                <a:solidFill>
                  <a:srgbClr val="374151"/>
                </a:solidFill>
                <a:effectLst/>
                <a:latin typeface="Söhne"/>
              </a:rPr>
              <a:t>4.Determine the Sample Size:</a:t>
            </a:r>
            <a:endParaRPr lang="en-US" b="0" i="0" dirty="0">
              <a:solidFill>
                <a:srgbClr val="374151"/>
              </a:solidFill>
              <a:effectLst/>
              <a:latin typeface="Söhne"/>
            </a:endParaRPr>
          </a:p>
          <a:p>
            <a:pPr lvl="1" algn="just"/>
            <a:r>
              <a:rPr lang="en-US" b="0" i="0" dirty="0">
                <a:solidFill>
                  <a:srgbClr val="374151"/>
                </a:solidFill>
                <a:effectLst/>
                <a:latin typeface="Söhne"/>
              </a:rPr>
              <a:t>Decide on the size of the sample needed for the study. The sample size is influenced by factors such as the level of confidence desired, the variability within the population, and the acceptable margin of error.</a:t>
            </a:r>
          </a:p>
          <a:p>
            <a:endParaRPr lang="en-IN" dirty="0"/>
          </a:p>
        </p:txBody>
      </p:sp>
    </p:spTree>
    <p:extLst>
      <p:ext uri="{BB962C8B-B14F-4D97-AF65-F5344CB8AC3E}">
        <p14:creationId xmlns:p14="http://schemas.microsoft.com/office/powerpoint/2010/main" val="2326557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4D6FD0-B3FA-55B7-078D-B4A9E40B8B9D}"/>
              </a:ext>
            </a:extLst>
          </p:cNvPr>
          <p:cNvSpPr>
            <a:spLocks noGrp="1"/>
          </p:cNvSpPr>
          <p:nvPr>
            <p:ph idx="1"/>
          </p:nvPr>
        </p:nvSpPr>
        <p:spPr>
          <a:xfrm>
            <a:off x="0" y="-1"/>
            <a:ext cx="12067082" cy="6858001"/>
          </a:xfrm>
        </p:spPr>
        <p:txBody>
          <a:bodyPr>
            <a:normAutofit fontScale="85000" lnSpcReduction="10000"/>
          </a:bodyPr>
          <a:lstStyle/>
          <a:p>
            <a:pPr marL="0" indent="0" algn="l">
              <a:buNone/>
            </a:pPr>
            <a:r>
              <a:rPr lang="en-US" b="1" i="0" dirty="0">
                <a:solidFill>
                  <a:srgbClr val="374151"/>
                </a:solidFill>
                <a:effectLst/>
                <a:latin typeface="Söhne"/>
              </a:rPr>
              <a:t>5.Randomize the Selection Process:</a:t>
            </a:r>
            <a:endParaRPr lang="en-US" b="0" i="0" dirty="0">
              <a:solidFill>
                <a:srgbClr val="374151"/>
              </a:solidFill>
              <a:effectLst/>
              <a:latin typeface="Söhne"/>
            </a:endParaRPr>
          </a:p>
          <a:p>
            <a:pPr lvl="1"/>
            <a:r>
              <a:rPr lang="en-US" b="0" i="0" dirty="0">
                <a:solidFill>
                  <a:srgbClr val="374151"/>
                </a:solidFill>
                <a:effectLst/>
                <a:latin typeface="Söhne"/>
              </a:rPr>
              <a:t>If using random sampling, ensure that the selection process is truly random. This helps to minimize bias and ensures that each member of the population has an equal chance of being included in the sample.</a:t>
            </a:r>
          </a:p>
          <a:p>
            <a:pPr marL="0" indent="0" algn="l">
              <a:buNone/>
            </a:pPr>
            <a:r>
              <a:rPr lang="en-US" b="1" i="0" dirty="0">
                <a:solidFill>
                  <a:srgbClr val="374151"/>
                </a:solidFill>
                <a:effectLst/>
                <a:latin typeface="Söhne"/>
              </a:rPr>
              <a:t>6.Implement the Sampling Plan:</a:t>
            </a:r>
            <a:endParaRPr lang="en-US" b="0" i="0" dirty="0">
              <a:solidFill>
                <a:srgbClr val="374151"/>
              </a:solidFill>
              <a:effectLst/>
              <a:latin typeface="Söhne"/>
            </a:endParaRPr>
          </a:p>
          <a:p>
            <a:pPr lvl="1" algn="just"/>
            <a:r>
              <a:rPr lang="en-US" b="0" i="0" dirty="0">
                <a:solidFill>
                  <a:srgbClr val="374151"/>
                </a:solidFill>
                <a:effectLst/>
                <a:latin typeface="Söhne"/>
              </a:rPr>
              <a:t>Carry out the sampling plan according to the chosen method. This may involve selecting individuals, groups, or clusters from the sampling frame.</a:t>
            </a:r>
          </a:p>
          <a:p>
            <a:pPr marL="0" indent="0" algn="just">
              <a:buNone/>
            </a:pPr>
            <a:r>
              <a:rPr lang="en-US" b="1" i="0" dirty="0">
                <a:solidFill>
                  <a:srgbClr val="374151"/>
                </a:solidFill>
                <a:effectLst/>
                <a:latin typeface="Söhne"/>
              </a:rPr>
              <a:t>7.Data Collection:</a:t>
            </a:r>
            <a:endParaRPr lang="en-US" b="0" i="0" dirty="0">
              <a:solidFill>
                <a:srgbClr val="374151"/>
              </a:solidFill>
              <a:effectLst/>
              <a:latin typeface="Söhne"/>
            </a:endParaRPr>
          </a:p>
          <a:p>
            <a:pPr lvl="1" algn="just"/>
            <a:r>
              <a:rPr lang="en-US" b="0" i="0" dirty="0">
                <a:solidFill>
                  <a:srgbClr val="374151"/>
                </a:solidFill>
                <a:effectLst/>
                <a:latin typeface="Söhne"/>
              </a:rPr>
              <a:t>Once the sample is selected, collect data from the chosen sample elements. This could involve surveys, observations, interviews, or other data collection methods depending on the nature of the study.</a:t>
            </a:r>
          </a:p>
          <a:p>
            <a:pPr marL="0" indent="0" algn="l">
              <a:buNone/>
            </a:pPr>
            <a:r>
              <a:rPr lang="en-US" b="1" i="0" dirty="0">
                <a:solidFill>
                  <a:srgbClr val="374151"/>
                </a:solidFill>
                <a:effectLst/>
                <a:latin typeface="Söhne"/>
              </a:rPr>
              <a:t>8.Evaluate and Monitor Sampling Process:</a:t>
            </a:r>
            <a:endParaRPr lang="en-US" b="0" i="0" dirty="0">
              <a:solidFill>
                <a:srgbClr val="374151"/>
              </a:solidFill>
              <a:effectLst/>
              <a:latin typeface="Söhne"/>
            </a:endParaRPr>
          </a:p>
          <a:p>
            <a:pPr lvl="1" algn="just"/>
            <a:r>
              <a:rPr lang="en-US" b="0" i="0" dirty="0">
                <a:solidFill>
                  <a:srgbClr val="374151"/>
                </a:solidFill>
                <a:effectLst/>
                <a:latin typeface="Söhne"/>
              </a:rPr>
              <a:t>Regularly monitor and evaluate the sampling process to ensure that it is proceeding as planned. Address any unexpected issues or deviations from the sampling design.</a:t>
            </a:r>
          </a:p>
          <a:p>
            <a:pPr marL="0" indent="0" algn="l">
              <a:buNone/>
            </a:pPr>
            <a:r>
              <a:rPr lang="en-US" b="1" i="0" dirty="0">
                <a:solidFill>
                  <a:srgbClr val="374151"/>
                </a:solidFill>
                <a:effectLst/>
                <a:latin typeface="Söhne"/>
              </a:rPr>
              <a:t>9.Analyze Data:</a:t>
            </a:r>
            <a:endParaRPr lang="en-US" b="0" i="0" dirty="0">
              <a:solidFill>
                <a:srgbClr val="374151"/>
              </a:solidFill>
              <a:effectLst/>
              <a:latin typeface="Söhne"/>
            </a:endParaRPr>
          </a:p>
          <a:p>
            <a:pPr lvl="1" algn="just"/>
            <a:r>
              <a:rPr lang="en-US" b="0" i="0" dirty="0">
                <a:solidFill>
                  <a:srgbClr val="374151"/>
                </a:solidFill>
                <a:effectLst/>
                <a:latin typeface="Söhne"/>
              </a:rPr>
              <a:t>Analyze the collected data using appropriate statistical methods. Ensure that the analysis accounts for the sampling design and provides valid and reliable results.</a:t>
            </a:r>
          </a:p>
          <a:p>
            <a:pPr marL="0" indent="0" algn="l">
              <a:buNone/>
            </a:pPr>
            <a:r>
              <a:rPr lang="en-US" b="1" i="0" dirty="0">
                <a:solidFill>
                  <a:srgbClr val="374151"/>
                </a:solidFill>
                <a:effectLst/>
                <a:latin typeface="Söhne"/>
              </a:rPr>
              <a:t>10.Draw Conclusions and Generalize Findings:</a:t>
            </a:r>
            <a:endParaRPr lang="en-US" b="0" i="0" dirty="0">
              <a:solidFill>
                <a:srgbClr val="374151"/>
              </a:solidFill>
              <a:effectLst/>
              <a:latin typeface="Söhne"/>
            </a:endParaRPr>
          </a:p>
          <a:p>
            <a:pPr lvl="1" algn="just"/>
            <a:r>
              <a:rPr lang="en-US" b="0" i="0" dirty="0">
                <a:solidFill>
                  <a:srgbClr val="374151"/>
                </a:solidFill>
                <a:effectLst/>
                <a:latin typeface="Söhne"/>
              </a:rPr>
              <a:t>Draw conclusions based on the analysis of the sample data. Generalize these findings to the larger population, keeping in mind the limitations and potential sources of bias in the sampling design.</a:t>
            </a:r>
          </a:p>
          <a:p>
            <a:pPr marL="0" indent="0" algn="l">
              <a:buNone/>
            </a:pPr>
            <a:r>
              <a:rPr lang="en-US" b="1" i="0" dirty="0">
                <a:solidFill>
                  <a:srgbClr val="374151"/>
                </a:solidFill>
                <a:effectLst/>
                <a:latin typeface="Söhne"/>
              </a:rPr>
              <a:t>11.Report the Results:</a:t>
            </a:r>
            <a:endParaRPr lang="en-US" b="0" i="0" dirty="0">
              <a:solidFill>
                <a:srgbClr val="374151"/>
              </a:solidFill>
              <a:effectLst/>
              <a:latin typeface="Söhne"/>
            </a:endParaRPr>
          </a:p>
          <a:p>
            <a:pPr lvl="1" algn="just"/>
            <a:r>
              <a:rPr lang="en-US" b="0" i="0" dirty="0">
                <a:solidFill>
                  <a:srgbClr val="374151"/>
                </a:solidFill>
                <a:effectLst/>
                <a:latin typeface="Söhne"/>
              </a:rPr>
              <a:t>Clearly and transparently report the sampling design, methods, and results in research publications. Provide information that allows others to assess the validity and generalizability of the findings.</a:t>
            </a:r>
          </a:p>
          <a:p>
            <a:endParaRPr lang="en-IN" dirty="0"/>
          </a:p>
        </p:txBody>
      </p:sp>
    </p:spTree>
    <p:extLst>
      <p:ext uri="{BB962C8B-B14F-4D97-AF65-F5344CB8AC3E}">
        <p14:creationId xmlns:p14="http://schemas.microsoft.com/office/powerpoint/2010/main" val="2257512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1ADA-4AB6-C4CF-F1DD-05D597918661}"/>
              </a:ext>
            </a:extLst>
          </p:cNvPr>
          <p:cNvSpPr>
            <a:spLocks noGrp="1"/>
          </p:cNvSpPr>
          <p:nvPr>
            <p:ph type="title"/>
          </p:nvPr>
        </p:nvSpPr>
        <p:spPr>
          <a:xfrm>
            <a:off x="298553" y="-309429"/>
            <a:ext cx="10515600" cy="1325563"/>
          </a:xfrm>
        </p:spPr>
        <p:txBody>
          <a:bodyPr/>
          <a:lstStyle/>
          <a:p>
            <a:r>
              <a:rPr lang="en-US" sz="4400" b="1" dirty="0">
                <a:effectLst/>
                <a:latin typeface="Cambria" panose="02040503050406030204" pitchFamily="18" charset="0"/>
                <a:ea typeface="Times New Roman" panose="02020603050405020304" pitchFamily="18" charset="0"/>
              </a:rPr>
              <a:t>Characteristics of a good sample design:</a:t>
            </a:r>
            <a:endParaRPr lang="en-IN" b="1" dirty="0"/>
          </a:p>
        </p:txBody>
      </p:sp>
      <p:sp>
        <p:nvSpPr>
          <p:cNvPr id="3" name="Content Placeholder 2">
            <a:extLst>
              <a:ext uri="{FF2B5EF4-FFF2-40B4-BE49-F238E27FC236}">
                <a16:creationId xmlns:a16="http://schemas.microsoft.com/office/drawing/2014/main" id="{23FC4A9F-103A-1560-C00A-24D88BDA4652}"/>
              </a:ext>
            </a:extLst>
          </p:cNvPr>
          <p:cNvSpPr>
            <a:spLocks noGrp="1"/>
          </p:cNvSpPr>
          <p:nvPr>
            <p:ph idx="1"/>
          </p:nvPr>
        </p:nvSpPr>
        <p:spPr>
          <a:xfrm>
            <a:off x="163644" y="716352"/>
            <a:ext cx="11903438" cy="6141647"/>
          </a:xfrm>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A good sample design is crucial in obtaining accurate and reliable results in research or surveys. Here are some characteristics of a good sample design:</a:t>
            </a:r>
          </a:p>
          <a:p>
            <a:pPr algn="l">
              <a:buFont typeface="+mj-lt"/>
              <a:buAutoNum type="arabicPeriod"/>
            </a:pPr>
            <a:r>
              <a:rPr lang="en-US" b="1" i="0" dirty="0">
                <a:solidFill>
                  <a:srgbClr val="374151"/>
                </a:solidFill>
                <a:effectLst/>
                <a:latin typeface="Söhne"/>
              </a:rPr>
              <a:t>Representativeness: </a:t>
            </a:r>
            <a:r>
              <a:rPr lang="en-US" b="0" i="0" dirty="0">
                <a:solidFill>
                  <a:srgbClr val="374151"/>
                </a:solidFill>
                <a:effectLst/>
                <a:latin typeface="Söhne"/>
              </a:rPr>
              <a:t>The sample should accurately represent the larger population from which it is drawn. This ensures that the findings can be generalized to the entire population.</a:t>
            </a:r>
          </a:p>
          <a:p>
            <a:pPr algn="just">
              <a:buFont typeface="+mj-lt"/>
              <a:buAutoNum type="arabicPeriod"/>
            </a:pPr>
            <a:r>
              <a:rPr lang="en-US" b="1" i="0" dirty="0">
                <a:solidFill>
                  <a:srgbClr val="374151"/>
                </a:solidFill>
                <a:effectLst/>
                <a:latin typeface="Söhne"/>
              </a:rPr>
              <a:t>Randomization: </a:t>
            </a:r>
            <a:r>
              <a:rPr lang="en-US" b="0" i="0" dirty="0">
                <a:solidFill>
                  <a:srgbClr val="374151"/>
                </a:solidFill>
                <a:effectLst/>
                <a:latin typeface="Söhne"/>
              </a:rPr>
              <a:t>Randomly selecting samples helps to minimize bias and ensures that each member of the population has an equal chance of being included in the sample. This increases the likelihood of a representative sample.</a:t>
            </a:r>
          </a:p>
          <a:p>
            <a:pPr algn="l">
              <a:buFont typeface="+mj-lt"/>
              <a:buAutoNum type="arabicPeriod"/>
            </a:pPr>
            <a:r>
              <a:rPr lang="en-US" b="1" i="0" dirty="0">
                <a:solidFill>
                  <a:srgbClr val="374151"/>
                </a:solidFill>
                <a:effectLst/>
                <a:latin typeface="Söhne"/>
              </a:rPr>
              <a:t>Size Adequacy: </a:t>
            </a:r>
            <a:r>
              <a:rPr lang="en-US" b="0" i="0" dirty="0">
                <a:solidFill>
                  <a:srgbClr val="374151"/>
                </a:solidFill>
                <a:effectLst/>
                <a:latin typeface="Söhne"/>
              </a:rPr>
              <a:t>The sample size should be sufficient to provide statistically meaningful results. Larger samples generally lead to more reliable estimates, but the size depends on the variability in the population and the desired level of confidence.</a:t>
            </a:r>
          </a:p>
          <a:p>
            <a:pPr algn="l">
              <a:buFont typeface="+mj-lt"/>
              <a:buAutoNum type="arabicPeriod"/>
            </a:pPr>
            <a:r>
              <a:rPr lang="en-US" b="1" i="0" dirty="0">
                <a:solidFill>
                  <a:srgbClr val="374151"/>
                </a:solidFill>
                <a:effectLst/>
                <a:latin typeface="Söhne"/>
              </a:rPr>
              <a:t>Sampling Frame Clarity: </a:t>
            </a:r>
            <a:r>
              <a:rPr lang="en-US" b="0" i="0" dirty="0">
                <a:solidFill>
                  <a:srgbClr val="374151"/>
                </a:solidFill>
                <a:effectLst/>
                <a:latin typeface="Söhne"/>
              </a:rPr>
              <a:t>A clear and well-defined sampling frame, which is a list of all the elements in the population, is essential. This helps in avoiding biases and ensures that every element in the population has an equal chance of being selected.</a:t>
            </a:r>
          </a:p>
        </p:txBody>
      </p:sp>
    </p:spTree>
    <p:extLst>
      <p:ext uri="{BB962C8B-B14F-4D97-AF65-F5344CB8AC3E}">
        <p14:creationId xmlns:p14="http://schemas.microsoft.com/office/powerpoint/2010/main" val="4054105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653494-65E8-9E5D-6433-2EDCB343BC01}"/>
              </a:ext>
            </a:extLst>
          </p:cNvPr>
          <p:cNvSpPr>
            <a:spLocks noGrp="1"/>
          </p:cNvSpPr>
          <p:nvPr>
            <p:ph idx="1"/>
          </p:nvPr>
        </p:nvSpPr>
        <p:spPr>
          <a:xfrm>
            <a:off x="133661" y="191696"/>
            <a:ext cx="12058339" cy="6666303"/>
          </a:xfrm>
        </p:spPr>
        <p:txBody>
          <a:bodyPr>
            <a:normAutofit fontScale="85000" lnSpcReduction="20000"/>
          </a:bodyPr>
          <a:lstStyle/>
          <a:p>
            <a:pPr marL="0" indent="0" algn="just">
              <a:buNone/>
            </a:pPr>
            <a:r>
              <a:rPr lang="en-US" b="1" i="0" dirty="0">
                <a:solidFill>
                  <a:srgbClr val="374151"/>
                </a:solidFill>
                <a:effectLst/>
                <a:latin typeface="Söhne"/>
              </a:rPr>
              <a:t>5.Accuracy and Precision: </a:t>
            </a:r>
            <a:r>
              <a:rPr lang="en-US" b="0" i="0" dirty="0">
                <a:solidFill>
                  <a:srgbClr val="374151"/>
                </a:solidFill>
                <a:effectLst/>
                <a:latin typeface="Söhne"/>
              </a:rPr>
              <a:t>The sample design should allow for accurate and precise measurements. This involves using appropriate measurement tools and techniques to minimize errors.</a:t>
            </a:r>
          </a:p>
          <a:p>
            <a:pPr marL="0" indent="0" algn="just">
              <a:buNone/>
            </a:pPr>
            <a:r>
              <a:rPr lang="en-US" b="1" i="0" dirty="0">
                <a:solidFill>
                  <a:srgbClr val="374151"/>
                </a:solidFill>
                <a:effectLst/>
                <a:latin typeface="Söhne"/>
              </a:rPr>
              <a:t>6.Simple and Feasible: </a:t>
            </a:r>
            <a:r>
              <a:rPr lang="en-US" b="0" i="0" dirty="0">
                <a:solidFill>
                  <a:srgbClr val="374151"/>
                </a:solidFill>
                <a:effectLst/>
                <a:latin typeface="Söhne"/>
              </a:rPr>
              <a:t>The sample design should be practical and feasible within the constraints of time, budget, and resources. Complicated designs may be difficult to implement and lead to errors.</a:t>
            </a:r>
          </a:p>
          <a:p>
            <a:pPr marL="0" indent="0" algn="just">
              <a:buNone/>
            </a:pPr>
            <a:r>
              <a:rPr lang="en-US" b="1" i="0" dirty="0">
                <a:solidFill>
                  <a:srgbClr val="374151"/>
                </a:solidFill>
                <a:effectLst/>
                <a:latin typeface="Söhne"/>
              </a:rPr>
              <a:t>7.Stratification: </a:t>
            </a:r>
            <a:r>
              <a:rPr lang="en-US" b="0" i="0" dirty="0">
                <a:solidFill>
                  <a:srgbClr val="374151"/>
                </a:solidFill>
                <a:effectLst/>
                <a:latin typeface="Söhne"/>
              </a:rPr>
              <a:t>When the population has subgroups with different characteristics, stratified sampling can be used to ensure representation from each subgroup. This helps in capturing the diversity within the population.</a:t>
            </a:r>
          </a:p>
          <a:p>
            <a:pPr marL="0" indent="0" algn="just">
              <a:buNone/>
            </a:pPr>
            <a:r>
              <a:rPr lang="en-US" b="1" i="0" dirty="0">
                <a:solidFill>
                  <a:srgbClr val="374151"/>
                </a:solidFill>
                <a:effectLst/>
                <a:latin typeface="Söhne"/>
              </a:rPr>
              <a:t>8.Cluster Sampling: </a:t>
            </a:r>
            <a:r>
              <a:rPr lang="en-US" b="0" i="0" dirty="0">
                <a:solidFill>
                  <a:srgbClr val="374151"/>
                </a:solidFill>
                <a:effectLst/>
                <a:latin typeface="Söhne"/>
              </a:rPr>
              <a:t>In situations where it is difficult to obtain a complete list of the population, cluster sampling can be used. In this method, the population is divided into clusters, and a random selection of clusters is made for the study.</a:t>
            </a:r>
          </a:p>
          <a:p>
            <a:pPr marL="0" indent="0" algn="just">
              <a:buNone/>
            </a:pPr>
            <a:r>
              <a:rPr lang="en-US" b="1" i="0" dirty="0">
                <a:solidFill>
                  <a:srgbClr val="374151"/>
                </a:solidFill>
                <a:effectLst/>
                <a:latin typeface="Söhne"/>
              </a:rPr>
              <a:t>9.Longitudinal Considerations: </a:t>
            </a:r>
            <a:r>
              <a:rPr lang="en-US" b="0" i="0" dirty="0">
                <a:solidFill>
                  <a:srgbClr val="374151"/>
                </a:solidFill>
                <a:effectLst/>
                <a:latin typeface="Söhne"/>
              </a:rPr>
              <a:t>For studies requiring observations over time, a good sample design considers longitudinal sampling, where the same individuals or groups are observed at multiple points in time.</a:t>
            </a:r>
          </a:p>
          <a:p>
            <a:pPr marL="0" indent="0" algn="just">
              <a:buNone/>
            </a:pPr>
            <a:r>
              <a:rPr lang="en-US" b="1" i="0" dirty="0">
                <a:solidFill>
                  <a:srgbClr val="374151"/>
                </a:solidFill>
                <a:effectLst/>
                <a:latin typeface="Söhne"/>
              </a:rPr>
              <a:t>10.Ethical Considerations:</a:t>
            </a:r>
            <a:r>
              <a:rPr lang="en-US" dirty="0">
                <a:solidFill>
                  <a:srgbClr val="374151"/>
                </a:solidFill>
                <a:latin typeface="Söhne"/>
              </a:rPr>
              <a:t> </a:t>
            </a:r>
            <a:r>
              <a:rPr lang="en-US" b="0" i="0" dirty="0">
                <a:solidFill>
                  <a:srgbClr val="374151"/>
                </a:solidFill>
                <a:effectLst/>
                <a:latin typeface="Söhne"/>
              </a:rPr>
              <a:t>The sample design should adhere to ethical principles, ensuring that the rights and privacy of participants are protected. Informed consent and confidentiality are crucial components of ethical sampling.</a:t>
            </a:r>
          </a:p>
          <a:p>
            <a:pPr marL="0" indent="0" algn="just">
              <a:buNone/>
            </a:pPr>
            <a:r>
              <a:rPr lang="en-US" b="1" i="0" dirty="0">
                <a:solidFill>
                  <a:srgbClr val="374151"/>
                </a:solidFill>
                <a:effectLst/>
                <a:latin typeface="Söhne"/>
              </a:rPr>
              <a:t>11.Flexibility:</a:t>
            </a:r>
            <a:r>
              <a:rPr lang="en-US" dirty="0">
                <a:solidFill>
                  <a:srgbClr val="374151"/>
                </a:solidFill>
                <a:latin typeface="Söhne"/>
              </a:rPr>
              <a:t> </a:t>
            </a:r>
            <a:r>
              <a:rPr lang="en-US" b="0" i="0" dirty="0">
                <a:solidFill>
                  <a:srgbClr val="374151"/>
                </a:solidFill>
                <a:effectLst/>
                <a:latin typeface="Söhne"/>
              </a:rPr>
              <a:t>A good sample design is flexible enough to accommodate changes or unforeseen circumstances without compromising the integrity of the study.</a:t>
            </a:r>
          </a:p>
        </p:txBody>
      </p:sp>
    </p:spTree>
    <p:extLst>
      <p:ext uri="{BB962C8B-B14F-4D97-AF65-F5344CB8AC3E}">
        <p14:creationId xmlns:p14="http://schemas.microsoft.com/office/powerpoint/2010/main" val="176257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AD84-141B-92B2-65CD-B1C707DCFA10}"/>
              </a:ext>
            </a:extLst>
          </p:cNvPr>
          <p:cNvSpPr>
            <a:spLocks noGrp="1"/>
          </p:cNvSpPr>
          <p:nvPr>
            <p:ph type="title"/>
          </p:nvPr>
        </p:nvSpPr>
        <p:spPr>
          <a:xfrm>
            <a:off x="283565" y="-354395"/>
            <a:ext cx="11908435" cy="1325563"/>
          </a:xfrm>
        </p:spPr>
        <p:txBody>
          <a:bodyPr>
            <a:normAutofit/>
          </a:bodyPr>
          <a:lstStyle/>
          <a:p>
            <a:r>
              <a:rPr lang="en-US" sz="4000" b="1" dirty="0">
                <a:effectLst/>
                <a:latin typeface="Cambria" panose="02040503050406030204" pitchFamily="18" charset="0"/>
                <a:ea typeface="Times New Roman" panose="02020603050405020304" pitchFamily="18" charset="0"/>
              </a:rPr>
              <a:t>Probability and non- probability sample designs:</a:t>
            </a:r>
            <a:endParaRPr lang="en-IN" sz="4000" b="1" dirty="0"/>
          </a:p>
        </p:txBody>
      </p:sp>
      <p:sp>
        <p:nvSpPr>
          <p:cNvPr id="3" name="Content Placeholder 2">
            <a:extLst>
              <a:ext uri="{FF2B5EF4-FFF2-40B4-BE49-F238E27FC236}">
                <a16:creationId xmlns:a16="http://schemas.microsoft.com/office/drawing/2014/main" id="{655BFD87-2F76-ECA7-BF67-EC710196A48E}"/>
              </a:ext>
            </a:extLst>
          </p:cNvPr>
          <p:cNvSpPr>
            <a:spLocks noGrp="1"/>
          </p:cNvSpPr>
          <p:nvPr>
            <p:ph idx="1"/>
          </p:nvPr>
        </p:nvSpPr>
        <p:spPr>
          <a:xfrm>
            <a:off x="58712" y="626410"/>
            <a:ext cx="11908435" cy="6306539"/>
          </a:xfrm>
        </p:spPr>
        <p:txBody>
          <a:bodyPr>
            <a:normAutofit fontScale="92500" lnSpcReduction="20000"/>
          </a:bodyPr>
          <a:lstStyle/>
          <a:p>
            <a:pPr marL="0" indent="0" algn="just">
              <a:buNone/>
            </a:pPr>
            <a:r>
              <a:rPr lang="en-US" b="0" i="0" dirty="0">
                <a:solidFill>
                  <a:srgbClr val="374151"/>
                </a:solidFill>
                <a:effectLst/>
                <a:latin typeface="Söhne"/>
              </a:rPr>
              <a:t>	Probability sampling and non-probability sampling are two broad categories of sampling designs used in research. Each has its own set of advantages and limitations.</a:t>
            </a:r>
          </a:p>
          <a:p>
            <a:pPr marL="0" indent="0" algn="l">
              <a:buNone/>
            </a:pPr>
            <a:r>
              <a:rPr lang="en-US" sz="3900" b="1" i="0" dirty="0">
                <a:effectLst/>
                <a:latin typeface="Söhne"/>
              </a:rPr>
              <a:t>Probability Sampling:</a:t>
            </a:r>
          </a:p>
          <a:p>
            <a:pPr algn="just">
              <a:buFont typeface="+mj-lt"/>
              <a:buAutoNum type="arabicPeriod"/>
            </a:pPr>
            <a:r>
              <a:rPr lang="en-US" b="1" i="0" dirty="0">
                <a:solidFill>
                  <a:srgbClr val="374151"/>
                </a:solidFill>
                <a:effectLst/>
                <a:latin typeface="Söhne"/>
              </a:rPr>
              <a:t>Random Sampling: </a:t>
            </a:r>
            <a:r>
              <a:rPr lang="en-US" b="0" i="0" dirty="0">
                <a:solidFill>
                  <a:srgbClr val="374151"/>
                </a:solidFill>
                <a:effectLst/>
                <a:latin typeface="Söhne"/>
              </a:rPr>
              <a:t>In this method, each member of the population has an equal chance of being selected. This can be done through random number generation or randomization techniques.</a:t>
            </a:r>
          </a:p>
          <a:p>
            <a:pPr algn="just">
              <a:buFont typeface="+mj-lt"/>
              <a:buAutoNum type="arabicPeriod"/>
            </a:pPr>
            <a:r>
              <a:rPr lang="en-US" b="1" i="0" dirty="0">
                <a:solidFill>
                  <a:srgbClr val="374151"/>
                </a:solidFill>
                <a:effectLst/>
                <a:latin typeface="Söhne"/>
              </a:rPr>
              <a:t>Stratified Sampling: </a:t>
            </a:r>
            <a:r>
              <a:rPr lang="en-US" b="0" i="0" dirty="0">
                <a:solidFill>
                  <a:srgbClr val="374151"/>
                </a:solidFill>
                <a:effectLst/>
                <a:latin typeface="Söhne"/>
              </a:rPr>
              <a:t>The population is divided into subgroups or strata, and samples are randomly selected from each stratum. This ensures representation from different segments of the population.</a:t>
            </a:r>
          </a:p>
          <a:p>
            <a:pPr algn="just">
              <a:buFont typeface="+mj-lt"/>
              <a:buAutoNum type="arabicPeriod"/>
            </a:pPr>
            <a:r>
              <a:rPr lang="en-US" b="1" i="0" dirty="0">
                <a:solidFill>
                  <a:srgbClr val="374151"/>
                </a:solidFill>
                <a:effectLst/>
                <a:latin typeface="Söhne"/>
              </a:rPr>
              <a:t>Systematic Sampling: </a:t>
            </a:r>
            <a:r>
              <a:rPr lang="en-US" b="0" i="0" dirty="0">
                <a:solidFill>
                  <a:srgbClr val="374151"/>
                </a:solidFill>
                <a:effectLst/>
                <a:latin typeface="Söhne"/>
              </a:rPr>
              <a:t>Every nth member of the population is selected after an initial random start. For example, every 5th person on a list may be included in the sample.</a:t>
            </a:r>
          </a:p>
          <a:p>
            <a:pPr algn="just">
              <a:buFont typeface="+mj-lt"/>
              <a:buAutoNum type="arabicPeriod"/>
            </a:pPr>
            <a:r>
              <a:rPr lang="en-US" b="1" i="0" dirty="0">
                <a:solidFill>
                  <a:srgbClr val="374151"/>
                </a:solidFill>
                <a:effectLst/>
                <a:latin typeface="Söhne"/>
              </a:rPr>
              <a:t>Cluster Sampling: </a:t>
            </a:r>
            <a:r>
              <a:rPr lang="en-US" b="0" i="0" dirty="0">
                <a:solidFill>
                  <a:srgbClr val="374151"/>
                </a:solidFill>
                <a:effectLst/>
                <a:latin typeface="Söhne"/>
              </a:rPr>
              <a:t>The population is divided into clusters, and entire clusters are randomly selected. The elements within the chosen clusters then form the sample.</a:t>
            </a:r>
          </a:p>
          <a:p>
            <a:pPr algn="just">
              <a:buFont typeface="+mj-lt"/>
              <a:buAutoNum type="arabicPeriod"/>
            </a:pPr>
            <a:r>
              <a:rPr lang="en-US" b="1" i="0" dirty="0">
                <a:solidFill>
                  <a:srgbClr val="374151"/>
                </a:solidFill>
                <a:effectLst/>
                <a:latin typeface="Söhne"/>
              </a:rPr>
              <a:t>Multistage Sampling: </a:t>
            </a:r>
            <a:r>
              <a:rPr lang="en-US" b="0" i="0" dirty="0">
                <a:solidFill>
                  <a:srgbClr val="374151"/>
                </a:solidFill>
                <a:effectLst/>
                <a:latin typeface="Söhne"/>
              </a:rPr>
              <a:t>A combination of various sampling methods is used in multiple stages. For instance, clusters are randomly selected, and then random sampling or another method is applied within those clusters.</a:t>
            </a:r>
          </a:p>
          <a:p>
            <a:pPr algn="just">
              <a:buFont typeface="+mj-lt"/>
              <a:buAutoNum type="arabicPeriod"/>
            </a:pPr>
            <a:r>
              <a:rPr lang="en-US" b="1" i="0" dirty="0">
                <a:solidFill>
                  <a:srgbClr val="374151"/>
                </a:solidFill>
                <a:effectLst/>
                <a:latin typeface="Söhne"/>
              </a:rPr>
              <a:t>Proportionate Sampling:</a:t>
            </a:r>
            <a:r>
              <a:rPr lang="en-US" dirty="0">
                <a:solidFill>
                  <a:srgbClr val="374151"/>
                </a:solidFill>
                <a:latin typeface="Söhne"/>
              </a:rPr>
              <a:t> </a:t>
            </a:r>
            <a:r>
              <a:rPr lang="en-US" b="0" i="0" dirty="0">
                <a:solidFill>
                  <a:srgbClr val="374151"/>
                </a:solidFill>
                <a:effectLst/>
                <a:latin typeface="Söhne"/>
              </a:rPr>
              <a:t>The sample is chosen in such a way that the proportion of each subgroup in the sample mirrors the proportion in the overall population.</a:t>
            </a:r>
          </a:p>
          <a:p>
            <a:endParaRPr lang="en-IN" dirty="0"/>
          </a:p>
        </p:txBody>
      </p:sp>
    </p:spTree>
    <p:extLst>
      <p:ext uri="{BB962C8B-B14F-4D97-AF65-F5344CB8AC3E}">
        <p14:creationId xmlns:p14="http://schemas.microsoft.com/office/powerpoint/2010/main" val="98176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E1558-70EF-249F-1354-040DBC4F0F2B}"/>
              </a:ext>
            </a:extLst>
          </p:cNvPr>
          <p:cNvSpPr>
            <a:spLocks noGrp="1"/>
          </p:cNvSpPr>
          <p:nvPr>
            <p:ph idx="1"/>
          </p:nvPr>
        </p:nvSpPr>
        <p:spPr>
          <a:xfrm>
            <a:off x="163641" y="131735"/>
            <a:ext cx="11858469" cy="6726265"/>
          </a:xfrm>
        </p:spPr>
        <p:txBody>
          <a:bodyPr>
            <a:normAutofit fontScale="92500"/>
          </a:bodyPr>
          <a:lstStyle/>
          <a:p>
            <a:pPr marL="0" indent="0" algn="l">
              <a:buNone/>
            </a:pPr>
            <a:r>
              <a:rPr lang="en-US" sz="3500" b="1" i="0" dirty="0">
                <a:effectLst/>
                <a:latin typeface="Söhne"/>
              </a:rPr>
              <a:t>Non-Probability Sampling:</a:t>
            </a:r>
          </a:p>
          <a:p>
            <a:pPr algn="just">
              <a:buFont typeface="+mj-lt"/>
              <a:buAutoNum type="arabicPeriod"/>
            </a:pPr>
            <a:r>
              <a:rPr lang="en-US" b="1" i="0" dirty="0">
                <a:solidFill>
                  <a:srgbClr val="374151"/>
                </a:solidFill>
                <a:effectLst/>
                <a:latin typeface="Söhne"/>
              </a:rPr>
              <a:t>Convenience Sampling: </a:t>
            </a:r>
            <a:r>
              <a:rPr lang="en-US" b="0" i="0" dirty="0">
                <a:solidFill>
                  <a:srgbClr val="374151"/>
                </a:solidFill>
                <a:effectLst/>
                <a:latin typeface="Söhne"/>
              </a:rPr>
              <a:t>Participants are chosen based on their availability and proximity to the researcher. This method is convenient but may lack representativeness.</a:t>
            </a:r>
          </a:p>
          <a:p>
            <a:pPr algn="just">
              <a:buFont typeface="+mj-lt"/>
              <a:buAutoNum type="arabicPeriod"/>
            </a:pPr>
            <a:r>
              <a:rPr lang="en-US" b="1" i="0" dirty="0">
                <a:solidFill>
                  <a:srgbClr val="374151"/>
                </a:solidFill>
                <a:effectLst/>
                <a:latin typeface="Söhne"/>
              </a:rPr>
              <a:t>Purposive Sampling: </a:t>
            </a:r>
            <a:r>
              <a:rPr lang="en-US" b="0" i="0" dirty="0">
                <a:solidFill>
                  <a:srgbClr val="374151"/>
                </a:solidFill>
                <a:effectLst/>
                <a:latin typeface="Söhne"/>
              </a:rPr>
              <a:t>Researchers deliberately choose participants based on specific characteristics, expertise, or criteria relevant to the study. This method is often used in qualitative research.</a:t>
            </a:r>
          </a:p>
          <a:p>
            <a:pPr algn="just">
              <a:buFont typeface="+mj-lt"/>
              <a:buAutoNum type="arabicPeriod"/>
            </a:pPr>
            <a:r>
              <a:rPr lang="en-US" b="1" i="0" dirty="0">
                <a:solidFill>
                  <a:srgbClr val="374151"/>
                </a:solidFill>
                <a:effectLst/>
                <a:latin typeface="Söhne"/>
              </a:rPr>
              <a:t>Snowball Sampling: </a:t>
            </a:r>
            <a:r>
              <a:rPr lang="en-US" b="0" i="0" dirty="0">
                <a:solidFill>
                  <a:srgbClr val="374151"/>
                </a:solidFill>
                <a:effectLst/>
                <a:latin typeface="Söhne"/>
              </a:rPr>
              <a:t>Existing participants refer or introduce the researcher to potential participants. This method is commonly used when the population is hard to reach.</a:t>
            </a:r>
          </a:p>
          <a:p>
            <a:pPr algn="just">
              <a:buFont typeface="+mj-lt"/>
              <a:buAutoNum type="arabicPeriod"/>
            </a:pPr>
            <a:r>
              <a:rPr lang="en-US" b="1" i="0" dirty="0">
                <a:solidFill>
                  <a:srgbClr val="374151"/>
                </a:solidFill>
                <a:effectLst/>
                <a:latin typeface="Söhne"/>
              </a:rPr>
              <a:t>Quota Sampling: </a:t>
            </a:r>
            <a:r>
              <a:rPr lang="en-US" b="0" i="0" dirty="0">
                <a:solidFill>
                  <a:srgbClr val="374151"/>
                </a:solidFill>
                <a:effectLst/>
                <a:latin typeface="Söhne"/>
              </a:rPr>
              <a:t>Researchers establish quotas for certain characteristics (e.g., age, gender) and then non-randomly select individuals to meet those quotas.</a:t>
            </a:r>
          </a:p>
          <a:p>
            <a:pPr algn="just">
              <a:buFont typeface="+mj-lt"/>
              <a:buAutoNum type="arabicPeriod"/>
            </a:pPr>
            <a:r>
              <a:rPr lang="en-US" b="1" i="0" dirty="0">
                <a:solidFill>
                  <a:srgbClr val="374151"/>
                </a:solidFill>
                <a:effectLst/>
                <a:latin typeface="Söhne"/>
              </a:rPr>
              <a:t>Judgmental Sampling: </a:t>
            </a:r>
            <a:r>
              <a:rPr lang="en-US" b="0" i="0" dirty="0">
                <a:solidFill>
                  <a:srgbClr val="374151"/>
                </a:solidFill>
                <a:effectLst/>
                <a:latin typeface="Söhne"/>
              </a:rPr>
              <a:t>The researcher uses their judgment to select participants who are believed to be most representative or relevant to the study.</a:t>
            </a:r>
          </a:p>
          <a:p>
            <a:pPr algn="just">
              <a:buFont typeface="+mj-lt"/>
              <a:buAutoNum type="arabicPeriod"/>
            </a:pPr>
            <a:r>
              <a:rPr lang="en-US" b="1" i="0" dirty="0">
                <a:solidFill>
                  <a:srgbClr val="374151"/>
                </a:solidFill>
                <a:effectLst/>
                <a:latin typeface="Söhne"/>
              </a:rPr>
              <a:t>Consecutive Sampling: </a:t>
            </a:r>
            <a:r>
              <a:rPr lang="en-US" b="0" i="0" dirty="0">
                <a:solidFill>
                  <a:srgbClr val="374151"/>
                </a:solidFill>
                <a:effectLst/>
                <a:latin typeface="Söhne"/>
              </a:rPr>
              <a:t>Participants are chosen based on their availability and willingness to participate as they present themselves, often in a consecutive fashion.</a:t>
            </a:r>
          </a:p>
        </p:txBody>
      </p:sp>
    </p:spTree>
    <p:extLst>
      <p:ext uri="{BB962C8B-B14F-4D97-AF65-F5344CB8AC3E}">
        <p14:creationId xmlns:p14="http://schemas.microsoft.com/office/powerpoint/2010/main" val="2607951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A0A10-E2EB-A3BA-6165-1E4B397CEBB7}"/>
              </a:ext>
            </a:extLst>
          </p:cNvPr>
          <p:cNvSpPr>
            <a:spLocks noGrp="1"/>
          </p:cNvSpPr>
          <p:nvPr>
            <p:ph idx="1"/>
          </p:nvPr>
        </p:nvSpPr>
        <p:spPr>
          <a:xfrm>
            <a:off x="343524" y="476509"/>
            <a:ext cx="11378783" cy="6044211"/>
          </a:xfrm>
        </p:spPr>
        <p:txBody>
          <a:bodyPr>
            <a:normAutofit/>
          </a:bodyPr>
          <a:lstStyle/>
          <a:p>
            <a:pPr marL="0" indent="0" algn="l">
              <a:buNone/>
            </a:pPr>
            <a:r>
              <a:rPr lang="en-US" sz="3600" b="1" i="0" dirty="0">
                <a:effectLst/>
                <a:latin typeface="Söhne"/>
              </a:rPr>
              <a:t>Comparison:</a:t>
            </a:r>
          </a:p>
          <a:p>
            <a:pPr algn="just">
              <a:buFont typeface="Arial" panose="020B0604020202020204" pitchFamily="34" charset="0"/>
              <a:buChar char="•"/>
            </a:pPr>
            <a:r>
              <a:rPr lang="en-US" b="1" i="0" dirty="0">
                <a:solidFill>
                  <a:srgbClr val="374151"/>
                </a:solidFill>
                <a:effectLst/>
                <a:latin typeface="Söhne"/>
              </a:rPr>
              <a:t>Representativeness: </a:t>
            </a:r>
            <a:r>
              <a:rPr lang="en-US" b="0" i="0" dirty="0">
                <a:solidFill>
                  <a:srgbClr val="374151"/>
                </a:solidFill>
                <a:effectLst/>
                <a:latin typeface="Söhne"/>
              </a:rPr>
              <a:t>Probability sampling generally provides more representative samples of the population compared to non-probability sampling.</a:t>
            </a:r>
          </a:p>
          <a:p>
            <a:pPr algn="just">
              <a:buFont typeface="Arial" panose="020B0604020202020204" pitchFamily="34" charset="0"/>
              <a:buChar char="•"/>
            </a:pPr>
            <a:r>
              <a:rPr lang="en-US" b="1" i="0" dirty="0">
                <a:solidFill>
                  <a:srgbClr val="374151"/>
                </a:solidFill>
                <a:effectLst/>
                <a:latin typeface="Söhne"/>
              </a:rPr>
              <a:t>Generalizability: </a:t>
            </a:r>
            <a:r>
              <a:rPr lang="en-US" b="0" i="0" dirty="0">
                <a:solidFill>
                  <a:srgbClr val="374151"/>
                </a:solidFill>
                <a:effectLst/>
                <a:latin typeface="Söhne"/>
              </a:rPr>
              <a:t>Findings from probability samples are often more generalizable to the entire population, whereas non-probability samples may have limited generalizability.</a:t>
            </a:r>
          </a:p>
          <a:p>
            <a:pPr algn="just">
              <a:buFont typeface="Arial" panose="020B0604020202020204" pitchFamily="34" charset="0"/>
              <a:buChar char="•"/>
            </a:pPr>
            <a:r>
              <a:rPr lang="en-US" b="1" i="0" dirty="0">
                <a:solidFill>
                  <a:srgbClr val="374151"/>
                </a:solidFill>
                <a:effectLst/>
                <a:latin typeface="Söhne"/>
              </a:rPr>
              <a:t>Randomization: </a:t>
            </a:r>
            <a:r>
              <a:rPr lang="en-US" b="0" i="0" dirty="0">
                <a:solidFill>
                  <a:srgbClr val="374151"/>
                </a:solidFill>
                <a:effectLst/>
                <a:latin typeface="Söhne"/>
              </a:rPr>
              <a:t>Probability sampling involves randomization, ensuring each member has an equal chance of being selected. Non-probability sampling methods lack this random selection.</a:t>
            </a:r>
          </a:p>
          <a:p>
            <a:pPr algn="just">
              <a:buFont typeface="Arial" panose="020B0604020202020204" pitchFamily="34" charset="0"/>
              <a:buChar char="•"/>
            </a:pPr>
            <a:r>
              <a:rPr lang="en-US" b="1" i="0" dirty="0">
                <a:solidFill>
                  <a:srgbClr val="374151"/>
                </a:solidFill>
                <a:effectLst/>
                <a:latin typeface="Söhne"/>
              </a:rPr>
              <a:t>Statistical Inference: </a:t>
            </a:r>
            <a:r>
              <a:rPr lang="en-US" b="0" i="0" dirty="0">
                <a:solidFill>
                  <a:srgbClr val="374151"/>
                </a:solidFill>
                <a:effectLst/>
                <a:latin typeface="Söhne"/>
              </a:rPr>
              <a:t>Probability sampling allows for statistical inference, enabling researchers to make statistical statements about the population. Non-probability sampling is less conducive to this type of inference.</a:t>
            </a:r>
          </a:p>
          <a:p>
            <a:pPr marL="0" indent="0">
              <a:buNone/>
            </a:pPr>
            <a:endParaRPr lang="en-IN" dirty="0"/>
          </a:p>
        </p:txBody>
      </p:sp>
    </p:spTree>
    <p:extLst>
      <p:ext uri="{BB962C8B-B14F-4D97-AF65-F5344CB8AC3E}">
        <p14:creationId xmlns:p14="http://schemas.microsoft.com/office/powerpoint/2010/main" val="250052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E3ED-C5A7-38AA-8BCC-6600C6E5A883}"/>
              </a:ext>
            </a:extLst>
          </p:cNvPr>
          <p:cNvSpPr>
            <a:spLocks noGrp="1"/>
          </p:cNvSpPr>
          <p:nvPr>
            <p:ph type="title"/>
          </p:nvPr>
        </p:nvSpPr>
        <p:spPr>
          <a:xfrm>
            <a:off x="224851" y="80315"/>
            <a:ext cx="11767279" cy="1325563"/>
          </a:xfrm>
        </p:spPr>
        <p:txBody>
          <a:bodyPr>
            <a:normAutofit/>
          </a:bodyPr>
          <a:lstStyle/>
          <a:p>
            <a:pPr algn="just"/>
            <a:r>
              <a:rPr lang="en-IN" b="1" dirty="0">
                <a:latin typeface="Cambria" panose="02040503050406030204" pitchFamily="18" charset="0"/>
                <a:ea typeface="Cambria" panose="02040503050406030204" pitchFamily="18" charset="0"/>
              </a:rPr>
              <a:t>Introduction to </a:t>
            </a:r>
            <a:r>
              <a:rPr lang="en-US" sz="4400" b="1" dirty="0">
                <a:effectLst/>
                <a:latin typeface="Cambria" panose="02040503050406030204" pitchFamily="18" charset="0"/>
                <a:ea typeface="Cambria" panose="02040503050406030204" pitchFamily="18" charset="0"/>
                <a:cs typeface="Times New Roman" panose="02020603050405020304" pitchFamily="18" charset="0"/>
              </a:rPr>
              <a:t>Measurement and Scaling Techniques: </a:t>
            </a:r>
            <a:endParaRPr lang="en-IN" b="1"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6A66948B-44A8-1014-526B-17458B400AB5}"/>
              </a:ext>
            </a:extLst>
          </p:cNvPr>
          <p:cNvSpPr>
            <a:spLocks noGrp="1"/>
          </p:cNvSpPr>
          <p:nvPr>
            <p:ph idx="1"/>
          </p:nvPr>
        </p:nvSpPr>
        <p:spPr>
          <a:xfrm>
            <a:off x="0" y="1405877"/>
            <a:ext cx="12192000" cy="5452123"/>
          </a:xfrm>
        </p:spPr>
        <p:txBody>
          <a:bodyPr>
            <a:normAutofit/>
          </a:bodyPr>
          <a:lstStyle/>
          <a:p>
            <a:pPr algn="just">
              <a:buFont typeface="Wingdings" panose="05000000000000000000" pitchFamily="2" charset="2"/>
              <a:buChar char="Ø"/>
            </a:pPr>
            <a:r>
              <a:rPr lang="en-US" sz="3400" b="0" i="0" dirty="0">
                <a:solidFill>
                  <a:srgbClr val="374151"/>
                </a:solidFill>
                <a:effectLst/>
                <a:latin typeface="Söhne"/>
              </a:rPr>
              <a:t>Measurement and scaling techniques are fundamental aspects of research and data collection in various fields, including social sciences, business, psychology, and more. </a:t>
            </a:r>
          </a:p>
          <a:p>
            <a:pPr algn="just">
              <a:buFont typeface="Wingdings" panose="05000000000000000000" pitchFamily="2" charset="2"/>
              <a:buChar char="Ø"/>
            </a:pPr>
            <a:r>
              <a:rPr lang="en-US" sz="3400" b="0" i="0" dirty="0">
                <a:solidFill>
                  <a:srgbClr val="374151"/>
                </a:solidFill>
                <a:effectLst/>
                <a:latin typeface="Söhne"/>
              </a:rPr>
              <a:t>These techniques provide a systematic way to quantify and categorize variables, allowing researchers to collect and analyze data in a meaningful and structured manner. </a:t>
            </a:r>
          </a:p>
          <a:p>
            <a:pPr algn="just">
              <a:buFont typeface="Wingdings" panose="05000000000000000000" pitchFamily="2" charset="2"/>
              <a:buChar char="Ø"/>
            </a:pPr>
            <a:r>
              <a:rPr lang="en-US" sz="3400" b="0" i="0" dirty="0">
                <a:solidFill>
                  <a:srgbClr val="374151"/>
                </a:solidFill>
                <a:effectLst/>
                <a:latin typeface="Söhne"/>
              </a:rPr>
              <a:t>Measurement refers to the process of assigning numbers or labels to properties of objects, events, or people, while scaling involves creating a continuum upon which measured entities can be located.</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706499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14693-F4B0-CDB9-D432-2BE5F13E127C}"/>
              </a:ext>
            </a:extLst>
          </p:cNvPr>
          <p:cNvSpPr>
            <a:spLocks noGrp="1"/>
          </p:cNvSpPr>
          <p:nvPr>
            <p:ph idx="1"/>
          </p:nvPr>
        </p:nvSpPr>
        <p:spPr>
          <a:xfrm>
            <a:off x="283563" y="281637"/>
            <a:ext cx="11738547" cy="6418965"/>
          </a:xfrm>
        </p:spPr>
        <p:txBody>
          <a:bodyPr>
            <a:normAutofit fontScale="92500" lnSpcReduction="10000"/>
          </a:bodyPr>
          <a:lstStyle/>
          <a:p>
            <a:pPr marL="0" indent="0" algn="l">
              <a:buNone/>
            </a:pPr>
            <a:r>
              <a:rPr lang="en-US" sz="4800" b="1" i="0" dirty="0">
                <a:effectLst/>
                <a:latin typeface="Söhne"/>
              </a:rPr>
              <a:t>Measurement:</a:t>
            </a:r>
          </a:p>
          <a:p>
            <a:pPr algn="just">
              <a:buFont typeface="+mj-lt"/>
              <a:buAutoNum type="arabicPeriod"/>
            </a:pPr>
            <a:r>
              <a:rPr lang="en-US" b="1" i="0" dirty="0">
                <a:solidFill>
                  <a:srgbClr val="374151"/>
                </a:solidFill>
                <a:effectLst/>
                <a:latin typeface="Söhne"/>
              </a:rPr>
              <a:t>Nominal Measurement:</a:t>
            </a:r>
            <a:r>
              <a:rPr lang="en-US" dirty="0">
                <a:solidFill>
                  <a:srgbClr val="374151"/>
                </a:solidFill>
                <a:latin typeface="Söhne"/>
              </a:rPr>
              <a:t> </a:t>
            </a:r>
            <a:r>
              <a:rPr lang="en-US" b="0" i="0" dirty="0">
                <a:solidFill>
                  <a:srgbClr val="374151"/>
                </a:solidFill>
                <a:effectLst/>
                <a:latin typeface="Söhne"/>
              </a:rPr>
              <a:t>Nominal scales involve the assignment of numbers or labels to categories or groups without any inherent order or hierarchy. Examples include gender (male, female) or colors (red, blue, green).</a:t>
            </a:r>
          </a:p>
          <a:p>
            <a:pPr algn="just">
              <a:buFont typeface="+mj-lt"/>
              <a:buAutoNum type="arabicPeriod"/>
            </a:pPr>
            <a:r>
              <a:rPr lang="en-US" b="1" i="0" dirty="0">
                <a:solidFill>
                  <a:srgbClr val="374151"/>
                </a:solidFill>
                <a:effectLst/>
                <a:latin typeface="Söhne"/>
              </a:rPr>
              <a:t>Ordinal Measurement: </a:t>
            </a:r>
            <a:r>
              <a:rPr lang="en-US" b="0" i="0" dirty="0">
                <a:solidFill>
                  <a:srgbClr val="374151"/>
                </a:solidFill>
                <a:effectLst/>
                <a:latin typeface="Söhne"/>
              </a:rPr>
              <a:t>Ordinal scales maintain the categorization of variables but also introduce the concept of order or ranking. However, the intervals between the categories are not necessarily equal. Examples include education levels (high school, bachelor's, master's) or customer satisfaction ratings (poor, fair, good, excellent).</a:t>
            </a:r>
          </a:p>
          <a:p>
            <a:pPr algn="just">
              <a:buFont typeface="+mj-lt"/>
              <a:buAutoNum type="arabicPeriod"/>
            </a:pPr>
            <a:r>
              <a:rPr lang="en-US" b="1" i="0" dirty="0">
                <a:solidFill>
                  <a:srgbClr val="374151"/>
                </a:solidFill>
                <a:effectLst/>
                <a:latin typeface="Söhne"/>
              </a:rPr>
              <a:t>Interval Measurement: </a:t>
            </a:r>
            <a:r>
              <a:rPr lang="en-US" b="0" i="0" dirty="0">
                <a:solidFill>
                  <a:srgbClr val="374151"/>
                </a:solidFill>
                <a:effectLst/>
                <a:latin typeface="Söhne"/>
              </a:rPr>
              <a:t>Interval scales have equal intervals between the categories, and zero points are arbitrary. Temperature in Celsius is an example of an interval scale because the difference between 20 and 30 degrees is the same as the difference between 30 and 40 degrees, but zero does not signify an absence of temperature.</a:t>
            </a:r>
          </a:p>
          <a:p>
            <a:pPr algn="just">
              <a:buFont typeface="+mj-lt"/>
              <a:buAutoNum type="arabicPeriod"/>
            </a:pPr>
            <a:r>
              <a:rPr lang="en-US" b="1" i="0" dirty="0">
                <a:solidFill>
                  <a:srgbClr val="374151"/>
                </a:solidFill>
                <a:effectLst/>
                <a:latin typeface="Söhne"/>
              </a:rPr>
              <a:t>Ratio Measurement: </a:t>
            </a:r>
            <a:r>
              <a:rPr lang="en-US" b="0" i="0" dirty="0">
                <a:solidFill>
                  <a:srgbClr val="374151"/>
                </a:solidFill>
                <a:effectLst/>
                <a:latin typeface="Söhne"/>
              </a:rPr>
              <a:t>Ratio scales have equal intervals between categories, and they also have a meaningful zero point that represents the absence of the measured attribute. Examples include height, weight, income, and age.</a:t>
            </a:r>
          </a:p>
          <a:p>
            <a:endParaRPr lang="en-IN" dirty="0"/>
          </a:p>
        </p:txBody>
      </p:sp>
    </p:spTree>
    <p:extLst>
      <p:ext uri="{BB962C8B-B14F-4D97-AF65-F5344CB8AC3E}">
        <p14:creationId xmlns:p14="http://schemas.microsoft.com/office/powerpoint/2010/main" val="963422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BBF98-B35B-2C63-0ABC-0546567F0462}"/>
              </a:ext>
            </a:extLst>
          </p:cNvPr>
          <p:cNvSpPr>
            <a:spLocks noGrp="1"/>
          </p:cNvSpPr>
          <p:nvPr>
            <p:ph idx="1"/>
          </p:nvPr>
        </p:nvSpPr>
        <p:spPr>
          <a:xfrm>
            <a:off x="0" y="176706"/>
            <a:ext cx="12192000" cy="6868671"/>
          </a:xfrm>
        </p:spPr>
        <p:txBody>
          <a:bodyPr>
            <a:normAutofit fontScale="85000" lnSpcReduction="20000"/>
          </a:bodyPr>
          <a:lstStyle/>
          <a:p>
            <a:pPr algn="l"/>
            <a:r>
              <a:rPr lang="en-US" sz="5700" b="1" i="0" dirty="0">
                <a:effectLst/>
                <a:latin typeface="Söhne"/>
              </a:rPr>
              <a:t>Scaling Techniques:</a:t>
            </a:r>
          </a:p>
          <a:p>
            <a:pPr algn="just">
              <a:buFont typeface="+mj-lt"/>
              <a:buAutoNum type="arabicPeriod"/>
            </a:pPr>
            <a:r>
              <a:rPr lang="en-US" b="1" i="0" dirty="0">
                <a:solidFill>
                  <a:srgbClr val="374151"/>
                </a:solidFill>
                <a:effectLst/>
                <a:latin typeface="Söhne"/>
              </a:rPr>
              <a:t>Comparative Scaling: </a:t>
            </a:r>
            <a:r>
              <a:rPr lang="en-US" b="0" i="0" dirty="0">
                <a:solidFill>
                  <a:srgbClr val="374151"/>
                </a:solidFill>
                <a:effectLst/>
                <a:latin typeface="Söhne"/>
              </a:rPr>
              <a:t>Respondents are asked to compare one product, brand, or concept to another. Examples include paired comparison and rank order scaling.</a:t>
            </a:r>
          </a:p>
          <a:p>
            <a:pPr algn="just">
              <a:buFont typeface="+mj-lt"/>
              <a:buAutoNum type="arabicPeriod"/>
            </a:pPr>
            <a:r>
              <a:rPr lang="en-US" b="1" i="0" dirty="0">
                <a:solidFill>
                  <a:srgbClr val="374151"/>
                </a:solidFill>
                <a:effectLst/>
                <a:latin typeface="Söhne"/>
              </a:rPr>
              <a:t>Likert Scaling: </a:t>
            </a:r>
            <a:r>
              <a:rPr lang="en-US" b="0" i="0" dirty="0">
                <a:solidFill>
                  <a:srgbClr val="374151"/>
                </a:solidFill>
                <a:effectLst/>
                <a:latin typeface="Söhne"/>
              </a:rPr>
              <a:t>Respondents express their level of agreement or disagreement with a statement using a scale, typically ranging from "strongly disagree" to "strongly agree." This method provides a more nuanced understanding of attitudes and opinions.</a:t>
            </a:r>
          </a:p>
          <a:p>
            <a:pPr algn="just">
              <a:buFont typeface="+mj-lt"/>
              <a:buAutoNum type="arabicPeriod"/>
            </a:pPr>
            <a:r>
              <a:rPr lang="en-US" b="1" i="0" dirty="0">
                <a:solidFill>
                  <a:srgbClr val="374151"/>
                </a:solidFill>
                <a:effectLst/>
                <a:latin typeface="Söhne"/>
              </a:rPr>
              <a:t>Semantic Differential Scaling: </a:t>
            </a:r>
            <a:r>
              <a:rPr lang="en-US" b="0" i="0" dirty="0">
                <a:solidFill>
                  <a:srgbClr val="374151"/>
                </a:solidFill>
                <a:effectLst/>
                <a:latin typeface="Söhne"/>
              </a:rPr>
              <a:t>This technique involves rating an object or concept along a set of bipolar adjectives. Respondents mark their position on a scale between opposing adjectives, providing a more detailed assessment of attitudes.</a:t>
            </a:r>
          </a:p>
          <a:p>
            <a:pPr algn="just">
              <a:buFont typeface="+mj-lt"/>
              <a:buAutoNum type="arabicPeriod"/>
            </a:pPr>
            <a:r>
              <a:rPr lang="en-US" b="1" i="0" dirty="0" err="1">
                <a:solidFill>
                  <a:srgbClr val="374151"/>
                </a:solidFill>
                <a:effectLst/>
                <a:latin typeface="Söhne"/>
              </a:rPr>
              <a:t>Stapel</a:t>
            </a:r>
            <a:r>
              <a:rPr lang="en-US" b="1" i="0" dirty="0">
                <a:solidFill>
                  <a:srgbClr val="374151"/>
                </a:solidFill>
                <a:effectLst/>
                <a:latin typeface="Söhne"/>
              </a:rPr>
              <a:t> Scaling: </a:t>
            </a:r>
            <a:r>
              <a:rPr lang="en-US" b="0" i="0" dirty="0">
                <a:solidFill>
                  <a:srgbClr val="374151"/>
                </a:solidFill>
                <a:effectLst/>
                <a:latin typeface="Söhne"/>
              </a:rPr>
              <a:t>Respondents rate a single concept using a scale with only one pole, typically ranging from -5 to +5. This method is used for quick assessments of attitudes toward a specific concept.</a:t>
            </a:r>
          </a:p>
          <a:p>
            <a:pPr algn="just">
              <a:buFont typeface="+mj-lt"/>
              <a:buAutoNum type="arabicPeriod"/>
            </a:pPr>
            <a:r>
              <a:rPr lang="en-US" b="1" i="0" dirty="0">
                <a:solidFill>
                  <a:srgbClr val="374151"/>
                </a:solidFill>
                <a:effectLst/>
                <a:latin typeface="Söhne"/>
              </a:rPr>
              <a:t>Numeric Scaling: </a:t>
            </a:r>
            <a:r>
              <a:rPr lang="en-US" b="0" i="0" dirty="0">
                <a:solidFill>
                  <a:srgbClr val="374151"/>
                </a:solidFill>
                <a:effectLst/>
                <a:latin typeface="Söhne"/>
              </a:rPr>
              <a:t>Numeric scales involve assigning numerical values to indicate levels of agreement, frequency, importance, or other dimensions. These can range from simple 1-5 rating scales to more complex numerical values.</a:t>
            </a:r>
          </a:p>
          <a:p>
            <a:pPr algn="just">
              <a:buFont typeface="+mj-lt"/>
              <a:buAutoNum type="arabicPeriod"/>
            </a:pPr>
            <a:r>
              <a:rPr lang="en-US" b="1" i="0" dirty="0">
                <a:solidFill>
                  <a:srgbClr val="374151"/>
                </a:solidFill>
                <a:effectLst/>
                <a:latin typeface="Söhne"/>
              </a:rPr>
              <a:t>Visual Analog Scale (VAS): </a:t>
            </a:r>
            <a:r>
              <a:rPr lang="en-US" b="0" i="0" dirty="0">
                <a:solidFill>
                  <a:srgbClr val="374151"/>
                </a:solidFill>
                <a:effectLst/>
                <a:latin typeface="Söhne"/>
              </a:rPr>
              <a:t>Respondents mark their position on a line to indicate their perception or feelings about a particular item or concept. This method is often used in health-related assessments, such as pain intensity scales.</a:t>
            </a:r>
          </a:p>
          <a:p>
            <a:pPr algn="just">
              <a:buFont typeface="+mj-lt"/>
              <a:buAutoNum type="arabicPeriod"/>
            </a:pPr>
            <a:r>
              <a:rPr lang="en-US" b="1" i="0" dirty="0">
                <a:solidFill>
                  <a:srgbClr val="374151"/>
                </a:solidFill>
                <a:effectLst/>
                <a:latin typeface="Söhne"/>
              </a:rPr>
              <a:t>Guttman Scaling: </a:t>
            </a:r>
            <a:r>
              <a:rPr lang="en-US" b="0" i="0" dirty="0">
                <a:solidFill>
                  <a:srgbClr val="374151"/>
                </a:solidFill>
                <a:effectLst/>
                <a:latin typeface="Söhne"/>
              </a:rPr>
              <a:t>This technique involves creating a series of statements that represent a range of attitudes on a particular topic. Respondents agree or disagree with each statement, and their cumulative responses are used to assess their overall attitude.</a:t>
            </a:r>
          </a:p>
          <a:p>
            <a:endParaRPr lang="en-IN" dirty="0"/>
          </a:p>
        </p:txBody>
      </p:sp>
    </p:spTree>
    <p:extLst>
      <p:ext uri="{BB962C8B-B14F-4D97-AF65-F5344CB8AC3E}">
        <p14:creationId xmlns:p14="http://schemas.microsoft.com/office/powerpoint/2010/main" val="168514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TotalTime>
  <Words>2437</Words>
  <Application>Microsoft Office PowerPoint</Application>
  <PresentationFormat>Widescreen</PresentationFormat>
  <Paragraphs>117</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Cambria</vt:lpstr>
      <vt:lpstr>Söhne</vt:lpstr>
      <vt:lpstr>Times New Roman</vt:lpstr>
      <vt:lpstr>Wingdings</vt:lpstr>
      <vt:lpstr>Office Theme</vt:lpstr>
      <vt:lpstr>Sampling Design &amp; Measurement Techniques</vt:lpstr>
      <vt:lpstr>MODULE 3: Sampling Design &amp; Measurement Techniques</vt:lpstr>
      <vt:lpstr>Introduction to Sampling Design:</vt:lpstr>
      <vt:lpstr>PowerPoint Presentation</vt:lpstr>
      <vt:lpstr>Steps involved in sampling design</vt:lpstr>
      <vt:lpstr>PowerPoint Presentation</vt:lpstr>
      <vt:lpstr>Characteristics of a good sample design:</vt:lpstr>
      <vt:lpstr>PowerPoint Presentation</vt:lpstr>
      <vt:lpstr>Probability and non- probability sample designs:</vt:lpstr>
      <vt:lpstr>PowerPoint Presentation</vt:lpstr>
      <vt:lpstr>PowerPoint Presentation</vt:lpstr>
      <vt:lpstr>Introduction to Measurement and Scaling Techniques: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 Design &amp; Measurement Techniques</dc:title>
  <dc:creator>Amruth E ME</dc:creator>
  <cp:lastModifiedBy>Amruth E ME</cp:lastModifiedBy>
  <cp:revision>49</cp:revision>
  <dcterms:created xsi:type="dcterms:W3CDTF">2024-01-03T06:09:09Z</dcterms:created>
  <dcterms:modified xsi:type="dcterms:W3CDTF">2024-01-08T17:03:55Z</dcterms:modified>
</cp:coreProperties>
</file>