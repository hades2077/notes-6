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61" r:id="rId3"/>
    <p:sldId id="263" r:id="rId4"/>
    <p:sldId id="264" r:id="rId5"/>
    <p:sldId id="265" r:id="rId6"/>
    <p:sldId id="267" r:id="rId7"/>
    <p:sldId id="268" r:id="rId8"/>
    <p:sldId id="269" r:id="rId9"/>
    <p:sldId id="271" r:id="rId10"/>
    <p:sldId id="270" r:id="rId11"/>
    <p:sldId id="272" r:id="rId12"/>
    <p:sldId id="276" r:id="rId13"/>
    <p:sldId id="273" r:id="rId14"/>
    <p:sldId id="277" r:id="rId15"/>
    <p:sldId id="278" r:id="rId16"/>
    <p:sldId id="279" r:id="rId17"/>
    <p:sldId id="280" r:id="rId18"/>
    <p:sldId id="281" r:id="rId19"/>
    <p:sldId id="282" r:id="rId20"/>
    <p:sldId id="283" r:id="rId21"/>
    <p:sldId id="285" r:id="rId22"/>
    <p:sldId id="286" r:id="rId23"/>
    <p:sldId id="287" r:id="rId24"/>
    <p:sldId id="288" r:id="rId25"/>
    <p:sldId id="289" r:id="rId26"/>
    <p:sldId id="290" r:id="rId27"/>
    <p:sldId id="291"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090EA-15A6-1C95-9BF7-2082FFBF9A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23C4095-4C36-FD60-10FD-02B358A81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2A3A774-0703-C4B5-1470-FE94DAB94158}"/>
              </a:ext>
            </a:extLst>
          </p:cNvPr>
          <p:cNvSpPr>
            <a:spLocks noGrp="1"/>
          </p:cNvSpPr>
          <p:nvPr>
            <p:ph type="dt" sz="half" idx="10"/>
          </p:nvPr>
        </p:nvSpPr>
        <p:spPr/>
        <p:txBody>
          <a:bodyPr/>
          <a:lstStyle/>
          <a:p>
            <a:fld id="{7D224037-2BF3-4BF0-9614-5DBBF83ADFA4}" type="datetimeFigureOut">
              <a:rPr lang="en-IN" smtClean="0"/>
              <a:t>15-02-2024</a:t>
            </a:fld>
            <a:endParaRPr lang="en-IN"/>
          </a:p>
        </p:txBody>
      </p:sp>
      <p:sp>
        <p:nvSpPr>
          <p:cNvPr id="5" name="Footer Placeholder 4">
            <a:extLst>
              <a:ext uri="{FF2B5EF4-FFF2-40B4-BE49-F238E27FC236}">
                <a16:creationId xmlns:a16="http://schemas.microsoft.com/office/drawing/2014/main" id="{BFAB8EC0-1A77-11A6-9112-C6C8FF89E2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0A2C38-99B6-25F9-E629-74B99284E1DD}"/>
              </a:ext>
            </a:extLst>
          </p:cNvPr>
          <p:cNvSpPr>
            <a:spLocks noGrp="1"/>
          </p:cNvSpPr>
          <p:nvPr>
            <p:ph type="sldNum" sz="quarter" idx="12"/>
          </p:nvPr>
        </p:nvSpPr>
        <p:spPr/>
        <p:txBody>
          <a:bodyPr/>
          <a:lstStyle/>
          <a:p>
            <a:fld id="{F9BE9065-D0F2-48C8-8DBA-77A02241CE04}" type="slidenum">
              <a:rPr lang="en-IN" smtClean="0"/>
              <a:t>‹#›</a:t>
            </a:fld>
            <a:endParaRPr lang="en-IN"/>
          </a:p>
        </p:txBody>
      </p:sp>
    </p:spTree>
    <p:extLst>
      <p:ext uri="{BB962C8B-B14F-4D97-AF65-F5344CB8AC3E}">
        <p14:creationId xmlns:p14="http://schemas.microsoft.com/office/powerpoint/2010/main" val="3550387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66808-3DBC-BDAD-9B81-3AF06AF2F53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0CA1D69-E6CE-6D82-C78D-AE06559DAC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D031F0-7981-1D42-FB7C-74B19BDDE432}"/>
              </a:ext>
            </a:extLst>
          </p:cNvPr>
          <p:cNvSpPr>
            <a:spLocks noGrp="1"/>
          </p:cNvSpPr>
          <p:nvPr>
            <p:ph type="dt" sz="half" idx="10"/>
          </p:nvPr>
        </p:nvSpPr>
        <p:spPr/>
        <p:txBody>
          <a:bodyPr/>
          <a:lstStyle/>
          <a:p>
            <a:fld id="{7D224037-2BF3-4BF0-9614-5DBBF83ADFA4}" type="datetimeFigureOut">
              <a:rPr lang="en-IN" smtClean="0"/>
              <a:t>15-02-2024</a:t>
            </a:fld>
            <a:endParaRPr lang="en-IN"/>
          </a:p>
        </p:txBody>
      </p:sp>
      <p:sp>
        <p:nvSpPr>
          <p:cNvPr id="5" name="Footer Placeholder 4">
            <a:extLst>
              <a:ext uri="{FF2B5EF4-FFF2-40B4-BE49-F238E27FC236}">
                <a16:creationId xmlns:a16="http://schemas.microsoft.com/office/drawing/2014/main" id="{CA6DA805-2043-DBD9-EC74-5074D16F74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75016D-AA75-AEC0-F5BE-7D3855E0DA1D}"/>
              </a:ext>
            </a:extLst>
          </p:cNvPr>
          <p:cNvSpPr>
            <a:spLocks noGrp="1"/>
          </p:cNvSpPr>
          <p:nvPr>
            <p:ph type="sldNum" sz="quarter" idx="12"/>
          </p:nvPr>
        </p:nvSpPr>
        <p:spPr/>
        <p:txBody>
          <a:bodyPr/>
          <a:lstStyle/>
          <a:p>
            <a:fld id="{F9BE9065-D0F2-48C8-8DBA-77A02241CE04}" type="slidenum">
              <a:rPr lang="en-IN" smtClean="0"/>
              <a:t>‹#›</a:t>
            </a:fld>
            <a:endParaRPr lang="en-IN"/>
          </a:p>
        </p:txBody>
      </p:sp>
    </p:spTree>
    <p:extLst>
      <p:ext uri="{BB962C8B-B14F-4D97-AF65-F5344CB8AC3E}">
        <p14:creationId xmlns:p14="http://schemas.microsoft.com/office/powerpoint/2010/main" val="1299439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D584F-A14F-F292-DABE-5B98E7764B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9BE7CA3-C182-FA32-D26A-3A1D2E2C5F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B6A951-B8A2-449A-C8E1-48627EC5C235}"/>
              </a:ext>
            </a:extLst>
          </p:cNvPr>
          <p:cNvSpPr>
            <a:spLocks noGrp="1"/>
          </p:cNvSpPr>
          <p:nvPr>
            <p:ph type="dt" sz="half" idx="10"/>
          </p:nvPr>
        </p:nvSpPr>
        <p:spPr/>
        <p:txBody>
          <a:bodyPr/>
          <a:lstStyle/>
          <a:p>
            <a:fld id="{7D224037-2BF3-4BF0-9614-5DBBF83ADFA4}" type="datetimeFigureOut">
              <a:rPr lang="en-IN" smtClean="0"/>
              <a:t>15-02-2024</a:t>
            </a:fld>
            <a:endParaRPr lang="en-IN"/>
          </a:p>
        </p:txBody>
      </p:sp>
      <p:sp>
        <p:nvSpPr>
          <p:cNvPr id="5" name="Footer Placeholder 4">
            <a:extLst>
              <a:ext uri="{FF2B5EF4-FFF2-40B4-BE49-F238E27FC236}">
                <a16:creationId xmlns:a16="http://schemas.microsoft.com/office/drawing/2014/main" id="{F52867BA-56E1-6FAC-234C-06F957B397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570BB1-D3A2-62BB-6E86-7833581DEACA}"/>
              </a:ext>
            </a:extLst>
          </p:cNvPr>
          <p:cNvSpPr>
            <a:spLocks noGrp="1"/>
          </p:cNvSpPr>
          <p:nvPr>
            <p:ph type="sldNum" sz="quarter" idx="12"/>
          </p:nvPr>
        </p:nvSpPr>
        <p:spPr/>
        <p:txBody>
          <a:bodyPr/>
          <a:lstStyle/>
          <a:p>
            <a:fld id="{F9BE9065-D0F2-48C8-8DBA-77A02241CE04}" type="slidenum">
              <a:rPr lang="en-IN" smtClean="0"/>
              <a:t>‹#›</a:t>
            </a:fld>
            <a:endParaRPr lang="en-IN"/>
          </a:p>
        </p:txBody>
      </p:sp>
    </p:spTree>
    <p:extLst>
      <p:ext uri="{BB962C8B-B14F-4D97-AF65-F5344CB8AC3E}">
        <p14:creationId xmlns:p14="http://schemas.microsoft.com/office/powerpoint/2010/main" val="3124381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F2C66-EEA0-955D-178E-3651817FE9F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CB4580C-D658-DB72-E949-AA3E7AE2E6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4DEBB7A-CCFB-B04F-8BD0-FF59271B33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E90D1C9-4F75-C7C8-51AB-DAF20483AF01}"/>
              </a:ext>
            </a:extLst>
          </p:cNvPr>
          <p:cNvSpPr>
            <a:spLocks noGrp="1"/>
          </p:cNvSpPr>
          <p:nvPr>
            <p:ph type="dt" sz="half" idx="10"/>
          </p:nvPr>
        </p:nvSpPr>
        <p:spPr/>
        <p:txBody>
          <a:bodyPr/>
          <a:lstStyle/>
          <a:p>
            <a:fld id="{7D224037-2BF3-4BF0-9614-5DBBF83ADFA4}" type="datetimeFigureOut">
              <a:rPr lang="en-IN" smtClean="0"/>
              <a:t>15-02-2024</a:t>
            </a:fld>
            <a:endParaRPr lang="en-IN"/>
          </a:p>
        </p:txBody>
      </p:sp>
      <p:sp>
        <p:nvSpPr>
          <p:cNvPr id="6" name="Footer Placeholder 5">
            <a:extLst>
              <a:ext uri="{FF2B5EF4-FFF2-40B4-BE49-F238E27FC236}">
                <a16:creationId xmlns:a16="http://schemas.microsoft.com/office/drawing/2014/main" id="{94E17451-52F8-19AD-EE4F-5573A664ED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8826608-3F99-2B5F-DA15-AC76722FF10D}"/>
              </a:ext>
            </a:extLst>
          </p:cNvPr>
          <p:cNvSpPr>
            <a:spLocks noGrp="1"/>
          </p:cNvSpPr>
          <p:nvPr>
            <p:ph type="sldNum" sz="quarter" idx="12"/>
          </p:nvPr>
        </p:nvSpPr>
        <p:spPr/>
        <p:txBody>
          <a:bodyPr/>
          <a:lstStyle/>
          <a:p>
            <a:fld id="{F9BE9065-D0F2-48C8-8DBA-77A02241CE04}" type="slidenum">
              <a:rPr lang="en-IN" smtClean="0"/>
              <a:t>‹#›</a:t>
            </a:fld>
            <a:endParaRPr lang="en-IN"/>
          </a:p>
        </p:txBody>
      </p:sp>
    </p:spTree>
    <p:extLst>
      <p:ext uri="{BB962C8B-B14F-4D97-AF65-F5344CB8AC3E}">
        <p14:creationId xmlns:p14="http://schemas.microsoft.com/office/powerpoint/2010/main" val="1588349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139DD-5A6C-80C1-0A17-141BF107BB6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9761D82-F727-3A28-B778-0F557EA6CD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E6638D-9649-BD60-2D4F-9C5939A754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C910097-B58E-B9A9-42E1-AC28C59C48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68DDD3-B1F5-6C91-802A-34C026EE697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238E06B-24E7-2F28-D0AE-6462F5A82E4B}"/>
              </a:ext>
            </a:extLst>
          </p:cNvPr>
          <p:cNvSpPr>
            <a:spLocks noGrp="1"/>
          </p:cNvSpPr>
          <p:nvPr>
            <p:ph type="dt" sz="half" idx="10"/>
          </p:nvPr>
        </p:nvSpPr>
        <p:spPr/>
        <p:txBody>
          <a:bodyPr/>
          <a:lstStyle/>
          <a:p>
            <a:fld id="{7D224037-2BF3-4BF0-9614-5DBBF83ADFA4}" type="datetimeFigureOut">
              <a:rPr lang="en-IN" smtClean="0"/>
              <a:t>15-02-2024</a:t>
            </a:fld>
            <a:endParaRPr lang="en-IN"/>
          </a:p>
        </p:txBody>
      </p:sp>
      <p:sp>
        <p:nvSpPr>
          <p:cNvPr id="8" name="Footer Placeholder 7">
            <a:extLst>
              <a:ext uri="{FF2B5EF4-FFF2-40B4-BE49-F238E27FC236}">
                <a16:creationId xmlns:a16="http://schemas.microsoft.com/office/drawing/2014/main" id="{9A1C31E5-0FD8-8DB0-D727-E6A0D8C0EC2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DAD12CA-72AE-54C0-3A3C-87E200C67F15}"/>
              </a:ext>
            </a:extLst>
          </p:cNvPr>
          <p:cNvSpPr>
            <a:spLocks noGrp="1"/>
          </p:cNvSpPr>
          <p:nvPr>
            <p:ph type="sldNum" sz="quarter" idx="12"/>
          </p:nvPr>
        </p:nvSpPr>
        <p:spPr/>
        <p:txBody>
          <a:bodyPr/>
          <a:lstStyle/>
          <a:p>
            <a:fld id="{F9BE9065-D0F2-48C8-8DBA-77A02241CE04}" type="slidenum">
              <a:rPr lang="en-IN" smtClean="0"/>
              <a:t>‹#›</a:t>
            </a:fld>
            <a:endParaRPr lang="en-IN"/>
          </a:p>
        </p:txBody>
      </p:sp>
    </p:spTree>
    <p:extLst>
      <p:ext uri="{BB962C8B-B14F-4D97-AF65-F5344CB8AC3E}">
        <p14:creationId xmlns:p14="http://schemas.microsoft.com/office/powerpoint/2010/main" val="3311531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DF756-9C9A-A064-040C-EB09FBC6365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CA34453-8DB6-AF48-5400-7DC8FE8074DD}"/>
              </a:ext>
            </a:extLst>
          </p:cNvPr>
          <p:cNvSpPr>
            <a:spLocks noGrp="1"/>
          </p:cNvSpPr>
          <p:nvPr>
            <p:ph type="dt" sz="half" idx="10"/>
          </p:nvPr>
        </p:nvSpPr>
        <p:spPr/>
        <p:txBody>
          <a:bodyPr/>
          <a:lstStyle/>
          <a:p>
            <a:fld id="{7D224037-2BF3-4BF0-9614-5DBBF83ADFA4}" type="datetimeFigureOut">
              <a:rPr lang="en-IN" smtClean="0"/>
              <a:t>15-02-2024</a:t>
            </a:fld>
            <a:endParaRPr lang="en-IN"/>
          </a:p>
        </p:txBody>
      </p:sp>
      <p:sp>
        <p:nvSpPr>
          <p:cNvPr id="4" name="Footer Placeholder 3">
            <a:extLst>
              <a:ext uri="{FF2B5EF4-FFF2-40B4-BE49-F238E27FC236}">
                <a16:creationId xmlns:a16="http://schemas.microsoft.com/office/drawing/2014/main" id="{3ABF5111-3E8E-C6D5-3BE5-57BB351487A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667D262-0740-AEF0-4E64-A988DFDAE85F}"/>
              </a:ext>
            </a:extLst>
          </p:cNvPr>
          <p:cNvSpPr>
            <a:spLocks noGrp="1"/>
          </p:cNvSpPr>
          <p:nvPr>
            <p:ph type="sldNum" sz="quarter" idx="12"/>
          </p:nvPr>
        </p:nvSpPr>
        <p:spPr/>
        <p:txBody>
          <a:bodyPr/>
          <a:lstStyle/>
          <a:p>
            <a:fld id="{F9BE9065-D0F2-48C8-8DBA-77A02241CE04}" type="slidenum">
              <a:rPr lang="en-IN" smtClean="0"/>
              <a:t>‹#›</a:t>
            </a:fld>
            <a:endParaRPr lang="en-IN"/>
          </a:p>
        </p:txBody>
      </p:sp>
    </p:spTree>
    <p:extLst>
      <p:ext uri="{BB962C8B-B14F-4D97-AF65-F5344CB8AC3E}">
        <p14:creationId xmlns:p14="http://schemas.microsoft.com/office/powerpoint/2010/main" val="26581539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F83C8E-8286-C646-D06A-853DE9DFD315}"/>
              </a:ext>
            </a:extLst>
          </p:cNvPr>
          <p:cNvSpPr>
            <a:spLocks noGrp="1"/>
          </p:cNvSpPr>
          <p:nvPr>
            <p:ph type="dt" sz="half" idx="10"/>
          </p:nvPr>
        </p:nvSpPr>
        <p:spPr/>
        <p:txBody>
          <a:bodyPr/>
          <a:lstStyle/>
          <a:p>
            <a:fld id="{7D224037-2BF3-4BF0-9614-5DBBF83ADFA4}" type="datetimeFigureOut">
              <a:rPr lang="en-IN" smtClean="0"/>
              <a:t>15-02-2024</a:t>
            </a:fld>
            <a:endParaRPr lang="en-IN"/>
          </a:p>
        </p:txBody>
      </p:sp>
      <p:sp>
        <p:nvSpPr>
          <p:cNvPr id="3" name="Footer Placeholder 2">
            <a:extLst>
              <a:ext uri="{FF2B5EF4-FFF2-40B4-BE49-F238E27FC236}">
                <a16:creationId xmlns:a16="http://schemas.microsoft.com/office/drawing/2014/main" id="{0ED1B06A-F92B-43A1-AB06-FD7C23744AB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89399B3-AD73-D022-ECA5-186D489D6724}"/>
              </a:ext>
            </a:extLst>
          </p:cNvPr>
          <p:cNvSpPr>
            <a:spLocks noGrp="1"/>
          </p:cNvSpPr>
          <p:nvPr>
            <p:ph type="sldNum" sz="quarter" idx="12"/>
          </p:nvPr>
        </p:nvSpPr>
        <p:spPr/>
        <p:txBody>
          <a:bodyPr/>
          <a:lstStyle/>
          <a:p>
            <a:fld id="{F9BE9065-D0F2-48C8-8DBA-77A02241CE04}" type="slidenum">
              <a:rPr lang="en-IN" smtClean="0"/>
              <a:t>‹#›</a:t>
            </a:fld>
            <a:endParaRPr lang="en-IN"/>
          </a:p>
        </p:txBody>
      </p:sp>
    </p:spTree>
    <p:extLst>
      <p:ext uri="{BB962C8B-B14F-4D97-AF65-F5344CB8AC3E}">
        <p14:creationId xmlns:p14="http://schemas.microsoft.com/office/powerpoint/2010/main" val="2016445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F60AB-32E5-AE7F-93BE-F968B446CC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AE2E767-AE3A-266D-466B-E4AAAA8030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78C5597-D25B-C8B7-6ABB-6346BF9C4E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8434C2-A938-4C18-9B2D-265ECF347EEE}"/>
              </a:ext>
            </a:extLst>
          </p:cNvPr>
          <p:cNvSpPr>
            <a:spLocks noGrp="1"/>
          </p:cNvSpPr>
          <p:nvPr>
            <p:ph type="dt" sz="half" idx="10"/>
          </p:nvPr>
        </p:nvSpPr>
        <p:spPr/>
        <p:txBody>
          <a:bodyPr/>
          <a:lstStyle/>
          <a:p>
            <a:fld id="{7D224037-2BF3-4BF0-9614-5DBBF83ADFA4}" type="datetimeFigureOut">
              <a:rPr lang="en-IN" smtClean="0"/>
              <a:t>15-02-2024</a:t>
            </a:fld>
            <a:endParaRPr lang="en-IN"/>
          </a:p>
        </p:txBody>
      </p:sp>
      <p:sp>
        <p:nvSpPr>
          <p:cNvPr id="6" name="Footer Placeholder 5">
            <a:extLst>
              <a:ext uri="{FF2B5EF4-FFF2-40B4-BE49-F238E27FC236}">
                <a16:creationId xmlns:a16="http://schemas.microsoft.com/office/drawing/2014/main" id="{96F70BC2-63D9-BA28-315E-5C89AA23038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03A89C-4FD9-0373-917C-4535D09F4980}"/>
              </a:ext>
            </a:extLst>
          </p:cNvPr>
          <p:cNvSpPr>
            <a:spLocks noGrp="1"/>
          </p:cNvSpPr>
          <p:nvPr>
            <p:ph type="sldNum" sz="quarter" idx="12"/>
          </p:nvPr>
        </p:nvSpPr>
        <p:spPr/>
        <p:txBody>
          <a:bodyPr/>
          <a:lstStyle/>
          <a:p>
            <a:fld id="{F9BE9065-D0F2-48C8-8DBA-77A02241CE04}" type="slidenum">
              <a:rPr lang="en-IN" smtClean="0"/>
              <a:t>‹#›</a:t>
            </a:fld>
            <a:endParaRPr lang="en-IN"/>
          </a:p>
        </p:txBody>
      </p:sp>
    </p:spTree>
    <p:extLst>
      <p:ext uri="{BB962C8B-B14F-4D97-AF65-F5344CB8AC3E}">
        <p14:creationId xmlns:p14="http://schemas.microsoft.com/office/powerpoint/2010/main" val="2188058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E6975-C4FE-F750-2D44-623FC6BB75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0FB5C32-2BA6-A5D9-7CD0-82C1DFC75F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0E5D594-40D1-2D9B-92E6-CB685B492F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0B5782-7E5F-8515-2130-863807EC1E0C}"/>
              </a:ext>
            </a:extLst>
          </p:cNvPr>
          <p:cNvSpPr>
            <a:spLocks noGrp="1"/>
          </p:cNvSpPr>
          <p:nvPr>
            <p:ph type="dt" sz="half" idx="10"/>
          </p:nvPr>
        </p:nvSpPr>
        <p:spPr/>
        <p:txBody>
          <a:bodyPr/>
          <a:lstStyle/>
          <a:p>
            <a:fld id="{7D224037-2BF3-4BF0-9614-5DBBF83ADFA4}" type="datetimeFigureOut">
              <a:rPr lang="en-IN" smtClean="0"/>
              <a:t>15-02-2024</a:t>
            </a:fld>
            <a:endParaRPr lang="en-IN"/>
          </a:p>
        </p:txBody>
      </p:sp>
      <p:sp>
        <p:nvSpPr>
          <p:cNvPr id="6" name="Footer Placeholder 5">
            <a:extLst>
              <a:ext uri="{FF2B5EF4-FFF2-40B4-BE49-F238E27FC236}">
                <a16:creationId xmlns:a16="http://schemas.microsoft.com/office/drawing/2014/main" id="{5752A28E-30F9-653B-E769-67D8C34CB1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D3E0E14-B310-5B09-217D-877F750D4FC3}"/>
              </a:ext>
            </a:extLst>
          </p:cNvPr>
          <p:cNvSpPr>
            <a:spLocks noGrp="1"/>
          </p:cNvSpPr>
          <p:nvPr>
            <p:ph type="sldNum" sz="quarter" idx="12"/>
          </p:nvPr>
        </p:nvSpPr>
        <p:spPr/>
        <p:txBody>
          <a:bodyPr/>
          <a:lstStyle/>
          <a:p>
            <a:fld id="{F9BE9065-D0F2-48C8-8DBA-77A02241CE04}" type="slidenum">
              <a:rPr lang="en-IN" smtClean="0"/>
              <a:t>‹#›</a:t>
            </a:fld>
            <a:endParaRPr lang="en-IN"/>
          </a:p>
        </p:txBody>
      </p:sp>
    </p:spTree>
    <p:extLst>
      <p:ext uri="{BB962C8B-B14F-4D97-AF65-F5344CB8AC3E}">
        <p14:creationId xmlns:p14="http://schemas.microsoft.com/office/powerpoint/2010/main" val="4201813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C17BA-3D33-9044-FE7C-B8236C554E2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AD978A0-0E18-19F0-C449-32A978A3CB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BF3535-9DDC-767C-7D3E-C61F6E77D843}"/>
              </a:ext>
            </a:extLst>
          </p:cNvPr>
          <p:cNvSpPr>
            <a:spLocks noGrp="1"/>
          </p:cNvSpPr>
          <p:nvPr>
            <p:ph type="dt" sz="half" idx="10"/>
          </p:nvPr>
        </p:nvSpPr>
        <p:spPr/>
        <p:txBody>
          <a:bodyPr/>
          <a:lstStyle/>
          <a:p>
            <a:fld id="{7D224037-2BF3-4BF0-9614-5DBBF83ADFA4}" type="datetimeFigureOut">
              <a:rPr lang="en-IN" smtClean="0"/>
              <a:t>15-02-2024</a:t>
            </a:fld>
            <a:endParaRPr lang="en-IN"/>
          </a:p>
        </p:txBody>
      </p:sp>
      <p:sp>
        <p:nvSpPr>
          <p:cNvPr id="5" name="Footer Placeholder 4">
            <a:extLst>
              <a:ext uri="{FF2B5EF4-FFF2-40B4-BE49-F238E27FC236}">
                <a16:creationId xmlns:a16="http://schemas.microsoft.com/office/drawing/2014/main" id="{7F1EFC6A-FFAD-501F-B408-DFD831E964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049856-F924-E803-5C34-A3E9A68C32B0}"/>
              </a:ext>
            </a:extLst>
          </p:cNvPr>
          <p:cNvSpPr>
            <a:spLocks noGrp="1"/>
          </p:cNvSpPr>
          <p:nvPr>
            <p:ph type="sldNum" sz="quarter" idx="12"/>
          </p:nvPr>
        </p:nvSpPr>
        <p:spPr/>
        <p:txBody>
          <a:bodyPr/>
          <a:lstStyle/>
          <a:p>
            <a:fld id="{F9BE9065-D0F2-48C8-8DBA-77A02241CE04}" type="slidenum">
              <a:rPr lang="en-IN" smtClean="0"/>
              <a:t>‹#›</a:t>
            </a:fld>
            <a:endParaRPr lang="en-IN"/>
          </a:p>
        </p:txBody>
      </p:sp>
    </p:spTree>
    <p:extLst>
      <p:ext uri="{BB962C8B-B14F-4D97-AF65-F5344CB8AC3E}">
        <p14:creationId xmlns:p14="http://schemas.microsoft.com/office/powerpoint/2010/main" val="809814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41ECE9-C191-5908-0807-6BE5699389F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27745F1-3582-6CDB-2931-E24DD7CA1BF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16D8D8-AA4E-8579-4609-8B2926AD9FFF}"/>
              </a:ext>
            </a:extLst>
          </p:cNvPr>
          <p:cNvSpPr>
            <a:spLocks noGrp="1"/>
          </p:cNvSpPr>
          <p:nvPr>
            <p:ph type="dt" sz="half" idx="10"/>
          </p:nvPr>
        </p:nvSpPr>
        <p:spPr/>
        <p:txBody>
          <a:bodyPr/>
          <a:lstStyle/>
          <a:p>
            <a:fld id="{7D224037-2BF3-4BF0-9614-5DBBF83ADFA4}" type="datetimeFigureOut">
              <a:rPr lang="en-IN" smtClean="0"/>
              <a:t>15-02-2024</a:t>
            </a:fld>
            <a:endParaRPr lang="en-IN"/>
          </a:p>
        </p:txBody>
      </p:sp>
      <p:sp>
        <p:nvSpPr>
          <p:cNvPr id="5" name="Footer Placeholder 4">
            <a:extLst>
              <a:ext uri="{FF2B5EF4-FFF2-40B4-BE49-F238E27FC236}">
                <a16:creationId xmlns:a16="http://schemas.microsoft.com/office/drawing/2014/main" id="{EB7E8246-40EB-17F1-E762-6CF7EEB406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F97903-1273-9A8A-8916-7D27592B0C18}"/>
              </a:ext>
            </a:extLst>
          </p:cNvPr>
          <p:cNvSpPr>
            <a:spLocks noGrp="1"/>
          </p:cNvSpPr>
          <p:nvPr>
            <p:ph type="sldNum" sz="quarter" idx="12"/>
          </p:nvPr>
        </p:nvSpPr>
        <p:spPr/>
        <p:txBody>
          <a:bodyPr/>
          <a:lstStyle/>
          <a:p>
            <a:fld id="{F9BE9065-D0F2-48C8-8DBA-77A02241CE04}" type="slidenum">
              <a:rPr lang="en-IN" smtClean="0"/>
              <a:t>‹#›</a:t>
            </a:fld>
            <a:endParaRPr lang="en-IN"/>
          </a:p>
        </p:txBody>
      </p:sp>
    </p:spTree>
    <p:extLst>
      <p:ext uri="{BB962C8B-B14F-4D97-AF65-F5344CB8AC3E}">
        <p14:creationId xmlns:p14="http://schemas.microsoft.com/office/powerpoint/2010/main" val="161672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A7EE57-3C11-7959-AC7C-EC546E935F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9062186-44D5-F917-2620-5B40E7722E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C92C8A-5618-98EB-8CB1-3FCB15AED8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224037-2BF3-4BF0-9614-5DBBF83ADFA4}" type="datetimeFigureOut">
              <a:rPr lang="en-IN" smtClean="0"/>
              <a:t>15-02-2024</a:t>
            </a:fld>
            <a:endParaRPr lang="en-IN"/>
          </a:p>
        </p:txBody>
      </p:sp>
      <p:sp>
        <p:nvSpPr>
          <p:cNvPr id="5" name="Footer Placeholder 4">
            <a:extLst>
              <a:ext uri="{FF2B5EF4-FFF2-40B4-BE49-F238E27FC236}">
                <a16:creationId xmlns:a16="http://schemas.microsoft.com/office/drawing/2014/main" id="{DE3E8429-2267-8B56-02E2-6DF69D5880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826D444-D99D-3955-A8DB-CEEAD1C88C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BE9065-D0F2-48C8-8DBA-77A02241CE04}" type="slidenum">
              <a:rPr lang="en-IN" smtClean="0"/>
              <a:t>‹#›</a:t>
            </a:fld>
            <a:endParaRPr lang="en-IN"/>
          </a:p>
        </p:txBody>
      </p:sp>
    </p:spTree>
    <p:extLst>
      <p:ext uri="{BB962C8B-B14F-4D97-AF65-F5344CB8AC3E}">
        <p14:creationId xmlns:p14="http://schemas.microsoft.com/office/powerpoint/2010/main" val="37519511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EF9EF-B08B-A670-E706-6B28489A4482}"/>
              </a:ext>
            </a:extLst>
          </p:cNvPr>
          <p:cNvSpPr>
            <a:spLocks noGrp="1"/>
          </p:cNvSpPr>
          <p:nvPr>
            <p:ph type="ctrTitle"/>
          </p:nvPr>
        </p:nvSpPr>
        <p:spPr/>
        <p:txBody>
          <a:bodyPr>
            <a:normAutofit fontScale="90000"/>
          </a:bodyPr>
          <a:lstStyle/>
          <a:p>
            <a:r>
              <a:rPr lang="en-US" sz="6000" b="1" dirty="0">
                <a:effectLst/>
                <a:latin typeface="Cambria" panose="02040503050406030204" pitchFamily="18" charset="0"/>
                <a:ea typeface="Times New Roman" panose="02020603050405020304" pitchFamily="18" charset="0"/>
              </a:rPr>
              <a:t>Data Collection &amp; Interpretation and Report Writing</a:t>
            </a:r>
            <a:endParaRPr lang="en-IN" dirty="0"/>
          </a:p>
        </p:txBody>
      </p:sp>
      <p:sp>
        <p:nvSpPr>
          <p:cNvPr id="3" name="Subtitle 2">
            <a:extLst>
              <a:ext uri="{FF2B5EF4-FFF2-40B4-BE49-F238E27FC236}">
                <a16:creationId xmlns:a16="http://schemas.microsoft.com/office/drawing/2014/main" id="{A7852CFD-61C8-03A7-E4E7-ED0E5A325A10}"/>
              </a:ext>
            </a:extLst>
          </p:cNvPr>
          <p:cNvSpPr>
            <a:spLocks noGrp="1"/>
          </p:cNvSpPr>
          <p:nvPr>
            <p:ph type="subTitle" idx="1"/>
          </p:nvPr>
        </p:nvSpPr>
        <p:spPr/>
        <p:txBody>
          <a:bodyPr/>
          <a:lstStyle/>
          <a:p>
            <a:r>
              <a:rPr lang="en-US" sz="2400" b="1" dirty="0">
                <a:effectLst/>
                <a:latin typeface="Cambria" panose="02040503050406030204" pitchFamily="18" charset="0"/>
                <a:ea typeface="Times New Roman" panose="02020603050405020304" pitchFamily="18" charset="0"/>
              </a:rPr>
              <a:t>MODULE 4</a:t>
            </a:r>
            <a:endParaRPr lang="en-IN" dirty="0"/>
          </a:p>
        </p:txBody>
      </p:sp>
    </p:spTree>
    <p:extLst>
      <p:ext uri="{BB962C8B-B14F-4D97-AF65-F5344CB8AC3E}">
        <p14:creationId xmlns:p14="http://schemas.microsoft.com/office/powerpoint/2010/main" val="2885303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B2DC9-56E2-9CD6-3CAB-C25DB4C9598A}"/>
              </a:ext>
            </a:extLst>
          </p:cNvPr>
          <p:cNvSpPr>
            <a:spLocks noGrp="1"/>
          </p:cNvSpPr>
          <p:nvPr>
            <p:ph type="title"/>
          </p:nvPr>
        </p:nvSpPr>
        <p:spPr>
          <a:xfrm>
            <a:off x="239843" y="245205"/>
            <a:ext cx="11812249" cy="1325563"/>
          </a:xfrm>
        </p:spPr>
        <p:txBody>
          <a:bodyPr>
            <a:normAutofit/>
          </a:bodyPr>
          <a:lstStyle/>
          <a:p>
            <a:r>
              <a:rPr lang="en-US" sz="4400" b="1" dirty="0">
                <a:effectLst/>
                <a:latin typeface="Cambria" panose="02040503050406030204" pitchFamily="18" charset="0"/>
                <a:ea typeface="Times New Roman" panose="02020603050405020304" pitchFamily="18" charset="0"/>
              </a:rPr>
              <a:t>SYLLABUS:</a:t>
            </a:r>
            <a:endParaRPr lang="en-IN" dirty="0"/>
          </a:p>
        </p:txBody>
      </p:sp>
      <p:sp>
        <p:nvSpPr>
          <p:cNvPr id="3" name="Content Placeholder 2">
            <a:extLst>
              <a:ext uri="{FF2B5EF4-FFF2-40B4-BE49-F238E27FC236}">
                <a16:creationId xmlns:a16="http://schemas.microsoft.com/office/drawing/2014/main" id="{8EE0BFD7-45B3-78ED-0731-4B0209F30288}"/>
              </a:ext>
            </a:extLst>
          </p:cNvPr>
          <p:cNvSpPr>
            <a:spLocks noGrp="1"/>
          </p:cNvSpPr>
          <p:nvPr>
            <p:ph idx="1"/>
          </p:nvPr>
        </p:nvSpPr>
        <p:spPr>
          <a:xfrm>
            <a:off x="838200" y="1825625"/>
            <a:ext cx="10515600" cy="4889968"/>
          </a:xfrm>
        </p:spPr>
        <p:txBody>
          <a:bodyPr>
            <a:normAutofit lnSpcReduction="10000"/>
          </a:bodyPr>
          <a:lstStyle/>
          <a:p>
            <a:pPr marL="0" indent="0" algn="just">
              <a:lnSpc>
                <a:spcPct val="115000"/>
              </a:lnSpc>
              <a:buNone/>
            </a:pPr>
            <a:r>
              <a:rPr lang="en-US" sz="3200" b="1" dirty="0">
                <a:effectLst/>
                <a:latin typeface="Cambria" panose="02040503050406030204" pitchFamily="18" charset="0"/>
                <a:ea typeface="Times New Roman" panose="02020603050405020304" pitchFamily="18" charset="0"/>
              </a:rPr>
              <a:t>Data Collection: </a:t>
            </a:r>
          </a:p>
          <a:p>
            <a:pPr algn="just">
              <a:lnSpc>
                <a:spcPct val="115000"/>
              </a:lnSpc>
            </a:pPr>
            <a:r>
              <a:rPr lang="en-US" sz="2000" dirty="0">
                <a:effectLst/>
                <a:latin typeface="Cambria" panose="02040503050406030204" pitchFamily="18" charset="0"/>
                <a:ea typeface="Times New Roman" panose="02020603050405020304" pitchFamily="18" charset="0"/>
              </a:rPr>
              <a:t>Collection of primary data-Observation Method </a:t>
            </a:r>
          </a:p>
          <a:p>
            <a:pPr algn="just">
              <a:lnSpc>
                <a:spcPct val="115000"/>
              </a:lnSpc>
            </a:pPr>
            <a:r>
              <a:rPr lang="en-US" sz="2000" dirty="0">
                <a:effectLst/>
                <a:latin typeface="Cambria" panose="02040503050406030204" pitchFamily="18" charset="0"/>
                <a:ea typeface="Times New Roman" panose="02020603050405020304" pitchFamily="18" charset="0"/>
              </a:rPr>
              <a:t>Interview Method</a:t>
            </a:r>
          </a:p>
          <a:p>
            <a:pPr algn="just">
              <a:lnSpc>
                <a:spcPct val="115000"/>
              </a:lnSpc>
            </a:pPr>
            <a:r>
              <a:rPr lang="en-US" sz="2000" dirty="0">
                <a:effectLst/>
                <a:latin typeface="Cambria" panose="02040503050406030204" pitchFamily="18" charset="0"/>
                <a:ea typeface="Times New Roman" panose="02020603050405020304" pitchFamily="18" charset="0"/>
              </a:rPr>
              <a:t>Collection of Data through Questionnaires</a:t>
            </a:r>
            <a:endParaRPr lang="en-IN" sz="2000" dirty="0">
              <a:effectLst/>
              <a:latin typeface="Times New Roman" panose="02020603050405020304" pitchFamily="18" charset="0"/>
              <a:ea typeface="Times New Roman" panose="02020603050405020304" pitchFamily="18" charset="0"/>
            </a:endParaRPr>
          </a:p>
          <a:p>
            <a:pPr marL="0" indent="0" algn="just">
              <a:lnSpc>
                <a:spcPct val="115000"/>
              </a:lnSpc>
              <a:buNone/>
            </a:pPr>
            <a:r>
              <a:rPr lang="en-US" b="1" dirty="0">
                <a:effectLst/>
                <a:latin typeface="Cambria" panose="02040503050406030204" pitchFamily="18" charset="0"/>
                <a:ea typeface="Times New Roman" panose="02020603050405020304" pitchFamily="18" charset="0"/>
              </a:rPr>
              <a:t>Interpretation and Report Writing:</a:t>
            </a:r>
            <a:r>
              <a:rPr lang="en-US" sz="2000" dirty="0">
                <a:effectLst/>
                <a:latin typeface="Cambria" panose="02040503050406030204" pitchFamily="18" charset="0"/>
                <a:ea typeface="Times New Roman" panose="02020603050405020304" pitchFamily="18" charset="0"/>
              </a:rPr>
              <a:t> </a:t>
            </a:r>
          </a:p>
          <a:p>
            <a:pPr algn="just">
              <a:lnSpc>
                <a:spcPct val="115000"/>
              </a:lnSpc>
            </a:pPr>
            <a:r>
              <a:rPr lang="en-US" sz="2000" dirty="0">
                <a:effectLst/>
                <a:latin typeface="Cambria" panose="02040503050406030204" pitchFamily="18" charset="0"/>
                <a:ea typeface="Times New Roman" panose="02020603050405020304" pitchFamily="18" charset="0"/>
              </a:rPr>
              <a:t>Introduction</a:t>
            </a:r>
          </a:p>
          <a:p>
            <a:pPr algn="just">
              <a:lnSpc>
                <a:spcPct val="115000"/>
              </a:lnSpc>
            </a:pPr>
            <a:r>
              <a:rPr lang="en-US" sz="2000" dirty="0">
                <a:effectLst/>
                <a:latin typeface="Cambria" panose="02040503050406030204" pitchFamily="18" charset="0"/>
                <a:ea typeface="Times New Roman" panose="02020603050405020304" pitchFamily="18" charset="0"/>
              </a:rPr>
              <a:t>Technique of interpretation </a:t>
            </a:r>
          </a:p>
          <a:p>
            <a:pPr algn="just">
              <a:lnSpc>
                <a:spcPct val="115000"/>
              </a:lnSpc>
            </a:pPr>
            <a:r>
              <a:rPr lang="en-US" sz="2000" dirty="0">
                <a:effectLst/>
                <a:latin typeface="Cambria" panose="02040503050406030204" pitchFamily="18" charset="0"/>
                <a:ea typeface="Times New Roman" panose="02020603050405020304" pitchFamily="18" charset="0"/>
              </a:rPr>
              <a:t>Different steps in writing report </a:t>
            </a:r>
          </a:p>
          <a:p>
            <a:pPr algn="just">
              <a:lnSpc>
                <a:spcPct val="115000"/>
              </a:lnSpc>
            </a:pPr>
            <a:r>
              <a:rPr lang="en-US" sz="2000" dirty="0">
                <a:effectLst/>
                <a:latin typeface="Cambria" panose="02040503050406030204" pitchFamily="18" charset="0"/>
                <a:ea typeface="Times New Roman" panose="02020603050405020304" pitchFamily="18" charset="0"/>
              </a:rPr>
              <a:t>Layout of the research report</a:t>
            </a:r>
          </a:p>
          <a:p>
            <a:pPr algn="just">
              <a:lnSpc>
                <a:spcPct val="115000"/>
              </a:lnSpc>
            </a:pPr>
            <a:r>
              <a:rPr lang="en-US" sz="2000" dirty="0">
                <a:effectLst/>
                <a:latin typeface="Cambria" panose="02040503050406030204" pitchFamily="18" charset="0"/>
                <a:ea typeface="Times New Roman" panose="02020603050405020304" pitchFamily="18" charset="0"/>
              </a:rPr>
              <a:t>Mechanics of writing a research report</a:t>
            </a:r>
            <a:endParaRPr lang="en-IN" sz="2000" dirty="0">
              <a:effectLs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25178170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B46B6-1AAA-DAE8-A46E-FEA483209FAE}"/>
              </a:ext>
            </a:extLst>
          </p:cNvPr>
          <p:cNvSpPr>
            <a:spLocks noGrp="1"/>
          </p:cNvSpPr>
          <p:nvPr>
            <p:ph type="title"/>
          </p:nvPr>
        </p:nvSpPr>
        <p:spPr>
          <a:xfrm>
            <a:off x="254833" y="-219487"/>
            <a:ext cx="11602387" cy="1325563"/>
          </a:xfrm>
        </p:spPr>
        <p:txBody>
          <a:bodyPr/>
          <a:lstStyle/>
          <a:p>
            <a:pPr algn="just"/>
            <a:r>
              <a:rPr lang="en-US" b="0" i="0" dirty="0">
                <a:solidFill>
                  <a:srgbClr val="0F0F0F"/>
                </a:solidFill>
                <a:effectLst/>
                <a:latin typeface="Söhne"/>
              </a:rPr>
              <a:t>Collection of primary data-Observation Method:</a:t>
            </a:r>
            <a:endParaRPr lang="en-IN" dirty="0"/>
          </a:p>
        </p:txBody>
      </p:sp>
      <p:sp>
        <p:nvSpPr>
          <p:cNvPr id="3" name="Content Placeholder 2">
            <a:extLst>
              <a:ext uri="{FF2B5EF4-FFF2-40B4-BE49-F238E27FC236}">
                <a16:creationId xmlns:a16="http://schemas.microsoft.com/office/drawing/2014/main" id="{5D294C61-D95E-51E1-39A2-D4E7DBBBEBCC}"/>
              </a:ext>
            </a:extLst>
          </p:cNvPr>
          <p:cNvSpPr>
            <a:spLocks noGrp="1"/>
          </p:cNvSpPr>
          <p:nvPr>
            <p:ph idx="1"/>
          </p:nvPr>
        </p:nvSpPr>
        <p:spPr>
          <a:xfrm>
            <a:off x="-31229" y="776318"/>
            <a:ext cx="12223229" cy="6081681"/>
          </a:xfrm>
        </p:spPr>
        <p:txBody>
          <a:bodyPr>
            <a:normAutofit fontScale="85000" lnSpcReduction="20000"/>
          </a:bodyPr>
          <a:lstStyle/>
          <a:p>
            <a:pPr marL="0" indent="0" algn="just">
              <a:buNone/>
            </a:pPr>
            <a:r>
              <a:rPr lang="en-US" b="0" i="0" dirty="0">
                <a:solidFill>
                  <a:srgbClr val="374151"/>
                </a:solidFill>
                <a:effectLst/>
                <a:latin typeface="Söhne"/>
              </a:rPr>
              <a:t>	Observation is a method of collecting primary data in research methodology where researchers directly observe and record behavior, events, or phenomena as they naturally occur. This method is particularly useful when the researcher wants to study situations in their natural setting without interference.</a:t>
            </a:r>
          </a:p>
          <a:p>
            <a:pPr marL="0" indent="0" algn="l">
              <a:buNone/>
            </a:pPr>
            <a:r>
              <a:rPr lang="en-US" b="0" i="0" dirty="0">
                <a:solidFill>
                  <a:srgbClr val="374151"/>
                </a:solidFill>
                <a:effectLst/>
                <a:latin typeface="Söhne"/>
              </a:rPr>
              <a:t>Here's a breakdown of the observation method in research:</a:t>
            </a:r>
          </a:p>
          <a:p>
            <a:pPr marL="0" indent="0" algn="l">
              <a:buNone/>
            </a:pPr>
            <a:r>
              <a:rPr lang="en-US" b="1" i="0" dirty="0">
                <a:effectLst/>
                <a:latin typeface="Söhne"/>
              </a:rPr>
              <a:t>1. Types of Observation:</a:t>
            </a:r>
          </a:p>
          <a:p>
            <a:pPr algn="l">
              <a:buFont typeface="Arial" panose="020B0604020202020204" pitchFamily="34" charset="0"/>
              <a:buChar char="•"/>
            </a:pPr>
            <a:r>
              <a:rPr lang="en-US" b="1" i="0" dirty="0">
                <a:solidFill>
                  <a:srgbClr val="374151"/>
                </a:solidFill>
                <a:effectLst/>
                <a:latin typeface="Söhne"/>
              </a:rPr>
              <a:t>Structured Observation:</a:t>
            </a:r>
            <a:endParaRPr lang="en-US" b="0" i="0" dirty="0">
              <a:solidFill>
                <a:srgbClr val="374151"/>
              </a:solidFill>
              <a:effectLst/>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Researchers use a predetermined set of categories or behaviors to observe.</a:t>
            </a:r>
          </a:p>
          <a:p>
            <a:pPr marL="742950" lvl="1" indent="-285750" algn="l">
              <a:buFont typeface="Arial" panose="020B0604020202020204" pitchFamily="34" charset="0"/>
              <a:buChar char="•"/>
            </a:pPr>
            <a:r>
              <a:rPr lang="en-US" b="0" i="0" dirty="0">
                <a:solidFill>
                  <a:srgbClr val="374151"/>
                </a:solidFill>
                <a:effectLst/>
                <a:latin typeface="Söhne"/>
              </a:rPr>
              <a:t>Data collection is systematic and follows a specific plan.</a:t>
            </a:r>
          </a:p>
          <a:p>
            <a:pPr algn="l">
              <a:buFont typeface="Arial" panose="020B0604020202020204" pitchFamily="34" charset="0"/>
              <a:buChar char="•"/>
            </a:pPr>
            <a:r>
              <a:rPr lang="en-US" b="1" i="0" dirty="0">
                <a:solidFill>
                  <a:srgbClr val="374151"/>
                </a:solidFill>
                <a:effectLst/>
                <a:latin typeface="Söhne"/>
              </a:rPr>
              <a:t>Unstructured Observation:</a:t>
            </a:r>
            <a:endParaRPr lang="en-US" b="0" i="0" dirty="0">
              <a:solidFill>
                <a:srgbClr val="374151"/>
              </a:solidFill>
              <a:effectLst/>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Researchers observe without a predefined set of categories.</a:t>
            </a:r>
          </a:p>
          <a:p>
            <a:pPr marL="742950" lvl="1" indent="-285750" algn="l">
              <a:buFont typeface="Arial" panose="020B0604020202020204" pitchFamily="34" charset="0"/>
              <a:buChar char="•"/>
            </a:pPr>
            <a:r>
              <a:rPr lang="en-US" b="0" i="0" dirty="0">
                <a:solidFill>
                  <a:srgbClr val="374151"/>
                </a:solidFill>
                <a:effectLst/>
                <a:latin typeface="Söhne"/>
              </a:rPr>
              <a:t>More flexible, allowing for exploration of unexpected behaviors.</a:t>
            </a:r>
          </a:p>
          <a:p>
            <a:pPr algn="l">
              <a:buFont typeface="Arial" panose="020B0604020202020204" pitchFamily="34" charset="0"/>
              <a:buChar char="•"/>
            </a:pPr>
            <a:r>
              <a:rPr lang="en-US" b="1" i="0" dirty="0">
                <a:solidFill>
                  <a:srgbClr val="374151"/>
                </a:solidFill>
                <a:effectLst/>
                <a:latin typeface="Söhne"/>
              </a:rPr>
              <a:t>Participant Observation:</a:t>
            </a:r>
            <a:endParaRPr lang="en-US" b="0" i="0" dirty="0">
              <a:solidFill>
                <a:srgbClr val="374151"/>
              </a:solidFill>
              <a:effectLst/>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The researcher becomes a part of the group being observed.</a:t>
            </a:r>
          </a:p>
          <a:p>
            <a:pPr marL="742950" lvl="1" indent="-285750" algn="l">
              <a:buFont typeface="Arial" panose="020B0604020202020204" pitchFamily="34" charset="0"/>
              <a:buChar char="•"/>
            </a:pPr>
            <a:r>
              <a:rPr lang="en-US" b="0" i="0" dirty="0">
                <a:solidFill>
                  <a:srgbClr val="374151"/>
                </a:solidFill>
                <a:effectLst/>
                <a:latin typeface="Söhne"/>
              </a:rPr>
              <a:t>Provides an insider's perspective but may introduce bias.</a:t>
            </a:r>
          </a:p>
          <a:p>
            <a:pPr algn="l">
              <a:buFont typeface="Arial" panose="020B0604020202020204" pitchFamily="34" charset="0"/>
              <a:buChar char="•"/>
            </a:pPr>
            <a:r>
              <a:rPr lang="en-US" b="1" i="0" dirty="0">
                <a:solidFill>
                  <a:srgbClr val="374151"/>
                </a:solidFill>
                <a:effectLst/>
                <a:latin typeface="Söhne"/>
              </a:rPr>
              <a:t>Non-participant Observation:</a:t>
            </a:r>
            <a:endParaRPr lang="en-US" b="0" i="0" dirty="0">
              <a:solidFill>
                <a:srgbClr val="374151"/>
              </a:solidFill>
              <a:effectLst/>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The researcher remains separate from the group being observed.</a:t>
            </a:r>
          </a:p>
          <a:p>
            <a:pPr marL="742950" lvl="1" indent="-285750" algn="l">
              <a:buFont typeface="Arial" panose="020B0604020202020204" pitchFamily="34" charset="0"/>
              <a:buChar char="•"/>
            </a:pPr>
            <a:r>
              <a:rPr lang="en-US" b="0" i="0" dirty="0">
                <a:solidFill>
                  <a:srgbClr val="374151"/>
                </a:solidFill>
                <a:effectLst/>
                <a:latin typeface="Söhne"/>
              </a:rPr>
              <a:t>Reduces bias but may miss nuances observed in participant observation.</a:t>
            </a:r>
          </a:p>
        </p:txBody>
      </p:sp>
    </p:spTree>
    <p:extLst>
      <p:ext uri="{BB962C8B-B14F-4D97-AF65-F5344CB8AC3E}">
        <p14:creationId xmlns:p14="http://schemas.microsoft.com/office/powerpoint/2010/main" val="4161918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B46B6-1AAA-DAE8-A46E-FEA483209FAE}"/>
              </a:ext>
            </a:extLst>
          </p:cNvPr>
          <p:cNvSpPr>
            <a:spLocks noGrp="1"/>
          </p:cNvSpPr>
          <p:nvPr>
            <p:ph type="title"/>
          </p:nvPr>
        </p:nvSpPr>
        <p:spPr>
          <a:xfrm>
            <a:off x="-31225" y="-279445"/>
            <a:ext cx="11828484" cy="1325563"/>
          </a:xfrm>
        </p:spPr>
        <p:txBody>
          <a:bodyPr/>
          <a:lstStyle/>
          <a:p>
            <a:pPr algn="just"/>
            <a:r>
              <a:rPr lang="en-US" b="0" i="0" dirty="0">
                <a:solidFill>
                  <a:srgbClr val="0F0F0F"/>
                </a:solidFill>
                <a:effectLst/>
                <a:latin typeface="Söhne"/>
              </a:rPr>
              <a:t>Collection of primary data-Observation Method:</a:t>
            </a:r>
            <a:endParaRPr lang="en-IN" dirty="0"/>
          </a:p>
        </p:txBody>
      </p:sp>
      <p:sp>
        <p:nvSpPr>
          <p:cNvPr id="3" name="Content Placeholder 2">
            <a:extLst>
              <a:ext uri="{FF2B5EF4-FFF2-40B4-BE49-F238E27FC236}">
                <a16:creationId xmlns:a16="http://schemas.microsoft.com/office/drawing/2014/main" id="{5D294C61-D95E-51E1-39A2-D4E7DBBBEBCC}"/>
              </a:ext>
            </a:extLst>
          </p:cNvPr>
          <p:cNvSpPr>
            <a:spLocks noGrp="1"/>
          </p:cNvSpPr>
          <p:nvPr>
            <p:ph idx="1"/>
          </p:nvPr>
        </p:nvSpPr>
        <p:spPr>
          <a:xfrm>
            <a:off x="73707" y="701365"/>
            <a:ext cx="11828484" cy="5984248"/>
          </a:xfrm>
        </p:spPr>
        <p:txBody>
          <a:bodyPr>
            <a:normAutofit fontScale="77500" lnSpcReduction="20000"/>
          </a:bodyPr>
          <a:lstStyle/>
          <a:p>
            <a:pPr marL="0" indent="0" algn="l">
              <a:buNone/>
            </a:pPr>
            <a:r>
              <a:rPr lang="en-US" b="1" i="0" dirty="0">
                <a:effectLst/>
                <a:latin typeface="Söhne"/>
              </a:rPr>
              <a:t>2. Advantages of Observation:</a:t>
            </a:r>
          </a:p>
          <a:p>
            <a:pPr algn="l">
              <a:buFont typeface="Arial" panose="020B0604020202020204" pitchFamily="34" charset="0"/>
              <a:buChar char="•"/>
            </a:pPr>
            <a:r>
              <a:rPr lang="en-US" b="1" i="0" dirty="0">
                <a:solidFill>
                  <a:srgbClr val="374151"/>
                </a:solidFill>
                <a:effectLst/>
                <a:latin typeface="Söhne"/>
              </a:rPr>
              <a:t>Real-world Context:</a:t>
            </a:r>
            <a:endParaRPr lang="en-US" b="0" i="0" dirty="0">
              <a:solidFill>
                <a:srgbClr val="374151"/>
              </a:solidFill>
              <a:effectLst/>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Allows researchers to study behavior in natural settings.</a:t>
            </a:r>
          </a:p>
          <a:p>
            <a:pPr algn="l">
              <a:buFont typeface="Arial" panose="020B0604020202020204" pitchFamily="34" charset="0"/>
              <a:buChar char="•"/>
            </a:pPr>
            <a:r>
              <a:rPr lang="en-US" b="1" i="0" dirty="0">
                <a:solidFill>
                  <a:srgbClr val="374151"/>
                </a:solidFill>
                <a:effectLst/>
                <a:latin typeface="Söhne"/>
              </a:rPr>
              <a:t>No Dependence on Participants' Reports:</a:t>
            </a:r>
            <a:endParaRPr lang="en-US" b="0" i="0" dirty="0">
              <a:solidFill>
                <a:srgbClr val="374151"/>
              </a:solidFill>
              <a:effectLst/>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Reduces the risk of bias introduced by self-reporting.</a:t>
            </a:r>
          </a:p>
          <a:p>
            <a:pPr algn="l">
              <a:buFont typeface="Arial" panose="020B0604020202020204" pitchFamily="34" charset="0"/>
              <a:buChar char="•"/>
            </a:pPr>
            <a:r>
              <a:rPr lang="en-US" b="1" i="0" dirty="0">
                <a:solidFill>
                  <a:srgbClr val="374151"/>
                </a:solidFill>
                <a:effectLst/>
                <a:latin typeface="Söhne"/>
              </a:rPr>
              <a:t>Rich, Detailed Data:</a:t>
            </a:r>
            <a:endParaRPr lang="en-US" b="0" i="0" dirty="0">
              <a:solidFill>
                <a:srgbClr val="374151"/>
              </a:solidFill>
              <a:effectLst/>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Provides detailed information about behavior, interactions, and context.</a:t>
            </a:r>
          </a:p>
          <a:p>
            <a:pPr algn="l">
              <a:buFont typeface="Arial" panose="020B0604020202020204" pitchFamily="34" charset="0"/>
              <a:buChar char="•"/>
            </a:pPr>
            <a:r>
              <a:rPr lang="en-US" b="1" i="0" dirty="0">
                <a:solidFill>
                  <a:srgbClr val="374151"/>
                </a:solidFill>
                <a:effectLst/>
                <a:latin typeface="Söhne"/>
              </a:rPr>
              <a:t>Non-Interference:</a:t>
            </a:r>
            <a:endParaRPr lang="en-US" b="0" i="0" dirty="0">
              <a:solidFill>
                <a:srgbClr val="374151"/>
              </a:solidFill>
              <a:effectLst/>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Minimizes the impact of the researcher on the observed setting.</a:t>
            </a:r>
          </a:p>
          <a:p>
            <a:pPr marL="0" indent="0" algn="l">
              <a:buNone/>
            </a:pPr>
            <a:r>
              <a:rPr lang="en-US" b="1" i="0" dirty="0">
                <a:effectLst/>
                <a:latin typeface="Söhne"/>
              </a:rPr>
              <a:t>3. Challenges and Limitations:</a:t>
            </a:r>
          </a:p>
          <a:p>
            <a:pPr algn="l">
              <a:buFont typeface="Arial" panose="020B0604020202020204" pitchFamily="34" charset="0"/>
              <a:buChar char="•"/>
            </a:pPr>
            <a:r>
              <a:rPr lang="en-US" b="1" i="0" dirty="0">
                <a:solidFill>
                  <a:srgbClr val="374151"/>
                </a:solidFill>
                <a:effectLst/>
                <a:latin typeface="Söhne"/>
              </a:rPr>
              <a:t>Observer Bias:</a:t>
            </a:r>
            <a:endParaRPr lang="en-US" b="0" i="0" dirty="0">
              <a:solidFill>
                <a:srgbClr val="374151"/>
              </a:solidFill>
              <a:effectLst/>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The presence of the observer may influence behavior.</a:t>
            </a:r>
          </a:p>
          <a:p>
            <a:pPr algn="l">
              <a:buFont typeface="Arial" panose="020B0604020202020204" pitchFamily="34" charset="0"/>
              <a:buChar char="•"/>
            </a:pPr>
            <a:r>
              <a:rPr lang="en-US" b="1" i="0" dirty="0">
                <a:solidFill>
                  <a:srgbClr val="374151"/>
                </a:solidFill>
                <a:effectLst/>
                <a:latin typeface="Söhne"/>
              </a:rPr>
              <a:t>Subject Reactivity:</a:t>
            </a:r>
            <a:endParaRPr lang="en-US" b="0" i="0" dirty="0">
              <a:solidFill>
                <a:srgbClr val="374151"/>
              </a:solidFill>
              <a:effectLst/>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Individuals being observed may alter their behavior due to awareness.</a:t>
            </a:r>
          </a:p>
          <a:p>
            <a:pPr algn="l">
              <a:buFont typeface="Arial" panose="020B0604020202020204" pitchFamily="34" charset="0"/>
              <a:buChar char="•"/>
            </a:pPr>
            <a:r>
              <a:rPr lang="en-US" b="1" i="0" dirty="0">
                <a:solidFill>
                  <a:srgbClr val="374151"/>
                </a:solidFill>
                <a:effectLst/>
                <a:latin typeface="Söhne"/>
              </a:rPr>
              <a:t>Limited Generalizability:</a:t>
            </a:r>
            <a:endParaRPr lang="en-US" b="0" i="0" dirty="0">
              <a:solidFill>
                <a:srgbClr val="374151"/>
              </a:solidFill>
              <a:effectLst/>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Findings may be specific to the observed setting.</a:t>
            </a:r>
          </a:p>
          <a:p>
            <a:pPr algn="l">
              <a:buFont typeface="Arial" panose="020B0604020202020204" pitchFamily="34" charset="0"/>
              <a:buChar char="•"/>
            </a:pPr>
            <a:r>
              <a:rPr lang="en-US" b="1" i="0" dirty="0">
                <a:solidFill>
                  <a:srgbClr val="374151"/>
                </a:solidFill>
                <a:effectLst/>
                <a:latin typeface="Söhne"/>
              </a:rPr>
              <a:t>Time-Consuming:</a:t>
            </a:r>
            <a:endParaRPr lang="en-US" b="0" i="0" dirty="0">
              <a:solidFill>
                <a:srgbClr val="374151"/>
              </a:solidFill>
              <a:effectLst/>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Observation can be time-intensive, especially for long-term studies.</a:t>
            </a:r>
          </a:p>
        </p:txBody>
      </p:sp>
    </p:spTree>
    <p:extLst>
      <p:ext uri="{BB962C8B-B14F-4D97-AF65-F5344CB8AC3E}">
        <p14:creationId xmlns:p14="http://schemas.microsoft.com/office/powerpoint/2010/main" val="1107619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B46B6-1AAA-DAE8-A46E-FEA483209FAE}"/>
              </a:ext>
            </a:extLst>
          </p:cNvPr>
          <p:cNvSpPr>
            <a:spLocks noGrp="1"/>
          </p:cNvSpPr>
          <p:nvPr>
            <p:ph type="title"/>
          </p:nvPr>
        </p:nvSpPr>
        <p:spPr>
          <a:xfrm>
            <a:off x="-61202" y="-369386"/>
            <a:ext cx="11415002" cy="1325563"/>
          </a:xfrm>
        </p:spPr>
        <p:txBody>
          <a:bodyPr/>
          <a:lstStyle/>
          <a:p>
            <a:pPr algn="just"/>
            <a:r>
              <a:rPr lang="en-US" b="0" i="0" dirty="0">
                <a:solidFill>
                  <a:srgbClr val="0F0F0F"/>
                </a:solidFill>
                <a:effectLst/>
                <a:latin typeface="Söhne"/>
              </a:rPr>
              <a:t>Collection of primary data-Observation Method:</a:t>
            </a:r>
            <a:endParaRPr lang="en-IN" dirty="0"/>
          </a:p>
        </p:txBody>
      </p:sp>
      <p:sp>
        <p:nvSpPr>
          <p:cNvPr id="3" name="Content Placeholder 2">
            <a:extLst>
              <a:ext uri="{FF2B5EF4-FFF2-40B4-BE49-F238E27FC236}">
                <a16:creationId xmlns:a16="http://schemas.microsoft.com/office/drawing/2014/main" id="{5D294C61-D95E-51E1-39A2-D4E7DBBBEBCC}"/>
              </a:ext>
            </a:extLst>
          </p:cNvPr>
          <p:cNvSpPr>
            <a:spLocks noGrp="1"/>
          </p:cNvSpPr>
          <p:nvPr>
            <p:ph idx="1"/>
          </p:nvPr>
        </p:nvSpPr>
        <p:spPr>
          <a:xfrm>
            <a:off x="103685" y="566453"/>
            <a:ext cx="11858466" cy="6403973"/>
          </a:xfrm>
        </p:spPr>
        <p:txBody>
          <a:bodyPr>
            <a:normAutofit fontScale="77500" lnSpcReduction="20000"/>
          </a:bodyPr>
          <a:lstStyle/>
          <a:p>
            <a:pPr marL="0" indent="0" algn="l">
              <a:buNone/>
            </a:pPr>
            <a:r>
              <a:rPr lang="en-US" b="1" i="0" dirty="0">
                <a:effectLst/>
                <a:latin typeface="Söhne"/>
              </a:rPr>
              <a:t>4. Steps in the Observation Process:</a:t>
            </a:r>
          </a:p>
          <a:p>
            <a:pPr algn="l">
              <a:buFont typeface="Arial" panose="020B0604020202020204" pitchFamily="34" charset="0"/>
              <a:buChar char="•"/>
            </a:pPr>
            <a:r>
              <a:rPr lang="en-US" b="1" i="0" dirty="0">
                <a:solidFill>
                  <a:srgbClr val="374151"/>
                </a:solidFill>
                <a:effectLst/>
                <a:latin typeface="Söhne"/>
              </a:rPr>
              <a:t>Define Objectives:</a:t>
            </a:r>
            <a:endParaRPr lang="en-US" b="0" i="0" dirty="0">
              <a:solidFill>
                <a:srgbClr val="374151"/>
              </a:solidFill>
              <a:effectLst/>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Clearly outline what is to be observed and why.</a:t>
            </a:r>
          </a:p>
          <a:p>
            <a:pPr algn="l">
              <a:buFont typeface="Arial" panose="020B0604020202020204" pitchFamily="34" charset="0"/>
              <a:buChar char="•"/>
            </a:pPr>
            <a:r>
              <a:rPr lang="en-US" b="1" i="0" dirty="0">
                <a:solidFill>
                  <a:srgbClr val="374151"/>
                </a:solidFill>
                <a:effectLst/>
                <a:latin typeface="Söhne"/>
              </a:rPr>
              <a:t>Select Observation Setting:</a:t>
            </a:r>
            <a:endParaRPr lang="en-US" b="0" i="0" dirty="0">
              <a:solidFill>
                <a:srgbClr val="374151"/>
              </a:solidFill>
              <a:effectLst/>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Choose the location where observations will take place.</a:t>
            </a:r>
          </a:p>
          <a:p>
            <a:pPr algn="l">
              <a:buFont typeface="Arial" panose="020B0604020202020204" pitchFamily="34" charset="0"/>
              <a:buChar char="•"/>
            </a:pPr>
            <a:r>
              <a:rPr lang="en-US" b="1" i="0" dirty="0">
                <a:solidFill>
                  <a:srgbClr val="374151"/>
                </a:solidFill>
                <a:effectLst/>
                <a:latin typeface="Söhne"/>
              </a:rPr>
              <a:t>Develop Observation Protocol:</a:t>
            </a:r>
            <a:endParaRPr lang="en-US" b="0" i="0" dirty="0">
              <a:solidFill>
                <a:srgbClr val="374151"/>
              </a:solidFill>
              <a:effectLst/>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Create a structured plan or checklist for recording observations.</a:t>
            </a:r>
          </a:p>
          <a:p>
            <a:pPr algn="l">
              <a:buFont typeface="Arial" panose="020B0604020202020204" pitchFamily="34" charset="0"/>
              <a:buChar char="•"/>
            </a:pPr>
            <a:r>
              <a:rPr lang="en-US" b="1" i="0" dirty="0">
                <a:solidFill>
                  <a:srgbClr val="374151"/>
                </a:solidFill>
                <a:effectLst/>
                <a:latin typeface="Söhne"/>
              </a:rPr>
              <a:t>Training Observers:</a:t>
            </a:r>
            <a:endParaRPr lang="en-US" b="0" i="0" dirty="0">
              <a:solidFill>
                <a:srgbClr val="374151"/>
              </a:solidFill>
              <a:effectLst/>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If multiple observers are involved, ensure consistency in data collection.</a:t>
            </a:r>
          </a:p>
          <a:p>
            <a:pPr algn="l">
              <a:buFont typeface="Arial" panose="020B0604020202020204" pitchFamily="34" charset="0"/>
              <a:buChar char="•"/>
            </a:pPr>
            <a:r>
              <a:rPr lang="en-US" b="1" i="0" dirty="0">
                <a:solidFill>
                  <a:srgbClr val="374151"/>
                </a:solidFill>
                <a:effectLst/>
                <a:latin typeface="Söhne"/>
              </a:rPr>
              <a:t>Conduct Observations:</a:t>
            </a:r>
            <a:endParaRPr lang="en-US" b="0" i="0" dirty="0">
              <a:solidFill>
                <a:srgbClr val="374151"/>
              </a:solidFill>
              <a:effectLst/>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Implement the observation plan and record data.</a:t>
            </a:r>
          </a:p>
          <a:p>
            <a:pPr algn="l">
              <a:buFont typeface="Arial" panose="020B0604020202020204" pitchFamily="34" charset="0"/>
              <a:buChar char="•"/>
            </a:pPr>
            <a:r>
              <a:rPr lang="en-US" b="1" i="0" dirty="0">
                <a:solidFill>
                  <a:srgbClr val="374151"/>
                </a:solidFill>
                <a:effectLst/>
                <a:latin typeface="Söhne"/>
              </a:rPr>
              <a:t>Data Analysis:</a:t>
            </a:r>
            <a:endParaRPr lang="en-US" b="0" i="0" dirty="0">
              <a:solidFill>
                <a:srgbClr val="374151"/>
              </a:solidFill>
              <a:effectLst/>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Organize and analyze the observed data.</a:t>
            </a:r>
          </a:p>
          <a:p>
            <a:pPr algn="l">
              <a:buFont typeface="Arial" panose="020B0604020202020204" pitchFamily="34" charset="0"/>
              <a:buChar char="•"/>
            </a:pPr>
            <a:r>
              <a:rPr lang="en-US" b="1" i="0" dirty="0">
                <a:solidFill>
                  <a:srgbClr val="374151"/>
                </a:solidFill>
                <a:effectLst/>
                <a:latin typeface="Söhne"/>
              </a:rPr>
              <a:t>Interpretation and Reporting:</a:t>
            </a:r>
            <a:endParaRPr lang="en-US" b="0" i="0" dirty="0">
              <a:solidFill>
                <a:srgbClr val="374151"/>
              </a:solidFill>
              <a:effectLst/>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Draw conclusions and report findings.</a:t>
            </a:r>
          </a:p>
          <a:p>
            <a:pPr marL="0" indent="0" algn="l">
              <a:buNone/>
            </a:pPr>
            <a:r>
              <a:rPr lang="en-US" b="1" i="0" dirty="0">
                <a:effectLst/>
                <a:latin typeface="Söhne"/>
              </a:rPr>
              <a:t>5. Ethical Considerations:</a:t>
            </a:r>
          </a:p>
          <a:p>
            <a:pPr algn="l">
              <a:buFont typeface="Arial" panose="020B0604020202020204" pitchFamily="34" charset="0"/>
              <a:buChar char="•"/>
            </a:pPr>
            <a:r>
              <a:rPr lang="en-US" b="1" i="0" dirty="0">
                <a:solidFill>
                  <a:srgbClr val="374151"/>
                </a:solidFill>
                <a:effectLst/>
                <a:latin typeface="Söhne"/>
              </a:rPr>
              <a:t>Informed Consent:</a:t>
            </a:r>
            <a:endParaRPr lang="en-US" b="0" i="0" dirty="0">
              <a:solidFill>
                <a:srgbClr val="374151"/>
              </a:solidFill>
              <a:effectLst/>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Obtain permission from individuals or groups being observed.</a:t>
            </a:r>
          </a:p>
          <a:p>
            <a:pPr algn="l">
              <a:buFont typeface="Arial" panose="020B0604020202020204" pitchFamily="34" charset="0"/>
              <a:buChar char="•"/>
            </a:pPr>
            <a:r>
              <a:rPr lang="en-US" b="1" i="0" dirty="0">
                <a:solidFill>
                  <a:srgbClr val="374151"/>
                </a:solidFill>
                <a:effectLst/>
                <a:latin typeface="Söhne"/>
              </a:rPr>
              <a:t>Privacy:</a:t>
            </a:r>
            <a:endParaRPr lang="en-US" b="0" i="0" dirty="0">
              <a:solidFill>
                <a:srgbClr val="374151"/>
              </a:solidFill>
              <a:effectLst/>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Respect the privacy of the observed individuals.</a:t>
            </a:r>
          </a:p>
        </p:txBody>
      </p:sp>
    </p:spTree>
    <p:extLst>
      <p:ext uri="{BB962C8B-B14F-4D97-AF65-F5344CB8AC3E}">
        <p14:creationId xmlns:p14="http://schemas.microsoft.com/office/powerpoint/2010/main" val="2017566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B46B6-1AAA-DAE8-A46E-FEA483209FAE}"/>
              </a:ext>
            </a:extLst>
          </p:cNvPr>
          <p:cNvSpPr>
            <a:spLocks noGrp="1"/>
          </p:cNvSpPr>
          <p:nvPr>
            <p:ph type="title"/>
          </p:nvPr>
        </p:nvSpPr>
        <p:spPr>
          <a:xfrm>
            <a:off x="-61202" y="-369386"/>
            <a:ext cx="11415002" cy="1325563"/>
          </a:xfrm>
        </p:spPr>
        <p:txBody>
          <a:bodyPr/>
          <a:lstStyle/>
          <a:p>
            <a:pPr algn="just"/>
            <a:r>
              <a:rPr lang="en-US" b="0" i="0" dirty="0">
                <a:solidFill>
                  <a:srgbClr val="0F0F0F"/>
                </a:solidFill>
                <a:effectLst/>
                <a:latin typeface="Söhne"/>
              </a:rPr>
              <a:t>Collection of primary data-Observation Method:</a:t>
            </a:r>
            <a:endParaRPr lang="en-IN" dirty="0"/>
          </a:p>
        </p:txBody>
      </p:sp>
      <p:sp>
        <p:nvSpPr>
          <p:cNvPr id="3" name="Content Placeholder 2">
            <a:extLst>
              <a:ext uri="{FF2B5EF4-FFF2-40B4-BE49-F238E27FC236}">
                <a16:creationId xmlns:a16="http://schemas.microsoft.com/office/drawing/2014/main" id="{5D294C61-D95E-51E1-39A2-D4E7DBBBEBCC}"/>
              </a:ext>
            </a:extLst>
          </p:cNvPr>
          <p:cNvSpPr>
            <a:spLocks noGrp="1"/>
          </p:cNvSpPr>
          <p:nvPr>
            <p:ph idx="1"/>
          </p:nvPr>
        </p:nvSpPr>
        <p:spPr>
          <a:xfrm>
            <a:off x="103685" y="566453"/>
            <a:ext cx="11858466" cy="6149139"/>
          </a:xfrm>
        </p:spPr>
        <p:txBody>
          <a:bodyPr>
            <a:normAutofit/>
          </a:bodyPr>
          <a:lstStyle/>
          <a:p>
            <a:pPr algn="l">
              <a:buFont typeface="Arial" panose="020B0604020202020204" pitchFamily="34" charset="0"/>
              <a:buChar char="•"/>
            </a:pPr>
            <a:r>
              <a:rPr lang="en-US" b="1" i="0" dirty="0">
                <a:solidFill>
                  <a:srgbClr val="374151"/>
                </a:solidFill>
                <a:effectLst/>
                <a:latin typeface="Söhne"/>
              </a:rPr>
              <a:t>Transparency:</a:t>
            </a:r>
            <a:endParaRPr lang="en-US" b="0" i="0" dirty="0">
              <a:solidFill>
                <a:srgbClr val="374151"/>
              </a:solidFill>
              <a:effectLst/>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Clearly communicate the purpose and nature of the observation.</a:t>
            </a:r>
          </a:p>
          <a:p>
            <a:pPr algn="l">
              <a:buFont typeface="Arial" panose="020B0604020202020204" pitchFamily="34" charset="0"/>
              <a:buChar char="•"/>
            </a:pPr>
            <a:r>
              <a:rPr lang="en-US" b="1" i="0" dirty="0">
                <a:solidFill>
                  <a:srgbClr val="374151"/>
                </a:solidFill>
                <a:effectLst/>
                <a:latin typeface="Söhne"/>
              </a:rPr>
              <a:t>Avoiding Harm:</a:t>
            </a:r>
            <a:endParaRPr lang="en-US" b="0" i="0" dirty="0">
              <a:solidFill>
                <a:srgbClr val="374151"/>
              </a:solidFill>
              <a:effectLst/>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Take steps to minimize any potential harm caused by observation.</a:t>
            </a:r>
          </a:p>
          <a:p>
            <a:pPr marL="0" indent="0" algn="l">
              <a:buNone/>
            </a:pPr>
            <a:r>
              <a:rPr lang="en-US" b="1" i="0" dirty="0">
                <a:effectLst/>
                <a:latin typeface="Söhne"/>
              </a:rPr>
              <a:t>6. Examples of Observation in Research:</a:t>
            </a:r>
          </a:p>
          <a:p>
            <a:pPr algn="l">
              <a:buFont typeface="Arial" panose="020B0604020202020204" pitchFamily="34" charset="0"/>
              <a:buChar char="•"/>
            </a:pPr>
            <a:r>
              <a:rPr lang="en-US" b="1" i="0" dirty="0">
                <a:solidFill>
                  <a:srgbClr val="374151"/>
                </a:solidFill>
                <a:effectLst/>
                <a:latin typeface="Söhne"/>
              </a:rPr>
              <a:t>Naturalistic Observation:</a:t>
            </a:r>
            <a:endParaRPr lang="en-US" b="0" i="0" dirty="0">
              <a:solidFill>
                <a:srgbClr val="374151"/>
              </a:solidFill>
              <a:effectLst/>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Observing children's play in a natural playground setting.</a:t>
            </a:r>
          </a:p>
          <a:p>
            <a:pPr algn="l">
              <a:buFont typeface="Arial" panose="020B0604020202020204" pitchFamily="34" charset="0"/>
              <a:buChar char="•"/>
            </a:pPr>
            <a:r>
              <a:rPr lang="en-US" b="1" i="0" dirty="0">
                <a:solidFill>
                  <a:srgbClr val="374151"/>
                </a:solidFill>
                <a:effectLst/>
                <a:latin typeface="Söhne"/>
              </a:rPr>
              <a:t>Structured Observation:</a:t>
            </a:r>
            <a:endParaRPr lang="en-US" b="0" i="0" dirty="0">
              <a:solidFill>
                <a:srgbClr val="374151"/>
              </a:solidFill>
              <a:effectLst/>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Recording customer behavior in a retail store using predefined categories.</a:t>
            </a:r>
          </a:p>
          <a:p>
            <a:pPr algn="l">
              <a:buFont typeface="Arial" panose="020B0604020202020204" pitchFamily="34" charset="0"/>
              <a:buChar char="•"/>
            </a:pPr>
            <a:r>
              <a:rPr lang="en-US" b="1" i="0" dirty="0">
                <a:solidFill>
                  <a:srgbClr val="374151"/>
                </a:solidFill>
                <a:effectLst/>
                <a:latin typeface="Söhne"/>
              </a:rPr>
              <a:t>Participant Observation:</a:t>
            </a:r>
            <a:endParaRPr lang="en-US" b="0" i="0" dirty="0">
              <a:solidFill>
                <a:srgbClr val="374151"/>
              </a:solidFill>
              <a:effectLst/>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Studying the dynamics of a support group by actively participating.</a:t>
            </a:r>
          </a:p>
          <a:p>
            <a:pPr algn="l">
              <a:buFont typeface="Arial" panose="020B0604020202020204" pitchFamily="34" charset="0"/>
              <a:buChar char="•"/>
            </a:pPr>
            <a:r>
              <a:rPr lang="en-US" b="1" i="0" dirty="0">
                <a:solidFill>
                  <a:srgbClr val="374151"/>
                </a:solidFill>
                <a:effectLst/>
                <a:latin typeface="Söhne"/>
              </a:rPr>
              <a:t>Non-participant Observation:</a:t>
            </a:r>
            <a:endParaRPr lang="en-US" b="0" i="0" dirty="0">
              <a:solidFill>
                <a:srgbClr val="374151"/>
              </a:solidFill>
              <a:effectLst/>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Observing classroom behavior without becoming involved in teaching.</a:t>
            </a:r>
          </a:p>
          <a:p>
            <a:endParaRPr lang="en-IN" dirty="0"/>
          </a:p>
        </p:txBody>
      </p:sp>
    </p:spTree>
    <p:extLst>
      <p:ext uri="{BB962C8B-B14F-4D97-AF65-F5344CB8AC3E}">
        <p14:creationId xmlns:p14="http://schemas.microsoft.com/office/powerpoint/2010/main" val="2072305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C3F1DA-B3F2-3645-65A7-CD8568B640BE}"/>
              </a:ext>
            </a:extLst>
          </p:cNvPr>
          <p:cNvSpPr>
            <a:spLocks noGrp="1"/>
          </p:cNvSpPr>
          <p:nvPr>
            <p:ph idx="1"/>
          </p:nvPr>
        </p:nvSpPr>
        <p:spPr>
          <a:xfrm>
            <a:off x="73702" y="731344"/>
            <a:ext cx="12073328" cy="6553876"/>
          </a:xfrm>
        </p:spPr>
        <p:txBody>
          <a:bodyPr>
            <a:normAutofit fontScale="92500" lnSpcReduction="10000"/>
          </a:bodyPr>
          <a:lstStyle/>
          <a:p>
            <a:pPr marL="0" indent="0" algn="just">
              <a:buNone/>
            </a:pPr>
            <a:r>
              <a:rPr lang="en-US" b="0" i="0" dirty="0">
                <a:solidFill>
                  <a:srgbClr val="374151"/>
                </a:solidFill>
                <a:effectLst/>
                <a:latin typeface="Söhne"/>
              </a:rPr>
              <a:t>	The interview method is a common and effective approach for data collection in qualitative research. Interviews involve direct interaction between the researcher and the participant, allowing for in-depth exploration of the research topic. Here's an overview of the interview method:</a:t>
            </a:r>
          </a:p>
          <a:p>
            <a:pPr algn="l"/>
            <a:r>
              <a:rPr lang="en-US" b="1" i="0" dirty="0">
                <a:effectLst/>
                <a:latin typeface="Söhne"/>
              </a:rPr>
              <a:t>Types of Interviews:</a:t>
            </a:r>
          </a:p>
          <a:p>
            <a:pPr algn="l">
              <a:buFont typeface="+mj-lt"/>
              <a:buAutoNum type="arabicPeriod"/>
            </a:pPr>
            <a:r>
              <a:rPr lang="en-US" b="1" i="0" dirty="0">
                <a:solidFill>
                  <a:srgbClr val="374151"/>
                </a:solidFill>
                <a:effectLst/>
                <a:latin typeface="Söhne"/>
              </a:rPr>
              <a:t>Structured Interviews:</a:t>
            </a:r>
            <a:endParaRPr lang="en-US" b="0" i="0" dirty="0">
              <a:solidFill>
                <a:srgbClr val="374151"/>
              </a:solidFill>
              <a:effectLst/>
              <a:latin typeface="Söhne"/>
            </a:endParaRPr>
          </a:p>
          <a:p>
            <a:pPr marL="742950" lvl="1" indent="-285750" algn="l">
              <a:buFont typeface="+mj-lt"/>
              <a:buAutoNum type="arabicPeriod"/>
            </a:pPr>
            <a:r>
              <a:rPr lang="en-US" b="0" i="0" dirty="0">
                <a:solidFill>
                  <a:srgbClr val="374151"/>
                </a:solidFill>
                <a:effectLst/>
                <a:latin typeface="Söhne"/>
              </a:rPr>
              <a:t>Questions and their order are predetermined.</a:t>
            </a:r>
          </a:p>
          <a:p>
            <a:pPr marL="742950" lvl="1" indent="-285750" algn="l">
              <a:buFont typeface="+mj-lt"/>
              <a:buAutoNum type="arabicPeriod"/>
            </a:pPr>
            <a:r>
              <a:rPr lang="en-US" b="0" i="0" dirty="0">
                <a:solidFill>
                  <a:srgbClr val="374151"/>
                </a:solidFill>
                <a:effectLst/>
                <a:latin typeface="Söhne"/>
              </a:rPr>
              <a:t>Standardized for all participants.</a:t>
            </a:r>
          </a:p>
          <a:p>
            <a:pPr marL="742950" lvl="1" indent="-285750" algn="l">
              <a:buFont typeface="+mj-lt"/>
              <a:buAutoNum type="arabicPeriod"/>
            </a:pPr>
            <a:r>
              <a:rPr lang="en-US" b="0" i="0" dirty="0">
                <a:solidFill>
                  <a:srgbClr val="374151"/>
                </a:solidFill>
                <a:effectLst/>
                <a:latin typeface="Söhne"/>
              </a:rPr>
              <a:t>Useful for quantitative data collection.</a:t>
            </a:r>
          </a:p>
          <a:p>
            <a:pPr algn="l">
              <a:buFont typeface="+mj-lt"/>
              <a:buAutoNum type="arabicPeriod"/>
            </a:pPr>
            <a:r>
              <a:rPr lang="en-US" b="1" i="0" dirty="0">
                <a:solidFill>
                  <a:srgbClr val="374151"/>
                </a:solidFill>
                <a:effectLst/>
                <a:latin typeface="Söhne"/>
              </a:rPr>
              <a:t>Semi-Structured Interviews:</a:t>
            </a:r>
            <a:endParaRPr lang="en-US" b="0" i="0" dirty="0">
              <a:solidFill>
                <a:srgbClr val="374151"/>
              </a:solidFill>
              <a:effectLst/>
              <a:latin typeface="Söhne"/>
            </a:endParaRPr>
          </a:p>
          <a:p>
            <a:pPr marL="742950" lvl="1" indent="-285750" algn="l">
              <a:buFont typeface="+mj-lt"/>
              <a:buAutoNum type="arabicPeriod"/>
            </a:pPr>
            <a:r>
              <a:rPr lang="en-US" b="0" i="0" dirty="0">
                <a:solidFill>
                  <a:srgbClr val="374151"/>
                </a:solidFill>
                <a:effectLst/>
                <a:latin typeface="Söhne"/>
              </a:rPr>
              <a:t>Blend of open-ended and closed-ended questions.</a:t>
            </a:r>
          </a:p>
          <a:p>
            <a:pPr marL="742950" lvl="1" indent="-285750" algn="l">
              <a:buFont typeface="+mj-lt"/>
              <a:buAutoNum type="arabicPeriod"/>
            </a:pPr>
            <a:r>
              <a:rPr lang="en-US" b="0" i="0" dirty="0">
                <a:solidFill>
                  <a:srgbClr val="374151"/>
                </a:solidFill>
                <a:effectLst/>
                <a:latin typeface="Söhne"/>
              </a:rPr>
              <a:t>Allows flexibility in exploring specific topics.</a:t>
            </a:r>
          </a:p>
          <a:p>
            <a:pPr marL="742950" lvl="1" indent="-285750" algn="l">
              <a:buFont typeface="+mj-lt"/>
              <a:buAutoNum type="arabicPeriod"/>
            </a:pPr>
            <a:r>
              <a:rPr lang="en-US" b="0" i="0" dirty="0">
                <a:solidFill>
                  <a:srgbClr val="374151"/>
                </a:solidFill>
                <a:effectLst/>
                <a:latin typeface="Söhne"/>
              </a:rPr>
              <a:t>Common in qualitative research.</a:t>
            </a:r>
          </a:p>
          <a:p>
            <a:pPr algn="l">
              <a:buFont typeface="+mj-lt"/>
              <a:buAutoNum type="arabicPeriod"/>
            </a:pPr>
            <a:r>
              <a:rPr lang="en-US" b="1" i="0" dirty="0">
                <a:solidFill>
                  <a:srgbClr val="374151"/>
                </a:solidFill>
                <a:effectLst/>
                <a:latin typeface="Söhne"/>
              </a:rPr>
              <a:t>Unstructured Interviews:</a:t>
            </a:r>
            <a:endParaRPr lang="en-US" b="0" i="0" dirty="0">
              <a:solidFill>
                <a:srgbClr val="374151"/>
              </a:solidFill>
              <a:effectLst/>
              <a:latin typeface="Söhne"/>
            </a:endParaRPr>
          </a:p>
          <a:p>
            <a:pPr marL="742950" lvl="1" indent="-285750" algn="l">
              <a:buFont typeface="+mj-lt"/>
              <a:buAutoNum type="arabicPeriod"/>
            </a:pPr>
            <a:r>
              <a:rPr lang="en-US" b="0" i="0" dirty="0">
                <a:solidFill>
                  <a:srgbClr val="374151"/>
                </a:solidFill>
                <a:effectLst/>
                <a:latin typeface="Söhne"/>
              </a:rPr>
              <a:t>No predetermined set of questions.</a:t>
            </a:r>
          </a:p>
          <a:p>
            <a:pPr marL="742950" lvl="1" indent="-285750" algn="l">
              <a:buFont typeface="+mj-lt"/>
              <a:buAutoNum type="arabicPeriod"/>
            </a:pPr>
            <a:r>
              <a:rPr lang="en-US" b="0" i="0" dirty="0">
                <a:solidFill>
                  <a:srgbClr val="374151"/>
                </a:solidFill>
                <a:effectLst/>
                <a:latin typeface="Söhne"/>
              </a:rPr>
              <a:t>Emphasizes open-ended dialogue.</a:t>
            </a:r>
          </a:p>
          <a:p>
            <a:pPr marL="742950" lvl="1" indent="-285750" algn="l">
              <a:buFont typeface="+mj-lt"/>
              <a:buAutoNum type="arabicPeriod"/>
            </a:pPr>
            <a:r>
              <a:rPr lang="en-US" b="0" i="0" dirty="0">
                <a:solidFill>
                  <a:srgbClr val="374151"/>
                </a:solidFill>
                <a:effectLst/>
                <a:latin typeface="Söhne"/>
              </a:rPr>
              <a:t>Encourages participants to express themselves freely.</a:t>
            </a:r>
          </a:p>
        </p:txBody>
      </p:sp>
      <p:sp>
        <p:nvSpPr>
          <p:cNvPr id="5" name="TextBox 4">
            <a:extLst>
              <a:ext uri="{FF2B5EF4-FFF2-40B4-BE49-F238E27FC236}">
                <a16:creationId xmlns:a16="http://schemas.microsoft.com/office/drawing/2014/main" id="{58AD5525-6C7D-9230-6EEC-E380F543D0F0}"/>
              </a:ext>
            </a:extLst>
          </p:cNvPr>
          <p:cNvSpPr txBox="1"/>
          <p:nvPr/>
        </p:nvSpPr>
        <p:spPr>
          <a:xfrm>
            <a:off x="318545" y="115143"/>
            <a:ext cx="6093500" cy="707886"/>
          </a:xfrm>
          <a:prstGeom prst="rect">
            <a:avLst/>
          </a:prstGeom>
          <a:noFill/>
        </p:spPr>
        <p:txBody>
          <a:bodyPr wrap="square">
            <a:spAutoFit/>
          </a:bodyPr>
          <a:lstStyle/>
          <a:p>
            <a:r>
              <a:rPr lang="en-US" sz="4000" b="1" i="0" dirty="0">
                <a:solidFill>
                  <a:srgbClr val="0F0F0F"/>
                </a:solidFill>
                <a:effectLst/>
                <a:latin typeface="Söhne"/>
              </a:rPr>
              <a:t>Interview Method:</a:t>
            </a:r>
            <a:endParaRPr lang="en-IN" sz="4000" b="1" dirty="0"/>
          </a:p>
        </p:txBody>
      </p:sp>
    </p:spTree>
    <p:extLst>
      <p:ext uri="{BB962C8B-B14F-4D97-AF65-F5344CB8AC3E}">
        <p14:creationId xmlns:p14="http://schemas.microsoft.com/office/powerpoint/2010/main" val="5429713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C3F1DA-B3F2-3645-65A7-CD8568B640BE}"/>
              </a:ext>
            </a:extLst>
          </p:cNvPr>
          <p:cNvSpPr>
            <a:spLocks noGrp="1"/>
          </p:cNvSpPr>
          <p:nvPr>
            <p:ph idx="1"/>
          </p:nvPr>
        </p:nvSpPr>
        <p:spPr>
          <a:xfrm>
            <a:off x="118672" y="686374"/>
            <a:ext cx="11768528" cy="6553876"/>
          </a:xfrm>
        </p:spPr>
        <p:txBody>
          <a:bodyPr>
            <a:normAutofit/>
          </a:bodyPr>
          <a:lstStyle/>
          <a:p>
            <a:pPr algn="l"/>
            <a:r>
              <a:rPr lang="en-US" b="1" i="0" dirty="0">
                <a:effectLst/>
                <a:latin typeface="Söhne"/>
              </a:rPr>
              <a:t>Steps in Conducting an Interview:</a:t>
            </a:r>
          </a:p>
          <a:p>
            <a:pPr algn="l">
              <a:buFont typeface="+mj-lt"/>
              <a:buAutoNum type="arabicPeriod"/>
            </a:pPr>
            <a:r>
              <a:rPr lang="en-US" b="1" i="0" dirty="0">
                <a:solidFill>
                  <a:srgbClr val="374151"/>
                </a:solidFill>
                <a:effectLst/>
                <a:latin typeface="Söhne"/>
              </a:rPr>
              <a:t>Define Objectives:</a:t>
            </a:r>
            <a:endParaRPr lang="en-US" b="0" i="0" dirty="0">
              <a:solidFill>
                <a:srgbClr val="374151"/>
              </a:solidFill>
              <a:effectLst/>
              <a:latin typeface="Söhne"/>
            </a:endParaRPr>
          </a:p>
          <a:p>
            <a:pPr marL="742950" lvl="1" indent="-285750" algn="l">
              <a:buFont typeface="+mj-lt"/>
              <a:buAutoNum type="arabicPeriod"/>
            </a:pPr>
            <a:r>
              <a:rPr lang="en-US" b="0" i="0" dirty="0">
                <a:solidFill>
                  <a:srgbClr val="374151"/>
                </a:solidFill>
                <a:effectLst/>
                <a:latin typeface="Söhne"/>
              </a:rPr>
              <a:t>Clearly outline the research objectives and the information needed.</a:t>
            </a:r>
          </a:p>
          <a:p>
            <a:pPr algn="l">
              <a:buFont typeface="+mj-lt"/>
              <a:buAutoNum type="arabicPeriod"/>
            </a:pPr>
            <a:r>
              <a:rPr lang="en-US" b="1" i="0" dirty="0">
                <a:solidFill>
                  <a:srgbClr val="374151"/>
                </a:solidFill>
                <a:effectLst/>
                <a:latin typeface="Söhne"/>
              </a:rPr>
              <a:t>Participant Selection:</a:t>
            </a:r>
            <a:endParaRPr lang="en-US" b="0" i="0" dirty="0">
              <a:solidFill>
                <a:srgbClr val="374151"/>
              </a:solidFill>
              <a:effectLst/>
              <a:latin typeface="Söhne"/>
            </a:endParaRPr>
          </a:p>
          <a:p>
            <a:pPr marL="742950" lvl="1" indent="-285750" algn="l">
              <a:buFont typeface="+mj-lt"/>
              <a:buAutoNum type="arabicPeriod"/>
            </a:pPr>
            <a:r>
              <a:rPr lang="en-US" b="0" i="0" dirty="0">
                <a:solidFill>
                  <a:srgbClr val="374151"/>
                </a:solidFill>
                <a:effectLst/>
                <a:latin typeface="Söhne"/>
              </a:rPr>
              <a:t>Identify and recruit participants based on research criteria.</a:t>
            </a:r>
          </a:p>
          <a:p>
            <a:pPr algn="l">
              <a:buFont typeface="+mj-lt"/>
              <a:buAutoNum type="arabicPeriod"/>
            </a:pPr>
            <a:r>
              <a:rPr lang="en-US" b="1" i="0" dirty="0">
                <a:solidFill>
                  <a:srgbClr val="374151"/>
                </a:solidFill>
                <a:effectLst/>
                <a:latin typeface="Söhne"/>
              </a:rPr>
              <a:t>Informed Consent:</a:t>
            </a:r>
            <a:endParaRPr lang="en-US" b="0" i="0" dirty="0">
              <a:solidFill>
                <a:srgbClr val="374151"/>
              </a:solidFill>
              <a:effectLst/>
              <a:latin typeface="Söhne"/>
            </a:endParaRPr>
          </a:p>
          <a:p>
            <a:pPr marL="742950" lvl="1" indent="-285750" algn="l">
              <a:buFont typeface="+mj-lt"/>
              <a:buAutoNum type="arabicPeriod"/>
            </a:pPr>
            <a:r>
              <a:rPr lang="en-US" b="0" i="0" dirty="0">
                <a:solidFill>
                  <a:srgbClr val="374151"/>
                </a:solidFill>
                <a:effectLst/>
                <a:latin typeface="Söhne"/>
              </a:rPr>
              <a:t>Explain the purpose, nature, and potential outcomes of the interview.</a:t>
            </a:r>
          </a:p>
          <a:p>
            <a:pPr marL="742950" lvl="1" indent="-285750" algn="l">
              <a:buFont typeface="+mj-lt"/>
              <a:buAutoNum type="arabicPeriod"/>
            </a:pPr>
            <a:r>
              <a:rPr lang="en-US" b="0" i="0" dirty="0">
                <a:solidFill>
                  <a:srgbClr val="374151"/>
                </a:solidFill>
                <a:effectLst/>
                <a:latin typeface="Söhne"/>
              </a:rPr>
              <a:t>Ensure participants understand and agree to participate.</a:t>
            </a:r>
          </a:p>
          <a:p>
            <a:pPr algn="l">
              <a:buFont typeface="+mj-lt"/>
              <a:buAutoNum type="arabicPeriod"/>
            </a:pPr>
            <a:r>
              <a:rPr lang="en-US" b="1" i="0" dirty="0">
                <a:solidFill>
                  <a:srgbClr val="374151"/>
                </a:solidFill>
                <a:effectLst/>
                <a:latin typeface="Söhne"/>
              </a:rPr>
              <a:t>Develop Interview Guide:</a:t>
            </a:r>
            <a:endParaRPr lang="en-US" b="0" i="0" dirty="0">
              <a:solidFill>
                <a:srgbClr val="374151"/>
              </a:solidFill>
              <a:effectLst/>
              <a:latin typeface="Söhne"/>
            </a:endParaRPr>
          </a:p>
          <a:p>
            <a:pPr marL="742950" lvl="1" indent="-285750" algn="l">
              <a:buFont typeface="+mj-lt"/>
              <a:buAutoNum type="arabicPeriod"/>
            </a:pPr>
            <a:r>
              <a:rPr lang="en-US" b="0" i="0" dirty="0">
                <a:solidFill>
                  <a:srgbClr val="374151"/>
                </a:solidFill>
                <a:effectLst/>
                <a:latin typeface="Söhne"/>
              </a:rPr>
              <a:t>Prepare a list of questions and topics to guide the interview.</a:t>
            </a:r>
          </a:p>
          <a:p>
            <a:pPr marL="742950" lvl="1" indent="-285750" algn="l">
              <a:buFont typeface="+mj-lt"/>
              <a:buAutoNum type="arabicPeriod"/>
            </a:pPr>
            <a:r>
              <a:rPr lang="en-US" b="0" i="0" dirty="0">
                <a:solidFill>
                  <a:srgbClr val="374151"/>
                </a:solidFill>
                <a:effectLst/>
                <a:latin typeface="Söhne"/>
              </a:rPr>
              <a:t>Ensure questions are clear, concise, and unbiased.</a:t>
            </a:r>
          </a:p>
          <a:p>
            <a:pPr algn="l">
              <a:buFont typeface="+mj-lt"/>
              <a:buAutoNum type="arabicPeriod"/>
            </a:pPr>
            <a:r>
              <a:rPr lang="en-US" b="1" i="0" dirty="0">
                <a:solidFill>
                  <a:srgbClr val="374151"/>
                </a:solidFill>
                <a:effectLst/>
                <a:latin typeface="Söhne"/>
              </a:rPr>
              <a:t>Pilot Testing:</a:t>
            </a:r>
            <a:endParaRPr lang="en-US" b="0" i="0" dirty="0">
              <a:solidFill>
                <a:srgbClr val="374151"/>
              </a:solidFill>
              <a:effectLst/>
              <a:latin typeface="Söhne"/>
            </a:endParaRPr>
          </a:p>
          <a:p>
            <a:pPr marL="742950" lvl="1" indent="-285750" algn="l">
              <a:buFont typeface="+mj-lt"/>
              <a:buAutoNum type="arabicPeriod"/>
            </a:pPr>
            <a:r>
              <a:rPr lang="en-US" b="0" i="0" dirty="0">
                <a:solidFill>
                  <a:srgbClr val="374151"/>
                </a:solidFill>
                <a:effectLst/>
                <a:latin typeface="Söhne"/>
              </a:rPr>
              <a:t>Conduct a trial interview with a small group to identify any issues.</a:t>
            </a:r>
          </a:p>
          <a:p>
            <a:pPr marL="742950" lvl="1" indent="-285750" algn="l">
              <a:buFont typeface="+mj-lt"/>
              <a:buAutoNum type="arabicPeriod"/>
            </a:pPr>
            <a:r>
              <a:rPr lang="en-US" b="0" i="0" dirty="0">
                <a:solidFill>
                  <a:srgbClr val="374151"/>
                </a:solidFill>
                <a:effectLst/>
                <a:latin typeface="Söhne"/>
              </a:rPr>
              <a:t>Refine questions based on feedback.</a:t>
            </a:r>
          </a:p>
        </p:txBody>
      </p:sp>
      <p:sp>
        <p:nvSpPr>
          <p:cNvPr id="5" name="TextBox 4">
            <a:extLst>
              <a:ext uri="{FF2B5EF4-FFF2-40B4-BE49-F238E27FC236}">
                <a16:creationId xmlns:a16="http://schemas.microsoft.com/office/drawing/2014/main" id="{58AD5525-6C7D-9230-6EEC-E380F543D0F0}"/>
              </a:ext>
            </a:extLst>
          </p:cNvPr>
          <p:cNvSpPr txBox="1"/>
          <p:nvPr/>
        </p:nvSpPr>
        <p:spPr>
          <a:xfrm>
            <a:off x="318545" y="115143"/>
            <a:ext cx="6093500" cy="707886"/>
          </a:xfrm>
          <a:prstGeom prst="rect">
            <a:avLst/>
          </a:prstGeom>
          <a:noFill/>
        </p:spPr>
        <p:txBody>
          <a:bodyPr wrap="square">
            <a:spAutoFit/>
          </a:bodyPr>
          <a:lstStyle/>
          <a:p>
            <a:r>
              <a:rPr lang="en-US" sz="4000" b="1" i="0" dirty="0">
                <a:solidFill>
                  <a:srgbClr val="0F0F0F"/>
                </a:solidFill>
                <a:effectLst/>
                <a:latin typeface="Söhne"/>
              </a:rPr>
              <a:t>Interview Method:</a:t>
            </a:r>
            <a:endParaRPr lang="en-IN" sz="4000" b="1" dirty="0"/>
          </a:p>
        </p:txBody>
      </p:sp>
    </p:spTree>
    <p:extLst>
      <p:ext uri="{BB962C8B-B14F-4D97-AF65-F5344CB8AC3E}">
        <p14:creationId xmlns:p14="http://schemas.microsoft.com/office/powerpoint/2010/main" val="9895908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C3F1DA-B3F2-3645-65A7-CD8568B640BE}"/>
              </a:ext>
            </a:extLst>
          </p:cNvPr>
          <p:cNvSpPr>
            <a:spLocks noGrp="1"/>
          </p:cNvSpPr>
          <p:nvPr>
            <p:ph idx="1"/>
          </p:nvPr>
        </p:nvSpPr>
        <p:spPr>
          <a:xfrm>
            <a:off x="118672" y="821284"/>
            <a:ext cx="11768528" cy="6553876"/>
          </a:xfrm>
        </p:spPr>
        <p:txBody>
          <a:bodyPr>
            <a:normAutofit/>
          </a:bodyPr>
          <a:lstStyle/>
          <a:p>
            <a:pPr marL="0" indent="0" algn="l">
              <a:buNone/>
            </a:pPr>
            <a:r>
              <a:rPr lang="en-US" b="1" i="0" dirty="0">
                <a:solidFill>
                  <a:srgbClr val="374151"/>
                </a:solidFill>
                <a:effectLst/>
                <a:latin typeface="Söhne"/>
              </a:rPr>
              <a:t>6.Conduct the Interview:</a:t>
            </a:r>
            <a:endParaRPr lang="en-US" b="0" i="0" dirty="0">
              <a:solidFill>
                <a:srgbClr val="374151"/>
              </a:solidFill>
              <a:effectLst/>
              <a:latin typeface="Söhne"/>
            </a:endParaRPr>
          </a:p>
          <a:p>
            <a:pPr marL="742950" lvl="1" indent="-285750" algn="l">
              <a:buFont typeface="+mj-lt"/>
              <a:buAutoNum type="arabicPeriod"/>
            </a:pPr>
            <a:r>
              <a:rPr lang="en-US" b="0" i="0" dirty="0">
                <a:solidFill>
                  <a:srgbClr val="374151"/>
                </a:solidFill>
                <a:effectLst/>
                <a:latin typeface="Söhne"/>
              </a:rPr>
              <a:t>Establish rapport with the participant.</a:t>
            </a:r>
          </a:p>
          <a:p>
            <a:pPr marL="742950" lvl="1" indent="-285750" algn="l">
              <a:buFont typeface="+mj-lt"/>
              <a:buAutoNum type="arabicPeriod"/>
            </a:pPr>
            <a:r>
              <a:rPr lang="en-US" b="0" i="0" dirty="0">
                <a:solidFill>
                  <a:srgbClr val="374151"/>
                </a:solidFill>
                <a:effectLst/>
                <a:latin typeface="Söhne"/>
              </a:rPr>
              <a:t>Follow the interview guide but allow for flexibility.</a:t>
            </a:r>
          </a:p>
          <a:p>
            <a:pPr marL="742950" lvl="1" indent="-285750" algn="l">
              <a:buFont typeface="+mj-lt"/>
              <a:buAutoNum type="arabicPeriod"/>
            </a:pPr>
            <a:r>
              <a:rPr lang="en-US" b="0" i="0" dirty="0">
                <a:solidFill>
                  <a:srgbClr val="374151"/>
                </a:solidFill>
                <a:effectLst/>
                <a:latin typeface="Söhne"/>
              </a:rPr>
              <a:t>Encourage open communication.</a:t>
            </a:r>
          </a:p>
          <a:p>
            <a:pPr marL="0" indent="0" algn="l">
              <a:buNone/>
            </a:pPr>
            <a:r>
              <a:rPr lang="en-US" b="1" i="0" dirty="0">
                <a:solidFill>
                  <a:srgbClr val="374151"/>
                </a:solidFill>
                <a:effectLst/>
                <a:latin typeface="Söhne"/>
              </a:rPr>
              <a:t>7.Record Data:</a:t>
            </a:r>
            <a:endParaRPr lang="en-US" b="0" i="0" dirty="0">
              <a:solidFill>
                <a:srgbClr val="374151"/>
              </a:solidFill>
              <a:effectLst/>
              <a:latin typeface="Söhne"/>
            </a:endParaRPr>
          </a:p>
          <a:p>
            <a:pPr marL="742950" lvl="1" indent="-285750" algn="l">
              <a:buFont typeface="+mj-lt"/>
              <a:buAutoNum type="arabicPeriod"/>
            </a:pPr>
            <a:r>
              <a:rPr lang="en-US" b="0" i="0" dirty="0">
                <a:solidFill>
                  <a:srgbClr val="374151"/>
                </a:solidFill>
                <a:effectLst/>
                <a:latin typeface="Söhne"/>
              </a:rPr>
              <a:t>Take detailed notes during the interview.</a:t>
            </a:r>
          </a:p>
          <a:p>
            <a:pPr marL="742950" lvl="1" indent="-285750" algn="l">
              <a:buFont typeface="+mj-lt"/>
              <a:buAutoNum type="arabicPeriod"/>
            </a:pPr>
            <a:r>
              <a:rPr lang="en-US" b="0" i="0" dirty="0">
                <a:solidFill>
                  <a:srgbClr val="374151"/>
                </a:solidFill>
                <a:effectLst/>
                <a:latin typeface="Söhne"/>
              </a:rPr>
              <a:t>Use audio or video recording with participant consent.</a:t>
            </a:r>
          </a:p>
          <a:p>
            <a:pPr marL="0" indent="0" algn="l">
              <a:buNone/>
            </a:pPr>
            <a:r>
              <a:rPr lang="en-US" b="1" i="0" dirty="0">
                <a:solidFill>
                  <a:srgbClr val="374151"/>
                </a:solidFill>
                <a:effectLst/>
                <a:latin typeface="Söhne"/>
              </a:rPr>
              <a:t>8.Transcribe and Analyze:</a:t>
            </a:r>
            <a:endParaRPr lang="en-US" b="0" i="0" dirty="0">
              <a:solidFill>
                <a:srgbClr val="374151"/>
              </a:solidFill>
              <a:effectLst/>
              <a:latin typeface="Söhne"/>
            </a:endParaRPr>
          </a:p>
          <a:p>
            <a:pPr marL="742950" lvl="1" indent="-285750" algn="l">
              <a:buFont typeface="+mj-lt"/>
              <a:buAutoNum type="arabicPeriod"/>
            </a:pPr>
            <a:r>
              <a:rPr lang="en-US" b="0" i="0" dirty="0">
                <a:solidFill>
                  <a:srgbClr val="374151"/>
                </a:solidFill>
                <a:effectLst/>
                <a:latin typeface="Söhne"/>
              </a:rPr>
              <a:t>Transcribe the interview if it was recorded.</a:t>
            </a:r>
          </a:p>
          <a:p>
            <a:pPr marL="742950" lvl="1" indent="-285750" algn="l">
              <a:buFont typeface="+mj-lt"/>
              <a:buAutoNum type="arabicPeriod"/>
            </a:pPr>
            <a:r>
              <a:rPr lang="en-US" b="0" i="0" dirty="0">
                <a:solidFill>
                  <a:srgbClr val="374151"/>
                </a:solidFill>
                <a:effectLst/>
                <a:latin typeface="Söhne"/>
              </a:rPr>
              <a:t>Analyze the data for patterns, themes, and insights.</a:t>
            </a:r>
          </a:p>
          <a:p>
            <a:pPr marL="0" indent="0" algn="l">
              <a:buNone/>
            </a:pPr>
            <a:r>
              <a:rPr lang="en-US" b="1" i="0" dirty="0">
                <a:solidFill>
                  <a:srgbClr val="374151"/>
                </a:solidFill>
                <a:effectLst/>
                <a:latin typeface="Söhne"/>
              </a:rPr>
              <a:t>9.Ensure Confidentiality:</a:t>
            </a:r>
            <a:endParaRPr lang="en-US" b="0" i="0" dirty="0">
              <a:solidFill>
                <a:srgbClr val="374151"/>
              </a:solidFill>
              <a:effectLst/>
              <a:latin typeface="Söhne"/>
            </a:endParaRPr>
          </a:p>
          <a:p>
            <a:pPr marL="742950" lvl="1" indent="-285750" algn="l">
              <a:buFont typeface="+mj-lt"/>
              <a:buAutoNum type="arabicPeriod"/>
            </a:pPr>
            <a:r>
              <a:rPr lang="en-US" b="0" i="0" dirty="0">
                <a:solidFill>
                  <a:srgbClr val="374151"/>
                </a:solidFill>
                <a:effectLst/>
                <a:latin typeface="Söhne"/>
              </a:rPr>
              <a:t>Protect participants' identities and sensitive information.</a:t>
            </a:r>
          </a:p>
          <a:p>
            <a:pPr marL="0" indent="0" algn="l">
              <a:buNone/>
            </a:pPr>
            <a:r>
              <a:rPr lang="en-US" b="1" i="0" dirty="0">
                <a:solidFill>
                  <a:srgbClr val="374151"/>
                </a:solidFill>
                <a:effectLst/>
                <a:latin typeface="Söhne"/>
              </a:rPr>
              <a:t>10.Member Checking:</a:t>
            </a:r>
            <a:endParaRPr lang="en-US" b="0" i="0" dirty="0">
              <a:solidFill>
                <a:srgbClr val="374151"/>
              </a:solidFill>
              <a:effectLst/>
              <a:latin typeface="Söhne"/>
            </a:endParaRPr>
          </a:p>
          <a:p>
            <a:pPr marL="742950" lvl="1" indent="-285750" algn="l">
              <a:buFont typeface="+mj-lt"/>
              <a:buAutoNum type="arabicPeriod"/>
            </a:pPr>
            <a:r>
              <a:rPr lang="en-US" b="0" i="0" dirty="0">
                <a:solidFill>
                  <a:srgbClr val="374151"/>
                </a:solidFill>
                <a:effectLst/>
                <a:latin typeface="Söhne"/>
              </a:rPr>
              <a:t>Share findings with participants to verify accuracy and interpretations.</a:t>
            </a:r>
          </a:p>
        </p:txBody>
      </p:sp>
      <p:sp>
        <p:nvSpPr>
          <p:cNvPr id="5" name="TextBox 4">
            <a:extLst>
              <a:ext uri="{FF2B5EF4-FFF2-40B4-BE49-F238E27FC236}">
                <a16:creationId xmlns:a16="http://schemas.microsoft.com/office/drawing/2014/main" id="{58AD5525-6C7D-9230-6EEC-E380F543D0F0}"/>
              </a:ext>
            </a:extLst>
          </p:cNvPr>
          <p:cNvSpPr txBox="1"/>
          <p:nvPr/>
        </p:nvSpPr>
        <p:spPr>
          <a:xfrm>
            <a:off x="318545" y="115143"/>
            <a:ext cx="6093500" cy="707886"/>
          </a:xfrm>
          <a:prstGeom prst="rect">
            <a:avLst/>
          </a:prstGeom>
          <a:noFill/>
        </p:spPr>
        <p:txBody>
          <a:bodyPr wrap="square">
            <a:spAutoFit/>
          </a:bodyPr>
          <a:lstStyle/>
          <a:p>
            <a:r>
              <a:rPr lang="en-US" sz="4000" b="1" i="0" dirty="0">
                <a:solidFill>
                  <a:srgbClr val="0F0F0F"/>
                </a:solidFill>
                <a:effectLst/>
                <a:latin typeface="Söhne"/>
              </a:rPr>
              <a:t>Interview Method:</a:t>
            </a:r>
            <a:endParaRPr lang="en-IN" sz="4000" b="1" dirty="0"/>
          </a:p>
        </p:txBody>
      </p:sp>
    </p:spTree>
    <p:extLst>
      <p:ext uri="{BB962C8B-B14F-4D97-AF65-F5344CB8AC3E}">
        <p14:creationId xmlns:p14="http://schemas.microsoft.com/office/powerpoint/2010/main" val="8517602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C3F1DA-B3F2-3645-65A7-CD8568B640BE}"/>
              </a:ext>
            </a:extLst>
          </p:cNvPr>
          <p:cNvSpPr>
            <a:spLocks noGrp="1"/>
          </p:cNvSpPr>
          <p:nvPr>
            <p:ph idx="1"/>
          </p:nvPr>
        </p:nvSpPr>
        <p:spPr>
          <a:xfrm>
            <a:off x="118672" y="341602"/>
            <a:ext cx="12073328" cy="6553876"/>
          </a:xfrm>
        </p:spPr>
        <p:txBody>
          <a:bodyPr>
            <a:normAutofit/>
          </a:bodyPr>
          <a:lstStyle/>
          <a:p>
            <a:pPr marL="0" indent="0" algn="l">
              <a:buNone/>
            </a:pPr>
            <a:r>
              <a:rPr lang="en-US" b="1" i="0" dirty="0">
                <a:effectLst/>
                <a:latin typeface="Söhne"/>
              </a:rPr>
              <a:t>Advantages of the Interview Method:</a:t>
            </a:r>
          </a:p>
          <a:p>
            <a:pPr algn="l">
              <a:buFont typeface="Arial" panose="020B0604020202020204" pitchFamily="34" charset="0"/>
              <a:buChar char="•"/>
            </a:pPr>
            <a:r>
              <a:rPr lang="en-US" b="1" i="0" dirty="0">
                <a:solidFill>
                  <a:srgbClr val="374151"/>
                </a:solidFill>
                <a:effectLst/>
                <a:latin typeface="Söhne"/>
              </a:rPr>
              <a:t>Rich Data:</a:t>
            </a:r>
            <a:r>
              <a:rPr lang="en-US" b="0" i="0" dirty="0">
                <a:solidFill>
                  <a:srgbClr val="374151"/>
                </a:solidFill>
                <a:effectLst/>
                <a:latin typeface="Söhne"/>
              </a:rPr>
              <a:t> Allows for in-depth exploration of thoughts, experiences, and perceptions.</a:t>
            </a:r>
          </a:p>
          <a:p>
            <a:pPr algn="l">
              <a:buFont typeface="Arial" panose="020B0604020202020204" pitchFamily="34" charset="0"/>
              <a:buChar char="•"/>
            </a:pPr>
            <a:r>
              <a:rPr lang="en-US" b="1" i="0" dirty="0">
                <a:solidFill>
                  <a:srgbClr val="374151"/>
                </a:solidFill>
                <a:effectLst/>
                <a:latin typeface="Söhne"/>
              </a:rPr>
              <a:t>Flexibility:</a:t>
            </a:r>
            <a:r>
              <a:rPr lang="en-US" b="0" i="0" dirty="0">
                <a:solidFill>
                  <a:srgbClr val="374151"/>
                </a:solidFill>
                <a:effectLst/>
                <a:latin typeface="Söhne"/>
              </a:rPr>
              <a:t> Can adapt to the participant's responses.</a:t>
            </a:r>
          </a:p>
          <a:p>
            <a:pPr algn="l">
              <a:buFont typeface="Arial" panose="020B0604020202020204" pitchFamily="34" charset="0"/>
              <a:buChar char="•"/>
            </a:pPr>
            <a:r>
              <a:rPr lang="en-US" b="1" i="0" dirty="0">
                <a:solidFill>
                  <a:srgbClr val="374151"/>
                </a:solidFill>
                <a:effectLst/>
                <a:latin typeface="Söhne"/>
              </a:rPr>
              <a:t>Clarification:</a:t>
            </a:r>
            <a:r>
              <a:rPr lang="en-US" b="0" i="0" dirty="0">
                <a:solidFill>
                  <a:srgbClr val="374151"/>
                </a:solidFill>
                <a:effectLst/>
                <a:latin typeface="Söhne"/>
              </a:rPr>
              <a:t> Enables the researcher to seek clarification on ambiguous responses.</a:t>
            </a:r>
          </a:p>
          <a:p>
            <a:pPr algn="l">
              <a:buFont typeface="Arial" panose="020B0604020202020204" pitchFamily="34" charset="0"/>
              <a:buChar char="•"/>
            </a:pPr>
            <a:r>
              <a:rPr lang="en-US" b="1" i="0" dirty="0">
                <a:solidFill>
                  <a:srgbClr val="374151"/>
                </a:solidFill>
                <a:effectLst/>
                <a:latin typeface="Söhne"/>
              </a:rPr>
              <a:t>Insights into Emotions:</a:t>
            </a:r>
            <a:r>
              <a:rPr lang="en-US" b="0" i="0" dirty="0">
                <a:solidFill>
                  <a:srgbClr val="374151"/>
                </a:solidFill>
                <a:effectLst/>
                <a:latin typeface="Söhne"/>
              </a:rPr>
              <a:t> Captures emotional nuances not possible with surveys.</a:t>
            </a:r>
          </a:p>
          <a:p>
            <a:pPr marL="0" indent="0" algn="l">
              <a:buNone/>
            </a:pPr>
            <a:r>
              <a:rPr lang="en-US" b="1" i="0" dirty="0">
                <a:effectLst/>
                <a:latin typeface="Söhne"/>
              </a:rPr>
              <a:t>Challenges:</a:t>
            </a:r>
          </a:p>
          <a:p>
            <a:pPr algn="l">
              <a:buFont typeface="Arial" panose="020B0604020202020204" pitchFamily="34" charset="0"/>
              <a:buChar char="•"/>
            </a:pPr>
            <a:r>
              <a:rPr lang="en-US" b="1" i="0" dirty="0">
                <a:solidFill>
                  <a:srgbClr val="374151"/>
                </a:solidFill>
                <a:effectLst/>
                <a:latin typeface="Söhne"/>
              </a:rPr>
              <a:t>Time-Consuming:</a:t>
            </a:r>
            <a:r>
              <a:rPr lang="en-US" b="0" i="0" dirty="0">
                <a:solidFill>
                  <a:srgbClr val="374151"/>
                </a:solidFill>
                <a:effectLst/>
                <a:latin typeface="Söhne"/>
              </a:rPr>
              <a:t> Interviews can be time-intensive for both participants and researchers.</a:t>
            </a:r>
          </a:p>
          <a:p>
            <a:pPr algn="l">
              <a:buFont typeface="Arial" panose="020B0604020202020204" pitchFamily="34" charset="0"/>
              <a:buChar char="•"/>
            </a:pPr>
            <a:r>
              <a:rPr lang="en-US" b="1" i="0" dirty="0">
                <a:solidFill>
                  <a:srgbClr val="374151"/>
                </a:solidFill>
                <a:effectLst/>
                <a:latin typeface="Söhne"/>
              </a:rPr>
              <a:t>Subjectivity:</a:t>
            </a:r>
            <a:r>
              <a:rPr lang="en-US" b="0" i="0" dirty="0">
                <a:solidFill>
                  <a:srgbClr val="374151"/>
                </a:solidFill>
                <a:effectLst/>
                <a:latin typeface="Söhne"/>
              </a:rPr>
              <a:t> Interpretation of responses may vary.</a:t>
            </a:r>
          </a:p>
          <a:p>
            <a:pPr algn="l">
              <a:buFont typeface="Arial" panose="020B0604020202020204" pitchFamily="34" charset="0"/>
              <a:buChar char="•"/>
            </a:pPr>
            <a:r>
              <a:rPr lang="en-US" b="1" i="0" dirty="0">
                <a:solidFill>
                  <a:srgbClr val="374151"/>
                </a:solidFill>
                <a:effectLst/>
                <a:latin typeface="Söhne"/>
              </a:rPr>
              <a:t>Interviewer Bias:</a:t>
            </a:r>
            <a:r>
              <a:rPr lang="en-US" b="0" i="0" dirty="0">
                <a:solidFill>
                  <a:srgbClr val="374151"/>
                </a:solidFill>
                <a:effectLst/>
                <a:latin typeface="Söhne"/>
              </a:rPr>
              <a:t> The interviewer's influence can impact the participant's responses.</a:t>
            </a:r>
          </a:p>
          <a:p>
            <a:endParaRPr lang="en-IN" dirty="0"/>
          </a:p>
        </p:txBody>
      </p:sp>
    </p:spTree>
    <p:extLst>
      <p:ext uri="{BB962C8B-B14F-4D97-AF65-F5344CB8AC3E}">
        <p14:creationId xmlns:p14="http://schemas.microsoft.com/office/powerpoint/2010/main" val="2823250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12B40-AA75-7C70-BB04-F6D44B908994}"/>
              </a:ext>
            </a:extLst>
          </p:cNvPr>
          <p:cNvSpPr>
            <a:spLocks noGrp="1"/>
          </p:cNvSpPr>
          <p:nvPr>
            <p:ph type="title"/>
          </p:nvPr>
        </p:nvSpPr>
        <p:spPr>
          <a:xfrm>
            <a:off x="58712" y="-324421"/>
            <a:ext cx="10515600" cy="1325563"/>
          </a:xfrm>
        </p:spPr>
        <p:txBody>
          <a:bodyPr/>
          <a:lstStyle/>
          <a:p>
            <a:r>
              <a:rPr lang="en-US" b="1" i="0" dirty="0">
                <a:solidFill>
                  <a:srgbClr val="0F0F0F"/>
                </a:solidFill>
                <a:effectLst/>
                <a:latin typeface="Söhne"/>
              </a:rPr>
              <a:t>Collection of Data through Questionnaires:</a:t>
            </a:r>
            <a:endParaRPr lang="en-IN" b="1" dirty="0"/>
          </a:p>
        </p:txBody>
      </p:sp>
      <p:sp>
        <p:nvSpPr>
          <p:cNvPr id="3" name="Content Placeholder 2">
            <a:extLst>
              <a:ext uri="{FF2B5EF4-FFF2-40B4-BE49-F238E27FC236}">
                <a16:creationId xmlns:a16="http://schemas.microsoft.com/office/drawing/2014/main" id="{E486F541-8BF2-135E-AC07-65DA8668685E}"/>
              </a:ext>
            </a:extLst>
          </p:cNvPr>
          <p:cNvSpPr>
            <a:spLocks noGrp="1"/>
          </p:cNvSpPr>
          <p:nvPr>
            <p:ph idx="1"/>
          </p:nvPr>
        </p:nvSpPr>
        <p:spPr>
          <a:xfrm>
            <a:off x="148654" y="566452"/>
            <a:ext cx="11984634" cy="6433955"/>
          </a:xfrm>
        </p:spPr>
        <p:txBody>
          <a:bodyPr>
            <a:normAutofit fontScale="85000" lnSpcReduction="20000"/>
          </a:bodyPr>
          <a:lstStyle/>
          <a:p>
            <a:pPr marL="0" indent="0" algn="just">
              <a:buNone/>
            </a:pPr>
            <a:r>
              <a:rPr lang="en-US" b="0" i="0" dirty="0">
                <a:solidFill>
                  <a:srgbClr val="374151"/>
                </a:solidFill>
                <a:effectLst/>
                <a:latin typeface="Söhne"/>
              </a:rPr>
              <a:t>	Collecting data through questionnaires is a popular method in both quantitative and qualitative research. Questionnaires are structured sets of questions designed to gather information from respondents. Here's an overview of the process of collecting data through questionnaires:</a:t>
            </a:r>
          </a:p>
          <a:p>
            <a:pPr algn="l"/>
            <a:r>
              <a:rPr lang="en-US" b="1" i="0" dirty="0">
                <a:effectLst/>
                <a:latin typeface="Söhne"/>
              </a:rPr>
              <a:t>Steps in Collecting Data through Questionnaires:</a:t>
            </a:r>
          </a:p>
          <a:p>
            <a:pPr algn="l">
              <a:buFont typeface="+mj-lt"/>
              <a:buAutoNum type="arabicPeriod"/>
            </a:pPr>
            <a:r>
              <a:rPr lang="en-US" b="1" i="0" dirty="0">
                <a:solidFill>
                  <a:srgbClr val="374151"/>
                </a:solidFill>
                <a:effectLst/>
                <a:latin typeface="Söhne"/>
              </a:rPr>
              <a:t>Define Objectives:</a:t>
            </a:r>
            <a:endParaRPr lang="en-US" b="0" i="0" dirty="0">
              <a:solidFill>
                <a:srgbClr val="374151"/>
              </a:solidFill>
              <a:effectLst/>
              <a:latin typeface="Söhne"/>
            </a:endParaRPr>
          </a:p>
          <a:p>
            <a:pPr marL="742950" lvl="1" indent="-285750" algn="l">
              <a:buFont typeface="+mj-lt"/>
              <a:buAutoNum type="arabicPeriod"/>
            </a:pPr>
            <a:r>
              <a:rPr lang="en-US" b="0" i="0" dirty="0">
                <a:solidFill>
                  <a:srgbClr val="374151"/>
                </a:solidFill>
                <a:effectLst/>
                <a:latin typeface="Söhne"/>
              </a:rPr>
              <a:t>Clearly outline the research goals and the specific information you want to gather.</a:t>
            </a:r>
          </a:p>
          <a:p>
            <a:pPr algn="l">
              <a:buFont typeface="+mj-lt"/>
              <a:buAutoNum type="arabicPeriod"/>
            </a:pPr>
            <a:r>
              <a:rPr lang="en-US" b="1" i="0" dirty="0">
                <a:solidFill>
                  <a:srgbClr val="374151"/>
                </a:solidFill>
                <a:effectLst/>
                <a:latin typeface="Söhne"/>
              </a:rPr>
              <a:t>Identify Target Population:</a:t>
            </a:r>
            <a:endParaRPr lang="en-US" b="0" i="0" dirty="0">
              <a:solidFill>
                <a:srgbClr val="374151"/>
              </a:solidFill>
              <a:effectLst/>
              <a:latin typeface="Söhne"/>
            </a:endParaRPr>
          </a:p>
          <a:p>
            <a:pPr marL="742950" lvl="1" indent="-285750" algn="l">
              <a:buFont typeface="+mj-lt"/>
              <a:buAutoNum type="arabicPeriod"/>
            </a:pPr>
            <a:r>
              <a:rPr lang="en-US" b="0" i="0" dirty="0">
                <a:solidFill>
                  <a:srgbClr val="374151"/>
                </a:solidFill>
                <a:effectLst/>
                <a:latin typeface="Söhne"/>
              </a:rPr>
              <a:t>Determine the group of people who will be the focus of the study.</a:t>
            </a:r>
          </a:p>
          <a:p>
            <a:pPr algn="l">
              <a:buFont typeface="+mj-lt"/>
              <a:buAutoNum type="arabicPeriod"/>
            </a:pPr>
            <a:r>
              <a:rPr lang="en-US" b="1" i="0" dirty="0">
                <a:solidFill>
                  <a:srgbClr val="374151"/>
                </a:solidFill>
                <a:effectLst/>
                <a:latin typeface="Söhne"/>
              </a:rPr>
              <a:t>Design the Questionnaire:</a:t>
            </a:r>
            <a:endParaRPr lang="en-US" b="0" i="0" dirty="0">
              <a:solidFill>
                <a:srgbClr val="374151"/>
              </a:solidFill>
              <a:effectLst/>
              <a:latin typeface="Söhne"/>
            </a:endParaRPr>
          </a:p>
          <a:p>
            <a:pPr marL="742950" lvl="1" indent="-285750" algn="l">
              <a:buFont typeface="+mj-lt"/>
              <a:buAutoNum type="arabicPeriod"/>
            </a:pPr>
            <a:r>
              <a:rPr lang="en-US" b="0" i="0" dirty="0">
                <a:solidFill>
                  <a:srgbClr val="374151"/>
                </a:solidFill>
                <a:effectLst/>
                <a:latin typeface="Söhne"/>
              </a:rPr>
              <a:t>Create clear, concise, and unbiased questions.</a:t>
            </a:r>
          </a:p>
          <a:p>
            <a:pPr marL="742950" lvl="1" indent="-285750" algn="l">
              <a:buFont typeface="+mj-lt"/>
              <a:buAutoNum type="arabicPeriod"/>
            </a:pPr>
            <a:r>
              <a:rPr lang="en-US" b="0" i="0" dirty="0">
                <a:solidFill>
                  <a:srgbClr val="374151"/>
                </a:solidFill>
                <a:effectLst/>
                <a:latin typeface="Söhne"/>
              </a:rPr>
              <a:t>Decide on the format (open-ended, closed-ended, or a combination).</a:t>
            </a:r>
          </a:p>
          <a:p>
            <a:pPr marL="742950" lvl="1" indent="-285750" algn="l">
              <a:buFont typeface="+mj-lt"/>
              <a:buAutoNum type="arabicPeriod"/>
            </a:pPr>
            <a:r>
              <a:rPr lang="en-US" b="0" i="0" dirty="0">
                <a:solidFill>
                  <a:srgbClr val="374151"/>
                </a:solidFill>
                <a:effectLst/>
                <a:latin typeface="Söhne"/>
              </a:rPr>
              <a:t>Arrange questions logically.</a:t>
            </a:r>
          </a:p>
          <a:p>
            <a:pPr marL="742950" lvl="1" indent="-285750" algn="l">
              <a:buFont typeface="+mj-lt"/>
              <a:buAutoNum type="arabicPeriod"/>
            </a:pPr>
            <a:r>
              <a:rPr lang="en-US" b="0" i="0" dirty="0">
                <a:solidFill>
                  <a:srgbClr val="374151"/>
                </a:solidFill>
                <a:effectLst/>
                <a:latin typeface="Söhne"/>
              </a:rPr>
              <a:t>Pilot test the questionnaire with a small group to identify any issues.</a:t>
            </a:r>
          </a:p>
          <a:p>
            <a:pPr algn="l">
              <a:buFont typeface="+mj-lt"/>
              <a:buAutoNum type="arabicPeriod"/>
            </a:pPr>
            <a:r>
              <a:rPr lang="en-US" b="1" i="0" dirty="0">
                <a:solidFill>
                  <a:srgbClr val="374151"/>
                </a:solidFill>
                <a:effectLst/>
                <a:latin typeface="Söhne"/>
              </a:rPr>
              <a:t>Select Data Collection Method:</a:t>
            </a:r>
            <a:endParaRPr lang="en-US" b="0" i="0" dirty="0">
              <a:solidFill>
                <a:srgbClr val="374151"/>
              </a:solidFill>
              <a:effectLst/>
              <a:latin typeface="Söhne"/>
            </a:endParaRPr>
          </a:p>
          <a:p>
            <a:pPr marL="742950" lvl="1" indent="-285750" algn="l">
              <a:buFont typeface="+mj-lt"/>
              <a:buAutoNum type="arabicPeriod"/>
            </a:pPr>
            <a:r>
              <a:rPr lang="en-US" b="0" i="0" dirty="0">
                <a:solidFill>
                  <a:srgbClr val="374151"/>
                </a:solidFill>
                <a:effectLst/>
                <a:latin typeface="Söhne"/>
              </a:rPr>
              <a:t>Choose how you will distribute the questionnaires (mail, online, in-person, etc.).</a:t>
            </a:r>
          </a:p>
          <a:p>
            <a:pPr marL="742950" lvl="1" indent="-285750" algn="l">
              <a:buFont typeface="+mj-lt"/>
              <a:buAutoNum type="arabicPeriod"/>
            </a:pPr>
            <a:r>
              <a:rPr lang="en-US" b="0" i="0" dirty="0">
                <a:solidFill>
                  <a:srgbClr val="374151"/>
                </a:solidFill>
                <a:effectLst/>
                <a:latin typeface="Söhne"/>
              </a:rPr>
              <a:t>Consider the pros and cons of each method in relation to your research objectives.</a:t>
            </a:r>
          </a:p>
          <a:p>
            <a:pPr algn="l">
              <a:buFont typeface="+mj-lt"/>
              <a:buAutoNum type="arabicPeriod"/>
            </a:pPr>
            <a:r>
              <a:rPr lang="en-US" b="1" i="0" dirty="0">
                <a:solidFill>
                  <a:srgbClr val="374151"/>
                </a:solidFill>
                <a:effectLst/>
                <a:latin typeface="Söhne"/>
              </a:rPr>
              <a:t>Obtain Ethical Approval:</a:t>
            </a:r>
            <a:endParaRPr lang="en-US" b="0" i="0" dirty="0">
              <a:solidFill>
                <a:srgbClr val="374151"/>
              </a:solidFill>
              <a:effectLst/>
              <a:latin typeface="Söhne"/>
            </a:endParaRPr>
          </a:p>
          <a:p>
            <a:pPr marL="742950" lvl="1" indent="-285750" algn="l">
              <a:buFont typeface="+mj-lt"/>
              <a:buAutoNum type="arabicPeriod"/>
            </a:pPr>
            <a:r>
              <a:rPr lang="en-US" b="0" i="0" dirty="0">
                <a:solidFill>
                  <a:srgbClr val="374151"/>
                </a:solidFill>
                <a:effectLst/>
                <a:latin typeface="Söhne"/>
              </a:rPr>
              <a:t>Ensure that your questionnaire and data collection methods adhere to ethical guidelines.</a:t>
            </a:r>
          </a:p>
          <a:p>
            <a:pPr marL="742950" lvl="1" indent="-285750" algn="l">
              <a:buFont typeface="+mj-lt"/>
              <a:buAutoNum type="arabicPeriod"/>
            </a:pPr>
            <a:r>
              <a:rPr lang="en-US" b="0" i="0" dirty="0">
                <a:solidFill>
                  <a:srgbClr val="374151"/>
                </a:solidFill>
                <a:effectLst/>
                <a:latin typeface="Söhne"/>
              </a:rPr>
              <a:t>Obtain approval from relevant ethics committees, if required.</a:t>
            </a:r>
          </a:p>
        </p:txBody>
      </p:sp>
    </p:spTree>
    <p:extLst>
      <p:ext uri="{BB962C8B-B14F-4D97-AF65-F5344CB8AC3E}">
        <p14:creationId xmlns:p14="http://schemas.microsoft.com/office/powerpoint/2010/main" val="1459308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12B40-AA75-7C70-BB04-F6D44B908994}"/>
              </a:ext>
            </a:extLst>
          </p:cNvPr>
          <p:cNvSpPr>
            <a:spLocks noGrp="1"/>
          </p:cNvSpPr>
          <p:nvPr>
            <p:ph type="title"/>
          </p:nvPr>
        </p:nvSpPr>
        <p:spPr>
          <a:xfrm>
            <a:off x="58712" y="-324421"/>
            <a:ext cx="10515600" cy="1325563"/>
          </a:xfrm>
        </p:spPr>
        <p:txBody>
          <a:bodyPr/>
          <a:lstStyle/>
          <a:p>
            <a:r>
              <a:rPr lang="en-US" b="1" i="0" dirty="0">
                <a:solidFill>
                  <a:srgbClr val="0F0F0F"/>
                </a:solidFill>
                <a:effectLst/>
                <a:latin typeface="Söhne"/>
              </a:rPr>
              <a:t>Collection of Data through Questionnaires:</a:t>
            </a:r>
            <a:endParaRPr lang="en-IN" b="1" dirty="0"/>
          </a:p>
        </p:txBody>
      </p:sp>
      <p:sp>
        <p:nvSpPr>
          <p:cNvPr id="3" name="Content Placeholder 2">
            <a:extLst>
              <a:ext uri="{FF2B5EF4-FFF2-40B4-BE49-F238E27FC236}">
                <a16:creationId xmlns:a16="http://schemas.microsoft.com/office/drawing/2014/main" id="{E486F541-8BF2-135E-AC07-65DA8668685E}"/>
              </a:ext>
            </a:extLst>
          </p:cNvPr>
          <p:cNvSpPr>
            <a:spLocks noGrp="1"/>
          </p:cNvSpPr>
          <p:nvPr>
            <p:ph idx="1"/>
          </p:nvPr>
        </p:nvSpPr>
        <p:spPr>
          <a:xfrm>
            <a:off x="148654" y="756952"/>
            <a:ext cx="11984634" cy="6179121"/>
          </a:xfrm>
        </p:spPr>
        <p:txBody>
          <a:bodyPr>
            <a:normAutofit fontScale="92500" lnSpcReduction="20000"/>
          </a:bodyPr>
          <a:lstStyle/>
          <a:p>
            <a:pPr marL="0" indent="0" algn="just">
              <a:buNone/>
            </a:pPr>
            <a:r>
              <a:rPr lang="en-US" b="1" i="0" dirty="0">
                <a:solidFill>
                  <a:srgbClr val="374151"/>
                </a:solidFill>
                <a:effectLst/>
                <a:latin typeface="Söhne"/>
              </a:rPr>
              <a:t>6.Prepare Cover Letter/Introduction:</a:t>
            </a:r>
            <a:endParaRPr lang="en-US" b="0" i="0" dirty="0">
              <a:solidFill>
                <a:srgbClr val="374151"/>
              </a:solidFill>
              <a:effectLst/>
              <a:latin typeface="Söhne"/>
            </a:endParaRPr>
          </a:p>
          <a:p>
            <a:pPr marL="742950" lvl="1" indent="-285750" algn="just">
              <a:buFont typeface="+mj-lt"/>
              <a:buAutoNum type="arabicPeriod"/>
            </a:pPr>
            <a:r>
              <a:rPr lang="en-US" b="0" i="0" dirty="0">
                <a:solidFill>
                  <a:srgbClr val="374151"/>
                </a:solidFill>
                <a:effectLst/>
                <a:latin typeface="Söhne"/>
              </a:rPr>
              <a:t>Provide context for the study and explain the purpose of the questionnaire.</a:t>
            </a:r>
          </a:p>
          <a:p>
            <a:pPr marL="742950" lvl="1" indent="-285750" algn="just">
              <a:buFont typeface="+mj-lt"/>
              <a:buAutoNum type="arabicPeriod"/>
            </a:pPr>
            <a:r>
              <a:rPr lang="en-US" b="0" i="0" dirty="0">
                <a:solidFill>
                  <a:srgbClr val="374151"/>
                </a:solidFill>
                <a:effectLst/>
                <a:latin typeface="Söhne"/>
              </a:rPr>
              <a:t>Ensure confidentiality and explain the voluntary nature of participation.</a:t>
            </a:r>
          </a:p>
          <a:p>
            <a:pPr marL="0" indent="0" algn="just">
              <a:buNone/>
            </a:pPr>
            <a:r>
              <a:rPr lang="en-US" b="1" i="0" dirty="0">
                <a:solidFill>
                  <a:srgbClr val="374151"/>
                </a:solidFill>
                <a:effectLst/>
                <a:latin typeface="Söhne"/>
              </a:rPr>
              <a:t>7.Distribution of Questionnaires:</a:t>
            </a:r>
            <a:endParaRPr lang="en-US" b="0" i="0" dirty="0">
              <a:solidFill>
                <a:srgbClr val="374151"/>
              </a:solidFill>
              <a:effectLst/>
              <a:latin typeface="Söhne"/>
            </a:endParaRPr>
          </a:p>
          <a:p>
            <a:pPr marL="742950" lvl="1" indent="-285750" algn="just">
              <a:buFont typeface="+mj-lt"/>
              <a:buAutoNum type="arabicPeriod"/>
            </a:pPr>
            <a:r>
              <a:rPr lang="en-US" b="0" i="0" dirty="0">
                <a:solidFill>
                  <a:srgbClr val="374151"/>
                </a:solidFill>
                <a:effectLst/>
                <a:latin typeface="Söhne"/>
              </a:rPr>
              <a:t>If using paper-based questionnaires, distribute them to the selected participants.</a:t>
            </a:r>
          </a:p>
          <a:p>
            <a:pPr marL="742950" lvl="1" indent="-285750" algn="just">
              <a:buFont typeface="+mj-lt"/>
              <a:buAutoNum type="arabicPeriod"/>
            </a:pPr>
            <a:r>
              <a:rPr lang="en-US" b="0" i="0" dirty="0">
                <a:solidFill>
                  <a:srgbClr val="374151"/>
                </a:solidFill>
                <a:effectLst/>
                <a:latin typeface="Söhne"/>
              </a:rPr>
              <a:t>If using online surveys, share the survey link through email, social media, or other platforms.</a:t>
            </a:r>
          </a:p>
          <a:p>
            <a:pPr marL="0" indent="0" algn="just">
              <a:buNone/>
            </a:pPr>
            <a:r>
              <a:rPr lang="en-US" b="1" i="0" dirty="0">
                <a:solidFill>
                  <a:srgbClr val="374151"/>
                </a:solidFill>
                <a:effectLst/>
                <a:latin typeface="Söhne"/>
              </a:rPr>
              <a:t>8.Data Collection:</a:t>
            </a:r>
            <a:endParaRPr lang="en-US" b="0" i="0" dirty="0">
              <a:solidFill>
                <a:srgbClr val="374151"/>
              </a:solidFill>
              <a:effectLst/>
              <a:latin typeface="Söhne"/>
            </a:endParaRPr>
          </a:p>
          <a:p>
            <a:pPr marL="742950" lvl="1" indent="-285750" algn="just">
              <a:buFont typeface="+mj-lt"/>
              <a:buAutoNum type="arabicPeriod"/>
            </a:pPr>
            <a:r>
              <a:rPr lang="en-US" b="0" i="0" dirty="0">
                <a:solidFill>
                  <a:srgbClr val="374151"/>
                </a:solidFill>
                <a:effectLst/>
                <a:latin typeface="Söhne"/>
              </a:rPr>
              <a:t>Collect responses from participants.</a:t>
            </a:r>
          </a:p>
          <a:p>
            <a:pPr marL="742950" lvl="1" indent="-285750" algn="just">
              <a:buFont typeface="+mj-lt"/>
              <a:buAutoNum type="arabicPeriod"/>
            </a:pPr>
            <a:r>
              <a:rPr lang="en-US" b="0" i="0" dirty="0">
                <a:solidFill>
                  <a:srgbClr val="374151"/>
                </a:solidFill>
                <a:effectLst/>
                <a:latin typeface="Söhne"/>
              </a:rPr>
              <a:t>Monitor response rates and follow up with reminders if necessary.</a:t>
            </a:r>
          </a:p>
          <a:p>
            <a:pPr marL="0" indent="0" algn="just">
              <a:buNone/>
            </a:pPr>
            <a:r>
              <a:rPr lang="en-US" b="1" i="0" dirty="0">
                <a:solidFill>
                  <a:srgbClr val="374151"/>
                </a:solidFill>
                <a:effectLst/>
                <a:latin typeface="Söhne"/>
              </a:rPr>
              <a:t>9.Data Entry and Cleaning:</a:t>
            </a:r>
            <a:endParaRPr lang="en-US" b="0" i="0" dirty="0">
              <a:solidFill>
                <a:srgbClr val="374151"/>
              </a:solidFill>
              <a:effectLst/>
              <a:latin typeface="Söhne"/>
            </a:endParaRPr>
          </a:p>
          <a:p>
            <a:pPr marL="742950" lvl="1" indent="-285750" algn="just">
              <a:buFont typeface="+mj-lt"/>
              <a:buAutoNum type="arabicPeriod"/>
            </a:pPr>
            <a:r>
              <a:rPr lang="en-US" b="0" i="0" dirty="0">
                <a:solidFill>
                  <a:srgbClr val="374151"/>
                </a:solidFill>
                <a:effectLst/>
                <a:latin typeface="Söhne"/>
              </a:rPr>
              <a:t>If using paper-based questionnaires, enter data into a computer system.</a:t>
            </a:r>
          </a:p>
          <a:p>
            <a:pPr marL="742950" lvl="1" indent="-285750" algn="just">
              <a:buFont typeface="+mj-lt"/>
              <a:buAutoNum type="arabicPeriod"/>
            </a:pPr>
            <a:r>
              <a:rPr lang="en-US" b="0" i="0" dirty="0">
                <a:solidFill>
                  <a:srgbClr val="374151"/>
                </a:solidFill>
                <a:effectLst/>
                <a:latin typeface="Söhne"/>
              </a:rPr>
              <a:t>Clean and validate the data to ensure accuracy.</a:t>
            </a:r>
          </a:p>
          <a:p>
            <a:pPr marL="0" indent="0" algn="just">
              <a:buNone/>
            </a:pPr>
            <a:r>
              <a:rPr lang="en-US" b="1" i="0" dirty="0">
                <a:solidFill>
                  <a:srgbClr val="374151"/>
                </a:solidFill>
                <a:effectLst/>
                <a:latin typeface="Söhne"/>
              </a:rPr>
              <a:t>10.Data Analysis:</a:t>
            </a:r>
            <a:endParaRPr lang="en-US" b="0" i="0" dirty="0">
              <a:solidFill>
                <a:srgbClr val="374151"/>
              </a:solidFill>
              <a:effectLst/>
              <a:latin typeface="Söhne"/>
            </a:endParaRPr>
          </a:p>
          <a:p>
            <a:pPr marL="742950" lvl="1" indent="-285750" algn="just">
              <a:buFont typeface="+mj-lt"/>
              <a:buAutoNum type="arabicPeriod"/>
            </a:pPr>
            <a:r>
              <a:rPr lang="en-US" b="0" i="0" dirty="0">
                <a:solidFill>
                  <a:srgbClr val="374151"/>
                </a:solidFill>
                <a:effectLst/>
                <a:latin typeface="Söhne"/>
              </a:rPr>
              <a:t>Analyze the collected data using statistical tools or qualitative methods, depending on the nature of the research.</a:t>
            </a:r>
          </a:p>
          <a:p>
            <a:pPr marL="0" indent="0" algn="just">
              <a:buNone/>
            </a:pPr>
            <a:r>
              <a:rPr lang="en-US" b="1" i="0" dirty="0">
                <a:solidFill>
                  <a:srgbClr val="374151"/>
                </a:solidFill>
                <a:effectLst/>
                <a:latin typeface="Söhne"/>
              </a:rPr>
              <a:t>11.Interpretation and Reporting:</a:t>
            </a:r>
            <a:endParaRPr lang="en-US" b="0" i="0" dirty="0">
              <a:solidFill>
                <a:srgbClr val="374151"/>
              </a:solidFill>
              <a:effectLst/>
              <a:latin typeface="Söhne"/>
            </a:endParaRPr>
          </a:p>
          <a:p>
            <a:pPr marL="742950" lvl="1" indent="-285750" algn="just">
              <a:buFont typeface="+mj-lt"/>
              <a:buAutoNum type="arabicPeriod"/>
            </a:pPr>
            <a:r>
              <a:rPr lang="en-US" b="0" i="0" dirty="0">
                <a:solidFill>
                  <a:srgbClr val="374151"/>
                </a:solidFill>
                <a:effectLst/>
                <a:latin typeface="Söhne"/>
              </a:rPr>
              <a:t>Interpret the findings and report the results in a clear and meaningful way.</a:t>
            </a:r>
          </a:p>
        </p:txBody>
      </p:sp>
    </p:spTree>
    <p:extLst>
      <p:ext uri="{BB962C8B-B14F-4D97-AF65-F5344CB8AC3E}">
        <p14:creationId xmlns:p14="http://schemas.microsoft.com/office/powerpoint/2010/main" val="36598878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12B40-AA75-7C70-BB04-F6D44B908994}"/>
              </a:ext>
            </a:extLst>
          </p:cNvPr>
          <p:cNvSpPr>
            <a:spLocks noGrp="1"/>
          </p:cNvSpPr>
          <p:nvPr>
            <p:ph type="title"/>
          </p:nvPr>
        </p:nvSpPr>
        <p:spPr>
          <a:xfrm>
            <a:off x="58712" y="-324421"/>
            <a:ext cx="10515600" cy="1325563"/>
          </a:xfrm>
        </p:spPr>
        <p:txBody>
          <a:bodyPr/>
          <a:lstStyle/>
          <a:p>
            <a:r>
              <a:rPr lang="en-US" b="1" i="0" dirty="0">
                <a:solidFill>
                  <a:srgbClr val="0F0F0F"/>
                </a:solidFill>
                <a:effectLst/>
                <a:latin typeface="Söhne"/>
              </a:rPr>
              <a:t>Collection of Data through Questionnaires:</a:t>
            </a:r>
            <a:endParaRPr lang="en-IN" b="1" dirty="0"/>
          </a:p>
        </p:txBody>
      </p:sp>
      <p:sp>
        <p:nvSpPr>
          <p:cNvPr id="3" name="Content Placeholder 2">
            <a:extLst>
              <a:ext uri="{FF2B5EF4-FFF2-40B4-BE49-F238E27FC236}">
                <a16:creationId xmlns:a16="http://schemas.microsoft.com/office/drawing/2014/main" id="{E486F541-8BF2-135E-AC07-65DA8668685E}"/>
              </a:ext>
            </a:extLst>
          </p:cNvPr>
          <p:cNvSpPr>
            <a:spLocks noGrp="1"/>
          </p:cNvSpPr>
          <p:nvPr>
            <p:ph idx="1"/>
          </p:nvPr>
        </p:nvSpPr>
        <p:spPr>
          <a:xfrm>
            <a:off x="148654" y="642652"/>
            <a:ext cx="11984634" cy="6179121"/>
          </a:xfrm>
        </p:spPr>
        <p:txBody>
          <a:bodyPr>
            <a:normAutofit/>
          </a:bodyPr>
          <a:lstStyle/>
          <a:p>
            <a:pPr marL="0" indent="0" algn="just">
              <a:buNone/>
            </a:pPr>
            <a:r>
              <a:rPr lang="en-US" b="1" i="0" dirty="0">
                <a:effectLst/>
                <a:latin typeface="Söhne"/>
              </a:rPr>
              <a:t>Advantages of Questionnaires:</a:t>
            </a:r>
          </a:p>
          <a:p>
            <a:pPr algn="just">
              <a:buFont typeface="Arial" panose="020B0604020202020204" pitchFamily="34" charset="0"/>
              <a:buChar char="•"/>
            </a:pPr>
            <a:r>
              <a:rPr lang="en-US" b="1" i="0" dirty="0">
                <a:solidFill>
                  <a:srgbClr val="374151"/>
                </a:solidFill>
                <a:effectLst/>
                <a:latin typeface="Söhne"/>
              </a:rPr>
              <a:t>Efficiency:</a:t>
            </a:r>
            <a:r>
              <a:rPr lang="en-US" b="0" i="0" dirty="0">
                <a:solidFill>
                  <a:srgbClr val="374151"/>
                </a:solidFill>
                <a:effectLst/>
                <a:latin typeface="Söhne"/>
              </a:rPr>
              <a:t> Can be administered to a large number of participants simultaneously.</a:t>
            </a:r>
          </a:p>
          <a:p>
            <a:pPr algn="just">
              <a:buFont typeface="Arial" panose="020B0604020202020204" pitchFamily="34" charset="0"/>
              <a:buChar char="•"/>
            </a:pPr>
            <a:r>
              <a:rPr lang="en-US" b="1" i="0" dirty="0">
                <a:solidFill>
                  <a:srgbClr val="374151"/>
                </a:solidFill>
                <a:effectLst/>
                <a:latin typeface="Söhne"/>
              </a:rPr>
              <a:t>Consistency:</a:t>
            </a:r>
            <a:r>
              <a:rPr lang="en-US" b="0" i="0" dirty="0">
                <a:solidFill>
                  <a:srgbClr val="374151"/>
                </a:solidFill>
                <a:effectLst/>
                <a:latin typeface="Söhne"/>
              </a:rPr>
              <a:t> Standardized questions ensure consistency in responses.</a:t>
            </a:r>
          </a:p>
          <a:p>
            <a:pPr algn="just">
              <a:buFont typeface="Arial" panose="020B0604020202020204" pitchFamily="34" charset="0"/>
              <a:buChar char="•"/>
            </a:pPr>
            <a:r>
              <a:rPr lang="en-US" b="1" i="0" dirty="0">
                <a:solidFill>
                  <a:srgbClr val="374151"/>
                </a:solidFill>
                <a:effectLst/>
                <a:latin typeface="Söhne"/>
              </a:rPr>
              <a:t>Anonymity:</a:t>
            </a:r>
            <a:r>
              <a:rPr lang="en-US" b="0" i="0" dirty="0">
                <a:solidFill>
                  <a:srgbClr val="374151"/>
                </a:solidFill>
                <a:effectLst/>
                <a:latin typeface="Söhne"/>
              </a:rPr>
              <a:t> Participants can provide honest responses without fear of judgment.</a:t>
            </a:r>
          </a:p>
          <a:p>
            <a:pPr marL="0" indent="0" algn="just">
              <a:buNone/>
            </a:pPr>
            <a:r>
              <a:rPr lang="en-US" b="1" i="0" dirty="0">
                <a:effectLst/>
                <a:latin typeface="Söhne"/>
              </a:rPr>
              <a:t>Challenges:</a:t>
            </a:r>
          </a:p>
          <a:p>
            <a:pPr algn="just">
              <a:buFont typeface="Arial" panose="020B0604020202020204" pitchFamily="34" charset="0"/>
              <a:buChar char="•"/>
            </a:pPr>
            <a:r>
              <a:rPr lang="en-US" b="1" i="0" dirty="0">
                <a:solidFill>
                  <a:srgbClr val="374151"/>
                </a:solidFill>
                <a:effectLst/>
                <a:latin typeface="Söhne"/>
              </a:rPr>
              <a:t>Response Rate:</a:t>
            </a:r>
            <a:r>
              <a:rPr lang="en-US" b="0" i="0" dirty="0">
                <a:solidFill>
                  <a:srgbClr val="374151"/>
                </a:solidFill>
                <a:effectLst/>
                <a:latin typeface="Söhne"/>
              </a:rPr>
              <a:t> Ensuring a high response rate can be challenging.</a:t>
            </a:r>
          </a:p>
          <a:p>
            <a:pPr algn="just">
              <a:buFont typeface="Arial" panose="020B0604020202020204" pitchFamily="34" charset="0"/>
              <a:buChar char="•"/>
            </a:pPr>
            <a:r>
              <a:rPr lang="en-US" b="1" i="0" dirty="0">
                <a:solidFill>
                  <a:srgbClr val="374151"/>
                </a:solidFill>
                <a:effectLst/>
                <a:latin typeface="Söhne"/>
              </a:rPr>
              <a:t>Interpretation Issues:</a:t>
            </a:r>
            <a:r>
              <a:rPr lang="en-US" b="0" i="0" dirty="0">
                <a:solidFill>
                  <a:srgbClr val="374151"/>
                </a:solidFill>
                <a:effectLst/>
                <a:latin typeface="Söhne"/>
              </a:rPr>
              <a:t> Limited ability to probe for clarification.</a:t>
            </a:r>
          </a:p>
          <a:p>
            <a:pPr algn="just">
              <a:buFont typeface="Arial" panose="020B0604020202020204" pitchFamily="34" charset="0"/>
              <a:buChar char="•"/>
            </a:pPr>
            <a:r>
              <a:rPr lang="en-US" b="1" i="0" dirty="0">
                <a:solidFill>
                  <a:srgbClr val="374151"/>
                </a:solidFill>
                <a:effectLst/>
                <a:latin typeface="Söhne"/>
              </a:rPr>
              <a:t>Question Wording:</a:t>
            </a:r>
            <a:r>
              <a:rPr lang="en-US" b="0" i="0" dirty="0">
                <a:solidFill>
                  <a:srgbClr val="374151"/>
                </a:solidFill>
                <a:effectLst/>
                <a:latin typeface="Söhne"/>
              </a:rPr>
              <a:t> Ambiguous or biased questions can lead to inaccurate responses.</a:t>
            </a:r>
          </a:p>
          <a:p>
            <a:pPr algn="just"/>
            <a:endParaRPr lang="en-IN" dirty="0"/>
          </a:p>
        </p:txBody>
      </p:sp>
    </p:spTree>
    <p:extLst>
      <p:ext uri="{BB962C8B-B14F-4D97-AF65-F5344CB8AC3E}">
        <p14:creationId xmlns:p14="http://schemas.microsoft.com/office/powerpoint/2010/main" val="3187397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F2113-353B-8F4A-7F36-9519B49B77BC}"/>
              </a:ext>
            </a:extLst>
          </p:cNvPr>
          <p:cNvSpPr>
            <a:spLocks noGrp="1"/>
          </p:cNvSpPr>
          <p:nvPr>
            <p:ph type="title"/>
          </p:nvPr>
        </p:nvSpPr>
        <p:spPr>
          <a:xfrm>
            <a:off x="838200" y="-384384"/>
            <a:ext cx="10515600" cy="1325563"/>
          </a:xfrm>
        </p:spPr>
        <p:txBody>
          <a:bodyPr/>
          <a:lstStyle/>
          <a:p>
            <a:r>
              <a:rPr lang="en-US" b="1" i="0" dirty="0">
                <a:effectLst/>
                <a:latin typeface="Söhne"/>
              </a:rPr>
              <a:t>Introduction to Report Writing:</a:t>
            </a:r>
            <a:endParaRPr lang="en-IN" dirty="0"/>
          </a:p>
        </p:txBody>
      </p:sp>
      <p:sp>
        <p:nvSpPr>
          <p:cNvPr id="3" name="Content Placeholder 2">
            <a:extLst>
              <a:ext uri="{FF2B5EF4-FFF2-40B4-BE49-F238E27FC236}">
                <a16:creationId xmlns:a16="http://schemas.microsoft.com/office/drawing/2014/main" id="{3D4C353E-E0BB-6204-FABC-3082178F6226}"/>
              </a:ext>
            </a:extLst>
          </p:cNvPr>
          <p:cNvSpPr>
            <a:spLocks noGrp="1"/>
          </p:cNvSpPr>
          <p:nvPr>
            <p:ph idx="1"/>
          </p:nvPr>
        </p:nvSpPr>
        <p:spPr>
          <a:xfrm>
            <a:off x="28736" y="506494"/>
            <a:ext cx="12163263" cy="6433953"/>
          </a:xfrm>
        </p:spPr>
        <p:txBody>
          <a:bodyPr>
            <a:noAutofit/>
          </a:bodyPr>
          <a:lstStyle/>
          <a:p>
            <a:pPr marL="0" indent="0" algn="just">
              <a:buNone/>
            </a:pPr>
            <a:r>
              <a:rPr lang="en-US" sz="2400" b="0" i="0" dirty="0">
                <a:solidFill>
                  <a:srgbClr val="374151"/>
                </a:solidFill>
                <a:effectLst/>
                <a:latin typeface="Söhne"/>
              </a:rPr>
              <a:t>	Report writing is a formal and structured method of communicating information within an organization or to external parties. It involves the collection, analysis, and presentation of data or findings in a clear, concise, and organized manner. Reports serve various purposes, such as informing decision-making, documenting research, or providing recommendations. Effective report writing is crucial in conveying information accurately and facilitating informed decision-making.</a:t>
            </a:r>
          </a:p>
          <a:p>
            <a:pPr algn="just"/>
            <a:r>
              <a:rPr lang="en-US" sz="2400" b="1" i="0" dirty="0">
                <a:effectLst/>
                <a:latin typeface="Söhne"/>
              </a:rPr>
              <a:t>Key Components of a Report:</a:t>
            </a:r>
          </a:p>
          <a:p>
            <a:pPr algn="just">
              <a:buFont typeface="+mj-lt"/>
              <a:buAutoNum type="arabicPeriod"/>
            </a:pPr>
            <a:r>
              <a:rPr lang="en-US" sz="2400" b="1" i="0" dirty="0">
                <a:solidFill>
                  <a:srgbClr val="374151"/>
                </a:solidFill>
                <a:effectLst/>
                <a:latin typeface="Söhne"/>
              </a:rPr>
              <a:t>Title Page:</a:t>
            </a:r>
            <a:r>
              <a:rPr lang="en-US" sz="2400" b="0" i="0" dirty="0">
                <a:solidFill>
                  <a:srgbClr val="374151"/>
                </a:solidFill>
                <a:effectLst/>
                <a:latin typeface="Söhne"/>
              </a:rPr>
              <a:t> Includes the report title, the name of the author, the date, and any other relevant information.</a:t>
            </a:r>
          </a:p>
          <a:p>
            <a:pPr algn="just">
              <a:buFont typeface="+mj-lt"/>
              <a:buAutoNum type="arabicPeriod"/>
            </a:pPr>
            <a:r>
              <a:rPr lang="en-US" sz="2400" b="1" i="0" dirty="0">
                <a:solidFill>
                  <a:srgbClr val="374151"/>
                </a:solidFill>
                <a:effectLst/>
                <a:latin typeface="Söhne"/>
              </a:rPr>
              <a:t>Abstract or Executive Summary:</a:t>
            </a:r>
            <a:r>
              <a:rPr lang="en-US" sz="2400" b="0" i="0" dirty="0">
                <a:solidFill>
                  <a:srgbClr val="374151"/>
                </a:solidFill>
                <a:effectLst/>
                <a:latin typeface="Söhne"/>
              </a:rPr>
              <a:t> A brief overview of the report, highlighting key findings, conclusions, and recommendations.</a:t>
            </a:r>
          </a:p>
          <a:p>
            <a:pPr algn="just">
              <a:buFont typeface="+mj-lt"/>
              <a:buAutoNum type="arabicPeriod"/>
            </a:pPr>
            <a:r>
              <a:rPr lang="en-US" sz="2400" b="1" i="0" dirty="0">
                <a:solidFill>
                  <a:srgbClr val="374151"/>
                </a:solidFill>
                <a:effectLst/>
                <a:latin typeface="Söhne"/>
              </a:rPr>
              <a:t>Table of Contents:</a:t>
            </a:r>
            <a:r>
              <a:rPr lang="en-US" sz="2400" b="0" i="0" dirty="0">
                <a:solidFill>
                  <a:srgbClr val="374151"/>
                </a:solidFill>
                <a:effectLst/>
                <a:latin typeface="Söhne"/>
              </a:rPr>
              <a:t> A list of sections and subsections with corresponding page numbers.</a:t>
            </a:r>
          </a:p>
          <a:p>
            <a:pPr algn="just">
              <a:buFont typeface="+mj-lt"/>
              <a:buAutoNum type="arabicPeriod"/>
            </a:pPr>
            <a:r>
              <a:rPr lang="en-US" sz="2400" b="1" i="0" dirty="0">
                <a:solidFill>
                  <a:srgbClr val="374151"/>
                </a:solidFill>
                <a:effectLst/>
                <a:latin typeface="Söhne"/>
              </a:rPr>
              <a:t>Introduction:</a:t>
            </a:r>
            <a:r>
              <a:rPr lang="en-US" sz="2400" b="0" i="0" dirty="0">
                <a:solidFill>
                  <a:srgbClr val="374151"/>
                </a:solidFill>
                <a:effectLst/>
                <a:latin typeface="Söhne"/>
              </a:rPr>
              <a:t> Introduces the purpose and scope of the report, provides background information, and outlines the structure.</a:t>
            </a:r>
          </a:p>
          <a:p>
            <a:pPr algn="just">
              <a:buFont typeface="+mj-lt"/>
              <a:buAutoNum type="arabicPeriod"/>
            </a:pPr>
            <a:r>
              <a:rPr lang="en-US" sz="2400" b="1" i="0" dirty="0">
                <a:solidFill>
                  <a:srgbClr val="374151"/>
                </a:solidFill>
                <a:effectLst/>
                <a:latin typeface="Söhne"/>
              </a:rPr>
              <a:t>Methodology or Approach:</a:t>
            </a:r>
            <a:r>
              <a:rPr lang="en-US" sz="2400" b="0" i="0" dirty="0">
                <a:solidFill>
                  <a:srgbClr val="374151"/>
                </a:solidFill>
                <a:effectLst/>
                <a:latin typeface="Söhne"/>
              </a:rPr>
              <a:t> Describes the methods used to gather data, conduct research, or analyze information.</a:t>
            </a:r>
          </a:p>
        </p:txBody>
      </p:sp>
    </p:spTree>
    <p:extLst>
      <p:ext uri="{BB962C8B-B14F-4D97-AF65-F5344CB8AC3E}">
        <p14:creationId xmlns:p14="http://schemas.microsoft.com/office/powerpoint/2010/main" val="26519159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F2113-353B-8F4A-7F36-9519B49B77BC}"/>
              </a:ext>
            </a:extLst>
          </p:cNvPr>
          <p:cNvSpPr>
            <a:spLocks noGrp="1"/>
          </p:cNvSpPr>
          <p:nvPr>
            <p:ph type="title"/>
          </p:nvPr>
        </p:nvSpPr>
        <p:spPr>
          <a:xfrm>
            <a:off x="838200" y="-384384"/>
            <a:ext cx="10515600" cy="1325563"/>
          </a:xfrm>
        </p:spPr>
        <p:txBody>
          <a:bodyPr/>
          <a:lstStyle/>
          <a:p>
            <a:r>
              <a:rPr lang="en-US" b="1" i="0" dirty="0">
                <a:effectLst/>
                <a:latin typeface="Söhne"/>
              </a:rPr>
              <a:t>Introduction to Report Writing:</a:t>
            </a:r>
            <a:endParaRPr lang="en-IN" dirty="0"/>
          </a:p>
        </p:txBody>
      </p:sp>
      <p:sp>
        <p:nvSpPr>
          <p:cNvPr id="3" name="Content Placeholder 2">
            <a:extLst>
              <a:ext uri="{FF2B5EF4-FFF2-40B4-BE49-F238E27FC236}">
                <a16:creationId xmlns:a16="http://schemas.microsoft.com/office/drawing/2014/main" id="{3D4C353E-E0BB-6204-FABC-3082178F6226}"/>
              </a:ext>
            </a:extLst>
          </p:cNvPr>
          <p:cNvSpPr>
            <a:spLocks noGrp="1"/>
          </p:cNvSpPr>
          <p:nvPr>
            <p:ph idx="1"/>
          </p:nvPr>
        </p:nvSpPr>
        <p:spPr>
          <a:xfrm>
            <a:off x="28736" y="620794"/>
            <a:ext cx="12163263" cy="6433953"/>
          </a:xfrm>
        </p:spPr>
        <p:txBody>
          <a:bodyPr>
            <a:noAutofit/>
          </a:bodyPr>
          <a:lstStyle/>
          <a:p>
            <a:pPr marL="0" indent="0" algn="just">
              <a:buNone/>
            </a:pPr>
            <a:r>
              <a:rPr lang="en-US" sz="3200" dirty="0">
                <a:solidFill>
                  <a:srgbClr val="374151"/>
                </a:solidFill>
                <a:latin typeface="Söhne"/>
              </a:rPr>
              <a:t>6.</a:t>
            </a:r>
            <a:r>
              <a:rPr lang="en-US" sz="3200" b="1" i="0" dirty="0">
                <a:solidFill>
                  <a:srgbClr val="374151"/>
                </a:solidFill>
                <a:effectLst/>
                <a:latin typeface="Söhne"/>
              </a:rPr>
              <a:t>Findings or Results:</a:t>
            </a:r>
            <a:r>
              <a:rPr lang="en-US" sz="3200" b="0" i="0" dirty="0">
                <a:solidFill>
                  <a:srgbClr val="374151"/>
                </a:solidFill>
                <a:effectLst/>
                <a:latin typeface="Söhne"/>
              </a:rPr>
              <a:t> Presents the main body of information, findings, or results obtained from the research or analysis.</a:t>
            </a:r>
          </a:p>
          <a:p>
            <a:pPr marL="0" indent="0" algn="just">
              <a:buNone/>
            </a:pPr>
            <a:r>
              <a:rPr lang="en-US" sz="3200" b="1" i="0" dirty="0">
                <a:solidFill>
                  <a:srgbClr val="374151"/>
                </a:solidFill>
                <a:effectLst/>
                <a:latin typeface="Söhne"/>
              </a:rPr>
              <a:t>7.Discussion:</a:t>
            </a:r>
            <a:r>
              <a:rPr lang="en-US" sz="3200" b="0" i="0" dirty="0">
                <a:solidFill>
                  <a:srgbClr val="374151"/>
                </a:solidFill>
                <a:effectLst/>
                <a:latin typeface="Söhne"/>
              </a:rPr>
              <a:t> Interprets the findings, analyzes their implications, and discusses their significance.</a:t>
            </a:r>
          </a:p>
          <a:p>
            <a:pPr marL="0" indent="0" algn="just">
              <a:buNone/>
            </a:pPr>
            <a:r>
              <a:rPr lang="en-US" sz="3200" b="1" i="0" dirty="0">
                <a:solidFill>
                  <a:srgbClr val="374151"/>
                </a:solidFill>
                <a:effectLst/>
                <a:latin typeface="Söhne"/>
              </a:rPr>
              <a:t>8.Conclusion:</a:t>
            </a:r>
            <a:r>
              <a:rPr lang="en-US" sz="3200" b="0" i="0" dirty="0">
                <a:solidFill>
                  <a:srgbClr val="374151"/>
                </a:solidFill>
                <a:effectLst/>
                <a:latin typeface="Söhne"/>
              </a:rPr>
              <a:t> Summarizes the key points, reiterates the main findings, and may include recommendations or suggestions.</a:t>
            </a:r>
          </a:p>
          <a:p>
            <a:pPr marL="0" indent="0" algn="just">
              <a:buNone/>
            </a:pPr>
            <a:r>
              <a:rPr lang="en-US" sz="3200" b="1" i="0" dirty="0">
                <a:solidFill>
                  <a:srgbClr val="374151"/>
                </a:solidFill>
                <a:effectLst/>
                <a:latin typeface="Söhne"/>
              </a:rPr>
              <a:t>9.Recommendations:</a:t>
            </a:r>
            <a:r>
              <a:rPr lang="en-US" sz="3200" b="0" i="0" dirty="0">
                <a:solidFill>
                  <a:srgbClr val="374151"/>
                </a:solidFill>
                <a:effectLst/>
                <a:latin typeface="Söhne"/>
              </a:rPr>
              <a:t> Offers practical suggestions based on the report's findings, often geared towards decision-making or action.</a:t>
            </a:r>
          </a:p>
          <a:p>
            <a:pPr marL="0" indent="0" algn="just">
              <a:buNone/>
            </a:pPr>
            <a:r>
              <a:rPr lang="en-US" sz="3200" b="1" i="0" dirty="0">
                <a:solidFill>
                  <a:srgbClr val="374151"/>
                </a:solidFill>
                <a:effectLst/>
                <a:latin typeface="Söhne"/>
              </a:rPr>
              <a:t>10.References or Bibliography:</a:t>
            </a:r>
            <a:r>
              <a:rPr lang="en-US" sz="3200" b="0" i="0" dirty="0">
                <a:solidFill>
                  <a:srgbClr val="374151"/>
                </a:solidFill>
                <a:effectLst/>
                <a:latin typeface="Söhne"/>
              </a:rPr>
              <a:t> Lists all sources cited or referenced in the report.</a:t>
            </a:r>
          </a:p>
          <a:p>
            <a:pPr marL="0" indent="0" algn="just">
              <a:buNone/>
            </a:pPr>
            <a:r>
              <a:rPr lang="en-US" sz="3200" b="1" i="0" dirty="0">
                <a:solidFill>
                  <a:srgbClr val="374151"/>
                </a:solidFill>
                <a:effectLst/>
                <a:latin typeface="Söhne"/>
              </a:rPr>
              <a:t>11.Appendices:</a:t>
            </a:r>
            <a:r>
              <a:rPr lang="en-US" sz="3200" b="0" i="0" dirty="0">
                <a:solidFill>
                  <a:srgbClr val="374151"/>
                </a:solidFill>
                <a:effectLst/>
                <a:latin typeface="Söhne"/>
              </a:rPr>
              <a:t> Includes additional supporting materials, such as raw data, charts, graphs, or supplementary information.</a:t>
            </a:r>
          </a:p>
        </p:txBody>
      </p:sp>
    </p:spTree>
    <p:extLst>
      <p:ext uri="{BB962C8B-B14F-4D97-AF65-F5344CB8AC3E}">
        <p14:creationId xmlns:p14="http://schemas.microsoft.com/office/powerpoint/2010/main" val="3297404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7290-9ECE-F0B6-ABFB-321326E7026F}"/>
              </a:ext>
            </a:extLst>
          </p:cNvPr>
          <p:cNvSpPr>
            <a:spLocks noGrp="1"/>
          </p:cNvSpPr>
          <p:nvPr>
            <p:ph type="title"/>
          </p:nvPr>
        </p:nvSpPr>
        <p:spPr>
          <a:xfrm>
            <a:off x="685800" y="-415925"/>
            <a:ext cx="10515600" cy="1325563"/>
          </a:xfrm>
        </p:spPr>
        <p:txBody>
          <a:bodyPr/>
          <a:lstStyle/>
          <a:p>
            <a:r>
              <a:rPr lang="en-US" b="1" i="0" dirty="0">
                <a:effectLst/>
                <a:latin typeface="Söhne"/>
              </a:rPr>
              <a:t>Techniques of Interpretation:</a:t>
            </a:r>
            <a:endParaRPr lang="en-IN" dirty="0"/>
          </a:p>
        </p:txBody>
      </p:sp>
      <p:sp>
        <p:nvSpPr>
          <p:cNvPr id="3" name="Content Placeholder 2">
            <a:extLst>
              <a:ext uri="{FF2B5EF4-FFF2-40B4-BE49-F238E27FC236}">
                <a16:creationId xmlns:a16="http://schemas.microsoft.com/office/drawing/2014/main" id="{4F921185-C1EE-7A76-F823-98E2F22017B9}"/>
              </a:ext>
            </a:extLst>
          </p:cNvPr>
          <p:cNvSpPr>
            <a:spLocks noGrp="1"/>
          </p:cNvSpPr>
          <p:nvPr>
            <p:ph idx="1"/>
          </p:nvPr>
        </p:nvSpPr>
        <p:spPr>
          <a:xfrm>
            <a:off x="57150" y="549274"/>
            <a:ext cx="12134850" cy="6308725"/>
          </a:xfrm>
        </p:spPr>
        <p:txBody>
          <a:bodyPr>
            <a:normAutofit lnSpcReduction="10000"/>
          </a:bodyPr>
          <a:lstStyle/>
          <a:p>
            <a:pPr algn="just"/>
            <a:r>
              <a:rPr lang="en-US" b="0" i="0" dirty="0">
                <a:solidFill>
                  <a:srgbClr val="374151"/>
                </a:solidFill>
                <a:effectLst/>
                <a:latin typeface="Söhne"/>
              </a:rPr>
              <a:t>Interpreting the information presented in a report involves extracting meaning, drawing conclusions, and understanding the implications. Here are some techniques for effective interpretation:</a:t>
            </a:r>
          </a:p>
          <a:p>
            <a:pPr algn="just">
              <a:buFont typeface="+mj-lt"/>
              <a:buAutoNum type="arabicPeriod"/>
            </a:pPr>
            <a:r>
              <a:rPr lang="en-US" b="1" i="0" dirty="0">
                <a:solidFill>
                  <a:srgbClr val="374151"/>
                </a:solidFill>
                <a:effectLst/>
                <a:latin typeface="Söhne"/>
              </a:rPr>
              <a:t>Contextual Analysis:</a:t>
            </a:r>
            <a:r>
              <a:rPr lang="en-US" b="0" i="0" dirty="0">
                <a:solidFill>
                  <a:srgbClr val="374151"/>
                </a:solidFill>
                <a:effectLst/>
                <a:latin typeface="Söhne"/>
              </a:rPr>
              <a:t> Consider the broader context in which the information is presented. Understand how external factors may influence the findings.</a:t>
            </a:r>
          </a:p>
          <a:p>
            <a:pPr algn="just">
              <a:buFont typeface="+mj-lt"/>
              <a:buAutoNum type="arabicPeriod"/>
            </a:pPr>
            <a:r>
              <a:rPr lang="en-US" b="1" i="0" dirty="0">
                <a:solidFill>
                  <a:srgbClr val="374151"/>
                </a:solidFill>
                <a:effectLst/>
                <a:latin typeface="Söhne"/>
              </a:rPr>
              <a:t>Comparative Analysis:</a:t>
            </a:r>
            <a:r>
              <a:rPr lang="en-US" b="0" i="0" dirty="0">
                <a:solidFill>
                  <a:srgbClr val="374151"/>
                </a:solidFill>
                <a:effectLst/>
                <a:latin typeface="Söhne"/>
              </a:rPr>
              <a:t> Compare the current findings with historical data, benchmarks, or industry standards to identify trends or anomalies.</a:t>
            </a:r>
          </a:p>
          <a:p>
            <a:pPr algn="just">
              <a:buFont typeface="+mj-lt"/>
              <a:buAutoNum type="arabicPeriod"/>
            </a:pPr>
            <a:r>
              <a:rPr lang="en-US" b="1" i="0" dirty="0">
                <a:solidFill>
                  <a:srgbClr val="374151"/>
                </a:solidFill>
                <a:effectLst/>
                <a:latin typeface="Söhne"/>
              </a:rPr>
              <a:t>Critical Thinking:</a:t>
            </a:r>
            <a:r>
              <a:rPr lang="en-US" b="0" i="0" dirty="0">
                <a:solidFill>
                  <a:srgbClr val="374151"/>
                </a:solidFill>
                <a:effectLst/>
                <a:latin typeface="Söhne"/>
              </a:rPr>
              <a:t> Evaluate the strengths and weaknesses of the data and methodologies used. Question assumptions and consider alternative explanations.</a:t>
            </a:r>
          </a:p>
          <a:p>
            <a:pPr algn="just">
              <a:buFont typeface="+mj-lt"/>
              <a:buAutoNum type="arabicPeriod"/>
            </a:pPr>
            <a:r>
              <a:rPr lang="en-US" b="1" i="0" dirty="0">
                <a:solidFill>
                  <a:srgbClr val="374151"/>
                </a:solidFill>
                <a:effectLst/>
                <a:latin typeface="Söhne"/>
              </a:rPr>
              <a:t>Identify Patterns and Trends:</a:t>
            </a:r>
            <a:r>
              <a:rPr lang="en-US" b="0" i="0" dirty="0">
                <a:solidFill>
                  <a:srgbClr val="374151"/>
                </a:solidFill>
                <a:effectLst/>
                <a:latin typeface="Söhne"/>
              </a:rPr>
              <a:t> Look for recurring themes, patterns, or trends within the data to gain insights and make informed interpretations.</a:t>
            </a:r>
          </a:p>
          <a:p>
            <a:pPr algn="just">
              <a:buFont typeface="+mj-lt"/>
              <a:buAutoNum type="arabicPeriod"/>
            </a:pPr>
            <a:r>
              <a:rPr lang="en-US" b="1" i="0" dirty="0">
                <a:solidFill>
                  <a:srgbClr val="374151"/>
                </a:solidFill>
                <a:effectLst/>
                <a:latin typeface="Söhne"/>
              </a:rPr>
              <a:t>Correlation and Causation:</a:t>
            </a:r>
            <a:r>
              <a:rPr lang="en-US" b="0" i="0" dirty="0">
                <a:solidFill>
                  <a:srgbClr val="374151"/>
                </a:solidFill>
                <a:effectLst/>
                <a:latin typeface="Söhne"/>
              </a:rPr>
              <a:t> Differentiate between correlation (association between variables) and causation (cause-and-effect relationship) to avoid misinterpretation.</a:t>
            </a:r>
          </a:p>
        </p:txBody>
      </p:sp>
    </p:spTree>
    <p:extLst>
      <p:ext uri="{BB962C8B-B14F-4D97-AF65-F5344CB8AC3E}">
        <p14:creationId xmlns:p14="http://schemas.microsoft.com/office/powerpoint/2010/main" val="6836140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7290-9ECE-F0B6-ABFB-321326E7026F}"/>
              </a:ext>
            </a:extLst>
          </p:cNvPr>
          <p:cNvSpPr>
            <a:spLocks noGrp="1"/>
          </p:cNvSpPr>
          <p:nvPr>
            <p:ph type="title"/>
          </p:nvPr>
        </p:nvSpPr>
        <p:spPr>
          <a:xfrm>
            <a:off x="685800" y="-415925"/>
            <a:ext cx="10515600" cy="1325563"/>
          </a:xfrm>
        </p:spPr>
        <p:txBody>
          <a:bodyPr/>
          <a:lstStyle/>
          <a:p>
            <a:r>
              <a:rPr lang="en-US" b="1" i="0" dirty="0">
                <a:effectLst/>
                <a:latin typeface="Söhne"/>
              </a:rPr>
              <a:t>Techniques of Interpretation:</a:t>
            </a:r>
            <a:endParaRPr lang="en-IN" dirty="0"/>
          </a:p>
        </p:txBody>
      </p:sp>
      <p:sp>
        <p:nvSpPr>
          <p:cNvPr id="3" name="Content Placeholder 2">
            <a:extLst>
              <a:ext uri="{FF2B5EF4-FFF2-40B4-BE49-F238E27FC236}">
                <a16:creationId xmlns:a16="http://schemas.microsoft.com/office/drawing/2014/main" id="{4F921185-C1EE-7A76-F823-98E2F22017B9}"/>
              </a:ext>
            </a:extLst>
          </p:cNvPr>
          <p:cNvSpPr>
            <a:spLocks noGrp="1"/>
          </p:cNvSpPr>
          <p:nvPr>
            <p:ph idx="1"/>
          </p:nvPr>
        </p:nvSpPr>
        <p:spPr>
          <a:xfrm>
            <a:off x="57150" y="796924"/>
            <a:ext cx="12134850" cy="6308725"/>
          </a:xfrm>
        </p:spPr>
        <p:txBody>
          <a:bodyPr>
            <a:normAutofit/>
          </a:bodyPr>
          <a:lstStyle/>
          <a:p>
            <a:pPr marL="0" indent="0" algn="just">
              <a:buNone/>
            </a:pPr>
            <a:r>
              <a:rPr lang="en-US" b="1" i="0" dirty="0">
                <a:solidFill>
                  <a:srgbClr val="374151"/>
                </a:solidFill>
                <a:effectLst/>
                <a:latin typeface="Söhne"/>
              </a:rPr>
              <a:t>6.Qualitative and Quantitative Integration:</a:t>
            </a:r>
            <a:r>
              <a:rPr lang="en-US" b="0" i="0" dirty="0">
                <a:solidFill>
                  <a:srgbClr val="374151"/>
                </a:solidFill>
                <a:effectLst/>
                <a:latin typeface="Söhne"/>
              </a:rPr>
              <a:t> Combine both qualitative and quantitative data, if applicable, to provide a more comprehensive interpretation.</a:t>
            </a:r>
          </a:p>
          <a:p>
            <a:pPr marL="0" indent="0" algn="just">
              <a:buNone/>
            </a:pPr>
            <a:r>
              <a:rPr lang="en-US" b="1" i="0" dirty="0">
                <a:solidFill>
                  <a:srgbClr val="374151"/>
                </a:solidFill>
                <a:effectLst/>
                <a:latin typeface="Söhne"/>
              </a:rPr>
              <a:t>7.Consider Stakeholder Perspectives:</a:t>
            </a:r>
            <a:r>
              <a:rPr lang="en-US" b="0" i="0" dirty="0">
                <a:solidFill>
                  <a:srgbClr val="374151"/>
                </a:solidFill>
                <a:effectLst/>
                <a:latin typeface="Söhne"/>
              </a:rPr>
              <a:t> Understand the perspectives and needs of various stakeholders to tailor interpretations that address their concerns.</a:t>
            </a:r>
          </a:p>
          <a:p>
            <a:pPr marL="0" indent="0" algn="just">
              <a:buNone/>
            </a:pPr>
            <a:r>
              <a:rPr lang="en-US" b="1" i="0" dirty="0">
                <a:solidFill>
                  <a:srgbClr val="374151"/>
                </a:solidFill>
                <a:effectLst/>
                <a:latin typeface="Söhne"/>
              </a:rPr>
              <a:t>8.Visual Aid Analysis:</a:t>
            </a:r>
            <a:r>
              <a:rPr lang="en-US" b="0" i="0" dirty="0">
                <a:solidFill>
                  <a:srgbClr val="374151"/>
                </a:solidFill>
                <a:effectLst/>
                <a:latin typeface="Söhne"/>
              </a:rPr>
              <a:t> If the report includes visual aids like charts or graphs, analyze them to extract additional insights and support interpretations.</a:t>
            </a:r>
          </a:p>
          <a:p>
            <a:pPr marL="0" indent="0" algn="just">
              <a:buNone/>
            </a:pPr>
            <a:r>
              <a:rPr lang="en-US" b="1" i="0" dirty="0">
                <a:solidFill>
                  <a:srgbClr val="374151"/>
                </a:solidFill>
                <a:effectLst/>
                <a:latin typeface="Söhne"/>
              </a:rPr>
              <a:t>9.Synthesis of Information:</a:t>
            </a:r>
            <a:r>
              <a:rPr lang="en-US" b="0" i="0" dirty="0">
                <a:solidFill>
                  <a:srgbClr val="374151"/>
                </a:solidFill>
                <a:effectLst/>
                <a:latin typeface="Söhne"/>
              </a:rPr>
              <a:t> Integrate findings from different sections of the report to form a cohesive interpretation.</a:t>
            </a:r>
          </a:p>
          <a:p>
            <a:pPr marL="0" indent="0" algn="just">
              <a:buNone/>
            </a:pPr>
            <a:r>
              <a:rPr lang="en-US" b="1" i="0" dirty="0">
                <a:solidFill>
                  <a:srgbClr val="374151"/>
                </a:solidFill>
                <a:effectLst/>
                <a:latin typeface="Söhne"/>
              </a:rPr>
              <a:t>10.Clear Communication:</a:t>
            </a:r>
            <a:r>
              <a:rPr lang="en-US" b="0" i="0" dirty="0">
                <a:solidFill>
                  <a:srgbClr val="374151"/>
                </a:solidFill>
                <a:effectLst/>
                <a:latin typeface="Söhne"/>
              </a:rPr>
              <a:t> Express interpretations in a clear and straightforward manner, avoiding jargon or unnecessary complexity.</a:t>
            </a:r>
          </a:p>
          <a:p>
            <a:pPr algn="just"/>
            <a:endParaRPr lang="en-IN" dirty="0"/>
          </a:p>
        </p:txBody>
      </p:sp>
    </p:spTree>
    <p:extLst>
      <p:ext uri="{BB962C8B-B14F-4D97-AF65-F5344CB8AC3E}">
        <p14:creationId xmlns:p14="http://schemas.microsoft.com/office/powerpoint/2010/main" val="1102123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758F0-7C4B-69E7-B729-8BB1C2F3017B}"/>
              </a:ext>
            </a:extLst>
          </p:cNvPr>
          <p:cNvSpPr>
            <a:spLocks noGrp="1"/>
          </p:cNvSpPr>
          <p:nvPr>
            <p:ph type="title"/>
          </p:nvPr>
        </p:nvSpPr>
        <p:spPr>
          <a:xfrm>
            <a:off x="58713" y="-339405"/>
            <a:ext cx="10515600" cy="1325563"/>
          </a:xfrm>
        </p:spPr>
        <p:txBody>
          <a:bodyPr/>
          <a:lstStyle/>
          <a:p>
            <a:r>
              <a:rPr lang="en-US" sz="4400" dirty="0">
                <a:effectLst/>
                <a:latin typeface="Cambria" panose="02040503050406030204" pitchFamily="18" charset="0"/>
                <a:ea typeface="Times New Roman" panose="02020603050405020304" pitchFamily="18" charset="0"/>
              </a:rPr>
              <a:t>Different steps in writing report :</a:t>
            </a:r>
            <a:endParaRPr lang="en-IN" dirty="0"/>
          </a:p>
        </p:txBody>
      </p:sp>
      <p:sp>
        <p:nvSpPr>
          <p:cNvPr id="3" name="Content Placeholder 2">
            <a:extLst>
              <a:ext uri="{FF2B5EF4-FFF2-40B4-BE49-F238E27FC236}">
                <a16:creationId xmlns:a16="http://schemas.microsoft.com/office/drawing/2014/main" id="{950E3EDA-8DFD-295D-97F2-BD2AF7248B38}"/>
              </a:ext>
            </a:extLst>
          </p:cNvPr>
          <p:cNvSpPr>
            <a:spLocks noGrp="1"/>
          </p:cNvSpPr>
          <p:nvPr>
            <p:ph idx="1"/>
          </p:nvPr>
        </p:nvSpPr>
        <p:spPr>
          <a:xfrm>
            <a:off x="148653" y="656394"/>
            <a:ext cx="11813497" cy="6201606"/>
          </a:xfrm>
        </p:spPr>
        <p:txBody>
          <a:bodyPr>
            <a:normAutofit fontScale="92500"/>
          </a:bodyPr>
          <a:lstStyle/>
          <a:p>
            <a:pPr marL="0" indent="0" algn="just">
              <a:buNone/>
            </a:pPr>
            <a:r>
              <a:rPr lang="en-US" b="0" i="0" dirty="0">
                <a:solidFill>
                  <a:srgbClr val="0D0D0D"/>
                </a:solidFill>
                <a:effectLst/>
                <a:latin typeface="Söhne"/>
              </a:rPr>
              <a:t>Writing a report typically involves several key steps to ensure clarity, coherence, and effectiveness. Here is a general guide outlining the essential steps in writing a report:</a:t>
            </a:r>
          </a:p>
          <a:p>
            <a:pPr algn="just">
              <a:buFont typeface="+mj-lt"/>
              <a:buAutoNum type="arabicPeriod"/>
            </a:pPr>
            <a:r>
              <a:rPr lang="en-US" b="1" i="0" dirty="0">
                <a:solidFill>
                  <a:srgbClr val="0D0D0D"/>
                </a:solidFill>
                <a:effectLst/>
                <a:latin typeface="Söhne"/>
              </a:rPr>
              <a:t>Define the Purpose and Scope:</a:t>
            </a:r>
            <a:endParaRPr lang="en-US" b="0" i="0" dirty="0">
              <a:solidFill>
                <a:srgbClr val="0D0D0D"/>
              </a:solidFill>
              <a:effectLst/>
              <a:latin typeface="Söhne"/>
            </a:endParaRPr>
          </a:p>
          <a:p>
            <a:pPr lvl="1" algn="just"/>
            <a:r>
              <a:rPr lang="en-US" b="0" i="0" dirty="0">
                <a:solidFill>
                  <a:srgbClr val="0D0D0D"/>
                </a:solidFill>
                <a:effectLst/>
                <a:latin typeface="Söhne"/>
              </a:rPr>
              <a:t>Clearly understand the purpose of the report.</a:t>
            </a:r>
          </a:p>
          <a:p>
            <a:pPr lvl="1" algn="just"/>
            <a:r>
              <a:rPr lang="en-US" b="0" i="0" dirty="0">
                <a:solidFill>
                  <a:srgbClr val="0D0D0D"/>
                </a:solidFill>
                <a:effectLst/>
                <a:latin typeface="Söhne"/>
              </a:rPr>
              <a:t>Define the scope of your report, including what information should be included and excluded.</a:t>
            </a:r>
          </a:p>
          <a:p>
            <a:pPr algn="just">
              <a:buFont typeface="+mj-lt"/>
              <a:buAutoNum type="arabicPeriod"/>
            </a:pPr>
            <a:r>
              <a:rPr lang="en-US" b="1" i="0" dirty="0">
                <a:solidFill>
                  <a:srgbClr val="0D0D0D"/>
                </a:solidFill>
                <a:effectLst/>
                <a:latin typeface="Söhne"/>
              </a:rPr>
              <a:t>Research and Gather Information:</a:t>
            </a:r>
            <a:endParaRPr lang="en-US" b="0" i="0" dirty="0">
              <a:solidFill>
                <a:srgbClr val="0D0D0D"/>
              </a:solidFill>
              <a:effectLst/>
              <a:latin typeface="Söhne"/>
            </a:endParaRPr>
          </a:p>
          <a:p>
            <a:pPr lvl="1" algn="just"/>
            <a:r>
              <a:rPr lang="en-US" b="0" i="0" dirty="0">
                <a:solidFill>
                  <a:srgbClr val="0D0D0D"/>
                </a:solidFill>
                <a:effectLst/>
                <a:latin typeface="Söhne"/>
              </a:rPr>
              <a:t>Collect relevant data and information from reliable sources.</a:t>
            </a:r>
          </a:p>
          <a:p>
            <a:pPr lvl="1" algn="just"/>
            <a:r>
              <a:rPr lang="en-US" b="0" i="0" dirty="0">
                <a:solidFill>
                  <a:srgbClr val="0D0D0D"/>
                </a:solidFill>
                <a:effectLst/>
                <a:latin typeface="Söhne"/>
              </a:rPr>
              <a:t>Organize your findings and ensure you have enough material to support your report.</a:t>
            </a:r>
          </a:p>
          <a:p>
            <a:pPr algn="just">
              <a:buFont typeface="+mj-lt"/>
              <a:buAutoNum type="arabicPeriod"/>
            </a:pPr>
            <a:r>
              <a:rPr lang="en-US" b="1" i="0" dirty="0">
                <a:solidFill>
                  <a:srgbClr val="0D0D0D"/>
                </a:solidFill>
                <a:effectLst/>
                <a:latin typeface="Söhne"/>
              </a:rPr>
              <a:t>Identify the Target Audience:</a:t>
            </a:r>
            <a:endParaRPr lang="en-US" b="0" i="0" dirty="0">
              <a:solidFill>
                <a:srgbClr val="0D0D0D"/>
              </a:solidFill>
              <a:effectLst/>
              <a:latin typeface="Söhne"/>
            </a:endParaRPr>
          </a:p>
          <a:p>
            <a:pPr lvl="1" algn="just"/>
            <a:r>
              <a:rPr lang="en-US" b="0" i="0" dirty="0">
                <a:solidFill>
                  <a:srgbClr val="0D0D0D"/>
                </a:solidFill>
                <a:effectLst/>
                <a:latin typeface="Söhne"/>
              </a:rPr>
              <a:t>Determine who will be reading the report.</a:t>
            </a:r>
          </a:p>
          <a:p>
            <a:pPr lvl="1" algn="just"/>
            <a:r>
              <a:rPr lang="en-US" b="0" i="0" dirty="0">
                <a:solidFill>
                  <a:srgbClr val="0D0D0D"/>
                </a:solidFill>
                <a:effectLst/>
                <a:latin typeface="Söhne"/>
              </a:rPr>
              <a:t>Tailor your language, tone, and content to suit the needs and expectations of your audience.</a:t>
            </a:r>
          </a:p>
          <a:p>
            <a:pPr algn="just">
              <a:buFont typeface="+mj-lt"/>
              <a:buAutoNum type="arabicPeriod"/>
            </a:pPr>
            <a:r>
              <a:rPr lang="en-US" b="1" i="0" dirty="0">
                <a:solidFill>
                  <a:srgbClr val="0D0D0D"/>
                </a:solidFill>
                <a:effectLst/>
                <a:latin typeface="Söhne"/>
              </a:rPr>
              <a:t>Outline the Structure:</a:t>
            </a:r>
            <a:endParaRPr lang="en-US" b="0" i="0" dirty="0">
              <a:solidFill>
                <a:srgbClr val="0D0D0D"/>
              </a:solidFill>
              <a:effectLst/>
              <a:latin typeface="Söhne"/>
            </a:endParaRPr>
          </a:p>
          <a:p>
            <a:pPr lvl="1" algn="just"/>
            <a:r>
              <a:rPr lang="en-US" b="0" i="0" dirty="0">
                <a:solidFill>
                  <a:srgbClr val="0D0D0D"/>
                </a:solidFill>
                <a:effectLst/>
                <a:latin typeface="Söhne"/>
              </a:rPr>
              <a:t>Create a clear and logical structure for your report.</a:t>
            </a:r>
          </a:p>
          <a:p>
            <a:pPr lvl="1" algn="just"/>
            <a:r>
              <a:rPr lang="en-US" b="0" i="0" dirty="0">
                <a:solidFill>
                  <a:srgbClr val="0D0D0D"/>
                </a:solidFill>
                <a:effectLst/>
                <a:latin typeface="Söhne"/>
              </a:rPr>
              <a:t>Break down the content into sections and subsections, including an introduction, main body, and conclusion.</a:t>
            </a:r>
          </a:p>
        </p:txBody>
      </p:sp>
    </p:spTree>
    <p:extLst>
      <p:ext uri="{BB962C8B-B14F-4D97-AF65-F5344CB8AC3E}">
        <p14:creationId xmlns:p14="http://schemas.microsoft.com/office/powerpoint/2010/main" val="18436616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E70B2-4CFF-0960-B383-8454E30746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BFC98D-6A90-1B33-1159-D62642D0FEF0}"/>
              </a:ext>
            </a:extLst>
          </p:cNvPr>
          <p:cNvSpPr>
            <a:spLocks noGrp="1"/>
          </p:cNvSpPr>
          <p:nvPr>
            <p:ph type="title"/>
          </p:nvPr>
        </p:nvSpPr>
        <p:spPr>
          <a:xfrm>
            <a:off x="58713" y="-339405"/>
            <a:ext cx="10515600" cy="1325563"/>
          </a:xfrm>
        </p:spPr>
        <p:txBody>
          <a:bodyPr/>
          <a:lstStyle/>
          <a:p>
            <a:r>
              <a:rPr lang="en-US" sz="4400" dirty="0">
                <a:effectLst/>
                <a:latin typeface="Cambria" panose="02040503050406030204" pitchFamily="18" charset="0"/>
                <a:ea typeface="Times New Roman" panose="02020603050405020304" pitchFamily="18" charset="0"/>
              </a:rPr>
              <a:t>Different steps in writing report :</a:t>
            </a:r>
            <a:endParaRPr lang="en-IN" dirty="0"/>
          </a:p>
        </p:txBody>
      </p:sp>
      <p:sp>
        <p:nvSpPr>
          <p:cNvPr id="3" name="Content Placeholder 2">
            <a:extLst>
              <a:ext uri="{FF2B5EF4-FFF2-40B4-BE49-F238E27FC236}">
                <a16:creationId xmlns:a16="http://schemas.microsoft.com/office/drawing/2014/main" id="{D1976BE3-09CA-BDD3-9CB1-B5342B173E52}"/>
              </a:ext>
            </a:extLst>
          </p:cNvPr>
          <p:cNvSpPr>
            <a:spLocks noGrp="1"/>
          </p:cNvSpPr>
          <p:nvPr>
            <p:ph idx="1"/>
          </p:nvPr>
        </p:nvSpPr>
        <p:spPr>
          <a:xfrm>
            <a:off x="148653" y="656394"/>
            <a:ext cx="11663595" cy="6201606"/>
          </a:xfrm>
        </p:spPr>
        <p:txBody>
          <a:bodyPr>
            <a:normAutofit fontScale="92500" lnSpcReduction="10000"/>
          </a:bodyPr>
          <a:lstStyle/>
          <a:p>
            <a:pPr marL="0" indent="0" algn="l">
              <a:buNone/>
            </a:pPr>
            <a:r>
              <a:rPr lang="en-US" b="1" i="0" dirty="0">
                <a:solidFill>
                  <a:srgbClr val="0D0D0D"/>
                </a:solidFill>
                <a:effectLst/>
                <a:latin typeface="Söhne"/>
              </a:rPr>
              <a:t>5. Write an Introduction:</a:t>
            </a:r>
            <a:endParaRPr lang="en-US" b="0" i="0" dirty="0">
              <a:solidFill>
                <a:srgbClr val="0D0D0D"/>
              </a:solidFill>
              <a:effectLst/>
              <a:latin typeface="Söhne"/>
            </a:endParaRPr>
          </a:p>
          <a:p>
            <a:pPr lvl="1"/>
            <a:r>
              <a:rPr lang="en-US" b="0" i="0" dirty="0">
                <a:solidFill>
                  <a:srgbClr val="0D0D0D"/>
                </a:solidFill>
                <a:effectLst/>
                <a:latin typeface="Söhne"/>
              </a:rPr>
              <a:t>Introduce the topic and provide background information.</a:t>
            </a:r>
          </a:p>
          <a:p>
            <a:pPr lvl="1"/>
            <a:r>
              <a:rPr lang="en-US" b="0" i="0" dirty="0">
                <a:solidFill>
                  <a:srgbClr val="0D0D0D"/>
                </a:solidFill>
                <a:effectLst/>
                <a:latin typeface="Söhne"/>
              </a:rPr>
              <a:t>Clearly state the purpose, objectives, and scope of the report.</a:t>
            </a:r>
          </a:p>
          <a:p>
            <a:pPr marL="0" indent="0" algn="l">
              <a:buNone/>
            </a:pPr>
            <a:r>
              <a:rPr lang="en-US" b="1" i="0" dirty="0">
                <a:solidFill>
                  <a:srgbClr val="0D0D0D"/>
                </a:solidFill>
                <a:effectLst/>
                <a:latin typeface="Söhne"/>
              </a:rPr>
              <a:t>6. Present the Main Body:</a:t>
            </a:r>
            <a:endParaRPr lang="en-US" b="0" i="0" dirty="0">
              <a:solidFill>
                <a:srgbClr val="0D0D0D"/>
              </a:solidFill>
              <a:effectLst/>
              <a:latin typeface="Söhne"/>
            </a:endParaRPr>
          </a:p>
          <a:p>
            <a:pPr lvl="1"/>
            <a:r>
              <a:rPr lang="en-US" b="0" i="0" dirty="0">
                <a:solidFill>
                  <a:srgbClr val="0D0D0D"/>
                </a:solidFill>
                <a:effectLst/>
                <a:latin typeface="Söhne"/>
              </a:rPr>
              <a:t>Organize information logically and coherently.</a:t>
            </a:r>
          </a:p>
          <a:p>
            <a:pPr lvl="1"/>
            <a:r>
              <a:rPr lang="en-US" b="0" i="0" dirty="0">
                <a:solidFill>
                  <a:srgbClr val="0D0D0D"/>
                </a:solidFill>
                <a:effectLst/>
                <a:latin typeface="Söhne"/>
              </a:rPr>
              <a:t>Use headings and subheadings to guide readers through different sections.</a:t>
            </a:r>
          </a:p>
          <a:p>
            <a:pPr lvl="1"/>
            <a:r>
              <a:rPr lang="en-US" b="0" i="0" dirty="0">
                <a:solidFill>
                  <a:srgbClr val="0D0D0D"/>
                </a:solidFill>
                <a:effectLst/>
                <a:latin typeface="Söhne"/>
              </a:rPr>
              <a:t>Support your points with evidence and analysis.</a:t>
            </a:r>
          </a:p>
          <a:p>
            <a:pPr marL="0" indent="0" algn="l">
              <a:buNone/>
            </a:pPr>
            <a:r>
              <a:rPr lang="en-US" b="1" i="0" dirty="0">
                <a:solidFill>
                  <a:srgbClr val="0D0D0D"/>
                </a:solidFill>
                <a:effectLst/>
                <a:latin typeface="Söhne"/>
              </a:rPr>
              <a:t>7. Use Clear and Concise Language:</a:t>
            </a:r>
            <a:endParaRPr lang="en-US" b="0" i="0" dirty="0">
              <a:solidFill>
                <a:srgbClr val="0D0D0D"/>
              </a:solidFill>
              <a:effectLst/>
              <a:latin typeface="Söhne"/>
            </a:endParaRPr>
          </a:p>
          <a:p>
            <a:pPr lvl="1"/>
            <a:r>
              <a:rPr lang="en-US" b="0" i="0" dirty="0">
                <a:solidFill>
                  <a:srgbClr val="0D0D0D"/>
                </a:solidFill>
                <a:effectLst/>
                <a:latin typeface="Söhne"/>
              </a:rPr>
              <a:t>Avoid unnecessary jargon or technical language that may confuse the reader.</a:t>
            </a:r>
          </a:p>
          <a:p>
            <a:pPr lvl="1"/>
            <a:r>
              <a:rPr lang="en-US" b="0" i="0" dirty="0">
                <a:solidFill>
                  <a:srgbClr val="0D0D0D"/>
                </a:solidFill>
                <a:effectLst/>
                <a:latin typeface="Söhne"/>
              </a:rPr>
              <a:t>Be concise and to the point, ensuring each sentence contributes to the overall message.</a:t>
            </a:r>
          </a:p>
          <a:p>
            <a:pPr marL="0" indent="0" algn="l">
              <a:buNone/>
            </a:pPr>
            <a:r>
              <a:rPr lang="en-US" b="1" i="0" dirty="0">
                <a:solidFill>
                  <a:srgbClr val="0D0D0D"/>
                </a:solidFill>
                <a:effectLst/>
                <a:latin typeface="Söhne"/>
              </a:rPr>
              <a:t>8. Include Visuals (if applicable):</a:t>
            </a:r>
            <a:endParaRPr lang="en-US" b="0" i="0" dirty="0">
              <a:solidFill>
                <a:srgbClr val="0D0D0D"/>
              </a:solidFill>
              <a:effectLst/>
              <a:latin typeface="Söhne"/>
            </a:endParaRPr>
          </a:p>
          <a:p>
            <a:pPr lvl="1"/>
            <a:r>
              <a:rPr lang="en-US" b="0" i="0" dirty="0">
                <a:solidFill>
                  <a:srgbClr val="0D0D0D"/>
                </a:solidFill>
                <a:effectLst/>
                <a:latin typeface="Söhne"/>
              </a:rPr>
              <a:t>Use charts, graphs, tables, and other visuals to enhance understanding.</a:t>
            </a:r>
          </a:p>
          <a:p>
            <a:pPr lvl="1"/>
            <a:r>
              <a:rPr lang="en-US" b="0" i="0" dirty="0">
                <a:solidFill>
                  <a:srgbClr val="0D0D0D"/>
                </a:solidFill>
                <a:effectLst/>
                <a:latin typeface="Söhne"/>
              </a:rPr>
              <a:t>Ensure that visuals are relevant and clearly labeled.</a:t>
            </a:r>
          </a:p>
          <a:p>
            <a:pPr marL="0" indent="0" algn="l">
              <a:buNone/>
            </a:pPr>
            <a:r>
              <a:rPr lang="en-US" b="1" i="0" dirty="0">
                <a:solidFill>
                  <a:srgbClr val="0D0D0D"/>
                </a:solidFill>
                <a:effectLst/>
                <a:latin typeface="Söhne"/>
              </a:rPr>
              <a:t>9. Write a Conclusion:</a:t>
            </a:r>
            <a:endParaRPr lang="en-US" b="0" i="0" dirty="0">
              <a:solidFill>
                <a:srgbClr val="0D0D0D"/>
              </a:solidFill>
              <a:effectLst/>
              <a:latin typeface="Söhne"/>
            </a:endParaRPr>
          </a:p>
          <a:p>
            <a:pPr lvl="1"/>
            <a:r>
              <a:rPr lang="en-US" b="0" i="0" dirty="0">
                <a:solidFill>
                  <a:srgbClr val="0D0D0D"/>
                </a:solidFill>
                <a:effectLst/>
                <a:latin typeface="Söhne"/>
              </a:rPr>
              <a:t>Summarize the key findings and main points.</a:t>
            </a:r>
          </a:p>
          <a:p>
            <a:pPr lvl="1"/>
            <a:r>
              <a:rPr lang="en-US" b="0" i="0" dirty="0">
                <a:solidFill>
                  <a:srgbClr val="0D0D0D"/>
                </a:solidFill>
                <a:effectLst/>
                <a:latin typeface="Söhne"/>
              </a:rPr>
              <a:t>Provide recommendations or suggestions if applicable.</a:t>
            </a:r>
          </a:p>
          <a:p>
            <a:pPr marL="0" indent="0">
              <a:buNone/>
            </a:pPr>
            <a:endParaRPr lang="en-IN" dirty="0"/>
          </a:p>
        </p:txBody>
      </p:sp>
    </p:spTree>
    <p:extLst>
      <p:ext uri="{BB962C8B-B14F-4D97-AF65-F5344CB8AC3E}">
        <p14:creationId xmlns:p14="http://schemas.microsoft.com/office/powerpoint/2010/main" val="18225671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89970-B41B-1293-7C52-FAE831B094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C43B67-DC49-F0E9-11B4-A5B0AE5F20CD}"/>
              </a:ext>
            </a:extLst>
          </p:cNvPr>
          <p:cNvSpPr>
            <a:spLocks noGrp="1"/>
          </p:cNvSpPr>
          <p:nvPr>
            <p:ph type="title"/>
          </p:nvPr>
        </p:nvSpPr>
        <p:spPr>
          <a:xfrm>
            <a:off x="58713" y="-339405"/>
            <a:ext cx="10515600" cy="1325563"/>
          </a:xfrm>
        </p:spPr>
        <p:txBody>
          <a:bodyPr/>
          <a:lstStyle/>
          <a:p>
            <a:r>
              <a:rPr lang="en-US" sz="4400" dirty="0">
                <a:effectLst/>
                <a:latin typeface="Cambria" panose="02040503050406030204" pitchFamily="18" charset="0"/>
                <a:ea typeface="Times New Roman" panose="02020603050405020304" pitchFamily="18" charset="0"/>
              </a:rPr>
              <a:t>Different steps in writing report :</a:t>
            </a:r>
            <a:endParaRPr lang="en-IN" dirty="0"/>
          </a:p>
        </p:txBody>
      </p:sp>
      <p:sp>
        <p:nvSpPr>
          <p:cNvPr id="3" name="Content Placeholder 2">
            <a:extLst>
              <a:ext uri="{FF2B5EF4-FFF2-40B4-BE49-F238E27FC236}">
                <a16:creationId xmlns:a16="http://schemas.microsoft.com/office/drawing/2014/main" id="{9B4B727A-E098-5F79-E555-378445CD8981}"/>
              </a:ext>
            </a:extLst>
          </p:cNvPr>
          <p:cNvSpPr>
            <a:spLocks noGrp="1"/>
          </p:cNvSpPr>
          <p:nvPr>
            <p:ph idx="1"/>
          </p:nvPr>
        </p:nvSpPr>
        <p:spPr>
          <a:xfrm>
            <a:off x="148653" y="656394"/>
            <a:ext cx="11648605" cy="6201606"/>
          </a:xfrm>
        </p:spPr>
        <p:txBody>
          <a:bodyPr>
            <a:normAutofit/>
          </a:bodyPr>
          <a:lstStyle/>
          <a:p>
            <a:pPr marL="0" indent="0" algn="l">
              <a:buNone/>
            </a:pPr>
            <a:r>
              <a:rPr lang="en-US" b="1" i="0" dirty="0">
                <a:solidFill>
                  <a:srgbClr val="0D0D0D"/>
                </a:solidFill>
                <a:effectLst/>
                <a:latin typeface="Söhne"/>
              </a:rPr>
              <a:t>10. Cite Sources:</a:t>
            </a:r>
            <a:endParaRPr lang="en-US" b="0" i="0" dirty="0">
              <a:solidFill>
                <a:srgbClr val="0D0D0D"/>
              </a:solidFill>
              <a:effectLst/>
              <a:latin typeface="Söhne"/>
            </a:endParaRPr>
          </a:p>
          <a:p>
            <a:pPr lvl="1"/>
            <a:r>
              <a:rPr lang="en-US" b="0" i="0" dirty="0">
                <a:solidFill>
                  <a:srgbClr val="0D0D0D"/>
                </a:solidFill>
                <a:effectLst/>
                <a:latin typeface="Söhne"/>
              </a:rPr>
              <a:t>Give credit to the sources of information you used.</a:t>
            </a:r>
          </a:p>
          <a:p>
            <a:pPr lvl="1"/>
            <a:r>
              <a:rPr lang="en-US" b="0" i="0" dirty="0">
                <a:solidFill>
                  <a:srgbClr val="0D0D0D"/>
                </a:solidFill>
                <a:effectLst/>
                <a:latin typeface="Söhne"/>
              </a:rPr>
              <a:t>Follow a consistent citation style (e.g., APA, MLA) as per the requirements.</a:t>
            </a:r>
          </a:p>
          <a:p>
            <a:pPr marL="0" indent="0" algn="l">
              <a:buNone/>
            </a:pPr>
            <a:r>
              <a:rPr lang="en-US" b="1" i="0" dirty="0">
                <a:solidFill>
                  <a:srgbClr val="0D0D0D"/>
                </a:solidFill>
                <a:effectLst/>
                <a:latin typeface="Söhne"/>
              </a:rPr>
              <a:t>11. Revise and Edit:</a:t>
            </a:r>
            <a:endParaRPr lang="en-US" b="0" i="0" dirty="0">
              <a:solidFill>
                <a:srgbClr val="0D0D0D"/>
              </a:solidFill>
              <a:effectLst/>
              <a:latin typeface="Söhne"/>
            </a:endParaRPr>
          </a:p>
          <a:p>
            <a:pPr lvl="1"/>
            <a:r>
              <a:rPr lang="en-US" b="0" i="0" dirty="0">
                <a:solidFill>
                  <a:srgbClr val="0D0D0D"/>
                </a:solidFill>
                <a:effectLst/>
                <a:latin typeface="Söhne"/>
              </a:rPr>
              <a:t>Review your report for clarity, coherence, and consistency.</a:t>
            </a:r>
          </a:p>
          <a:p>
            <a:pPr lvl="1"/>
            <a:r>
              <a:rPr lang="en-US" b="0" i="0" dirty="0">
                <a:solidFill>
                  <a:srgbClr val="0D0D0D"/>
                </a:solidFill>
                <a:effectLst/>
                <a:latin typeface="Söhne"/>
              </a:rPr>
              <a:t>Check for grammatical errors, spelling mistakes, and formatting issues.</a:t>
            </a:r>
          </a:p>
          <a:p>
            <a:pPr marL="0" indent="0" algn="l">
              <a:buNone/>
            </a:pPr>
            <a:r>
              <a:rPr lang="en-US" b="1" i="0" dirty="0">
                <a:solidFill>
                  <a:srgbClr val="0D0D0D"/>
                </a:solidFill>
                <a:effectLst/>
                <a:latin typeface="Söhne"/>
              </a:rPr>
              <a:t>12. Get Feedback:</a:t>
            </a:r>
            <a:endParaRPr lang="en-US" b="0" i="0" dirty="0">
              <a:solidFill>
                <a:srgbClr val="0D0D0D"/>
              </a:solidFill>
              <a:effectLst/>
              <a:latin typeface="Söhne"/>
            </a:endParaRPr>
          </a:p>
          <a:p>
            <a:pPr lvl="1"/>
            <a:r>
              <a:rPr lang="en-US" b="0" i="0" dirty="0">
                <a:solidFill>
                  <a:srgbClr val="0D0D0D"/>
                </a:solidFill>
                <a:effectLst/>
                <a:latin typeface="Söhne"/>
              </a:rPr>
              <a:t>Have someone else review your report to get fresh perspectives.</a:t>
            </a:r>
          </a:p>
          <a:p>
            <a:pPr lvl="1"/>
            <a:r>
              <a:rPr lang="en-US" b="0" i="0" dirty="0">
                <a:solidFill>
                  <a:srgbClr val="0D0D0D"/>
                </a:solidFill>
                <a:effectLst/>
                <a:latin typeface="Söhne"/>
              </a:rPr>
              <a:t>Consider feedback and make necessary revisions.</a:t>
            </a:r>
          </a:p>
          <a:p>
            <a:pPr marL="0" indent="0" algn="l">
              <a:buNone/>
            </a:pPr>
            <a:r>
              <a:rPr lang="en-US" b="1" i="0" dirty="0">
                <a:solidFill>
                  <a:srgbClr val="0D0D0D"/>
                </a:solidFill>
                <a:effectLst/>
                <a:latin typeface="Söhne"/>
              </a:rPr>
              <a:t>13. Finalize and Submit:</a:t>
            </a:r>
            <a:endParaRPr lang="en-US" b="0" i="0" dirty="0">
              <a:solidFill>
                <a:srgbClr val="0D0D0D"/>
              </a:solidFill>
              <a:effectLst/>
              <a:latin typeface="Söhne"/>
            </a:endParaRPr>
          </a:p>
          <a:p>
            <a:pPr lvl="1"/>
            <a:r>
              <a:rPr lang="en-US" b="0" i="0" dirty="0">
                <a:solidFill>
                  <a:srgbClr val="0D0D0D"/>
                </a:solidFill>
                <a:effectLst/>
                <a:latin typeface="Söhne"/>
              </a:rPr>
              <a:t>Make the final adjustments based on feedback.</a:t>
            </a:r>
          </a:p>
          <a:p>
            <a:pPr lvl="1"/>
            <a:r>
              <a:rPr lang="en-US" b="0" i="0" dirty="0">
                <a:solidFill>
                  <a:srgbClr val="0D0D0D"/>
                </a:solidFill>
                <a:effectLst/>
                <a:latin typeface="Söhne"/>
              </a:rPr>
              <a:t>Ensure that the report meets all requirements before submitting.</a:t>
            </a:r>
          </a:p>
          <a:p>
            <a:endParaRPr lang="en-IN" dirty="0"/>
          </a:p>
        </p:txBody>
      </p:sp>
    </p:spTree>
    <p:extLst>
      <p:ext uri="{BB962C8B-B14F-4D97-AF65-F5344CB8AC3E}">
        <p14:creationId xmlns:p14="http://schemas.microsoft.com/office/powerpoint/2010/main" val="41005155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0E895-6E8E-484C-AD58-D348C1B879A8}"/>
              </a:ext>
            </a:extLst>
          </p:cNvPr>
          <p:cNvSpPr>
            <a:spLocks noGrp="1"/>
          </p:cNvSpPr>
          <p:nvPr>
            <p:ph type="title"/>
          </p:nvPr>
        </p:nvSpPr>
        <p:spPr>
          <a:xfrm>
            <a:off x="88697" y="-429349"/>
            <a:ext cx="10515600" cy="1325563"/>
          </a:xfrm>
        </p:spPr>
        <p:txBody>
          <a:bodyPr/>
          <a:lstStyle/>
          <a:p>
            <a:r>
              <a:rPr kumimoji="0" lang="en-US" altLang="en-US" sz="4400" b="0" i="0" u="none" strike="noStrike" cap="none" normalizeH="0" baseline="0" dirty="0">
                <a:ln>
                  <a:noFill/>
                </a:ln>
                <a:solidFill>
                  <a:schemeClr val="tx1"/>
                </a:solidFill>
                <a:effectLst/>
                <a:latin typeface="Söhne"/>
              </a:rPr>
              <a:t>Layout of the research report :</a:t>
            </a:r>
            <a:endParaRPr lang="en-IN" dirty="0"/>
          </a:p>
        </p:txBody>
      </p:sp>
      <p:sp>
        <p:nvSpPr>
          <p:cNvPr id="3" name="Content Placeholder 2">
            <a:extLst>
              <a:ext uri="{FF2B5EF4-FFF2-40B4-BE49-F238E27FC236}">
                <a16:creationId xmlns:a16="http://schemas.microsoft.com/office/drawing/2014/main" id="{19C97B75-4D72-B100-1996-0EEE9C3B7E11}"/>
              </a:ext>
            </a:extLst>
          </p:cNvPr>
          <p:cNvSpPr>
            <a:spLocks noGrp="1"/>
          </p:cNvSpPr>
          <p:nvPr>
            <p:ph idx="1"/>
          </p:nvPr>
        </p:nvSpPr>
        <p:spPr>
          <a:xfrm>
            <a:off x="193625" y="551464"/>
            <a:ext cx="11783516" cy="6306536"/>
          </a:xfrm>
        </p:spPr>
        <p:txBody>
          <a:bodyPr>
            <a:normAutofit/>
          </a:bodyPr>
          <a:lstStyle/>
          <a:p>
            <a:pPr marL="0" indent="0" algn="l">
              <a:buNone/>
            </a:pPr>
            <a:r>
              <a:rPr lang="en-US" b="0" i="0" dirty="0">
                <a:solidFill>
                  <a:srgbClr val="0D0D0D"/>
                </a:solidFill>
                <a:effectLst/>
                <a:latin typeface="Söhne"/>
              </a:rPr>
              <a:t>Here's a general layout that you can adapt as needed:</a:t>
            </a:r>
          </a:p>
          <a:p>
            <a:pPr algn="l">
              <a:buFont typeface="+mj-lt"/>
              <a:buAutoNum type="arabicPeriod"/>
            </a:pPr>
            <a:r>
              <a:rPr lang="en-US" b="1" i="0" dirty="0">
                <a:solidFill>
                  <a:srgbClr val="0D0D0D"/>
                </a:solidFill>
                <a:effectLst/>
                <a:latin typeface="Söhne"/>
              </a:rPr>
              <a:t>Title Page:</a:t>
            </a:r>
            <a:endParaRPr lang="en-US" b="0" i="0" dirty="0">
              <a:solidFill>
                <a:srgbClr val="0D0D0D"/>
              </a:solidFill>
              <a:effectLst/>
              <a:latin typeface="Söhne"/>
            </a:endParaRPr>
          </a:p>
          <a:p>
            <a:pPr lvl="1"/>
            <a:r>
              <a:rPr lang="en-US" b="0" i="0" dirty="0">
                <a:solidFill>
                  <a:srgbClr val="0D0D0D"/>
                </a:solidFill>
                <a:effectLst/>
                <a:latin typeface="Söhne"/>
              </a:rPr>
              <a:t>Title of the Research Report</a:t>
            </a:r>
          </a:p>
          <a:p>
            <a:pPr lvl="1"/>
            <a:r>
              <a:rPr lang="en-US" b="0" i="0" dirty="0">
                <a:solidFill>
                  <a:srgbClr val="0D0D0D"/>
                </a:solidFill>
                <a:effectLst/>
                <a:latin typeface="Söhne"/>
              </a:rPr>
              <a:t>Your Name</a:t>
            </a:r>
          </a:p>
          <a:p>
            <a:pPr lvl="1"/>
            <a:r>
              <a:rPr lang="en-US" b="0" i="0" dirty="0">
                <a:solidFill>
                  <a:srgbClr val="0D0D0D"/>
                </a:solidFill>
                <a:effectLst/>
                <a:latin typeface="Söhne"/>
              </a:rPr>
              <a:t>Institutional Affiliation</a:t>
            </a:r>
          </a:p>
          <a:p>
            <a:pPr lvl="1"/>
            <a:r>
              <a:rPr lang="en-US" b="0" i="0" dirty="0">
                <a:solidFill>
                  <a:srgbClr val="0D0D0D"/>
                </a:solidFill>
                <a:effectLst/>
                <a:latin typeface="Söhne"/>
              </a:rPr>
              <a:t>Date of Submission</a:t>
            </a:r>
          </a:p>
          <a:p>
            <a:pPr algn="l">
              <a:buFont typeface="+mj-lt"/>
              <a:buAutoNum type="arabicPeriod"/>
            </a:pPr>
            <a:r>
              <a:rPr lang="en-US" b="1" i="0" dirty="0">
                <a:solidFill>
                  <a:srgbClr val="0D0D0D"/>
                </a:solidFill>
                <a:effectLst/>
                <a:latin typeface="Söhne"/>
              </a:rPr>
              <a:t>Abstract:</a:t>
            </a:r>
            <a:endParaRPr lang="en-US" b="0" i="0" dirty="0">
              <a:solidFill>
                <a:srgbClr val="0D0D0D"/>
              </a:solidFill>
              <a:effectLst/>
              <a:latin typeface="Söhne"/>
            </a:endParaRPr>
          </a:p>
          <a:p>
            <a:pPr lvl="1"/>
            <a:r>
              <a:rPr lang="en-US" b="0" i="0" dirty="0">
                <a:solidFill>
                  <a:srgbClr val="0D0D0D"/>
                </a:solidFill>
                <a:effectLst/>
                <a:latin typeface="Söhne"/>
              </a:rPr>
              <a:t>A brief summary of the research, including the problem, methodology, key findings, and conclusions.</a:t>
            </a:r>
          </a:p>
          <a:p>
            <a:pPr lvl="1"/>
            <a:r>
              <a:rPr lang="en-US" b="0" i="0" dirty="0">
                <a:solidFill>
                  <a:srgbClr val="0D0D0D"/>
                </a:solidFill>
                <a:effectLst/>
                <a:latin typeface="Söhne"/>
              </a:rPr>
              <a:t>Typically limited to 150-250 words.</a:t>
            </a:r>
          </a:p>
          <a:p>
            <a:pPr algn="l">
              <a:buFont typeface="+mj-lt"/>
              <a:buAutoNum type="arabicPeriod"/>
            </a:pPr>
            <a:r>
              <a:rPr lang="en-US" b="1" i="0" dirty="0">
                <a:solidFill>
                  <a:srgbClr val="0D0D0D"/>
                </a:solidFill>
                <a:effectLst/>
                <a:latin typeface="Söhne"/>
              </a:rPr>
              <a:t>Table of Contents:</a:t>
            </a:r>
            <a:endParaRPr lang="en-US" b="0" i="0" dirty="0">
              <a:solidFill>
                <a:srgbClr val="0D0D0D"/>
              </a:solidFill>
              <a:effectLst/>
              <a:latin typeface="Söhne"/>
            </a:endParaRPr>
          </a:p>
          <a:p>
            <a:pPr lvl="1"/>
            <a:r>
              <a:rPr lang="en-US" b="0" i="0" dirty="0">
                <a:solidFill>
                  <a:srgbClr val="0D0D0D"/>
                </a:solidFill>
                <a:effectLst/>
                <a:latin typeface="Söhne"/>
              </a:rPr>
              <a:t>List of all sections and subsections with corresponding page numbers.</a:t>
            </a:r>
          </a:p>
        </p:txBody>
      </p:sp>
    </p:spTree>
    <p:extLst>
      <p:ext uri="{BB962C8B-B14F-4D97-AF65-F5344CB8AC3E}">
        <p14:creationId xmlns:p14="http://schemas.microsoft.com/office/powerpoint/2010/main" val="26264744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D0440-CD3D-04C3-33D9-A6D4FFAFCD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8C1B8E-2EB1-5F71-0F0E-983AB013B9C4}"/>
              </a:ext>
            </a:extLst>
          </p:cNvPr>
          <p:cNvSpPr>
            <a:spLocks noGrp="1"/>
          </p:cNvSpPr>
          <p:nvPr>
            <p:ph type="title"/>
          </p:nvPr>
        </p:nvSpPr>
        <p:spPr>
          <a:xfrm>
            <a:off x="88697" y="-429349"/>
            <a:ext cx="10515600" cy="1325563"/>
          </a:xfrm>
        </p:spPr>
        <p:txBody>
          <a:bodyPr/>
          <a:lstStyle/>
          <a:p>
            <a:r>
              <a:rPr kumimoji="0" lang="en-US" altLang="en-US" sz="4400" b="0" i="0" u="none" strike="noStrike" cap="none" normalizeH="0" baseline="0" dirty="0">
                <a:ln>
                  <a:noFill/>
                </a:ln>
                <a:solidFill>
                  <a:schemeClr val="tx1"/>
                </a:solidFill>
                <a:effectLst/>
                <a:latin typeface="Söhne"/>
              </a:rPr>
              <a:t>Layout of the research report :</a:t>
            </a:r>
            <a:endParaRPr lang="en-IN" dirty="0"/>
          </a:p>
        </p:txBody>
      </p:sp>
      <p:sp>
        <p:nvSpPr>
          <p:cNvPr id="3" name="Content Placeholder 2">
            <a:extLst>
              <a:ext uri="{FF2B5EF4-FFF2-40B4-BE49-F238E27FC236}">
                <a16:creationId xmlns:a16="http://schemas.microsoft.com/office/drawing/2014/main" id="{06256D96-9431-AC3D-98EB-70129353FF58}"/>
              </a:ext>
            </a:extLst>
          </p:cNvPr>
          <p:cNvSpPr>
            <a:spLocks noGrp="1"/>
          </p:cNvSpPr>
          <p:nvPr>
            <p:ph idx="1"/>
          </p:nvPr>
        </p:nvSpPr>
        <p:spPr>
          <a:xfrm>
            <a:off x="193625" y="551464"/>
            <a:ext cx="11783516" cy="6306536"/>
          </a:xfrm>
        </p:spPr>
        <p:txBody>
          <a:bodyPr>
            <a:normAutofit/>
          </a:bodyPr>
          <a:lstStyle/>
          <a:p>
            <a:pPr marL="0" indent="0" algn="l">
              <a:buNone/>
            </a:pPr>
            <a:r>
              <a:rPr lang="en-US" b="1" i="0" dirty="0">
                <a:solidFill>
                  <a:srgbClr val="0D0D0D"/>
                </a:solidFill>
                <a:effectLst/>
                <a:latin typeface="Söhne"/>
              </a:rPr>
              <a:t>4. List of Figures and Tables:</a:t>
            </a:r>
            <a:endParaRPr lang="en-US" b="0" i="0" dirty="0">
              <a:solidFill>
                <a:srgbClr val="0D0D0D"/>
              </a:solidFill>
              <a:effectLst/>
              <a:latin typeface="Söhne"/>
            </a:endParaRPr>
          </a:p>
          <a:p>
            <a:pPr lvl="1"/>
            <a:r>
              <a:rPr lang="en-US" b="0" i="0" dirty="0">
                <a:solidFill>
                  <a:srgbClr val="0D0D0D"/>
                </a:solidFill>
                <a:effectLst/>
                <a:latin typeface="Söhne"/>
              </a:rPr>
              <a:t>If applicable, include a separate list of all figures and tables with page numbers.</a:t>
            </a:r>
          </a:p>
          <a:p>
            <a:pPr marL="0" indent="0" algn="l">
              <a:buNone/>
            </a:pPr>
            <a:r>
              <a:rPr lang="en-US" b="1" i="0" dirty="0">
                <a:solidFill>
                  <a:srgbClr val="0D0D0D"/>
                </a:solidFill>
                <a:effectLst/>
                <a:latin typeface="Söhne"/>
              </a:rPr>
              <a:t>5. List of Abbreviations and Symbols:</a:t>
            </a:r>
            <a:endParaRPr lang="en-US" b="0" i="0" dirty="0">
              <a:solidFill>
                <a:srgbClr val="0D0D0D"/>
              </a:solidFill>
              <a:effectLst/>
              <a:latin typeface="Söhne"/>
            </a:endParaRPr>
          </a:p>
          <a:p>
            <a:pPr lvl="1"/>
            <a:r>
              <a:rPr lang="en-US" b="0" i="0" dirty="0">
                <a:solidFill>
                  <a:srgbClr val="0D0D0D"/>
                </a:solidFill>
                <a:effectLst/>
                <a:latin typeface="Söhne"/>
              </a:rPr>
              <a:t>Include any abbreviations or symbols used in the report along with their meanings.</a:t>
            </a:r>
          </a:p>
          <a:p>
            <a:pPr marL="0" indent="0" algn="l">
              <a:buNone/>
            </a:pPr>
            <a:r>
              <a:rPr lang="en-US" b="1" i="0" dirty="0">
                <a:solidFill>
                  <a:srgbClr val="0D0D0D"/>
                </a:solidFill>
                <a:effectLst/>
                <a:latin typeface="Söhne"/>
              </a:rPr>
              <a:t>6. Introduction:</a:t>
            </a:r>
            <a:endParaRPr lang="en-US" b="0" i="0" dirty="0">
              <a:solidFill>
                <a:srgbClr val="0D0D0D"/>
              </a:solidFill>
              <a:effectLst/>
              <a:latin typeface="Söhne"/>
            </a:endParaRPr>
          </a:p>
          <a:p>
            <a:pPr lvl="1"/>
            <a:r>
              <a:rPr lang="en-US" b="0" i="0" dirty="0">
                <a:solidFill>
                  <a:srgbClr val="0D0D0D"/>
                </a:solidFill>
                <a:effectLst/>
                <a:latin typeface="Söhne"/>
              </a:rPr>
              <a:t>Background information on the research topic.</a:t>
            </a:r>
          </a:p>
          <a:p>
            <a:pPr lvl="1"/>
            <a:r>
              <a:rPr lang="en-US" b="0" i="0" dirty="0">
                <a:solidFill>
                  <a:srgbClr val="0D0D0D"/>
                </a:solidFill>
                <a:effectLst/>
                <a:latin typeface="Söhne"/>
              </a:rPr>
              <a:t>Statement of the problem or research question.</a:t>
            </a:r>
          </a:p>
          <a:p>
            <a:pPr lvl="1"/>
            <a:r>
              <a:rPr lang="en-US" b="0" i="0" dirty="0">
                <a:solidFill>
                  <a:srgbClr val="0D0D0D"/>
                </a:solidFill>
                <a:effectLst/>
                <a:latin typeface="Söhne"/>
              </a:rPr>
              <a:t>Objectives and scope of the study.</a:t>
            </a:r>
          </a:p>
          <a:p>
            <a:pPr lvl="1"/>
            <a:r>
              <a:rPr lang="en-US" b="0" i="0" dirty="0">
                <a:solidFill>
                  <a:srgbClr val="0D0D0D"/>
                </a:solidFill>
                <a:effectLst/>
                <a:latin typeface="Söhne"/>
              </a:rPr>
              <a:t>Hypothesis (if applicable).</a:t>
            </a:r>
          </a:p>
          <a:p>
            <a:pPr marL="0" indent="0" algn="l">
              <a:buNone/>
            </a:pPr>
            <a:r>
              <a:rPr lang="en-US" b="1" i="0" dirty="0">
                <a:solidFill>
                  <a:srgbClr val="0D0D0D"/>
                </a:solidFill>
                <a:effectLst/>
                <a:latin typeface="Söhne"/>
              </a:rPr>
              <a:t>7. Literature Review:</a:t>
            </a:r>
            <a:endParaRPr lang="en-US" b="0" i="0" dirty="0">
              <a:solidFill>
                <a:srgbClr val="0D0D0D"/>
              </a:solidFill>
              <a:effectLst/>
              <a:latin typeface="Söhne"/>
            </a:endParaRPr>
          </a:p>
          <a:p>
            <a:pPr lvl="1"/>
            <a:r>
              <a:rPr lang="en-US" b="0" i="0" dirty="0">
                <a:solidFill>
                  <a:srgbClr val="0D0D0D"/>
                </a:solidFill>
                <a:effectLst/>
                <a:latin typeface="Söhne"/>
              </a:rPr>
              <a:t>Review of relevant literature related to the research topic.</a:t>
            </a:r>
          </a:p>
          <a:p>
            <a:pPr lvl="1"/>
            <a:r>
              <a:rPr lang="en-US" b="0" i="0" dirty="0">
                <a:solidFill>
                  <a:srgbClr val="0D0D0D"/>
                </a:solidFill>
                <a:effectLst/>
                <a:latin typeface="Söhne"/>
              </a:rPr>
              <a:t>Identification of gaps in existing knowledge.</a:t>
            </a:r>
          </a:p>
          <a:p>
            <a:pPr lvl="1"/>
            <a:r>
              <a:rPr lang="en-US" b="0" i="0" dirty="0">
                <a:solidFill>
                  <a:srgbClr val="0D0D0D"/>
                </a:solidFill>
                <a:effectLst/>
                <a:latin typeface="Söhne"/>
              </a:rPr>
              <a:t>Justification for the current study.</a:t>
            </a:r>
          </a:p>
          <a:p>
            <a:endParaRPr lang="en-IN" dirty="0"/>
          </a:p>
        </p:txBody>
      </p:sp>
    </p:spTree>
    <p:extLst>
      <p:ext uri="{BB962C8B-B14F-4D97-AF65-F5344CB8AC3E}">
        <p14:creationId xmlns:p14="http://schemas.microsoft.com/office/powerpoint/2010/main" val="4189990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8CE7E-4346-D9A0-5D5D-388E15DB03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9CD447-2937-B142-AEB2-FC6AF15FCE3B}"/>
              </a:ext>
            </a:extLst>
          </p:cNvPr>
          <p:cNvSpPr>
            <a:spLocks noGrp="1"/>
          </p:cNvSpPr>
          <p:nvPr>
            <p:ph type="title"/>
          </p:nvPr>
        </p:nvSpPr>
        <p:spPr>
          <a:xfrm>
            <a:off x="88697" y="-429349"/>
            <a:ext cx="10515600" cy="1325563"/>
          </a:xfrm>
        </p:spPr>
        <p:txBody>
          <a:bodyPr/>
          <a:lstStyle/>
          <a:p>
            <a:r>
              <a:rPr kumimoji="0" lang="en-US" altLang="en-US" sz="4400" b="0" i="0" u="none" strike="noStrike" cap="none" normalizeH="0" baseline="0" dirty="0">
                <a:ln>
                  <a:noFill/>
                </a:ln>
                <a:solidFill>
                  <a:schemeClr val="tx1"/>
                </a:solidFill>
                <a:effectLst/>
                <a:latin typeface="Söhne"/>
              </a:rPr>
              <a:t>Layout of the research report :</a:t>
            </a:r>
            <a:endParaRPr lang="en-IN" dirty="0"/>
          </a:p>
        </p:txBody>
      </p:sp>
      <p:sp>
        <p:nvSpPr>
          <p:cNvPr id="3" name="Content Placeholder 2">
            <a:extLst>
              <a:ext uri="{FF2B5EF4-FFF2-40B4-BE49-F238E27FC236}">
                <a16:creationId xmlns:a16="http://schemas.microsoft.com/office/drawing/2014/main" id="{987F35E4-E8F5-D4AA-153A-F2E5E7504C8A}"/>
              </a:ext>
            </a:extLst>
          </p:cNvPr>
          <p:cNvSpPr>
            <a:spLocks noGrp="1"/>
          </p:cNvSpPr>
          <p:nvPr>
            <p:ph idx="1"/>
          </p:nvPr>
        </p:nvSpPr>
        <p:spPr>
          <a:xfrm>
            <a:off x="193625" y="551464"/>
            <a:ext cx="11783516" cy="6306536"/>
          </a:xfrm>
        </p:spPr>
        <p:txBody>
          <a:bodyPr>
            <a:normAutofit/>
          </a:bodyPr>
          <a:lstStyle/>
          <a:p>
            <a:pPr marL="0" indent="0" algn="l">
              <a:buNone/>
            </a:pPr>
            <a:r>
              <a:rPr lang="en-US" b="1" i="0" dirty="0">
                <a:solidFill>
                  <a:srgbClr val="0D0D0D"/>
                </a:solidFill>
                <a:effectLst/>
                <a:latin typeface="Söhne"/>
              </a:rPr>
              <a:t>8. Methodology:</a:t>
            </a:r>
            <a:endParaRPr lang="en-US" b="0" i="0" dirty="0">
              <a:solidFill>
                <a:srgbClr val="0D0D0D"/>
              </a:solidFill>
              <a:effectLst/>
              <a:latin typeface="Söhne"/>
            </a:endParaRPr>
          </a:p>
          <a:p>
            <a:pPr lvl="1"/>
            <a:r>
              <a:rPr lang="en-US" b="0" i="0" dirty="0">
                <a:solidFill>
                  <a:srgbClr val="0D0D0D"/>
                </a:solidFill>
                <a:effectLst/>
                <a:latin typeface="Söhne"/>
              </a:rPr>
              <a:t>Description of the research design, participants, and sampling method.</a:t>
            </a:r>
          </a:p>
          <a:p>
            <a:pPr lvl="1"/>
            <a:r>
              <a:rPr lang="en-US" b="0" i="0" dirty="0">
                <a:solidFill>
                  <a:srgbClr val="0D0D0D"/>
                </a:solidFill>
                <a:effectLst/>
                <a:latin typeface="Söhne"/>
              </a:rPr>
              <a:t>Explanation of data collection methods and tools.</a:t>
            </a:r>
          </a:p>
          <a:p>
            <a:pPr lvl="1"/>
            <a:r>
              <a:rPr lang="en-US" b="0" i="0" dirty="0">
                <a:solidFill>
                  <a:srgbClr val="0D0D0D"/>
                </a:solidFill>
                <a:effectLst/>
                <a:latin typeface="Söhne"/>
              </a:rPr>
              <a:t>Details on data analysis procedures.</a:t>
            </a:r>
          </a:p>
          <a:p>
            <a:pPr marL="0" indent="0" algn="l">
              <a:buNone/>
            </a:pPr>
            <a:r>
              <a:rPr lang="en-US" b="1" i="0" dirty="0">
                <a:solidFill>
                  <a:srgbClr val="0D0D0D"/>
                </a:solidFill>
                <a:effectLst/>
                <a:latin typeface="Söhne"/>
              </a:rPr>
              <a:t>9. Results:</a:t>
            </a:r>
            <a:endParaRPr lang="en-US" b="0" i="0" dirty="0">
              <a:solidFill>
                <a:srgbClr val="0D0D0D"/>
              </a:solidFill>
              <a:effectLst/>
              <a:latin typeface="Söhne"/>
            </a:endParaRPr>
          </a:p>
          <a:p>
            <a:pPr lvl="1"/>
            <a:r>
              <a:rPr lang="en-US" b="0" i="0" dirty="0">
                <a:solidFill>
                  <a:srgbClr val="0D0D0D"/>
                </a:solidFill>
                <a:effectLst/>
                <a:latin typeface="Söhne"/>
              </a:rPr>
              <a:t>Presentation of the research findings.</a:t>
            </a:r>
          </a:p>
          <a:p>
            <a:pPr lvl="1"/>
            <a:r>
              <a:rPr lang="en-US" b="0" i="0" dirty="0">
                <a:solidFill>
                  <a:srgbClr val="0D0D0D"/>
                </a:solidFill>
                <a:effectLst/>
                <a:latin typeface="Söhne"/>
              </a:rPr>
              <a:t>Use of tables, graphs, charts, or other visuals to illustrate data.</a:t>
            </a:r>
          </a:p>
          <a:p>
            <a:pPr marL="0" indent="0" algn="l">
              <a:buNone/>
            </a:pPr>
            <a:r>
              <a:rPr lang="en-US" b="1" i="0" dirty="0">
                <a:solidFill>
                  <a:srgbClr val="0D0D0D"/>
                </a:solidFill>
                <a:effectLst/>
                <a:latin typeface="Söhne"/>
              </a:rPr>
              <a:t>10. Discussion:</a:t>
            </a:r>
            <a:endParaRPr lang="en-US" b="0" i="0" dirty="0">
              <a:solidFill>
                <a:srgbClr val="0D0D0D"/>
              </a:solidFill>
              <a:effectLst/>
              <a:latin typeface="Söhne"/>
            </a:endParaRPr>
          </a:p>
          <a:p>
            <a:pPr lvl="1"/>
            <a:r>
              <a:rPr lang="en-US" b="0" i="0" dirty="0">
                <a:solidFill>
                  <a:srgbClr val="0D0D0D"/>
                </a:solidFill>
                <a:effectLst/>
                <a:latin typeface="Söhne"/>
              </a:rPr>
              <a:t>Interpretation of results.</a:t>
            </a:r>
          </a:p>
          <a:p>
            <a:pPr lvl="1"/>
            <a:r>
              <a:rPr lang="en-US" b="0" i="0" dirty="0">
                <a:solidFill>
                  <a:srgbClr val="0D0D0D"/>
                </a:solidFill>
                <a:effectLst/>
                <a:latin typeface="Söhne"/>
              </a:rPr>
              <a:t>Comparison of findings with existing literature.</a:t>
            </a:r>
          </a:p>
          <a:p>
            <a:pPr lvl="1"/>
            <a:r>
              <a:rPr lang="en-US" b="0" i="0" dirty="0">
                <a:solidFill>
                  <a:srgbClr val="0D0D0D"/>
                </a:solidFill>
                <a:effectLst/>
                <a:latin typeface="Söhne"/>
              </a:rPr>
              <a:t>Exploration of implications and limitations.</a:t>
            </a:r>
          </a:p>
          <a:p>
            <a:pPr lvl="1"/>
            <a:r>
              <a:rPr lang="en-US" b="0" i="0" dirty="0">
                <a:solidFill>
                  <a:srgbClr val="0D0D0D"/>
                </a:solidFill>
                <a:effectLst/>
                <a:latin typeface="Söhne"/>
              </a:rPr>
              <a:t>Suggestions for future research.</a:t>
            </a:r>
          </a:p>
        </p:txBody>
      </p:sp>
    </p:spTree>
    <p:extLst>
      <p:ext uri="{BB962C8B-B14F-4D97-AF65-F5344CB8AC3E}">
        <p14:creationId xmlns:p14="http://schemas.microsoft.com/office/powerpoint/2010/main" val="20075337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437A4-DD0F-09C8-C220-3644965A8B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B5A972-22C0-BF5F-D01B-74816E7CE386}"/>
              </a:ext>
            </a:extLst>
          </p:cNvPr>
          <p:cNvSpPr>
            <a:spLocks noGrp="1"/>
          </p:cNvSpPr>
          <p:nvPr>
            <p:ph type="title"/>
          </p:nvPr>
        </p:nvSpPr>
        <p:spPr>
          <a:xfrm>
            <a:off x="88697" y="-429349"/>
            <a:ext cx="10515600" cy="1325563"/>
          </a:xfrm>
        </p:spPr>
        <p:txBody>
          <a:bodyPr/>
          <a:lstStyle/>
          <a:p>
            <a:r>
              <a:rPr kumimoji="0" lang="en-US" altLang="en-US" sz="4400" b="0" i="0" u="none" strike="noStrike" cap="none" normalizeH="0" baseline="0" dirty="0">
                <a:ln>
                  <a:noFill/>
                </a:ln>
                <a:solidFill>
                  <a:schemeClr val="tx1"/>
                </a:solidFill>
                <a:effectLst/>
                <a:latin typeface="Söhne"/>
              </a:rPr>
              <a:t>Layout of the research report :</a:t>
            </a:r>
            <a:endParaRPr lang="en-IN" dirty="0"/>
          </a:p>
        </p:txBody>
      </p:sp>
      <p:sp>
        <p:nvSpPr>
          <p:cNvPr id="3" name="Content Placeholder 2">
            <a:extLst>
              <a:ext uri="{FF2B5EF4-FFF2-40B4-BE49-F238E27FC236}">
                <a16:creationId xmlns:a16="http://schemas.microsoft.com/office/drawing/2014/main" id="{571708B3-3CA2-ADCB-4408-F334CBE33FE4}"/>
              </a:ext>
            </a:extLst>
          </p:cNvPr>
          <p:cNvSpPr>
            <a:spLocks noGrp="1"/>
          </p:cNvSpPr>
          <p:nvPr>
            <p:ph idx="1"/>
          </p:nvPr>
        </p:nvSpPr>
        <p:spPr>
          <a:xfrm>
            <a:off x="193625" y="551464"/>
            <a:ext cx="11783516" cy="6306536"/>
          </a:xfrm>
        </p:spPr>
        <p:txBody>
          <a:bodyPr>
            <a:normAutofit/>
          </a:bodyPr>
          <a:lstStyle/>
          <a:p>
            <a:pPr marL="0" indent="0" algn="l">
              <a:buNone/>
            </a:pPr>
            <a:r>
              <a:rPr lang="en-US" b="1" i="0" dirty="0">
                <a:solidFill>
                  <a:srgbClr val="0D0D0D"/>
                </a:solidFill>
                <a:effectLst/>
                <a:latin typeface="Söhne"/>
              </a:rPr>
              <a:t>11. Conclusion:</a:t>
            </a:r>
            <a:endParaRPr lang="en-US" b="0" i="0" dirty="0">
              <a:solidFill>
                <a:srgbClr val="0D0D0D"/>
              </a:solidFill>
              <a:effectLst/>
              <a:latin typeface="Söhne"/>
            </a:endParaRPr>
          </a:p>
          <a:p>
            <a:pPr lvl="1"/>
            <a:r>
              <a:rPr lang="en-US" b="0" i="0" dirty="0">
                <a:solidFill>
                  <a:srgbClr val="0D0D0D"/>
                </a:solidFill>
                <a:effectLst/>
                <a:latin typeface="Söhne"/>
              </a:rPr>
              <a:t>Summary of key findings.</a:t>
            </a:r>
          </a:p>
          <a:p>
            <a:pPr lvl="1"/>
            <a:r>
              <a:rPr lang="en-US" b="0" i="0" dirty="0">
                <a:solidFill>
                  <a:srgbClr val="0D0D0D"/>
                </a:solidFill>
                <a:effectLst/>
                <a:latin typeface="Söhne"/>
              </a:rPr>
              <a:t>Concluding remarks.</a:t>
            </a:r>
          </a:p>
          <a:p>
            <a:pPr lvl="1"/>
            <a:r>
              <a:rPr lang="en-US" b="0" i="0" dirty="0">
                <a:solidFill>
                  <a:srgbClr val="0D0D0D"/>
                </a:solidFill>
                <a:effectLst/>
                <a:latin typeface="Söhne"/>
              </a:rPr>
              <a:t>Recommendations (if applicable).</a:t>
            </a:r>
          </a:p>
          <a:p>
            <a:pPr marL="0" indent="0" algn="l">
              <a:buNone/>
            </a:pPr>
            <a:r>
              <a:rPr lang="en-US" b="1" i="0" dirty="0">
                <a:solidFill>
                  <a:srgbClr val="0D0D0D"/>
                </a:solidFill>
                <a:effectLst/>
                <a:latin typeface="Söhne"/>
              </a:rPr>
              <a:t>12. References:</a:t>
            </a:r>
            <a:endParaRPr lang="en-US" b="0" i="0" dirty="0">
              <a:solidFill>
                <a:srgbClr val="0D0D0D"/>
              </a:solidFill>
              <a:effectLst/>
              <a:latin typeface="Söhne"/>
            </a:endParaRPr>
          </a:p>
          <a:p>
            <a:pPr lvl="1"/>
            <a:r>
              <a:rPr lang="en-US" b="0" i="0" dirty="0">
                <a:solidFill>
                  <a:srgbClr val="0D0D0D"/>
                </a:solidFill>
                <a:effectLst/>
                <a:latin typeface="Söhne"/>
              </a:rPr>
              <a:t>List of all sources cited in the report.</a:t>
            </a:r>
          </a:p>
          <a:p>
            <a:pPr lvl="1"/>
            <a:r>
              <a:rPr lang="en-US" b="0" i="0" dirty="0">
                <a:solidFill>
                  <a:srgbClr val="0D0D0D"/>
                </a:solidFill>
                <a:effectLst/>
                <a:latin typeface="Söhne"/>
              </a:rPr>
              <a:t>Follow a specific citation style (e.g., APA, MLA, Chicago).</a:t>
            </a:r>
          </a:p>
          <a:p>
            <a:pPr marL="0" indent="0" algn="l">
              <a:buNone/>
            </a:pPr>
            <a:r>
              <a:rPr lang="en-US" b="1" i="0" dirty="0">
                <a:solidFill>
                  <a:srgbClr val="0D0D0D"/>
                </a:solidFill>
                <a:effectLst/>
                <a:latin typeface="Söhne"/>
              </a:rPr>
              <a:t>13. Appendices:</a:t>
            </a:r>
            <a:endParaRPr lang="en-US" b="0" i="0" dirty="0">
              <a:solidFill>
                <a:srgbClr val="0D0D0D"/>
              </a:solidFill>
              <a:effectLst/>
              <a:latin typeface="Söhne"/>
            </a:endParaRPr>
          </a:p>
          <a:p>
            <a:pPr lvl="1"/>
            <a:r>
              <a:rPr lang="en-US" b="0" i="0" dirty="0">
                <a:solidFill>
                  <a:srgbClr val="0D0D0D"/>
                </a:solidFill>
                <a:effectLst/>
                <a:latin typeface="Söhne"/>
              </a:rPr>
              <a:t>Additional materials such as raw data, questionnaires, or supplementary information.</a:t>
            </a:r>
          </a:p>
          <a:p>
            <a:pPr lvl="1"/>
            <a:r>
              <a:rPr lang="en-US" b="0" i="0" dirty="0">
                <a:solidFill>
                  <a:srgbClr val="0D0D0D"/>
                </a:solidFill>
                <a:effectLst/>
                <a:latin typeface="Söhne"/>
              </a:rPr>
              <a:t>Each appendix should be labeled and referenced in the main text.</a:t>
            </a:r>
          </a:p>
          <a:p>
            <a:endParaRPr lang="en-IN" dirty="0"/>
          </a:p>
        </p:txBody>
      </p:sp>
    </p:spTree>
    <p:extLst>
      <p:ext uri="{BB962C8B-B14F-4D97-AF65-F5344CB8AC3E}">
        <p14:creationId xmlns:p14="http://schemas.microsoft.com/office/powerpoint/2010/main" val="22176103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C6F21-DE79-1205-3F36-8F88380B2893}"/>
              </a:ext>
            </a:extLst>
          </p:cNvPr>
          <p:cNvSpPr>
            <a:spLocks noGrp="1"/>
          </p:cNvSpPr>
          <p:nvPr>
            <p:ph type="title"/>
          </p:nvPr>
        </p:nvSpPr>
        <p:spPr>
          <a:xfrm>
            <a:off x="838200" y="-369386"/>
            <a:ext cx="10515600" cy="1325563"/>
          </a:xfrm>
        </p:spPr>
        <p:txBody>
          <a:bodyPr/>
          <a:lstStyle/>
          <a:p>
            <a:r>
              <a:rPr lang="en-US" sz="4400" dirty="0">
                <a:effectLst/>
                <a:latin typeface="Cambria" panose="02040503050406030204" pitchFamily="18" charset="0"/>
                <a:ea typeface="Times New Roman" panose="02020603050405020304" pitchFamily="18" charset="0"/>
              </a:rPr>
              <a:t>Mechanics of writing a research report</a:t>
            </a:r>
            <a:r>
              <a:rPr lang="en-IN" dirty="0">
                <a:latin typeface="Times New Roman" panose="02020603050405020304" pitchFamily="18" charset="0"/>
                <a:ea typeface="Times New Roman" panose="02020603050405020304" pitchFamily="18" charset="0"/>
              </a:rPr>
              <a:t>:</a:t>
            </a:r>
            <a:endParaRPr lang="en-IN" dirty="0"/>
          </a:p>
        </p:txBody>
      </p:sp>
      <p:sp>
        <p:nvSpPr>
          <p:cNvPr id="3" name="Content Placeholder 2">
            <a:extLst>
              <a:ext uri="{FF2B5EF4-FFF2-40B4-BE49-F238E27FC236}">
                <a16:creationId xmlns:a16="http://schemas.microsoft.com/office/drawing/2014/main" id="{0B31C4CB-78B1-89C0-14B0-E90BFF992871}"/>
              </a:ext>
            </a:extLst>
          </p:cNvPr>
          <p:cNvSpPr>
            <a:spLocks noGrp="1"/>
          </p:cNvSpPr>
          <p:nvPr>
            <p:ph idx="1"/>
          </p:nvPr>
        </p:nvSpPr>
        <p:spPr>
          <a:xfrm>
            <a:off x="298555" y="611425"/>
            <a:ext cx="11468723" cy="6089178"/>
          </a:xfrm>
        </p:spPr>
        <p:txBody>
          <a:bodyPr>
            <a:normAutofit fontScale="85000" lnSpcReduction="20000"/>
          </a:bodyPr>
          <a:lstStyle/>
          <a:p>
            <a:pPr algn="l"/>
            <a:r>
              <a:rPr lang="en-US" b="0" i="0" dirty="0">
                <a:solidFill>
                  <a:srgbClr val="0D0D0D"/>
                </a:solidFill>
                <a:effectLst/>
                <a:latin typeface="Söhne"/>
              </a:rPr>
              <a:t>Here are some key aspects to consider:</a:t>
            </a:r>
          </a:p>
          <a:p>
            <a:pPr algn="l">
              <a:buFont typeface="+mj-lt"/>
              <a:buAutoNum type="arabicPeriod"/>
            </a:pPr>
            <a:r>
              <a:rPr lang="en-US" b="1" i="0" dirty="0">
                <a:solidFill>
                  <a:srgbClr val="0D0D0D"/>
                </a:solidFill>
                <a:effectLst/>
                <a:latin typeface="Söhne"/>
              </a:rPr>
              <a:t>Language and Style:</a:t>
            </a:r>
            <a:endParaRPr lang="en-US" b="0" i="0" dirty="0">
              <a:solidFill>
                <a:srgbClr val="0D0D0D"/>
              </a:solidFill>
              <a:effectLst/>
              <a:latin typeface="Söhne"/>
            </a:endParaRPr>
          </a:p>
          <a:p>
            <a:pPr lvl="1"/>
            <a:r>
              <a:rPr lang="en-US" b="0" i="0" dirty="0">
                <a:solidFill>
                  <a:srgbClr val="0D0D0D"/>
                </a:solidFill>
                <a:effectLst/>
                <a:latin typeface="Söhne"/>
              </a:rPr>
              <a:t>Use clear and concise language.</a:t>
            </a:r>
          </a:p>
          <a:p>
            <a:pPr lvl="1"/>
            <a:r>
              <a:rPr lang="en-US" b="0" i="0" dirty="0">
                <a:solidFill>
                  <a:srgbClr val="0D0D0D"/>
                </a:solidFill>
                <a:effectLst/>
                <a:latin typeface="Söhne"/>
              </a:rPr>
              <a:t>Be formal and objective in your writing.</a:t>
            </a:r>
          </a:p>
          <a:p>
            <a:pPr lvl="1"/>
            <a:r>
              <a:rPr lang="en-US" b="0" i="0" dirty="0">
                <a:solidFill>
                  <a:srgbClr val="0D0D0D"/>
                </a:solidFill>
                <a:effectLst/>
                <a:latin typeface="Söhne"/>
              </a:rPr>
              <a:t>Avoid the use of first-person pronouns (e.g., "I" or "we") unless specifically allowed.</a:t>
            </a:r>
          </a:p>
          <a:p>
            <a:pPr algn="l">
              <a:buFont typeface="+mj-lt"/>
              <a:buAutoNum type="arabicPeriod"/>
            </a:pPr>
            <a:r>
              <a:rPr lang="en-US" b="1" i="0" dirty="0">
                <a:solidFill>
                  <a:srgbClr val="0D0D0D"/>
                </a:solidFill>
                <a:effectLst/>
                <a:latin typeface="Söhne"/>
              </a:rPr>
              <a:t>Grammar and Punctuation:</a:t>
            </a:r>
            <a:endParaRPr lang="en-US" b="0" i="0" dirty="0">
              <a:solidFill>
                <a:srgbClr val="0D0D0D"/>
              </a:solidFill>
              <a:effectLst/>
              <a:latin typeface="Söhne"/>
            </a:endParaRPr>
          </a:p>
          <a:p>
            <a:pPr lvl="1"/>
            <a:r>
              <a:rPr lang="en-US" b="0" i="0" dirty="0">
                <a:solidFill>
                  <a:srgbClr val="0D0D0D"/>
                </a:solidFill>
                <a:effectLst/>
                <a:latin typeface="Söhne"/>
              </a:rPr>
              <a:t>Ensure proper grammar and punctuation throughout the report.</a:t>
            </a:r>
          </a:p>
          <a:p>
            <a:pPr lvl="1"/>
            <a:r>
              <a:rPr lang="en-US" b="0" i="0" dirty="0">
                <a:solidFill>
                  <a:srgbClr val="0D0D0D"/>
                </a:solidFill>
                <a:effectLst/>
                <a:latin typeface="Söhne"/>
              </a:rPr>
              <a:t>Use consistent verb tense and maintain a formal tone.</a:t>
            </a:r>
          </a:p>
          <a:p>
            <a:pPr algn="l">
              <a:buFont typeface="+mj-lt"/>
              <a:buAutoNum type="arabicPeriod"/>
            </a:pPr>
            <a:r>
              <a:rPr lang="en-US" b="1" i="0" dirty="0">
                <a:solidFill>
                  <a:srgbClr val="0D0D0D"/>
                </a:solidFill>
                <a:effectLst/>
                <a:latin typeface="Söhne"/>
              </a:rPr>
              <a:t>Spelling and Proofreading:</a:t>
            </a:r>
            <a:endParaRPr lang="en-US" b="0" i="0" dirty="0">
              <a:solidFill>
                <a:srgbClr val="0D0D0D"/>
              </a:solidFill>
              <a:effectLst/>
              <a:latin typeface="Söhne"/>
            </a:endParaRPr>
          </a:p>
          <a:p>
            <a:pPr lvl="1"/>
            <a:r>
              <a:rPr lang="en-US" b="0" i="0" dirty="0">
                <a:solidFill>
                  <a:srgbClr val="0D0D0D"/>
                </a:solidFill>
                <a:effectLst/>
                <a:latin typeface="Söhne"/>
              </a:rPr>
              <a:t>Check for spelling errors and typos.</a:t>
            </a:r>
          </a:p>
          <a:p>
            <a:pPr lvl="1"/>
            <a:r>
              <a:rPr lang="en-US" b="0" i="0" dirty="0">
                <a:solidFill>
                  <a:srgbClr val="0D0D0D"/>
                </a:solidFill>
                <a:effectLst/>
                <a:latin typeface="Söhne"/>
              </a:rPr>
              <a:t>Proofread the document thoroughly to catch any mistakes.</a:t>
            </a:r>
          </a:p>
          <a:p>
            <a:pPr algn="l">
              <a:buFont typeface="+mj-lt"/>
              <a:buAutoNum type="arabicPeriod"/>
            </a:pPr>
            <a:r>
              <a:rPr lang="en-US" b="1" i="0" dirty="0">
                <a:solidFill>
                  <a:srgbClr val="0D0D0D"/>
                </a:solidFill>
                <a:effectLst/>
                <a:latin typeface="Söhne"/>
              </a:rPr>
              <a:t>Paragraph Structure:</a:t>
            </a:r>
            <a:endParaRPr lang="en-US" b="0" i="0" dirty="0">
              <a:solidFill>
                <a:srgbClr val="0D0D0D"/>
              </a:solidFill>
              <a:effectLst/>
              <a:latin typeface="Söhne"/>
            </a:endParaRPr>
          </a:p>
          <a:p>
            <a:pPr lvl="1"/>
            <a:r>
              <a:rPr lang="en-US" b="0" i="0" dirty="0">
                <a:solidFill>
                  <a:srgbClr val="0D0D0D"/>
                </a:solidFill>
                <a:effectLst/>
                <a:latin typeface="Söhne"/>
              </a:rPr>
              <a:t>Start each paragraph with a clear topic sentence.</a:t>
            </a:r>
          </a:p>
          <a:p>
            <a:pPr lvl="1"/>
            <a:r>
              <a:rPr lang="en-US" b="0" i="0" dirty="0">
                <a:solidFill>
                  <a:srgbClr val="0D0D0D"/>
                </a:solidFill>
                <a:effectLst/>
                <a:latin typeface="Söhne"/>
              </a:rPr>
              <a:t>Use supporting sentences to provide evidence or elaboration.</a:t>
            </a:r>
          </a:p>
          <a:p>
            <a:pPr lvl="1"/>
            <a:r>
              <a:rPr lang="en-US" b="0" i="0" dirty="0">
                <a:solidFill>
                  <a:srgbClr val="0D0D0D"/>
                </a:solidFill>
                <a:effectLst/>
                <a:latin typeface="Söhne"/>
              </a:rPr>
              <a:t>End paragraphs with transitional sentences when moving to a new idea.</a:t>
            </a:r>
          </a:p>
          <a:p>
            <a:pPr algn="l">
              <a:buFont typeface="+mj-lt"/>
              <a:buAutoNum type="arabicPeriod"/>
            </a:pPr>
            <a:r>
              <a:rPr lang="en-US" b="1" i="0" dirty="0">
                <a:solidFill>
                  <a:srgbClr val="0D0D0D"/>
                </a:solidFill>
                <a:effectLst/>
                <a:latin typeface="Söhne"/>
              </a:rPr>
              <a:t>Sentence Structure:</a:t>
            </a:r>
            <a:endParaRPr lang="en-US" b="0" i="0" dirty="0">
              <a:solidFill>
                <a:srgbClr val="0D0D0D"/>
              </a:solidFill>
              <a:effectLst/>
              <a:latin typeface="Söhne"/>
            </a:endParaRPr>
          </a:p>
          <a:p>
            <a:pPr lvl="1"/>
            <a:r>
              <a:rPr lang="en-US" b="0" i="0" dirty="0">
                <a:solidFill>
                  <a:srgbClr val="0D0D0D"/>
                </a:solidFill>
                <a:effectLst/>
                <a:latin typeface="Söhne"/>
              </a:rPr>
              <a:t>Vary sentence structure to maintain reader interest.</a:t>
            </a:r>
          </a:p>
          <a:p>
            <a:pPr lvl="1"/>
            <a:r>
              <a:rPr lang="en-US" b="0" i="0" dirty="0">
                <a:solidFill>
                  <a:srgbClr val="0D0D0D"/>
                </a:solidFill>
                <a:effectLst/>
                <a:latin typeface="Söhne"/>
              </a:rPr>
              <a:t>Avoid overly complex sentences that may lead to confusion.</a:t>
            </a:r>
          </a:p>
        </p:txBody>
      </p:sp>
    </p:spTree>
    <p:extLst>
      <p:ext uri="{BB962C8B-B14F-4D97-AF65-F5344CB8AC3E}">
        <p14:creationId xmlns:p14="http://schemas.microsoft.com/office/powerpoint/2010/main" val="29259487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B31FD-4CA6-1809-FE38-020829065C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48633D-323E-7F4F-8769-BE4BE12B98F5}"/>
              </a:ext>
            </a:extLst>
          </p:cNvPr>
          <p:cNvSpPr>
            <a:spLocks noGrp="1"/>
          </p:cNvSpPr>
          <p:nvPr>
            <p:ph type="title"/>
          </p:nvPr>
        </p:nvSpPr>
        <p:spPr>
          <a:xfrm>
            <a:off x="838200" y="-369386"/>
            <a:ext cx="10515600" cy="1325563"/>
          </a:xfrm>
        </p:spPr>
        <p:txBody>
          <a:bodyPr/>
          <a:lstStyle/>
          <a:p>
            <a:r>
              <a:rPr lang="en-US" sz="4400" dirty="0">
                <a:effectLst/>
                <a:latin typeface="Cambria" panose="02040503050406030204" pitchFamily="18" charset="0"/>
                <a:ea typeface="Times New Roman" panose="02020603050405020304" pitchFamily="18" charset="0"/>
              </a:rPr>
              <a:t>Mechanics of writing a research report</a:t>
            </a:r>
            <a:r>
              <a:rPr lang="en-IN" dirty="0">
                <a:latin typeface="Times New Roman" panose="02020603050405020304" pitchFamily="18" charset="0"/>
                <a:ea typeface="Times New Roman" panose="02020603050405020304" pitchFamily="18" charset="0"/>
              </a:rPr>
              <a:t>:</a:t>
            </a:r>
            <a:endParaRPr lang="en-IN" dirty="0"/>
          </a:p>
        </p:txBody>
      </p:sp>
      <p:sp>
        <p:nvSpPr>
          <p:cNvPr id="3" name="Content Placeholder 2">
            <a:extLst>
              <a:ext uri="{FF2B5EF4-FFF2-40B4-BE49-F238E27FC236}">
                <a16:creationId xmlns:a16="http://schemas.microsoft.com/office/drawing/2014/main" id="{9A5C1205-10FB-0ACE-E1B1-59FB2CAB7E2F}"/>
              </a:ext>
            </a:extLst>
          </p:cNvPr>
          <p:cNvSpPr>
            <a:spLocks noGrp="1"/>
          </p:cNvSpPr>
          <p:nvPr>
            <p:ph idx="1"/>
          </p:nvPr>
        </p:nvSpPr>
        <p:spPr>
          <a:xfrm>
            <a:off x="298556" y="626414"/>
            <a:ext cx="11438742" cy="5999237"/>
          </a:xfrm>
        </p:spPr>
        <p:txBody>
          <a:bodyPr>
            <a:normAutofit fontScale="92500" lnSpcReduction="10000"/>
          </a:bodyPr>
          <a:lstStyle/>
          <a:p>
            <a:pPr marL="0" indent="0" algn="l">
              <a:buNone/>
            </a:pPr>
            <a:r>
              <a:rPr lang="en-US" b="1" i="0" dirty="0">
                <a:solidFill>
                  <a:srgbClr val="0D0D0D"/>
                </a:solidFill>
                <a:effectLst/>
                <a:latin typeface="Söhne"/>
              </a:rPr>
              <a:t>6.Citations and Referencing:</a:t>
            </a:r>
            <a:endParaRPr lang="en-US" b="0" i="0" dirty="0">
              <a:solidFill>
                <a:srgbClr val="0D0D0D"/>
              </a:solidFill>
              <a:effectLst/>
              <a:latin typeface="Söhne"/>
            </a:endParaRPr>
          </a:p>
          <a:p>
            <a:pPr lvl="1"/>
            <a:r>
              <a:rPr lang="en-US" b="0" i="0" dirty="0">
                <a:solidFill>
                  <a:srgbClr val="0D0D0D"/>
                </a:solidFill>
                <a:effectLst/>
                <a:latin typeface="Söhne"/>
              </a:rPr>
              <a:t>Follow a specific citation style consistently (e.g., APA, MLA, Chicago).</a:t>
            </a:r>
          </a:p>
          <a:p>
            <a:pPr lvl="1"/>
            <a:r>
              <a:rPr lang="en-US" b="0" i="0" dirty="0">
                <a:solidFill>
                  <a:srgbClr val="0D0D0D"/>
                </a:solidFill>
                <a:effectLst/>
                <a:latin typeface="Söhne"/>
              </a:rPr>
              <a:t>Cite all sources properly in the text and compile a detailed list of references.</a:t>
            </a:r>
          </a:p>
          <a:p>
            <a:pPr marL="0" indent="0" algn="l">
              <a:buNone/>
            </a:pPr>
            <a:r>
              <a:rPr lang="en-US" b="1" i="0" dirty="0">
                <a:solidFill>
                  <a:srgbClr val="0D0D0D"/>
                </a:solidFill>
                <a:effectLst/>
                <a:latin typeface="Söhne"/>
              </a:rPr>
              <a:t>7.Headings and Subheadings:</a:t>
            </a:r>
            <a:endParaRPr lang="en-US" b="0" i="0" dirty="0">
              <a:solidFill>
                <a:srgbClr val="0D0D0D"/>
              </a:solidFill>
              <a:effectLst/>
              <a:latin typeface="Söhne"/>
            </a:endParaRPr>
          </a:p>
          <a:p>
            <a:pPr lvl="1"/>
            <a:r>
              <a:rPr lang="en-US" b="0" i="0" dirty="0">
                <a:solidFill>
                  <a:srgbClr val="0D0D0D"/>
                </a:solidFill>
                <a:effectLst/>
                <a:latin typeface="Söhne"/>
              </a:rPr>
              <a:t>Use a clear and hierarchical system of headings and subheadings to organize the report.</a:t>
            </a:r>
          </a:p>
          <a:p>
            <a:pPr lvl="1"/>
            <a:r>
              <a:rPr lang="en-US" b="0" i="0" dirty="0">
                <a:solidFill>
                  <a:srgbClr val="0D0D0D"/>
                </a:solidFill>
                <a:effectLst/>
                <a:latin typeface="Söhne"/>
              </a:rPr>
              <a:t>Ensure consistency in formatting and style throughout.</a:t>
            </a:r>
          </a:p>
          <a:p>
            <a:pPr marL="0" indent="0" algn="l">
              <a:buNone/>
            </a:pPr>
            <a:r>
              <a:rPr lang="en-US" b="1" i="0" dirty="0">
                <a:solidFill>
                  <a:srgbClr val="0D0D0D"/>
                </a:solidFill>
                <a:effectLst/>
                <a:latin typeface="Söhne"/>
              </a:rPr>
              <a:t>8.Acronyms and Abbreviations:</a:t>
            </a:r>
            <a:endParaRPr lang="en-US" b="0" i="0" dirty="0">
              <a:solidFill>
                <a:srgbClr val="0D0D0D"/>
              </a:solidFill>
              <a:effectLst/>
              <a:latin typeface="Söhne"/>
            </a:endParaRPr>
          </a:p>
          <a:p>
            <a:pPr lvl="1"/>
            <a:r>
              <a:rPr lang="en-US" b="0" i="0" dirty="0">
                <a:solidFill>
                  <a:srgbClr val="0D0D0D"/>
                </a:solidFill>
                <a:effectLst/>
                <a:latin typeface="Söhne"/>
              </a:rPr>
              <a:t>Define acronyms and abbreviations upon first use in the text.</a:t>
            </a:r>
          </a:p>
          <a:p>
            <a:pPr lvl="1"/>
            <a:r>
              <a:rPr lang="en-US" b="0" i="0" dirty="0">
                <a:solidFill>
                  <a:srgbClr val="0D0D0D"/>
                </a:solidFill>
                <a:effectLst/>
                <a:latin typeface="Söhne"/>
              </a:rPr>
              <a:t>Maintain consistency in their usage throughout the report.</a:t>
            </a:r>
          </a:p>
          <a:p>
            <a:pPr marL="0" indent="0" algn="l">
              <a:buNone/>
            </a:pPr>
            <a:r>
              <a:rPr lang="en-US" b="1" i="0" dirty="0">
                <a:solidFill>
                  <a:srgbClr val="0D0D0D"/>
                </a:solidFill>
                <a:effectLst/>
                <a:latin typeface="Söhne"/>
              </a:rPr>
              <a:t>9.Numerical Data:</a:t>
            </a:r>
            <a:endParaRPr lang="en-US" b="0" i="0" dirty="0">
              <a:solidFill>
                <a:srgbClr val="0D0D0D"/>
              </a:solidFill>
              <a:effectLst/>
              <a:latin typeface="Söhne"/>
            </a:endParaRPr>
          </a:p>
          <a:p>
            <a:pPr lvl="1"/>
            <a:r>
              <a:rPr lang="en-US" b="0" i="0" dirty="0">
                <a:solidFill>
                  <a:srgbClr val="0D0D0D"/>
                </a:solidFill>
                <a:effectLst/>
                <a:latin typeface="Söhne"/>
              </a:rPr>
              <a:t>Use appropriate units of measurement.</a:t>
            </a:r>
          </a:p>
          <a:p>
            <a:pPr lvl="1"/>
            <a:r>
              <a:rPr lang="en-US" b="0" i="0" dirty="0">
                <a:solidFill>
                  <a:srgbClr val="0D0D0D"/>
                </a:solidFill>
                <a:effectLst/>
                <a:latin typeface="Söhne"/>
              </a:rPr>
              <a:t>Present numerical data clearly using tables, graphs, or charts when necessary.</a:t>
            </a:r>
          </a:p>
          <a:p>
            <a:pPr marL="0" indent="0" algn="l">
              <a:buNone/>
            </a:pPr>
            <a:r>
              <a:rPr lang="en-US" b="1" i="0" dirty="0">
                <a:solidFill>
                  <a:srgbClr val="0D0D0D"/>
                </a:solidFill>
                <a:effectLst/>
                <a:latin typeface="Söhne"/>
              </a:rPr>
              <a:t>10.Visual Elements:</a:t>
            </a:r>
            <a:endParaRPr lang="en-US" b="0" i="0" dirty="0">
              <a:solidFill>
                <a:srgbClr val="0D0D0D"/>
              </a:solidFill>
              <a:effectLst/>
              <a:latin typeface="Söhne"/>
            </a:endParaRPr>
          </a:p>
          <a:p>
            <a:pPr lvl="1"/>
            <a:r>
              <a:rPr lang="en-US" b="0" i="0" dirty="0">
                <a:solidFill>
                  <a:srgbClr val="0D0D0D"/>
                </a:solidFill>
                <a:effectLst/>
                <a:latin typeface="Söhne"/>
              </a:rPr>
              <a:t>Ensure that all visual elements (tables, figures, charts) are labeled correctly.</a:t>
            </a:r>
          </a:p>
          <a:p>
            <a:pPr lvl="1"/>
            <a:r>
              <a:rPr lang="en-US" b="0" i="0" dirty="0">
                <a:solidFill>
                  <a:srgbClr val="0D0D0D"/>
                </a:solidFill>
                <a:effectLst/>
                <a:latin typeface="Söhne"/>
              </a:rPr>
              <a:t>Include captions that provide context and explanation.</a:t>
            </a:r>
          </a:p>
          <a:p>
            <a:endParaRPr lang="en-IN" dirty="0"/>
          </a:p>
        </p:txBody>
      </p:sp>
    </p:spTree>
    <p:extLst>
      <p:ext uri="{BB962C8B-B14F-4D97-AF65-F5344CB8AC3E}">
        <p14:creationId xmlns:p14="http://schemas.microsoft.com/office/powerpoint/2010/main" val="19787287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14410-7394-8451-FC62-1EE2B41910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64088F-515A-1DC7-123F-BB7253A46BD3}"/>
              </a:ext>
            </a:extLst>
          </p:cNvPr>
          <p:cNvSpPr>
            <a:spLocks noGrp="1"/>
          </p:cNvSpPr>
          <p:nvPr>
            <p:ph type="title"/>
          </p:nvPr>
        </p:nvSpPr>
        <p:spPr>
          <a:xfrm>
            <a:off x="838200" y="-369386"/>
            <a:ext cx="10515600" cy="1325563"/>
          </a:xfrm>
        </p:spPr>
        <p:txBody>
          <a:bodyPr/>
          <a:lstStyle/>
          <a:p>
            <a:r>
              <a:rPr lang="en-US" sz="4400" dirty="0">
                <a:effectLst/>
                <a:latin typeface="Cambria" panose="02040503050406030204" pitchFamily="18" charset="0"/>
                <a:ea typeface="Times New Roman" panose="02020603050405020304" pitchFamily="18" charset="0"/>
              </a:rPr>
              <a:t>Mechanics of writing a research report</a:t>
            </a:r>
            <a:r>
              <a:rPr lang="en-IN" dirty="0">
                <a:latin typeface="Times New Roman" panose="02020603050405020304" pitchFamily="18" charset="0"/>
                <a:ea typeface="Times New Roman" panose="02020603050405020304" pitchFamily="18" charset="0"/>
              </a:rPr>
              <a:t>:</a:t>
            </a:r>
            <a:endParaRPr lang="en-IN" dirty="0"/>
          </a:p>
        </p:txBody>
      </p:sp>
      <p:sp>
        <p:nvSpPr>
          <p:cNvPr id="3" name="Content Placeholder 2">
            <a:extLst>
              <a:ext uri="{FF2B5EF4-FFF2-40B4-BE49-F238E27FC236}">
                <a16:creationId xmlns:a16="http://schemas.microsoft.com/office/drawing/2014/main" id="{E80C14AA-F90B-165C-C8F2-1BB09970BC94}"/>
              </a:ext>
            </a:extLst>
          </p:cNvPr>
          <p:cNvSpPr>
            <a:spLocks noGrp="1"/>
          </p:cNvSpPr>
          <p:nvPr>
            <p:ph idx="1"/>
          </p:nvPr>
        </p:nvSpPr>
        <p:spPr>
          <a:xfrm>
            <a:off x="298556" y="626415"/>
            <a:ext cx="11543674" cy="6059198"/>
          </a:xfrm>
        </p:spPr>
        <p:txBody>
          <a:bodyPr>
            <a:normAutofit/>
          </a:bodyPr>
          <a:lstStyle/>
          <a:p>
            <a:pPr marL="0" indent="0" algn="l">
              <a:buNone/>
            </a:pPr>
            <a:r>
              <a:rPr lang="en-US" b="1" i="0" dirty="0">
                <a:solidFill>
                  <a:srgbClr val="0D0D0D"/>
                </a:solidFill>
                <a:effectLst/>
                <a:latin typeface="Söhne"/>
              </a:rPr>
              <a:t>11.Consistent Formatting:</a:t>
            </a:r>
            <a:endParaRPr lang="en-US" b="0" i="0" dirty="0">
              <a:solidFill>
                <a:srgbClr val="0D0D0D"/>
              </a:solidFill>
              <a:effectLst/>
              <a:latin typeface="Söhne"/>
            </a:endParaRPr>
          </a:p>
          <a:p>
            <a:pPr lvl="1"/>
            <a:r>
              <a:rPr lang="en-US" b="0" i="0" dirty="0">
                <a:solidFill>
                  <a:srgbClr val="0D0D0D"/>
                </a:solidFill>
                <a:effectLst/>
                <a:latin typeface="Söhne"/>
              </a:rPr>
              <a:t>Maintain consistent formatting for font, font size, and spacing.</a:t>
            </a:r>
          </a:p>
          <a:p>
            <a:pPr lvl="1"/>
            <a:r>
              <a:rPr lang="en-US" b="0" i="0" dirty="0">
                <a:solidFill>
                  <a:srgbClr val="0D0D0D"/>
                </a:solidFill>
                <a:effectLst/>
                <a:latin typeface="Söhne"/>
              </a:rPr>
              <a:t>Follow any specific formatting guidelines provided by your institution or publisher.</a:t>
            </a:r>
          </a:p>
          <a:p>
            <a:pPr marL="0" indent="0" algn="l">
              <a:buNone/>
            </a:pPr>
            <a:r>
              <a:rPr lang="en-US" b="1" i="0" dirty="0">
                <a:solidFill>
                  <a:srgbClr val="0D0D0D"/>
                </a:solidFill>
                <a:effectLst/>
                <a:latin typeface="Söhne"/>
              </a:rPr>
              <a:t>12.Ethical Considerations:</a:t>
            </a:r>
            <a:endParaRPr lang="en-US" b="0" i="0" dirty="0">
              <a:solidFill>
                <a:srgbClr val="0D0D0D"/>
              </a:solidFill>
              <a:effectLst/>
              <a:latin typeface="Söhne"/>
            </a:endParaRPr>
          </a:p>
          <a:p>
            <a:pPr lvl="1"/>
            <a:r>
              <a:rPr lang="en-US" b="0" i="0" dirty="0">
                <a:solidFill>
                  <a:srgbClr val="0D0D0D"/>
                </a:solidFill>
                <a:effectLst/>
                <a:latin typeface="Söhne"/>
              </a:rPr>
              <a:t>Clearly state any conflicts of interest or ethical considerations.</a:t>
            </a:r>
          </a:p>
          <a:p>
            <a:pPr lvl="1"/>
            <a:r>
              <a:rPr lang="en-US" b="0" i="0" dirty="0">
                <a:solidFill>
                  <a:srgbClr val="0D0D0D"/>
                </a:solidFill>
                <a:effectLst/>
                <a:latin typeface="Söhne"/>
              </a:rPr>
              <a:t>Use inclusive and unbiased language.</a:t>
            </a:r>
          </a:p>
          <a:p>
            <a:pPr marL="0" indent="0" algn="l">
              <a:buNone/>
            </a:pPr>
            <a:r>
              <a:rPr lang="en-US" b="1" i="0" dirty="0">
                <a:solidFill>
                  <a:srgbClr val="0D0D0D"/>
                </a:solidFill>
                <a:effectLst/>
                <a:latin typeface="Söhne"/>
              </a:rPr>
              <a:t>13.Acknowledgments:</a:t>
            </a:r>
            <a:endParaRPr lang="en-US" b="0" i="0" dirty="0">
              <a:solidFill>
                <a:srgbClr val="0D0D0D"/>
              </a:solidFill>
              <a:effectLst/>
              <a:latin typeface="Söhne"/>
            </a:endParaRPr>
          </a:p>
          <a:p>
            <a:pPr lvl="1"/>
            <a:r>
              <a:rPr lang="en-US" b="0" i="0" dirty="0">
                <a:solidFill>
                  <a:srgbClr val="0D0D0D"/>
                </a:solidFill>
                <a:effectLst/>
                <a:latin typeface="Söhne"/>
              </a:rPr>
              <a:t>If applicable, acknowledge any individuals or organizations that contributed to the research.</a:t>
            </a:r>
          </a:p>
          <a:p>
            <a:pPr marL="0" indent="0" algn="l">
              <a:buNone/>
            </a:pPr>
            <a:r>
              <a:rPr lang="en-US" b="1" i="0" dirty="0">
                <a:solidFill>
                  <a:srgbClr val="0D0D0D"/>
                </a:solidFill>
                <a:effectLst/>
                <a:latin typeface="Söhne"/>
              </a:rPr>
              <a:t>14.Final Review:</a:t>
            </a:r>
            <a:endParaRPr lang="en-US" b="0" i="0" dirty="0">
              <a:solidFill>
                <a:srgbClr val="0D0D0D"/>
              </a:solidFill>
              <a:effectLst/>
              <a:latin typeface="Söhne"/>
            </a:endParaRPr>
          </a:p>
          <a:p>
            <a:pPr lvl="1"/>
            <a:r>
              <a:rPr lang="en-US" b="0" i="0" dirty="0">
                <a:solidFill>
                  <a:srgbClr val="0D0D0D"/>
                </a:solidFill>
                <a:effectLst/>
                <a:latin typeface="Söhne"/>
              </a:rPr>
              <a:t>Conduct a final review of the entire document before submission.</a:t>
            </a:r>
          </a:p>
          <a:p>
            <a:pPr lvl="1"/>
            <a:r>
              <a:rPr lang="en-US" b="0" i="0" dirty="0">
                <a:solidFill>
                  <a:srgbClr val="0D0D0D"/>
                </a:solidFill>
                <a:effectLst/>
                <a:latin typeface="Söhne"/>
              </a:rPr>
              <a:t>Ensure that the report meets all requirements and is free of errors.</a:t>
            </a:r>
          </a:p>
          <a:p>
            <a:endParaRPr lang="en-IN" dirty="0"/>
          </a:p>
        </p:txBody>
      </p:sp>
    </p:spTree>
    <p:extLst>
      <p:ext uri="{BB962C8B-B14F-4D97-AF65-F5344CB8AC3E}">
        <p14:creationId xmlns:p14="http://schemas.microsoft.com/office/powerpoint/2010/main" val="37230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TotalTime>
  <Words>3174</Words>
  <Application>Microsoft Office PowerPoint</Application>
  <PresentationFormat>Widescreen</PresentationFormat>
  <Paragraphs>350</Paragraphs>
  <Slides>27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Calibri</vt:lpstr>
      <vt:lpstr>Calibri Light</vt:lpstr>
      <vt:lpstr>Cambria</vt:lpstr>
      <vt:lpstr>Söhne</vt:lpstr>
      <vt:lpstr>Times New Roman</vt:lpstr>
      <vt:lpstr>Office Theme</vt:lpstr>
      <vt:lpstr>Data Collection &amp; Interpretation and Report Writing</vt:lpstr>
      <vt:lpstr>SYLLABUS:</vt:lpstr>
      <vt:lpstr>Collection of primary data-Observation Method:</vt:lpstr>
      <vt:lpstr>Collection of primary data-Observation Method:</vt:lpstr>
      <vt:lpstr>Collection of primary data-Observation Method:</vt:lpstr>
      <vt:lpstr>Collection of primary data-Observation Method:</vt:lpstr>
      <vt:lpstr>PowerPoint Presentation</vt:lpstr>
      <vt:lpstr>PowerPoint Presentation</vt:lpstr>
      <vt:lpstr>PowerPoint Presentation</vt:lpstr>
      <vt:lpstr>PowerPoint Presentation</vt:lpstr>
      <vt:lpstr>Collection of Data through Questionnaires:</vt:lpstr>
      <vt:lpstr>Collection of Data through Questionnaires:</vt:lpstr>
      <vt:lpstr>Collection of Data through Questionnaires:</vt:lpstr>
      <vt:lpstr>Introduction to Report Writing:</vt:lpstr>
      <vt:lpstr>Introduction to Report Writing:</vt:lpstr>
      <vt:lpstr>Techniques of Interpretation:</vt:lpstr>
      <vt:lpstr>Techniques of Interpretation:</vt:lpstr>
      <vt:lpstr>Different steps in writing report :</vt:lpstr>
      <vt:lpstr>Different steps in writing report :</vt:lpstr>
      <vt:lpstr>Different steps in writing report :</vt:lpstr>
      <vt:lpstr>Layout of the research report :</vt:lpstr>
      <vt:lpstr>Layout of the research report :</vt:lpstr>
      <vt:lpstr>Layout of the research report :</vt:lpstr>
      <vt:lpstr>Layout of the research report :</vt:lpstr>
      <vt:lpstr>Mechanics of writing a research report:</vt:lpstr>
      <vt:lpstr>Mechanics of writing a research report:</vt:lpstr>
      <vt:lpstr>Mechanics of writing a research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Collection &amp; Interpretation and Report Writing</dc:title>
  <dc:creator>Amruth E ME</dc:creator>
  <cp:lastModifiedBy>Amruth E ME</cp:lastModifiedBy>
  <cp:revision>128</cp:revision>
  <dcterms:created xsi:type="dcterms:W3CDTF">2024-01-24T06:15:12Z</dcterms:created>
  <dcterms:modified xsi:type="dcterms:W3CDTF">2024-02-15T09:27:34Z</dcterms:modified>
</cp:coreProperties>
</file>