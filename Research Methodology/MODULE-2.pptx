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9" r:id="rId3"/>
    <p:sldId id="257" r:id="rId4"/>
    <p:sldId id="260" r:id="rId5"/>
    <p:sldId id="261" r:id="rId6"/>
    <p:sldId id="262" r:id="rId7"/>
    <p:sldId id="263" r:id="rId8"/>
    <p:sldId id="264" r:id="rId9"/>
    <p:sldId id="265" r:id="rId10"/>
    <p:sldId id="266" r:id="rId11"/>
    <p:sldId id="267" r:id="rId12"/>
    <p:sldId id="270" r:id="rId13"/>
    <p:sldId id="268" r:id="rId14"/>
    <p:sldId id="269" r:id="rId15"/>
    <p:sldId id="271"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4" d="100"/>
          <a:sy n="64" d="100"/>
        </p:scale>
        <p:origin x="228"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E0DDC1-AE4D-EF20-8CEE-F3A3E735911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3E3CE1A9-EF34-4631-6A40-6613488D535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B78B857A-3F23-19F1-2856-3E4EBDE5DC85}"/>
              </a:ext>
            </a:extLst>
          </p:cNvPr>
          <p:cNvSpPr>
            <a:spLocks noGrp="1"/>
          </p:cNvSpPr>
          <p:nvPr>
            <p:ph type="dt" sz="half" idx="10"/>
          </p:nvPr>
        </p:nvSpPr>
        <p:spPr/>
        <p:txBody>
          <a:bodyPr/>
          <a:lstStyle/>
          <a:p>
            <a:fld id="{3F62704E-AD0C-4004-9D7B-2CB19A42BC8B}" type="datetimeFigureOut">
              <a:rPr lang="en-IN" smtClean="0"/>
              <a:t>17-12-2023</a:t>
            </a:fld>
            <a:endParaRPr lang="en-IN"/>
          </a:p>
        </p:txBody>
      </p:sp>
      <p:sp>
        <p:nvSpPr>
          <p:cNvPr id="5" name="Footer Placeholder 4">
            <a:extLst>
              <a:ext uri="{FF2B5EF4-FFF2-40B4-BE49-F238E27FC236}">
                <a16:creationId xmlns:a16="http://schemas.microsoft.com/office/drawing/2014/main" id="{15FF2199-9428-DE17-188D-9F27D5360F6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CCBC0D7-1648-B215-1B7E-7C3D3BA60697}"/>
              </a:ext>
            </a:extLst>
          </p:cNvPr>
          <p:cNvSpPr>
            <a:spLocks noGrp="1"/>
          </p:cNvSpPr>
          <p:nvPr>
            <p:ph type="sldNum" sz="quarter" idx="12"/>
          </p:nvPr>
        </p:nvSpPr>
        <p:spPr/>
        <p:txBody>
          <a:bodyPr/>
          <a:lstStyle/>
          <a:p>
            <a:fld id="{5C97A155-DC77-461D-AECC-915A2804AC0B}" type="slidenum">
              <a:rPr lang="en-IN" smtClean="0"/>
              <a:t>‹#›</a:t>
            </a:fld>
            <a:endParaRPr lang="en-IN"/>
          </a:p>
        </p:txBody>
      </p:sp>
    </p:spTree>
    <p:extLst>
      <p:ext uri="{BB962C8B-B14F-4D97-AF65-F5344CB8AC3E}">
        <p14:creationId xmlns:p14="http://schemas.microsoft.com/office/powerpoint/2010/main" val="35506551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C595A4-F37D-870C-6CDA-D17D54A8AA7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042DC3A-1173-74ED-C5E5-768EBC27955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AFE073B-7EAB-FB14-B9C3-0FA55F038E3B}"/>
              </a:ext>
            </a:extLst>
          </p:cNvPr>
          <p:cNvSpPr>
            <a:spLocks noGrp="1"/>
          </p:cNvSpPr>
          <p:nvPr>
            <p:ph type="dt" sz="half" idx="10"/>
          </p:nvPr>
        </p:nvSpPr>
        <p:spPr/>
        <p:txBody>
          <a:bodyPr/>
          <a:lstStyle/>
          <a:p>
            <a:fld id="{3F62704E-AD0C-4004-9D7B-2CB19A42BC8B}" type="datetimeFigureOut">
              <a:rPr lang="en-IN" smtClean="0"/>
              <a:t>17-12-2023</a:t>
            </a:fld>
            <a:endParaRPr lang="en-IN"/>
          </a:p>
        </p:txBody>
      </p:sp>
      <p:sp>
        <p:nvSpPr>
          <p:cNvPr id="5" name="Footer Placeholder 4">
            <a:extLst>
              <a:ext uri="{FF2B5EF4-FFF2-40B4-BE49-F238E27FC236}">
                <a16:creationId xmlns:a16="http://schemas.microsoft.com/office/drawing/2014/main" id="{F0958C26-5373-8468-55AE-A218DEC856D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8B95E15-41BA-0340-FA56-26D448F7B5C8}"/>
              </a:ext>
            </a:extLst>
          </p:cNvPr>
          <p:cNvSpPr>
            <a:spLocks noGrp="1"/>
          </p:cNvSpPr>
          <p:nvPr>
            <p:ph type="sldNum" sz="quarter" idx="12"/>
          </p:nvPr>
        </p:nvSpPr>
        <p:spPr/>
        <p:txBody>
          <a:bodyPr/>
          <a:lstStyle/>
          <a:p>
            <a:fld id="{5C97A155-DC77-461D-AECC-915A2804AC0B}" type="slidenum">
              <a:rPr lang="en-IN" smtClean="0"/>
              <a:t>‹#›</a:t>
            </a:fld>
            <a:endParaRPr lang="en-IN"/>
          </a:p>
        </p:txBody>
      </p:sp>
    </p:spTree>
    <p:extLst>
      <p:ext uri="{BB962C8B-B14F-4D97-AF65-F5344CB8AC3E}">
        <p14:creationId xmlns:p14="http://schemas.microsoft.com/office/powerpoint/2010/main" val="28830602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A55D3E-0198-0AF1-4C9B-EE25E1A9002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8DC2DCA0-DB13-6471-A03A-6F0B8718CD5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A10FE3A-13B3-5702-7C45-B2867C8EB15D}"/>
              </a:ext>
            </a:extLst>
          </p:cNvPr>
          <p:cNvSpPr>
            <a:spLocks noGrp="1"/>
          </p:cNvSpPr>
          <p:nvPr>
            <p:ph type="dt" sz="half" idx="10"/>
          </p:nvPr>
        </p:nvSpPr>
        <p:spPr/>
        <p:txBody>
          <a:bodyPr/>
          <a:lstStyle/>
          <a:p>
            <a:fld id="{3F62704E-AD0C-4004-9D7B-2CB19A42BC8B}" type="datetimeFigureOut">
              <a:rPr lang="en-IN" smtClean="0"/>
              <a:t>17-12-2023</a:t>
            </a:fld>
            <a:endParaRPr lang="en-IN"/>
          </a:p>
        </p:txBody>
      </p:sp>
      <p:sp>
        <p:nvSpPr>
          <p:cNvPr id="5" name="Footer Placeholder 4">
            <a:extLst>
              <a:ext uri="{FF2B5EF4-FFF2-40B4-BE49-F238E27FC236}">
                <a16:creationId xmlns:a16="http://schemas.microsoft.com/office/drawing/2014/main" id="{8154CD5A-7AA7-BC82-B809-F00A48E11D9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E367D28-C482-9DBE-7A98-74F2949002B2}"/>
              </a:ext>
            </a:extLst>
          </p:cNvPr>
          <p:cNvSpPr>
            <a:spLocks noGrp="1"/>
          </p:cNvSpPr>
          <p:nvPr>
            <p:ph type="sldNum" sz="quarter" idx="12"/>
          </p:nvPr>
        </p:nvSpPr>
        <p:spPr/>
        <p:txBody>
          <a:bodyPr/>
          <a:lstStyle/>
          <a:p>
            <a:fld id="{5C97A155-DC77-461D-AECC-915A2804AC0B}" type="slidenum">
              <a:rPr lang="en-IN" smtClean="0"/>
              <a:t>‹#›</a:t>
            </a:fld>
            <a:endParaRPr lang="en-IN"/>
          </a:p>
        </p:txBody>
      </p:sp>
    </p:spTree>
    <p:extLst>
      <p:ext uri="{BB962C8B-B14F-4D97-AF65-F5344CB8AC3E}">
        <p14:creationId xmlns:p14="http://schemas.microsoft.com/office/powerpoint/2010/main" val="10468772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870F45-DB23-66CA-BB12-80DB2873271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B5D99DC-37FF-22BA-7B8F-A4892EFA18C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21F607E4-C0EF-6CE2-A042-466AF674DAD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1EFE9F73-96EB-7E1B-BFD3-389169127DA0}"/>
              </a:ext>
            </a:extLst>
          </p:cNvPr>
          <p:cNvSpPr>
            <a:spLocks noGrp="1"/>
          </p:cNvSpPr>
          <p:nvPr>
            <p:ph type="dt" sz="half" idx="10"/>
          </p:nvPr>
        </p:nvSpPr>
        <p:spPr/>
        <p:txBody>
          <a:bodyPr/>
          <a:lstStyle/>
          <a:p>
            <a:fld id="{3F62704E-AD0C-4004-9D7B-2CB19A42BC8B}" type="datetimeFigureOut">
              <a:rPr lang="en-IN" smtClean="0"/>
              <a:t>17-12-2023</a:t>
            </a:fld>
            <a:endParaRPr lang="en-IN"/>
          </a:p>
        </p:txBody>
      </p:sp>
      <p:sp>
        <p:nvSpPr>
          <p:cNvPr id="6" name="Footer Placeholder 5">
            <a:extLst>
              <a:ext uri="{FF2B5EF4-FFF2-40B4-BE49-F238E27FC236}">
                <a16:creationId xmlns:a16="http://schemas.microsoft.com/office/drawing/2014/main" id="{CC3FD6CC-7CEB-8D33-E643-F02C09AA803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D13C3AC-8623-5073-B723-B4A0380B0B93}"/>
              </a:ext>
            </a:extLst>
          </p:cNvPr>
          <p:cNvSpPr>
            <a:spLocks noGrp="1"/>
          </p:cNvSpPr>
          <p:nvPr>
            <p:ph type="sldNum" sz="quarter" idx="12"/>
          </p:nvPr>
        </p:nvSpPr>
        <p:spPr/>
        <p:txBody>
          <a:bodyPr/>
          <a:lstStyle/>
          <a:p>
            <a:fld id="{5C97A155-DC77-461D-AECC-915A2804AC0B}" type="slidenum">
              <a:rPr lang="en-IN" smtClean="0"/>
              <a:t>‹#›</a:t>
            </a:fld>
            <a:endParaRPr lang="en-IN"/>
          </a:p>
        </p:txBody>
      </p:sp>
    </p:spTree>
    <p:extLst>
      <p:ext uri="{BB962C8B-B14F-4D97-AF65-F5344CB8AC3E}">
        <p14:creationId xmlns:p14="http://schemas.microsoft.com/office/powerpoint/2010/main" val="12365708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86CBC9-4083-8373-D505-CF4E7FAB277E}"/>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84F347A-71A7-A990-D253-C38CCEA42F5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783A38C-727A-10BD-E719-D9CE03AD8B9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42B39CE1-005D-B074-F3ED-98343B17D2E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023B8F3-CDA3-529E-0735-6962B37DA1A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B1E82928-4467-6644-43C9-AFEABB98F0A3}"/>
              </a:ext>
            </a:extLst>
          </p:cNvPr>
          <p:cNvSpPr>
            <a:spLocks noGrp="1"/>
          </p:cNvSpPr>
          <p:nvPr>
            <p:ph type="dt" sz="half" idx="10"/>
          </p:nvPr>
        </p:nvSpPr>
        <p:spPr/>
        <p:txBody>
          <a:bodyPr/>
          <a:lstStyle/>
          <a:p>
            <a:fld id="{3F62704E-AD0C-4004-9D7B-2CB19A42BC8B}" type="datetimeFigureOut">
              <a:rPr lang="en-IN" smtClean="0"/>
              <a:t>17-12-2023</a:t>
            </a:fld>
            <a:endParaRPr lang="en-IN"/>
          </a:p>
        </p:txBody>
      </p:sp>
      <p:sp>
        <p:nvSpPr>
          <p:cNvPr id="8" name="Footer Placeholder 7">
            <a:extLst>
              <a:ext uri="{FF2B5EF4-FFF2-40B4-BE49-F238E27FC236}">
                <a16:creationId xmlns:a16="http://schemas.microsoft.com/office/drawing/2014/main" id="{6C4C0E1F-B5D5-F616-9F2A-C80EBC256438}"/>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AFA11320-40DF-ACEF-BA1E-E6AD3C43262B}"/>
              </a:ext>
            </a:extLst>
          </p:cNvPr>
          <p:cNvSpPr>
            <a:spLocks noGrp="1"/>
          </p:cNvSpPr>
          <p:nvPr>
            <p:ph type="sldNum" sz="quarter" idx="12"/>
          </p:nvPr>
        </p:nvSpPr>
        <p:spPr/>
        <p:txBody>
          <a:bodyPr/>
          <a:lstStyle/>
          <a:p>
            <a:fld id="{5C97A155-DC77-461D-AECC-915A2804AC0B}" type="slidenum">
              <a:rPr lang="en-IN" smtClean="0"/>
              <a:t>‹#›</a:t>
            </a:fld>
            <a:endParaRPr lang="en-IN"/>
          </a:p>
        </p:txBody>
      </p:sp>
    </p:spTree>
    <p:extLst>
      <p:ext uri="{BB962C8B-B14F-4D97-AF65-F5344CB8AC3E}">
        <p14:creationId xmlns:p14="http://schemas.microsoft.com/office/powerpoint/2010/main" val="11714570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AE610C-BE2D-AD20-272E-BBD2415BE8AF}"/>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BBC6AEDB-1B93-9067-59E4-63C3B86CF0EB}"/>
              </a:ext>
            </a:extLst>
          </p:cNvPr>
          <p:cNvSpPr>
            <a:spLocks noGrp="1"/>
          </p:cNvSpPr>
          <p:nvPr>
            <p:ph type="dt" sz="half" idx="10"/>
          </p:nvPr>
        </p:nvSpPr>
        <p:spPr/>
        <p:txBody>
          <a:bodyPr/>
          <a:lstStyle/>
          <a:p>
            <a:fld id="{3F62704E-AD0C-4004-9D7B-2CB19A42BC8B}" type="datetimeFigureOut">
              <a:rPr lang="en-IN" smtClean="0"/>
              <a:t>17-12-2023</a:t>
            </a:fld>
            <a:endParaRPr lang="en-IN"/>
          </a:p>
        </p:txBody>
      </p:sp>
      <p:sp>
        <p:nvSpPr>
          <p:cNvPr id="4" name="Footer Placeholder 3">
            <a:extLst>
              <a:ext uri="{FF2B5EF4-FFF2-40B4-BE49-F238E27FC236}">
                <a16:creationId xmlns:a16="http://schemas.microsoft.com/office/drawing/2014/main" id="{6684BB4F-D90F-4047-FA48-124FAEBAC426}"/>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6CF90D97-A409-D62A-A9DF-04200CCDA6C7}"/>
              </a:ext>
            </a:extLst>
          </p:cNvPr>
          <p:cNvSpPr>
            <a:spLocks noGrp="1"/>
          </p:cNvSpPr>
          <p:nvPr>
            <p:ph type="sldNum" sz="quarter" idx="12"/>
          </p:nvPr>
        </p:nvSpPr>
        <p:spPr/>
        <p:txBody>
          <a:bodyPr/>
          <a:lstStyle/>
          <a:p>
            <a:fld id="{5C97A155-DC77-461D-AECC-915A2804AC0B}" type="slidenum">
              <a:rPr lang="en-IN" smtClean="0"/>
              <a:t>‹#›</a:t>
            </a:fld>
            <a:endParaRPr lang="en-IN"/>
          </a:p>
        </p:txBody>
      </p:sp>
    </p:spTree>
    <p:extLst>
      <p:ext uri="{BB962C8B-B14F-4D97-AF65-F5344CB8AC3E}">
        <p14:creationId xmlns:p14="http://schemas.microsoft.com/office/powerpoint/2010/main" val="38049615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EFCEED8-216C-FDFF-E8E3-3DF66352A459}"/>
              </a:ext>
            </a:extLst>
          </p:cNvPr>
          <p:cNvSpPr>
            <a:spLocks noGrp="1"/>
          </p:cNvSpPr>
          <p:nvPr>
            <p:ph type="dt" sz="half" idx="10"/>
          </p:nvPr>
        </p:nvSpPr>
        <p:spPr/>
        <p:txBody>
          <a:bodyPr/>
          <a:lstStyle/>
          <a:p>
            <a:fld id="{3F62704E-AD0C-4004-9D7B-2CB19A42BC8B}" type="datetimeFigureOut">
              <a:rPr lang="en-IN" smtClean="0"/>
              <a:t>17-12-2023</a:t>
            </a:fld>
            <a:endParaRPr lang="en-IN"/>
          </a:p>
        </p:txBody>
      </p:sp>
      <p:sp>
        <p:nvSpPr>
          <p:cNvPr id="3" name="Footer Placeholder 2">
            <a:extLst>
              <a:ext uri="{FF2B5EF4-FFF2-40B4-BE49-F238E27FC236}">
                <a16:creationId xmlns:a16="http://schemas.microsoft.com/office/drawing/2014/main" id="{B760A8E0-E787-0E4D-82B4-1044DB6D4CD5}"/>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581D0919-3B95-BDF5-FA70-5B51E10CF503}"/>
              </a:ext>
            </a:extLst>
          </p:cNvPr>
          <p:cNvSpPr>
            <a:spLocks noGrp="1"/>
          </p:cNvSpPr>
          <p:nvPr>
            <p:ph type="sldNum" sz="quarter" idx="12"/>
          </p:nvPr>
        </p:nvSpPr>
        <p:spPr/>
        <p:txBody>
          <a:bodyPr/>
          <a:lstStyle/>
          <a:p>
            <a:fld id="{5C97A155-DC77-461D-AECC-915A2804AC0B}" type="slidenum">
              <a:rPr lang="en-IN" smtClean="0"/>
              <a:t>‹#›</a:t>
            </a:fld>
            <a:endParaRPr lang="en-IN"/>
          </a:p>
        </p:txBody>
      </p:sp>
    </p:spTree>
    <p:extLst>
      <p:ext uri="{BB962C8B-B14F-4D97-AF65-F5344CB8AC3E}">
        <p14:creationId xmlns:p14="http://schemas.microsoft.com/office/powerpoint/2010/main" val="22188244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F54FB0-FE3A-683B-DB0E-79347CE7AE6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DBE73C90-CF5F-7E5B-2148-3C3F9529E27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88F6D584-E49D-7101-C432-30129A8E40D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36F3942-8EB4-B85B-7132-8E491AEFDA00}"/>
              </a:ext>
            </a:extLst>
          </p:cNvPr>
          <p:cNvSpPr>
            <a:spLocks noGrp="1"/>
          </p:cNvSpPr>
          <p:nvPr>
            <p:ph type="dt" sz="half" idx="10"/>
          </p:nvPr>
        </p:nvSpPr>
        <p:spPr/>
        <p:txBody>
          <a:bodyPr/>
          <a:lstStyle/>
          <a:p>
            <a:fld id="{3F62704E-AD0C-4004-9D7B-2CB19A42BC8B}" type="datetimeFigureOut">
              <a:rPr lang="en-IN" smtClean="0"/>
              <a:t>17-12-2023</a:t>
            </a:fld>
            <a:endParaRPr lang="en-IN"/>
          </a:p>
        </p:txBody>
      </p:sp>
      <p:sp>
        <p:nvSpPr>
          <p:cNvPr id="6" name="Footer Placeholder 5">
            <a:extLst>
              <a:ext uri="{FF2B5EF4-FFF2-40B4-BE49-F238E27FC236}">
                <a16:creationId xmlns:a16="http://schemas.microsoft.com/office/drawing/2014/main" id="{314C412E-EDBD-0CFC-B29B-1F27A87E7AB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F647757-11C0-DB16-2334-3C29CA501BA6}"/>
              </a:ext>
            </a:extLst>
          </p:cNvPr>
          <p:cNvSpPr>
            <a:spLocks noGrp="1"/>
          </p:cNvSpPr>
          <p:nvPr>
            <p:ph type="sldNum" sz="quarter" idx="12"/>
          </p:nvPr>
        </p:nvSpPr>
        <p:spPr/>
        <p:txBody>
          <a:bodyPr/>
          <a:lstStyle/>
          <a:p>
            <a:fld id="{5C97A155-DC77-461D-AECC-915A2804AC0B}" type="slidenum">
              <a:rPr lang="en-IN" smtClean="0"/>
              <a:t>‹#›</a:t>
            </a:fld>
            <a:endParaRPr lang="en-IN"/>
          </a:p>
        </p:txBody>
      </p:sp>
    </p:spTree>
    <p:extLst>
      <p:ext uri="{BB962C8B-B14F-4D97-AF65-F5344CB8AC3E}">
        <p14:creationId xmlns:p14="http://schemas.microsoft.com/office/powerpoint/2010/main" val="42367642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252C59-A0D4-6663-8909-37DC5E4D87E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697BF96A-EE6F-F7B5-468D-564599602FA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5F372755-85AA-57D4-726E-CF002D61154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8454FBC-2D28-3DFD-3737-CD29C38F9C42}"/>
              </a:ext>
            </a:extLst>
          </p:cNvPr>
          <p:cNvSpPr>
            <a:spLocks noGrp="1"/>
          </p:cNvSpPr>
          <p:nvPr>
            <p:ph type="dt" sz="half" idx="10"/>
          </p:nvPr>
        </p:nvSpPr>
        <p:spPr/>
        <p:txBody>
          <a:bodyPr/>
          <a:lstStyle/>
          <a:p>
            <a:fld id="{3F62704E-AD0C-4004-9D7B-2CB19A42BC8B}" type="datetimeFigureOut">
              <a:rPr lang="en-IN" smtClean="0"/>
              <a:t>17-12-2023</a:t>
            </a:fld>
            <a:endParaRPr lang="en-IN"/>
          </a:p>
        </p:txBody>
      </p:sp>
      <p:sp>
        <p:nvSpPr>
          <p:cNvPr id="6" name="Footer Placeholder 5">
            <a:extLst>
              <a:ext uri="{FF2B5EF4-FFF2-40B4-BE49-F238E27FC236}">
                <a16:creationId xmlns:a16="http://schemas.microsoft.com/office/drawing/2014/main" id="{208F0693-AE39-C6D9-9522-84C65ADECD9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F2C1227-122B-E4BA-10F1-098A74782DD2}"/>
              </a:ext>
            </a:extLst>
          </p:cNvPr>
          <p:cNvSpPr>
            <a:spLocks noGrp="1"/>
          </p:cNvSpPr>
          <p:nvPr>
            <p:ph type="sldNum" sz="quarter" idx="12"/>
          </p:nvPr>
        </p:nvSpPr>
        <p:spPr/>
        <p:txBody>
          <a:bodyPr/>
          <a:lstStyle/>
          <a:p>
            <a:fld id="{5C97A155-DC77-461D-AECC-915A2804AC0B}" type="slidenum">
              <a:rPr lang="en-IN" smtClean="0"/>
              <a:t>‹#›</a:t>
            </a:fld>
            <a:endParaRPr lang="en-IN"/>
          </a:p>
        </p:txBody>
      </p:sp>
    </p:spTree>
    <p:extLst>
      <p:ext uri="{BB962C8B-B14F-4D97-AF65-F5344CB8AC3E}">
        <p14:creationId xmlns:p14="http://schemas.microsoft.com/office/powerpoint/2010/main" val="5205808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BE751C-C46D-6BE5-FF46-FDA656D752B1}"/>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6A37E2C-D526-21F8-DEF2-B6E1C94655A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7DE29DF-37B6-989E-A575-1EE66BAA41FE}"/>
              </a:ext>
            </a:extLst>
          </p:cNvPr>
          <p:cNvSpPr>
            <a:spLocks noGrp="1"/>
          </p:cNvSpPr>
          <p:nvPr>
            <p:ph type="dt" sz="half" idx="10"/>
          </p:nvPr>
        </p:nvSpPr>
        <p:spPr/>
        <p:txBody>
          <a:bodyPr/>
          <a:lstStyle/>
          <a:p>
            <a:fld id="{3F62704E-AD0C-4004-9D7B-2CB19A42BC8B}" type="datetimeFigureOut">
              <a:rPr lang="en-IN" smtClean="0"/>
              <a:t>17-12-2023</a:t>
            </a:fld>
            <a:endParaRPr lang="en-IN"/>
          </a:p>
        </p:txBody>
      </p:sp>
      <p:sp>
        <p:nvSpPr>
          <p:cNvPr id="5" name="Footer Placeholder 4">
            <a:extLst>
              <a:ext uri="{FF2B5EF4-FFF2-40B4-BE49-F238E27FC236}">
                <a16:creationId xmlns:a16="http://schemas.microsoft.com/office/drawing/2014/main" id="{F1B78731-96D8-550D-99FB-8602597AAD2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DADDCF2-3C56-B4E8-12F4-92E430539FF1}"/>
              </a:ext>
            </a:extLst>
          </p:cNvPr>
          <p:cNvSpPr>
            <a:spLocks noGrp="1"/>
          </p:cNvSpPr>
          <p:nvPr>
            <p:ph type="sldNum" sz="quarter" idx="12"/>
          </p:nvPr>
        </p:nvSpPr>
        <p:spPr/>
        <p:txBody>
          <a:bodyPr/>
          <a:lstStyle/>
          <a:p>
            <a:fld id="{5C97A155-DC77-461D-AECC-915A2804AC0B}" type="slidenum">
              <a:rPr lang="en-IN" smtClean="0"/>
              <a:t>‹#›</a:t>
            </a:fld>
            <a:endParaRPr lang="en-IN"/>
          </a:p>
        </p:txBody>
      </p:sp>
    </p:spTree>
    <p:extLst>
      <p:ext uri="{BB962C8B-B14F-4D97-AF65-F5344CB8AC3E}">
        <p14:creationId xmlns:p14="http://schemas.microsoft.com/office/powerpoint/2010/main" val="5291480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E123E96-D96A-40A3-CC70-1280E8F6E6E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0440E8E-1293-8526-40DE-EFD0ABDF391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7A021C1-0452-B47F-819F-A4C9468EEAD8}"/>
              </a:ext>
            </a:extLst>
          </p:cNvPr>
          <p:cNvSpPr>
            <a:spLocks noGrp="1"/>
          </p:cNvSpPr>
          <p:nvPr>
            <p:ph type="dt" sz="half" idx="10"/>
          </p:nvPr>
        </p:nvSpPr>
        <p:spPr/>
        <p:txBody>
          <a:bodyPr/>
          <a:lstStyle/>
          <a:p>
            <a:fld id="{3F62704E-AD0C-4004-9D7B-2CB19A42BC8B}" type="datetimeFigureOut">
              <a:rPr lang="en-IN" smtClean="0"/>
              <a:t>17-12-2023</a:t>
            </a:fld>
            <a:endParaRPr lang="en-IN"/>
          </a:p>
        </p:txBody>
      </p:sp>
      <p:sp>
        <p:nvSpPr>
          <p:cNvPr id="5" name="Footer Placeholder 4">
            <a:extLst>
              <a:ext uri="{FF2B5EF4-FFF2-40B4-BE49-F238E27FC236}">
                <a16:creationId xmlns:a16="http://schemas.microsoft.com/office/drawing/2014/main" id="{9831A085-BF9B-C060-61D8-DD197EFA10B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E26604D-2F70-619A-56BC-9F2B6AC71D77}"/>
              </a:ext>
            </a:extLst>
          </p:cNvPr>
          <p:cNvSpPr>
            <a:spLocks noGrp="1"/>
          </p:cNvSpPr>
          <p:nvPr>
            <p:ph type="sldNum" sz="quarter" idx="12"/>
          </p:nvPr>
        </p:nvSpPr>
        <p:spPr/>
        <p:txBody>
          <a:bodyPr/>
          <a:lstStyle/>
          <a:p>
            <a:fld id="{5C97A155-DC77-461D-AECC-915A2804AC0B}" type="slidenum">
              <a:rPr lang="en-IN" smtClean="0"/>
              <a:t>‹#›</a:t>
            </a:fld>
            <a:endParaRPr lang="en-IN"/>
          </a:p>
        </p:txBody>
      </p:sp>
    </p:spTree>
    <p:extLst>
      <p:ext uri="{BB962C8B-B14F-4D97-AF65-F5344CB8AC3E}">
        <p14:creationId xmlns:p14="http://schemas.microsoft.com/office/powerpoint/2010/main" val="41430918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F1C2484-E4D1-F580-371C-D535624F74D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B7B7247-CD9D-F396-C7F1-FE08A6CA980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A8B33C0-4488-7158-E655-767858B8015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F62704E-AD0C-4004-9D7B-2CB19A42BC8B}" type="datetimeFigureOut">
              <a:rPr lang="en-IN" smtClean="0"/>
              <a:t>17-12-2023</a:t>
            </a:fld>
            <a:endParaRPr lang="en-IN"/>
          </a:p>
        </p:txBody>
      </p:sp>
      <p:sp>
        <p:nvSpPr>
          <p:cNvPr id="5" name="Footer Placeholder 4">
            <a:extLst>
              <a:ext uri="{FF2B5EF4-FFF2-40B4-BE49-F238E27FC236}">
                <a16:creationId xmlns:a16="http://schemas.microsoft.com/office/drawing/2014/main" id="{0DCD8DDC-E2A3-A6BA-4B1C-5F4980994ED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C24882CE-C6DE-0703-E9B2-3DAEBB54A79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C97A155-DC77-461D-AECC-915A2804AC0B}" type="slidenum">
              <a:rPr lang="en-IN" smtClean="0"/>
              <a:t>‹#›</a:t>
            </a:fld>
            <a:endParaRPr lang="en-IN"/>
          </a:p>
        </p:txBody>
      </p:sp>
    </p:spTree>
    <p:extLst>
      <p:ext uri="{BB962C8B-B14F-4D97-AF65-F5344CB8AC3E}">
        <p14:creationId xmlns:p14="http://schemas.microsoft.com/office/powerpoint/2010/main" val="47283073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25B04D-6CB7-29A8-6214-59A8C8A83F0C}"/>
              </a:ext>
            </a:extLst>
          </p:cNvPr>
          <p:cNvSpPr>
            <a:spLocks noGrp="1"/>
          </p:cNvSpPr>
          <p:nvPr>
            <p:ph type="ctrTitle"/>
          </p:nvPr>
        </p:nvSpPr>
        <p:spPr/>
        <p:txBody>
          <a:bodyPr>
            <a:normAutofit/>
          </a:bodyPr>
          <a:lstStyle/>
          <a:p>
            <a:r>
              <a:rPr lang="en-US" sz="5400" b="1" dirty="0">
                <a:effectLst/>
                <a:latin typeface="Cambria" panose="02040503050406030204" pitchFamily="18" charset="0"/>
                <a:ea typeface="Times New Roman" panose="02020603050405020304" pitchFamily="18" charset="0"/>
              </a:rPr>
              <a:t>MODULE 2:</a:t>
            </a:r>
            <a:r>
              <a:rPr lang="en-US" sz="5400" dirty="0">
                <a:effectLst/>
                <a:latin typeface="Cambria" panose="02040503050406030204" pitchFamily="18" charset="0"/>
                <a:ea typeface="Times New Roman" panose="02020603050405020304" pitchFamily="18" charset="0"/>
              </a:rPr>
              <a:t> </a:t>
            </a:r>
            <a:r>
              <a:rPr lang="en-US" sz="5400" b="1" dirty="0">
                <a:effectLst/>
                <a:latin typeface="Cambria" panose="02040503050406030204" pitchFamily="18" charset="0"/>
                <a:ea typeface="Times New Roman" panose="02020603050405020304" pitchFamily="18" charset="0"/>
              </a:rPr>
              <a:t>Research Design</a:t>
            </a:r>
            <a:endParaRPr lang="en-IN" sz="19900" dirty="0"/>
          </a:p>
        </p:txBody>
      </p:sp>
      <p:sp>
        <p:nvSpPr>
          <p:cNvPr id="3" name="Subtitle 2">
            <a:extLst>
              <a:ext uri="{FF2B5EF4-FFF2-40B4-BE49-F238E27FC236}">
                <a16:creationId xmlns:a16="http://schemas.microsoft.com/office/drawing/2014/main" id="{19EB3BDC-5D84-E5FD-947D-8B716B31DDBA}"/>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30303714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F0CF2D-09F7-EBBC-C760-1E8D0396DDE0}"/>
              </a:ext>
            </a:extLst>
          </p:cNvPr>
          <p:cNvSpPr>
            <a:spLocks noGrp="1"/>
          </p:cNvSpPr>
          <p:nvPr>
            <p:ph type="title"/>
          </p:nvPr>
        </p:nvSpPr>
        <p:spPr>
          <a:xfrm>
            <a:off x="6096000" y="109167"/>
            <a:ext cx="6095980" cy="767525"/>
          </a:xfrm>
        </p:spPr>
        <p:txBody>
          <a:bodyPr anchor="b">
            <a:normAutofit/>
          </a:bodyPr>
          <a:lstStyle/>
          <a:p>
            <a:r>
              <a:rPr lang="en-US" sz="3200" b="1" dirty="0">
                <a:effectLst/>
                <a:latin typeface="Cambria" panose="02040503050406030204" pitchFamily="18" charset="0"/>
                <a:ea typeface="Times New Roman" panose="02020603050405020304" pitchFamily="18" charset="0"/>
              </a:rPr>
              <a:t>MODULE 2:</a:t>
            </a:r>
            <a:r>
              <a:rPr lang="en-US" sz="3200" dirty="0">
                <a:effectLst/>
                <a:latin typeface="Cambria" panose="02040503050406030204" pitchFamily="18" charset="0"/>
                <a:ea typeface="Times New Roman" panose="02020603050405020304" pitchFamily="18" charset="0"/>
              </a:rPr>
              <a:t> </a:t>
            </a:r>
            <a:r>
              <a:rPr lang="en-US" sz="3200" b="1" dirty="0">
                <a:effectLst/>
                <a:latin typeface="Cambria" panose="02040503050406030204" pitchFamily="18" charset="0"/>
                <a:ea typeface="Times New Roman" panose="02020603050405020304" pitchFamily="18" charset="0"/>
              </a:rPr>
              <a:t>Research Design</a:t>
            </a:r>
            <a:endParaRPr lang="en-IN" sz="3200" dirty="0"/>
          </a:p>
        </p:txBody>
      </p:sp>
      <p:pic>
        <p:nvPicPr>
          <p:cNvPr id="5" name="Picture 4" descr="A network formed by white dots">
            <a:extLst>
              <a:ext uri="{FF2B5EF4-FFF2-40B4-BE49-F238E27FC236}">
                <a16:creationId xmlns:a16="http://schemas.microsoft.com/office/drawing/2014/main" id="{9892C8BF-96E1-4C2F-754C-2B59459371C6}"/>
              </a:ext>
            </a:extLst>
          </p:cNvPr>
          <p:cNvPicPr>
            <a:picLocks noChangeAspect="1"/>
          </p:cNvPicPr>
          <p:nvPr/>
        </p:nvPicPr>
        <p:blipFill rotWithShape="1">
          <a:blip r:embed="rId2"/>
          <a:srcRect l="31556" r="-1" b="-1"/>
          <a:stretch/>
        </p:blipFill>
        <p:spPr>
          <a:xfrm>
            <a:off x="20" y="10"/>
            <a:ext cx="6095980" cy="6857990"/>
          </a:xfrm>
          <a:prstGeom prst="rect">
            <a:avLst/>
          </a:prstGeom>
        </p:spPr>
      </p:pic>
      <p:grpSp>
        <p:nvGrpSpPr>
          <p:cNvPr id="9" name="Group 8">
            <a:extLst>
              <a:ext uri="{FF2B5EF4-FFF2-40B4-BE49-F238E27FC236}">
                <a16:creationId xmlns:a16="http://schemas.microsoft.com/office/drawing/2014/main" id="{5EFBDE31-BB3E-6CFC-23CD-B5976DA3843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3362" cy="6858000"/>
            <a:chOff x="12068638" y="0"/>
            <a:chExt cx="123362" cy="6858000"/>
          </a:xfrm>
        </p:grpSpPr>
        <p:sp>
          <p:nvSpPr>
            <p:cNvPr id="10" name="Rectangle 9">
              <a:extLst>
                <a:ext uri="{FF2B5EF4-FFF2-40B4-BE49-F238E27FC236}">
                  <a16:creationId xmlns:a16="http://schemas.microsoft.com/office/drawing/2014/main" id="{180A60EC-72BB-121F-556A-E2837FD99A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91A2FAE-D41C-FF5D-B0A0-7808248EDC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68638" y="4139706"/>
              <a:ext cx="123362" cy="2718294"/>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Content Placeholder 2">
            <a:extLst>
              <a:ext uri="{FF2B5EF4-FFF2-40B4-BE49-F238E27FC236}">
                <a16:creationId xmlns:a16="http://schemas.microsoft.com/office/drawing/2014/main" id="{B0DBBE62-6923-C5E6-1972-0AC44FF1130B}"/>
              </a:ext>
            </a:extLst>
          </p:cNvPr>
          <p:cNvSpPr>
            <a:spLocks noGrp="1"/>
          </p:cNvSpPr>
          <p:nvPr>
            <p:ph idx="1"/>
          </p:nvPr>
        </p:nvSpPr>
        <p:spPr>
          <a:xfrm>
            <a:off x="6389162" y="876692"/>
            <a:ext cx="5679475" cy="5748960"/>
          </a:xfrm>
        </p:spPr>
        <p:txBody>
          <a:bodyPr anchor="t">
            <a:normAutofit/>
          </a:bodyPr>
          <a:lstStyle/>
          <a:p>
            <a:pPr>
              <a:buFont typeface="Wingdings" panose="05000000000000000000" pitchFamily="2" charset="2"/>
              <a:buChar char="Ø"/>
            </a:pPr>
            <a:r>
              <a:rPr lang="en-US" dirty="0">
                <a:effectLst/>
                <a:latin typeface="Cambria" panose="02040503050406030204" pitchFamily="18" charset="0"/>
                <a:ea typeface="Times New Roman" panose="02020603050405020304" pitchFamily="18" charset="0"/>
              </a:rPr>
              <a:t>Introduction </a:t>
            </a:r>
          </a:p>
          <a:p>
            <a:pPr>
              <a:buFont typeface="Wingdings" panose="05000000000000000000" pitchFamily="2" charset="2"/>
              <a:buChar char="Ø"/>
            </a:pPr>
            <a:r>
              <a:rPr lang="en-US" dirty="0">
                <a:effectLst/>
                <a:latin typeface="Cambria" panose="02040503050406030204" pitchFamily="18" charset="0"/>
                <a:ea typeface="Times New Roman" panose="02020603050405020304" pitchFamily="18" charset="0"/>
              </a:rPr>
              <a:t>Features of a good design </a:t>
            </a:r>
          </a:p>
          <a:p>
            <a:pPr>
              <a:buFont typeface="Wingdings" panose="05000000000000000000" pitchFamily="2" charset="2"/>
              <a:buChar char="Ø"/>
            </a:pPr>
            <a:r>
              <a:rPr lang="en-US" dirty="0">
                <a:effectLst/>
                <a:latin typeface="Cambria" panose="02040503050406030204" pitchFamily="18" charset="0"/>
                <a:ea typeface="Times New Roman" panose="02020603050405020304" pitchFamily="18" charset="0"/>
              </a:rPr>
              <a:t>Important concepts relating to research design </a:t>
            </a:r>
          </a:p>
          <a:p>
            <a:pPr marL="0" indent="0">
              <a:buNone/>
            </a:pPr>
            <a:r>
              <a:rPr lang="en-US" b="1" dirty="0">
                <a:effectLst/>
                <a:latin typeface="Cambria" panose="02040503050406030204" pitchFamily="18" charset="0"/>
                <a:ea typeface="Times New Roman" panose="02020603050405020304" pitchFamily="18" charset="0"/>
              </a:rPr>
              <a:t>Basic principles of experimental designs-</a:t>
            </a:r>
            <a:r>
              <a:rPr lang="en-US" b="1" dirty="0">
                <a:effectLst/>
                <a:latin typeface="Times New Roman" panose="02020603050405020304" pitchFamily="18" charset="0"/>
                <a:ea typeface="Times New Roman" panose="02020603050405020304" pitchFamily="18" charset="0"/>
              </a:rPr>
              <a:t> </a:t>
            </a:r>
          </a:p>
          <a:p>
            <a:pPr>
              <a:buFont typeface="Wingdings" panose="05000000000000000000" pitchFamily="2" charset="2"/>
              <a:buChar char="Ø"/>
            </a:pPr>
            <a:r>
              <a:rPr lang="en-US" dirty="0">
                <a:effectLst/>
                <a:latin typeface="Cambria" panose="02040503050406030204" pitchFamily="18" charset="0"/>
                <a:ea typeface="Times New Roman" panose="02020603050405020304" pitchFamily="18" charset="0"/>
              </a:rPr>
              <a:t>Principle of Replication</a:t>
            </a:r>
          </a:p>
          <a:p>
            <a:pPr>
              <a:buFont typeface="Wingdings" panose="05000000000000000000" pitchFamily="2" charset="2"/>
              <a:buChar char="Ø"/>
            </a:pPr>
            <a:r>
              <a:rPr lang="en-US" dirty="0">
                <a:effectLst/>
                <a:latin typeface="Cambria" panose="02040503050406030204" pitchFamily="18" charset="0"/>
                <a:ea typeface="Times New Roman" panose="02020603050405020304" pitchFamily="18" charset="0"/>
              </a:rPr>
              <a:t>Principle of Randomization </a:t>
            </a:r>
          </a:p>
          <a:p>
            <a:pPr>
              <a:buFont typeface="Wingdings" panose="05000000000000000000" pitchFamily="2" charset="2"/>
              <a:buChar char="Ø"/>
            </a:pPr>
            <a:r>
              <a:rPr lang="en-US" dirty="0">
                <a:effectLst/>
                <a:latin typeface="Cambria" panose="02040503050406030204" pitchFamily="18" charset="0"/>
                <a:ea typeface="Times New Roman" panose="02020603050405020304" pitchFamily="18" charset="0"/>
              </a:rPr>
              <a:t>Principle of Local Control.</a:t>
            </a:r>
            <a:endParaRPr lang="en-IN"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13143620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2F3937-0229-2DC5-6FD8-9CECC145D419}"/>
              </a:ext>
            </a:extLst>
          </p:cNvPr>
          <p:cNvSpPr>
            <a:spLocks noGrp="1"/>
          </p:cNvSpPr>
          <p:nvPr>
            <p:ph type="title"/>
          </p:nvPr>
        </p:nvSpPr>
        <p:spPr>
          <a:xfrm>
            <a:off x="838200" y="1856511"/>
            <a:ext cx="4114800" cy="3117273"/>
          </a:xfrm>
        </p:spPr>
        <p:txBody>
          <a:bodyPr anchor="ctr">
            <a:normAutofit/>
          </a:bodyPr>
          <a:lstStyle/>
          <a:p>
            <a:r>
              <a:rPr lang="en-IN" sz="4000" b="1">
                <a:gradFill flip="none" rotWithShape="1">
                  <a:gsLst>
                    <a:gs pos="0">
                      <a:schemeClr val="accent2"/>
                    </a:gs>
                    <a:gs pos="100000">
                      <a:schemeClr val="accent5"/>
                    </a:gs>
                  </a:gsLst>
                  <a:lin ang="3600000" scaled="0"/>
                  <a:tileRect/>
                </a:gradFill>
              </a:rPr>
              <a:t>Introduction:</a:t>
            </a:r>
          </a:p>
        </p:txBody>
      </p:sp>
      <p:sp>
        <p:nvSpPr>
          <p:cNvPr id="3" name="Content Placeholder 2">
            <a:extLst>
              <a:ext uri="{FF2B5EF4-FFF2-40B4-BE49-F238E27FC236}">
                <a16:creationId xmlns:a16="http://schemas.microsoft.com/office/drawing/2014/main" id="{4358B5C2-A8C7-D986-C038-F4A42B1FA970}"/>
              </a:ext>
            </a:extLst>
          </p:cNvPr>
          <p:cNvSpPr>
            <a:spLocks noGrp="1"/>
          </p:cNvSpPr>
          <p:nvPr>
            <p:ph idx="1"/>
          </p:nvPr>
        </p:nvSpPr>
        <p:spPr>
          <a:xfrm>
            <a:off x="5217691" y="87376"/>
            <a:ext cx="6744460" cy="6770624"/>
          </a:xfrm>
        </p:spPr>
        <p:txBody>
          <a:bodyPr anchor="ctr">
            <a:normAutofit/>
          </a:bodyPr>
          <a:lstStyle/>
          <a:p>
            <a:pPr marL="0" indent="0">
              <a:buNone/>
            </a:pPr>
            <a:r>
              <a:rPr lang="en-US" sz="3200" b="0" i="0" dirty="0">
                <a:effectLst/>
                <a:latin typeface="Söhne"/>
              </a:rPr>
              <a:t>Key aspects of research design include:</a:t>
            </a:r>
          </a:p>
          <a:p>
            <a:pPr>
              <a:buFont typeface="Wingdings" panose="05000000000000000000" pitchFamily="2" charset="2"/>
              <a:buChar char="ü"/>
            </a:pPr>
            <a:r>
              <a:rPr lang="en-US" b="0" i="0" dirty="0">
                <a:effectLst/>
                <a:latin typeface="Söhne"/>
              </a:rPr>
              <a:t>Research Objectives</a:t>
            </a:r>
          </a:p>
          <a:p>
            <a:pPr>
              <a:buFont typeface="Wingdings" panose="05000000000000000000" pitchFamily="2" charset="2"/>
              <a:buChar char="ü"/>
            </a:pPr>
            <a:r>
              <a:rPr lang="en-US" b="0" i="0" dirty="0">
                <a:effectLst/>
                <a:latin typeface="Söhne"/>
              </a:rPr>
              <a:t>Research Questions or Hypotheses</a:t>
            </a:r>
          </a:p>
          <a:p>
            <a:pPr>
              <a:buFont typeface="Wingdings" panose="05000000000000000000" pitchFamily="2" charset="2"/>
              <a:buChar char="ü"/>
            </a:pPr>
            <a:r>
              <a:rPr lang="en-US" b="0" i="0" dirty="0">
                <a:effectLst/>
                <a:latin typeface="Söhne"/>
              </a:rPr>
              <a:t>Research Methods</a:t>
            </a:r>
          </a:p>
          <a:p>
            <a:pPr>
              <a:buFont typeface="Wingdings" panose="05000000000000000000" pitchFamily="2" charset="2"/>
              <a:buChar char="ü"/>
            </a:pPr>
            <a:r>
              <a:rPr lang="en-US" b="0" i="0" dirty="0">
                <a:effectLst/>
                <a:latin typeface="Söhne"/>
              </a:rPr>
              <a:t>Sampling</a:t>
            </a:r>
          </a:p>
          <a:p>
            <a:pPr>
              <a:buFont typeface="Wingdings" panose="05000000000000000000" pitchFamily="2" charset="2"/>
              <a:buChar char="ü"/>
            </a:pPr>
            <a:r>
              <a:rPr lang="en-US" b="0" i="0" dirty="0">
                <a:effectLst/>
                <a:latin typeface="Söhne"/>
              </a:rPr>
              <a:t>Data Collection</a:t>
            </a:r>
          </a:p>
          <a:p>
            <a:pPr>
              <a:buFont typeface="Wingdings" panose="05000000000000000000" pitchFamily="2" charset="2"/>
              <a:buChar char="ü"/>
            </a:pPr>
            <a:r>
              <a:rPr lang="en-US" b="0" i="0" dirty="0">
                <a:effectLst/>
                <a:latin typeface="Söhne"/>
              </a:rPr>
              <a:t>Data Analysis</a:t>
            </a:r>
          </a:p>
          <a:p>
            <a:pPr>
              <a:buFont typeface="Wingdings" panose="05000000000000000000" pitchFamily="2" charset="2"/>
              <a:buChar char="ü"/>
            </a:pPr>
            <a:r>
              <a:rPr lang="en-US" b="0" i="0" dirty="0">
                <a:effectLst/>
                <a:latin typeface="Söhne"/>
              </a:rPr>
              <a:t>Time Frame</a:t>
            </a:r>
          </a:p>
          <a:p>
            <a:pPr>
              <a:buFont typeface="Wingdings" panose="05000000000000000000" pitchFamily="2" charset="2"/>
              <a:buChar char="ü"/>
            </a:pPr>
            <a:r>
              <a:rPr lang="en-US" b="0" i="0" dirty="0">
                <a:effectLst/>
                <a:latin typeface="Söhne"/>
              </a:rPr>
              <a:t>Ethical Considerations</a:t>
            </a:r>
          </a:p>
          <a:p>
            <a:pPr>
              <a:buFont typeface="Wingdings" panose="05000000000000000000" pitchFamily="2" charset="2"/>
              <a:buChar char="ü"/>
            </a:pPr>
            <a:r>
              <a:rPr lang="en-US" b="0" i="0" dirty="0">
                <a:effectLst/>
                <a:latin typeface="Söhne"/>
              </a:rPr>
              <a:t>Validity and Reliability</a:t>
            </a:r>
          </a:p>
          <a:p>
            <a:pPr>
              <a:buFont typeface="Wingdings" panose="05000000000000000000" pitchFamily="2" charset="2"/>
              <a:buChar char="ü"/>
            </a:pPr>
            <a:r>
              <a:rPr lang="en-US" b="0" i="0" dirty="0">
                <a:effectLst/>
                <a:latin typeface="Söhne"/>
              </a:rPr>
              <a:t>Data Presentation and Interpretation</a:t>
            </a:r>
          </a:p>
          <a:p>
            <a:pPr>
              <a:buFont typeface="Wingdings" panose="05000000000000000000" pitchFamily="2" charset="2"/>
              <a:buChar char="ü"/>
            </a:pPr>
            <a:r>
              <a:rPr lang="en-US" b="0" i="0" dirty="0">
                <a:effectLst/>
                <a:latin typeface="Söhne"/>
              </a:rPr>
              <a:t>Budget and Resources</a:t>
            </a:r>
          </a:p>
          <a:p>
            <a:pPr>
              <a:buFont typeface="Wingdings" panose="05000000000000000000" pitchFamily="2" charset="2"/>
              <a:buChar char="ü"/>
            </a:pPr>
            <a:r>
              <a:rPr lang="en-US" b="0" i="0" dirty="0">
                <a:effectLst/>
                <a:latin typeface="Söhne"/>
              </a:rPr>
              <a:t>Limitations</a:t>
            </a:r>
          </a:p>
        </p:txBody>
      </p:sp>
      <p:grpSp>
        <p:nvGrpSpPr>
          <p:cNvPr id="8" name="Group 7">
            <a:extLst>
              <a:ext uri="{FF2B5EF4-FFF2-40B4-BE49-F238E27FC236}">
                <a16:creationId xmlns:a16="http://schemas.microsoft.com/office/drawing/2014/main" id="{808B9F32-AD7D-9782-8682-8BFFE97561F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2068638" y="0"/>
            <a:ext cx="123362" cy="6858000"/>
            <a:chOff x="12068638" y="0"/>
            <a:chExt cx="123362" cy="6858000"/>
          </a:xfrm>
        </p:grpSpPr>
        <p:sp>
          <p:nvSpPr>
            <p:cNvPr id="9" name="Rectangle 8">
              <a:extLst>
                <a:ext uri="{FF2B5EF4-FFF2-40B4-BE49-F238E27FC236}">
                  <a16:creationId xmlns:a16="http://schemas.microsoft.com/office/drawing/2014/main" id="{C335E35A-4700-46E0-FB82-5DA1B66377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671FC514-D557-671D-8D39-CC7A4D5C34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68638" y="3527553"/>
              <a:ext cx="123362" cy="3330447"/>
            </a:xfrm>
            <a:prstGeom prst="rect">
              <a:avLst/>
            </a:prstGeom>
            <a:gradFill>
              <a:gsLst>
                <a:gs pos="34000">
                  <a:schemeClr val="accent5">
                    <a:alpha val="0"/>
                  </a:schemeClr>
                </a:gs>
                <a:gs pos="100000">
                  <a:schemeClr val="accent5">
                    <a:lumMod val="60000"/>
                    <a:lumOff val="40000"/>
                    <a:alpha val="73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8417941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0EBB63-A0B2-F4C9-9C7E-AFA120E27B20}"/>
              </a:ext>
            </a:extLst>
          </p:cNvPr>
          <p:cNvSpPr>
            <a:spLocks noGrp="1"/>
          </p:cNvSpPr>
          <p:nvPr>
            <p:ph type="title"/>
          </p:nvPr>
        </p:nvSpPr>
        <p:spPr>
          <a:xfrm>
            <a:off x="148654" y="-369391"/>
            <a:ext cx="10515600" cy="1325563"/>
          </a:xfrm>
        </p:spPr>
        <p:txBody>
          <a:bodyPr/>
          <a:lstStyle/>
          <a:p>
            <a:r>
              <a:rPr lang="en-US" b="1" dirty="0">
                <a:effectLst/>
                <a:latin typeface="Cambria" panose="02040503050406030204" pitchFamily="18" charset="0"/>
                <a:ea typeface="Times New Roman" panose="02020603050405020304" pitchFamily="18" charset="0"/>
              </a:rPr>
              <a:t>Features of a good design:</a:t>
            </a:r>
            <a:endParaRPr lang="en-IN" b="1" dirty="0"/>
          </a:p>
        </p:txBody>
      </p:sp>
      <p:sp>
        <p:nvSpPr>
          <p:cNvPr id="3" name="Content Placeholder 2">
            <a:extLst>
              <a:ext uri="{FF2B5EF4-FFF2-40B4-BE49-F238E27FC236}">
                <a16:creationId xmlns:a16="http://schemas.microsoft.com/office/drawing/2014/main" id="{9B7FABFC-C765-A73A-DA07-B1D62DA8C03A}"/>
              </a:ext>
            </a:extLst>
          </p:cNvPr>
          <p:cNvSpPr>
            <a:spLocks noGrp="1"/>
          </p:cNvSpPr>
          <p:nvPr>
            <p:ph idx="1"/>
          </p:nvPr>
        </p:nvSpPr>
        <p:spPr>
          <a:xfrm>
            <a:off x="148654" y="596430"/>
            <a:ext cx="11894692" cy="6261570"/>
          </a:xfrm>
        </p:spPr>
        <p:txBody>
          <a:bodyPr>
            <a:normAutofit fontScale="77500" lnSpcReduction="20000"/>
          </a:bodyPr>
          <a:lstStyle/>
          <a:p>
            <a:pPr marL="0" indent="0" algn="just">
              <a:buNone/>
            </a:pPr>
            <a:r>
              <a:rPr lang="en-US" sz="4100" b="0" i="0" dirty="0">
                <a:solidFill>
                  <a:srgbClr val="374151"/>
                </a:solidFill>
                <a:effectLst/>
                <a:latin typeface="Söhne"/>
              </a:rPr>
              <a:t>	A good research design should possess several key features to ensure the quality and validity of the study. These features include:</a:t>
            </a:r>
          </a:p>
          <a:p>
            <a:pPr algn="just">
              <a:buFont typeface="Wingdings" panose="05000000000000000000" pitchFamily="2" charset="2"/>
              <a:buChar char="Ø"/>
            </a:pPr>
            <a:r>
              <a:rPr lang="en-US" b="1" i="0" dirty="0">
                <a:solidFill>
                  <a:srgbClr val="374151"/>
                </a:solidFill>
                <a:effectLst/>
                <a:latin typeface="Söhne"/>
              </a:rPr>
              <a:t>Clarity and Precision: </a:t>
            </a:r>
            <a:r>
              <a:rPr lang="en-US" b="0" i="0" dirty="0">
                <a:solidFill>
                  <a:srgbClr val="374151"/>
                </a:solidFill>
                <a:effectLst/>
                <a:latin typeface="Söhne"/>
              </a:rPr>
              <a:t>The research design should clearly articulate the research objectives, questions, and hypotheses, leaving no room for ambiguity. It should provide a precise roadmap for the entire research process.</a:t>
            </a:r>
          </a:p>
          <a:p>
            <a:pPr algn="just">
              <a:buFont typeface="Wingdings" panose="05000000000000000000" pitchFamily="2" charset="2"/>
              <a:buChar char="Ø"/>
            </a:pPr>
            <a:r>
              <a:rPr lang="en-US" b="1" i="0" dirty="0">
                <a:solidFill>
                  <a:srgbClr val="374151"/>
                </a:solidFill>
                <a:effectLst/>
                <a:latin typeface="Söhne"/>
              </a:rPr>
              <a:t>Relevance: </a:t>
            </a:r>
            <a:r>
              <a:rPr lang="en-US" b="0" i="0" dirty="0">
                <a:solidFill>
                  <a:srgbClr val="374151"/>
                </a:solidFill>
                <a:effectLst/>
                <a:latin typeface="Söhne"/>
              </a:rPr>
              <a:t>The research design should be directly aligned with the research objectives. It should focus on investigating the specific questions or hypotheses that are central to the study's goals.</a:t>
            </a:r>
          </a:p>
          <a:p>
            <a:pPr algn="just">
              <a:buFont typeface="Wingdings" panose="05000000000000000000" pitchFamily="2" charset="2"/>
              <a:buChar char="Ø"/>
            </a:pPr>
            <a:r>
              <a:rPr lang="en-US" b="1" i="0" dirty="0">
                <a:solidFill>
                  <a:srgbClr val="374151"/>
                </a:solidFill>
                <a:effectLst/>
                <a:latin typeface="Söhne"/>
              </a:rPr>
              <a:t>Feasibility: </a:t>
            </a:r>
            <a:r>
              <a:rPr lang="en-US" b="0" i="0" dirty="0">
                <a:solidFill>
                  <a:srgbClr val="374151"/>
                </a:solidFill>
                <a:effectLst/>
                <a:latin typeface="Söhne"/>
              </a:rPr>
              <a:t>A good research design should be practical and feasible within the constraints of time, budget, and available resources. It should account for potential challenges and limitations.</a:t>
            </a:r>
          </a:p>
          <a:p>
            <a:pPr algn="just">
              <a:buFont typeface="Wingdings" panose="05000000000000000000" pitchFamily="2" charset="2"/>
              <a:buChar char="Ø"/>
            </a:pPr>
            <a:r>
              <a:rPr lang="en-US" b="1" i="0" dirty="0">
                <a:solidFill>
                  <a:srgbClr val="374151"/>
                </a:solidFill>
                <a:effectLst/>
                <a:latin typeface="Söhne"/>
              </a:rPr>
              <a:t>Replicability:</a:t>
            </a:r>
            <a:r>
              <a:rPr lang="en-US" b="0" i="0" dirty="0">
                <a:solidFill>
                  <a:srgbClr val="374151"/>
                </a:solidFill>
                <a:effectLst/>
                <a:latin typeface="Söhne"/>
              </a:rPr>
              <a:t> The design should be detailed and well-documented so that others can replicate the study, ensuring the transparency and trustworthiness of the research.</a:t>
            </a:r>
          </a:p>
          <a:p>
            <a:pPr algn="just">
              <a:buFont typeface="Wingdings" panose="05000000000000000000" pitchFamily="2" charset="2"/>
              <a:buChar char="Ø"/>
            </a:pPr>
            <a:r>
              <a:rPr lang="en-US" b="1" i="0" dirty="0">
                <a:solidFill>
                  <a:srgbClr val="374151"/>
                </a:solidFill>
                <a:effectLst/>
                <a:latin typeface="Söhne"/>
              </a:rPr>
              <a:t>Validity:</a:t>
            </a:r>
            <a:r>
              <a:rPr lang="en-US" b="0" i="0" dirty="0">
                <a:solidFill>
                  <a:srgbClr val="374151"/>
                </a:solidFill>
                <a:effectLst/>
                <a:latin typeface="Söhne"/>
              </a:rPr>
              <a:t> The design should employ appropriate methods and techniques to measure what it intends to measure. Researchers must consider internal validity (the accuracy of the findings) and external validity (the generalizability of the results to other populations or settings).</a:t>
            </a:r>
          </a:p>
          <a:p>
            <a:pPr algn="just">
              <a:buFont typeface="Wingdings" panose="05000000000000000000" pitchFamily="2" charset="2"/>
              <a:buChar char="Ø"/>
            </a:pPr>
            <a:r>
              <a:rPr lang="en-US" b="1" i="0" dirty="0">
                <a:solidFill>
                  <a:srgbClr val="374151"/>
                </a:solidFill>
                <a:effectLst/>
                <a:latin typeface="Söhne"/>
              </a:rPr>
              <a:t>Reliability:</a:t>
            </a:r>
            <a:r>
              <a:rPr lang="en-US" b="0" i="0" dirty="0">
                <a:solidFill>
                  <a:srgbClr val="374151"/>
                </a:solidFill>
                <a:effectLst/>
                <a:latin typeface="Söhne"/>
              </a:rPr>
              <a:t> The research design should ensure that data collection methods are consistent and that results can be replicated with similar outcomes under the same conditions.</a:t>
            </a:r>
          </a:p>
          <a:p>
            <a:pPr algn="just">
              <a:buFont typeface="Wingdings" panose="05000000000000000000" pitchFamily="2" charset="2"/>
              <a:buChar char="Ø"/>
            </a:pPr>
            <a:r>
              <a:rPr lang="en-US" b="1" i="0" dirty="0">
                <a:solidFill>
                  <a:srgbClr val="374151"/>
                </a:solidFill>
                <a:effectLst/>
                <a:latin typeface="Söhne"/>
              </a:rPr>
              <a:t>Adequate Sampling:</a:t>
            </a:r>
            <a:r>
              <a:rPr lang="en-US" b="0" i="0" dirty="0">
                <a:solidFill>
                  <a:srgbClr val="374151"/>
                </a:solidFill>
                <a:effectLst/>
                <a:latin typeface="Söhne"/>
              </a:rPr>
              <a:t> A good research design incorporates sound sampling techniques, ensuring that the sample size is appropriate and that the selected participants or data sources are representative of the population under investigation.</a:t>
            </a:r>
          </a:p>
          <a:p>
            <a:endParaRPr lang="en-IN" dirty="0"/>
          </a:p>
        </p:txBody>
      </p:sp>
    </p:spTree>
    <p:extLst>
      <p:ext uri="{BB962C8B-B14F-4D97-AF65-F5344CB8AC3E}">
        <p14:creationId xmlns:p14="http://schemas.microsoft.com/office/powerpoint/2010/main" val="31691803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4C43F71-7685-7BD9-419D-B3319A1425E0}"/>
              </a:ext>
            </a:extLst>
          </p:cNvPr>
          <p:cNvSpPr>
            <a:spLocks noGrp="1"/>
          </p:cNvSpPr>
          <p:nvPr>
            <p:ph idx="1"/>
          </p:nvPr>
        </p:nvSpPr>
        <p:spPr>
          <a:xfrm>
            <a:off x="268574" y="161717"/>
            <a:ext cx="11663596" cy="6553876"/>
          </a:xfrm>
        </p:spPr>
        <p:txBody>
          <a:bodyPr>
            <a:normAutofit fontScale="77500" lnSpcReduction="20000"/>
          </a:bodyPr>
          <a:lstStyle/>
          <a:p>
            <a:pPr algn="just">
              <a:buFont typeface="Wingdings" panose="05000000000000000000" pitchFamily="2" charset="2"/>
              <a:buChar char="Ø"/>
            </a:pPr>
            <a:r>
              <a:rPr lang="en-US" b="1" i="0" dirty="0">
                <a:solidFill>
                  <a:srgbClr val="374151"/>
                </a:solidFill>
                <a:effectLst/>
                <a:latin typeface="Söhne"/>
              </a:rPr>
              <a:t>Ethical Considerations: </a:t>
            </a:r>
            <a:r>
              <a:rPr lang="en-US" b="0" i="0" dirty="0">
                <a:solidFill>
                  <a:srgbClr val="374151"/>
                </a:solidFill>
                <a:effectLst/>
                <a:latin typeface="Söhne"/>
              </a:rPr>
              <a:t>Ethical principles should be embedded in the research design, including informed consent, protection of participants' rights, and safeguards against harm. Any potential ethical dilemmas should be addressed.</a:t>
            </a:r>
          </a:p>
          <a:p>
            <a:pPr algn="just">
              <a:buFont typeface="Wingdings" panose="05000000000000000000" pitchFamily="2" charset="2"/>
              <a:buChar char="Ø"/>
            </a:pPr>
            <a:r>
              <a:rPr lang="en-US" b="1" i="0" dirty="0">
                <a:solidFill>
                  <a:srgbClr val="374151"/>
                </a:solidFill>
                <a:effectLst/>
                <a:latin typeface="Söhne"/>
              </a:rPr>
              <a:t>Data Collection Methods:</a:t>
            </a:r>
            <a:r>
              <a:rPr lang="en-US" b="0" i="0" dirty="0">
                <a:solidFill>
                  <a:srgbClr val="374151"/>
                </a:solidFill>
                <a:effectLst/>
                <a:latin typeface="Söhne"/>
              </a:rPr>
              <a:t> The research design should employ suitable data collection methods (e.g., surveys, interviews, experiments) that match the research questions and objectives. The methods chosen should be reliable and valid.</a:t>
            </a:r>
          </a:p>
          <a:p>
            <a:pPr algn="just">
              <a:buFont typeface="Wingdings" panose="05000000000000000000" pitchFamily="2" charset="2"/>
              <a:buChar char="Ø"/>
            </a:pPr>
            <a:r>
              <a:rPr lang="en-US" b="1" i="0" dirty="0">
                <a:solidFill>
                  <a:srgbClr val="374151"/>
                </a:solidFill>
                <a:effectLst/>
                <a:latin typeface="Söhne"/>
              </a:rPr>
              <a:t>Data Analysis: </a:t>
            </a:r>
            <a:r>
              <a:rPr lang="en-US" b="0" i="0" dirty="0">
                <a:solidFill>
                  <a:srgbClr val="374151"/>
                </a:solidFill>
                <a:effectLst/>
                <a:latin typeface="Söhne"/>
              </a:rPr>
              <a:t>The design should outline the data analysis techniques that will be used to answer the research questions. This includes specifying the statistical or qualitative methods and procedures for handling and interpreting the data.</a:t>
            </a:r>
          </a:p>
          <a:p>
            <a:pPr algn="just">
              <a:buFont typeface="Wingdings" panose="05000000000000000000" pitchFamily="2" charset="2"/>
              <a:buChar char="Ø"/>
            </a:pPr>
            <a:r>
              <a:rPr lang="en-US" b="1" i="0" dirty="0">
                <a:solidFill>
                  <a:srgbClr val="374151"/>
                </a:solidFill>
                <a:effectLst/>
                <a:latin typeface="Söhne"/>
              </a:rPr>
              <a:t>Time Frame: </a:t>
            </a:r>
            <a:r>
              <a:rPr lang="en-US" b="0" i="0" dirty="0">
                <a:solidFill>
                  <a:srgbClr val="374151"/>
                </a:solidFill>
                <a:effectLst/>
                <a:latin typeface="Söhne"/>
              </a:rPr>
              <a:t>A well-designed research project should establish a clear timeline for each phase of the research, helping researchers manage their time and resources efficiently.</a:t>
            </a:r>
          </a:p>
          <a:p>
            <a:pPr algn="just">
              <a:buFont typeface="Wingdings" panose="05000000000000000000" pitchFamily="2" charset="2"/>
              <a:buChar char="Ø"/>
            </a:pPr>
            <a:r>
              <a:rPr lang="en-US" b="1" i="0" dirty="0">
                <a:solidFill>
                  <a:srgbClr val="374151"/>
                </a:solidFill>
                <a:effectLst/>
                <a:latin typeface="Söhne"/>
              </a:rPr>
              <a:t>Scope and Boundaries: </a:t>
            </a:r>
            <a:r>
              <a:rPr lang="en-US" b="0" i="0" dirty="0">
                <a:solidFill>
                  <a:srgbClr val="374151"/>
                </a:solidFill>
                <a:effectLst/>
                <a:latin typeface="Söhne"/>
              </a:rPr>
              <a:t>The design should define the study's scope and boundaries, indicating what the research will and will not address. This helps manage expectations and ensures that the study remains focused.</a:t>
            </a:r>
          </a:p>
          <a:p>
            <a:pPr algn="just">
              <a:buFont typeface="Wingdings" panose="05000000000000000000" pitchFamily="2" charset="2"/>
              <a:buChar char="Ø"/>
            </a:pPr>
            <a:r>
              <a:rPr lang="en-US" b="1" i="0" dirty="0">
                <a:solidFill>
                  <a:srgbClr val="374151"/>
                </a:solidFill>
                <a:effectLst/>
                <a:latin typeface="Söhne"/>
              </a:rPr>
              <a:t>Flexibility: </a:t>
            </a:r>
            <a:r>
              <a:rPr lang="en-US" b="0" i="0" dirty="0">
                <a:solidFill>
                  <a:srgbClr val="374151"/>
                </a:solidFill>
                <a:effectLst/>
                <a:latin typeface="Söhne"/>
              </a:rPr>
              <a:t>While a research design should be detailed and specific, it should also allow for some flexibility to adapt to unforeseen challenges or opportunities during the research process.</a:t>
            </a:r>
          </a:p>
          <a:p>
            <a:pPr algn="just">
              <a:buFont typeface="Wingdings" panose="05000000000000000000" pitchFamily="2" charset="2"/>
              <a:buChar char="Ø"/>
            </a:pPr>
            <a:r>
              <a:rPr lang="en-US" b="1" i="0" dirty="0">
                <a:solidFill>
                  <a:srgbClr val="374151"/>
                </a:solidFill>
                <a:effectLst/>
                <a:latin typeface="Söhne"/>
              </a:rPr>
              <a:t>Comprehensive Review:</a:t>
            </a:r>
            <a:r>
              <a:rPr lang="en-US" b="0" i="0" dirty="0">
                <a:solidFill>
                  <a:srgbClr val="374151"/>
                </a:solidFill>
                <a:effectLst/>
                <a:latin typeface="Söhne"/>
              </a:rPr>
              <a:t> A good research design typically involves a thorough literature review to ensure that the study builds upon existing knowledge and is grounded in relevant theories and concepts.</a:t>
            </a:r>
          </a:p>
          <a:p>
            <a:pPr algn="just">
              <a:buFont typeface="Wingdings" panose="05000000000000000000" pitchFamily="2" charset="2"/>
              <a:buChar char="Ø"/>
            </a:pPr>
            <a:r>
              <a:rPr lang="en-US" b="1" i="0" dirty="0">
                <a:solidFill>
                  <a:srgbClr val="374151"/>
                </a:solidFill>
                <a:effectLst/>
                <a:latin typeface="Söhne"/>
              </a:rPr>
              <a:t>Pilot Testing: </a:t>
            </a:r>
            <a:r>
              <a:rPr lang="en-US" b="0" i="0" dirty="0">
                <a:solidFill>
                  <a:srgbClr val="374151"/>
                </a:solidFill>
                <a:effectLst/>
                <a:latin typeface="Söhne"/>
              </a:rPr>
              <a:t>Researchers should consider pilot testing data collection instruments or procedures to identify and address any issues before full-scale data collection begins.</a:t>
            </a:r>
          </a:p>
          <a:p>
            <a:pPr algn="just">
              <a:buFont typeface="Wingdings" panose="05000000000000000000" pitchFamily="2" charset="2"/>
              <a:buChar char="Ø"/>
            </a:pPr>
            <a:r>
              <a:rPr lang="en-US" b="1" i="0" dirty="0">
                <a:solidFill>
                  <a:srgbClr val="374151"/>
                </a:solidFill>
                <a:effectLst/>
                <a:latin typeface="Söhne"/>
              </a:rPr>
              <a:t>Theoretical Framework: </a:t>
            </a:r>
            <a:r>
              <a:rPr lang="en-US" b="0" i="0" dirty="0">
                <a:solidFill>
                  <a:srgbClr val="374151"/>
                </a:solidFill>
                <a:effectLst/>
                <a:latin typeface="Söhne"/>
              </a:rPr>
              <a:t>If applicable, the design should incorporate a theoretical framework that provides a conceptual basis for the research and helps guide data collection and analysis.</a:t>
            </a:r>
          </a:p>
          <a:p>
            <a:endParaRPr lang="en-IN" dirty="0"/>
          </a:p>
        </p:txBody>
      </p:sp>
    </p:spTree>
    <p:extLst>
      <p:ext uri="{BB962C8B-B14F-4D97-AF65-F5344CB8AC3E}">
        <p14:creationId xmlns:p14="http://schemas.microsoft.com/office/powerpoint/2010/main" val="19910245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EF85B2-F973-BC8C-7E08-4ED47ADE94C2}"/>
              </a:ext>
            </a:extLst>
          </p:cNvPr>
          <p:cNvSpPr>
            <a:spLocks noGrp="1"/>
          </p:cNvSpPr>
          <p:nvPr>
            <p:ph type="title"/>
          </p:nvPr>
        </p:nvSpPr>
        <p:spPr>
          <a:xfrm>
            <a:off x="434715" y="-384377"/>
            <a:ext cx="11167672" cy="1325563"/>
          </a:xfrm>
        </p:spPr>
        <p:txBody>
          <a:bodyPr/>
          <a:lstStyle/>
          <a:p>
            <a:pPr algn="just"/>
            <a:r>
              <a:rPr lang="en-US" b="1" dirty="0"/>
              <a:t>Important concepts relating to research design:</a:t>
            </a:r>
            <a:endParaRPr lang="en-IN" b="1" dirty="0"/>
          </a:p>
        </p:txBody>
      </p:sp>
      <p:sp>
        <p:nvSpPr>
          <p:cNvPr id="3" name="Content Placeholder 2">
            <a:extLst>
              <a:ext uri="{FF2B5EF4-FFF2-40B4-BE49-F238E27FC236}">
                <a16:creationId xmlns:a16="http://schemas.microsoft.com/office/drawing/2014/main" id="{FCFC838A-2810-71AF-38E7-25CED0686A70}"/>
              </a:ext>
            </a:extLst>
          </p:cNvPr>
          <p:cNvSpPr>
            <a:spLocks noGrp="1"/>
          </p:cNvSpPr>
          <p:nvPr>
            <p:ph idx="1"/>
          </p:nvPr>
        </p:nvSpPr>
        <p:spPr>
          <a:xfrm>
            <a:off x="58712" y="551462"/>
            <a:ext cx="12008369" cy="6306537"/>
          </a:xfrm>
        </p:spPr>
        <p:txBody>
          <a:bodyPr>
            <a:normAutofit lnSpcReduction="10000"/>
          </a:bodyPr>
          <a:lstStyle/>
          <a:p>
            <a:pPr marL="0" indent="0" algn="just">
              <a:buNone/>
            </a:pPr>
            <a:r>
              <a:rPr lang="en-US" sz="3600" b="0" i="0" dirty="0">
                <a:solidFill>
                  <a:srgbClr val="374151"/>
                </a:solidFill>
                <a:effectLst/>
                <a:latin typeface="Söhne"/>
              </a:rPr>
              <a:t>	Research design is a complex and multifaceted process that involves several important concepts and considerations. Here are some key concepts related to research design:</a:t>
            </a:r>
          </a:p>
          <a:p>
            <a:r>
              <a:rPr lang="en-US" b="0" i="0" dirty="0">
                <a:solidFill>
                  <a:srgbClr val="374151"/>
                </a:solidFill>
                <a:effectLst/>
                <a:latin typeface="Söhne"/>
              </a:rPr>
              <a:t>Research Objectives</a:t>
            </a:r>
          </a:p>
          <a:p>
            <a:r>
              <a:rPr lang="en-US" b="0" i="0" dirty="0">
                <a:solidFill>
                  <a:srgbClr val="374151"/>
                </a:solidFill>
                <a:effectLst/>
                <a:latin typeface="Söhne"/>
              </a:rPr>
              <a:t>Research Questions</a:t>
            </a:r>
          </a:p>
          <a:p>
            <a:r>
              <a:rPr lang="en-US" b="0" i="0" dirty="0">
                <a:solidFill>
                  <a:srgbClr val="374151"/>
                </a:solidFill>
                <a:effectLst/>
                <a:latin typeface="Söhne"/>
              </a:rPr>
              <a:t>Hypothesis</a:t>
            </a:r>
          </a:p>
          <a:p>
            <a:r>
              <a:rPr lang="en-US" b="0" i="0" dirty="0">
                <a:solidFill>
                  <a:srgbClr val="374151"/>
                </a:solidFill>
                <a:effectLst/>
                <a:latin typeface="Söhne"/>
              </a:rPr>
              <a:t>Variables</a:t>
            </a:r>
          </a:p>
          <a:p>
            <a:r>
              <a:rPr lang="en-US" b="0" i="0" dirty="0">
                <a:solidFill>
                  <a:srgbClr val="374151"/>
                </a:solidFill>
                <a:effectLst/>
                <a:latin typeface="Söhne"/>
              </a:rPr>
              <a:t>Operationalization</a:t>
            </a:r>
          </a:p>
          <a:p>
            <a:r>
              <a:rPr lang="en-US" b="0" i="0" dirty="0">
                <a:solidFill>
                  <a:srgbClr val="374151"/>
                </a:solidFill>
                <a:effectLst/>
                <a:latin typeface="Söhne"/>
              </a:rPr>
              <a:t>Research Methods</a:t>
            </a:r>
          </a:p>
          <a:p>
            <a:r>
              <a:rPr lang="en-US" b="0" i="0" dirty="0">
                <a:solidFill>
                  <a:srgbClr val="374151"/>
                </a:solidFill>
                <a:effectLst/>
                <a:latin typeface="Söhne"/>
              </a:rPr>
              <a:t>Sampling</a:t>
            </a:r>
          </a:p>
          <a:p>
            <a:r>
              <a:rPr lang="en-US" b="0" i="0" dirty="0">
                <a:solidFill>
                  <a:srgbClr val="374151"/>
                </a:solidFill>
                <a:effectLst/>
                <a:latin typeface="Söhne"/>
              </a:rPr>
              <a:t>Data Collection</a:t>
            </a:r>
          </a:p>
          <a:p>
            <a:r>
              <a:rPr lang="en-US" b="0" i="0" dirty="0">
                <a:solidFill>
                  <a:srgbClr val="374151"/>
                </a:solidFill>
                <a:effectLst/>
                <a:latin typeface="Söhne"/>
              </a:rPr>
              <a:t>Data Analysis</a:t>
            </a:r>
          </a:p>
          <a:p>
            <a:r>
              <a:rPr lang="en-US" b="0" i="0" dirty="0">
                <a:solidFill>
                  <a:srgbClr val="374151"/>
                </a:solidFill>
                <a:effectLst/>
                <a:latin typeface="Söhne"/>
              </a:rPr>
              <a:t>Descriptive Research</a:t>
            </a:r>
          </a:p>
          <a:p>
            <a:pPr marL="0" indent="0" algn="l">
              <a:buNone/>
            </a:pPr>
            <a:endParaRPr lang="en-US" b="0" i="0" dirty="0">
              <a:solidFill>
                <a:srgbClr val="374151"/>
              </a:solidFill>
              <a:effectLst/>
              <a:latin typeface="Söhne"/>
            </a:endParaRPr>
          </a:p>
        </p:txBody>
      </p:sp>
    </p:spTree>
    <p:extLst>
      <p:ext uri="{BB962C8B-B14F-4D97-AF65-F5344CB8AC3E}">
        <p14:creationId xmlns:p14="http://schemas.microsoft.com/office/powerpoint/2010/main" val="15412166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685411D-E520-AE44-DBA0-706E188B2E2D}"/>
              </a:ext>
            </a:extLst>
          </p:cNvPr>
          <p:cNvSpPr>
            <a:spLocks noGrp="1"/>
          </p:cNvSpPr>
          <p:nvPr>
            <p:ph idx="1"/>
          </p:nvPr>
        </p:nvSpPr>
        <p:spPr>
          <a:xfrm>
            <a:off x="268574" y="176707"/>
            <a:ext cx="10515600" cy="6359004"/>
          </a:xfrm>
        </p:spPr>
        <p:txBody>
          <a:bodyPr>
            <a:normAutofit/>
          </a:bodyPr>
          <a:lstStyle/>
          <a:p>
            <a:r>
              <a:rPr lang="en-US" b="0" i="0" dirty="0">
                <a:solidFill>
                  <a:srgbClr val="374151"/>
                </a:solidFill>
                <a:effectLst/>
                <a:latin typeface="Söhne"/>
              </a:rPr>
              <a:t>Experimental Research</a:t>
            </a:r>
          </a:p>
          <a:p>
            <a:r>
              <a:rPr lang="en-US" b="0" i="0" dirty="0">
                <a:solidFill>
                  <a:srgbClr val="374151"/>
                </a:solidFill>
                <a:effectLst/>
                <a:latin typeface="Söhne"/>
              </a:rPr>
              <a:t>Correlational Research</a:t>
            </a:r>
          </a:p>
          <a:p>
            <a:r>
              <a:rPr lang="en-US" b="0" i="0" dirty="0">
                <a:solidFill>
                  <a:srgbClr val="374151"/>
                </a:solidFill>
                <a:effectLst/>
                <a:latin typeface="Söhne"/>
              </a:rPr>
              <a:t>Longitudinal Research</a:t>
            </a:r>
          </a:p>
          <a:p>
            <a:r>
              <a:rPr lang="en-US" b="0" i="0" dirty="0">
                <a:solidFill>
                  <a:srgbClr val="374151"/>
                </a:solidFill>
                <a:effectLst/>
                <a:latin typeface="Söhne"/>
              </a:rPr>
              <a:t>Cross-Sectional Research</a:t>
            </a:r>
          </a:p>
          <a:p>
            <a:r>
              <a:rPr lang="en-US" b="0" i="0" dirty="0">
                <a:solidFill>
                  <a:srgbClr val="374151"/>
                </a:solidFill>
                <a:effectLst/>
                <a:latin typeface="Söhne"/>
              </a:rPr>
              <a:t>Case Study</a:t>
            </a:r>
          </a:p>
          <a:p>
            <a:r>
              <a:rPr lang="en-US" b="0" i="0" dirty="0">
                <a:solidFill>
                  <a:srgbClr val="374151"/>
                </a:solidFill>
                <a:effectLst/>
                <a:latin typeface="Söhne"/>
              </a:rPr>
              <a:t>Literature Review</a:t>
            </a:r>
          </a:p>
          <a:p>
            <a:r>
              <a:rPr lang="en-US" b="0" i="0" dirty="0">
                <a:solidFill>
                  <a:srgbClr val="374151"/>
                </a:solidFill>
                <a:effectLst/>
                <a:latin typeface="Söhne"/>
              </a:rPr>
              <a:t>Research Design Framework</a:t>
            </a:r>
          </a:p>
          <a:p>
            <a:r>
              <a:rPr lang="en-US" b="0" i="0" dirty="0">
                <a:solidFill>
                  <a:srgbClr val="374151"/>
                </a:solidFill>
                <a:effectLst/>
                <a:latin typeface="Söhne"/>
              </a:rPr>
              <a:t>Validity</a:t>
            </a:r>
          </a:p>
          <a:p>
            <a:r>
              <a:rPr lang="en-US" b="0" i="0" dirty="0">
                <a:solidFill>
                  <a:srgbClr val="374151"/>
                </a:solidFill>
                <a:effectLst/>
                <a:latin typeface="Söhne"/>
              </a:rPr>
              <a:t>Reliability</a:t>
            </a:r>
          </a:p>
          <a:p>
            <a:r>
              <a:rPr lang="en-US" b="0" i="0" dirty="0">
                <a:solidFill>
                  <a:srgbClr val="374151"/>
                </a:solidFill>
                <a:effectLst/>
                <a:latin typeface="Söhne"/>
              </a:rPr>
              <a:t>Ethical Considerations</a:t>
            </a:r>
          </a:p>
          <a:p>
            <a:r>
              <a:rPr lang="en-US" b="0" i="0" dirty="0">
                <a:solidFill>
                  <a:srgbClr val="374151"/>
                </a:solidFill>
                <a:effectLst/>
                <a:latin typeface="Söhne"/>
              </a:rPr>
              <a:t>Generalizability</a:t>
            </a:r>
          </a:p>
          <a:p>
            <a:r>
              <a:rPr lang="en-US" b="0" i="0" dirty="0">
                <a:solidFill>
                  <a:srgbClr val="374151"/>
                </a:solidFill>
                <a:effectLst/>
                <a:latin typeface="Söhne"/>
              </a:rPr>
              <a:t>Pilot Study</a:t>
            </a:r>
          </a:p>
          <a:p>
            <a:endParaRPr lang="en-IN" dirty="0"/>
          </a:p>
        </p:txBody>
      </p:sp>
    </p:spTree>
    <p:extLst>
      <p:ext uri="{BB962C8B-B14F-4D97-AF65-F5344CB8AC3E}">
        <p14:creationId xmlns:p14="http://schemas.microsoft.com/office/powerpoint/2010/main" val="24691179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3C8DCE-BFE5-57BD-4DF1-619F367E8B98}"/>
              </a:ext>
            </a:extLst>
          </p:cNvPr>
          <p:cNvSpPr>
            <a:spLocks noGrp="1"/>
          </p:cNvSpPr>
          <p:nvPr>
            <p:ph type="title"/>
          </p:nvPr>
        </p:nvSpPr>
        <p:spPr>
          <a:xfrm>
            <a:off x="703290" y="-414357"/>
            <a:ext cx="10515600" cy="1325563"/>
          </a:xfrm>
        </p:spPr>
        <p:txBody>
          <a:bodyPr/>
          <a:lstStyle/>
          <a:p>
            <a:r>
              <a:rPr lang="en-US" b="1" dirty="0"/>
              <a:t>Basic principles of experimental designs:</a:t>
            </a:r>
            <a:endParaRPr lang="en-IN" b="1" dirty="0"/>
          </a:p>
        </p:txBody>
      </p:sp>
      <p:sp>
        <p:nvSpPr>
          <p:cNvPr id="3" name="Content Placeholder 2">
            <a:extLst>
              <a:ext uri="{FF2B5EF4-FFF2-40B4-BE49-F238E27FC236}">
                <a16:creationId xmlns:a16="http://schemas.microsoft.com/office/drawing/2014/main" id="{DBDD7E83-BED6-3B90-FFE7-7E2EDD065AC1}"/>
              </a:ext>
            </a:extLst>
          </p:cNvPr>
          <p:cNvSpPr>
            <a:spLocks noGrp="1"/>
          </p:cNvSpPr>
          <p:nvPr>
            <p:ph idx="1"/>
          </p:nvPr>
        </p:nvSpPr>
        <p:spPr>
          <a:xfrm>
            <a:off x="208612" y="536470"/>
            <a:ext cx="11693577" cy="5909299"/>
          </a:xfrm>
        </p:spPr>
        <p:txBody>
          <a:bodyPr>
            <a:normAutofit fontScale="77500" lnSpcReduction="20000"/>
          </a:bodyPr>
          <a:lstStyle/>
          <a:p>
            <a:pPr algn="just"/>
            <a:r>
              <a:rPr lang="en-US" b="1" i="0" dirty="0">
                <a:solidFill>
                  <a:srgbClr val="374151"/>
                </a:solidFill>
                <a:effectLst/>
                <a:latin typeface="Söhne"/>
              </a:rPr>
              <a:t>Random Assignment</a:t>
            </a:r>
            <a:r>
              <a:rPr lang="en-US" b="0" i="0" dirty="0">
                <a:solidFill>
                  <a:srgbClr val="374151"/>
                </a:solidFill>
                <a:effectLst/>
                <a:latin typeface="Söhne"/>
              </a:rPr>
              <a:t>: In experimental research, participants or subjects should be randomly assigned to different experimental conditions or groups. Random assignment helps ensure that each group is comparable at the start of the study, reducing the influence of extraneous variables.</a:t>
            </a:r>
          </a:p>
          <a:p>
            <a:pPr algn="just"/>
            <a:r>
              <a:rPr lang="en-US" b="1" i="0" dirty="0">
                <a:solidFill>
                  <a:srgbClr val="374151"/>
                </a:solidFill>
                <a:effectLst/>
                <a:latin typeface="Söhne"/>
              </a:rPr>
              <a:t>Control Groups</a:t>
            </a:r>
            <a:r>
              <a:rPr lang="en-US" b="0" i="0" dirty="0">
                <a:solidFill>
                  <a:srgbClr val="374151"/>
                </a:solidFill>
                <a:effectLst/>
                <a:latin typeface="Söhne"/>
              </a:rPr>
              <a:t>: Experimental designs often include a control group, which is a group of participants who do not receive the experimental treatment or intervention. The control group serves as a baseline for comparison to assess the effect of the treatment.</a:t>
            </a:r>
          </a:p>
          <a:p>
            <a:pPr algn="just"/>
            <a:r>
              <a:rPr lang="en-US" b="1" i="0" dirty="0">
                <a:solidFill>
                  <a:srgbClr val="374151"/>
                </a:solidFill>
                <a:effectLst/>
                <a:latin typeface="Söhne"/>
              </a:rPr>
              <a:t>Independent and Dependent Variables</a:t>
            </a:r>
            <a:r>
              <a:rPr lang="en-US" b="0" i="0" dirty="0">
                <a:solidFill>
                  <a:srgbClr val="374151"/>
                </a:solidFill>
                <a:effectLst/>
                <a:latin typeface="Söhne"/>
              </a:rPr>
              <a:t>: Experimental designs involve the manipulation of an independent variable (the factor being tested) and the measurement of dependent variables (the outcomes that are influenced by the independent variable).</a:t>
            </a:r>
          </a:p>
          <a:p>
            <a:pPr algn="just"/>
            <a:r>
              <a:rPr lang="en-US" b="1" i="0" dirty="0">
                <a:solidFill>
                  <a:srgbClr val="374151"/>
                </a:solidFill>
                <a:effectLst/>
                <a:latin typeface="Söhne"/>
              </a:rPr>
              <a:t>Manipulation</a:t>
            </a:r>
            <a:r>
              <a:rPr lang="en-US" b="0" i="0" dirty="0">
                <a:solidFill>
                  <a:srgbClr val="374151"/>
                </a:solidFill>
                <a:effectLst/>
                <a:latin typeface="Söhne"/>
              </a:rPr>
              <a:t>: The independent variable is deliberately manipulated by the researcher to observe its effect on the dependent variable. This manipulation is what distinguishes experimental research from other research designs.</a:t>
            </a:r>
          </a:p>
          <a:p>
            <a:pPr algn="just"/>
            <a:r>
              <a:rPr lang="en-US" b="1" i="0" dirty="0">
                <a:solidFill>
                  <a:srgbClr val="374151"/>
                </a:solidFill>
                <a:effectLst/>
                <a:latin typeface="Söhne"/>
              </a:rPr>
              <a:t>Pre- and Post-Testing</a:t>
            </a:r>
            <a:r>
              <a:rPr lang="en-US" b="0" i="0" dirty="0">
                <a:solidFill>
                  <a:srgbClr val="374151"/>
                </a:solidFill>
                <a:effectLst/>
                <a:latin typeface="Söhne"/>
              </a:rPr>
              <a:t>: In experimental designs, data is collected both before and after the experimental treatment. Pre-testing helps establish a baseline, and post-testing reveals any changes or effects caused by the treatment.</a:t>
            </a:r>
          </a:p>
          <a:p>
            <a:pPr algn="just"/>
            <a:r>
              <a:rPr lang="en-US" b="1" i="0" dirty="0">
                <a:solidFill>
                  <a:srgbClr val="374151"/>
                </a:solidFill>
                <a:effectLst/>
                <a:latin typeface="Söhne"/>
              </a:rPr>
              <a:t>Randomization</a:t>
            </a:r>
            <a:r>
              <a:rPr lang="en-US" b="0" i="0" dirty="0">
                <a:solidFill>
                  <a:srgbClr val="374151"/>
                </a:solidFill>
                <a:effectLst/>
                <a:latin typeface="Söhne"/>
              </a:rPr>
              <a:t>: Beyond random assignment, randomization of treatment or order of testing is crucial to reduce bias and ensure that the results are not influenced by any systematic factors.</a:t>
            </a:r>
          </a:p>
          <a:p>
            <a:pPr algn="just"/>
            <a:r>
              <a:rPr lang="en-US" b="1" i="0" dirty="0">
                <a:solidFill>
                  <a:srgbClr val="374151"/>
                </a:solidFill>
                <a:effectLst/>
                <a:latin typeface="Söhne"/>
              </a:rPr>
              <a:t>Replication</a:t>
            </a:r>
            <a:r>
              <a:rPr lang="en-US" b="0" i="0" dirty="0">
                <a:solidFill>
                  <a:srgbClr val="374151"/>
                </a:solidFill>
                <a:effectLst/>
                <a:latin typeface="Söhne"/>
              </a:rPr>
              <a:t>: To enhance the reliability and generalizability of experimental findings, replication is essential. Repeating the experiment with different samples and settings can confirm the consistency of the observed effects.</a:t>
            </a:r>
          </a:p>
        </p:txBody>
      </p:sp>
    </p:spTree>
    <p:extLst>
      <p:ext uri="{BB962C8B-B14F-4D97-AF65-F5344CB8AC3E}">
        <p14:creationId xmlns:p14="http://schemas.microsoft.com/office/powerpoint/2010/main" val="42401918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C472CBA-1AE8-C24F-B67D-F45DA98985A4}"/>
              </a:ext>
            </a:extLst>
          </p:cNvPr>
          <p:cNvSpPr>
            <a:spLocks noGrp="1"/>
          </p:cNvSpPr>
          <p:nvPr>
            <p:ph idx="1"/>
          </p:nvPr>
        </p:nvSpPr>
        <p:spPr>
          <a:xfrm>
            <a:off x="163643" y="221677"/>
            <a:ext cx="11858468" cy="6478925"/>
          </a:xfrm>
        </p:spPr>
        <p:txBody>
          <a:bodyPr>
            <a:normAutofit fontScale="77500" lnSpcReduction="20000"/>
          </a:bodyPr>
          <a:lstStyle/>
          <a:p>
            <a:pPr algn="just"/>
            <a:r>
              <a:rPr lang="en-US" b="1" i="0" dirty="0">
                <a:solidFill>
                  <a:srgbClr val="374151"/>
                </a:solidFill>
                <a:effectLst/>
                <a:latin typeface="Söhne"/>
              </a:rPr>
              <a:t>Blinding</a:t>
            </a:r>
            <a:r>
              <a:rPr lang="en-US" b="0" i="0" dirty="0">
                <a:solidFill>
                  <a:srgbClr val="374151"/>
                </a:solidFill>
                <a:effectLst/>
                <a:latin typeface="Söhne"/>
              </a:rPr>
              <a:t>: In many experiments, it's important to use blinding techniques, such as double-blind or single-blind procedures. This helps prevent biases by ensuring that neither the participants nor the experimenters know which group is receiving the treatment.</a:t>
            </a:r>
          </a:p>
          <a:p>
            <a:pPr algn="just"/>
            <a:r>
              <a:rPr lang="en-US" b="1" i="0" dirty="0">
                <a:solidFill>
                  <a:srgbClr val="374151"/>
                </a:solidFill>
                <a:effectLst/>
                <a:latin typeface="Söhne"/>
              </a:rPr>
              <a:t>Within-Subjects vs. Between-Subjects Designs</a:t>
            </a:r>
            <a:r>
              <a:rPr lang="en-US" b="0" i="0" dirty="0">
                <a:solidFill>
                  <a:srgbClr val="374151"/>
                </a:solidFill>
                <a:effectLst/>
                <a:latin typeface="Söhne"/>
              </a:rPr>
              <a:t>: Researchers can use within-subjects (repeated measures) or between-subjects designs. Within-subjects designs involve the same participants in both the control and experimental groups, while between-subjects designs use different groups for control and experimental conditions.</a:t>
            </a:r>
          </a:p>
          <a:p>
            <a:pPr algn="just"/>
            <a:r>
              <a:rPr lang="en-US" b="1" i="0" dirty="0">
                <a:solidFill>
                  <a:srgbClr val="374151"/>
                </a:solidFill>
                <a:effectLst/>
                <a:latin typeface="Söhne"/>
              </a:rPr>
              <a:t>Counterbalancing</a:t>
            </a:r>
            <a:r>
              <a:rPr lang="en-US" b="0" i="0" dirty="0">
                <a:solidFill>
                  <a:srgbClr val="374151"/>
                </a:solidFill>
                <a:effectLst/>
                <a:latin typeface="Söhne"/>
              </a:rPr>
              <a:t>: In within-subjects designs, counterbalancing the order of conditions can help control for order effects, such as practice or fatigue. This ensures that every participant experiences the conditions in a different order.</a:t>
            </a:r>
          </a:p>
          <a:p>
            <a:pPr algn="just"/>
            <a:r>
              <a:rPr lang="en-US" b="1" i="0" dirty="0">
                <a:solidFill>
                  <a:srgbClr val="374151"/>
                </a:solidFill>
                <a:effectLst/>
                <a:latin typeface="Söhne"/>
              </a:rPr>
              <a:t>Control of Extraneous Variables</a:t>
            </a:r>
            <a:r>
              <a:rPr lang="en-US" b="0" i="0" dirty="0">
                <a:solidFill>
                  <a:srgbClr val="374151"/>
                </a:solidFill>
                <a:effectLst/>
                <a:latin typeface="Söhne"/>
              </a:rPr>
              <a:t>: Researchers must actively control or account for extraneous variables, which are factors that can affect the dependent variable but are not of primary interest. This can be done through randomization, matching, or statistical techniques like analysis of covariance (ANCOVA).</a:t>
            </a:r>
          </a:p>
          <a:p>
            <a:pPr algn="just"/>
            <a:r>
              <a:rPr lang="en-US" b="1" i="0" dirty="0">
                <a:solidFill>
                  <a:srgbClr val="374151"/>
                </a:solidFill>
                <a:effectLst/>
                <a:latin typeface="Söhne"/>
              </a:rPr>
              <a:t>Sample Size</a:t>
            </a:r>
            <a:r>
              <a:rPr lang="en-US" b="0" i="0" dirty="0">
                <a:solidFill>
                  <a:srgbClr val="374151"/>
                </a:solidFill>
                <a:effectLst/>
                <a:latin typeface="Söhne"/>
              </a:rPr>
              <a:t>: The size of the sample should be adequate to detect meaningful effects and reduce the risk of Type I and Type II errors (false positives and false negatives).</a:t>
            </a:r>
          </a:p>
          <a:p>
            <a:pPr algn="just"/>
            <a:r>
              <a:rPr lang="en-US" b="1" i="0" dirty="0">
                <a:solidFill>
                  <a:srgbClr val="374151"/>
                </a:solidFill>
                <a:effectLst/>
                <a:latin typeface="Söhne"/>
              </a:rPr>
              <a:t>Hypothesis Testing</a:t>
            </a:r>
            <a:r>
              <a:rPr lang="en-US" b="0" i="0" dirty="0">
                <a:solidFill>
                  <a:srgbClr val="374151"/>
                </a:solidFill>
                <a:effectLst/>
                <a:latin typeface="Söhne"/>
              </a:rPr>
              <a:t>: Experimental designs involve testing specific hypotheses to determine whether the independent variable has a significant effect on the dependent variable.</a:t>
            </a:r>
          </a:p>
          <a:p>
            <a:pPr algn="just"/>
            <a:r>
              <a:rPr lang="en-US" b="1" i="0" dirty="0">
                <a:solidFill>
                  <a:srgbClr val="374151"/>
                </a:solidFill>
                <a:effectLst/>
                <a:latin typeface="Söhne"/>
              </a:rPr>
              <a:t>Validity and Reliability</a:t>
            </a:r>
            <a:r>
              <a:rPr lang="en-US" b="0" i="0" dirty="0">
                <a:solidFill>
                  <a:srgbClr val="374151"/>
                </a:solidFill>
                <a:effectLst/>
                <a:latin typeface="Söhne"/>
              </a:rPr>
              <a:t>: Ensuring the internal validity (accuracy) and reliability (consistency) of the study results is crucial. Proper experimental design helps control for threats to validity and reliability.</a:t>
            </a:r>
          </a:p>
          <a:p>
            <a:pPr algn="just"/>
            <a:r>
              <a:rPr lang="en-US" b="1" i="0" dirty="0">
                <a:solidFill>
                  <a:srgbClr val="374151"/>
                </a:solidFill>
                <a:effectLst/>
                <a:latin typeface="Söhne"/>
              </a:rPr>
              <a:t>Ethical Considerations</a:t>
            </a:r>
            <a:r>
              <a:rPr lang="en-US" b="0" i="0" dirty="0">
                <a:solidFill>
                  <a:srgbClr val="374151"/>
                </a:solidFill>
                <a:effectLst/>
                <a:latin typeface="Söhne"/>
              </a:rPr>
              <a:t>: Researchers must adhere to ethical principles when conducting experiments, ensuring the well-being and rights of participants.</a:t>
            </a:r>
          </a:p>
          <a:p>
            <a:endParaRPr lang="en-IN" dirty="0"/>
          </a:p>
        </p:txBody>
      </p:sp>
    </p:spTree>
    <p:extLst>
      <p:ext uri="{BB962C8B-B14F-4D97-AF65-F5344CB8AC3E}">
        <p14:creationId xmlns:p14="http://schemas.microsoft.com/office/powerpoint/2010/main" val="36258275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F20DA8-D5CE-BFC2-AF0D-4271A8B3F192}"/>
              </a:ext>
            </a:extLst>
          </p:cNvPr>
          <p:cNvSpPr>
            <a:spLocks noGrp="1"/>
          </p:cNvSpPr>
          <p:nvPr>
            <p:ph type="title"/>
          </p:nvPr>
        </p:nvSpPr>
        <p:spPr>
          <a:xfrm>
            <a:off x="808220" y="-414363"/>
            <a:ext cx="10515600" cy="1325563"/>
          </a:xfrm>
        </p:spPr>
        <p:txBody>
          <a:bodyPr/>
          <a:lstStyle/>
          <a:p>
            <a:r>
              <a:rPr lang="en-IN" b="1" dirty="0"/>
              <a:t>Principle of Replication:</a:t>
            </a:r>
          </a:p>
        </p:txBody>
      </p:sp>
      <p:sp>
        <p:nvSpPr>
          <p:cNvPr id="3" name="Content Placeholder 2">
            <a:extLst>
              <a:ext uri="{FF2B5EF4-FFF2-40B4-BE49-F238E27FC236}">
                <a16:creationId xmlns:a16="http://schemas.microsoft.com/office/drawing/2014/main" id="{17EAF15B-B396-355A-832C-CE0B6B26D059}"/>
              </a:ext>
            </a:extLst>
          </p:cNvPr>
          <p:cNvSpPr>
            <a:spLocks noGrp="1"/>
          </p:cNvSpPr>
          <p:nvPr>
            <p:ph idx="1"/>
          </p:nvPr>
        </p:nvSpPr>
        <p:spPr>
          <a:xfrm>
            <a:off x="0" y="536469"/>
            <a:ext cx="12037102" cy="6628828"/>
          </a:xfrm>
        </p:spPr>
        <p:txBody>
          <a:bodyPr>
            <a:normAutofit fontScale="62500" lnSpcReduction="20000"/>
          </a:bodyPr>
          <a:lstStyle/>
          <a:p>
            <a:pPr algn="just">
              <a:buFont typeface="+mj-lt"/>
              <a:buAutoNum type="arabicPeriod"/>
            </a:pPr>
            <a:r>
              <a:rPr lang="en-US" b="1" i="0" dirty="0">
                <a:solidFill>
                  <a:srgbClr val="374151"/>
                </a:solidFill>
                <a:effectLst/>
                <a:latin typeface="Söhne"/>
              </a:rPr>
              <a:t>Confirmation of Results</a:t>
            </a:r>
            <a:r>
              <a:rPr lang="en-US" b="0" i="0" dirty="0">
                <a:solidFill>
                  <a:srgbClr val="374151"/>
                </a:solidFill>
                <a:effectLst/>
                <a:latin typeface="Söhne"/>
              </a:rPr>
              <a:t>: Replication involves repeating an experiment with the same or similar conditions to confirm the initial findings. When the results are consistently replicated across multiple studies, it strengthens the confidence in the validity of those results.</a:t>
            </a:r>
          </a:p>
          <a:p>
            <a:pPr algn="just">
              <a:buFont typeface="+mj-lt"/>
              <a:buAutoNum type="arabicPeriod"/>
            </a:pPr>
            <a:r>
              <a:rPr lang="en-US" b="1" i="0" dirty="0">
                <a:solidFill>
                  <a:srgbClr val="374151"/>
                </a:solidFill>
                <a:effectLst/>
                <a:latin typeface="Söhne"/>
              </a:rPr>
              <a:t>Reduction of Error</a:t>
            </a:r>
            <a:r>
              <a:rPr lang="en-US" b="0" i="0" dirty="0">
                <a:solidFill>
                  <a:srgbClr val="374151"/>
                </a:solidFill>
                <a:effectLst/>
                <a:latin typeface="Söhne"/>
              </a:rPr>
              <a:t>: Replication helps reduce the potential for errors or biases that may have influenced the results in a single study. By conducting the experiment multiple times, researchers can identify and address any inconsistencies or irregularities.</a:t>
            </a:r>
          </a:p>
          <a:p>
            <a:pPr algn="just">
              <a:buFont typeface="+mj-lt"/>
              <a:buAutoNum type="arabicPeriod"/>
            </a:pPr>
            <a:r>
              <a:rPr lang="en-US" b="1" i="0" dirty="0">
                <a:solidFill>
                  <a:srgbClr val="374151"/>
                </a:solidFill>
                <a:effectLst/>
                <a:latin typeface="Söhne"/>
              </a:rPr>
              <a:t>Generalizability</a:t>
            </a:r>
            <a:r>
              <a:rPr lang="en-US" b="0" i="0" dirty="0">
                <a:solidFill>
                  <a:srgbClr val="374151"/>
                </a:solidFill>
                <a:effectLst/>
                <a:latin typeface="Söhne"/>
              </a:rPr>
              <a:t>: Replication studies can assess the generalizability of findings. If the results hold across different populations, settings, or conditions, it provides evidence that the observed effects are not specific to a particular context.</a:t>
            </a:r>
          </a:p>
          <a:p>
            <a:pPr algn="just">
              <a:buFont typeface="+mj-lt"/>
              <a:buAutoNum type="arabicPeriod"/>
            </a:pPr>
            <a:r>
              <a:rPr lang="en-US" b="1" i="0" dirty="0">
                <a:solidFill>
                  <a:srgbClr val="374151"/>
                </a:solidFill>
                <a:effectLst/>
                <a:latin typeface="Söhne"/>
              </a:rPr>
              <a:t>Scientific Consensus</a:t>
            </a:r>
            <a:r>
              <a:rPr lang="en-US" b="0" i="0" dirty="0">
                <a:solidFill>
                  <a:srgbClr val="374151"/>
                </a:solidFill>
                <a:effectLst/>
                <a:latin typeface="Söhne"/>
              </a:rPr>
              <a:t>: The Principle of Replication is integral to the process of scientific consensus-building. When numerous independent researchers replicate and validate the same findings, it strengthens the scientific community's acceptance of those results.</a:t>
            </a:r>
          </a:p>
          <a:p>
            <a:pPr algn="just">
              <a:buFont typeface="+mj-lt"/>
              <a:buAutoNum type="arabicPeriod"/>
            </a:pPr>
            <a:r>
              <a:rPr lang="en-US" b="1" i="0" dirty="0">
                <a:solidFill>
                  <a:srgbClr val="374151"/>
                </a:solidFill>
                <a:effectLst/>
                <a:latin typeface="Söhne"/>
              </a:rPr>
              <a:t>Detection of Outliers</a:t>
            </a:r>
            <a:r>
              <a:rPr lang="en-US" b="0" i="0" dirty="0">
                <a:solidFill>
                  <a:srgbClr val="374151"/>
                </a:solidFill>
                <a:effectLst/>
                <a:latin typeface="Söhne"/>
              </a:rPr>
              <a:t>: Replication can help identify outliers or extreme data points that may have influenced the results in the initial study. Researchers can then determine whether these outliers are meaningful or simply anomalies.</a:t>
            </a:r>
          </a:p>
          <a:p>
            <a:pPr algn="just">
              <a:buFont typeface="+mj-lt"/>
              <a:buAutoNum type="arabicPeriod"/>
            </a:pPr>
            <a:r>
              <a:rPr lang="en-US" b="1" i="0" dirty="0">
                <a:solidFill>
                  <a:srgbClr val="374151"/>
                </a:solidFill>
                <a:effectLst/>
                <a:latin typeface="Söhne"/>
              </a:rPr>
              <a:t>Publication Bias</a:t>
            </a:r>
            <a:r>
              <a:rPr lang="en-US" b="0" i="0" dirty="0">
                <a:solidFill>
                  <a:srgbClr val="374151"/>
                </a:solidFill>
                <a:effectLst/>
                <a:latin typeface="Söhne"/>
              </a:rPr>
              <a:t>: Replication studies can counter publication bias, which occurs when only significant or positive results are published while non-significant or negative results are often ignored. Replicating both positive and negative findings helps provide a more balanced view of the research.</a:t>
            </a:r>
          </a:p>
          <a:p>
            <a:pPr algn="just">
              <a:buFont typeface="+mj-lt"/>
              <a:buAutoNum type="arabicPeriod"/>
            </a:pPr>
            <a:r>
              <a:rPr lang="en-US" b="1" i="0" dirty="0">
                <a:solidFill>
                  <a:srgbClr val="374151"/>
                </a:solidFill>
                <a:effectLst/>
                <a:latin typeface="Söhne"/>
              </a:rPr>
              <a:t>Meta-Analysis</a:t>
            </a:r>
            <a:r>
              <a:rPr lang="en-US" b="0" i="0" dirty="0">
                <a:solidFill>
                  <a:srgbClr val="374151"/>
                </a:solidFill>
                <a:effectLst/>
                <a:latin typeface="Söhne"/>
              </a:rPr>
              <a:t>: In some cases, researchers conduct meta-analyses that systematically combine and analyze the results of multiple replication studies. Meta-analyses can provide a more comprehensive understanding of the overall effect size and consistency of findings.</a:t>
            </a:r>
          </a:p>
          <a:p>
            <a:pPr algn="just">
              <a:buFont typeface="+mj-lt"/>
              <a:buAutoNum type="arabicPeriod"/>
            </a:pPr>
            <a:r>
              <a:rPr lang="en-US" b="1" i="0" dirty="0">
                <a:solidFill>
                  <a:srgbClr val="374151"/>
                </a:solidFill>
                <a:effectLst/>
                <a:latin typeface="Söhne"/>
              </a:rPr>
              <a:t>Practical Implications</a:t>
            </a:r>
            <a:r>
              <a:rPr lang="en-US" b="0" i="0" dirty="0">
                <a:solidFill>
                  <a:srgbClr val="374151"/>
                </a:solidFill>
                <a:effectLst/>
                <a:latin typeface="Söhne"/>
              </a:rPr>
              <a:t>: Replication studies can assess the practical implications of a finding. If an experimental result can be replicated across multiple contexts, it may have real-world applications and be more reliable for decision-making.</a:t>
            </a:r>
          </a:p>
          <a:p>
            <a:pPr algn="just">
              <a:buFont typeface="+mj-lt"/>
              <a:buAutoNum type="arabicPeriod"/>
            </a:pPr>
            <a:r>
              <a:rPr lang="en-US" b="1" i="0" dirty="0">
                <a:solidFill>
                  <a:srgbClr val="374151"/>
                </a:solidFill>
                <a:effectLst/>
                <a:latin typeface="Söhne"/>
              </a:rPr>
              <a:t>Research Transparency</a:t>
            </a:r>
            <a:r>
              <a:rPr lang="en-US" b="0" i="0" dirty="0">
                <a:solidFill>
                  <a:srgbClr val="374151"/>
                </a:solidFill>
                <a:effectLst/>
                <a:latin typeface="Söhne"/>
              </a:rPr>
              <a:t>: The Principle of Replication contributes to research transparency, as it encourages the sharing of methods, data, and findings among researchers, making the scientific process more open and accountable.</a:t>
            </a:r>
          </a:p>
          <a:p>
            <a:pPr algn="just">
              <a:buFont typeface="+mj-lt"/>
              <a:buAutoNum type="arabicPeriod"/>
            </a:pPr>
            <a:r>
              <a:rPr lang="en-US" b="1" i="0" dirty="0">
                <a:solidFill>
                  <a:srgbClr val="374151"/>
                </a:solidFill>
                <a:effectLst/>
                <a:latin typeface="Söhne"/>
              </a:rPr>
              <a:t>Robustness of Theories</a:t>
            </a:r>
            <a:r>
              <a:rPr lang="en-US" b="0" i="0" dirty="0">
                <a:solidFill>
                  <a:srgbClr val="374151"/>
                </a:solidFill>
                <a:effectLst/>
                <a:latin typeface="Söhne"/>
              </a:rPr>
              <a:t>: Replication is not limited to experiments but can also apply to the replication of studies testing theoretical predictions. Consistent replications can strengthen or challenge existing theories, leading to the advancement of scientific knowledge.</a:t>
            </a:r>
          </a:p>
          <a:p>
            <a:pPr marL="0" indent="0">
              <a:buNone/>
            </a:pPr>
            <a:endParaRPr lang="en-IN" dirty="0"/>
          </a:p>
        </p:txBody>
      </p:sp>
    </p:spTree>
    <p:extLst>
      <p:ext uri="{BB962C8B-B14F-4D97-AF65-F5344CB8AC3E}">
        <p14:creationId xmlns:p14="http://schemas.microsoft.com/office/powerpoint/2010/main" val="40816985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74171F-406F-2B2D-AB16-3F7D1E162E68}"/>
              </a:ext>
            </a:extLst>
          </p:cNvPr>
          <p:cNvSpPr>
            <a:spLocks noGrp="1"/>
          </p:cNvSpPr>
          <p:nvPr>
            <p:ph type="title"/>
          </p:nvPr>
        </p:nvSpPr>
        <p:spPr>
          <a:xfrm>
            <a:off x="493430" y="-399372"/>
            <a:ext cx="10515600" cy="1325563"/>
          </a:xfrm>
        </p:spPr>
        <p:txBody>
          <a:bodyPr/>
          <a:lstStyle/>
          <a:p>
            <a:r>
              <a:rPr lang="en-IN" b="1" dirty="0"/>
              <a:t>Principle of Randomization:</a:t>
            </a:r>
          </a:p>
        </p:txBody>
      </p:sp>
      <p:sp>
        <p:nvSpPr>
          <p:cNvPr id="3" name="Content Placeholder 2">
            <a:extLst>
              <a:ext uri="{FF2B5EF4-FFF2-40B4-BE49-F238E27FC236}">
                <a16:creationId xmlns:a16="http://schemas.microsoft.com/office/drawing/2014/main" id="{53AA9684-1948-17F6-37EF-F0701357E199}"/>
              </a:ext>
            </a:extLst>
          </p:cNvPr>
          <p:cNvSpPr>
            <a:spLocks noGrp="1"/>
          </p:cNvSpPr>
          <p:nvPr>
            <p:ph idx="1"/>
          </p:nvPr>
        </p:nvSpPr>
        <p:spPr>
          <a:xfrm>
            <a:off x="298553" y="551460"/>
            <a:ext cx="11678587" cy="6306539"/>
          </a:xfrm>
        </p:spPr>
        <p:txBody>
          <a:bodyPr>
            <a:normAutofit fontScale="85000" lnSpcReduction="20000"/>
          </a:bodyPr>
          <a:lstStyle/>
          <a:p>
            <a:pPr marL="0" indent="0" algn="just">
              <a:buNone/>
            </a:pPr>
            <a:r>
              <a:rPr lang="en-US" b="0" i="0" dirty="0">
                <a:solidFill>
                  <a:srgbClr val="374151"/>
                </a:solidFill>
                <a:effectLst/>
                <a:latin typeface="Söhne"/>
              </a:rPr>
              <a:t>	</a:t>
            </a:r>
            <a:r>
              <a:rPr lang="en-US" sz="4400" b="0" i="0" dirty="0">
                <a:solidFill>
                  <a:srgbClr val="374151"/>
                </a:solidFill>
                <a:effectLst/>
                <a:latin typeface="Söhne"/>
              </a:rPr>
              <a:t>The Principle of Randomization is a fundamental concept in experimental research, and it involves the random assignment of subjects or participants to different experimental groups or conditions. </a:t>
            </a:r>
          </a:p>
          <a:p>
            <a:pPr algn="just"/>
            <a:r>
              <a:rPr lang="en-US" b="1" i="0" dirty="0">
                <a:solidFill>
                  <a:srgbClr val="374151"/>
                </a:solidFill>
                <a:effectLst/>
                <a:latin typeface="Söhne"/>
              </a:rPr>
              <a:t>Random Assignment</a:t>
            </a:r>
            <a:r>
              <a:rPr lang="en-US" b="0" i="0" dirty="0">
                <a:solidFill>
                  <a:srgbClr val="374151"/>
                </a:solidFill>
                <a:effectLst/>
                <a:latin typeface="Söhne"/>
              </a:rPr>
              <a:t>: Randomization refers to the random allocation of participants to different groups in an experiment, such as a treatment group and a control group. This is typically done to ensure that each group is comparable at the start of the study, and any observed differences are more likely to be due to the treatment being tested.</a:t>
            </a:r>
          </a:p>
          <a:p>
            <a:pPr algn="just"/>
            <a:r>
              <a:rPr lang="en-US" b="1" i="0" dirty="0">
                <a:solidFill>
                  <a:srgbClr val="374151"/>
                </a:solidFill>
                <a:effectLst/>
                <a:latin typeface="Söhne"/>
              </a:rPr>
              <a:t>Minimizing Bias</a:t>
            </a:r>
            <a:r>
              <a:rPr lang="en-US" b="0" i="0" dirty="0">
                <a:solidFill>
                  <a:srgbClr val="374151"/>
                </a:solidFill>
                <a:effectLst/>
                <a:latin typeface="Söhne"/>
              </a:rPr>
              <a:t>: Randomization minimizes selection bias by ensuring that all relevant variables are equally distributed across the experimental groups. Without random assignment, researchers might unintentionally assign participants to groups in a non-random or biased manner, potentially compromising the validity of the study.</a:t>
            </a:r>
          </a:p>
          <a:p>
            <a:pPr algn="just"/>
            <a:r>
              <a:rPr lang="en-US" b="1" i="0" dirty="0">
                <a:solidFill>
                  <a:srgbClr val="374151"/>
                </a:solidFill>
                <a:effectLst/>
                <a:latin typeface="Söhne"/>
              </a:rPr>
              <a:t>Random Sampling vs. Random Assignment</a:t>
            </a:r>
            <a:r>
              <a:rPr lang="en-US" b="0" i="0" dirty="0">
                <a:solidFill>
                  <a:srgbClr val="374151"/>
                </a:solidFill>
                <a:effectLst/>
                <a:latin typeface="Söhne"/>
              </a:rPr>
              <a:t>: While random sampling is about selecting participants randomly from a larger population, random assignment pertains to the allocation of these participants to specific experimental conditions. Both random sampling and random assignment are critical in experimental research.</a:t>
            </a:r>
          </a:p>
          <a:p>
            <a:pPr algn="just"/>
            <a:r>
              <a:rPr lang="en-US" b="1" i="0" dirty="0">
                <a:solidFill>
                  <a:srgbClr val="374151"/>
                </a:solidFill>
                <a:effectLst/>
                <a:latin typeface="Söhne"/>
              </a:rPr>
              <a:t>Equalization of Extraneous Variables</a:t>
            </a:r>
            <a:r>
              <a:rPr lang="en-US" b="0" i="0" dirty="0">
                <a:solidFill>
                  <a:srgbClr val="374151"/>
                </a:solidFill>
                <a:effectLst/>
                <a:latin typeface="Söhne"/>
              </a:rPr>
              <a:t>: Randomization helps control extraneous variables, which are factors other than the independent variable that could influence the dependent variable. By distributing these variables randomly across groups, their effects are likely to cancel out.</a:t>
            </a:r>
          </a:p>
        </p:txBody>
      </p:sp>
    </p:spTree>
    <p:extLst>
      <p:ext uri="{BB962C8B-B14F-4D97-AF65-F5344CB8AC3E}">
        <p14:creationId xmlns:p14="http://schemas.microsoft.com/office/powerpoint/2010/main" val="35722692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F3B724-45C6-9A61-791A-068FB8AF5399}"/>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37A293F1-7EB6-E595-104A-EE503255FC5E}"/>
              </a:ext>
            </a:extLst>
          </p:cNvPr>
          <p:cNvSpPr>
            <a:spLocks noGrp="1"/>
          </p:cNvSpPr>
          <p:nvPr>
            <p:ph idx="1"/>
          </p:nvPr>
        </p:nvSpPr>
        <p:spPr/>
        <p:txBody>
          <a:bodyPr/>
          <a:lstStyle/>
          <a:p>
            <a:endParaRPr lang="en-IN"/>
          </a:p>
        </p:txBody>
      </p:sp>
      <p:pic>
        <p:nvPicPr>
          <p:cNvPr id="1026" name="Picture 2" descr="An Intuitive Study of Experimental Design - Statistical Aid">
            <a:extLst>
              <a:ext uri="{FF2B5EF4-FFF2-40B4-BE49-F238E27FC236}">
                <a16:creationId xmlns:a16="http://schemas.microsoft.com/office/drawing/2014/main" id="{8C4A9EDB-2321-42DC-D0E6-E8F60DFD227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8456" y="182712"/>
            <a:ext cx="11128882" cy="647292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27993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B13E00E-70A2-06A3-8B43-359E314ECB43}"/>
              </a:ext>
            </a:extLst>
          </p:cNvPr>
          <p:cNvSpPr>
            <a:spLocks noGrp="1"/>
          </p:cNvSpPr>
          <p:nvPr>
            <p:ph idx="1"/>
          </p:nvPr>
        </p:nvSpPr>
        <p:spPr>
          <a:xfrm>
            <a:off x="0" y="191696"/>
            <a:ext cx="12082072" cy="6666304"/>
          </a:xfrm>
        </p:spPr>
        <p:txBody>
          <a:bodyPr>
            <a:normAutofit fontScale="85000" lnSpcReduction="20000"/>
          </a:bodyPr>
          <a:lstStyle/>
          <a:p>
            <a:pPr algn="just"/>
            <a:r>
              <a:rPr lang="en-US" b="1" i="0" dirty="0">
                <a:solidFill>
                  <a:srgbClr val="374151"/>
                </a:solidFill>
                <a:effectLst/>
                <a:latin typeface="Söhne"/>
              </a:rPr>
              <a:t>Statistical Inference</a:t>
            </a:r>
            <a:r>
              <a:rPr lang="en-US" b="0" i="0" dirty="0">
                <a:solidFill>
                  <a:srgbClr val="374151"/>
                </a:solidFill>
                <a:effectLst/>
                <a:latin typeface="Söhne"/>
              </a:rPr>
              <a:t>: Randomization allows researchers to make statistical inferences about the population from which the sample was drawn. It enhances the external validity of the study, making the results more generalizable.</a:t>
            </a:r>
          </a:p>
          <a:p>
            <a:pPr algn="just"/>
            <a:r>
              <a:rPr lang="en-US" b="1" i="0" dirty="0">
                <a:solidFill>
                  <a:srgbClr val="374151"/>
                </a:solidFill>
                <a:effectLst/>
                <a:latin typeface="Söhne"/>
              </a:rPr>
              <a:t>Influence on Causality</a:t>
            </a:r>
            <a:r>
              <a:rPr lang="en-US" b="0" i="0" dirty="0">
                <a:solidFill>
                  <a:srgbClr val="374151"/>
                </a:solidFill>
                <a:effectLst/>
                <a:latin typeface="Söhne"/>
              </a:rPr>
              <a:t>: Random assignment is crucial for establishing causal relationships in experimental research. When subjects are randomly assigned to groups, it is easier to attribute any observed differences to the experimental manipulation (independent variable).</a:t>
            </a:r>
          </a:p>
          <a:p>
            <a:pPr algn="just"/>
            <a:r>
              <a:rPr lang="en-US" b="1" i="0" dirty="0">
                <a:solidFill>
                  <a:srgbClr val="374151"/>
                </a:solidFill>
                <a:effectLst/>
                <a:latin typeface="Söhne"/>
              </a:rPr>
              <a:t>Randomization Techniques</a:t>
            </a:r>
            <a:r>
              <a:rPr lang="en-US" b="0" i="0" dirty="0">
                <a:solidFill>
                  <a:srgbClr val="374151"/>
                </a:solidFill>
                <a:effectLst/>
                <a:latin typeface="Söhne"/>
              </a:rPr>
              <a:t>: Various randomization techniques can be employed, including simple randomization, stratified randomization, and block randomization. Each technique has its own advantages and is selected based on the specific requirements of the study.</a:t>
            </a:r>
          </a:p>
          <a:p>
            <a:pPr algn="just"/>
            <a:r>
              <a:rPr lang="en-US" b="1" i="0" dirty="0">
                <a:solidFill>
                  <a:srgbClr val="374151"/>
                </a:solidFill>
                <a:effectLst/>
                <a:latin typeface="Söhne"/>
              </a:rPr>
              <a:t>Double-Blind Studies</a:t>
            </a:r>
            <a:r>
              <a:rPr lang="en-US" b="0" i="0" dirty="0">
                <a:solidFill>
                  <a:srgbClr val="374151"/>
                </a:solidFill>
                <a:effectLst/>
                <a:latin typeface="Söhne"/>
              </a:rPr>
              <a:t>: In some experiments, both the participants and the experimenters are kept unaware of which group is receiving the treatment. This double-blind procedure enhances the integrity of randomization and reduces potential biases.</a:t>
            </a:r>
          </a:p>
          <a:p>
            <a:pPr algn="just"/>
            <a:r>
              <a:rPr lang="en-US" b="1" i="0" dirty="0">
                <a:solidFill>
                  <a:srgbClr val="374151"/>
                </a:solidFill>
                <a:effectLst/>
                <a:latin typeface="Söhne"/>
              </a:rPr>
              <a:t>Statistical Significance</a:t>
            </a:r>
            <a:r>
              <a:rPr lang="en-US" b="0" i="0" dirty="0">
                <a:solidFill>
                  <a:srgbClr val="374151"/>
                </a:solidFill>
                <a:effectLst/>
                <a:latin typeface="Söhne"/>
              </a:rPr>
              <a:t>: Randomization contributes to the assessment of statistical significance by ensuring that the groups are comparable at baseline. Any differences observed post-treatment are more likely to be due to the treatment rather than pre-existing group disparities.</a:t>
            </a:r>
          </a:p>
          <a:p>
            <a:pPr algn="just"/>
            <a:r>
              <a:rPr lang="en-US" b="1" i="0" dirty="0">
                <a:solidFill>
                  <a:srgbClr val="374151"/>
                </a:solidFill>
                <a:effectLst/>
                <a:latin typeface="Söhne"/>
              </a:rPr>
              <a:t>Randomization in Clinical Trials</a:t>
            </a:r>
            <a:r>
              <a:rPr lang="en-US" b="0" i="0" dirty="0">
                <a:solidFill>
                  <a:srgbClr val="374151"/>
                </a:solidFill>
                <a:effectLst/>
                <a:latin typeface="Söhne"/>
              </a:rPr>
              <a:t>: Randomization is a fundamental principle in clinical trials, especially in drug and medical research. It helps ensure that treatment assignment is unbiased and that the results are valid and generalizable.</a:t>
            </a:r>
          </a:p>
          <a:p>
            <a:pPr algn="just"/>
            <a:r>
              <a:rPr lang="en-US" b="1" i="0" dirty="0">
                <a:solidFill>
                  <a:srgbClr val="374151"/>
                </a:solidFill>
                <a:effectLst/>
                <a:latin typeface="Söhne"/>
              </a:rPr>
              <a:t>Ethical Considerations</a:t>
            </a:r>
            <a:r>
              <a:rPr lang="en-US" b="0" i="0" dirty="0">
                <a:solidFill>
                  <a:srgbClr val="374151"/>
                </a:solidFill>
                <a:effectLst/>
                <a:latin typeface="Söhne"/>
              </a:rPr>
              <a:t>: Randomization should be conducted in an ethical manner, considering the well-being and rights of research participants. Participants should be informed about the random assignment process.</a:t>
            </a:r>
          </a:p>
          <a:p>
            <a:endParaRPr lang="en-IN" dirty="0"/>
          </a:p>
        </p:txBody>
      </p:sp>
    </p:spTree>
    <p:extLst>
      <p:ext uri="{BB962C8B-B14F-4D97-AF65-F5344CB8AC3E}">
        <p14:creationId xmlns:p14="http://schemas.microsoft.com/office/powerpoint/2010/main" val="31349190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0B0972-8B5B-6687-9D59-0358DA01F062}"/>
              </a:ext>
            </a:extLst>
          </p:cNvPr>
          <p:cNvSpPr>
            <a:spLocks noGrp="1"/>
          </p:cNvSpPr>
          <p:nvPr>
            <p:ph type="title"/>
          </p:nvPr>
        </p:nvSpPr>
        <p:spPr>
          <a:xfrm>
            <a:off x="838200" y="-399369"/>
            <a:ext cx="10515600" cy="1325563"/>
          </a:xfrm>
        </p:spPr>
        <p:txBody>
          <a:bodyPr/>
          <a:lstStyle/>
          <a:p>
            <a:r>
              <a:rPr lang="en-IN" b="1" dirty="0"/>
              <a:t>Principle of Local Control:</a:t>
            </a:r>
          </a:p>
        </p:txBody>
      </p:sp>
      <p:sp>
        <p:nvSpPr>
          <p:cNvPr id="3" name="Content Placeholder 2">
            <a:extLst>
              <a:ext uri="{FF2B5EF4-FFF2-40B4-BE49-F238E27FC236}">
                <a16:creationId xmlns:a16="http://schemas.microsoft.com/office/drawing/2014/main" id="{155CDD4C-386F-39D9-BCF5-5BD268EBD47F}"/>
              </a:ext>
            </a:extLst>
          </p:cNvPr>
          <p:cNvSpPr>
            <a:spLocks noGrp="1"/>
          </p:cNvSpPr>
          <p:nvPr>
            <p:ph idx="1"/>
          </p:nvPr>
        </p:nvSpPr>
        <p:spPr>
          <a:xfrm>
            <a:off x="224852" y="536469"/>
            <a:ext cx="11797259" cy="6321531"/>
          </a:xfrm>
        </p:spPr>
        <p:txBody>
          <a:bodyPr>
            <a:normAutofit fontScale="92500" lnSpcReduction="20000"/>
          </a:bodyPr>
          <a:lstStyle/>
          <a:p>
            <a:pPr algn="just">
              <a:buFont typeface="Wingdings" panose="05000000000000000000" pitchFamily="2" charset="2"/>
              <a:buChar char="Ø"/>
            </a:pPr>
            <a:r>
              <a:rPr lang="en-US" b="0" i="0" dirty="0">
                <a:solidFill>
                  <a:srgbClr val="333333"/>
                </a:solidFill>
                <a:effectLst/>
                <a:latin typeface="Lato" panose="020F0502020204030203" pitchFamily="34" charset="0"/>
              </a:rPr>
              <a:t>Local control focuses on increasing experimental precision through the exercise of control over extraneous variables. </a:t>
            </a:r>
          </a:p>
          <a:p>
            <a:pPr algn="just">
              <a:buFont typeface="Wingdings" panose="05000000000000000000" pitchFamily="2" charset="2"/>
              <a:buChar char="Ø"/>
            </a:pPr>
            <a:r>
              <a:rPr lang="en-US" b="0" i="0" dirty="0">
                <a:solidFill>
                  <a:srgbClr val="333333"/>
                </a:solidFill>
                <a:effectLst/>
                <a:latin typeface="Lato" panose="020F0502020204030203" pitchFamily="34" charset="0"/>
              </a:rPr>
              <a:t>This is a refined technique that aims at reducing external influence to a much higher level than replication or randomization. </a:t>
            </a:r>
          </a:p>
          <a:p>
            <a:pPr algn="just">
              <a:buFont typeface="Wingdings" panose="05000000000000000000" pitchFamily="2" charset="2"/>
              <a:buChar char="Ø"/>
            </a:pPr>
            <a:r>
              <a:rPr lang="en-US" b="0" i="0" dirty="0">
                <a:solidFill>
                  <a:srgbClr val="333333"/>
                </a:solidFill>
                <a:effectLst/>
                <a:latin typeface="Lato" panose="020F0502020204030203" pitchFamily="34" charset="0"/>
              </a:rPr>
              <a:t>Local control restricts the study to variables which are relevant and imperative for the research purpose. </a:t>
            </a:r>
          </a:p>
          <a:p>
            <a:pPr algn="just">
              <a:buFont typeface="Wingdings" panose="05000000000000000000" pitchFamily="2" charset="2"/>
              <a:buChar char="Ø"/>
            </a:pPr>
            <a:r>
              <a:rPr lang="en-US" b="0" i="0" dirty="0">
                <a:solidFill>
                  <a:srgbClr val="333333"/>
                </a:solidFill>
                <a:effectLst/>
                <a:latin typeface="Lato" panose="020F0502020204030203" pitchFamily="34" charset="0"/>
              </a:rPr>
              <a:t>The influence of other variables, that may not be a part of research characteristics, but have an affect on the treatment itself gets minimized.</a:t>
            </a:r>
          </a:p>
          <a:p>
            <a:pPr algn="l"/>
            <a:r>
              <a:rPr lang="en-US" b="0" i="0" dirty="0">
                <a:solidFill>
                  <a:srgbClr val="333333"/>
                </a:solidFill>
                <a:effectLst/>
                <a:latin typeface="Lato" panose="020F0502020204030203" pitchFamily="34" charset="0"/>
              </a:rPr>
              <a:t>Local control further consists of two techniques:</a:t>
            </a:r>
          </a:p>
          <a:p>
            <a:pPr marL="0" indent="0" algn="just">
              <a:buNone/>
            </a:pPr>
            <a:r>
              <a:rPr lang="en-US" b="1" i="0" dirty="0">
                <a:solidFill>
                  <a:srgbClr val="333333"/>
                </a:solidFill>
                <a:effectLst/>
                <a:latin typeface="Lato" panose="020F0502020204030203" pitchFamily="34" charset="0"/>
              </a:rPr>
              <a:t>1) Balancing:</a:t>
            </a:r>
            <a:r>
              <a:rPr lang="en-US" b="0" i="0" dirty="0">
                <a:solidFill>
                  <a:srgbClr val="333333"/>
                </a:solidFill>
                <a:effectLst/>
                <a:latin typeface="Lato" panose="020F0502020204030203" pitchFamily="34" charset="0"/>
              </a:rPr>
              <a:t> Assignment of treatments to experimental groups in a way that the treatments are allocated in a balanced manner.</a:t>
            </a:r>
          </a:p>
          <a:p>
            <a:pPr marL="0" indent="0" algn="just">
              <a:buNone/>
            </a:pPr>
            <a:r>
              <a:rPr lang="en-US" b="1" i="0" dirty="0">
                <a:solidFill>
                  <a:srgbClr val="333333"/>
                </a:solidFill>
                <a:effectLst/>
                <a:latin typeface="Lato" panose="020F0502020204030203" pitchFamily="34" charset="0"/>
              </a:rPr>
              <a:t>2) Blocking:</a:t>
            </a:r>
            <a:r>
              <a:rPr lang="en-US" b="0" i="0" dirty="0">
                <a:solidFill>
                  <a:srgbClr val="333333"/>
                </a:solidFill>
                <a:effectLst/>
                <a:latin typeface="Lato" panose="020F0502020204030203" pitchFamily="34" charset="0"/>
              </a:rPr>
              <a:t> The grouping of similar experimental units together to create homogenous groups for treatment purposes.</a:t>
            </a:r>
          </a:p>
          <a:p>
            <a:pPr marL="0" indent="0" algn="just">
              <a:buNone/>
            </a:pPr>
            <a:r>
              <a:rPr lang="en-US" b="1" i="0" dirty="0">
                <a:solidFill>
                  <a:srgbClr val="333333"/>
                </a:solidFill>
                <a:effectLst/>
                <a:latin typeface="Lato" panose="020F0502020204030203" pitchFamily="34" charset="0"/>
              </a:rPr>
              <a:t>For example:</a:t>
            </a:r>
            <a:r>
              <a:rPr lang="en-US" b="0" i="0" dirty="0">
                <a:solidFill>
                  <a:srgbClr val="333333"/>
                </a:solidFill>
                <a:effectLst/>
                <a:latin typeface="Lato" panose="020F0502020204030203" pitchFamily="34" charset="0"/>
              </a:rPr>
              <a:t> a study to determine the ease of navigation and design interface of a website for customers of an electronics brand can be done by grouping customers within similar age groups together to create homogenous lots for nuanced experimental research. This facilitates concentrated observation of homogenous groups, formed using  segmentation to create groups with similar characteristics.</a:t>
            </a:r>
          </a:p>
          <a:p>
            <a:pPr marL="0" indent="0">
              <a:buNone/>
            </a:pPr>
            <a:endParaRPr lang="en-IN" dirty="0"/>
          </a:p>
        </p:txBody>
      </p:sp>
    </p:spTree>
    <p:extLst>
      <p:ext uri="{BB962C8B-B14F-4D97-AF65-F5344CB8AC3E}">
        <p14:creationId xmlns:p14="http://schemas.microsoft.com/office/powerpoint/2010/main" val="9984912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C5553A-19FF-BE39-9E94-39A22B79F6DD}"/>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0C194B8C-32B2-011E-4E18-9F7A3BB990DB}"/>
              </a:ext>
            </a:extLst>
          </p:cNvPr>
          <p:cNvSpPr>
            <a:spLocks noGrp="1"/>
          </p:cNvSpPr>
          <p:nvPr>
            <p:ph idx="1"/>
          </p:nvPr>
        </p:nvSpPr>
        <p:spPr/>
        <p:txBody>
          <a:bodyPr/>
          <a:lstStyle/>
          <a:p>
            <a:endParaRPr lang="en-IN"/>
          </a:p>
        </p:txBody>
      </p:sp>
      <p:pic>
        <p:nvPicPr>
          <p:cNvPr id="2050" name="Picture 2" descr="Rsearch design | PPT">
            <a:extLst>
              <a:ext uri="{FF2B5EF4-FFF2-40B4-BE49-F238E27FC236}">
                <a16:creationId xmlns:a16="http://schemas.microsoft.com/office/drawing/2014/main" id="{8443018B-FB23-65FC-DB5B-6B181D8CFB5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647" y="153649"/>
            <a:ext cx="11032760" cy="66331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0396139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51</TotalTime>
  <Words>2339</Words>
  <Application>Microsoft Office PowerPoint</Application>
  <PresentationFormat>Widescreen</PresentationFormat>
  <Paragraphs>114</Paragraphs>
  <Slides>15</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15</vt:i4>
      </vt:variant>
    </vt:vector>
  </HeadingPairs>
  <TitlesOfParts>
    <vt:vector size="24" baseType="lpstr">
      <vt:lpstr>Arial</vt:lpstr>
      <vt:lpstr>Calibri</vt:lpstr>
      <vt:lpstr>Calibri Light</vt:lpstr>
      <vt:lpstr>Cambria</vt:lpstr>
      <vt:lpstr>Lato</vt:lpstr>
      <vt:lpstr>Söhne</vt:lpstr>
      <vt:lpstr>Times New Roman</vt:lpstr>
      <vt:lpstr>Wingdings</vt:lpstr>
      <vt:lpstr>Office Theme</vt:lpstr>
      <vt:lpstr>MODULE 2: Research Design</vt:lpstr>
      <vt:lpstr>MODULE 2: Research Design</vt:lpstr>
      <vt:lpstr>Introduction:</vt:lpstr>
      <vt:lpstr>Features of a good design:</vt:lpstr>
      <vt:lpstr>PowerPoint Presentation</vt:lpstr>
      <vt:lpstr>Important concepts relating to research design:</vt:lpstr>
      <vt:lpstr>PowerPoint Presentation</vt:lpstr>
      <vt:lpstr>Basic principles of experimental designs:</vt:lpstr>
      <vt:lpstr>PowerPoint Presentation</vt:lpstr>
      <vt:lpstr>Principle of Replication:</vt:lpstr>
      <vt:lpstr>Principle of Randomization:</vt:lpstr>
      <vt:lpstr>PowerPoint Presentation</vt:lpstr>
      <vt:lpstr>PowerPoint Presentation</vt:lpstr>
      <vt:lpstr>Principle of Local Control:</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2: Research Design</dc:title>
  <dc:creator>Amruth E ME</dc:creator>
  <cp:lastModifiedBy>Amruth E ME</cp:lastModifiedBy>
  <cp:revision>48</cp:revision>
  <dcterms:created xsi:type="dcterms:W3CDTF">2023-11-03T17:36:39Z</dcterms:created>
  <dcterms:modified xsi:type="dcterms:W3CDTF">2023-12-17T17:41:19Z</dcterms:modified>
</cp:coreProperties>
</file>