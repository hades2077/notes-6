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media/image7.jpg" ContentType="image/jpeg"/>
  <Override PartName="/ppt/media/image9.jpg" ContentType="image/jpeg"/>
  <Override PartName="/ppt/media/image12.jpg" ContentType="image/jpeg"/>
  <Override PartName="/ppt/notesSlides/notesSlide1.xml" ContentType="application/vnd.openxmlformats-officedocument.presentationml.notesSlide+xml"/>
  <Override PartName="/ppt/media/image14.jpg" ContentType="image/jpeg"/>
  <Override PartName="/ppt/media/image16.jpg" ContentType="image/jpeg"/>
  <Override PartName="/ppt/media/image17.jpg" ContentType="image/jpeg"/>
  <Override PartName="/ppt/media/image20.jpg" ContentType="image/jpeg"/>
  <Override PartName="/ppt/media/image21.jpg" ContentType="image/jpeg"/>
  <Override PartName="/ppt/media/image24.jpg" ContentType="image/jpeg"/>
  <Override PartName="/ppt/media/image28.jpg" ContentType="image/jpeg"/>
  <Override PartName="/ppt/media/image29.jpg" ContentType="image/jpeg"/>
  <Override PartName="/ppt/media/image30.jpg" ContentType="image/jpeg"/>
  <Override PartName="/ppt/media/image31.jpg" ContentType="image/jpe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56" r:id="rId2"/>
    <p:sldId id="257" r:id="rId3"/>
    <p:sldId id="261" r:id="rId4"/>
    <p:sldId id="259" r:id="rId5"/>
    <p:sldId id="267" r:id="rId6"/>
    <p:sldId id="283" r:id="rId7"/>
    <p:sldId id="260" r:id="rId8"/>
    <p:sldId id="264" r:id="rId9"/>
    <p:sldId id="275" r:id="rId10"/>
    <p:sldId id="276" r:id="rId11"/>
    <p:sldId id="273" r:id="rId12"/>
    <p:sldId id="284" r:id="rId13"/>
    <p:sldId id="268" r:id="rId14"/>
    <p:sldId id="274" r:id="rId15"/>
    <p:sldId id="269" r:id="rId16"/>
    <p:sldId id="279" r:id="rId17"/>
    <p:sldId id="282" r:id="rId18"/>
    <p:sldId id="277" r:id="rId19"/>
    <p:sldId id="278" r:id="rId20"/>
    <p:sldId id="270" r:id="rId21"/>
    <p:sldId id="280" r:id="rId22"/>
    <p:sldId id="265" r:id="rId23"/>
    <p:sldId id="263" r:id="rId24"/>
    <p:sldId id="262" r:id="rId25"/>
    <p:sldId id="266" r:id="rId26"/>
    <p:sldId id="271" r:id="rId27"/>
    <p:sldId id="27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45A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6EC770-F373-4BBE-BD42-0598DB73F260}" type="datetimeFigureOut">
              <a:rPr lang="en-IN" smtClean="0"/>
              <a:t>02-07-2024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E15EC0-27EF-4177-8C3C-CCEB445EA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1139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Nike</a:t>
            </a:r>
          </a:p>
          <a:p>
            <a:r>
              <a:rPr lang="en-US" dirty="0"/>
              <a:t>Dominos</a:t>
            </a:r>
          </a:p>
          <a:p>
            <a:r>
              <a:rPr lang="en-IN" dirty="0"/>
              <a:t>Apple</a:t>
            </a:r>
          </a:p>
          <a:p>
            <a:r>
              <a:rPr lang="en-IN" dirty="0" err="1"/>
              <a:t>Macdonals</a:t>
            </a:r>
            <a:endParaRPr lang="en-IN" dirty="0"/>
          </a:p>
          <a:p>
            <a:r>
              <a:rPr lang="en-IN" dirty="0"/>
              <a:t>Audi </a:t>
            </a:r>
          </a:p>
          <a:p>
            <a:r>
              <a:rPr lang="en-IN" dirty="0"/>
              <a:t>Target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E15EC0-27EF-4177-8C3C-CCEB445EA3CB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282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541C6-41F8-48E7-90FD-FD03C4DE1660}" type="datetimeFigureOut">
              <a:rPr lang="en-IN" smtClean="0"/>
              <a:t>02-07-2024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9A730-841C-4B3E-B698-2F8EFB3CFE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1206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541C6-41F8-48E7-90FD-FD03C4DE1660}" type="datetimeFigureOut">
              <a:rPr lang="en-IN" smtClean="0"/>
              <a:t>02-07-2024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9A730-841C-4B3E-B698-2F8EFB3CFE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1276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541C6-41F8-48E7-90FD-FD03C4DE1660}" type="datetimeFigureOut">
              <a:rPr lang="en-IN" smtClean="0"/>
              <a:t>02-07-2024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9A730-841C-4B3E-B698-2F8EFB3CFE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8750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541C6-41F8-48E7-90FD-FD03C4DE1660}" type="datetimeFigureOut">
              <a:rPr lang="en-IN" smtClean="0"/>
              <a:t>02-07-2024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9A730-841C-4B3E-B698-2F8EFB3CFE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2335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541C6-41F8-48E7-90FD-FD03C4DE1660}" type="datetimeFigureOut">
              <a:rPr lang="en-IN" smtClean="0"/>
              <a:t>02-07-2024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9A730-841C-4B3E-B698-2F8EFB3CFE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1036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541C6-41F8-48E7-90FD-FD03C4DE1660}" type="datetimeFigureOut">
              <a:rPr lang="en-IN" smtClean="0"/>
              <a:t>02-07-2024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9A730-841C-4B3E-B698-2F8EFB3CFE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4024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541C6-41F8-48E7-90FD-FD03C4DE1660}" type="datetimeFigureOut">
              <a:rPr lang="en-IN" smtClean="0"/>
              <a:t>02-07-2024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9A730-841C-4B3E-B698-2F8EFB3CFE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8230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541C6-41F8-48E7-90FD-FD03C4DE1660}" type="datetimeFigureOut">
              <a:rPr lang="en-IN" smtClean="0"/>
              <a:t>02-07-2024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9A730-841C-4B3E-B698-2F8EFB3CFE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344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541C6-41F8-48E7-90FD-FD03C4DE1660}" type="datetimeFigureOut">
              <a:rPr lang="en-IN" smtClean="0"/>
              <a:t>02-07-2024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9A730-841C-4B3E-B698-2F8EFB3CFE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075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541C6-41F8-48E7-90FD-FD03C4DE1660}" type="datetimeFigureOut">
              <a:rPr lang="en-IN" smtClean="0"/>
              <a:t>02-07-2024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9A730-841C-4B3E-B698-2F8EFB3CFE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9734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541C6-41F8-48E7-90FD-FD03C4DE1660}" type="datetimeFigureOut">
              <a:rPr lang="en-IN" smtClean="0"/>
              <a:t>02-07-2024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9A730-841C-4B3E-B698-2F8EFB3CFED7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74986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541C6-41F8-48E7-90FD-FD03C4DE1660}" type="datetimeFigureOut">
              <a:rPr lang="en-IN" smtClean="0"/>
              <a:t>02-07-2024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9A730-841C-4B3E-B698-2F8EFB3CFE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4873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541C6-41F8-48E7-90FD-FD03C4DE1660}" type="datetimeFigureOut">
              <a:rPr lang="en-IN" smtClean="0"/>
              <a:t>02-07-2024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9A730-841C-4B3E-B698-2F8EFB3CFED7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794963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541C6-41F8-48E7-90FD-FD03C4DE1660}" type="datetimeFigureOut">
              <a:rPr lang="en-IN" smtClean="0"/>
              <a:t>02-07-2024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9A730-841C-4B3E-B698-2F8EFB3CFE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02780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541C6-41F8-48E7-90FD-FD03C4DE1660}" type="datetimeFigureOut">
              <a:rPr lang="en-IN" smtClean="0"/>
              <a:t>02-07-2024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9A730-841C-4B3E-B698-2F8EFB3CFE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1125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541C6-41F8-48E7-90FD-FD03C4DE1660}" type="datetimeFigureOut">
              <a:rPr lang="en-IN" smtClean="0"/>
              <a:t>02-07-2024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9A730-841C-4B3E-B698-2F8EFB3CFE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2591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0541C6-41F8-48E7-90FD-FD03C4DE1660}" type="datetimeFigureOut">
              <a:rPr lang="en-IN" smtClean="0"/>
              <a:t>02-07-2024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1D9A730-841C-4B3E-B698-2F8EFB3CFE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5286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jpg"/><Relationship Id="rId3" Type="http://schemas.openxmlformats.org/officeDocument/2006/relationships/image" Target="../media/image14.jp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g"/><Relationship Id="rId11" Type="http://schemas.openxmlformats.org/officeDocument/2006/relationships/image" Target="../media/image22.png"/><Relationship Id="rId5" Type="http://schemas.openxmlformats.org/officeDocument/2006/relationships/image" Target="../media/image16.jpg"/><Relationship Id="rId10" Type="http://schemas.openxmlformats.org/officeDocument/2006/relationships/image" Target="../media/image21.jpg"/><Relationship Id="rId4" Type="http://schemas.openxmlformats.org/officeDocument/2006/relationships/image" Target="../media/image15.png"/><Relationship Id="rId9" Type="http://schemas.openxmlformats.org/officeDocument/2006/relationships/image" Target="../media/image20.jpg"/><Relationship Id="rId1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0E6C7-6243-ACCE-9E99-47F50D617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1868" y="2583907"/>
            <a:ext cx="4088190" cy="236909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400" b="1" dirty="0"/>
              <a:t>INTELLECTUAL PROPERTY RIGHTS</a:t>
            </a:r>
            <a:br>
              <a:rPr lang="en-IN" sz="3400" b="1" dirty="0"/>
            </a:br>
            <a:r>
              <a:rPr lang="en-IN" sz="3400" b="1" dirty="0"/>
              <a:t> </a:t>
            </a:r>
            <a:br>
              <a:rPr lang="en-IN" sz="3400" b="1" dirty="0"/>
            </a:br>
            <a:r>
              <a:rPr lang="en-IN" sz="3400" b="1" dirty="0"/>
              <a:t>MODULE 5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57C1A16-B8AB-4D99-A195-A38F556A6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8A9B20B-D1DD-4573-B5EC-558029519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23">
            <a:extLst>
              <a:ext uri="{FF2B5EF4-FFF2-40B4-BE49-F238E27FC236}">
                <a16:creationId xmlns:a16="http://schemas.microsoft.com/office/drawing/2014/main" id="{66D61E08-70C3-48D8-BEA0-787111DC3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7" name="Rectangle 25">
            <a:extLst>
              <a:ext uri="{FF2B5EF4-FFF2-40B4-BE49-F238E27FC236}">
                <a16:creationId xmlns:a16="http://schemas.microsoft.com/office/drawing/2014/main" id="{FC55298F-0AE5-478E-AD2B-03C2614C5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9" name="Isosceles Triangle 24">
            <a:extLst>
              <a:ext uri="{FF2B5EF4-FFF2-40B4-BE49-F238E27FC236}">
                <a16:creationId xmlns:a16="http://schemas.microsoft.com/office/drawing/2014/main" id="{C180E4EA-0B63-4779-A895-7E90E7108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1" name="Rectangle 27">
            <a:extLst>
              <a:ext uri="{FF2B5EF4-FFF2-40B4-BE49-F238E27FC236}">
                <a16:creationId xmlns:a16="http://schemas.microsoft.com/office/drawing/2014/main" id="{CEE01D9D-3DE8-4EED-B0D3-8F3C79CC7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3" name="Rectangle 28">
            <a:extLst>
              <a:ext uri="{FF2B5EF4-FFF2-40B4-BE49-F238E27FC236}">
                <a16:creationId xmlns:a16="http://schemas.microsoft.com/office/drawing/2014/main" id="{89AF5CE9-607F-43F4-8983-DCD6DA405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5" name="Rectangle 29">
            <a:extLst>
              <a:ext uri="{FF2B5EF4-FFF2-40B4-BE49-F238E27FC236}">
                <a16:creationId xmlns:a16="http://schemas.microsoft.com/office/drawing/2014/main" id="{6EEA2DBD-9E1E-4521-8C01-F32AD18A8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7" name="Isosceles Triangle 29">
            <a:extLst>
              <a:ext uri="{FF2B5EF4-FFF2-40B4-BE49-F238E27FC236}">
                <a16:creationId xmlns:a16="http://schemas.microsoft.com/office/drawing/2014/main" id="{15BBD2C1-BA9B-46A9-A27A-33498B16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7" name="Picture 6" descr="A blue and green circle with icons&#10;&#10;Description automatically generated">
            <a:extLst>
              <a:ext uri="{FF2B5EF4-FFF2-40B4-BE49-F238E27FC236}">
                <a16:creationId xmlns:a16="http://schemas.microsoft.com/office/drawing/2014/main" id="{17A6AF65-D942-DBCA-9A7A-951E1BCA757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04"/>
          <a:stretch/>
        </p:blipFill>
        <p:spPr>
          <a:xfrm>
            <a:off x="-16935" y="0"/>
            <a:ext cx="1222587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A95CB7E-4E3F-D674-D012-2915EDFDE54E}"/>
              </a:ext>
            </a:extLst>
          </p:cNvPr>
          <p:cNvSpPr txBox="1"/>
          <p:nvPr/>
        </p:nvSpPr>
        <p:spPr>
          <a:xfrm>
            <a:off x="11375571" y="0"/>
            <a:ext cx="797335" cy="664029"/>
          </a:xfrm>
          <a:prstGeom prst="rect">
            <a:avLst/>
          </a:prstGeom>
          <a:solidFill>
            <a:srgbClr val="345AA8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7F01F8-3F12-747F-2118-C5D025F2BB8B}"/>
              </a:ext>
            </a:extLst>
          </p:cNvPr>
          <p:cNvSpPr/>
          <p:nvPr/>
        </p:nvSpPr>
        <p:spPr>
          <a:xfrm>
            <a:off x="8039124" y="364166"/>
            <a:ext cx="311816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Module 5</a:t>
            </a:r>
          </a:p>
        </p:txBody>
      </p:sp>
    </p:spTree>
    <p:extLst>
      <p:ext uri="{BB962C8B-B14F-4D97-AF65-F5344CB8AC3E}">
        <p14:creationId xmlns:p14="http://schemas.microsoft.com/office/powerpoint/2010/main" val="1900263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9C57E-5DA5-7230-A44B-5DE66501D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219" y="0"/>
            <a:ext cx="8596668" cy="1320800"/>
          </a:xfrm>
        </p:spPr>
        <p:txBody>
          <a:bodyPr>
            <a:noAutofit/>
          </a:bodyPr>
          <a:lstStyle/>
          <a:p>
            <a:r>
              <a:rPr lang="en-IN" sz="48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INTELLECTUAL PROPERTY</a:t>
            </a:r>
            <a:br>
              <a:rPr lang="en-IN" sz="4800" b="1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4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553AA-8450-F7A3-89A5-E7215C747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834" y="946735"/>
            <a:ext cx="6334858" cy="5562921"/>
          </a:xfrm>
        </p:spPr>
        <p:txBody>
          <a:bodyPr>
            <a:noAutofit/>
          </a:bodyPr>
          <a:lstStyle/>
          <a:p>
            <a:pPr algn="just"/>
            <a:r>
              <a:rPr lang="en-US" sz="2400" b="0" i="0" dirty="0">
                <a:solidFill>
                  <a:srgbClr val="4D515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Intellectual property refers to </a:t>
            </a:r>
            <a:r>
              <a:rPr lang="en-US" sz="2400" b="0" i="0" dirty="0">
                <a:solidFill>
                  <a:srgbClr val="040C28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any intellectual creation like </a:t>
            </a:r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application of human intellect.</a:t>
            </a:r>
          </a:p>
          <a:p>
            <a:pPr algn="just"/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is referred as </a:t>
            </a:r>
            <a:r>
              <a:rPr lang="en-IN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“</a:t>
            </a:r>
            <a:r>
              <a:rPr lang="en-IN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Bauddhik</a:t>
            </a:r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sampada</a:t>
            </a:r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 in the </a:t>
            </a:r>
            <a:r>
              <a:rPr lang="en-IN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indian</a:t>
            </a:r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context. </a:t>
            </a:r>
          </a:p>
          <a:p>
            <a:pPr algn="just"/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IN" sz="2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‘</a:t>
            </a:r>
            <a:r>
              <a:rPr lang="en-IN" sz="22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Bauddhik</a:t>
            </a:r>
            <a:r>
              <a:rPr lang="en-IN" sz="2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’ </a:t>
            </a:r>
            <a:r>
              <a:rPr lang="en-IN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means related to buddhi or intellect.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IN" sz="2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‘</a:t>
            </a:r>
            <a:r>
              <a:rPr lang="en-IN" sz="22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sampada</a:t>
            </a:r>
            <a:r>
              <a:rPr lang="en-IN" sz="2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’ </a:t>
            </a:r>
            <a:r>
              <a:rPr lang="en-IN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means property.</a:t>
            </a:r>
          </a:p>
          <a:p>
            <a:pPr lvl="1" algn="just">
              <a:buFont typeface="Wingdings" panose="05000000000000000000" pitchFamily="2" charset="2"/>
              <a:buChar char="v"/>
            </a:pPr>
            <a:endParaRPr lang="en-IN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owner of Intellectual property is provided a bundle of rights related to the property.</a:t>
            </a:r>
          </a:p>
          <a:p>
            <a:pPr algn="just"/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rights collectively are termed as intellectual Property rights. </a:t>
            </a:r>
          </a:p>
        </p:txBody>
      </p:sp>
      <p:pic>
        <p:nvPicPr>
          <p:cNvPr id="5" name="Picture 4" descr="A hand holding a light bulb&#10;&#10;Description automatically generated">
            <a:extLst>
              <a:ext uri="{FF2B5EF4-FFF2-40B4-BE49-F238E27FC236}">
                <a16:creationId xmlns:a16="http://schemas.microsoft.com/office/drawing/2014/main" id="{026CEE5A-F94B-5721-19E1-0D5DC797A28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288" r="11072"/>
          <a:stretch/>
        </p:blipFill>
        <p:spPr>
          <a:xfrm>
            <a:off x="6777570" y="1320800"/>
            <a:ext cx="4330360" cy="4458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679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57B45-C7FE-8BF9-AA19-AE0078D33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181" y="2427513"/>
            <a:ext cx="11231638" cy="4234544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Intellectual property rights protect the interests of creators by giving them property rights over their creations. </a:t>
            </a:r>
          </a:p>
          <a:p>
            <a:pPr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TRIPS came into effect on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January 1995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areas of intellectual property that it covers are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Copyright, Trademarks, Geographical indications, Industrial designs and Patent.</a:t>
            </a:r>
          </a:p>
          <a:p>
            <a:pPr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Agreement on Trade-Related Aspects of Intellectual Property Rights (TRIPS) is an international treaty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administered by the World Trade Organization (WTO). </a:t>
            </a:r>
          </a:p>
          <a:p>
            <a:pPr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TRIPS sets out minimum standards for the protection of various forms of intellectual property (IP) among member countries.</a:t>
            </a:r>
          </a:p>
        </p:txBody>
      </p:sp>
      <p:pic>
        <p:nvPicPr>
          <p:cNvPr id="5" name="Picture 4" descr="A blue and yellow text&#10;&#10;Description automatically generated">
            <a:extLst>
              <a:ext uri="{FF2B5EF4-FFF2-40B4-BE49-F238E27FC236}">
                <a16:creationId xmlns:a16="http://schemas.microsoft.com/office/drawing/2014/main" id="{4C8EB623-9081-E9BE-9548-503B9B8CCC6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397" b="32063"/>
          <a:stretch/>
        </p:blipFill>
        <p:spPr>
          <a:xfrm>
            <a:off x="0" y="-99785"/>
            <a:ext cx="12192000" cy="2231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986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erson holding a large key and a light bulb&#10;&#10;Description automatically generated">
            <a:extLst>
              <a:ext uri="{FF2B5EF4-FFF2-40B4-BE49-F238E27FC236}">
                <a16:creationId xmlns:a16="http://schemas.microsoft.com/office/drawing/2014/main" id="{A532C3F6-D8A4-EEEC-61E7-16DA04D54E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31" r="-2" b="-2"/>
          <a:stretch/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CF4AA93-2171-079C-4552-F0068C38C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49" y="304800"/>
            <a:ext cx="4667552" cy="1855788"/>
          </a:xfrm>
        </p:spPr>
        <p:txBody>
          <a:bodyPr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IN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INTELLECTUAL PROPERTY UNDER TRIPS</a:t>
            </a:r>
            <a:br>
              <a:rPr lang="en-IN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9BAA9-7260-0C5D-AF9F-0396A65D23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4812785" cy="446881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ain categories of intellectual properties under TRIPS.</a:t>
            </a:r>
          </a:p>
          <a:p>
            <a:pPr marL="742950" indent="-742950">
              <a:buFont typeface="Wingdings 3" charset="2"/>
              <a:buAutoNum type="arabicPeriod"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PATENT</a:t>
            </a:r>
          </a:p>
          <a:p>
            <a:pPr marL="742950" indent="-742950">
              <a:buAutoNum type="arabicPeriod"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COPYRIGHT</a:t>
            </a:r>
          </a:p>
          <a:p>
            <a:pPr marL="742950" indent="-742950">
              <a:buAutoNum type="arabicPeriod"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TRADEMARK</a:t>
            </a:r>
          </a:p>
          <a:p>
            <a:pPr marL="742950" indent="-742950">
              <a:buAutoNum type="arabicPeriod"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INDUSTRIAL DESIGN </a:t>
            </a:r>
          </a:p>
          <a:p>
            <a:pPr marL="742950" indent="-742950">
              <a:buAutoNum type="arabicPeriod"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GEOGRAPHICAL INDICATIONS</a:t>
            </a:r>
          </a:p>
          <a:p>
            <a:endParaRPr lang="en-IN" sz="2400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7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9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1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3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5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7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7218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06FD9-FD08-C707-31D3-EADDC6B57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449" y="261258"/>
            <a:ext cx="7976809" cy="1320800"/>
          </a:xfrm>
        </p:spPr>
        <p:txBody>
          <a:bodyPr/>
          <a:lstStyle/>
          <a:p>
            <a:r>
              <a:rPr lang="en-US" b="1" dirty="0"/>
              <a:t>DESIGN REGISTRATION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98A3E-5DB8-57A2-28D1-E5F234801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705" y="921658"/>
            <a:ext cx="9130695" cy="5606143"/>
          </a:xfrm>
        </p:spPr>
        <p:txBody>
          <a:bodyPr>
            <a:no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Registration of a Design helps in protecting the products which can be distinguished by their novel shape or pattern.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Registration provides the owner exclusive rights to use the design.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aesthetic design or appearance of industrial products that makes products look good or different can be protected using  design registration.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2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pPr lvl="1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shape of a product: 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shape of a Coca-Cola bottle, The shape of a Samsung Galaxy phone </a:t>
            </a:r>
          </a:p>
          <a:p>
            <a:pPr lvl="1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pattern on a product: 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pattern on a Nike sneaker </a:t>
            </a:r>
          </a:p>
          <a:p>
            <a:pPr lvl="1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color scheme of a product: 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color scheme of a Starbucks coffee cup</a:t>
            </a:r>
            <a:endParaRPr lang="en-IN" sz="2000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61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 shot of a website&#10;&#10;Description automatically generated">
            <a:extLst>
              <a:ext uri="{FF2B5EF4-FFF2-40B4-BE49-F238E27FC236}">
                <a16:creationId xmlns:a16="http://schemas.microsoft.com/office/drawing/2014/main" id="{A302DCF2-40F7-57CB-EBF8-B395DD15D9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12" b="8537"/>
          <a:stretch/>
        </p:blipFill>
        <p:spPr>
          <a:xfrm>
            <a:off x="0" y="772887"/>
            <a:ext cx="12192000" cy="6085113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BC6EC8-5E5D-C2B7-5E69-247C7C0F99DA}"/>
              </a:ext>
            </a:extLst>
          </p:cNvPr>
          <p:cNvSpPr txBox="1"/>
          <p:nvPr/>
        </p:nvSpPr>
        <p:spPr>
          <a:xfrm rot="5400000">
            <a:off x="5559234" y="-3116682"/>
            <a:ext cx="873444" cy="6905694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400" b="1" dirty="0">
                <a:solidFill>
                  <a:schemeClr val="accent1"/>
                </a:solidFill>
              </a:rPr>
              <a:t>DESIGN REGISTRATION PROCESS</a:t>
            </a:r>
            <a:endParaRPr lang="en-IN" sz="3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4098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3A22D-F82D-2F35-C5BD-1FBC98DE5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533399"/>
            <a:ext cx="8717038" cy="1320800"/>
          </a:xfrm>
        </p:spPr>
        <p:txBody>
          <a:bodyPr/>
          <a:lstStyle/>
          <a:p>
            <a:pPr algn="ctr"/>
            <a:r>
              <a:rPr lang="en-US" b="1" dirty="0"/>
              <a:t>PATENT 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1F1D3-D946-EB95-F0D6-7E7A5631B6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371600"/>
            <a:ext cx="8858553" cy="5225143"/>
          </a:xfrm>
        </p:spPr>
        <p:txBody>
          <a:bodyPr>
            <a:no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Patents grant protection to certain new products, processes, apparatus, or any other technical inventions.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property should not be disclosed anywhere in the world at the time of the application for patent.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Patent is expensive in terms of time, money </a:t>
            </a:r>
            <a:r>
              <a:rPr lang="en-IN" sz="24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effort.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Patents need to describe in detail the technical aspects of the product.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Registration of patent provides its owner the right to prevent others from making, using, selling, or importing the inventions.</a:t>
            </a:r>
          </a:p>
          <a:p>
            <a:pPr algn="just"/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Patent Validity is for 20 years from the date of grant of patent.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7031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0BB64-17E1-BE01-42F9-84F5EEA7F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676401"/>
            <a:ext cx="8825895" cy="4364962"/>
          </a:xfrm>
        </p:spPr>
        <p:txBody>
          <a:bodyPr>
            <a:no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Any </a:t>
            </a:r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invention 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that involves utility can be patented.</a:t>
            </a:r>
            <a:endParaRPr lang="en-IN" sz="2400" kern="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Any design that improves the functionality of the product can also be patented.</a:t>
            </a:r>
            <a:endParaRPr lang="en-US" sz="2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Examples:</a:t>
            </a:r>
          </a:p>
          <a:p>
            <a:pPr lvl="2" indent="-342900" algn="just"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 inventions: </a:t>
            </a:r>
            <a:r>
              <a:rPr lang="en-US" sz="22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light bulb, the telephone, the computer.</a:t>
            </a:r>
          </a:p>
          <a:p>
            <a:pPr lvl="2" indent="-342900" algn="just"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 processes</a:t>
            </a:r>
            <a:r>
              <a:rPr lang="en-US" sz="22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The manufacturing process for a new drug, the method for creating a new type of solar cell.</a:t>
            </a:r>
          </a:p>
          <a:p>
            <a:pPr lvl="2" indent="-342900" algn="just"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 designs: </a:t>
            </a:r>
            <a:r>
              <a:rPr lang="en-US" sz="22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design of a new car, the design of a new computer</a:t>
            </a:r>
            <a:endParaRPr lang="en-IN" sz="2200" dirty="0">
              <a:solidFill>
                <a:srgbClr val="0070C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EC9AAC8-7ACD-70EB-04A0-6C43701CC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2178" y="458055"/>
            <a:ext cx="2903537" cy="1320800"/>
          </a:xfrm>
        </p:spPr>
        <p:txBody>
          <a:bodyPr>
            <a:normAutofit/>
          </a:bodyPr>
          <a:lstStyle/>
          <a:p>
            <a:r>
              <a:rPr lang="en-US" sz="4400" b="1" dirty="0"/>
              <a:t>PATENT </a:t>
            </a:r>
            <a:endParaRPr lang="en-IN" sz="4400" b="1" dirty="0"/>
          </a:p>
        </p:txBody>
      </p:sp>
      <p:pic>
        <p:nvPicPr>
          <p:cNvPr id="5" name="Picture 4" descr="A round stamp with a red ribbon&#10;&#10;Description automatically generated">
            <a:extLst>
              <a:ext uri="{FF2B5EF4-FFF2-40B4-BE49-F238E27FC236}">
                <a16:creationId xmlns:a16="http://schemas.microsoft.com/office/drawing/2014/main" id="{2E77306B-0677-07ED-BDB5-E744266E8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8530" y="141723"/>
            <a:ext cx="2460171" cy="1637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258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D11ECC6-8551-4768-8DFD-CD41AF420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001"/>
            <a:ext cx="12192000" cy="2285999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3657592-CA60-4F45-B1A0-88AA772420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25267" y="-8467"/>
            <a:ext cx="4766733" cy="6866467"/>
            <a:chOff x="7425267" y="-8467"/>
            <a:chExt cx="4766733" cy="6866467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F47E2B4-7DA9-4312-A1F0-C48388B236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96547" y="4572001"/>
              <a:ext cx="393665" cy="2285999"/>
            </a:xfrm>
            <a:prstGeom prst="line">
              <a:avLst/>
            </a:prstGeom>
            <a:ln w="9525">
              <a:solidFill>
                <a:srgbClr val="BFBFBF">
                  <a:alpha val="7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5B274F7-039F-4BFC-AA98-B51B1D6CB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4572001"/>
              <a:ext cx="3383073" cy="2285999"/>
            </a:xfrm>
            <a:prstGeom prst="line">
              <a:avLst/>
            </a:prstGeom>
            <a:ln w="9525">
              <a:solidFill>
                <a:srgbClr val="BFBFBF">
                  <a:alpha val="69804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>
              <a:extLst>
                <a:ext uri="{FF2B5EF4-FFF2-40B4-BE49-F238E27FC236}">
                  <a16:creationId xmlns:a16="http://schemas.microsoft.com/office/drawing/2014/main" id="{11A31103-C703-46C9-9D26-497A1ACD5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Rectangle 25">
              <a:extLst>
                <a:ext uri="{FF2B5EF4-FFF2-40B4-BE49-F238E27FC236}">
                  <a16:creationId xmlns:a16="http://schemas.microsoft.com/office/drawing/2014/main" id="{382F955F-FC22-44B8-BDCF-B7758032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1F567692-F087-479A-8931-BD2869C3E4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Rectangle 27">
              <a:extLst>
                <a:ext uri="{FF2B5EF4-FFF2-40B4-BE49-F238E27FC236}">
                  <a16:creationId xmlns:a16="http://schemas.microsoft.com/office/drawing/2014/main" id="{49B3E4CD-0738-4B9D-A14F-1E8694DDF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8">
              <a:extLst>
                <a:ext uri="{FF2B5EF4-FFF2-40B4-BE49-F238E27FC236}">
                  <a16:creationId xmlns:a16="http://schemas.microsoft.com/office/drawing/2014/main" id="{4753B851-AD90-4CCD-85D0-65AA6567DF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9">
              <a:extLst>
                <a:ext uri="{FF2B5EF4-FFF2-40B4-BE49-F238E27FC236}">
                  <a16:creationId xmlns:a16="http://schemas.microsoft.com/office/drawing/2014/main" id="{EBF14868-A190-4E21-9522-8977C474C9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BCBB4922-76EE-442B-A649-09873DCE79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8E2EB503-A017-4457-A105-53638C97D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clear glass with diamond cut design&#10;&#10;Description automatically generated">
            <a:extLst>
              <a:ext uri="{FF2B5EF4-FFF2-40B4-BE49-F238E27FC236}">
                <a16:creationId xmlns:a16="http://schemas.microsoft.com/office/drawing/2014/main" id="{D5899B4E-9E69-2ECF-E3F3-E7972715A8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5" t="12281" r="26728" b="5582"/>
          <a:stretch/>
        </p:blipFill>
        <p:spPr>
          <a:xfrm>
            <a:off x="4937215" y="677333"/>
            <a:ext cx="2203874" cy="3567564"/>
          </a:xfrm>
          <a:prstGeom prst="rect">
            <a:avLst/>
          </a:prstGeom>
        </p:spPr>
      </p:pic>
      <p:pic>
        <p:nvPicPr>
          <p:cNvPr id="7" name="Picture 6" descr="A clear glass with a handle&#10;&#10;Description automatically generated">
            <a:extLst>
              <a:ext uri="{FF2B5EF4-FFF2-40B4-BE49-F238E27FC236}">
                <a16:creationId xmlns:a16="http://schemas.microsoft.com/office/drawing/2014/main" id="{1EC4ECCA-7234-4AD4-8252-0EFE4D28AD4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205"/>
          <a:stretch/>
        </p:blipFill>
        <p:spPr>
          <a:xfrm>
            <a:off x="8934024" y="859972"/>
            <a:ext cx="2546540" cy="3475118"/>
          </a:xfrm>
          <a:prstGeom prst="rect">
            <a:avLst/>
          </a:prstGeom>
        </p:spPr>
      </p:pic>
      <p:pic>
        <p:nvPicPr>
          <p:cNvPr id="5" name="Content Placeholder 4" descr="A clear glass with a white background&#10;&#10;Description automatically generated">
            <a:extLst>
              <a:ext uri="{FF2B5EF4-FFF2-40B4-BE49-F238E27FC236}">
                <a16:creationId xmlns:a16="http://schemas.microsoft.com/office/drawing/2014/main" id="{B01851C2-6A59-54EA-6121-8CCD5BE3E64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6" b="8271"/>
          <a:stretch/>
        </p:blipFill>
        <p:spPr>
          <a:xfrm>
            <a:off x="507895" y="482600"/>
            <a:ext cx="2638076" cy="36586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43726A-7BEA-17AD-1EB8-07605F7AB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483" y="4765375"/>
            <a:ext cx="9010952" cy="1563899"/>
          </a:xfrm>
        </p:spPr>
        <p:txBody>
          <a:bodyPr anchor="ctr">
            <a:normAutofit/>
          </a:bodyPr>
          <a:lstStyle/>
          <a:p>
            <a:r>
              <a:rPr lang="en-US" sz="3300" b="1" dirty="0">
                <a:solidFill>
                  <a:schemeClr val="bg1"/>
                </a:solidFill>
              </a:rPr>
              <a:t>DESIGN REGISTRATION / PATENT FILING ? </a:t>
            </a:r>
            <a:endParaRPr lang="en-IN" sz="33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8289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D11ECC6-8551-4768-8DFD-CD41AF420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001"/>
            <a:ext cx="12192000" cy="2285999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3657592-CA60-4F45-B1A0-88AA772420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25267" y="-8467"/>
            <a:ext cx="4766733" cy="6866467"/>
            <a:chOff x="7425267" y="-8467"/>
            <a:chExt cx="4766733" cy="6866467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F47E2B4-7DA9-4312-A1F0-C48388B236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96547" y="4572001"/>
              <a:ext cx="393665" cy="2285999"/>
            </a:xfrm>
            <a:prstGeom prst="line">
              <a:avLst/>
            </a:prstGeom>
            <a:ln w="9525">
              <a:solidFill>
                <a:srgbClr val="BFBFBF">
                  <a:alpha val="7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5B274F7-039F-4BFC-AA98-B51B1D6CB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4572001"/>
              <a:ext cx="3383073" cy="2285999"/>
            </a:xfrm>
            <a:prstGeom prst="line">
              <a:avLst/>
            </a:prstGeom>
            <a:ln w="9525">
              <a:solidFill>
                <a:srgbClr val="BFBFBF">
                  <a:alpha val="69804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>
              <a:extLst>
                <a:ext uri="{FF2B5EF4-FFF2-40B4-BE49-F238E27FC236}">
                  <a16:creationId xmlns:a16="http://schemas.microsoft.com/office/drawing/2014/main" id="{11A31103-C703-46C9-9D26-497A1ACD5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Rectangle 25">
              <a:extLst>
                <a:ext uri="{FF2B5EF4-FFF2-40B4-BE49-F238E27FC236}">
                  <a16:creationId xmlns:a16="http://schemas.microsoft.com/office/drawing/2014/main" id="{382F955F-FC22-44B8-BDCF-B7758032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1F567692-F087-479A-8931-BD2869C3E4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Rectangle 27">
              <a:extLst>
                <a:ext uri="{FF2B5EF4-FFF2-40B4-BE49-F238E27FC236}">
                  <a16:creationId xmlns:a16="http://schemas.microsoft.com/office/drawing/2014/main" id="{49B3E4CD-0738-4B9D-A14F-1E8694DDF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8">
              <a:extLst>
                <a:ext uri="{FF2B5EF4-FFF2-40B4-BE49-F238E27FC236}">
                  <a16:creationId xmlns:a16="http://schemas.microsoft.com/office/drawing/2014/main" id="{4753B851-AD90-4CCD-85D0-65AA6567DF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9">
              <a:extLst>
                <a:ext uri="{FF2B5EF4-FFF2-40B4-BE49-F238E27FC236}">
                  <a16:creationId xmlns:a16="http://schemas.microsoft.com/office/drawing/2014/main" id="{EBF14868-A190-4E21-9522-8977C474C9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BCBB4922-76EE-442B-A649-09873DCE79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8E2EB503-A017-4457-A105-53638C97D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clear glass with diamond cut design&#10;&#10;Description automatically generated">
            <a:extLst>
              <a:ext uri="{FF2B5EF4-FFF2-40B4-BE49-F238E27FC236}">
                <a16:creationId xmlns:a16="http://schemas.microsoft.com/office/drawing/2014/main" id="{D5899B4E-9E69-2ECF-E3F3-E7972715A8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5" t="12281" r="26728" b="5582"/>
          <a:stretch/>
        </p:blipFill>
        <p:spPr>
          <a:xfrm>
            <a:off x="4937215" y="677333"/>
            <a:ext cx="2203874" cy="3567564"/>
          </a:xfrm>
          <a:prstGeom prst="rect">
            <a:avLst/>
          </a:prstGeom>
        </p:spPr>
      </p:pic>
      <p:pic>
        <p:nvPicPr>
          <p:cNvPr id="7" name="Picture 6" descr="A clear glass with a handle&#10;&#10;Description automatically generated">
            <a:extLst>
              <a:ext uri="{FF2B5EF4-FFF2-40B4-BE49-F238E27FC236}">
                <a16:creationId xmlns:a16="http://schemas.microsoft.com/office/drawing/2014/main" id="{1EC4ECCA-7234-4AD4-8252-0EFE4D28AD4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205"/>
          <a:stretch/>
        </p:blipFill>
        <p:spPr>
          <a:xfrm>
            <a:off x="8934024" y="859972"/>
            <a:ext cx="2546540" cy="3475118"/>
          </a:xfrm>
          <a:prstGeom prst="rect">
            <a:avLst/>
          </a:prstGeom>
        </p:spPr>
      </p:pic>
      <p:pic>
        <p:nvPicPr>
          <p:cNvPr id="5" name="Content Placeholder 4" descr="A clear glass with a white background&#10;&#10;Description automatically generated">
            <a:extLst>
              <a:ext uri="{FF2B5EF4-FFF2-40B4-BE49-F238E27FC236}">
                <a16:creationId xmlns:a16="http://schemas.microsoft.com/office/drawing/2014/main" id="{B01851C2-6A59-54EA-6121-8CCD5BE3E64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6" b="8271"/>
          <a:stretch/>
        </p:blipFill>
        <p:spPr>
          <a:xfrm>
            <a:off x="507895" y="482600"/>
            <a:ext cx="2638076" cy="36586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43726A-7BEA-17AD-1EB8-07605F7AB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6694" y="168800"/>
            <a:ext cx="4484916" cy="445105"/>
          </a:xfrm>
        </p:spPr>
        <p:txBody>
          <a:bodyPr anchor="ctr">
            <a:normAutofit fontScale="90000"/>
          </a:bodyPr>
          <a:lstStyle/>
          <a:p>
            <a:r>
              <a:rPr lang="en-US" sz="3300" b="1" dirty="0">
                <a:solidFill>
                  <a:schemeClr val="tx1"/>
                </a:solidFill>
              </a:rPr>
              <a:t>				DESIGN</a:t>
            </a:r>
            <a:endParaRPr lang="en-IN" sz="3300" b="1" dirty="0">
              <a:solidFill>
                <a:schemeClr val="tx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B45CFA7-DE3B-4B61-4634-90F35612EBDE}"/>
              </a:ext>
            </a:extLst>
          </p:cNvPr>
          <p:cNvSpPr txBox="1">
            <a:spLocks/>
          </p:cNvSpPr>
          <p:nvPr/>
        </p:nvSpPr>
        <p:spPr>
          <a:xfrm>
            <a:off x="8129208" y="188081"/>
            <a:ext cx="4484916" cy="4451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300" b="1" dirty="0">
                <a:solidFill>
                  <a:schemeClr val="tx1"/>
                </a:solidFill>
              </a:rPr>
              <a:t>		PATENT</a:t>
            </a:r>
            <a:endParaRPr lang="en-IN" sz="33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BDD94D-16B1-398A-39BC-E51E0C5A570C}"/>
              </a:ext>
            </a:extLst>
          </p:cNvPr>
          <p:cNvSpPr txBox="1"/>
          <p:nvPr/>
        </p:nvSpPr>
        <p:spPr>
          <a:xfrm>
            <a:off x="721266" y="4789182"/>
            <a:ext cx="803808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bg1"/>
                </a:solidFill>
              </a:rPr>
              <a:t>GLASS 2 : No change in functionality , only the aesthetic appearance of the glass is changed, makes it look good.</a:t>
            </a:r>
          </a:p>
          <a:p>
            <a:pPr algn="just"/>
            <a:endParaRPr lang="en-US" sz="2000" b="1" dirty="0">
              <a:solidFill>
                <a:schemeClr val="bg1"/>
              </a:solidFill>
            </a:endParaRP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GLASS 3 : It includes a handle, thus adding a functionality to the product. Improves the utility.</a:t>
            </a:r>
          </a:p>
          <a:p>
            <a:pPr algn="just"/>
            <a:endParaRPr lang="en-IN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56261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A63C9-34A8-A9DF-AA3D-F580CD985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6606" y="217715"/>
            <a:ext cx="5995609" cy="81642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PATENT FILING PROCEDURE</a:t>
            </a:r>
            <a:br>
              <a:rPr lang="en-US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A566A-E8D2-E84F-0420-A8CE32439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20" y="1208315"/>
            <a:ext cx="8727923" cy="5257799"/>
          </a:xfrm>
        </p:spPr>
        <p:txBody>
          <a:bodyPr>
            <a:noAutofit/>
          </a:bodyPr>
          <a:lstStyle/>
          <a:p>
            <a:pPr algn="just">
              <a:buFont typeface="+mj-lt"/>
              <a:buAutoNum type="arabicPeriod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Preparation of Invention Disclosure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Prepare a detailed description of the invention, including its technical features, functions.</a:t>
            </a:r>
          </a:p>
          <a:p>
            <a:pPr algn="just">
              <a:buFont typeface="+mj-lt"/>
              <a:buAutoNum type="arabicPeriod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Conducting a Patent Search: C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onduct a patent search to determine if the invention is novel.</a:t>
            </a:r>
          </a:p>
          <a:p>
            <a:pPr algn="just">
              <a:buFont typeface="+mj-lt"/>
              <a:buAutoNum type="arabicPeriod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Engaging a Patent Attorney or Agent: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agent can greatly improve the chances of success. </a:t>
            </a:r>
          </a:p>
          <a:p>
            <a:pPr algn="just">
              <a:buFont typeface="+mj-lt"/>
              <a:buAutoNum type="arabicPeriod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Drafting the Patent Application: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Prepare a formal patent application in the guidance of the agent. (Detailed description of the invention).</a:t>
            </a:r>
          </a:p>
          <a:p>
            <a:pPr algn="just">
              <a:buFont typeface="+mj-lt"/>
              <a:buAutoNum type="arabicPeriod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Filing the Patent Application: 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ubmitted to the patent office along with the required filing fees. </a:t>
            </a:r>
          </a:p>
        </p:txBody>
      </p:sp>
    </p:spTree>
    <p:extLst>
      <p:ext uri="{BB962C8B-B14F-4D97-AF65-F5344CB8AC3E}">
        <p14:creationId xmlns:p14="http://schemas.microsoft.com/office/powerpoint/2010/main" val="3335819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38AD4-6FC7-2573-F4F6-D20C4CA5D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990" y="1488613"/>
            <a:ext cx="8662609" cy="4901301"/>
          </a:xfrm>
        </p:spPr>
        <p:txBody>
          <a:bodyPr>
            <a:noAutofit/>
          </a:bodyPr>
          <a:lstStyle/>
          <a:p>
            <a:pPr marL="457200" indent="-457200" algn="just">
              <a:buAutoNum type="arabicPeriod" startAt="6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Examination by the Patent Office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The patent application undergoes examination by the patent office to assess its patentability requirements such as novelty, and industrial applicability.</a:t>
            </a:r>
          </a:p>
          <a:p>
            <a:pPr marL="457200" indent="-457200" algn="just">
              <a:buAutoNum type="arabicPeriod" startAt="6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Response to Office Actions: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Any objections or rejections by the examiner need to be responded by the inventor. </a:t>
            </a:r>
          </a:p>
          <a:p>
            <a:pPr marL="457200" indent="-457200" algn="just">
              <a:buAutoNum type="arabicPeriod" startAt="6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Grant or Refusal of Patent: 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patent will be granted if it meets all the requirements.</a:t>
            </a:r>
          </a:p>
          <a:p>
            <a:pPr marL="457200" indent="-457200" algn="just">
              <a:buAutoNum type="arabicPeriod" startAt="6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Payment of Maintenance Fees: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inventor must pay periodic maintenance fees. Failure to pay these fees may result in the expiration of the patent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4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D61FCA-7A9D-83C8-6A11-1FEE13BA7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8492" y="315686"/>
            <a:ext cx="5995609" cy="81642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PATENT FILING PROCEDURE</a:t>
            </a:r>
            <a:br>
              <a:rPr lang="en-US" b="1" dirty="0"/>
            </a:b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6676925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1BE08-6774-FE72-8E3B-0A5DDCC27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08857"/>
            <a:ext cx="8596668" cy="1320800"/>
          </a:xfrm>
        </p:spPr>
        <p:txBody>
          <a:bodyPr/>
          <a:lstStyle/>
          <a:p>
            <a:r>
              <a:rPr lang="en-US" dirty="0"/>
              <a:t>COPYRIGHT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090B3-AE86-A8AB-74DF-8E902BB16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990" y="769257"/>
            <a:ext cx="11710610" cy="5979886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provides copyright protection for original creative works. </a:t>
            </a:r>
          </a:p>
          <a:p>
            <a:pPr algn="just"/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idea </a:t>
            </a:r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cannot be copyrighted, but only the expression of the idea 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be copyrighted.</a:t>
            </a:r>
          </a:p>
          <a:p>
            <a:pPr algn="just"/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works have no 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functional value. 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Expression is fixed </a:t>
            </a:r>
            <a:r>
              <a:rPr lang="en-IN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4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omething that is made and fixed.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IN" sz="2000" kern="1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IN" sz="2000" kern="1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movie, even watching it after 100 years, the age of the actors, situations etc  in the movie remains fixed.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IN" sz="2000" kern="1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Reading a book after 2 weeks or 10 years or 100 years remains the same. The words/pictures/content remains the same.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works can be perceived or interpreted.</a:t>
            </a:r>
            <a:endParaRPr lang="en-IN" sz="2400" kern="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IN" sz="2000" kern="1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do you perceive a photo / painting?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IN" sz="2000" kern="1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do you perceive a music?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IN" sz="2000" kern="1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do you perceive a sculpture?</a:t>
            </a:r>
            <a:endParaRPr lang="en-IN" sz="2000" kern="100" dirty="0">
              <a:solidFill>
                <a:schemeClr val="accent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 descr="A close-up of a stamp&#10;&#10;Description automatically generated">
            <a:extLst>
              <a:ext uri="{FF2B5EF4-FFF2-40B4-BE49-F238E27FC236}">
                <a16:creationId xmlns:a16="http://schemas.microsoft.com/office/drawing/2014/main" id="{CBDA65A1-F440-A84C-8D67-B5260E80FC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5869" y="3944029"/>
            <a:ext cx="2707141" cy="2707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011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D7162-EDFD-C047-FDEC-29672A8BD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910771"/>
            <a:ext cx="9098037" cy="6556829"/>
          </a:xfrm>
        </p:spPr>
        <p:txBody>
          <a:bodyPr>
            <a:noAutofit/>
          </a:bodyPr>
          <a:lstStyle/>
          <a:p>
            <a:pPr algn="just"/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opyright is not necessarily registrable, and it arises automatically upon creation of the work.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uying a copy of the property does not grant a right to copy the work</a:t>
            </a:r>
          </a:p>
          <a:p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Limited copying in the form of photocopying, scanning is permissible.</a:t>
            </a:r>
          </a:p>
          <a:p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ownloading content for research activities 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</a:t>
            </a:r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permissible but needs acknowledgement.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Publication or Q</a:t>
            </a:r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uotes from the work requires a due acknowledgement of the source.</a:t>
            </a:r>
          </a:p>
          <a:p>
            <a:pPr lvl="2"/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Examples: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Literary works: 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Books, poems, scripts, musical pieces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Artistic works: 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Paintings, sculptures, photographs, movies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Software programs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Computer software, video games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Technical works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Engineering drawings, architectural plans, Computer Codes</a:t>
            </a:r>
            <a:endParaRPr lang="en-IN" sz="2000" dirty="0">
              <a:solidFill>
                <a:srgbClr val="0070C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645D161-D343-B926-8703-C729AAE071A2}"/>
              </a:ext>
            </a:extLst>
          </p:cNvPr>
          <p:cNvSpPr txBox="1">
            <a:spLocks/>
          </p:cNvSpPr>
          <p:nvPr/>
        </p:nvSpPr>
        <p:spPr>
          <a:xfrm>
            <a:off x="677334" y="250371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/>
              <a:t>COPYRIGHT</a:t>
            </a:r>
            <a:endParaRPr lang="en-IN" dirty="0"/>
          </a:p>
        </p:txBody>
      </p:sp>
      <p:pic>
        <p:nvPicPr>
          <p:cNvPr id="5" name="Picture 4" descr="A black and white symbol&#10;&#10;Description automatically generated">
            <a:extLst>
              <a:ext uri="{FF2B5EF4-FFF2-40B4-BE49-F238E27FC236}">
                <a16:creationId xmlns:a16="http://schemas.microsoft.com/office/drawing/2014/main" id="{3C898F8B-6900-74FA-C1EE-A6AE9F014B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3388" y="3304493"/>
            <a:ext cx="2018621" cy="2018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4900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712A7-689C-A40C-62EB-3E40ABE32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3047" y="398236"/>
            <a:ext cx="3132667" cy="1320800"/>
          </a:xfrm>
        </p:spPr>
        <p:txBody>
          <a:bodyPr/>
          <a:lstStyle/>
          <a:p>
            <a:r>
              <a:rPr lang="en-US" dirty="0"/>
              <a:t>TRADEMARK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0E280-9152-53D6-AF92-5D67B7E3FE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075" y="1288143"/>
            <a:ext cx="8967411" cy="5286827"/>
          </a:xfrm>
        </p:spPr>
        <p:txBody>
          <a:bodyPr>
            <a:noAutofit/>
          </a:bodyPr>
          <a:lstStyle/>
          <a:p>
            <a:pPr algn="just"/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symbol in the form of a logo, tagline, words, brand names, shapes, employed to provide the products or services with a recognizable identity is called as a </a:t>
            </a:r>
            <a:r>
              <a:rPr lang="en-IN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Trademark</a:t>
            </a:r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Trademarks help in protecting the distinctive identification which make up the marketing identity of a brand.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/>
            <a:r>
              <a:rPr lang="en-IN" sz="24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Examples: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IN" sz="2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Brand names</a:t>
            </a:r>
            <a:r>
              <a:rPr lang="en-IN" sz="22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Apple, Nike, Coca-Cola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IN" sz="2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 names: </a:t>
            </a:r>
            <a:r>
              <a:rPr lang="en-IN" sz="22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iPhone, Air Jordan, Coke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IN" sz="2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Company logos: </a:t>
            </a:r>
            <a:r>
              <a:rPr lang="en-IN" sz="22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Golden Arches (McDonald's), Nike swoosh, Apple logo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IN" sz="2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Tagline:</a:t>
            </a:r>
            <a:r>
              <a:rPr lang="en-IN" sz="22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Just Do It (Nike), Think Different (Apple), I'm Lovin' It (McDonald’s)</a:t>
            </a:r>
          </a:p>
          <a:p>
            <a:pPr algn="just"/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 descr="Symbols of intellectual property and trademark stamp&#10;&#10;Description automatically generated">
            <a:extLst>
              <a:ext uri="{FF2B5EF4-FFF2-40B4-BE49-F238E27FC236}">
                <a16:creationId xmlns:a16="http://schemas.microsoft.com/office/drawing/2014/main" id="{7B66FD6F-46B8-708B-045E-72BEB90EE01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82" t="34444" b="39365"/>
          <a:stretch/>
        </p:blipFill>
        <p:spPr>
          <a:xfrm>
            <a:off x="9383486" y="961477"/>
            <a:ext cx="2738735" cy="2365924"/>
          </a:xfrm>
          <a:prstGeom prst="rect">
            <a:avLst/>
          </a:prstGeom>
        </p:spPr>
      </p:pic>
      <p:pic>
        <p:nvPicPr>
          <p:cNvPr id="9" name="Picture 8" descr="A black and white symbol&#10;&#10;Description automatically generated">
            <a:extLst>
              <a:ext uri="{FF2B5EF4-FFF2-40B4-BE49-F238E27FC236}">
                <a16:creationId xmlns:a16="http://schemas.microsoft.com/office/drawing/2014/main" id="{FDA9864B-E693-66A7-74BB-430A23A77FC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08" t="11108" r="10449" b="16661"/>
          <a:stretch/>
        </p:blipFill>
        <p:spPr>
          <a:xfrm>
            <a:off x="9662364" y="3530597"/>
            <a:ext cx="2385889" cy="236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2507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black circle with a white background&#10;&#10;Description automatically generated">
            <a:extLst>
              <a:ext uri="{FF2B5EF4-FFF2-40B4-BE49-F238E27FC236}">
                <a16:creationId xmlns:a16="http://schemas.microsoft.com/office/drawing/2014/main" id="{C9CFC397-1DAC-CCDB-C319-3906AF68BE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526" b="32435"/>
          <a:stretch/>
        </p:blipFill>
        <p:spPr>
          <a:xfrm>
            <a:off x="9142424" y="3190173"/>
            <a:ext cx="2907790" cy="1047937"/>
          </a:xfrm>
        </p:spPr>
      </p:pic>
      <p:pic>
        <p:nvPicPr>
          <p:cNvPr id="11" name="Picture 10" descr="A red and blue dominoes&#10;&#10;Description automatically generated">
            <a:extLst>
              <a:ext uri="{FF2B5EF4-FFF2-40B4-BE49-F238E27FC236}">
                <a16:creationId xmlns:a16="http://schemas.microsoft.com/office/drawing/2014/main" id="{4DE133AD-7352-28D5-1647-9C780EDD81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9300" y="4807507"/>
            <a:ext cx="2026562" cy="2035609"/>
          </a:xfrm>
          <a:prstGeom prst="rect">
            <a:avLst/>
          </a:prstGeom>
        </p:spPr>
      </p:pic>
      <p:pic>
        <p:nvPicPr>
          <p:cNvPr id="13" name="Picture 12" descr="A blue bird with wings&#10;&#10;Description automatically generated">
            <a:extLst>
              <a:ext uri="{FF2B5EF4-FFF2-40B4-BE49-F238E27FC236}">
                <a16:creationId xmlns:a16="http://schemas.microsoft.com/office/drawing/2014/main" id="{9E5BD7F8-E886-02F7-138F-D9B242B3DC2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32" t="16349" r="27033" b="14444"/>
          <a:stretch/>
        </p:blipFill>
        <p:spPr>
          <a:xfrm>
            <a:off x="6724906" y="3138510"/>
            <a:ext cx="1803204" cy="1542950"/>
          </a:xfrm>
          <a:prstGeom prst="rect">
            <a:avLst/>
          </a:prstGeom>
        </p:spPr>
      </p:pic>
      <p:pic>
        <p:nvPicPr>
          <p:cNvPr id="15" name="Picture 14" descr="A black cat jumping in the air&#10;&#10;Description automatically generated">
            <a:extLst>
              <a:ext uri="{FF2B5EF4-FFF2-40B4-BE49-F238E27FC236}">
                <a16:creationId xmlns:a16="http://schemas.microsoft.com/office/drawing/2014/main" id="{DFA48636-4640-7069-8ADB-B675DFD1003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24" b="9187"/>
          <a:stretch/>
        </p:blipFill>
        <p:spPr>
          <a:xfrm>
            <a:off x="9716460" y="1247910"/>
            <a:ext cx="1981200" cy="1513409"/>
          </a:xfrm>
          <a:prstGeom prst="rect">
            <a:avLst/>
          </a:prstGeom>
        </p:spPr>
      </p:pic>
      <p:pic>
        <p:nvPicPr>
          <p:cNvPr id="17" name="Picture 16" descr="A red letter r on a black background&#10;&#10;Description automatically generated">
            <a:extLst>
              <a:ext uri="{FF2B5EF4-FFF2-40B4-BE49-F238E27FC236}">
                <a16:creationId xmlns:a16="http://schemas.microsoft.com/office/drawing/2014/main" id="{A8107CEF-DA3E-8451-109D-B2BC4520A8A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96" r="16381"/>
          <a:stretch/>
        </p:blipFill>
        <p:spPr>
          <a:xfrm>
            <a:off x="9806947" y="5116010"/>
            <a:ext cx="1800225" cy="1418605"/>
          </a:xfrm>
          <a:prstGeom prst="rect">
            <a:avLst/>
          </a:prstGeom>
        </p:spPr>
      </p:pic>
      <p:pic>
        <p:nvPicPr>
          <p:cNvPr id="19" name="Picture 18" descr="A black and white logo&#10;&#10;Description automatically generated">
            <a:extLst>
              <a:ext uri="{FF2B5EF4-FFF2-40B4-BE49-F238E27FC236}">
                <a16:creationId xmlns:a16="http://schemas.microsoft.com/office/drawing/2014/main" id="{9E0A7654-B036-76E2-A91A-602E696F7183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699" b="20112"/>
          <a:stretch/>
        </p:blipFill>
        <p:spPr>
          <a:xfrm>
            <a:off x="6998701" y="1282043"/>
            <a:ext cx="1410988" cy="1679748"/>
          </a:xfrm>
          <a:prstGeom prst="rect">
            <a:avLst/>
          </a:prstGeom>
        </p:spPr>
      </p:pic>
      <p:pic>
        <p:nvPicPr>
          <p:cNvPr id="21" name="Picture 20" descr="A yellow bird with a white background&#10;&#10;Description automatically generated">
            <a:extLst>
              <a:ext uri="{FF2B5EF4-FFF2-40B4-BE49-F238E27FC236}">
                <a16:creationId xmlns:a16="http://schemas.microsoft.com/office/drawing/2014/main" id="{8AE19DD0-17F3-C2F3-A9D3-538ED38CA5C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07" y="1435805"/>
            <a:ext cx="1937168" cy="1011464"/>
          </a:xfrm>
          <a:prstGeom prst="rect">
            <a:avLst/>
          </a:prstGeom>
        </p:spPr>
      </p:pic>
      <p:pic>
        <p:nvPicPr>
          <p:cNvPr id="23" name="Picture 22" descr="A black apple logo with a bite taken out of it&#10;&#10;Description automatically generated">
            <a:extLst>
              <a:ext uri="{FF2B5EF4-FFF2-40B4-BE49-F238E27FC236}">
                <a16:creationId xmlns:a16="http://schemas.microsoft.com/office/drawing/2014/main" id="{662A6829-8F82-74DB-EBC1-F964BC3CE0A2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45" t="16579" r="8428" b="12223"/>
          <a:stretch/>
        </p:blipFill>
        <p:spPr>
          <a:xfrm>
            <a:off x="3503034" y="4839181"/>
            <a:ext cx="1715181" cy="1695434"/>
          </a:xfrm>
          <a:prstGeom prst="rect">
            <a:avLst/>
          </a:prstGeom>
        </p:spPr>
      </p:pic>
      <p:pic>
        <p:nvPicPr>
          <p:cNvPr id="25" name="Picture 24" descr="A logo of a person with long hair&#10;&#10;Description automatically generated">
            <a:extLst>
              <a:ext uri="{FF2B5EF4-FFF2-40B4-BE49-F238E27FC236}">
                <a16:creationId xmlns:a16="http://schemas.microsoft.com/office/drawing/2014/main" id="{30AADC80-751D-C3F5-EB4E-AE6C36E7BAD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0380" y="2902505"/>
            <a:ext cx="1715181" cy="1738255"/>
          </a:xfrm>
          <a:prstGeom prst="rect">
            <a:avLst/>
          </a:prstGeom>
        </p:spPr>
      </p:pic>
      <p:pic>
        <p:nvPicPr>
          <p:cNvPr id="27" name="Picture 26" descr="A black horse on a yellow shield&#10;&#10;Description automatically generated">
            <a:extLst>
              <a:ext uri="{FF2B5EF4-FFF2-40B4-BE49-F238E27FC236}">
                <a16:creationId xmlns:a16="http://schemas.microsoft.com/office/drawing/2014/main" id="{D1E4B29D-C657-5E56-FFD7-82D4F607BF8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146" y="1064175"/>
            <a:ext cx="1271220" cy="1697144"/>
          </a:xfrm>
          <a:prstGeom prst="rect">
            <a:avLst/>
          </a:prstGeom>
        </p:spPr>
      </p:pic>
      <p:pic>
        <p:nvPicPr>
          <p:cNvPr id="29" name="Picture 28" descr="A black swoosh logo&#10;&#10;Description automatically generated">
            <a:extLst>
              <a:ext uri="{FF2B5EF4-FFF2-40B4-BE49-F238E27FC236}">
                <a16:creationId xmlns:a16="http://schemas.microsoft.com/office/drawing/2014/main" id="{E56BB72A-68FC-F81C-4681-4A493AF3A85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27" y="2901777"/>
            <a:ext cx="1915886" cy="1915886"/>
          </a:xfrm>
          <a:prstGeom prst="rect">
            <a:avLst/>
          </a:prstGeom>
        </p:spPr>
      </p:pic>
      <p:pic>
        <p:nvPicPr>
          <p:cNvPr id="31" name="Picture 30" descr="A yellow letter m&#10;&#10;Description automatically generated">
            <a:extLst>
              <a:ext uri="{FF2B5EF4-FFF2-40B4-BE49-F238E27FC236}">
                <a16:creationId xmlns:a16="http://schemas.microsoft.com/office/drawing/2014/main" id="{F57552EA-17A0-73A4-4C55-83616905E6E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62" y="5116010"/>
            <a:ext cx="2133604" cy="1219202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E6CBB2B-15BF-FE82-ED83-07DE92F9B1CB}"/>
              </a:ext>
            </a:extLst>
          </p:cNvPr>
          <p:cNvSpPr txBox="1"/>
          <p:nvPr/>
        </p:nvSpPr>
        <p:spPr>
          <a:xfrm>
            <a:off x="683711" y="50073"/>
            <a:ext cx="10500961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6000" dirty="0">
                <a:solidFill>
                  <a:srgbClr val="0070C0"/>
                </a:solidFill>
              </a:rPr>
              <a:t>IDENTIFY TRADEMARK LOGOS</a:t>
            </a:r>
            <a:endParaRPr lang="en-IN" sz="6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4137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C239E-F869-2444-E36F-CD310D07E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381" y="112486"/>
            <a:ext cx="5745237" cy="1320800"/>
          </a:xfrm>
        </p:spPr>
        <p:txBody>
          <a:bodyPr/>
          <a:lstStyle/>
          <a:p>
            <a:r>
              <a:rPr lang="en-US" dirty="0"/>
              <a:t>TRADEMARK TAGLINES </a:t>
            </a:r>
            <a:endParaRPr lang="en-IN" dirty="0"/>
          </a:p>
        </p:txBody>
      </p:sp>
      <p:pic>
        <p:nvPicPr>
          <p:cNvPr id="5" name="Content Placeholder 4" descr="A group of logos of a company&#10;&#10;Description automatically generated">
            <a:extLst>
              <a:ext uri="{FF2B5EF4-FFF2-40B4-BE49-F238E27FC236}">
                <a16:creationId xmlns:a16="http://schemas.microsoft.com/office/drawing/2014/main" id="{F26015EC-6F8B-DB5D-A6B8-45F72C9EC5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9086"/>
            <a:ext cx="12192000" cy="6008914"/>
          </a:xfrm>
        </p:spPr>
      </p:pic>
    </p:spTree>
    <p:extLst>
      <p:ext uri="{BB962C8B-B14F-4D97-AF65-F5344CB8AC3E}">
        <p14:creationId xmlns:p14="http://schemas.microsoft.com/office/powerpoint/2010/main" val="11695802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BA0B0-CCA1-F0E5-500D-20B374DC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blue and white rectangular shapes with white text&#10;&#10;Description automatically generated">
            <a:extLst>
              <a:ext uri="{FF2B5EF4-FFF2-40B4-BE49-F238E27FC236}">
                <a16:creationId xmlns:a16="http://schemas.microsoft.com/office/drawing/2014/main" id="{0E780C99-BA0A-E4ED-999A-6A4439DE36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4099262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53B2C-03CB-5E2B-2D75-BBC727C3D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934" y="261257"/>
            <a:ext cx="8596668" cy="1320800"/>
          </a:xfrm>
        </p:spPr>
        <p:txBody>
          <a:bodyPr/>
          <a:lstStyle/>
          <a:p>
            <a:pPr algn="ctr"/>
            <a:r>
              <a:rPr lang="en-US" b="1" dirty="0"/>
              <a:t>REQUIREMENTS FOR TRADEMARK REGISTRATION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A7FE0-4799-D3EC-AF7C-80264B5DA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82057"/>
            <a:ext cx="9598780" cy="5014686"/>
          </a:xfrm>
        </p:spPr>
        <p:txBody>
          <a:bodyPr>
            <a:noAutofit/>
          </a:bodyPr>
          <a:lstStyle/>
          <a:p>
            <a:pPr algn="l" fontAlgn="base">
              <a:buFont typeface="+mj-lt"/>
              <a:buAutoNum type="arabicPeriod"/>
            </a:pPr>
            <a:r>
              <a:rPr lang="en-US" sz="24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name, address and nationality of the applicant. </a:t>
            </a:r>
          </a:p>
          <a:p>
            <a:pPr algn="l" fontAlgn="base">
              <a:buFont typeface="+mj-lt"/>
              <a:buAutoNum type="arabicPeriod"/>
            </a:pPr>
            <a:r>
              <a:rPr lang="en-US" sz="24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the applicant is a company, the country or state of incorporation.</a:t>
            </a:r>
          </a:p>
          <a:p>
            <a:pPr algn="l" fontAlgn="base">
              <a:buFont typeface="+mj-lt"/>
              <a:buAutoNum type="arabicPeriod"/>
            </a:pPr>
            <a:r>
              <a:rPr lang="en-US" sz="24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list of goods and/or services for which registration is required.</a:t>
            </a:r>
          </a:p>
          <a:p>
            <a:pPr algn="l" fontAlgn="base">
              <a:buFont typeface="+mj-lt"/>
              <a:buAutoNum type="arabicPeriod"/>
            </a:pPr>
            <a:r>
              <a:rPr lang="en-US" sz="24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Soft copy of the trademark to be registered.</a:t>
            </a:r>
          </a:p>
          <a:p>
            <a:pPr algn="l" fontAlgn="base">
              <a:buFont typeface="+mj-lt"/>
              <a:buAutoNum type="arabicPeriod"/>
            </a:pPr>
            <a:r>
              <a:rPr lang="en-US" sz="24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the mark contains or consists of non-English words, a translation of those words into English is required.</a:t>
            </a:r>
          </a:p>
          <a:p>
            <a:pPr algn="l" fontAlgn="base">
              <a:buFont typeface="+mj-lt"/>
              <a:buAutoNum type="arabicPeriod"/>
            </a:pPr>
            <a:r>
              <a:rPr lang="en-US" sz="24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Priority Document : If the application is to claim priority from an earlier filed convention application.</a:t>
            </a:r>
          </a:p>
          <a:p>
            <a:pPr algn="l" fontAlgn="base">
              <a:buFont typeface="+mj-lt"/>
              <a:buAutoNum type="arabicPeriod"/>
            </a:pPr>
            <a:r>
              <a:rPr lang="en-US" sz="24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 of first use of the trademark in India, if at all used.</a:t>
            </a:r>
          </a:p>
          <a:p>
            <a:pPr algn="l" fontAlgn="base">
              <a:buFont typeface="+mj-lt"/>
              <a:buAutoNum type="arabicPeriod"/>
            </a:pPr>
            <a:r>
              <a:rPr lang="en-US" sz="24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of attorney simply signed by the applicant.</a:t>
            </a:r>
          </a:p>
          <a:p>
            <a:endParaRPr lang="en-IN" sz="2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34367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of a location&#10;&#10;Description automatically generated">
            <a:extLst>
              <a:ext uri="{FF2B5EF4-FFF2-40B4-BE49-F238E27FC236}">
                <a16:creationId xmlns:a16="http://schemas.microsoft.com/office/drawing/2014/main" id="{C60B3C51-16A1-DED7-7E9C-71E81A42788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02" t="-1" r="25933" b="-1"/>
          <a:stretch/>
        </p:blipFill>
        <p:spPr>
          <a:xfrm>
            <a:off x="5483200" y="8466"/>
            <a:ext cx="6195534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60997B-870C-D0E5-E721-8B5C1B0D6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318" y="170923"/>
            <a:ext cx="6559808" cy="1320800"/>
          </a:xfrm>
        </p:spPr>
        <p:txBody>
          <a:bodyPr>
            <a:normAutofit/>
          </a:bodyPr>
          <a:lstStyle/>
          <a:p>
            <a:r>
              <a:rPr lang="en-US" dirty="0"/>
              <a:t>GEOGRAPHICAL INDICATIONS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F0F28-413F-8F65-DDDE-64894A496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703" y="831323"/>
            <a:ext cx="6708298" cy="6202825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Geographical Indication (GI) is a tag or sign used on products for indicating their specific place of origin.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 protection for geographical indications (GIs) to prevent misleading use of indications that identify products as originating from a particular place.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IN" sz="2000" b="0" i="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 (Tirupati Laddu, </a:t>
            </a:r>
            <a:r>
              <a:rPr lang="en-IN" sz="2000" b="0" i="0" dirty="0">
                <a:solidFill>
                  <a:srgbClr val="0070C0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Dharwad </a:t>
            </a:r>
            <a:r>
              <a:rPr lang="en-IN" sz="2000" b="0" i="0" dirty="0" err="1">
                <a:solidFill>
                  <a:srgbClr val="0070C0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Pedha</a:t>
            </a:r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Handcrafts (</a:t>
            </a:r>
            <a:r>
              <a:rPr lang="en-IN" sz="2000" dirty="0" err="1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Kolhapuri</a:t>
            </a:r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Chappal, Mysore Silk, Kanchipuram Silk , </a:t>
            </a:r>
            <a:r>
              <a:rPr lang="en-IN" sz="2000" dirty="0" err="1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Chennapatna</a:t>
            </a:r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Toys)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Industrial Products  (Mysore Sandalwood Oil, Darjeeling Tea )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Agricultural products (Alphonso Mango, </a:t>
            </a:r>
            <a:r>
              <a:rPr lang="en-IN" sz="20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Nagpur oranges</a:t>
            </a:r>
            <a:r>
              <a:rPr lang="en-IN" sz="20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IN" sz="2000" b="0" i="0" dirty="0">
              <a:solidFill>
                <a:srgbClr val="0070C0"/>
              </a:solidFill>
              <a:effectLst/>
              <a:highlight>
                <a:srgbClr val="FFFFFF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endParaRPr lang="en-IN" sz="24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2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4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6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82080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map of india with different items&#10;&#10;Description automatically generated">
            <a:extLst>
              <a:ext uri="{FF2B5EF4-FFF2-40B4-BE49-F238E27FC236}">
                <a16:creationId xmlns:a16="http://schemas.microsoft.com/office/drawing/2014/main" id="{2DF79295-52FC-C9B0-2AF6-7AEC9781D1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0171" y="0"/>
            <a:ext cx="8567058" cy="6858000"/>
          </a:xfrm>
        </p:spPr>
      </p:pic>
      <p:pic>
        <p:nvPicPr>
          <p:cNvPr id="7" name="Picture 6" descr="A close-up of a tag&#10;&#10;Description automatically generated">
            <a:extLst>
              <a:ext uri="{FF2B5EF4-FFF2-40B4-BE49-F238E27FC236}">
                <a16:creationId xmlns:a16="http://schemas.microsoft.com/office/drawing/2014/main" id="{A0361944-7B25-8F70-83FA-1BB3B1DB80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87" r="24777"/>
          <a:stretch/>
        </p:blipFill>
        <p:spPr>
          <a:xfrm>
            <a:off x="0" y="0"/>
            <a:ext cx="2220686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7438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gavel next to a law book&#10;&#10;Description automatically generated">
            <a:extLst>
              <a:ext uri="{FF2B5EF4-FFF2-40B4-BE49-F238E27FC236}">
                <a16:creationId xmlns:a16="http://schemas.microsoft.com/office/drawing/2014/main" id="{8365EB35-860A-B582-A842-0134F7C76B5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32" r="5089"/>
          <a:stretch/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8AF4A-9AA0-6442-3996-6359206D2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990" y="1741026"/>
            <a:ext cx="4907037" cy="388077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2060"/>
                </a:solidFill>
              </a:rPr>
              <a:t>INTELLECTUAL PROPERTY SYSTEM </a:t>
            </a:r>
          </a:p>
          <a:p>
            <a:pPr marL="0" indent="0" algn="ctr">
              <a:buNone/>
            </a:pPr>
            <a:r>
              <a:rPr lang="en-US" sz="5200" b="1" dirty="0">
                <a:solidFill>
                  <a:srgbClr val="002060"/>
                </a:solidFill>
              </a:rPr>
              <a:t>IN INDIA</a:t>
            </a:r>
            <a:endParaRPr lang="en-IN" sz="5200" b="1" dirty="0">
              <a:solidFill>
                <a:srgbClr val="002060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1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3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5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7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9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1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28900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E485B-FD18-6CE4-AF8B-CE82C11A2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359229"/>
            <a:ext cx="11013923" cy="157117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The Copyright Act, 1957</a:t>
            </a:r>
            <a:br>
              <a:rPr lang="en-US" dirty="0"/>
            </a:br>
            <a:r>
              <a:rPr lang="en-US" sz="3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Protects the rights of creators in original literary, artistic, and musical works.</a:t>
            </a:r>
            <a:br>
              <a:rPr lang="en-US" sz="3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64652-496B-86EC-21F5-DBB55855C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362" y="2264228"/>
            <a:ext cx="11231637" cy="4234543"/>
          </a:xfrm>
        </p:spPr>
        <p:txBody>
          <a:bodyPr>
            <a:normAutofit/>
          </a:bodyPr>
          <a:lstStyle/>
          <a:p>
            <a:pPr algn="just"/>
            <a:r>
              <a:rPr lang="en-US" sz="2400" i="0" dirty="0">
                <a:solidFill>
                  <a:srgbClr val="353A44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Copyright protection is automatic and begins as soon as the work is created and fixed.</a:t>
            </a:r>
          </a:p>
          <a:p>
            <a:pPr algn="just"/>
            <a:r>
              <a:rPr lang="en-US" sz="2400" i="0" dirty="0">
                <a:solidFill>
                  <a:srgbClr val="353A44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Act provides protection for the lifetime of the author plus sixty years following their death.</a:t>
            </a:r>
          </a:p>
          <a:p>
            <a:pPr algn="just"/>
            <a:r>
              <a:rPr lang="en-US" sz="2400" i="0" dirty="0">
                <a:solidFill>
                  <a:srgbClr val="353A44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owner has the right to sell or license their rights to others (it can be transferred).</a:t>
            </a:r>
          </a:p>
          <a:p>
            <a:pPr algn="just"/>
            <a:r>
              <a:rPr lang="en-US" sz="2400" i="0" dirty="0">
                <a:solidFill>
                  <a:srgbClr val="353A44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Act allows fair dealing of the copyrighted work for private use, criticism, review, research, and reporting of current events.</a:t>
            </a:r>
          </a:p>
          <a:p>
            <a:pPr algn="just" fontAlgn="base"/>
            <a:r>
              <a:rPr lang="en-US" sz="2400" i="0" dirty="0">
                <a:solidFill>
                  <a:srgbClr val="353A44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someone uses copyrighted content without the necessary permissions or beyond the scope of a license, the owner can take legal action against them (Penalties / other remedies as directed by law).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10082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8DCA7-4B85-A1E1-FD6A-0228A6CBC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963" y="261257"/>
            <a:ext cx="11329608" cy="13208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The Patents Act, 1970</a:t>
            </a:r>
            <a:br>
              <a:rPr lang="en-US" b="1" dirty="0"/>
            </a:br>
            <a:r>
              <a:rPr lang="en-IN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Patents grant protection to certain new products, processes, apparatus, or any other technical inventions.</a:t>
            </a:r>
            <a:br>
              <a:rPr lang="en-I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E9616-4871-B37C-67CC-A66A79893D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476" y="2293257"/>
            <a:ext cx="10513179" cy="3617686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Patents Act has been amended keeping in view the development of technological capability in India.</a:t>
            </a:r>
          </a:p>
          <a:p>
            <a:pPr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It integrates the intellectual property system with international practices.</a:t>
            </a:r>
          </a:p>
          <a:p>
            <a:pPr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Patents Act, 1970, governs the grant and regulation of patents in India.</a:t>
            </a:r>
          </a:p>
          <a:p>
            <a:pPr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has been amended in the year 1995, 1999, 2002 and 2005.</a:t>
            </a:r>
          </a:p>
          <a:p>
            <a:pPr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Patent Amendment Act, 2005 is now fully in force and operative.</a:t>
            </a:r>
          </a:p>
          <a:p>
            <a:pPr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Indian Patent Office is responsible for granting patents. </a:t>
            </a: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90414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4A01C-E01B-79AF-2C55-E5B509478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134" y="478971"/>
            <a:ext cx="10654695" cy="1320800"/>
          </a:xfrm>
          <a:noFill/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02060"/>
                </a:solidFill>
              </a:rPr>
              <a:t>The Trade Marks Act, 1999</a:t>
            </a:r>
            <a:br>
              <a:rPr lang="en-IN" b="1" dirty="0"/>
            </a:br>
            <a:r>
              <a:rPr lang="en-IN" b="1" dirty="0"/>
              <a:t>Governs the registration and protection of trademarks in India.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ECAAE-7FF0-4005-6889-5D16FD0ED3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134" y="2095274"/>
            <a:ext cx="11155437" cy="4283755"/>
          </a:xfrm>
        </p:spPr>
        <p:txBody>
          <a:bodyPr>
            <a:noAutofit/>
          </a:bodyPr>
          <a:lstStyle/>
          <a:p>
            <a:pPr algn="just">
              <a:buAutoNum type="arabicPeriod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Distinctiveness: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trademark should be capable of distinguishing the goods or services of one trader from those of others.</a:t>
            </a:r>
          </a:p>
          <a:p>
            <a:pPr algn="just">
              <a:buAutoNum type="arabicPeriod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Duration of Protection: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Once registered, a trademark can be protected indefinitely,  as long as renewal fees are paid as required by law. </a:t>
            </a:r>
          </a:p>
          <a:p>
            <a:pPr algn="just">
              <a:buAutoNum type="arabicPeriod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Exclusive Rights: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Trademark owners have exclusive rights to use their marks, thus preventing others from using similar marks. </a:t>
            </a:r>
          </a:p>
          <a:p>
            <a:pPr algn="just">
              <a:buAutoNum type="arabicPeriod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Infringement: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Trademark owners can take legal action against infringers. </a:t>
            </a:r>
          </a:p>
          <a:p>
            <a:pPr algn="just">
              <a:buAutoNum type="arabicPeriod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Licensing: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Trademark owners can license their marks to others.</a:t>
            </a:r>
          </a:p>
          <a:p>
            <a:pPr algn="just">
              <a:buAutoNum type="arabicPeriod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Renewal and Maintenance: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trademarks must be renewed every 10 years.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289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3A995-470D-1C64-94CC-90D3F78BB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283029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The Designs Act, 2000</a:t>
            </a:r>
            <a:br>
              <a:rPr lang="en-US" b="1" dirty="0"/>
            </a:br>
            <a:r>
              <a:rPr lang="en-US" b="1" dirty="0"/>
              <a:t>Provides protection to industrial designs. </a:t>
            </a:r>
            <a:br>
              <a:rPr lang="en-US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73231-946E-BC67-C093-89744FDE8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382" y="1440544"/>
            <a:ext cx="11156648" cy="5058228"/>
          </a:xfrm>
        </p:spPr>
        <p:txBody>
          <a:bodyPr>
            <a:noAutofit/>
          </a:bodyPr>
          <a:lstStyle/>
          <a:p>
            <a:pPr algn="just">
              <a:buFont typeface="+mj-lt"/>
              <a:buAutoNum type="arabicPeriod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Definition of Design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The Act defines a design as the features of shape, configuration, or pattern.</a:t>
            </a:r>
          </a:p>
          <a:p>
            <a:pPr algn="just">
              <a:buFont typeface="+mj-lt"/>
              <a:buAutoNum type="arabicPeriod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Registration of Designs: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Registration provides the owner exclusive rights to use the design. </a:t>
            </a:r>
          </a:p>
          <a:p>
            <a:pPr algn="just">
              <a:buFont typeface="+mj-lt"/>
              <a:buAutoNum type="arabicPeriod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Novelty and Originality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 design must be new and original, (should not be disclosed to public before filing date of application registration.)</a:t>
            </a:r>
          </a:p>
          <a:p>
            <a:pPr algn="just">
              <a:buFont typeface="+mj-lt"/>
              <a:buAutoNum type="arabicPeriod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Duration of Protection: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Provides protection for a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period of ten years, (extended  for another five years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subject to payment of prescribed renewal fees. </a:t>
            </a:r>
          </a:p>
          <a:p>
            <a:pPr algn="just">
              <a:buFont typeface="+mj-lt"/>
              <a:buAutoNum type="arabicPeriod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International Recognition: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 helps in international recognition when design is registered. </a:t>
            </a:r>
          </a:p>
          <a:p>
            <a:pPr algn="just">
              <a:buFont typeface="+mj-lt"/>
              <a:buAutoNum type="arabicPeriod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Infringement: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owners can take legal action against infringers.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6938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3E879-3AE2-A87D-2AD2-AEFF57ACF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933" y="250372"/>
            <a:ext cx="11384038" cy="2264228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0206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Goods </a:t>
            </a:r>
            <a:r>
              <a:rPr lang="en-US" b="1" dirty="0">
                <a:solidFill>
                  <a:srgbClr val="002060"/>
                </a:solidFill>
              </a:rPr>
              <a:t>Registration and Protection Act, 1999</a:t>
            </a:r>
            <a:br>
              <a:rPr lang="en-US" b="1" dirty="0"/>
            </a:br>
            <a:r>
              <a:rPr lang="en-US" b="1" dirty="0"/>
              <a:t>Protects the geographical indications of goods and preventing unauthorized use of products associated with specific regions.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AF1C1-B033-0A12-D39A-4A21B0AA1C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218" y="2403014"/>
            <a:ext cx="10807096" cy="4204614"/>
          </a:xfrm>
        </p:spPr>
        <p:txBody>
          <a:bodyPr>
            <a:noAutofit/>
          </a:bodyPr>
          <a:lstStyle/>
          <a:p>
            <a:pPr algn="just">
              <a:buFont typeface="+mj-lt"/>
              <a:buAutoNum type="arabicPeriod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Protection of Rights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Provide legal protection to producers from a particular geographical area. It helps prevent misuse.</a:t>
            </a:r>
          </a:p>
          <a:p>
            <a:pPr algn="just">
              <a:buFont typeface="+mj-lt"/>
              <a:buAutoNum type="arabicPeriod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Economic Value: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Enhance the economic value of products associated with specific geographical origins. </a:t>
            </a:r>
          </a:p>
          <a:p>
            <a:pPr algn="just">
              <a:buFont typeface="+mj-lt"/>
              <a:buAutoNum type="arabicPeriod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Cultural and Traditional Heritage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GIs reflect the cultural and traditional heritage of specific regions or communities. </a:t>
            </a:r>
          </a:p>
          <a:p>
            <a:pPr algn="just">
              <a:buFont typeface="+mj-lt"/>
              <a:buAutoNum type="arabicPeriod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Duration of Protection: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GIs are protected indefinitely. </a:t>
            </a:r>
          </a:p>
          <a:p>
            <a:pPr algn="just">
              <a:buFont typeface="+mj-lt"/>
              <a:buAutoNum type="arabicPeriod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Promotion and Marketing: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GIs can be used as valuable marketing tools to promote products associated with specific geographical origins.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164957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595</TotalTime>
  <Words>1891</Words>
  <Application>Microsoft Office PowerPoint</Application>
  <PresentationFormat>Widescreen</PresentationFormat>
  <Paragraphs>154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Aptos</vt:lpstr>
      <vt:lpstr>Arial</vt:lpstr>
      <vt:lpstr>Calibri</vt:lpstr>
      <vt:lpstr>Trebuchet MS</vt:lpstr>
      <vt:lpstr>Wingdings</vt:lpstr>
      <vt:lpstr>Wingdings 3</vt:lpstr>
      <vt:lpstr>Facet</vt:lpstr>
      <vt:lpstr>INTELLECTUAL PROPERTY RIGHTS   MODULE 5</vt:lpstr>
      <vt:lpstr>INTELLECTUAL PROPERTY </vt:lpstr>
      <vt:lpstr>PowerPoint Presentation</vt:lpstr>
      <vt:lpstr>INTELLECTUAL PROPERTY UNDER TRIPS </vt:lpstr>
      <vt:lpstr>DESIGN REGISTRATION</vt:lpstr>
      <vt:lpstr>PowerPoint Presentation</vt:lpstr>
      <vt:lpstr>PATENT </vt:lpstr>
      <vt:lpstr>PATENT </vt:lpstr>
      <vt:lpstr>DESIGN REGISTRATION / PATENT FILING ? </vt:lpstr>
      <vt:lpstr>    DESIGN</vt:lpstr>
      <vt:lpstr>PATENT FILING PROCEDURE </vt:lpstr>
      <vt:lpstr>PATENT FILING PROCEDURE </vt:lpstr>
      <vt:lpstr>COPYRIGHT</vt:lpstr>
      <vt:lpstr>PowerPoint Presentation</vt:lpstr>
      <vt:lpstr>TRADEMARK</vt:lpstr>
      <vt:lpstr>PowerPoint Presentation</vt:lpstr>
      <vt:lpstr>TRADEMARK TAGLINES </vt:lpstr>
      <vt:lpstr>PowerPoint Presentation</vt:lpstr>
      <vt:lpstr>REQUIREMENTS FOR TRADEMARK REGISTRATION</vt:lpstr>
      <vt:lpstr>GEOGRAPHICAL INDICATIONS</vt:lpstr>
      <vt:lpstr>PowerPoint Presentation</vt:lpstr>
      <vt:lpstr>PowerPoint Presentation</vt:lpstr>
      <vt:lpstr>The Copyright Act, 1957 Protects the rights of creators in original literary, artistic, and musical works. </vt:lpstr>
      <vt:lpstr>The Patents Act, 1970 Patents grant protection to certain new products, processes, apparatus, or any other technical inventions. </vt:lpstr>
      <vt:lpstr>The Trade Marks Act, 1999 Governs the registration and protection of trademarks in India. </vt:lpstr>
      <vt:lpstr>The Designs Act, 2000 Provides protection to industrial designs.  </vt:lpstr>
      <vt:lpstr>Goods Registration and Protection Act, 1999 Protects the geographical indications of goods and preventing unauthorized use of products associated with specific regions.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Susan Shaju</dc:creator>
  <cp:lastModifiedBy>Susan Shaju</cp:lastModifiedBy>
  <cp:revision>78</cp:revision>
  <dcterms:created xsi:type="dcterms:W3CDTF">2024-07-01T05:41:41Z</dcterms:created>
  <dcterms:modified xsi:type="dcterms:W3CDTF">2024-07-02T10:12:46Z</dcterms:modified>
</cp:coreProperties>
</file>