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345" r:id="rId18"/>
    <p:sldId id="346" r:id="rId19"/>
    <p:sldId id="347" r:id="rId20"/>
    <p:sldId id="274" r:id="rId21"/>
    <p:sldId id="278" r:id="rId22"/>
    <p:sldId id="292" r:id="rId23"/>
    <p:sldId id="275" r:id="rId24"/>
    <p:sldId id="276" r:id="rId25"/>
    <p:sldId id="277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313" r:id="rId37"/>
    <p:sldId id="289" r:id="rId38"/>
    <p:sldId id="297" r:id="rId39"/>
    <p:sldId id="291" r:id="rId40"/>
    <p:sldId id="348" r:id="rId41"/>
    <p:sldId id="290" r:id="rId42"/>
    <p:sldId id="293" r:id="rId43"/>
    <p:sldId id="294" r:id="rId44"/>
    <p:sldId id="298" r:id="rId45"/>
    <p:sldId id="295" r:id="rId46"/>
    <p:sldId id="299" r:id="rId47"/>
    <p:sldId id="296" r:id="rId48"/>
    <p:sldId id="302" r:id="rId49"/>
    <p:sldId id="303" r:id="rId50"/>
    <p:sldId id="307" r:id="rId51"/>
    <p:sldId id="308" r:id="rId52"/>
    <p:sldId id="304" r:id="rId53"/>
    <p:sldId id="306" r:id="rId54"/>
    <p:sldId id="305" r:id="rId55"/>
    <p:sldId id="309" r:id="rId56"/>
    <p:sldId id="310" r:id="rId57"/>
    <p:sldId id="311" r:id="rId58"/>
    <p:sldId id="314" r:id="rId59"/>
    <p:sldId id="312" r:id="rId60"/>
    <p:sldId id="315" r:id="rId61"/>
    <p:sldId id="316" r:id="rId62"/>
    <p:sldId id="317" r:id="rId63"/>
    <p:sldId id="318" r:id="rId64"/>
    <p:sldId id="341" r:id="rId65"/>
    <p:sldId id="319" r:id="rId66"/>
    <p:sldId id="321" r:id="rId67"/>
    <p:sldId id="322" r:id="rId68"/>
    <p:sldId id="323" r:id="rId69"/>
    <p:sldId id="324" r:id="rId70"/>
    <p:sldId id="325" r:id="rId71"/>
    <p:sldId id="328" r:id="rId72"/>
    <p:sldId id="329" r:id="rId73"/>
    <p:sldId id="326" r:id="rId74"/>
    <p:sldId id="327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7" autoAdjust="0"/>
    <p:restoredTop sz="94660"/>
  </p:normalViewPr>
  <p:slideViewPr>
    <p:cSldViewPr snapToGrid="0">
      <p:cViewPr varScale="1">
        <p:scale>
          <a:sx n="74" d="100"/>
          <a:sy n="74" d="100"/>
        </p:scale>
        <p:origin x="4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viewProps" Target="view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heme" Target="theme/theme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presProps" Target="presProps.xml"/><Relationship Id="rId9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notesMaster" Target="notesMasters/notes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A9AE65-51E2-48C8-A124-DEEE17D7BCB7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01C6B-0FBA-4276-B9D6-1963D7EDF5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24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receiver operating characteristic curve (ROC curve)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D01C6B-0FBA-4276-B9D6-1963D7EDF5EE}" type="slidenum">
              <a:rPr lang="en-IN" smtClean="0"/>
              <a:t>72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170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3F0282-B160-F347-81B8-3B85129EC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B8D4F8E7-312E-A026-10D0-C94C1EBD8A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CCA7FD5-E6CC-D01B-CBF3-7561C52A3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A5ABA8C-8634-C618-3B8B-71383FBC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B917010-A934-6CE1-FF42-41ACE8BF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456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D6AD21-78DB-2600-F729-EB9B3BF56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36B8396-5429-ACE5-CDD9-C12163B26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9C9DB10-972E-C043-70BF-0E6EF5CEB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DD0F5B4-C213-64F7-767B-EF1250127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4FF35CD2-BEAA-C6FE-0FD2-BECE16EDE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684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4D4CFB5-E2D6-CD7A-2791-35083175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C6EA632-5C35-554D-B1AC-746F8DC07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EF861B2-DF93-6E79-4422-B5F486A82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68A846A-16E6-DDCF-C965-251BECF47A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2B7B11F1-E4D8-F9F5-C365-DDF9B2D25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75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BE75852-0C88-FB9D-2FD4-920C94493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55B7B11-32FB-B666-24BA-0403AB9E7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A2915EA6-A1B0-0050-4F6F-B170025691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9DC4633-0C4B-F7C5-0122-817872BBB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0D29DC49-D8AD-8C72-3089-9D53853AB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147BD4C-E63C-0F5E-424B-04964B490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8433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9D501B9-89AE-1B1C-1983-2332ABF8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D45D8842-6E55-F5B5-2C76-221414C91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C5ABF054-5969-7579-5092-C2996D4EF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D73A992-F6EA-AB81-A644-7189F1DD0B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BE7CF2CE-2663-B0C8-9DC8-274762EE8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3C418524-AD5D-9CC9-674E-4913BD67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42B81AF7-BA1D-FC63-7895-31C681F59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9FA43E50-0F08-D659-5E09-27C2A2CE4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258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34F55AE-169A-A6E3-AD23-E480947E7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69299AC-5309-3073-A94D-BF6619E5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85AC1BC-ACD8-EB3A-0E82-F0C1C913C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1C595FE-DA33-EC17-DABF-7EEF1277A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7419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F627EED-5C48-F661-F175-18DAA3B37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6D22D2D7-F0F0-CA79-B992-A654FFDB4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0F6611DA-130A-E45B-09F3-52BF82BDA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0308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3260AF-3773-41FF-D62D-78EEE8FE9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49577CC-3664-6DC6-085F-C09D59399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23F2B3A7-1BE9-A381-A622-330E857D2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D54F7EAF-68AB-4816-8A66-67CC93904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3B543EA1-6F30-7FA2-5CE9-A2E35AE42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7D6707DA-7AFF-C950-CCD7-D6E2F7491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2015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235365A-B1B0-4A91-2F7C-FAC67FA9A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1EBC7681-6B78-644C-B0DC-1895E05F2A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C3BD7F74-2F06-CF20-E398-4D5929B4D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37F57BAE-F4BE-ACCE-55E0-A3F33E8AB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CF30A711-6A36-7D1E-F6AD-09B113825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28469C5-F7BE-4291-7E41-0DAB46255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443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5C653D-9B8A-F965-999C-A15C76D9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87D9C12-9FD1-9C39-EBCC-968C4BB73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359584-8581-C6F9-6564-F229CA8D3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2AB0988-4308-44AD-2575-90488C7C1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BB79B4B-431A-CCF2-35BD-CC1B9884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0498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C16BB42-B986-2F25-E175-47EC7A4F05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CE41B21A-F462-10F0-42F4-1DD3B6539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5697071-6C9D-DF90-5576-2E293B4E8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74F25FE-C54A-1B83-EB42-D633EA796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40436E7-D313-E5CA-A4CD-AC58529AE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786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8281CD3E-1E7C-907B-0E78-E3EB7E3E1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BA3DA874-2F54-247E-6014-26618B01E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920DB9C-AE1D-893E-3AFB-F2123AEA38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14030-FDA6-4AB6-8884-4B03DE385A5B}" type="datetimeFigureOut">
              <a:rPr lang="en-IN" smtClean="0"/>
              <a:t>12-02-2025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D397DEB-F68A-B5DF-C427-90D0D3F4DF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E087A9C-FB9D-458F-6A71-405414CC70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8F3C8B-3822-46FA-ABCB-C40DF7E6E0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133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emf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jpeg"/><Relationship Id="rId4" Type="http://schemas.openxmlformats.org/officeDocument/2006/relationships/image" Target="../media/image36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DC11C0-89C9-745A-02A5-5049ABA5AA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9828" y="672197"/>
            <a:ext cx="11043138" cy="2387600"/>
          </a:xfrm>
        </p:spPr>
        <p:txBody>
          <a:bodyPr>
            <a:normAutofit/>
          </a:bodyPr>
          <a:lstStyle/>
          <a:p>
            <a:r>
              <a:rPr lang="en-IN" sz="6600" b="1" dirty="0"/>
              <a:t>Introduction to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5026551-7541-C40D-B6E2-739A3A9B80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22209"/>
            <a:ext cx="9144000" cy="2387599"/>
          </a:xfrm>
        </p:spPr>
        <p:txBody>
          <a:bodyPr>
            <a:normAutofit/>
          </a:bodyPr>
          <a:lstStyle/>
          <a:p>
            <a:pPr algn="r">
              <a:lnSpc>
                <a:spcPct val="200000"/>
              </a:lnSpc>
            </a:pPr>
            <a:r>
              <a:rPr lang="en-US" sz="3200" b="1" dirty="0"/>
              <a:t>Module -1 </a:t>
            </a:r>
          </a:p>
          <a:p>
            <a:pPr algn="r">
              <a:lnSpc>
                <a:spcPct val="200000"/>
              </a:lnSpc>
            </a:pPr>
            <a:r>
              <a:rPr lang="en-US" sz="3200" b="1" dirty="0"/>
              <a:t>Chapter -1 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751050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="" xmlns:a16="http://schemas.microsoft.com/office/drawing/2014/main" id="{0D7B6173-1D58-48E2-83CF-37350F315F7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="" xmlns:a16="http://schemas.microsoft.com/office/drawing/2014/main" id="{BE149CDF-5DAC-4860-A285-9492CF2090A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7" name="Picture 1036">
            <a:extLst>
              <a:ext uri="{FF2B5EF4-FFF2-40B4-BE49-F238E27FC236}">
                <a16:creationId xmlns="" xmlns:a16="http://schemas.microsoft.com/office/drawing/2014/main" id="{B0DAC8FB-A162-44E3-A606-C855A03A5B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039" name="Rectangle 1038">
            <a:extLst>
              <a:ext uri="{FF2B5EF4-FFF2-40B4-BE49-F238E27FC236}">
                <a16:creationId xmlns="" xmlns:a16="http://schemas.microsoft.com/office/drawing/2014/main" id="{21BDEC81-16A7-4451-B893-C15000083B7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="" xmlns:a16="http://schemas.microsoft.com/office/drawing/2014/main" id="{26A515A1-4D80-430E-BE0A-71A290516A8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3286EF-BF5E-5F60-D8EA-ACE4018D3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106" y="905011"/>
            <a:ext cx="4904159" cy="1219211"/>
          </a:xfrm>
        </p:spPr>
        <p:txBody>
          <a:bodyPr anchor="b">
            <a:normAutofit/>
          </a:bodyPr>
          <a:lstStyle/>
          <a:p>
            <a:r>
              <a:rPr lang="en-US" sz="4100" dirty="0"/>
              <a:t>First Encounter of Machine Learning </a:t>
            </a:r>
            <a:endParaRPr lang="en-IN" sz="41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C018170-C7BE-64AD-B5E0-346044977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83" y="2133623"/>
            <a:ext cx="5080574" cy="371853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The computer program was </a:t>
            </a:r>
            <a:r>
              <a:rPr lang="en-IN" sz="2000" b="1" dirty="0">
                <a:solidFill>
                  <a:srgbClr val="FF0000"/>
                </a:solidFill>
              </a:rPr>
              <a:t>IBM’s Deep Blue </a:t>
            </a:r>
            <a:r>
              <a:rPr lang="en-IN" sz="2000" dirty="0"/>
              <a:t>and it defeated world chess champion, Gary Kasparov.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While Deep Blue was searching some 200 million positions per second,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Kasparov was searching not more than 5–10 positions probably, per second.</a:t>
            </a:r>
          </a:p>
          <a:p>
            <a:pPr marL="0" indent="0">
              <a:lnSpc>
                <a:spcPct val="150000"/>
              </a:lnSpc>
              <a:buNone/>
            </a:pPr>
            <a:endParaRPr lang="en-IN" sz="2000" dirty="0"/>
          </a:p>
          <a:p>
            <a:pPr>
              <a:lnSpc>
                <a:spcPct val="150000"/>
              </a:lnSpc>
            </a:pPr>
            <a:endParaRPr lang="en-IN" sz="2000" dirty="0"/>
          </a:p>
        </p:txBody>
      </p:sp>
      <p:pic>
        <p:nvPicPr>
          <p:cNvPr id="1028" name="Picture 4" descr="On this day: Chess match between Deep Blue and Garry Kasparov, Mark Spitz  and more">
            <a:extLst>
              <a:ext uri="{FF2B5EF4-FFF2-40B4-BE49-F238E27FC236}">
                <a16:creationId xmlns="" xmlns:a16="http://schemas.microsoft.com/office/drawing/2014/main" id="{087DD3C3-655F-5501-5C48-A46699D50A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60" r="-1" b="-1"/>
          <a:stretch/>
        </p:blipFill>
        <p:spPr bwMode="auto">
          <a:xfrm>
            <a:off x="5806257" y="794140"/>
            <a:ext cx="6107166" cy="5058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519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86D376-3E6A-1465-808F-E237055A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0801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Continue….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8BB812F-6C61-0CB0-B128-00F33F1F1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57" y="953427"/>
            <a:ext cx="11030243" cy="5405169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It can recommend toys to toddlers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It can suggest a technology book to a geek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It recommends  rich title in literature to a writer.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It predicts the future market to help amateur traders compete with seasoned stock traders.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 It helps an oncologist find whether a tumour is malignant or benign.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It helps in optimizing energy consumption thus helping the cause of Green Earth. </a:t>
            </a:r>
          </a:p>
        </p:txBody>
      </p:sp>
    </p:spTree>
    <p:extLst>
      <p:ext uri="{BB962C8B-B14F-4D97-AF65-F5344CB8AC3E}">
        <p14:creationId xmlns:p14="http://schemas.microsoft.com/office/powerpoint/2010/main" val="3593875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371ADF-4223-5595-2725-52300E86E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7F8CF6C-7D55-2252-C1C5-D10D93CDA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051" y="1477368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Google has become one of the front-runners focusing a lot of its research on machine learning and artificial intelligence – 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Google self-driving car (Sebastian </a:t>
            </a:r>
            <a:r>
              <a:rPr lang="en-IN" dirty="0" err="1"/>
              <a:t>Thrun</a:t>
            </a:r>
            <a:r>
              <a:rPr lang="en-IN" dirty="0"/>
              <a:t>, the former director of the Stanford Artificial Intelligence Laboratory (SAIL</a:t>
            </a:r>
            <a:r>
              <a:rPr lang="en-IN" dirty="0" smtClean="0"/>
              <a:t>) 2009)</a:t>
            </a:r>
            <a:endParaRPr lang="en-IN" dirty="0"/>
          </a:p>
          <a:p>
            <a:pPr lvl="1">
              <a:lnSpc>
                <a:spcPct val="150000"/>
              </a:lnSpc>
            </a:pPr>
            <a:r>
              <a:rPr lang="en-IN" dirty="0"/>
              <a:t>Google </a:t>
            </a:r>
            <a:r>
              <a:rPr lang="en-IN" dirty="0" smtClean="0"/>
              <a:t>Brain (Enable robots </a:t>
            </a:r>
            <a:r>
              <a:rPr lang="en-IN" dirty="0"/>
              <a:t>to complete tasks by learning from </a:t>
            </a:r>
            <a:r>
              <a:rPr lang="en-IN" dirty="0" smtClean="0"/>
              <a:t>experience</a:t>
            </a:r>
            <a:r>
              <a:rPr lang="en-IN" dirty="0"/>
              <a:t>, Andrew Ng </a:t>
            </a:r>
            <a:r>
              <a:rPr lang="en-IN" dirty="0" smtClean="0"/>
              <a:t>)</a:t>
            </a:r>
            <a:endParaRPr lang="en-IN" dirty="0"/>
          </a:p>
        </p:txBody>
      </p:sp>
      <p:pic>
        <p:nvPicPr>
          <p:cNvPr id="2050" name="Picture 2" descr="Google's Latest Self-Driving Car Prototypes Are Now On Mountain View  Streets | TechCrunch">
            <a:extLst>
              <a:ext uri="{FF2B5EF4-FFF2-40B4-BE49-F238E27FC236}">
                <a16:creationId xmlns="" xmlns:a16="http://schemas.microsoft.com/office/drawing/2014/main" id="{7EA161E4-4AC1-A5DC-F766-37F36CC7B1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4520" y="5061943"/>
            <a:ext cx="299085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oogle Brain Logo Design by Viraj Trivedi on Dribbble">
            <a:extLst>
              <a:ext uri="{FF2B5EF4-FFF2-40B4-BE49-F238E27FC236}">
                <a16:creationId xmlns="" xmlns:a16="http://schemas.microsoft.com/office/drawing/2014/main" id="{E9623C87-7FE9-ED76-18E2-B75EFB0702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38" b="33029"/>
          <a:stretch/>
        </p:blipFill>
        <p:spPr bwMode="auto">
          <a:xfrm>
            <a:off x="9403307" y="6230203"/>
            <a:ext cx="2466975" cy="627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Man Behind the Google Brain: Andrew Ng and the Quest for the New AI |  WIRED">
            <a:extLst>
              <a:ext uri="{FF2B5EF4-FFF2-40B4-BE49-F238E27FC236}">
                <a16:creationId xmlns="" xmlns:a16="http://schemas.microsoft.com/office/drawing/2014/main" id="{404B21D6-65C3-BF62-102F-70524F5D7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3307" y="4726875"/>
            <a:ext cx="2179092" cy="1450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s://upload.wikimedia.org/wikipedia/commons/thumb/7/71/Sebastian_Thrun_by_Christopher_Michel_-_6.jpg/220px-Sebastian_Thrun_by_Christopher_Michel_-_6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1966" y="4569513"/>
            <a:ext cx="1591754" cy="2199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60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3723877-713B-71B9-A012-85E59960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1" y="19220"/>
            <a:ext cx="10515600" cy="66181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The Evolution of Machine Learning</a:t>
            </a:r>
            <a:endParaRPr lang="en-IN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="" xmlns:a16="http://schemas.microsoft.com/office/drawing/2014/main" id="{BB1AEEBF-6896-5442-D90B-5B6ED53D14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3411" y="1140919"/>
            <a:ext cx="5662274" cy="5571792"/>
          </a:xfrm>
        </p:spPr>
      </p:pic>
      <p:pic>
        <p:nvPicPr>
          <p:cNvPr id="2050" name="Picture 2" descr="Alan turing: the visionary mathematician who pioneered modern computing">
            <a:extLst>
              <a:ext uri="{FF2B5EF4-FFF2-40B4-BE49-F238E27FC236}">
                <a16:creationId xmlns="" xmlns:a16="http://schemas.microsoft.com/office/drawing/2014/main" id="{AFA12CBD-1A57-78D2-0D8E-2B5ADDA45C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7876" y="557376"/>
            <a:ext cx="2847975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What is the Turing Test? | Definition from TechTarget">
            <a:extLst>
              <a:ext uri="{FF2B5EF4-FFF2-40B4-BE49-F238E27FC236}">
                <a16:creationId xmlns="" xmlns:a16="http://schemas.microsoft.com/office/drawing/2014/main" id="{B35D8966-81FD-7C67-C5E4-548372EFAF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755" y="2794879"/>
            <a:ext cx="4052006" cy="2758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tanford Cart">
            <a:extLst>
              <a:ext uri="{FF2B5EF4-FFF2-40B4-BE49-F238E27FC236}">
                <a16:creationId xmlns="" xmlns:a16="http://schemas.microsoft.com/office/drawing/2014/main" id="{1479D53E-9A1A-F6C4-CD74-65E3F2B53D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4936" y="557376"/>
            <a:ext cx="2076450" cy="220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6301180" y="5348206"/>
            <a:ext cx="592721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🚗 </a:t>
            </a:r>
            <a:r>
              <a:rPr lang="en-IN" sz="1600" b="1" dirty="0" smtClean="0"/>
              <a:t>1961</a:t>
            </a:r>
            <a:r>
              <a:rPr lang="en-IN" sz="1600" dirty="0" smtClean="0"/>
              <a:t> </a:t>
            </a:r>
            <a:r>
              <a:rPr lang="en-IN" sz="1600" dirty="0"/>
              <a:t>– Stanford Cart (First autonomous wheeled robot).</a:t>
            </a:r>
            <a:br>
              <a:rPr lang="en-IN" sz="1600" dirty="0"/>
            </a:br>
            <a:r>
              <a:rPr lang="en-IN" sz="1600" dirty="0"/>
              <a:t>🚗 </a:t>
            </a:r>
            <a:r>
              <a:rPr lang="en-IN" sz="1600" b="1" dirty="0"/>
              <a:t>1986</a:t>
            </a:r>
            <a:r>
              <a:rPr lang="en-IN" sz="1600" dirty="0"/>
              <a:t> – Mercedes-Benz (First AI-based self-driving car).</a:t>
            </a:r>
            <a:br>
              <a:rPr lang="en-IN" sz="1600" dirty="0"/>
            </a:br>
            <a:r>
              <a:rPr lang="en-IN" sz="1600" dirty="0"/>
              <a:t>🚛 </a:t>
            </a:r>
            <a:r>
              <a:rPr lang="en-IN" sz="1600" b="1" dirty="0"/>
              <a:t>2004-2007</a:t>
            </a:r>
            <a:r>
              <a:rPr lang="en-IN" sz="1600" dirty="0"/>
              <a:t> – DARPA Grand Challenge (Major innovation in self-driving cars).</a:t>
            </a:r>
            <a:br>
              <a:rPr lang="en-IN" sz="1600" dirty="0"/>
            </a:br>
            <a:r>
              <a:rPr lang="en-IN" sz="1600" dirty="0"/>
              <a:t>🚕 </a:t>
            </a:r>
            <a:r>
              <a:rPr lang="en-IN" sz="1600" b="1" dirty="0"/>
              <a:t>2010+</a:t>
            </a:r>
            <a:r>
              <a:rPr lang="en-IN" sz="1600" dirty="0"/>
              <a:t> – Google/</a:t>
            </a:r>
            <a:r>
              <a:rPr lang="en-IN" sz="1600" dirty="0" err="1"/>
              <a:t>Waymo</a:t>
            </a:r>
            <a:r>
              <a:rPr lang="en-IN" sz="1600" dirty="0"/>
              <a:t>, Tesla, and others advance self-driving technology.</a:t>
            </a:r>
          </a:p>
        </p:txBody>
      </p:sp>
    </p:spTree>
    <p:extLst>
      <p:ext uri="{BB962C8B-B14F-4D97-AF65-F5344CB8AC3E}">
        <p14:creationId xmlns:p14="http://schemas.microsoft.com/office/powerpoint/2010/main" val="3178643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1287F37B-46C9-F009-9B74-44564ECE19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8275" y="643466"/>
            <a:ext cx="9675449" cy="5571067"/>
          </a:xfrm>
          <a:prstGeom prst="rect">
            <a:avLst/>
          </a:prstGeom>
        </p:spPr>
      </p:pic>
      <p:pic>
        <p:nvPicPr>
          <p:cNvPr id="3074" name="Picture 2" descr="On 'Jeopardy!' Watson Win Is All but Trivial - The New York Times">
            <a:extLst>
              <a:ext uri="{FF2B5EF4-FFF2-40B4-BE49-F238E27FC236}">
                <a16:creationId xmlns="" xmlns:a16="http://schemas.microsoft.com/office/drawing/2014/main" id="{B0549CE7-3A06-6A43-A8CB-B77FBF52F9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055" y="5276850"/>
            <a:ext cx="288607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Artificial intelligence: Google's AlphaGo beats Go master Lee Se-dol - BBC  News">
            <a:extLst>
              <a:ext uri="{FF2B5EF4-FFF2-40B4-BE49-F238E27FC236}">
                <a16:creationId xmlns="" xmlns:a16="http://schemas.microsoft.com/office/drawing/2014/main" id="{D71BF7F2-CE64-143A-1A70-68C107AE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0521" y="5276850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860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8D94510-A60E-92A3-9B8F-13591A9CB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1.2 WHAT IS HUMAN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2E5ED19-1CD2-A362-5591-E7C7BAA908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In our daily life, we need to carry out multiple activities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Simple or it may be some complex task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To do a task in a proper way, we need to have prior information on one or more things related to the task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As we keep learning more or in other words acquiring more information, the efficiency in doing the tasks keep improving.</a:t>
            </a:r>
          </a:p>
        </p:txBody>
      </p:sp>
    </p:spTree>
    <p:extLst>
      <p:ext uri="{BB962C8B-B14F-4D97-AF65-F5344CB8AC3E}">
        <p14:creationId xmlns:p14="http://schemas.microsoft.com/office/powerpoint/2010/main" val="580544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CC4E88D-FF75-7377-7D95-393BE963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1.3 TYPES OF HUMAN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FB9842-A533-B979-929C-7C119BB59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302" y="1505243"/>
            <a:ext cx="10875498" cy="498763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Human learning happens in one of the three ways –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(1) Either somebody who is an expert in the subject directly 			reaches us.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(2) We build our own notion indirectly based on what we have 			learnt from the expert in the past.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(3) We do it ourselves, may be after multiple attempts, some being 		unsuccessful.</a:t>
            </a:r>
          </a:p>
        </p:txBody>
      </p:sp>
    </p:spTree>
    <p:extLst>
      <p:ext uri="{BB962C8B-B14F-4D97-AF65-F5344CB8AC3E}">
        <p14:creationId xmlns:p14="http://schemas.microsoft.com/office/powerpoint/2010/main" val="2089401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81E753C-E64A-6903-0F36-09F454A46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1.3.1 Learning under expert guidance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E89704A-BA6F-9811-D26F-CD30F6BC27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1431730"/>
            <a:ext cx="10515600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Falls under the category of learning directly under expert guidance</a:t>
            </a:r>
          </a:p>
          <a:p>
            <a:pPr>
              <a:lnSpc>
                <a:spcPct val="150000"/>
              </a:lnSpc>
            </a:pPr>
            <a:r>
              <a:rPr lang="en-IN" dirty="0"/>
              <a:t>Guided learning is the process of gaining information from a person having sufficient knowledge due to the past experience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pic>
        <p:nvPicPr>
          <p:cNvPr id="3074" name="Picture 2" descr="3 Ways for the Effective Use of Guided Learning in Sales Training  [Infographic]">
            <a:extLst>
              <a:ext uri="{FF2B5EF4-FFF2-40B4-BE49-F238E27FC236}">
                <a16:creationId xmlns="" xmlns:a16="http://schemas.microsoft.com/office/drawing/2014/main" id="{168AC062-6703-B233-8FC8-7B7983786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1074" y="3807370"/>
            <a:ext cx="6751102" cy="2785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5531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5E4FB9A-2D1A-D9E4-9B94-7BD81A787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1.3.2 Learning guided by knowledge gained from experts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540D318-9EC4-5FBB-A504-117CCD339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The second type falls under learning guided by knowledge gained from experts</a:t>
            </a:r>
          </a:p>
          <a:p>
            <a:pPr>
              <a:lnSpc>
                <a:spcPct val="150000"/>
              </a:lnSpc>
            </a:pPr>
            <a:r>
              <a:rPr lang="en-IN" dirty="0"/>
              <a:t>There is no direct learning. It is some past information shared on some different context, which is used as a learning to make decisions</a:t>
            </a:r>
          </a:p>
        </p:txBody>
      </p:sp>
    </p:spTree>
    <p:extLst>
      <p:ext uri="{BB962C8B-B14F-4D97-AF65-F5344CB8AC3E}">
        <p14:creationId xmlns:p14="http://schemas.microsoft.com/office/powerpoint/2010/main" val="256420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E95EDC-DA86-9C39-D47D-BA43FA6A7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1.3.3 Learning by 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6C9D1E4-A4BC-0F81-C4B7-190BADB8D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Third type is learning by self or self-learning</a:t>
            </a:r>
          </a:p>
          <a:p>
            <a:pPr>
              <a:lnSpc>
                <a:spcPct val="150000"/>
              </a:lnSpc>
            </a:pPr>
            <a:r>
              <a:rPr lang="en-IN" dirty="0"/>
              <a:t>Humans are left to learn on their own</a:t>
            </a:r>
          </a:p>
          <a:p>
            <a:pPr>
              <a:lnSpc>
                <a:spcPct val="150000"/>
              </a:lnSpc>
            </a:pPr>
            <a:r>
              <a:rPr lang="en-IN" dirty="0"/>
              <a:t>Not all things are taught by others</a:t>
            </a:r>
          </a:p>
          <a:p>
            <a:pPr>
              <a:lnSpc>
                <a:spcPct val="150000"/>
              </a:lnSpc>
            </a:pPr>
            <a:r>
              <a:rPr lang="en-IN" dirty="0"/>
              <a:t>A lot of things need to be learnt only from mistakes made in the past.</a:t>
            </a:r>
          </a:p>
        </p:txBody>
      </p:sp>
    </p:spTree>
    <p:extLst>
      <p:ext uri="{BB962C8B-B14F-4D97-AF65-F5344CB8AC3E}">
        <p14:creationId xmlns:p14="http://schemas.microsoft.com/office/powerpoint/2010/main" val="58172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EEC831C-81B4-E2EC-55AA-30CB8F07F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1.4 WHAT IS MACHINE LEARNING?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F25DCB9-D477-BE4B-AF3C-4C4E228E2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‘A computer program is said to learn from experience </a:t>
            </a:r>
            <a:r>
              <a:rPr lang="en-IN" dirty="0">
                <a:solidFill>
                  <a:srgbClr val="FF0000"/>
                </a:solidFill>
              </a:rPr>
              <a:t>E</a:t>
            </a:r>
            <a:r>
              <a:rPr lang="en-IN" dirty="0"/>
              <a:t> with respect to some class of tasks </a:t>
            </a:r>
            <a:r>
              <a:rPr lang="en-IN" dirty="0">
                <a:solidFill>
                  <a:srgbClr val="FF0000"/>
                </a:solidFill>
              </a:rPr>
              <a:t>T</a:t>
            </a:r>
            <a:r>
              <a:rPr lang="en-IN" dirty="0"/>
              <a:t> and performance measure </a:t>
            </a:r>
            <a:r>
              <a:rPr lang="en-IN" dirty="0">
                <a:solidFill>
                  <a:srgbClr val="FF0000"/>
                </a:solidFill>
              </a:rPr>
              <a:t>P</a:t>
            </a:r>
            <a:r>
              <a:rPr lang="en-IN" dirty="0"/>
              <a:t>, if its performance at tasks in </a:t>
            </a:r>
            <a:r>
              <a:rPr lang="en-IN" dirty="0">
                <a:solidFill>
                  <a:srgbClr val="FF0000"/>
                </a:solidFill>
              </a:rPr>
              <a:t>T</a:t>
            </a:r>
            <a:r>
              <a:rPr lang="en-IN" dirty="0"/>
              <a:t>, as measured by </a:t>
            </a:r>
            <a:r>
              <a:rPr lang="en-IN" dirty="0">
                <a:solidFill>
                  <a:srgbClr val="FF0000"/>
                </a:solidFill>
              </a:rPr>
              <a:t>P</a:t>
            </a:r>
            <a:r>
              <a:rPr lang="en-IN" dirty="0"/>
              <a:t>, improves with experience </a:t>
            </a:r>
            <a:r>
              <a:rPr lang="en-IN" dirty="0">
                <a:solidFill>
                  <a:srgbClr val="FF0000"/>
                </a:solidFill>
              </a:rPr>
              <a:t>E.</a:t>
            </a:r>
            <a:r>
              <a:rPr lang="en-IN" dirty="0"/>
              <a:t>’</a:t>
            </a:r>
          </a:p>
          <a:p>
            <a:pPr marL="0" indent="0" algn="r">
              <a:lnSpc>
                <a:spcPct val="150000"/>
              </a:lnSpc>
              <a:buNone/>
            </a:pPr>
            <a:r>
              <a:rPr lang="en-IN" sz="1800" b="0" i="0" u="none" strike="noStrike" baseline="0" dirty="0">
                <a:solidFill>
                  <a:srgbClr val="FF0000"/>
                </a:solidFill>
                <a:latin typeface="LiberationSerif"/>
              </a:rPr>
              <a:t>By Tom M Mitchell, Professor of Machine Learning Department, School</a:t>
            </a:r>
          </a:p>
          <a:p>
            <a:pPr marL="0" indent="0" algn="r">
              <a:buNone/>
            </a:pPr>
            <a:r>
              <a:rPr lang="en-IN" sz="1800" b="0" i="0" u="none" strike="noStrike" baseline="0" dirty="0">
                <a:solidFill>
                  <a:srgbClr val="FF0000"/>
                </a:solidFill>
                <a:latin typeface="LiberationSerif"/>
              </a:rPr>
              <a:t>of Computer Science, Carnegie Mellon University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8797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5A21A90-6B0B-E0B0-5684-7BFD58FF1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0C72E4E-DD10-FD85-E7B8-00BBBA9C3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422" y="1016121"/>
            <a:ext cx="11058378" cy="5476753"/>
          </a:xfrm>
        </p:spPr>
        <p:txBody>
          <a:bodyPr>
            <a:normAutofit/>
          </a:bodyPr>
          <a:lstStyle/>
          <a:p>
            <a:pPr algn="just">
              <a:lnSpc>
                <a:spcPct val="160000"/>
              </a:lnSpc>
            </a:pPr>
            <a:r>
              <a:rPr lang="en-IN" dirty="0"/>
              <a:t>In the context of the learning to </a:t>
            </a:r>
            <a:r>
              <a:rPr lang="en-IN" dirty="0">
                <a:solidFill>
                  <a:srgbClr val="FF0000"/>
                </a:solidFill>
              </a:rPr>
              <a:t>play checkers</a:t>
            </a:r>
            <a:r>
              <a:rPr lang="en-IN" dirty="0"/>
              <a:t>, 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FF0000"/>
                </a:solidFill>
              </a:rPr>
              <a:t>E</a:t>
            </a:r>
            <a:r>
              <a:rPr lang="en-IN" dirty="0"/>
              <a:t> represents the </a:t>
            </a:r>
            <a:r>
              <a:rPr lang="en-IN" dirty="0">
                <a:solidFill>
                  <a:srgbClr val="FF0000"/>
                </a:solidFill>
              </a:rPr>
              <a:t>Experience </a:t>
            </a:r>
            <a:r>
              <a:rPr lang="en-IN" dirty="0"/>
              <a:t>of playing the game, 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FF0000"/>
                </a:solidFill>
              </a:rPr>
              <a:t>T</a:t>
            </a:r>
            <a:r>
              <a:rPr lang="en-IN" dirty="0"/>
              <a:t> represents the </a:t>
            </a:r>
            <a:r>
              <a:rPr lang="en-IN" dirty="0">
                <a:solidFill>
                  <a:srgbClr val="FF0000"/>
                </a:solidFill>
              </a:rPr>
              <a:t>Task</a:t>
            </a:r>
            <a:r>
              <a:rPr lang="en-IN" dirty="0"/>
              <a:t> of playing checkers and 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FF0000"/>
                </a:solidFill>
              </a:rPr>
              <a:t>P</a:t>
            </a:r>
            <a:r>
              <a:rPr lang="en-IN" dirty="0"/>
              <a:t> is the </a:t>
            </a:r>
            <a:r>
              <a:rPr lang="en-IN" dirty="0">
                <a:solidFill>
                  <a:srgbClr val="FF0000"/>
                </a:solidFill>
              </a:rPr>
              <a:t>Performance </a:t>
            </a:r>
            <a:r>
              <a:rPr lang="en-IN" dirty="0"/>
              <a:t>measure indicated by the percentage of games 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dirty="0"/>
              <a:t>	won by the player. </a:t>
            </a:r>
          </a:p>
        </p:txBody>
      </p:sp>
    </p:spTree>
    <p:extLst>
      <p:ext uri="{BB962C8B-B14F-4D97-AF65-F5344CB8AC3E}">
        <p14:creationId xmlns:p14="http://schemas.microsoft.com/office/powerpoint/2010/main" val="669908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CC9EA6-BF6A-D294-502B-724550117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601" y="379193"/>
            <a:ext cx="10397197" cy="464869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0C02DB3-E36C-8CA9-EB51-9A205506C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1" y="844062"/>
            <a:ext cx="10869638" cy="6013938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sz="3400" dirty="0"/>
              <a:t>The same mapping can be applied for any other machine learning problem, for example, </a:t>
            </a:r>
            <a:r>
              <a:rPr lang="en-IN" sz="3400" b="1" dirty="0"/>
              <a:t>Image Classification Problem</a:t>
            </a:r>
            <a:r>
              <a:rPr lang="en-IN" sz="3400" dirty="0"/>
              <a:t>. </a:t>
            </a:r>
          </a:p>
          <a:p>
            <a:pPr algn="just">
              <a:lnSpc>
                <a:spcPct val="170000"/>
              </a:lnSpc>
            </a:pPr>
            <a:r>
              <a:rPr lang="en-IN" sz="3400" dirty="0"/>
              <a:t>In context of image classification,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3400" dirty="0"/>
              <a:t>	</a:t>
            </a:r>
            <a:r>
              <a:rPr lang="en-IN" sz="3400" b="1" dirty="0">
                <a:solidFill>
                  <a:srgbClr val="FF0000"/>
                </a:solidFill>
              </a:rPr>
              <a:t>E</a:t>
            </a:r>
            <a:r>
              <a:rPr lang="en-IN" sz="3400" dirty="0"/>
              <a:t> represents the past data with images having labels or assigned classes (for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3400" dirty="0"/>
              <a:t>	example whether the image is of a class cat or a class dog or a class elephant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3400" dirty="0"/>
              <a:t>             etc.),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3400" dirty="0"/>
              <a:t>	</a:t>
            </a:r>
            <a:r>
              <a:rPr lang="en-IN" sz="3400" b="1" dirty="0">
                <a:solidFill>
                  <a:srgbClr val="FF0000"/>
                </a:solidFill>
              </a:rPr>
              <a:t>T</a:t>
            </a:r>
            <a:r>
              <a:rPr lang="en-IN" sz="3400" dirty="0"/>
              <a:t> is the task of assigning class to new, unlabelled images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3400" dirty="0"/>
              <a:t>	</a:t>
            </a:r>
            <a:r>
              <a:rPr lang="en-IN" sz="3400" b="1" dirty="0">
                <a:solidFill>
                  <a:srgbClr val="FF0000"/>
                </a:solidFill>
              </a:rPr>
              <a:t>P</a:t>
            </a:r>
            <a:r>
              <a:rPr lang="en-IN" sz="3400" dirty="0"/>
              <a:t> is the performance measure indicated by the percentage of images correctly </a:t>
            </a:r>
          </a:p>
          <a:p>
            <a:pPr marL="0" indent="0" algn="just">
              <a:lnSpc>
                <a:spcPct val="170000"/>
              </a:lnSpc>
              <a:buNone/>
            </a:pPr>
            <a:r>
              <a:rPr lang="en-IN" sz="3400" dirty="0"/>
              <a:t>	classified.</a:t>
            </a:r>
          </a:p>
          <a:p>
            <a:pPr>
              <a:lnSpc>
                <a:spcPct val="17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54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75311FE-00D2-E8F5-35AE-77447A293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1.4.1 How do machines learn?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98AFCB9-70B5-32DE-201D-54F5F23B5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The basic machine learning process can be divided into three parts.</a:t>
            </a:r>
          </a:p>
          <a:p>
            <a:pPr marL="0" indent="0">
              <a:buNone/>
            </a:pPr>
            <a:r>
              <a:rPr lang="en-IN" dirty="0"/>
              <a:t>	1. </a:t>
            </a:r>
            <a:r>
              <a:rPr lang="en-IN" b="1" dirty="0">
                <a:solidFill>
                  <a:srgbClr val="FF0000"/>
                </a:solidFill>
              </a:rPr>
              <a:t>Data Input: </a:t>
            </a:r>
            <a:r>
              <a:rPr lang="en-IN" dirty="0"/>
              <a:t>Past data or information is utilized as a basis for </a:t>
            </a:r>
          </a:p>
          <a:p>
            <a:pPr marL="0" indent="0">
              <a:buNone/>
            </a:pPr>
            <a:r>
              <a:rPr lang="en-IN" dirty="0"/>
              <a:t>                future decision-making</a:t>
            </a:r>
          </a:p>
          <a:p>
            <a:pPr marL="0" indent="0">
              <a:buNone/>
            </a:pPr>
            <a:r>
              <a:rPr lang="en-IN" dirty="0"/>
              <a:t>	2. </a:t>
            </a:r>
            <a:r>
              <a:rPr lang="en-IN" b="1" dirty="0">
                <a:solidFill>
                  <a:srgbClr val="FF0000"/>
                </a:solidFill>
              </a:rPr>
              <a:t>Abstraction:</a:t>
            </a:r>
            <a:r>
              <a:rPr lang="en-IN" b="1" dirty="0"/>
              <a:t> </a:t>
            </a:r>
            <a:r>
              <a:rPr lang="en-IN" dirty="0"/>
              <a:t>The input data is represented in a broader way </a:t>
            </a:r>
          </a:p>
          <a:p>
            <a:pPr marL="0" indent="0">
              <a:buNone/>
            </a:pPr>
            <a:r>
              <a:rPr lang="en-IN" dirty="0"/>
              <a:t>                through the underlying algorithm</a:t>
            </a:r>
          </a:p>
          <a:p>
            <a:pPr marL="0" indent="0">
              <a:buNone/>
            </a:pPr>
            <a:r>
              <a:rPr lang="en-IN" dirty="0"/>
              <a:t>	3. </a:t>
            </a:r>
            <a:r>
              <a:rPr lang="en-IN" b="1" dirty="0">
                <a:solidFill>
                  <a:srgbClr val="FF0000"/>
                </a:solidFill>
              </a:rPr>
              <a:t>Generalization: </a:t>
            </a:r>
            <a:r>
              <a:rPr lang="en-IN" dirty="0"/>
              <a:t>The abstracted representation is generalized </a:t>
            </a:r>
          </a:p>
          <a:p>
            <a:pPr marL="0" indent="0">
              <a:buNone/>
            </a:pPr>
            <a:r>
              <a:rPr lang="en-IN" dirty="0"/>
              <a:t>                to form a framework for making decisions</a:t>
            </a:r>
          </a:p>
        </p:txBody>
      </p:sp>
    </p:spTree>
    <p:extLst>
      <p:ext uri="{BB962C8B-B14F-4D97-AF65-F5344CB8AC3E}">
        <p14:creationId xmlns:p14="http://schemas.microsoft.com/office/powerpoint/2010/main" val="8574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7EAAAF-F817-EF7C-B37D-9F31FADC6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dirty="0"/>
              <a:t>Schematic representation of the machine</a:t>
            </a:r>
            <a:br>
              <a:rPr lang="en-IN" dirty="0"/>
            </a:br>
            <a:r>
              <a:rPr lang="en-IN" dirty="0"/>
              <a:t>learning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36448473-0E4E-D852-A653-5704D25F2E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36763" y="2682071"/>
            <a:ext cx="8714852" cy="1987443"/>
          </a:xfrm>
        </p:spPr>
      </p:pic>
    </p:spTree>
    <p:extLst>
      <p:ext uri="{BB962C8B-B14F-4D97-AF65-F5344CB8AC3E}">
        <p14:creationId xmlns:p14="http://schemas.microsoft.com/office/powerpoint/2010/main" val="37077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4699"/>
            <a:ext cx="10515600" cy="5932264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200000"/>
              </a:lnSpc>
            </a:pPr>
            <a:r>
              <a:rPr lang="en-IN" b="1" dirty="0"/>
              <a:t>Data Input:</a:t>
            </a:r>
            <a:r>
              <a:rPr lang="en-IN" dirty="0"/>
              <a:t> Collect past data for learning (e.g., house prices </a:t>
            </a:r>
            <a:r>
              <a:rPr lang="en-IN" dirty="0" smtClean="0"/>
              <a:t>).</a:t>
            </a:r>
          </a:p>
          <a:p>
            <a:r>
              <a:rPr lang="en-IN" b="1" dirty="0"/>
              <a:t>D</a:t>
            </a:r>
            <a:r>
              <a:rPr lang="en-IN" b="1" dirty="0" smtClean="0"/>
              <a:t>ata </a:t>
            </a:r>
            <a:r>
              <a:rPr lang="en-IN" b="1" dirty="0"/>
              <a:t>Input </a:t>
            </a:r>
          </a:p>
          <a:p>
            <a:pPr marL="0" indent="0">
              <a:buNone/>
            </a:pPr>
            <a:r>
              <a:rPr lang="en-IN" dirty="0" smtClean="0"/>
              <a:t>	🔹 </a:t>
            </a:r>
            <a:r>
              <a:rPr lang="en-IN" b="1" dirty="0"/>
              <a:t>Definition:</a:t>
            </a:r>
            <a:endParaRPr lang="en-IN" dirty="0"/>
          </a:p>
          <a:p>
            <a:r>
              <a:rPr lang="en-IN" dirty="0"/>
              <a:t>The model receives </a:t>
            </a:r>
            <a:r>
              <a:rPr lang="en-IN" b="1" dirty="0"/>
              <a:t>raw data</a:t>
            </a:r>
            <a:r>
              <a:rPr lang="en-IN" dirty="0"/>
              <a:t> as input.</a:t>
            </a:r>
          </a:p>
          <a:p>
            <a:r>
              <a:rPr lang="en-IN" dirty="0"/>
              <a:t>This data can be structured (e.g., databases, spreadsheets) or unstructured (e.g., images, text, videos).</a:t>
            </a:r>
          </a:p>
          <a:p>
            <a:r>
              <a:rPr lang="en-IN" dirty="0"/>
              <a:t>The goal is to </a:t>
            </a:r>
            <a:r>
              <a:rPr lang="en-IN" b="1" dirty="0"/>
              <a:t>use past data</a:t>
            </a:r>
            <a:r>
              <a:rPr lang="en-IN" dirty="0"/>
              <a:t> to make </a:t>
            </a:r>
            <a:r>
              <a:rPr lang="en-IN" b="1" dirty="0"/>
              <a:t>future predictions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 smtClean="0"/>
              <a:t>	🔹 </a:t>
            </a:r>
            <a:r>
              <a:rPr lang="en-IN" b="1" dirty="0"/>
              <a:t>Example:</a:t>
            </a:r>
            <a:endParaRPr lang="en-IN" dirty="0"/>
          </a:p>
          <a:p>
            <a:r>
              <a:rPr lang="en-IN" dirty="0"/>
              <a:t>In </a:t>
            </a:r>
            <a:r>
              <a:rPr lang="en-IN" b="1" dirty="0"/>
              <a:t>house price prediction</a:t>
            </a:r>
            <a:r>
              <a:rPr lang="en-IN" dirty="0"/>
              <a:t>, the input data includes:</a:t>
            </a:r>
          </a:p>
          <a:p>
            <a:pPr lvl="1"/>
            <a:r>
              <a:rPr lang="en-IN" dirty="0"/>
              <a:t>House size (sq. </a:t>
            </a:r>
            <a:r>
              <a:rPr lang="en-IN" dirty="0" err="1"/>
              <a:t>ft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Number of bedrooms</a:t>
            </a:r>
          </a:p>
          <a:p>
            <a:pPr lvl="1"/>
            <a:r>
              <a:rPr lang="en-IN" dirty="0"/>
              <a:t>Location</a:t>
            </a:r>
          </a:p>
          <a:p>
            <a:pPr lvl="1"/>
            <a:r>
              <a:rPr lang="en-IN" dirty="0"/>
              <a:t>Price (historical data)</a:t>
            </a:r>
          </a:p>
          <a:p>
            <a:pPr marL="0" indent="0" algn="just">
              <a:lnSpc>
                <a:spcPct val="200000"/>
              </a:lnSpc>
              <a:buNone/>
            </a:pPr>
            <a:endParaRPr lang="en-IN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7089" y="4643840"/>
            <a:ext cx="3224348" cy="214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206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668"/>
            <a:ext cx="10515600" cy="6532087"/>
          </a:xfrm>
        </p:spPr>
        <p:txBody>
          <a:bodyPr>
            <a:normAutofit fontScale="70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IN" b="1" dirty="0"/>
              <a:t>Abstraction:</a:t>
            </a:r>
            <a:r>
              <a:rPr lang="en-IN" dirty="0"/>
              <a:t> Use algorithms to find patterns in the data (e.g., price increases with house size </a:t>
            </a:r>
            <a:r>
              <a:rPr lang="en-IN" dirty="0" smtClean="0"/>
              <a:t>)</a:t>
            </a:r>
          </a:p>
          <a:p>
            <a:pPr>
              <a:lnSpc>
                <a:spcPct val="170000"/>
              </a:lnSpc>
            </a:pPr>
            <a:r>
              <a:rPr lang="en-IN" b="1" dirty="0"/>
              <a:t>Definition:</a:t>
            </a:r>
            <a:endParaRPr lang="en-IN" dirty="0"/>
          </a:p>
          <a:p>
            <a:pPr>
              <a:lnSpc>
                <a:spcPct val="170000"/>
              </a:lnSpc>
            </a:pPr>
            <a:r>
              <a:rPr lang="en-IN" dirty="0"/>
              <a:t>The </a:t>
            </a:r>
            <a:r>
              <a:rPr lang="en-IN" b="1" dirty="0"/>
              <a:t>input data is processed</a:t>
            </a:r>
            <a:r>
              <a:rPr lang="en-IN" dirty="0"/>
              <a:t> and transformed into a </a:t>
            </a:r>
            <a:r>
              <a:rPr lang="en-IN" b="1" dirty="0"/>
              <a:t>mathematical model</a:t>
            </a:r>
            <a:r>
              <a:rPr lang="en-IN" dirty="0"/>
              <a:t> using algorithms.</a:t>
            </a:r>
          </a:p>
          <a:p>
            <a:pPr>
              <a:lnSpc>
                <a:spcPct val="170000"/>
              </a:lnSpc>
            </a:pPr>
            <a:r>
              <a:rPr lang="en-IN" dirty="0"/>
              <a:t>The goal is to </a:t>
            </a:r>
            <a:r>
              <a:rPr lang="en-IN" b="1" dirty="0"/>
              <a:t>extract meaningful patterns and relationships</a:t>
            </a:r>
            <a:r>
              <a:rPr lang="en-IN" dirty="0"/>
              <a:t>.</a:t>
            </a:r>
          </a:p>
          <a:p>
            <a:pPr>
              <a:lnSpc>
                <a:spcPct val="170000"/>
              </a:lnSpc>
            </a:pPr>
            <a:r>
              <a:rPr lang="en-IN" dirty="0"/>
              <a:t>Different </a:t>
            </a:r>
            <a:r>
              <a:rPr lang="en-IN" b="1" dirty="0"/>
              <a:t>machine learning algorithms</a:t>
            </a:r>
            <a:r>
              <a:rPr lang="en-IN" dirty="0"/>
              <a:t> are used for abstraction, such as:</a:t>
            </a:r>
          </a:p>
          <a:p>
            <a:pPr lvl="1">
              <a:lnSpc>
                <a:spcPct val="170000"/>
              </a:lnSpc>
            </a:pPr>
            <a:r>
              <a:rPr lang="en-IN" b="1" dirty="0"/>
              <a:t>Linear Regression</a:t>
            </a:r>
            <a:r>
              <a:rPr lang="en-IN" dirty="0"/>
              <a:t> (for predicting continuous values)</a:t>
            </a:r>
          </a:p>
          <a:p>
            <a:pPr lvl="1">
              <a:lnSpc>
                <a:spcPct val="170000"/>
              </a:lnSpc>
            </a:pPr>
            <a:r>
              <a:rPr lang="en-IN" b="1" dirty="0"/>
              <a:t>Decision Trees</a:t>
            </a:r>
            <a:r>
              <a:rPr lang="en-IN" dirty="0"/>
              <a:t> (for classification)</a:t>
            </a:r>
          </a:p>
          <a:p>
            <a:pPr lvl="1">
              <a:lnSpc>
                <a:spcPct val="170000"/>
              </a:lnSpc>
            </a:pPr>
            <a:r>
              <a:rPr lang="en-IN" b="1" dirty="0"/>
              <a:t>Neural Networks</a:t>
            </a:r>
            <a:r>
              <a:rPr lang="en-IN" dirty="0"/>
              <a:t> (for deep learning tasks)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N" dirty="0" smtClean="0"/>
              <a:t> </a:t>
            </a:r>
            <a:r>
              <a:rPr lang="en-IN" b="1" dirty="0"/>
              <a:t>Example:</a:t>
            </a:r>
            <a:endParaRPr lang="en-IN" dirty="0"/>
          </a:p>
          <a:p>
            <a:pPr>
              <a:lnSpc>
                <a:spcPct val="170000"/>
              </a:lnSpc>
            </a:pPr>
            <a:r>
              <a:rPr lang="en-IN" dirty="0"/>
              <a:t>In </a:t>
            </a:r>
            <a:r>
              <a:rPr lang="en-IN" b="1" dirty="0"/>
              <a:t>house price prediction</a:t>
            </a:r>
            <a:r>
              <a:rPr lang="en-IN" dirty="0"/>
              <a:t>, the algorithm </a:t>
            </a:r>
            <a:r>
              <a:rPr lang="en-IN" b="1" dirty="0"/>
              <a:t>learns patterns</a:t>
            </a:r>
            <a:r>
              <a:rPr lang="en-IN" dirty="0"/>
              <a:t> such as:</a:t>
            </a:r>
          </a:p>
          <a:p>
            <a:pPr lvl="1">
              <a:lnSpc>
                <a:spcPct val="170000"/>
              </a:lnSpc>
            </a:pPr>
            <a:r>
              <a:rPr lang="en-IN" dirty="0"/>
              <a:t>"Larger houses tend to have higher prices."</a:t>
            </a:r>
          </a:p>
          <a:p>
            <a:pPr lvl="1">
              <a:lnSpc>
                <a:spcPct val="170000"/>
              </a:lnSpc>
            </a:pPr>
            <a:r>
              <a:rPr lang="en-IN" dirty="0"/>
              <a:t>"Urban areas have more expensive houses than rural areas</a:t>
            </a:r>
            <a:r>
              <a:rPr lang="en-IN" dirty="0" smtClean="0"/>
              <a:t>."</a:t>
            </a: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726" y="1897528"/>
            <a:ext cx="2867025" cy="1590675"/>
          </a:xfrm>
          <a:prstGeom prst="rect">
            <a:avLst/>
          </a:prstGeom>
        </p:spPr>
      </p:pic>
      <p:pic>
        <p:nvPicPr>
          <p:cNvPr id="2052" name="Picture 4" descr="Decision Trees: A Powerful Tool in Machine Learning | by Nidhi Gahlawat |  Mediu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6421" y="3683424"/>
            <a:ext cx="2983561" cy="2230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Regression with Keras - PyImageSearc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2952" y="2432127"/>
            <a:ext cx="4136518" cy="2502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5041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9564" y="318796"/>
            <a:ext cx="10515600" cy="6539204"/>
          </a:xfrm>
        </p:spPr>
        <p:txBody>
          <a:bodyPr>
            <a:normAutofit/>
          </a:bodyPr>
          <a:lstStyle/>
          <a:p>
            <a:pPr algn="just"/>
            <a:r>
              <a:rPr lang="en-IN" b="1" dirty="0"/>
              <a:t>Generalization:</a:t>
            </a:r>
            <a:r>
              <a:rPr lang="en-IN" dirty="0"/>
              <a:t> Apply learning to </a:t>
            </a:r>
            <a:r>
              <a:rPr lang="en-IN" b="1" dirty="0"/>
              <a:t>new cases</a:t>
            </a:r>
            <a:r>
              <a:rPr lang="en-IN" dirty="0"/>
              <a:t> (e.g., predict price of a new house ).</a:t>
            </a:r>
          </a:p>
          <a:p>
            <a:pPr algn="just"/>
            <a:r>
              <a:rPr lang="en-IN" b="1" dirty="0"/>
              <a:t>Definition:</a:t>
            </a:r>
            <a:endParaRPr lang="en-IN" dirty="0"/>
          </a:p>
          <a:p>
            <a:pPr algn="just"/>
            <a:r>
              <a:rPr lang="en-IN" dirty="0"/>
              <a:t>The model applies </a:t>
            </a:r>
            <a:r>
              <a:rPr lang="en-IN" b="1" dirty="0"/>
              <a:t>what it has learned</a:t>
            </a:r>
            <a:r>
              <a:rPr lang="en-IN" dirty="0"/>
              <a:t> to </a:t>
            </a:r>
            <a:r>
              <a:rPr lang="en-IN" b="1" dirty="0"/>
              <a:t>new, unseen data</a:t>
            </a:r>
            <a:r>
              <a:rPr lang="en-IN" dirty="0"/>
              <a:t> to make accurate predictions.</a:t>
            </a:r>
          </a:p>
          <a:p>
            <a:pPr algn="just"/>
            <a:r>
              <a:rPr lang="en-IN" dirty="0"/>
              <a:t>A good model </a:t>
            </a:r>
            <a:r>
              <a:rPr lang="en-IN" b="1" dirty="0"/>
              <a:t>doesn’t just memorize past data</a:t>
            </a:r>
            <a:r>
              <a:rPr lang="en-IN" dirty="0"/>
              <a:t> but </a:t>
            </a:r>
            <a:r>
              <a:rPr lang="en-IN" b="1" dirty="0"/>
              <a:t>generalizes well</a:t>
            </a:r>
            <a:r>
              <a:rPr lang="en-IN" dirty="0"/>
              <a:t> to real-world scenarios.</a:t>
            </a:r>
          </a:p>
          <a:p>
            <a:pPr algn="just"/>
            <a:r>
              <a:rPr lang="en-IN" dirty="0"/>
              <a:t>This step ensures that the model </a:t>
            </a:r>
            <a:r>
              <a:rPr lang="en-IN" b="1" dirty="0"/>
              <a:t>performs well on new examples</a:t>
            </a:r>
            <a:r>
              <a:rPr lang="en-IN" dirty="0"/>
              <a:t> rather than just the training data.</a:t>
            </a:r>
          </a:p>
          <a:p>
            <a:pPr marL="0" indent="0" algn="just">
              <a:buNone/>
            </a:pPr>
            <a:r>
              <a:rPr lang="en-IN" b="1" dirty="0" smtClean="0"/>
              <a:t>Example</a:t>
            </a:r>
            <a:r>
              <a:rPr lang="en-IN" b="1" dirty="0"/>
              <a:t>:</a:t>
            </a:r>
            <a:endParaRPr lang="en-IN" dirty="0"/>
          </a:p>
          <a:p>
            <a:pPr algn="just"/>
            <a:r>
              <a:rPr lang="en-IN" dirty="0"/>
              <a:t>In </a:t>
            </a:r>
            <a:r>
              <a:rPr lang="en-IN" b="1" dirty="0"/>
              <a:t>house price prediction</a:t>
            </a:r>
            <a:r>
              <a:rPr lang="en-IN" dirty="0"/>
              <a:t>, once trained, the model can </a:t>
            </a:r>
            <a:r>
              <a:rPr lang="en-IN" b="1" dirty="0"/>
              <a:t>predict the price</a:t>
            </a:r>
            <a:r>
              <a:rPr lang="en-IN" dirty="0"/>
              <a:t> of a new house based on its features.</a:t>
            </a:r>
          </a:p>
          <a:p>
            <a:pPr algn="just"/>
            <a:r>
              <a:rPr lang="en-IN" dirty="0"/>
              <a:t>The model generalizes its learning to </a:t>
            </a:r>
            <a:r>
              <a:rPr lang="en-IN" b="1" dirty="0"/>
              <a:t>new houses that were not in the original dataset</a:t>
            </a:r>
            <a:r>
              <a:rPr lang="en-IN" dirty="0"/>
              <a:t>.</a:t>
            </a:r>
          </a:p>
          <a:p>
            <a:pPr marL="0" indent="0" algn="just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4979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4553B8-C8DB-F7EF-6C4D-8086C3EC2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523" y="-253854"/>
            <a:ext cx="10515600" cy="1325563"/>
          </a:xfrm>
        </p:spPr>
        <p:txBody>
          <a:bodyPr/>
          <a:lstStyle/>
          <a:p>
            <a:r>
              <a:rPr lang="en-IN" dirty="0"/>
              <a:t>Data Input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D21D59C-FC47-CAE0-82BA-D1C019184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49" y="770548"/>
            <a:ext cx="10895428" cy="574279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During the machine learning process, knowledge is fed in the form of input data.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data cannot be used in the original shape and form.</a:t>
            </a:r>
          </a:p>
        </p:txBody>
      </p:sp>
    </p:spTree>
    <p:extLst>
      <p:ext uri="{BB962C8B-B14F-4D97-AF65-F5344CB8AC3E}">
        <p14:creationId xmlns:p14="http://schemas.microsoft.com/office/powerpoint/2010/main" val="2959568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998760-C008-770E-54A8-70727B48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1.4.1.1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43366B9-B232-E1EA-F135-0FCEEB47F4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The first part of machine learning process is abstraction i.e. abstract the knowledge which comes as input data in the form of a model.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However, this abstraction process, or more popularly training the model, is just one part of machine learning.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input data based on which the model is being finalized is known as </a:t>
            </a:r>
            <a:r>
              <a:rPr lang="en-IN" dirty="0">
                <a:solidFill>
                  <a:srgbClr val="FF0000"/>
                </a:solidFill>
              </a:rPr>
              <a:t>training data.</a:t>
            </a:r>
          </a:p>
        </p:txBody>
      </p:sp>
    </p:spTree>
    <p:extLst>
      <p:ext uri="{BB962C8B-B14F-4D97-AF65-F5344CB8AC3E}">
        <p14:creationId xmlns:p14="http://schemas.microsoft.com/office/powerpoint/2010/main" val="313778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873FB37-42BC-40AA-764A-E97FCACF9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B57D63F-A87A-5F4C-0DA7-BDC431DDE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The model may be in any one of the following forms: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Computational blocks like if/else rules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Mathematical equations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Specific data structures like trees or graphs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Logical groupings of similar observations</a:t>
            </a:r>
          </a:p>
        </p:txBody>
      </p:sp>
    </p:spTree>
    <p:extLst>
      <p:ext uri="{BB962C8B-B14F-4D97-AF65-F5344CB8AC3E}">
        <p14:creationId xmlns:p14="http://schemas.microsoft.com/office/powerpoint/2010/main" val="25348044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EC8FABE-4A8E-C9FA-AA32-2238C586C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8178"/>
            <a:ext cx="10515600" cy="315912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632E644-30F4-29D9-CBA9-727D01362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686141"/>
            <a:ext cx="10515600" cy="5841267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The decision related to the choice of model is taken based on multiple aspects, some of which are listed below:</a:t>
            </a:r>
          </a:p>
          <a:p>
            <a:pPr>
              <a:lnSpc>
                <a:spcPct val="150000"/>
              </a:lnSpc>
            </a:pPr>
            <a:r>
              <a:rPr lang="en-IN" dirty="0"/>
              <a:t>The type of problem to be solved: 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Whether the problem is related to </a:t>
            </a:r>
            <a:r>
              <a:rPr lang="en-IN" dirty="0">
                <a:solidFill>
                  <a:srgbClr val="FF0000"/>
                </a:solidFill>
              </a:rPr>
              <a:t>forecast or prediction</a:t>
            </a:r>
            <a:r>
              <a:rPr lang="en-IN" dirty="0"/>
              <a:t>, </a:t>
            </a:r>
            <a:r>
              <a:rPr lang="en-IN" dirty="0">
                <a:solidFill>
                  <a:srgbClr val="FF0000"/>
                </a:solidFill>
              </a:rPr>
              <a:t>analysis of trend</a:t>
            </a:r>
            <a:r>
              <a:rPr lang="en-IN" dirty="0"/>
              <a:t>, understanding the different segments or groups of objects, etc.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Nature of the input data</a:t>
            </a:r>
            <a:r>
              <a:rPr lang="en-IN" dirty="0"/>
              <a:t>: How </a:t>
            </a:r>
            <a:r>
              <a:rPr lang="en-IN" dirty="0">
                <a:solidFill>
                  <a:srgbClr val="FF0000"/>
                </a:solidFill>
              </a:rPr>
              <a:t>exhaustive the input data </a:t>
            </a:r>
            <a:r>
              <a:rPr lang="en-IN" dirty="0"/>
              <a:t>is, </a:t>
            </a:r>
            <a:r>
              <a:rPr lang="en-IN" dirty="0">
                <a:solidFill>
                  <a:srgbClr val="FF0000"/>
                </a:solidFill>
              </a:rPr>
              <a:t>whether the data has no values for many fields</a:t>
            </a:r>
            <a:r>
              <a:rPr lang="en-IN" dirty="0"/>
              <a:t>, the </a:t>
            </a:r>
            <a:r>
              <a:rPr lang="en-IN" dirty="0">
                <a:solidFill>
                  <a:srgbClr val="FF0000"/>
                </a:solidFill>
              </a:rPr>
              <a:t>data types</a:t>
            </a:r>
            <a:r>
              <a:rPr lang="en-IN" dirty="0"/>
              <a:t>, etc.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Domain of the problem</a:t>
            </a:r>
            <a:r>
              <a:rPr lang="en-IN" dirty="0"/>
              <a:t>: If the problem is in a business critical domain with a high rate of data input and need for immediate inference, e.g. </a:t>
            </a:r>
            <a:r>
              <a:rPr lang="en-IN" dirty="0">
                <a:solidFill>
                  <a:srgbClr val="FF0000"/>
                </a:solidFill>
              </a:rPr>
              <a:t>fraud detection problem in banking domain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9364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25A427-A89C-4751-8028-8532C9C7C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22666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9B9DBBB-12E8-F0E5-CBB9-3552DACAC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846" y="995630"/>
            <a:ext cx="11245948" cy="549724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Once the model is chosen, the next task is to fit the model based on the input data.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Let’s understand this with an example.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In a case where the model is represented by a mathematical equation, say ‘y = c1 + c2 x’, based on the input data, we have to find out the values of c1 and c2 and x.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Otherwise, the equation (or the model) is of no use.</a:t>
            </a:r>
          </a:p>
        </p:txBody>
      </p:sp>
    </p:spTree>
    <p:extLst>
      <p:ext uri="{BB962C8B-B14F-4D97-AF65-F5344CB8AC3E}">
        <p14:creationId xmlns:p14="http://schemas.microsoft.com/office/powerpoint/2010/main" val="181798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D25566D-3B32-6310-B609-51188A795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1.4.1.2 Generalization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B484310-68C2-BCB4-74E1-C69D6CC45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The other key part is to tune up the abstracted knowledge to a form which can be used to take future decisions.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This is achieved as a part of </a:t>
            </a:r>
            <a:r>
              <a:rPr lang="en-IN" dirty="0">
                <a:solidFill>
                  <a:srgbClr val="FF0000"/>
                </a:solidFill>
              </a:rPr>
              <a:t>generalization</a:t>
            </a:r>
            <a:r>
              <a:rPr lang="en-IN" dirty="0"/>
              <a:t>, which is quite difficult to achieve because the model is trained based on a finite set of data, which may possess a limited set of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2856508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651D777-6141-ECE9-E0A1-4DD2E47A2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100"/>
            <a:ext cx="10515600" cy="478937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6BCFBC8-5CCA-3BB2-BCDE-D18E99535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657" y="812751"/>
            <a:ext cx="11105271" cy="5447372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But when we want to apply the model to take decision on a set of unknown data, usually termed as </a:t>
            </a:r>
            <a:r>
              <a:rPr lang="en-IN" dirty="0">
                <a:solidFill>
                  <a:srgbClr val="FF0000"/>
                </a:solidFill>
              </a:rPr>
              <a:t>test data</a:t>
            </a:r>
            <a:r>
              <a:rPr lang="en-IN" dirty="0"/>
              <a:t>, we may encounter two problems: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/>
              <a:t>	1. The trained model is aligned with the training data too much, 	     hence may not portray the actual trend.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/>
              <a:t>	2. The test data possess certain characteristics apparently unknown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dirty="0"/>
              <a:t>                to the training data.</a:t>
            </a:r>
          </a:p>
        </p:txBody>
      </p:sp>
    </p:spTree>
    <p:extLst>
      <p:ext uri="{BB962C8B-B14F-4D97-AF65-F5344CB8AC3E}">
        <p14:creationId xmlns:p14="http://schemas.microsoft.com/office/powerpoint/2010/main" val="1124235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A558C6-712A-9BEB-81A0-9AAB4D833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1.4.2 Well-posed learning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DAD412-F6E8-90CA-3F83-02140EE39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For defining a new problem, which can be solved using machine learning, a simple framework can be used. </a:t>
            </a:r>
          </a:p>
          <a:p>
            <a:pPr>
              <a:lnSpc>
                <a:spcPct val="150000"/>
              </a:lnSpc>
            </a:pPr>
            <a:r>
              <a:rPr lang="en-IN" dirty="0"/>
              <a:t>This framework also helps in deciding whether the problem is a right candidate to be solved using machine learning.</a:t>
            </a:r>
          </a:p>
        </p:txBody>
      </p:sp>
    </p:spTree>
    <p:extLst>
      <p:ext uri="{BB962C8B-B14F-4D97-AF65-F5344CB8AC3E}">
        <p14:creationId xmlns:p14="http://schemas.microsoft.com/office/powerpoint/2010/main" val="2806822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CC7C77-E8E0-F7EE-A675-A3120036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823B6C1-9D32-53CE-D5FA-C766F6B7C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The framework involves answering three questions: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1. What is the problem?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2. Why does the problem need to be solved?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3. How to solve the problem?</a:t>
            </a:r>
          </a:p>
        </p:txBody>
      </p:sp>
    </p:spTree>
    <p:extLst>
      <p:ext uri="{BB962C8B-B14F-4D97-AF65-F5344CB8AC3E}">
        <p14:creationId xmlns:p14="http://schemas.microsoft.com/office/powerpoint/2010/main" val="35928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D4AA2F-992A-1A8D-B4CE-A8DE7DA2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What is the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F35038F-71D2-8EC1-2DF0-32588C9C10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A number of information should be collected to know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what is the problem.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Informal description of the problem</a:t>
            </a:r>
            <a:r>
              <a:rPr lang="en-IN" dirty="0"/>
              <a:t>, 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e.g. I need a program that will prompt the next word as and when I type a word.</a:t>
            </a:r>
          </a:p>
        </p:txBody>
      </p:sp>
    </p:spTree>
    <p:extLst>
      <p:ext uri="{BB962C8B-B14F-4D97-AF65-F5344CB8AC3E}">
        <p14:creationId xmlns:p14="http://schemas.microsoft.com/office/powerpoint/2010/main" val="365538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ADE3A7-7671-0978-4889-DF6B6DD1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41644"/>
          </a:xfrm>
        </p:spPr>
        <p:txBody>
          <a:bodyPr/>
          <a:lstStyle/>
          <a:p>
            <a:r>
              <a:rPr lang="en-US" dirty="0"/>
              <a:t>Example: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20C6C4A-DAD4-9758-BE1D-97615AD26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dirty="0"/>
              <a:t>Machine learning formalism stated above to define the T, P, and E for the problem.</a:t>
            </a:r>
          </a:p>
          <a:p>
            <a:r>
              <a:rPr lang="en-IN" dirty="0"/>
              <a:t>For example: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FF0000"/>
                </a:solidFill>
              </a:rPr>
              <a:t>Task (T): </a:t>
            </a:r>
            <a:r>
              <a:rPr lang="en-IN" dirty="0"/>
              <a:t>Prompt the next word when I type a word.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FF0000"/>
                </a:solidFill>
              </a:rPr>
              <a:t>Experience (E): </a:t>
            </a:r>
            <a:r>
              <a:rPr lang="en-IN" dirty="0"/>
              <a:t>A corpus of commonly used English words and</a:t>
            </a:r>
          </a:p>
          <a:p>
            <a:pPr marL="0" indent="0">
              <a:buNone/>
            </a:pPr>
            <a:r>
              <a:rPr lang="en-IN" dirty="0"/>
              <a:t>	                               phrases.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FF0000"/>
                </a:solidFill>
              </a:rPr>
              <a:t>Performance (P): </a:t>
            </a:r>
            <a:r>
              <a:rPr lang="en-IN" dirty="0"/>
              <a:t>The number of correct words prompted </a:t>
            </a:r>
          </a:p>
          <a:p>
            <a:pPr marL="0" indent="0">
              <a:buNone/>
            </a:pPr>
            <a:r>
              <a:rPr lang="en-IN" dirty="0"/>
              <a:t>           			       considered as a percentage (which in machine </a:t>
            </a:r>
          </a:p>
          <a:p>
            <a:pPr marL="0" indent="0">
              <a:buNone/>
            </a:pPr>
            <a:r>
              <a:rPr lang="en-IN" dirty="0"/>
              <a:t>                                            learning paradigm is known as </a:t>
            </a:r>
            <a:r>
              <a:rPr lang="en-IN" b="1" dirty="0">
                <a:solidFill>
                  <a:srgbClr val="FF0000"/>
                </a:solidFill>
              </a:rPr>
              <a:t>learning accuracy</a:t>
            </a:r>
            <a:r>
              <a:rPr lang="en-IN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814816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70B418-92DD-0FDB-531F-DE29BD10F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8D8AB05-1FE7-9C87-CE7D-9BACC53FE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Assumptions </a:t>
            </a:r>
            <a:r>
              <a:rPr lang="en-IN" dirty="0"/>
              <a:t>- Create a list of assumptions about the problem.</a:t>
            </a:r>
          </a:p>
          <a:p>
            <a:pPr algn="ctr">
              <a:lnSpc>
                <a:spcPct val="150000"/>
              </a:lnSpc>
            </a:pPr>
            <a:r>
              <a:rPr lang="en-IN" b="1" dirty="0"/>
              <a:t>Similar problems </a:t>
            </a:r>
          </a:p>
          <a:p>
            <a:pPr>
              <a:lnSpc>
                <a:spcPct val="150000"/>
              </a:lnSpc>
            </a:pPr>
            <a:r>
              <a:rPr lang="en-IN" dirty="0"/>
              <a:t>What other problems have you seen or can you think of that are similar to the problem that you are trying to solve?</a:t>
            </a:r>
          </a:p>
        </p:txBody>
      </p:sp>
    </p:spTree>
    <p:extLst>
      <p:ext uri="{BB962C8B-B14F-4D97-AF65-F5344CB8AC3E}">
        <p14:creationId xmlns:p14="http://schemas.microsoft.com/office/powerpoint/2010/main" val="211672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ED5F0C-FF90-D625-BFF4-1F900542E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Why does the problem need to be solved?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FA01738-3AD3-256B-A397-9F12620BA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Motivation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Solution benefits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Solution use</a:t>
            </a:r>
          </a:p>
        </p:txBody>
      </p:sp>
    </p:spTree>
    <p:extLst>
      <p:ext uri="{BB962C8B-B14F-4D97-AF65-F5344CB8AC3E}">
        <p14:creationId xmlns:p14="http://schemas.microsoft.com/office/powerpoint/2010/main" val="111597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4C5F1A-DB89-EA8E-3AF9-5C9D009F7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How would I solve the problem?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5294582-4105-8CB1-0E1C-A6D17F179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Detail out step-by-step </a:t>
            </a:r>
            <a:endParaRPr lang="en-IN" dirty="0" smtClean="0"/>
          </a:p>
          <a:p>
            <a:pPr lvl="1" algn="just">
              <a:lnSpc>
                <a:spcPct val="150000"/>
              </a:lnSpc>
            </a:pPr>
            <a:r>
              <a:rPr lang="en-IN" b="1" dirty="0" smtClean="0">
                <a:solidFill>
                  <a:srgbClr val="FF0000"/>
                </a:solidFill>
              </a:rPr>
              <a:t>data collection</a:t>
            </a:r>
            <a:r>
              <a:rPr lang="en-IN" dirty="0" smtClean="0"/>
              <a:t> </a:t>
            </a:r>
          </a:p>
          <a:p>
            <a:pPr lvl="1" algn="just">
              <a:lnSpc>
                <a:spcPct val="150000"/>
              </a:lnSpc>
            </a:pPr>
            <a:r>
              <a:rPr lang="en-IN" b="1" dirty="0" smtClean="0">
                <a:solidFill>
                  <a:srgbClr val="FF0000"/>
                </a:solidFill>
              </a:rPr>
              <a:t>data preparation</a:t>
            </a:r>
            <a:endParaRPr lang="en-IN" dirty="0" smtClean="0"/>
          </a:p>
          <a:p>
            <a:pPr lvl="1" algn="just">
              <a:lnSpc>
                <a:spcPct val="150000"/>
              </a:lnSpc>
            </a:pPr>
            <a:r>
              <a:rPr lang="en-IN" b="1" dirty="0" smtClean="0">
                <a:solidFill>
                  <a:srgbClr val="FF0000"/>
                </a:solidFill>
              </a:rPr>
              <a:t>program </a:t>
            </a:r>
            <a:r>
              <a:rPr lang="en-IN" b="1" dirty="0">
                <a:solidFill>
                  <a:srgbClr val="FF0000"/>
                </a:solidFill>
              </a:rPr>
              <a:t>design</a:t>
            </a:r>
            <a:r>
              <a:rPr lang="en-IN" dirty="0"/>
              <a:t> to solve the problem.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Collect all these details and update the previous sections of the problem definition, especially the assumptions.</a:t>
            </a:r>
          </a:p>
        </p:txBody>
      </p:sp>
    </p:spTree>
    <p:extLst>
      <p:ext uri="{BB962C8B-B14F-4D97-AF65-F5344CB8AC3E}">
        <p14:creationId xmlns:p14="http://schemas.microsoft.com/office/powerpoint/2010/main" val="2870005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4B8A40B-5C79-71E9-0818-9C6DF9122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1.5 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5A45135-7FF9-B31F-EE5B-18A72B5D7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Machine learning can be classified into three broad categories:</a:t>
            </a:r>
          </a:p>
          <a:p>
            <a:pPr marL="0" indent="0">
              <a:buNone/>
            </a:pPr>
            <a:r>
              <a:rPr lang="en-IN" dirty="0"/>
              <a:t>	1. </a:t>
            </a:r>
            <a:r>
              <a:rPr lang="en-IN" b="1" dirty="0">
                <a:solidFill>
                  <a:srgbClr val="FF0000"/>
                </a:solidFill>
              </a:rPr>
              <a:t>Supervised learning </a:t>
            </a:r>
            <a:r>
              <a:rPr lang="en-IN" dirty="0"/>
              <a:t>– Also called </a:t>
            </a:r>
            <a:r>
              <a:rPr lang="en-IN" b="1" dirty="0"/>
              <a:t>predictive learning</a:t>
            </a:r>
            <a:r>
              <a:rPr lang="en-IN" dirty="0"/>
              <a:t>. A </a:t>
            </a:r>
          </a:p>
          <a:p>
            <a:pPr marL="0" indent="0">
              <a:buNone/>
            </a:pPr>
            <a:r>
              <a:rPr lang="en-IN" dirty="0"/>
              <a:t>	machine predicts the class of unknown objects based on prior </a:t>
            </a:r>
          </a:p>
          <a:p>
            <a:pPr marL="0" indent="0">
              <a:buNone/>
            </a:pPr>
            <a:r>
              <a:rPr lang="en-IN" dirty="0"/>
              <a:t>	class related information of similar objects.</a:t>
            </a:r>
          </a:p>
          <a:p>
            <a:pPr marL="0" indent="0">
              <a:buNone/>
            </a:pPr>
            <a:r>
              <a:rPr lang="en-IN" dirty="0"/>
              <a:t>	2. </a:t>
            </a:r>
            <a:r>
              <a:rPr lang="en-IN" b="1" dirty="0">
                <a:solidFill>
                  <a:srgbClr val="FF0000"/>
                </a:solidFill>
              </a:rPr>
              <a:t>Unsupervised learning </a:t>
            </a:r>
            <a:r>
              <a:rPr lang="en-IN" dirty="0"/>
              <a:t>– Also called </a:t>
            </a:r>
            <a:r>
              <a:rPr lang="en-IN" b="1" dirty="0"/>
              <a:t>descriptive learning</a:t>
            </a:r>
            <a:r>
              <a:rPr lang="en-IN" dirty="0"/>
              <a:t>. A </a:t>
            </a:r>
          </a:p>
          <a:p>
            <a:pPr marL="0" indent="0">
              <a:buNone/>
            </a:pPr>
            <a:r>
              <a:rPr lang="en-IN" dirty="0"/>
              <a:t>	machine finds patterns in unknown objects by grouping similar </a:t>
            </a:r>
          </a:p>
          <a:p>
            <a:pPr marL="0" indent="0">
              <a:buNone/>
            </a:pPr>
            <a:r>
              <a:rPr lang="en-IN" dirty="0"/>
              <a:t>	objects together.</a:t>
            </a:r>
          </a:p>
          <a:p>
            <a:pPr marL="0" indent="0">
              <a:buNone/>
            </a:pPr>
            <a:r>
              <a:rPr lang="en-IN" dirty="0"/>
              <a:t>	3. </a:t>
            </a:r>
            <a:r>
              <a:rPr lang="en-IN" b="1" dirty="0">
                <a:solidFill>
                  <a:srgbClr val="FF0000"/>
                </a:solidFill>
              </a:rPr>
              <a:t>Reinforcement learning </a:t>
            </a:r>
            <a:r>
              <a:rPr lang="en-IN" dirty="0"/>
              <a:t>– A machine learns to act on its own </a:t>
            </a:r>
          </a:p>
          <a:p>
            <a:pPr marL="0" indent="0">
              <a:buNone/>
            </a:pPr>
            <a:r>
              <a:rPr lang="en-IN" dirty="0"/>
              <a:t>	to achieve the given goals.</a:t>
            </a:r>
          </a:p>
        </p:txBody>
      </p:sp>
    </p:spTree>
    <p:extLst>
      <p:ext uri="{BB962C8B-B14F-4D97-AF65-F5344CB8AC3E}">
        <p14:creationId xmlns:p14="http://schemas.microsoft.com/office/powerpoint/2010/main" val="1678560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D9EB905-4A47-FC93-EEDC-000E6B1B6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machine learning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8230FE1-1C02-7147-B469-2981943C42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314" y="2077239"/>
            <a:ext cx="9298974" cy="318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3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="" xmlns:a16="http://schemas.microsoft.com/office/drawing/2014/main" id="{AB8C311F-7253-4AED-9701-7FC0708C4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5" name="Rectangle 4104">
            <a:extLst>
              <a:ext uri="{FF2B5EF4-FFF2-40B4-BE49-F238E27FC236}">
                <a16:creationId xmlns="" xmlns:a16="http://schemas.microsoft.com/office/drawing/2014/main" id="{E2384209-CB15-4CDF-9D31-C44FD9A3F20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7" name="Rectangle 4106">
            <a:extLst>
              <a:ext uri="{FF2B5EF4-FFF2-40B4-BE49-F238E27FC236}">
                <a16:creationId xmlns="" xmlns:a16="http://schemas.microsoft.com/office/drawing/2014/main" id="{2633B3B5-CC90-43F0-8714-D31D1F3F020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09" name="Rectangle 4108">
            <a:extLst>
              <a:ext uri="{FF2B5EF4-FFF2-40B4-BE49-F238E27FC236}">
                <a16:creationId xmlns="" xmlns:a16="http://schemas.microsoft.com/office/drawing/2014/main" id="{A8D57A06-A426-446D-B02C-A2DC6B62E45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Supervised, Unsupervised, and Reinforcement Learning | by Renu Khandelwal |  Medium">
            <a:extLst>
              <a:ext uri="{FF2B5EF4-FFF2-40B4-BE49-F238E27FC236}">
                <a16:creationId xmlns="" xmlns:a16="http://schemas.microsoft.com/office/drawing/2014/main" id="{D37DF636-6672-50A0-C7A3-36B2F544F5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7200" y="581406"/>
            <a:ext cx="11277600" cy="5695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4801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A93898FF-D987-4B0E-BFB4-85F5EB356D4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08E700A8-AE52-4017-8C7E-C20956F74D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5516C1EB-8D62-4BF0-92B5-02E6AE43B1F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952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A737E5B8-8F31-4942-B159-B213C4D6D83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42A4FC2C-047E-45A5-965D-8E1E3BF09B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78F530DA-C7D1-4968-8F8A-8700C2BB2A4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538542" y="729175"/>
            <a:ext cx="11099352" cy="5399650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863CE1-6654-A7F4-037A-7AB506B29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683" y="2578106"/>
            <a:ext cx="3795840" cy="277976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Supervised learning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D0FF96FA-E736-D301-4723-4CA04CF41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71668" y="1120297"/>
            <a:ext cx="7794649" cy="444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219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7C585E9-EF83-BD0D-AA05-AE6DADF46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3D23E6E-36BD-0039-2B24-029CC7266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Simple depiction of the supervised learning process. 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Labelled training </a:t>
            </a:r>
            <a:r>
              <a:rPr lang="en-IN" dirty="0"/>
              <a:t>data containing past information comes as an input.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Based on the training data, the machine builds a </a:t>
            </a:r>
            <a:r>
              <a:rPr lang="en-IN" b="1" dirty="0">
                <a:solidFill>
                  <a:srgbClr val="FF0000"/>
                </a:solidFill>
              </a:rPr>
              <a:t>predictive model </a:t>
            </a:r>
            <a:r>
              <a:rPr lang="en-IN" dirty="0"/>
              <a:t>that can be used on </a:t>
            </a:r>
            <a:r>
              <a:rPr lang="en-IN" b="1" dirty="0">
                <a:solidFill>
                  <a:srgbClr val="FF0000"/>
                </a:solidFill>
              </a:rPr>
              <a:t>test data </a:t>
            </a:r>
            <a:r>
              <a:rPr lang="en-IN" dirty="0"/>
              <a:t>to assign a label for each record in the test data.</a:t>
            </a:r>
          </a:p>
        </p:txBody>
      </p:sp>
    </p:spTree>
    <p:extLst>
      <p:ext uri="{BB962C8B-B14F-4D97-AF65-F5344CB8AC3E}">
        <p14:creationId xmlns:p14="http://schemas.microsoft.com/office/powerpoint/2010/main" val="297005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3A8AA9-D262-ED5A-E1F9-8102A70E5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0A3F85C-F24B-840E-67B4-0ED721639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9013"/>
            <a:ext cx="10515600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IN" dirty="0"/>
              <a:t>Supervised machine learning is as good as the data used to train it. </a:t>
            </a:r>
          </a:p>
          <a:p>
            <a:pPr>
              <a:lnSpc>
                <a:spcPct val="200000"/>
              </a:lnSpc>
            </a:pPr>
            <a:r>
              <a:rPr lang="en-IN" dirty="0"/>
              <a:t>If the training data is of poor quality, the prediction will also be far from being precise.</a:t>
            </a:r>
          </a:p>
        </p:txBody>
      </p:sp>
    </p:spTree>
    <p:extLst>
      <p:ext uri="{BB962C8B-B14F-4D97-AF65-F5344CB8AC3E}">
        <p14:creationId xmlns:p14="http://schemas.microsoft.com/office/powerpoint/2010/main" val="2849748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involved in Supervised ML 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2832" y="2106490"/>
            <a:ext cx="8121471" cy="4548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914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81F6C1-2CDF-7FAC-E9F3-528875F4D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Examples of 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16F978B-EB73-2D38-49C9-7C79E4AC1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sz="2800" b="0" i="0" u="none" strike="noStrike" baseline="0" dirty="0">
                <a:solidFill>
                  <a:srgbClr val="333333"/>
                </a:solidFill>
                <a:latin typeface="Georgia" panose="02040502050405020303" pitchFamily="18" charset="0"/>
              </a:rPr>
              <a:t>Predicting the results of a game</a:t>
            </a:r>
          </a:p>
          <a:p>
            <a:pPr>
              <a:lnSpc>
                <a:spcPct val="150000"/>
              </a:lnSpc>
            </a:pPr>
            <a:r>
              <a:rPr lang="en-IN" sz="2800" b="0" i="0" u="none" strike="noStrike" baseline="0" dirty="0">
                <a:solidFill>
                  <a:srgbClr val="333333"/>
                </a:solidFill>
                <a:latin typeface="Georgia" panose="02040502050405020303" pitchFamily="18" charset="0"/>
              </a:rPr>
              <a:t>Predicting whether a tumour is malignant or benign</a:t>
            </a:r>
          </a:p>
          <a:p>
            <a:pPr>
              <a:lnSpc>
                <a:spcPct val="150000"/>
              </a:lnSpc>
            </a:pPr>
            <a:r>
              <a:rPr lang="en-IN" sz="2800" b="0" i="0" u="none" strike="noStrike" baseline="0" dirty="0">
                <a:solidFill>
                  <a:srgbClr val="333333"/>
                </a:solidFill>
                <a:latin typeface="Georgia" panose="02040502050405020303" pitchFamily="18" charset="0"/>
              </a:rPr>
              <a:t>Predicting the price of domains like real estate, stocks, etc.</a:t>
            </a:r>
          </a:p>
          <a:p>
            <a:pPr>
              <a:lnSpc>
                <a:spcPct val="150000"/>
              </a:lnSpc>
            </a:pPr>
            <a:r>
              <a:rPr lang="en-IN" sz="2800" b="0" i="0" u="none" strike="noStrike" baseline="0" dirty="0">
                <a:solidFill>
                  <a:srgbClr val="333333"/>
                </a:solidFill>
                <a:latin typeface="Georgia" panose="02040502050405020303" pitchFamily="18" charset="0"/>
              </a:rPr>
              <a:t>Classifying texts such as classifying a set of emails as spam or non-spam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530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E552E28-EE41-7386-77C3-DD6845AB8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89" y="365125"/>
            <a:ext cx="11493305" cy="1325563"/>
          </a:xfrm>
        </p:spPr>
        <p:txBody>
          <a:bodyPr/>
          <a:lstStyle/>
          <a:p>
            <a:pPr algn="ctr"/>
            <a:r>
              <a:rPr lang="en-IN" dirty="0"/>
              <a:t>Two Areas Of Supervised</a:t>
            </a:r>
            <a:br>
              <a:rPr lang="en-IN" dirty="0"/>
            </a:br>
            <a:r>
              <a:rPr lang="en-IN" dirty="0"/>
              <a:t>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EDF7F5B-AF79-8C46-6F52-1E12FF185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When we are trying to predict a categorical or nominal variable, the problem is known as a</a:t>
            </a:r>
            <a:r>
              <a:rPr lang="en-IN" dirty="0">
                <a:solidFill>
                  <a:srgbClr val="FF0000"/>
                </a:solidFill>
              </a:rPr>
              <a:t> </a:t>
            </a:r>
            <a:r>
              <a:rPr lang="en-IN" b="1" dirty="0">
                <a:solidFill>
                  <a:srgbClr val="FF0000"/>
                </a:solidFill>
              </a:rPr>
              <a:t>classification problem</a:t>
            </a:r>
            <a:r>
              <a:rPr lang="en-IN" dirty="0"/>
              <a:t>. </a:t>
            </a:r>
          </a:p>
          <a:p>
            <a:pPr>
              <a:lnSpc>
                <a:spcPct val="150000"/>
              </a:lnSpc>
            </a:pPr>
            <a:r>
              <a:rPr lang="en-IN" dirty="0"/>
              <a:t>Whereas when we are trying to predict a real valued variable, the problem falls under the category of </a:t>
            </a:r>
            <a:r>
              <a:rPr lang="en-IN" b="1" dirty="0">
                <a:solidFill>
                  <a:srgbClr val="FF0000"/>
                </a:solidFill>
              </a:rPr>
              <a:t>regression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70752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82CF4604-F9EE-4163-D9C8-A0D1F2D1C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2707" y="880704"/>
            <a:ext cx="9809708" cy="5808484"/>
          </a:xfrm>
        </p:spPr>
      </p:pic>
      <p:sp>
        <p:nvSpPr>
          <p:cNvPr id="7" name="Title 1">
            <a:extLst>
              <a:ext uri="{FF2B5EF4-FFF2-40B4-BE49-F238E27FC236}">
                <a16:creationId xmlns="" xmlns:a16="http://schemas.microsoft.com/office/drawing/2014/main" id="{A967234A-708E-AC09-5878-09061EA7B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89" y="217922"/>
            <a:ext cx="10515600" cy="1325563"/>
          </a:xfrm>
        </p:spPr>
        <p:txBody>
          <a:bodyPr/>
          <a:lstStyle/>
          <a:p>
            <a:r>
              <a:rPr lang="en-IN" dirty="0"/>
              <a:t>Classification problems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0252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="" xmlns:a16="http://schemas.microsoft.com/office/drawing/2014/main" id="{32BC26D8-82FB-445E-AA49-62A77D7C1E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="" xmlns:a16="http://schemas.microsoft.com/office/drawing/2014/main" id="{CB44330D-EA18-4254-AA95-EB49948539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D2AB3521-37B9-DED1-31B1-1AB811FAF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8" name="Picture 4" descr="Supervised And Unsupervised Machine Learning – Be on the Right Side of  Change">
            <a:extLst>
              <a:ext uri="{FF2B5EF4-FFF2-40B4-BE49-F238E27FC236}">
                <a16:creationId xmlns="" xmlns:a16="http://schemas.microsoft.com/office/drawing/2014/main" id="{A12A49FC-8894-9AD3-4CB9-D6B7A319D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011" y="491319"/>
            <a:ext cx="11237975" cy="5886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813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EFD445-2560-5E13-F17E-213813091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typical classification problems include: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05600E-5F1A-0363-743B-FB790042B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5797"/>
            <a:ext cx="10515600" cy="4786190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IN" dirty="0"/>
              <a:t>Image classification</a:t>
            </a:r>
          </a:p>
          <a:p>
            <a:pPr>
              <a:lnSpc>
                <a:spcPct val="170000"/>
              </a:lnSpc>
            </a:pPr>
            <a:r>
              <a:rPr lang="en-IN" dirty="0"/>
              <a:t>Prediction of disease</a:t>
            </a:r>
          </a:p>
          <a:p>
            <a:pPr>
              <a:lnSpc>
                <a:spcPct val="170000"/>
              </a:lnSpc>
            </a:pPr>
            <a:r>
              <a:rPr lang="en-IN" dirty="0"/>
              <a:t>Win–loss prediction of games</a:t>
            </a:r>
          </a:p>
          <a:p>
            <a:pPr>
              <a:lnSpc>
                <a:spcPct val="170000"/>
              </a:lnSpc>
            </a:pPr>
            <a:r>
              <a:rPr lang="en-IN" dirty="0"/>
              <a:t>Prediction of natural calamity like earthquake, flood, etc.</a:t>
            </a:r>
          </a:p>
          <a:p>
            <a:pPr>
              <a:lnSpc>
                <a:spcPct val="170000"/>
              </a:lnSpc>
            </a:pPr>
            <a:r>
              <a:rPr lang="en-IN" dirty="0"/>
              <a:t>Recognition of </a:t>
            </a:r>
            <a:r>
              <a:rPr lang="en-IN" dirty="0" smtClean="0"/>
              <a:t>handwriting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317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CF676B0-9FC0-2829-339A-C6D229F21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Algorithm for solving Classification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DA50646-3092-FC53-6E71-1B9A12028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Naïve Bayes, </a:t>
            </a:r>
          </a:p>
          <a:p>
            <a:pPr>
              <a:lnSpc>
                <a:spcPct val="200000"/>
              </a:lnSpc>
            </a:pPr>
            <a:r>
              <a:rPr lang="en-IN" dirty="0"/>
              <a:t>Decision tree,  </a:t>
            </a:r>
          </a:p>
          <a:p>
            <a:pPr>
              <a:lnSpc>
                <a:spcPct val="200000"/>
              </a:lnSpc>
            </a:pPr>
            <a:r>
              <a:rPr lang="en-IN" dirty="0"/>
              <a:t>k- Nearest Neighbour</a:t>
            </a:r>
          </a:p>
        </p:txBody>
      </p:sp>
    </p:spTree>
    <p:extLst>
      <p:ext uri="{BB962C8B-B14F-4D97-AF65-F5344CB8AC3E}">
        <p14:creationId xmlns:p14="http://schemas.microsoft.com/office/powerpoint/2010/main" val="1995971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C0490FF-28C4-D135-0DA2-83D6368D2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85CE293-7F65-3BA0-1AC9-65FEC9A919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200000"/>
              </a:lnSpc>
            </a:pPr>
            <a:r>
              <a:rPr lang="en-IN" dirty="0"/>
              <a:t>A regression is a </a:t>
            </a:r>
            <a:r>
              <a:rPr lang="en-IN" b="1" dirty="0">
                <a:solidFill>
                  <a:srgbClr val="FF0000"/>
                </a:solidFill>
              </a:rPr>
              <a:t>statistical technique</a:t>
            </a:r>
            <a:r>
              <a:rPr lang="en-IN" dirty="0"/>
              <a:t> that relates a </a:t>
            </a:r>
            <a:r>
              <a:rPr lang="en-IN" b="1" dirty="0">
                <a:solidFill>
                  <a:srgbClr val="FF0000"/>
                </a:solidFill>
              </a:rPr>
              <a:t>dependent</a:t>
            </a:r>
            <a:r>
              <a:rPr lang="en-IN" dirty="0"/>
              <a:t> </a:t>
            </a:r>
            <a:r>
              <a:rPr lang="en-IN" b="1" dirty="0">
                <a:solidFill>
                  <a:srgbClr val="FF0000"/>
                </a:solidFill>
              </a:rPr>
              <a:t>variable</a:t>
            </a:r>
            <a:r>
              <a:rPr lang="en-IN" dirty="0"/>
              <a:t> to one or more </a:t>
            </a:r>
            <a:r>
              <a:rPr lang="en-IN" b="1" dirty="0">
                <a:solidFill>
                  <a:srgbClr val="FF0000"/>
                </a:solidFill>
              </a:rPr>
              <a:t>independent (explanatory) variables</a:t>
            </a:r>
            <a:r>
              <a:rPr lang="en-IN" dirty="0"/>
              <a:t>. 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A regression model is able to show whether changes observed in the dependent variable are associated with changes in one or more of the explanatory variables.</a:t>
            </a:r>
          </a:p>
        </p:txBody>
      </p:sp>
    </p:spTree>
    <p:extLst>
      <p:ext uri="{BB962C8B-B14F-4D97-AF65-F5344CB8AC3E}">
        <p14:creationId xmlns:p14="http://schemas.microsoft.com/office/powerpoint/2010/main" val="1579105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9AEACDC-3FC3-9D2F-B3D4-87CC47B8F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 of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4372C48-2A97-0AFE-0379-7EF906C8E7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Demand forecasting in retails</a:t>
            </a:r>
          </a:p>
          <a:p>
            <a:pPr>
              <a:lnSpc>
                <a:spcPct val="150000"/>
              </a:lnSpc>
            </a:pPr>
            <a:r>
              <a:rPr lang="en-IN" dirty="0"/>
              <a:t>Sales prediction for managers</a:t>
            </a:r>
          </a:p>
          <a:p>
            <a:pPr>
              <a:lnSpc>
                <a:spcPct val="150000"/>
              </a:lnSpc>
            </a:pPr>
            <a:r>
              <a:rPr lang="en-IN" dirty="0"/>
              <a:t>Price prediction in real estate</a:t>
            </a:r>
          </a:p>
          <a:p>
            <a:pPr>
              <a:lnSpc>
                <a:spcPct val="150000"/>
              </a:lnSpc>
            </a:pPr>
            <a:r>
              <a:rPr lang="en-IN" dirty="0"/>
              <a:t>Weather forecast</a:t>
            </a:r>
          </a:p>
          <a:p>
            <a:pPr>
              <a:lnSpc>
                <a:spcPct val="150000"/>
              </a:lnSpc>
            </a:pPr>
            <a:r>
              <a:rPr lang="en-IN" dirty="0"/>
              <a:t>Skill demand forecast in job market</a:t>
            </a:r>
          </a:p>
        </p:txBody>
      </p:sp>
    </p:spTree>
    <p:extLst>
      <p:ext uri="{BB962C8B-B14F-4D97-AF65-F5344CB8AC3E}">
        <p14:creationId xmlns:p14="http://schemas.microsoft.com/office/powerpoint/2010/main" val="180777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A55FFEA-E313-EEE9-BA58-E46308022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Unsupervised Learning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3336DA4-3EEE-8CA5-5D47-B9EE4742E5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149" y="1364776"/>
            <a:ext cx="10739651" cy="4812187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No </a:t>
            </a:r>
            <a:r>
              <a:rPr lang="en-IN" b="1" dirty="0">
                <a:solidFill>
                  <a:srgbClr val="FF0000"/>
                </a:solidFill>
              </a:rPr>
              <a:t>labelled training data </a:t>
            </a:r>
            <a:r>
              <a:rPr lang="en-IN" dirty="0"/>
              <a:t>to learn from and </a:t>
            </a:r>
            <a:r>
              <a:rPr lang="en-IN" b="1" dirty="0">
                <a:solidFill>
                  <a:srgbClr val="FF0000"/>
                </a:solidFill>
              </a:rPr>
              <a:t>no prediction </a:t>
            </a:r>
            <a:r>
              <a:rPr lang="en-IN" dirty="0"/>
              <a:t>to be made.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In unsupervised learning, the objective is to take a dataset as input and try to find </a:t>
            </a:r>
            <a:r>
              <a:rPr lang="en-IN" b="1" dirty="0">
                <a:solidFill>
                  <a:srgbClr val="FF0000"/>
                </a:solidFill>
              </a:rPr>
              <a:t>natural groupings or patterns </a:t>
            </a:r>
            <a:r>
              <a:rPr lang="en-IN" dirty="0"/>
              <a:t>within the data elements or records.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Therefore, unsupervised learning is often termed as </a:t>
            </a:r>
            <a:r>
              <a:rPr lang="en-IN" b="1" dirty="0">
                <a:solidFill>
                  <a:srgbClr val="FF0000"/>
                </a:solidFill>
              </a:rPr>
              <a:t>descriptive model </a:t>
            </a:r>
            <a:r>
              <a:rPr lang="en-IN" dirty="0"/>
              <a:t>and the process of unsupervised learning is referred as </a:t>
            </a:r>
            <a:r>
              <a:rPr lang="en-IN" b="1" dirty="0">
                <a:solidFill>
                  <a:srgbClr val="FF0000"/>
                </a:solidFill>
              </a:rPr>
              <a:t>pattern discovery or knowledge discovery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4537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2BC26D8-82FB-445E-AA49-62A77D7C1E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B44330D-EA18-4254-AA95-EB49948539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FBF93CD7-1510-2F8B-1258-BE31B1B519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7215" y="643467"/>
            <a:ext cx="9137570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492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9" name="Freeform 6">
            <a:extLst>
              <a:ext uri="{FF2B5EF4-FFF2-40B4-BE49-F238E27FC236}">
                <a16:creationId xmlns="" xmlns:a16="http://schemas.microsoft.com/office/drawing/2014/main" id="{69D184B2-2226-4E31-BCCB-44433076744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8533" y="918266"/>
            <a:ext cx="706127" cy="5863534"/>
          </a:xfrm>
          <a:custGeom>
            <a:avLst/>
            <a:gdLst>
              <a:gd name="T0" fmla="*/ 414 w 414"/>
              <a:gd name="T1" fmla="*/ 2447 h 2447"/>
              <a:gd name="T2" fmla="*/ 0 w 414"/>
              <a:gd name="T3" fmla="*/ 2247 h 2447"/>
              <a:gd name="T4" fmla="*/ 0 w 414"/>
              <a:gd name="T5" fmla="*/ 0 h 2447"/>
              <a:gd name="T6" fmla="*/ 414 w 414"/>
              <a:gd name="T7" fmla="*/ 200 h 2447"/>
              <a:gd name="T8" fmla="*/ 414 w 414"/>
              <a:gd name="T9" fmla="*/ 2447 h 24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14" h="2447">
                <a:moveTo>
                  <a:pt x="414" y="2447"/>
                </a:moveTo>
                <a:lnTo>
                  <a:pt x="0" y="2247"/>
                </a:lnTo>
                <a:lnTo>
                  <a:pt x="0" y="0"/>
                </a:lnTo>
                <a:lnTo>
                  <a:pt x="414" y="200"/>
                </a:lnTo>
                <a:lnTo>
                  <a:pt x="414" y="2447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1" name="Freeform 7">
            <a:extLst>
              <a:ext uri="{FF2B5EF4-FFF2-40B4-BE49-F238E27FC236}">
                <a16:creationId xmlns="" xmlns:a16="http://schemas.microsoft.com/office/drawing/2014/main" id="{1AC4D4E3-486A-464A-8EC8-D4488109726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11117879" y="643467"/>
            <a:ext cx="420307" cy="5668919"/>
          </a:xfrm>
          <a:custGeom>
            <a:avLst/>
            <a:gdLst>
              <a:gd name="T0" fmla="*/ 209 w 209"/>
              <a:gd name="T1" fmla="*/ 2246 h 2358"/>
              <a:gd name="T2" fmla="*/ 0 w 209"/>
              <a:gd name="T3" fmla="*/ 2358 h 2358"/>
              <a:gd name="T4" fmla="*/ 0 w 209"/>
              <a:gd name="T5" fmla="*/ 111 h 2358"/>
              <a:gd name="T6" fmla="*/ 209 w 209"/>
              <a:gd name="T7" fmla="*/ 0 h 2358"/>
              <a:gd name="T8" fmla="*/ 209 w 209"/>
              <a:gd name="T9" fmla="*/ 2246 h 23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9" h="2358">
                <a:moveTo>
                  <a:pt x="209" y="2246"/>
                </a:moveTo>
                <a:lnTo>
                  <a:pt x="0" y="2358"/>
                </a:lnTo>
                <a:lnTo>
                  <a:pt x="0" y="111"/>
                </a:lnTo>
                <a:lnTo>
                  <a:pt x="209" y="0"/>
                </a:lnTo>
                <a:lnTo>
                  <a:pt x="209" y="224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83" name="Rectangle 3082">
            <a:extLst>
              <a:ext uri="{FF2B5EF4-FFF2-40B4-BE49-F238E27FC236}">
                <a16:creationId xmlns="" xmlns:a16="http://schemas.microsoft.com/office/drawing/2014/main" id="{864DE13E-58EB-4475-B79C-0D4FC651239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auto">
          <a:xfrm>
            <a:off x="638387" y="643467"/>
            <a:ext cx="10933503" cy="5391944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4" name="Picture 2" descr="Unsupervised Learning Types, Algorithms and Applications - Nixus">
            <a:extLst>
              <a:ext uri="{FF2B5EF4-FFF2-40B4-BE49-F238E27FC236}">
                <a16:creationId xmlns="" xmlns:a16="http://schemas.microsoft.com/office/drawing/2014/main" id="{0883F85C-7400-36F0-98F1-33676B8C28D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2362" y="822589"/>
            <a:ext cx="10241813" cy="474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135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1A4B0D-1047-339A-4D6F-C91146EB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types of Unsupervised Learning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AB206ED-5663-98FA-93E3-D5D80ABB3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b="1" dirty="0"/>
              <a:t>Clustering</a:t>
            </a:r>
            <a:r>
              <a:rPr lang="en-IN" dirty="0"/>
              <a:t> is the main type of unsupervised learning.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It intends to </a:t>
            </a:r>
            <a:r>
              <a:rPr lang="en-IN" b="1" dirty="0">
                <a:solidFill>
                  <a:srgbClr val="FF0000"/>
                </a:solidFill>
              </a:rPr>
              <a:t>group or organize similar objects </a:t>
            </a:r>
            <a:r>
              <a:rPr lang="en-IN" dirty="0"/>
              <a:t>together</a:t>
            </a:r>
            <a:r>
              <a:rPr lang="en-IN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4164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B74E3B1-430C-DB34-5356-1456DB20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EE6333E-FEAB-8A7E-EC47-DE6A78C23D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8740" y="1825625"/>
            <a:ext cx="10685060" cy="46672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One of the most commonly adopted similarity measure is </a:t>
            </a:r>
            <a:r>
              <a:rPr lang="en-IN" b="1" dirty="0">
                <a:solidFill>
                  <a:srgbClr val="FF0000"/>
                </a:solidFill>
              </a:rPr>
              <a:t>distance</a:t>
            </a:r>
            <a:r>
              <a:rPr lang="en-IN" dirty="0"/>
              <a:t>. </a:t>
            </a:r>
          </a:p>
          <a:p>
            <a:pPr>
              <a:lnSpc>
                <a:spcPct val="150000"/>
              </a:lnSpc>
            </a:pPr>
            <a:r>
              <a:rPr lang="en-IN" dirty="0"/>
              <a:t>Two data items are considered as a part of the </a:t>
            </a:r>
            <a:r>
              <a:rPr lang="en-IN" b="1" dirty="0">
                <a:solidFill>
                  <a:srgbClr val="FF0000"/>
                </a:solidFill>
              </a:rPr>
              <a:t>same cluster </a:t>
            </a:r>
            <a:r>
              <a:rPr lang="en-IN" dirty="0"/>
              <a:t>if the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 distance between them is </a:t>
            </a:r>
            <a:r>
              <a:rPr lang="en-IN" b="1" dirty="0">
                <a:solidFill>
                  <a:srgbClr val="FF0000"/>
                </a:solidFill>
              </a:rPr>
              <a:t>less</a:t>
            </a:r>
            <a:r>
              <a:rPr lang="en-IN" dirty="0"/>
              <a:t>. </a:t>
            </a:r>
          </a:p>
          <a:p>
            <a:pPr>
              <a:lnSpc>
                <a:spcPct val="150000"/>
              </a:lnSpc>
            </a:pPr>
            <a:r>
              <a:rPr lang="en-IN" dirty="0"/>
              <a:t>In the same way, if the distance between the data items is </a:t>
            </a:r>
            <a:r>
              <a:rPr lang="en-IN" b="1" dirty="0">
                <a:solidFill>
                  <a:srgbClr val="FF0000"/>
                </a:solidFill>
              </a:rPr>
              <a:t>high</a:t>
            </a:r>
            <a:r>
              <a:rPr lang="en-IN" dirty="0"/>
              <a:t>, the items </a:t>
            </a:r>
            <a:r>
              <a:rPr lang="en-IN" b="1" dirty="0">
                <a:solidFill>
                  <a:srgbClr val="FF0000"/>
                </a:solidFill>
              </a:rPr>
              <a:t>do not </a:t>
            </a:r>
            <a:r>
              <a:rPr lang="en-IN" dirty="0"/>
              <a:t>generally belong to the </a:t>
            </a:r>
            <a:r>
              <a:rPr lang="en-IN" b="1" dirty="0">
                <a:solidFill>
                  <a:srgbClr val="FF0000"/>
                </a:solidFill>
              </a:rPr>
              <a:t>same cluster</a:t>
            </a:r>
            <a:r>
              <a:rPr lang="en-IN" dirty="0"/>
              <a:t>. </a:t>
            </a:r>
          </a:p>
          <a:p>
            <a:pPr>
              <a:lnSpc>
                <a:spcPct val="150000"/>
              </a:lnSpc>
            </a:pPr>
            <a:r>
              <a:rPr lang="en-IN" dirty="0"/>
              <a:t>This is also known as </a:t>
            </a:r>
            <a:r>
              <a:rPr lang="en-IN" dirty="0">
                <a:solidFill>
                  <a:srgbClr val="FF0000"/>
                </a:solidFill>
              </a:rPr>
              <a:t>distance-based clustering</a:t>
            </a:r>
          </a:p>
        </p:txBody>
      </p:sp>
    </p:spTree>
    <p:extLst>
      <p:ext uri="{BB962C8B-B14F-4D97-AF65-F5344CB8AC3E}">
        <p14:creationId xmlns:p14="http://schemas.microsoft.com/office/powerpoint/2010/main" val="2903890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32BC26D8-82FB-445E-AA49-62A77D7C1EE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B44330D-EA18-4254-AA95-EB49948539B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Clustering in Machine Learning - Algorithms that Every Data Scientist Uses  - DataFlair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9"/>
          <a:stretch/>
        </p:blipFill>
        <p:spPr bwMode="auto">
          <a:xfrm>
            <a:off x="965915" y="1159099"/>
            <a:ext cx="10551989" cy="4520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05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79C75AF-B029-77C4-E16D-2D6CD91EA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Association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240389-7300-7838-BCDC-D6E624317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666" y="1416192"/>
            <a:ext cx="10515600" cy="4351338"/>
          </a:xfrm>
        </p:spPr>
        <p:txBody>
          <a:bodyPr/>
          <a:lstStyle/>
          <a:p>
            <a:r>
              <a:rPr lang="en-IN" dirty="0"/>
              <a:t>One more variant of unsupervised learning is </a:t>
            </a:r>
            <a:r>
              <a:rPr lang="en-IN" b="1" dirty="0">
                <a:solidFill>
                  <a:srgbClr val="FF0000"/>
                </a:solidFill>
              </a:rPr>
              <a:t>association analysis</a:t>
            </a:r>
          </a:p>
          <a:p>
            <a:r>
              <a:rPr lang="en-IN" dirty="0"/>
              <a:t>The association between data elements is identified</a:t>
            </a:r>
          </a:p>
          <a:p>
            <a:r>
              <a:rPr lang="en-IN" dirty="0"/>
              <a:t>Common examples, i.e. </a:t>
            </a:r>
            <a:r>
              <a:rPr lang="en-IN" b="1" dirty="0">
                <a:solidFill>
                  <a:srgbClr val="FF0000"/>
                </a:solidFill>
              </a:rPr>
              <a:t>market basket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6F6206A-DAF5-A810-7CAD-DE9EF4BBC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132" y="3043451"/>
            <a:ext cx="10142365" cy="3449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599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5D5E1E-0939-2947-630C-EFB1B6438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74335D3-AD31-F8B7-913B-99E6BC6AA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948" y="1153519"/>
            <a:ext cx="11376547" cy="5339355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200000"/>
              </a:lnSpc>
            </a:pPr>
            <a:r>
              <a:rPr lang="en-IN" dirty="0"/>
              <a:t>From past transaction data in a grocery store, it may be observed that most of the customers who have bought item A, have also bought item B and item C or at least one of them. 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This means that there is a strong association of the event ‘purchase of item A’ with the event ‘purchase of item B’, or ‘purchase of item C’. 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Identifying these sorts of associations is the goal of association analysis. 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This helps in boosting up sales pipeline, hence a critical input for the sales group.</a:t>
            </a:r>
          </a:p>
        </p:txBody>
      </p:sp>
    </p:spTree>
    <p:extLst>
      <p:ext uri="{BB962C8B-B14F-4D97-AF65-F5344CB8AC3E}">
        <p14:creationId xmlns:p14="http://schemas.microsoft.com/office/powerpoint/2010/main" val="493783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FDBFCB-F7B6-07D7-AA1E-CA607FB99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Reinforcement learning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43ED58D0-AED4-4D95-BC38-5E019F3E3C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868" y="1371188"/>
            <a:ext cx="7915701" cy="5107572"/>
          </a:xfrm>
        </p:spPr>
      </p:pic>
    </p:spTree>
    <p:extLst>
      <p:ext uri="{BB962C8B-B14F-4D97-AF65-F5344CB8AC3E}">
        <p14:creationId xmlns:p14="http://schemas.microsoft.com/office/powerpoint/2010/main" val="353144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6" name="Rectangle 5135">
            <a:extLst>
              <a:ext uri="{FF2B5EF4-FFF2-40B4-BE49-F238E27FC236}">
                <a16:creationId xmlns="" xmlns:a16="http://schemas.microsoft.com/office/drawing/2014/main" id="{22F15A2D-2324-487D-A02A-BF46C5C580E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8" name="Right Triangle 5137">
            <a:extLst>
              <a:ext uri="{FF2B5EF4-FFF2-40B4-BE49-F238E27FC236}">
                <a16:creationId xmlns="" xmlns:a16="http://schemas.microsoft.com/office/drawing/2014/main" id="{2AEAFA59-923A-4F54-8B49-44C970BCC32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40" name="Rectangle 5139">
            <a:extLst>
              <a:ext uri="{FF2B5EF4-FFF2-40B4-BE49-F238E27FC236}">
                <a16:creationId xmlns="" xmlns:a16="http://schemas.microsoft.com/office/drawing/2014/main" id="{C37E9D4B-7BFA-4D10-B666-547BAC4994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2" name="Picture 2" descr="What Is Reinforcement Learning? - MATLAB &amp; Simulink">
            <a:extLst>
              <a:ext uri="{FF2B5EF4-FFF2-40B4-BE49-F238E27FC236}">
                <a16:creationId xmlns="" xmlns:a16="http://schemas.microsoft.com/office/drawing/2014/main" id="{6089D113-9A11-9EFB-9746-4F8E351EFF7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85495" y="1258137"/>
            <a:ext cx="7746709" cy="4338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7953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B6BBD4-4C0C-D617-FE57-9C9780E4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966DADB-1936-B58D-BE57-499FC212F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When a sub-task is accomplished </a:t>
            </a:r>
            <a:r>
              <a:rPr lang="en-IN" b="1" dirty="0">
                <a:solidFill>
                  <a:srgbClr val="FF0000"/>
                </a:solidFill>
              </a:rPr>
              <a:t>successfully</a:t>
            </a:r>
            <a:r>
              <a:rPr lang="en-IN" dirty="0"/>
              <a:t>, a </a:t>
            </a:r>
            <a:r>
              <a:rPr lang="en-IN" b="1" dirty="0">
                <a:solidFill>
                  <a:srgbClr val="FF0000"/>
                </a:solidFill>
              </a:rPr>
              <a:t>reward</a:t>
            </a:r>
            <a:r>
              <a:rPr lang="en-IN" dirty="0"/>
              <a:t> is given.</a:t>
            </a:r>
          </a:p>
          <a:p>
            <a:pPr>
              <a:lnSpc>
                <a:spcPct val="150000"/>
              </a:lnSpc>
            </a:pPr>
            <a:r>
              <a:rPr lang="en-IN" dirty="0"/>
              <a:t>When a sub-task is </a:t>
            </a:r>
            <a:r>
              <a:rPr lang="en-IN" b="1" dirty="0">
                <a:solidFill>
                  <a:srgbClr val="FF0000"/>
                </a:solidFill>
              </a:rPr>
              <a:t>not</a:t>
            </a:r>
            <a:r>
              <a:rPr lang="en-IN" dirty="0"/>
              <a:t> executed </a:t>
            </a:r>
            <a:r>
              <a:rPr lang="en-IN" b="1" dirty="0">
                <a:solidFill>
                  <a:srgbClr val="FF0000"/>
                </a:solidFill>
              </a:rPr>
              <a:t>correctly</a:t>
            </a:r>
            <a:r>
              <a:rPr lang="en-IN" dirty="0"/>
              <a:t>, obviously </a:t>
            </a:r>
            <a:r>
              <a:rPr lang="en-IN" b="1" dirty="0">
                <a:solidFill>
                  <a:srgbClr val="FF0000"/>
                </a:solidFill>
              </a:rPr>
              <a:t>no reward </a:t>
            </a:r>
            <a:r>
              <a:rPr lang="en-IN" dirty="0"/>
              <a:t>is given. </a:t>
            </a:r>
          </a:p>
          <a:p>
            <a:pPr>
              <a:lnSpc>
                <a:spcPct val="150000"/>
              </a:lnSpc>
            </a:pPr>
            <a:r>
              <a:rPr lang="en-IN" dirty="0"/>
              <a:t>This continues till the machine is able to complete execution of the whole task. </a:t>
            </a:r>
          </a:p>
          <a:p>
            <a:pPr>
              <a:lnSpc>
                <a:spcPct val="150000"/>
              </a:lnSpc>
            </a:pPr>
            <a:r>
              <a:rPr lang="en-IN" dirty="0"/>
              <a:t>This process of learning is known as </a:t>
            </a:r>
            <a:r>
              <a:rPr lang="en-IN" b="1" dirty="0">
                <a:solidFill>
                  <a:srgbClr val="FF0000"/>
                </a:solidFill>
              </a:rPr>
              <a:t>reinforcement learning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411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762094-803B-D39E-F45F-F4AB72582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9FBE8A7-0AF7-314A-71FB-435F23F9C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One contemporary </a:t>
            </a:r>
            <a:r>
              <a:rPr lang="en-IN" b="1" dirty="0">
                <a:solidFill>
                  <a:srgbClr val="FF0000"/>
                </a:solidFill>
              </a:rPr>
              <a:t>example</a:t>
            </a:r>
            <a:r>
              <a:rPr lang="en-IN" dirty="0"/>
              <a:t> of reinforcement learning is </a:t>
            </a:r>
            <a:r>
              <a:rPr lang="en-IN" b="1" dirty="0">
                <a:solidFill>
                  <a:srgbClr val="FF0000"/>
                </a:solidFill>
              </a:rPr>
              <a:t>self-driving cars</a:t>
            </a:r>
            <a:r>
              <a:rPr lang="en-IN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critical information which it needs to take care of are speed and speed limit in different road segments, traffic conditions, road conditions, weather conditions, etc.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The tasks that have to be taken care of are start/stop, accelerate/decelerate, turn to left / right, etc.</a:t>
            </a:r>
          </a:p>
        </p:txBody>
      </p:sp>
    </p:spTree>
    <p:extLst>
      <p:ext uri="{BB962C8B-B14F-4D97-AF65-F5344CB8AC3E}">
        <p14:creationId xmlns:p14="http://schemas.microsoft.com/office/powerpoint/2010/main" val="115470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B94E07F-9D1C-82A8-CEAD-C30DFEAF5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PROBLEMS NOT TO BE SOLVED USING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7347DED-5509-69FC-1D67-64D3B2BEE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79891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IN" dirty="0"/>
              <a:t>Machine learning should not be applied to tasks in which humans are very effective or frequent human. Example : </a:t>
            </a:r>
            <a:r>
              <a:rPr lang="en-IN" b="1" dirty="0">
                <a:solidFill>
                  <a:srgbClr val="FF0000"/>
                </a:solidFill>
              </a:rPr>
              <a:t>air traffic control</a:t>
            </a:r>
          </a:p>
          <a:p>
            <a:pPr algn="just">
              <a:lnSpc>
                <a:spcPct val="200000"/>
              </a:lnSpc>
            </a:pPr>
            <a:r>
              <a:rPr lang="en-IN" dirty="0"/>
              <a:t>For very simple tasks which can be implemented using </a:t>
            </a:r>
            <a:r>
              <a:rPr lang="en-IN" b="1" dirty="0">
                <a:solidFill>
                  <a:srgbClr val="FF0000"/>
                </a:solidFill>
              </a:rPr>
              <a:t>traditional programming paradigms. </a:t>
            </a:r>
            <a:r>
              <a:rPr lang="en-IN" b="1" dirty="0"/>
              <a:t>Example: </a:t>
            </a:r>
            <a:r>
              <a:rPr lang="en-IN" b="1" dirty="0">
                <a:solidFill>
                  <a:srgbClr val="FF0000"/>
                </a:solidFill>
              </a:rPr>
              <a:t>simple rule-driven or formula-based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19174132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6AE3A94-3F67-1E50-8D36-31C06254B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F13C636-BDE9-F7B3-B3CA-3FA5C890E7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For situations where </a:t>
            </a:r>
            <a:r>
              <a:rPr lang="en-IN" b="1" dirty="0">
                <a:solidFill>
                  <a:srgbClr val="FF0000"/>
                </a:solidFill>
              </a:rPr>
              <a:t>training data is not sufficient</a:t>
            </a:r>
            <a:r>
              <a:rPr lang="en-IN" dirty="0"/>
              <a:t>, machine learning </a:t>
            </a:r>
            <a:r>
              <a:rPr lang="en-IN" b="1" dirty="0">
                <a:solidFill>
                  <a:srgbClr val="FF0000"/>
                </a:solidFill>
              </a:rPr>
              <a:t>cannot</a:t>
            </a:r>
            <a:r>
              <a:rPr lang="en-IN" dirty="0"/>
              <a:t> be used </a:t>
            </a:r>
            <a:r>
              <a:rPr lang="en-IN" b="1" dirty="0">
                <a:solidFill>
                  <a:srgbClr val="FF0000"/>
                </a:solidFill>
              </a:rPr>
              <a:t>effective</a:t>
            </a:r>
            <a:r>
              <a:rPr lang="en-IN" dirty="0"/>
              <a:t>ly. </a:t>
            </a:r>
          </a:p>
          <a:p>
            <a:pPr>
              <a:lnSpc>
                <a:spcPct val="150000"/>
              </a:lnSpc>
            </a:pPr>
            <a:r>
              <a:rPr lang="en-IN" dirty="0"/>
              <a:t>This is because, with </a:t>
            </a:r>
            <a:r>
              <a:rPr lang="en-IN" b="1" dirty="0">
                <a:solidFill>
                  <a:srgbClr val="FF0000"/>
                </a:solidFill>
              </a:rPr>
              <a:t>small training data </a:t>
            </a:r>
            <a:r>
              <a:rPr lang="en-IN" dirty="0"/>
              <a:t>sets, the impact of bad data is exponentially worse. </a:t>
            </a:r>
          </a:p>
          <a:p>
            <a:pPr>
              <a:lnSpc>
                <a:spcPct val="150000"/>
              </a:lnSpc>
            </a:pPr>
            <a:r>
              <a:rPr lang="en-IN" dirty="0"/>
              <a:t>For the </a:t>
            </a:r>
            <a:r>
              <a:rPr lang="en-IN" b="1" dirty="0">
                <a:solidFill>
                  <a:srgbClr val="FF0000"/>
                </a:solidFill>
              </a:rPr>
              <a:t>quality of prediction </a:t>
            </a:r>
            <a:r>
              <a:rPr lang="en-IN" dirty="0"/>
              <a:t>or recommendation to be good, the training data should be </a:t>
            </a:r>
            <a:r>
              <a:rPr lang="en-IN" b="1" dirty="0">
                <a:solidFill>
                  <a:srgbClr val="FF0000"/>
                </a:solidFill>
              </a:rPr>
              <a:t>sizeable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224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Rectangle 1065">
            <a:extLst>
              <a:ext uri="{FF2B5EF4-FFF2-40B4-BE49-F238E27FC236}">
                <a16:creationId xmlns="" xmlns:a16="http://schemas.microsoft.com/office/drawing/2014/main" id="{73C994B4-9721-4148-9EEC-6793CECDE8D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 bwMode="white">
          <a:xfrm>
            <a:off x="1523" y="-1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68" name="Rectangle 1067">
            <a:extLst>
              <a:ext uri="{FF2B5EF4-FFF2-40B4-BE49-F238E27FC236}">
                <a16:creationId xmlns="" xmlns:a16="http://schemas.microsoft.com/office/drawing/2014/main" id="{F9D95E49-763A-4886-B038-82F7347405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70" name="Rectangle 1069">
            <a:extLst>
              <a:ext uri="{FF2B5EF4-FFF2-40B4-BE49-F238E27FC236}">
                <a16:creationId xmlns="" xmlns:a16="http://schemas.microsoft.com/office/drawing/2014/main" id="{E43DC68B-54DD-4053-BE4D-61525968435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1478324" y="699899"/>
            <a:ext cx="10713676" cy="543331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2" name="Rectangle 1071">
            <a:extLst>
              <a:ext uri="{FF2B5EF4-FFF2-40B4-BE49-F238E27FC236}">
                <a16:creationId xmlns="" xmlns:a16="http://schemas.microsoft.com/office/drawing/2014/main" id="{36F31C88-3DEF-4EA8-AE3A-49441413FC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>
            <a:off x="-1" y="713232"/>
            <a:ext cx="422899" cy="5404104"/>
          </a:xfrm>
          <a:prstGeom prst="rect">
            <a:avLst/>
          </a:prstGeom>
          <a:solidFill>
            <a:schemeClr val="accent1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pic>
        <p:nvPicPr>
          <p:cNvPr id="1028" name="Picture 4" descr="Differences between Supervised, Unsupervised and Reinforcement Learning |  Data Science and Machine Learning | Kaggle">
            <a:extLst>
              <a:ext uri="{FF2B5EF4-FFF2-40B4-BE49-F238E27FC236}">
                <a16:creationId xmlns="" xmlns:a16="http://schemas.microsoft.com/office/drawing/2014/main" id="{4B355853-E88A-83A6-39A8-D348093038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3004" y="157128"/>
            <a:ext cx="9350389" cy="5960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74" name="Straight Connector 1073">
            <a:extLst>
              <a:ext uri="{FF2B5EF4-FFF2-40B4-BE49-F238E27FC236}">
                <a16:creationId xmlns="" xmlns:a16="http://schemas.microsoft.com/office/drawing/2014/main" id="{F085D7B9-E066-4923-8CB7-294BF306296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 flipV="1">
            <a:off x="11365990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" name="Straight Connector 1075">
            <a:extLst>
              <a:ext uri="{FF2B5EF4-FFF2-40B4-BE49-F238E27FC236}">
                <a16:creationId xmlns="" xmlns:a16="http://schemas.microsoft.com/office/drawing/2014/main" id="{5EACA08E-D537-41C6-96A5-5900E05D32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CxnSpPr>
        <p:spPr>
          <a:xfrm>
            <a:off x="0" y="6118001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050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="" xmlns:a16="http://schemas.microsoft.com/office/drawing/2014/main" id="{F3060C83-F051-4F0E-ABAD-AA0DFC48B2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3" name="Freeform: Shape 1032">
            <a:extLst>
              <a:ext uri="{FF2B5EF4-FFF2-40B4-BE49-F238E27FC236}">
                <a16:creationId xmlns="" xmlns:a16="http://schemas.microsoft.com/office/drawing/2014/main" id="{83C98ABE-055B-441F-B07E-44F97F083C3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35" name="Rectangle 1034">
            <a:extLst>
              <a:ext uri="{FF2B5EF4-FFF2-40B4-BE49-F238E27FC236}">
                <a16:creationId xmlns="" xmlns:a16="http://schemas.microsoft.com/office/drawing/2014/main" id="{29FDB030-9B49-4CED-8CCD-4D99382388AC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="" xmlns:a16="http://schemas.microsoft.com/office/drawing/2014/main" id="{3783CA14-24A1-485C-8B30-D6A5D87987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Freeform: Shape 1038">
            <a:extLst>
              <a:ext uri="{FF2B5EF4-FFF2-40B4-BE49-F238E27FC236}">
                <a16:creationId xmlns="" xmlns:a16="http://schemas.microsoft.com/office/drawing/2014/main" id="{9A97C86A-04D6-40F7-AE84-31AB43E6A8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41" name="Isosceles Triangle 1040">
            <a:extLst>
              <a:ext uri="{FF2B5EF4-FFF2-40B4-BE49-F238E27FC236}">
                <a16:creationId xmlns="" xmlns:a16="http://schemas.microsoft.com/office/drawing/2014/main" id="{FF9F2414-84E8-453E-B1F3-389FDE8192D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pplications of Machine learning">
            <a:extLst>
              <a:ext uri="{FF2B5EF4-FFF2-40B4-BE49-F238E27FC236}">
                <a16:creationId xmlns="" xmlns:a16="http://schemas.microsoft.com/office/drawing/2014/main" id="{6B8DFC33-2899-801E-CBFB-8B90B29173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47080" y="643467"/>
            <a:ext cx="6497840" cy="55710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3" name="Isosceles Triangle 1042">
            <a:extLst>
              <a:ext uri="{FF2B5EF4-FFF2-40B4-BE49-F238E27FC236}">
                <a16:creationId xmlns="" xmlns:a16="http://schemas.microsoft.com/office/drawing/2014/main" id="{3ECA69A1-7536-43AC-85EF-C7106179F5E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5998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C602853-EF6C-113C-8ED8-F8D7E0E3A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1.9 ISSUES IN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9424EF4-CB3E-C007-9CD1-F5E931BB3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Self – Learning Topic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053346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CADC21-F3B5-CB35-48EB-9B1EC78A67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Preparing to Model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01AFD24-C515-F18C-4D2F-DD38E18D13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Chapter - 2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36158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1F8CBF4-0172-D60B-6825-71CEA3689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23215B1-323F-A900-C492-07A3196FF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To understand the incoming data and create basic understanding about the nature and quality of the data.</a:t>
            </a:r>
          </a:p>
        </p:txBody>
      </p:sp>
    </p:spTree>
    <p:extLst>
      <p:ext uri="{BB962C8B-B14F-4D97-AF65-F5344CB8AC3E}">
        <p14:creationId xmlns:p14="http://schemas.microsoft.com/office/powerpoint/2010/main" val="36121141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4C20102-B12D-2791-793D-DD5C758AE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2.2 MACHINE LEARNING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71D5C7C-9FBF-9350-8DF9-B5AF984074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The </a:t>
            </a:r>
            <a:r>
              <a:rPr lang="en-IN" b="1" dirty="0">
                <a:solidFill>
                  <a:srgbClr val="FF0000"/>
                </a:solidFill>
              </a:rPr>
              <a:t>first step </a:t>
            </a:r>
            <a:r>
              <a:rPr lang="en-IN" dirty="0"/>
              <a:t>in machine learning activity starts with </a:t>
            </a:r>
            <a:r>
              <a:rPr lang="en-IN" b="1" dirty="0">
                <a:solidFill>
                  <a:srgbClr val="FF0000"/>
                </a:solidFill>
              </a:rPr>
              <a:t>data</a:t>
            </a:r>
            <a:r>
              <a:rPr lang="en-IN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In case of </a:t>
            </a:r>
            <a:r>
              <a:rPr lang="en-IN" dirty="0">
                <a:solidFill>
                  <a:srgbClr val="FF0000"/>
                </a:solidFill>
              </a:rPr>
              <a:t>supervised learning</a:t>
            </a:r>
            <a:r>
              <a:rPr lang="en-IN" dirty="0"/>
              <a:t>, it is the </a:t>
            </a:r>
            <a:r>
              <a:rPr lang="en-IN" dirty="0">
                <a:solidFill>
                  <a:srgbClr val="FF0000"/>
                </a:solidFill>
              </a:rPr>
              <a:t>labelled training data </a:t>
            </a:r>
            <a:r>
              <a:rPr lang="en-IN" dirty="0"/>
              <a:t>set followed by </a:t>
            </a:r>
            <a:r>
              <a:rPr lang="en-IN" dirty="0">
                <a:solidFill>
                  <a:srgbClr val="FF0000"/>
                </a:solidFill>
              </a:rPr>
              <a:t>test data </a:t>
            </a:r>
            <a:r>
              <a:rPr lang="en-IN" dirty="0"/>
              <a:t>which is </a:t>
            </a:r>
            <a:r>
              <a:rPr lang="en-IN" dirty="0">
                <a:solidFill>
                  <a:srgbClr val="FF0000"/>
                </a:solidFill>
              </a:rPr>
              <a:t>not labelled</a:t>
            </a:r>
            <a:r>
              <a:rPr lang="en-IN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In case of </a:t>
            </a:r>
            <a:r>
              <a:rPr lang="en-IN" dirty="0">
                <a:solidFill>
                  <a:srgbClr val="FF0000"/>
                </a:solidFill>
              </a:rPr>
              <a:t>unsupervised learning</a:t>
            </a:r>
            <a:r>
              <a:rPr lang="en-IN" dirty="0"/>
              <a:t>, it is </a:t>
            </a:r>
            <a:r>
              <a:rPr lang="en-IN" dirty="0">
                <a:solidFill>
                  <a:srgbClr val="FF0000"/>
                </a:solidFill>
              </a:rPr>
              <a:t>unlabelled data </a:t>
            </a:r>
            <a:r>
              <a:rPr lang="en-IN" dirty="0"/>
              <a:t>but the task is to </a:t>
            </a:r>
            <a:r>
              <a:rPr lang="en-IN" dirty="0">
                <a:solidFill>
                  <a:srgbClr val="FF0000"/>
                </a:solidFill>
              </a:rPr>
              <a:t>find patterns </a:t>
            </a:r>
            <a:r>
              <a:rPr lang="en-IN" dirty="0"/>
              <a:t>in the input data.</a:t>
            </a:r>
          </a:p>
        </p:txBody>
      </p:sp>
    </p:spTree>
    <p:extLst>
      <p:ext uri="{BB962C8B-B14F-4D97-AF65-F5344CB8AC3E}">
        <p14:creationId xmlns:p14="http://schemas.microsoft.com/office/powerpoint/2010/main" val="2930867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75AB16-D947-CD7C-1F2C-B4041ED78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593E6C-9343-5CFF-C672-060CD5643E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A thorough review and exploration of the data is needed to understand 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type of the data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the quality of the data </a:t>
            </a:r>
          </a:p>
          <a:p>
            <a:pPr lvl="1" algn="just">
              <a:lnSpc>
                <a:spcPct val="150000"/>
              </a:lnSpc>
            </a:pPr>
            <a:r>
              <a:rPr lang="en-IN" dirty="0"/>
              <a:t>relationship between the different data elements.</a:t>
            </a:r>
          </a:p>
        </p:txBody>
      </p:sp>
    </p:spTree>
    <p:extLst>
      <p:ext uri="{BB962C8B-B14F-4D97-AF65-F5344CB8AC3E}">
        <p14:creationId xmlns:p14="http://schemas.microsoft.com/office/powerpoint/2010/main" val="348925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86C4A1C-5D19-9ED9-6B8A-957FEF8DE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3923181-7D18-155F-8F6E-1BE32B0FF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IN" dirty="0"/>
              <a:t>Based on that, multiple </a:t>
            </a:r>
            <a:r>
              <a:rPr lang="en-IN" b="1" dirty="0">
                <a:solidFill>
                  <a:srgbClr val="FF0000"/>
                </a:solidFill>
              </a:rPr>
              <a:t>pre-processing activities</a:t>
            </a:r>
            <a:r>
              <a:rPr lang="en-IN" dirty="0"/>
              <a:t> need to be done on the input data </a:t>
            </a:r>
            <a:r>
              <a:rPr lang="en-IN" dirty="0">
                <a:solidFill>
                  <a:srgbClr val="FF0000"/>
                </a:solidFill>
              </a:rPr>
              <a:t>before</a:t>
            </a:r>
            <a:r>
              <a:rPr lang="en-IN" dirty="0"/>
              <a:t> we can go ahead with </a:t>
            </a:r>
            <a:r>
              <a:rPr lang="en-IN" dirty="0">
                <a:solidFill>
                  <a:srgbClr val="FF0000"/>
                </a:solidFill>
              </a:rPr>
              <a:t>core machine learning activities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049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53F29798-D584-4792-9B62-3F5F5C36D6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AE20EAD-093E-9AC3-4639-2C9513E92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IN" sz="5200" dirty="0"/>
              <a:t>Four-step process of </a:t>
            </a:r>
            <a:br>
              <a:rPr lang="en-IN" sz="5200" dirty="0"/>
            </a:br>
            <a:r>
              <a:rPr lang="en-IN" sz="5200" dirty="0"/>
              <a:t>Machine Learning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7F8E843A-7ADE-7986-413E-89FA50A437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79335" y="1845426"/>
            <a:ext cx="8430277" cy="4450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4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="" xmlns:a16="http://schemas.microsoft.com/office/drawing/2014/main" id="{53F29798-D584-4792-9B62-3F5F5C36D6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2E2A86D7-2B1E-EFF3-197C-DFF48310B3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4346" y="108455"/>
            <a:ext cx="11843308" cy="6610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5E28DA3-99DB-A0AC-350E-4D2E21C4E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820" y="3069537"/>
            <a:ext cx="3248025" cy="14097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="" xmlns:a16="http://schemas.microsoft.com/office/drawing/2014/main" id="{3D470015-4A74-A136-5B30-B3760E09EA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5772" y="4549458"/>
            <a:ext cx="4226228" cy="2378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1-Guide to Ensembling methods">
            <a:extLst>
              <a:ext uri="{FF2B5EF4-FFF2-40B4-BE49-F238E27FC236}">
                <a16:creationId xmlns="" xmlns:a16="http://schemas.microsoft.com/office/drawing/2014/main" id="{E56A1172-1D9D-772E-A36C-1D5595335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9008" y="620553"/>
            <a:ext cx="4054290" cy="2489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315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E45C104-BF49-D03C-C315-49FBD0A4E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726" y="81207"/>
            <a:ext cx="10515600" cy="819126"/>
          </a:xfrm>
        </p:spPr>
        <p:txBody>
          <a:bodyPr/>
          <a:lstStyle/>
          <a:p>
            <a:r>
              <a:rPr lang="en-IN" dirty="0"/>
              <a:t>Typical Preparation Activities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D72ECD5-D1CA-5935-B6F8-CBD8B4C21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246" y="1350492"/>
            <a:ext cx="11535508" cy="503623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dirty="0"/>
              <a:t>Understand the </a:t>
            </a:r>
            <a:r>
              <a:rPr lang="en-IN" b="1" dirty="0">
                <a:solidFill>
                  <a:srgbClr val="FF0000"/>
                </a:solidFill>
              </a:rPr>
              <a:t>type of data </a:t>
            </a:r>
            <a:r>
              <a:rPr lang="en-IN" dirty="0"/>
              <a:t>in the given input data set.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Explore the data to understand the </a:t>
            </a:r>
            <a:r>
              <a:rPr lang="en-IN" b="1" dirty="0">
                <a:solidFill>
                  <a:srgbClr val="FF0000"/>
                </a:solidFill>
              </a:rPr>
              <a:t>nature and quality</a:t>
            </a:r>
            <a:r>
              <a:rPr lang="en-IN" dirty="0"/>
              <a:t>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Explore the </a:t>
            </a:r>
            <a:r>
              <a:rPr lang="en-IN" b="1" dirty="0">
                <a:solidFill>
                  <a:srgbClr val="FF0000"/>
                </a:solidFill>
              </a:rPr>
              <a:t>relationships</a:t>
            </a:r>
            <a:r>
              <a:rPr lang="en-IN" dirty="0"/>
              <a:t> amongst the data elements, e.g. inter feature relationship.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Find potential </a:t>
            </a:r>
            <a:r>
              <a:rPr lang="en-IN" b="1" dirty="0">
                <a:solidFill>
                  <a:srgbClr val="FF0000"/>
                </a:solidFill>
              </a:rPr>
              <a:t>issues</a:t>
            </a:r>
            <a:r>
              <a:rPr lang="en-IN" dirty="0"/>
              <a:t> in data. Do the necessary </a:t>
            </a:r>
            <a:r>
              <a:rPr lang="en-IN" b="1" dirty="0">
                <a:solidFill>
                  <a:srgbClr val="FF0000"/>
                </a:solidFill>
              </a:rPr>
              <a:t>remediation</a:t>
            </a:r>
            <a:r>
              <a:rPr lang="en-IN" dirty="0"/>
              <a:t>, e.g. impute missing data values, using mean or median method </a:t>
            </a:r>
          </a:p>
        </p:txBody>
      </p:sp>
    </p:spTree>
    <p:extLst>
      <p:ext uri="{BB962C8B-B14F-4D97-AF65-F5344CB8AC3E}">
        <p14:creationId xmlns:p14="http://schemas.microsoft.com/office/powerpoint/2010/main" val="385438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0DC48A1-848F-4790-3D97-9B54245C2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771"/>
            <a:ext cx="10515600" cy="507072"/>
          </a:xfrm>
        </p:spPr>
        <p:txBody>
          <a:bodyPr>
            <a:normAutofit fontScale="90000"/>
          </a:bodyPr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03CBEAC-3958-F550-264B-8EFAEBA1A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9151" y="590843"/>
            <a:ext cx="11619913" cy="5978769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60000"/>
              </a:lnSpc>
            </a:pPr>
            <a:r>
              <a:rPr lang="en-IN" dirty="0"/>
              <a:t>Once the data is </a:t>
            </a:r>
            <a:r>
              <a:rPr lang="en-IN" b="1" dirty="0">
                <a:solidFill>
                  <a:srgbClr val="FF0000"/>
                </a:solidFill>
              </a:rPr>
              <a:t>prepared for modelling</a:t>
            </a:r>
            <a:r>
              <a:rPr lang="en-IN" dirty="0"/>
              <a:t>, then the </a:t>
            </a:r>
            <a:r>
              <a:rPr lang="en-IN" b="1" dirty="0">
                <a:solidFill>
                  <a:srgbClr val="FF0000"/>
                </a:solidFill>
              </a:rPr>
              <a:t>learning tasks start </a:t>
            </a:r>
            <a:r>
              <a:rPr lang="en-IN" dirty="0"/>
              <a:t>off. As a part of it, do the following activities:</a:t>
            </a:r>
          </a:p>
          <a:p>
            <a:pPr algn="just">
              <a:lnSpc>
                <a:spcPct val="160000"/>
              </a:lnSpc>
            </a:pPr>
            <a:r>
              <a:rPr lang="en-IN" dirty="0"/>
              <a:t>The input data is </a:t>
            </a:r>
            <a:r>
              <a:rPr lang="en-IN" dirty="0">
                <a:solidFill>
                  <a:srgbClr val="FF0000"/>
                </a:solidFill>
              </a:rPr>
              <a:t>first divided into parts </a:t>
            </a:r>
            <a:r>
              <a:rPr lang="en-IN" dirty="0"/>
              <a:t>– the </a:t>
            </a:r>
            <a:r>
              <a:rPr lang="en-IN" b="1" dirty="0">
                <a:solidFill>
                  <a:srgbClr val="FF0000"/>
                </a:solidFill>
              </a:rPr>
              <a:t>training data </a:t>
            </a:r>
            <a:r>
              <a:rPr lang="en-IN" dirty="0"/>
              <a:t>and the </a:t>
            </a:r>
            <a:r>
              <a:rPr lang="en-IN" b="1" dirty="0">
                <a:solidFill>
                  <a:srgbClr val="FF0000"/>
                </a:solidFill>
              </a:rPr>
              <a:t>test data</a:t>
            </a:r>
            <a:r>
              <a:rPr lang="en-IN" dirty="0"/>
              <a:t> (called holdout). This step is applicable for </a:t>
            </a:r>
            <a:r>
              <a:rPr lang="en-IN" b="1" dirty="0">
                <a:solidFill>
                  <a:srgbClr val="FF0000"/>
                </a:solidFill>
              </a:rPr>
              <a:t>supervised learning only</a:t>
            </a:r>
            <a:r>
              <a:rPr lang="en-IN" dirty="0"/>
              <a:t>.</a:t>
            </a:r>
          </a:p>
          <a:p>
            <a:pPr algn="just">
              <a:lnSpc>
                <a:spcPct val="160000"/>
              </a:lnSpc>
            </a:pPr>
            <a:r>
              <a:rPr lang="en-IN" dirty="0"/>
              <a:t>Consider </a:t>
            </a:r>
            <a:r>
              <a:rPr lang="en-IN" b="1" dirty="0">
                <a:solidFill>
                  <a:srgbClr val="FF0000"/>
                </a:solidFill>
              </a:rPr>
              <a:t>different models or learning algorithms </a:t>
            </a:r>
            <a:r>
              <a:rPr lang="en-IN" dirty="0"/>
              <a:t>for selection.</a:t>
            </a:r>
          </a:p>
          <a:p>
            <a:pPr algn="just">
              <a:lnSpc>
                <a:spcPct val="160000"/>
              </a:lnSpc>
            </a:pPr>
            <a:r>
              <a:rPr lang="en-IN" dirty="0"/>
              <a:t>Train the model based on the training data for </a:t>
            </a:r>
            <a:r>
              <a:rPr lang="en-IN" b="1" dirty="0">
                <a:solidFill>
                  <a:srgbClr val="FF0000"/>
                </a:solidFill>
              </a:rPr>
              <a:t>supervised learning </a:t>
            </a:r>
            <a:r>
              <a:rPr lang="en-IN" dirty="0"/>
              <a:t>problem and apply to unknown data. </a:t>
            </a:r>
          </a:p>
          <a:p>
            <a:pPr algn="just">
              <a:lnSpc>
                <a:spcPct val="160000"/>
              </a:lnSpc>
            </a:pPr>
            <a:r>
              <a:rPr lang="en-IN" dirty="0"/>
              <a:t>Directly apply the chosen </a:t>
            </a:r>
            <a:r>
              <a:rPr lang="en-IN" b="1" dirty="0">
                <a:solidFill>
                  <a:srgbClr val="FF0000"/>
                </a:solidFill>
              </a:rPr>
              <a:t>unsupervised model </a:t>
            </a:r>
            <a:r>
              <a:rPr lang="en-IN" dirty="0"/>
              <a:t>on the input data for unsupervised learning problem.</a:t>
            </a:r>
          </a:p>
          <a:p>
            <a:pPr algn="just">
              <a:lnSpc>
                <a:spcPct val="16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8036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AA8D28D-F610-89B0-DC59-D986B5D12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2.3 BASIC TYPES OF DATA IN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5F2B46B-1835-EC4D-8E9C-E119CCE06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7490"/>
            <a:ext cx="10515600" cy="4351338"/>
          </a:xfrm>
        </p:spPr>
        <p:txBody>
          <a:bodyPr/>
          <a:lstStyle/>
          <a:p>
            <a:r>
              <a:rPr lang="en-IN" dirty="0"/>
              <a:t>A data set is a collection of </a:t>
            </a:r>
            <a:r>
              <a:rPr lang="en-IN" b="1" dirty="0">
                <a:solidFill>
                  <a:srgbClr val="FF0000"/>
                </a:solidFill>
              </a:rPr>
              <a:t>related information or records</a:t>
            </a:r>
            <a:r>
              <a:rPr lang="en-IN" dirty="0"/>
              <a:t>. </a:t>
            </a:r>
          </a:p>
          <a:p>
            <a:r>
              <a:rPr lang="en-IN" dirty="0"/>
              <a:t>The information may be on some entity or some subject area.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CC4F1A1-3B62-3486-5999-661F491A4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5360" y="2926921"/>
            <a:ext cx="6245211" cy="3959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4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66C2DCB-BA9F-C085-6D2A-D3F1461E3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1C1FCEB-F529-3FF3-BD2A-DB9A2580E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Data can broadly be divided into following two types: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1. Qualitative data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2. Quantitative data</a:t>
            </a:r>
          </a:p>
        </p:txBody>
      </p:sp>
    </p:spTree>
    <p:extLst>
      <p:ext uri="{BB962C8B-B14F-4D97-AF65-F5344CB8AC3E}">
        <p14:creationId xmlns:p14="http://schemas.microsoft.com/office/powerpoint/2010/main" val="658531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0964199-C84C-EFEB-BF56-2987A06AC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703"/>
            <a:ext cx="10515600" cy="774359"/>
          </a:xfrm>
        </p:spPr>
        <p:txBody>
          <a:bodyPr/>
          <a:lstStyle/>
          <a:p>
            <a:pPr algn="ctr"/>
            <a:r>
              <a:rPr lang="en-IN" dirty="0"/>
              <a:t>Qualitative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D37A321-1EEB-36F6-BCD4-A31D7D506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1691" y="1037833"/>
            <a:ext cx="11479237" cy="5503643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Qualitative data </a:t>
            </a:r>
            <a:r>
              <a:rPr lang="en-IN" dirty="0"/>
              <a:t>provides information about the quality of an object or information which </a:t>
            </a:r>
            <a:r>
              <a:rPr lang="en-IN" dirty="0">
                <a:solidFill>
                  <a:srgbClr val="FF0000"/>
                </a:solidFill>
              </a:rPr>
              <a:t>cannot be measured</a:t>
            </a:r>
            <a:r>
              <a:rPr lang="en-IN" dirty="0"/>
              <a:t>. 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For example, if we consider the quality of performance of students in terms of ‘</a:t>
            </a:r>
            <a:r>
              <a:rPr lang="en-IN" b="1" dirty="0">
                <a:solidFill>
                  <a:srgbClr val="FF0000"/>
                </a:solidFill>
              </a:rPr>
              <a:t>Good’, ‘Average’, and ‘Poor</a:t>
            </a:r>
            <a:r>
              <a:rPr lang="en-IN" dirty="0"/>
              <a:t>’, it falls under the category of qualitative data.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Also, </a:t>
            </a:r>
            <a:r>
              <a:rPr lang="en-IN" b="1" dirty="0">
                <a:solidFill>
                  <a:srgbClr val="FF0000"/>
                </a:solidFill>
              </a:rPr>
              <a:t>name or roll number of students </a:t>
            </a:r>
            <a:r>
              <a:rPr lang="en-IN" dirty="0"/>
              <a:t>are information that cannot be measured using some scale of measurement, qualitative data.</a:t>
            </a:r>
          </a:p>
          <a:p>
            <a:pPr algn="just">
              <a:lnSpc>
                <a:spcPct val="150000"/>
              </a:lnSpc>
            </a:pPr>
            <a:r>
              <a:rPr lang="en-IN" dirty="0"/>
              <a:t>Qualitative data is also called </a:t>
            </a:r>
            <a:r>
              <a:rPr lang="en-IN" b="1" dirty="0">
                <a:solidFill>
                  <a:srgbClr val="FF0000"/>
                </a:solidFill>
              </a:rPr>
              <a:t>categorical data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0157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3E22F13-E34F-AAD3-B06A-8A482924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Qualitative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95D349-3CC6-39E3-5306-F92AC0F46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Qualitative data can be further subdivided into two types as follows: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1. Nominal data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2. Ordinal data</a:t>
            </a:r>
          </a:p>
        </p:txBody>
      </p:sp>
    </p:spTree>
    <p:extLst>
      <p:ext uri="{BB962C8B-B14F-4D97-AF65-F5344CB8AC3E}">
        <p14:creationId xmlns:p14="http://schemas.microsoft.com/office/powerpoint/2010/main" val="3286263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DB0AB73-1CC6-CFFC-BDD9-C6261D4D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Nominal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29613AD-17E9-81CD-44E8-BEA0DC0782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625" y="1364566"/>
            <a:ext cx="11577710" cy="52613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Nominal data </a:t>
            </a:r>
            <a:r>
              <a:rPr lang="en-IN" dirty="0"/>
              <a:t>is one which has </a:t>
            </a:r>
            <a:r>
              <a:rPr lang="en-IN" b="1" dirty="0">
                <a:solidFill>
                  <a:srgbClr val="FF0000"/>
                </a:solidFill>
              </a:rPr>
              <a:t>no numeric value</a:t>
            </a:r>
            <a:r>
              <a:rPr lang="en-IN" dirty="0"/>
              <a:t>, but a </a:t>
            </a:r>
            <a:r>
              <a:rPr lang="en-IN" b="1" dirty="0">
                <a:solidFill>
                  <a:srgbClr val="FF0000"/>
                </a:solidFill>
              </a:rPr>
              <a:t>named value</a:t>
            </a:r>
            <a:r>
              <a:rPr lang="en-IN" dirty="0"/>
              <a:t>. It is used for assigning named values to attributes. </a:t>
            </a:r>
          </a:p>
          <a:p>
            <a:pPr>
              <a:lnSpc>
                <a:spcPct val="150000"/>
              </a:lnSpc>
            </a:pPr>
            <a:r>
              <a:rPr lang="en-IN" dirty="0"/>
              <a:t>Nominal values </a:t>
            </a:r>
            <a:r>
              <a:rPr lang="en-IN" dirty="0">
                <a:solidFill>
                  <a:srgbClr val="FF0000"/>
                </a:solidFill>
              </a:rPr>
              <a:t>cannot be quantified</a:t>
            </a:r>
            <a:r>
              <a:rPr lang="en-IN" dirty="0"/>
              <a:t>.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Examples</a:t>
            </a:r>
            <a:r>
              <a:rPr lang="en-IN" dirty="0"/>
              <a:t> of nominal data are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1. Blood group: A, B, O, AB, etc.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2. Nationality: Indian, American, British, etc.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3. Gender: Male, Female, Other</a:t>
            </a:r>
          </a:p>
        </p:txBody>
      </p:sp>
    </p:spTree>
    <p:extLst>
      <p:ext uri="{BB962C8B-B14F-4D97-AF65-F5344CB8AC3E}">
        <p14:creationId xmlns:p14="http://schemas.microsoft.com/office/powerpoint/2010/main" val="3466997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6D35335-EF4F-AD19-C8AF-1A391512D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29"/>
            <a:ext cx="10515600" cy="507079"/>
          </a:xfrm>
        </p:spPr>
        <p:txBody>
          <a:bodyPr>
            <a:normAutofit fontScale="90000"/>
          </a:bodyPr>
          <a:lstStyle/>
          <a:p>
            <a:r>
              <a:rPr lang="en-IN" dirty="0"/>
              <a:t>Ordinal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1E047A6-ABBE-4590-4EC7-B49350F3AA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963" y="742412"/>
            <a:ext cx="11451102" cy="5953809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60000"/>
              </a:lnSpc>
            </a:pPr>
            <a:r>
              <a:rPr lang="en-IN" dirty="0"/>
              <a:t>Ordinal data, in addition to possessing the properties of nominal data, can also be naturally ordered. </a:t>
            </a:r>
          </a:p>
          <a:p>
            <a:pPr algn="just">
              <a:lnSpc>
                <a:spcPct val="160000"/>
              </a:lnSpc>
            </a:pPr>
            <a:r>
              <a:rPr lang="en-IN" dirty="0"/>
              <a:t>This means ordinal data also assigns named values to attributes but unlike nominal data, they can be </a:t>
            </a:r>
            <a:r>
              <a:rPr lang="en-IN" b="1" dirty="0">
                <a:solidFill>
                  <a:srgbClr val="FF0000"/>
                </a:solidFill>
              </a:rPr>
              <a:t>arranged in a sequence of increasing or decreasing value </a:t>
            </a:r>
            <a:r>
              <a:rPr lang="en-IN" dirty="0"/>
              <a:t>so that we can say whether a value is better than or greater than another value. </a:t>
            </a:r>
          </a:p>
          <a:p>
            <a:pPr algn="just">
              <a:lnSpc>
                <a:spcPct val="160000"/>
              </a:lnSpc>
            </a:pPr>
            <a:r>
              <a:rPr lang="en-IN" dirty="0"/>
              <a:t>Examples of ordinal data are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dirty="0"/>
              <a:t>	1. Customer satisfaction: ‘Very Happy’, ‘Happy’, ‘Unhappy’, etc.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dirty="0"/>
              <a:t>	2. Grades: A, B, C, etc.</a:t>
            </a:r>
          </a:p>
          <a:p>
            <a:pPr marL="0" indent="0" algn="just">
              <a:lnSpc>
                <a:spcPct val="160000"/>
              </a:lnSpc>
              <a:buNone/>
            </a:pPr>
            <a:r>
              <a:rPr lang="en-IN" dirty="0"/>
              <a:t>	3. Hardness of Metal: ‘Very Hard’, ‘Hard’, ‘Soft’, etc.</a:t>
            </a:r>
          </a:p>
        </p:txBody>
      </p:sp>
    </p:spTree>
    <p:extLst>
      <p:ext uri="{BB962C8B-B14F-4D97-AF65-F5344CB8AC3E}">
        <p14:creationId xmlns:p14="http://schemas.microsoft.com/office/powerpoint/2010/main" val="641752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0347F0C-7C20-ABEF-DD2B-764D1B098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Quantitative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185F614-FB63-2659-933D-0BCDFBB66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Quantitative data relates to information about the quantity of an object – hence it </a:t>
            </a:r>
            <a:r>
              <a:rPr lang="en-IN" b="1" dirty="0">
                <a:solidFill>
                  <a:srgbClr val="FF0000"/>
                </a:solidFill>
              </a:rPr>
              <a:t>can be measured</a:t>
            </a:r>
            <a:r>
              <a:rPr lang="en-IN" dirty="0"/>
              <a:t>. </a:t>
            </a:r>
          </a:p>
          <a:p>
            <a:pPr>
              <a:lnSpc>
                <a:spcPct val="150000"/>
              </a:lnSpc>
            </a:pPr>
            <a:r>
              <a:rPr lang="en-IN" dirty="0"/>
              <a:t>Quantitative data is also termed as </a:t>
            </a:r>
            <a:r>
              <a:rPr lang="en-IN" b="1" dirty="0">
                <a:solidFill>
                  <a:srgbClr val="FF0000"/>
                </a:solidFill>
              </a:rPr>
              <a:t>numeric data</a:t>
            </a:r>
            <a:r>
              <a:rPr lang="en-IN" dirty="0"/>
              <a:t>. </a:t>
            </a:r>
          </a:p>
          <a:p>
            <a:pPr>
              <a:lnSpc>
                <a:spcPct val="150000"/>
              </a:lnSpc>
            </a:pPr>
            <a:r>
              <a:rPr lang="en-IN" dirty="0"/>
              <a:t>There are two types of quantitative data: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1. Interval data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	2. Ratio data</a:t>
            </a:r>
          </a:p>
        </p:txBody>
      </p:sp>
    </p:spTree>
    <p:extLst>
      <p:ext uri="{BB962C8B-B14F-4D97-AF65-F5344CB8AC3E}">
        <p14:creationId xmlns:p14="http://schemas.microsoft.com/office/powerpoint/2010/main" val="333903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2A225A-C493-B86D-9E5F-E6C3FFED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Interval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34FDC47-FADA-69CD-3912-FA3476B74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745" y="1594779"/>
            <a:ext cx="11676184" cy="4800258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IN" b="1" dirty="0">
                <a:solidFill>
                  <a:srgbClr val="FF0000"/>
                </a:solidFill>
              </a:rPr>
              <a:t>Interval data </a:t>
            </a:r>
            <a:r>
              <a:rPr lang="en-IN" dirty="0"/>
              <a:t>is numeric data for which not only the order is known, but the exact difference between values is also known. </a:t>
            </a:r>
          </a:p>
          <a:p>
            <a:pPr>
              <a:lnSpc>
                <a:spcPct val="160000"/>
              </a:lnSpc>
            </a:pPr>
            <a:r>
              <a:rPr lang="en-IN" dirty="0"/>
              <a:t>An ideal example of interval data is </a:t>
            </a:r>
            <a:r>
              <a:rPr lang="en-IN" b="1" dirty="0">
                <a:solidFill>
                  <a:srgbClr val="FF0000"/>
                </a:solidFill>
              </a:rPr>
              <a:t>Celsius temperature</a:t>
            </a:r>
            <a:r>
              <a:rPr lang="en-IN" dirty="0"/>
              <a:t>.</a:t>
            </a:r>
          </a:p>
          <a:p>
            <a:pPr>
              <a:lnSpc>
                <a:spcPct val="160000"/>
              </a:lnSpc>
            </a:pPr>
            <a:r>
              <a:rPr lang="en-IN" dirty="0"/>
              <a:t>However, interval data do not have something called a </a:t>
            </a:r>
            <a:r>
              <a:rPr lang="en-IN" b="1" dirty="0">
                <a:solidFill>
                  <a:srgbClr val="FF0000"/>
                </a:solidFill>
              </a:rPr>
              <a:t>‘true zero’ value</a:t>
            </a:r>
            <a:r>
              <a:rPr lang="en-IN" dirty="0"/>
              <a:t>. </a:t>
            </a:r>
          </a:p>
          <a:p>
            <a:pPr>
              <a:lnSpc>
                <a:spcPct val="160000"/>
              </a:lnSpc>
            </a:pPr>
            <a:r>
              <a:rPr lang="en-IN" dirty="0"/>
              <a:t>For example, there is nothing called ‘</a:t>
            </a:r>
            <a:r>
              <a:rPr lang="en-IN" b="1" dirty="0">
                <a:solidFill>
                  <a:srgbClr val="FF0000"/>
                </a:solidFill>
              </a:rPr>
              <a:t>0 temperature’ or ‘no temperature</a:t>
            </a:r>
            <a:r>
              <a:rPr lang="en-IN" dirty="0"/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24904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0F6B419-0080-900F-E9CE-B5A97AFD5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Ratio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A708CF-2A35-2D41-7B81-9F270445C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IN" dirty="0"/>
              <a:t>Ratio data represents numeric data for which exact value can be measured. </a:t>
            </a:r>
          </a:p>
          <a:p>
            <a:pPr>
              <a:lnSpc>
                <a:spcPct val="150000"/>
              </a:lnSpc>
            </a:pPr>
            <a:r>
              <a:rPr lang="en-IN" dirty="0"/>
              <a:t>Absolute zero is available for ratio data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rgbClr val="FF0000"/>
                </a:solidFill>
              </a:rPr>
              <a:t>Examples</a:t>
            </a:r>
            <a:r>
              <a:rPr lang="en-IN" dirty="0"/>
              <a:t> of ratio data include height, weight, age, salary, etc.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27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B9FF99BD-075F-4761-A995-6FC574BD25E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A7B21A54-9BA3-4EA9-B460-5A829ADD905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6FA8F714-B9D8-488A-8CCA-E9948FF913A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="" xmlns:p16="http://schemas.microsoft.com/office/powerpoint/2015/main" val="1"/>
              </p:ext>
            </p:extLst>
          </p:nvPr>
        </p:nvSpPr>
        <p:spPr>
          <a:xfrm>
            <a:off x="643466" y="643468"/>
            <a:ext cx="10905067" cy="55710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="" xmlns:a16="http://schemas.microsoft.com/office/drawing/2014/main" id="{669AA6FA-65E9-BA75-0719-EC668C4691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0477" y="1768623"/>
            <a:ext cx="9951041" cy="331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8656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9A8A7B-BA2A-7C99-5C0C-6D4D65F0E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FDF61C1-462F-0317-917A-AE083B408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Attributes can also be categorized into types based on a number of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dirty="0"/>
              <a:t>   values that can be assigned. </a:t>
            </a:r>
          </a:p>
          <a:p>
            <a:pPr>
              <a:lnSpc>
                <a:spcPct val="150000"/>
              </a:lnSpc>
            </a:pPr>
            <a:r>
              <a:rPr lang="en-IN" dirty="0"/>
              <a:t>The attributes can be either </a:t>
            </a:r>
            <a:r>
              <a:rPr lang="en-IN" b="1" dirty="0">
                <a:solidFill>
                  <a:srgbClr val="FF0000"/>
                </a:solidFill>
              </a:rPr>
              <a:t>discrete or continuous </a:t>
            </a:r>
            <a:r>
              <a:rPr lang="en-IN" dirty="0"/>
              <a:t>based on this factor.</a:t>
            </a:r>
          </a:p>
          <a:p>
            <a:r>
              <a:rPr lang="en-IN" dirty="0"/>
              <a:t>Example of </a:t>
            </a:r>
            <a:r>
              <a:rPr lang="en-IN" b="1" dirty="0">
                <a:solidFill>
                  <a:srgbClr val="FF0000"/>
                </a:solidFill>
              </a:rPr>
              <a:t>discrete attribute </a:t>
            </a:r>
            <a:r>
              <a:rPr lang="en-IN" dirty="0"/>
              <a:t>include roll number, street number, pin code, etc.</a:t>
            </a:r>
          </a:p>
          <a:p>
            <a:pPr>
              <a:lnSpc>
                <a:spcPct val="150000"/>
              </a:lnSpc>
            </a:pPr>
            <a:r>
              <a:rPr lang="en-IN" dirty="0"/>
              <a:t>Examples of </a:t>
            </a:r>
            <a:r>
              <a:rPr lang="en-IN" b="1" dirty="0">
                <a:solidFill>
                  <a:srgbClr val="FF0000"/>
                </a:solidFill>
              </a:rPr>
              <a:t>continuous attribute </a:t>
            </a:r>
            <a:r>
              <a:rPr lang="en-IN" dirty="0"/>
              <a:t>include length, height, weight, price, etc</a:t>
            </a:r>
          </a:p>
        </p:txBody>
      </p:sp>
    </p:spTree>
    <p:extLst>
      <p:ext uri="{BB962C8B-B14F-4D97-AF65-F5344CB8AC3E}">
        <p14:creationId xmlns:p14="http://schemas.microsoft.com/office/powerpoint/2010/main" val="3753056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6452</TotalTime>
  <Words>3013</Words>
  <Application>Microsoft Office PowerPoint</Application>
  <PresentationFormat>Widescreen</PresentationFormat>
  <Paragraphs>335</Paragraphs>
  <Slides>85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Arial</vt:lpstr>
      <vt:lpstr>Calibri</vt:lpstr>
      <vt:lpstr>Calibri Light</vt:lpstr>
      <vt:lpstr>Georgia</vt:lpstr>
      <vt:lpstr>Google Sans</vt:lpstr>
      <vt:lpstr>Helvetica Neue Medium</vt:lpstr>
      <vt:lpstr>LiberationSerif</vt:lpstr>
      <vt:lpstr>Office Theme</vt:lpstr>
      <vt:lpstr>Introduction to Machine Learning</vt:lpstr>
      <vt:lpstr>First Encounter of Machine Learning </vt:lpstr>
      <vt:lpstr>Continue….</vt:lpstr>
      <vt:lpstr>Continue…</vt:lpstr>
      <vt:lpstr>The Evolution of Machine Learning</vt:lpstr>
      <vt:lpstr>PowerPoint Presentation</vt:lpstr>
      <vt:lpstr>1.2 WHAT IS HUMAN LEARNING?</vt:lpstr>
      <vt:lpstr>1.3 TYPES OF HUMAN LEARNING</vt:lpstr>
      <vt:lpstr>1.3.1 Learning under expert guidance</vt:lpstr>
      <vt:lpstr>1.3.2 Learning guided by knowledge gained from experts</vt:lpstr>
      <vt:lpstr>1.3.3 Learning by self</vt:lpstr>
      <vt:lpstr>1.4 WHAT IS MACHINE LEARNING?</vt:lpstr>
      <vt:lpstr>Continue…</vt:lpstr>
      <vt:lpstr>Continue…</vt:lpstr>
      <vt:lpstr>1.4.1 How do machines learn?</vt:lpstr>
      <vt:lpstr>Schematic representation of the machine learning process</vt:lpstr>
      <vt:lpstr>PowerPoint Presentation</vt:lpstr>
      <vt:lpstr>PowerPoint Presentation</vt:lpstr>
      <vt:lpstr>PowerPoint Presentation</vt:lpstr>
      <vt:lpstr>Data Input </vt:lpstr>
      <vt:lpstr>1.4.1.1 Abstraction</vt:lpstr>
      <vt:lpstr>Continue…</vt:lpstr>
      <vt:lpstr>Continue…</vt:lpstr>
      <vt:lpstr>Continue…</vt:lpstr>
      <vt:lpstr>1.4.1.2 Generalization</vt:lpstr>
      <vt:lpstr>Continue…</vt:lpstr>
      <vt:lpstr>1.4.2 Well-posed learning problem</vt:lpstr>
      <vt:lpstr>PowerPoint Presentation</vt:lpstr>
      <vt:lpstr>Step 1: What is the Problem?</vt:lpstr>
      <vt:lpstr>Example: </vt:lpstr>
      <vt:lpstr>PowerPoint Presentation</vt:lpstr>
      <vt:lpstr>Step 2: Why does the problem need to be solved?</vt:lpstr>
      <vt:lpstr>Step 3: How would I solve the problem?</vt:lpstr>
      <vt:lpstr>1.5 TYPES OF MACHINE LEARNING</vt:lpstr>
      <vt:lpstr>Types of machine learning</vt:lpstr>
      <vt:lpstr>PowerPoint Presentation</vt:lpstr>
      <vt:lpstr>Supervised learning </vt:lpstr>
      <vt:lpstr>Continue…</vt:lpstr>
      <vt:lpstr>Note</vt:lpstr>
      <vt:lpstr>Steps involved in Supervised ML </vt:lpstr>
      <vt:lpstr>Examples of Supervised learning</vt:lpstr>
      <vt:lpstr>Two Areas Of Supervised Learning</vt:lpstr>
      <vt:lpstr>Classification problems  </vt:lpstr>
      <vt:lpstr>PowerPoint Presentation</vt:lpstr>
      <vt:lpstr>Some typical classification problems include:</vt:lpstr>
      <vt:lpstr>Algorithm for solving Classification problems</vt:lpstr>
      <vt:lpstr>Regression</vt:lpstr>
      <vt:lpstr>Applications of regression</vt:lpstr>
      <vt:lpstr>Unsupervised Learning </vt:lpstr>
      <vt:lpstr>PowerPoint Presentation</vt:lpstr>
      <vt:lpstr>PowerPoint Presentation</vt:lpstr>
      <vt:lpstr>Two types of Unsupervised Learning </vt:lpstr>
      <vt:lpstr>Continue…</vt:lpstr>
      <vt:lpstr>PowerPoint Presentation</vt:lpstr>
      <vt:lpstr>Association analysis</vt:lpstr>
      <vt:lpstr>Continue…</vt:lpstr>
      <vt:lpstr>Reinforcement learning</vt:lpstr>
      <vt:lpstr>PowerPoint Presentation</vt:lpstr>
      <vt:lpstr>Continue…</vt:lpstr>
      <vt:lpstr>Continue…</vt:lpstr>
      <vt:lpstr>PROBLEMS NOT TO BE SOLVED USING MACHINE LEARNING</vt:lpstr>
      <vt:lpstr>Continue…</vt:lpstr>
      <vt:lpstr>PowerPoint Presentation</vt:lpstr>
      <vt:lpstr>PowerPoint Presentation</vt:lpstr>
      <vt:lpstr>1.9 ISSUES IN MACHINE LEARNING</vt:lpstr>
      <vt:lpstr>Preparing to Model</vt:lpstr>
      <vt:lpstr>Introduction </vt:lpstr>
      <vt:lpstr>2.2 MACHINE LEARNING ACTIVITIES</vt:lpstr>
      <vt:lpstr>Continue…</vt:lpstr>
      <vt:lpstr>Continue…</vt:lpstr>
      <vt:lpstr>Four-step process of  Machine Learning</vt:lpstr>
      <vt:lpstr>PowerPoint Presentation</vt:lpstr>
      <vt:lpstr>Typical Preparation Activities</vt:lpstr>
      <vt:lpstr>Continue…</vt:lpstr>
      <vt:lpstr>2.3 BASIC TYPES OF DATA IN MACHINE LEARNING</vt:lpstr>
      <vt:lpstr>PowerPoint Presentation</vt:lpstr>
      <vt:lpstr>Qualitative data </vt:lpstr>
      <vt:lpstr>Qualitative data</vt:lpstr>
      <vt:lpstr>Nominal data</vt:lpstr>
      <vt:lpstr>Ordinal data</vt:lpstr>
      <vt:lpstr>Quantitative data</vt:lpstr>
      <vt:lpstr>Interval data</vt:lpstr>
      <vt:lpstr>Ratio</vt:lpstr>
      <vt:lpstr>PowerPoint Presentation</vt:lpstr>
      <vt:lpstr>Continue…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Machine Learning</dc:title>
  <dc:creator>Tanuja Kayarga CSE</dc:creator>
  <cp:lastModifiedBy>user</cp:lastModifiedBy>
  <cp:revision>48</cp:revision>
  <dcterms:created xsi:type="dcterms:W3CDTF">2023-03-27T11:07:42Z</dcterms:created>
  <dcterms:modified xsi:type="dcterms:W3CDTF">2025-02-12T17:00:17Z</dcterms:modified>
</cp:coreProperties>
</file>