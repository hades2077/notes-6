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360" r:id="rId11"/>
    <p:sldId id="272" r:id="rId12"/>
    <p:sldId id="365" r:id="rId13"/>
    <p:sldId id="273" r:id="rId14"/>
    <p:sldId id="359" r:id="rId15"/>
    <p:sldId id="274" r:id="rId16"/>
    <p:sldId id="275" r:id="rId17"/>
    <p:sldId id="278" r:id="rId18"/>
    <p:sldId id="279" r:id="rId19"/>
    <p:sldId id="280" r:id="rId20"/>
    <p:sldId id="281" r:id="rId21"/>
    <p:sldId id="282" r:id="rId22"/>
    <p:sldId id="283" r:id="rId23"/>
    <p:sldId id="292" r:id="rId24"/>
    <p:sldId id="290" r:id="rId25"/>
    <p:sldId id="285" r:id="rId26"/>
    <p:sldId id="346" r:id="rId27"/>
    <p:sldId id="341" r:id="rId28"/>
    <p:sldId id="342" r:id="rId29"/>
    <p:sldId id="347" r:id="rId30"/>
    <p:sldId id="348" r:id="rId31"/>
    <p:sldId id="357" r:id="rId32"/>
    <p:sldId id="291" r:id="rId33"/>
    <p:sldId id="361" r:id="rId34"/>
    <p:sldId id="349" r:id="rId35"/>
    <p:sldId id="350" r:id="rId36"/>
    <p:sldId id="358" r:id="rId37"/>
    <p:sldId id="351" r:id="rId38"/>
    <p:sldId id="352" r:id="rId39"/>
    <p:sldId id="353" r:id="rId40"/>
    <p:sldId id="354" r:id="rId41"/>
    <p:sldId id="305" r:id="rId42"/>
    <p:sldId id="307" r:id="rId43"/>
    <p:sldId id="355" r:id="rId44"/>
    <p:sldId id="356" r:id="rId45"/>
    <p:sldId id="313" r:id="rId46"/>
    <p:sldId id="314" r:id="rId47"/>
    <p:sldId id="315" r:id="rId48"/>
    <p:sldId id="316" r:id="rId49"/>
    <p:sldId id="362" r:id="rId50"/>
    <p:sldId id="363" r:id="rId51"/>
    <p:sldId id="364" r:id="rId52"/>
    <p:sldId id="317" r:id="rId53"/>
    <p:sldId id="318" r:id="rId54"/>
    <p:sldId id="319" r:id="rId55"/>
    <p:sldId id="320" r:id="rId56"/>
    <p:sldId id="321" r:id="rId57"/>
    <p:sldId id="322" r:id="rId58"/>
    <p:sldId id="323" r:id="rId59"/>
    <p:sldId id="324" r:id="rId60"/>
    <p:sldId id="325" r:id="rId61"/>
    <p:sldId id="326" r:id="rId62"/>
    <p:sldId id="339" r:id="rId6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>
      <p:cViewPr varScale="1">
        <p:scale>
          <a:sx n="74" d="100"/>
          <a:sy n="74" d="100"/>
        </p:scale>
        <p:origin x="4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567A6A-4A6B-4523-B06B-211DDDB6EA62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75813-8324-4642-9E77-22B02500F3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827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950842" y="304546"/>
            <a:ext cx="4290314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 of CSE, VVCE, Mysore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73640-8DC3-43F7-8BAC-C3858EA4E7E2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 of CSE, VVCE, Mysore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53240-976C-4B2C-BAA7-177BA9C7B309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 of CSE, VVCE, Mysore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FD773-264F-4343-850F-F6553256ADCC}" type="datetime1">
              <a:rPr lang="en-US" smtClean="0"/>
              <a:t>3/18/2025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 of CSE, VVCE, Mysore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093EA-3A10-4F3B-BC73-3E83C660066A}" type="datetime1">
              <a:rPr lang="en-US" smtClean="0"/>
              <a:t>3/18/2025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 of CSE, VVCE, Mysore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69601-3302-4470-BF3B-FF4B243EBED1}" type="datetime1">
              <a:rPr lang="en-US" smtClean="0"/>
              <a:t>3/18/2025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9850" y="274066"/>
            <a:ext cx="951229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9470" y="1484121"/>
            <a:ext cx="10513059" cy="398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 of CSE, VVCE, Mysore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3F6A80-732F-4E40-A8A2-9DC3C72CD58C}" type="datetime1">
              <a:rPr lang="en-US" smtClean="0"/>
              <a:t>3/18/2025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1" y="2025218"/>
            <a:ext cx="10225150" cy="2557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00"/>
              </a:spcBef>
            </a:pPr>
            <a:r>
              <a:rPr sz="6000" b="0" dirty="0">
                <a:latin typeface="+mn-lt"/>
                <a:cs typeface="Calibri Light"/>
              </a:rPr>
              <a:t>MODULE</a:t>
            </a:r>
            <a:r>
              <a:rPr sz="6000" b="0" spc="-60" dirty="0">
                <a:latin typeface="+mn-lt"/>
                <a:cs typeface="Calibri Light"/>
              </a:rPr>
              <a:t> </a:t>
            </a:r>
            <a:r>
              <a:rPr sz="6000" b="0" spc="-5" dirty="0">
                <a:latin typeface="+mn-lt"/>
                <a:cs typeface="Calibri Light"/>
              </a:rPr>
              <a:t>-</a:t>
            </a:r>
            <a:r>
              <a:rPr lang="en-US" sz="6000" b="0" spc="-5" dirty="0">
                <a:latin typeface="+mn-lt"/>
                <a:cs typeface="Calibri Light"/>
              </a:rPr>
              <a:t>3</a:t>
            </a:r>
            <a:endParaRPr sz="6000" dirty="0">
              <a:latin typeface="+mn-lt"/>
              <a:cs typeface="Calibri Light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450" dirty="0">
              <a:latin typeface="+mn-l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sz="6000" b="0" spc="-10" dirty="0">
                <a:latin typeface="+mn-lt"/>
                <a:cs typeface="Calibri Light"/>
              </a:rPr>
              <a:t>ARTIFICIAL</a:t>
            </a:r>
            <a:r>
              <a:rPr sz="6000" b="0" spc="-40" dirty="0">
                <a:latin typeface="+mn-lt"/>
                <a:cs typeface="Calibri Light"/>
              </a:rPr>
              <a:t> </a:t>
            </a:r>
            <a:r>
              <a:rPr sz="6000" b="0" spc="-5" dirty="0">
                <a:latin typeface="+mn-lt"/>
                <a:cs typeface="Calibri Light"/>
              </a:rPr>
              <a:t>NEURAL</a:t>
            </a:r>
            <a:r>
              <a:rPr sz="6000" b="0" spc="-30" dirty="0">
                <a:latin typeface="+mn-lt"/>
                <a:cs typeface="Calibri Light"/>
              </a:rPr>
              <a:t> </a:t>
            </a:r>
            <a:r>
              <a:rPr sz="6000" b="0" spc="-5" dirty="0">
                <a:latin typeface="+mn-lt"/>
                <a:cs typeface="Calibri Light"/>
              </a:rPr>
              <a:t>NETWORKS</a:t>
            </a:r>
            <a:endParaRPr sz="6000" dirty="0">
              <a:latin typeface="+mn-lt"/>
              <a:cs typeface="Calibri Ligh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162C33D-9A5A-4D04-B84B-E3FB8D57670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AE9FBDD-8D47-48B8-A827-1DB35BD59BB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7866" y="367029"/>
            <a:ext cx="26390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530" dirty="0">
                <a:latin typeface="Calibri"/>
                <a:cs typeface="Calibri"/>
              </a:rPr>
              <a:t>CONTENT</a:t>
            </a:r>
            <a:endParaRPr sz="4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022350"/>
            <a:ext cx="7777480" cy="317696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indent="-228600">
              <a:lnSpc>
                <a:spcPct val="150000"/>
              </a:lnSpc>
              <a:spcBef>
                <a:spcPts val="8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Introduction</a:t>
            </a:r>
          </a:p>
          <a:p>
            <a:pPr marL="241300" indent="-228600">
              <a:lnSpc>
                <a:spcPct val="15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Neural</a:t>
            </a:r>
            <a:r>
              <a:rPr sz="2400" spc="-2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Representation</a:t>
            </a:r>
          </a:p>
          <a:p>
            <a:pPr marL="241300" indent="-228600">
              <a:lnSpc>
                <a:spcPct val="150000"/>
              </a:lnSpc>
              <a:spcBef>
                <a:spcPts val="7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Appropriate</a:t>
            </a:r>
            <a:r>
              <a:rPr sz="2400" spc="-2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Problems </a:t>
            </a:r>
            <a:r>
              <a:rPr sz="2400" dirty="0">
                <a:cs typeface="Times New Roman"/>
              </a:rPr>
              <a:t>for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Neural </a:t>
            </a:r>
            <a:r>
              <a:rPr sz="2400" spc="-5" dirty="0">
                <a:cs typeface="Times New Roman"/>
              </a:rPr>
              <a:t>Network</a:t>
            </a:r>
            <a:r>
              <a:rPr sz="2400" spc="-2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Learning</a:t>
            </a:r>
            <a:endParaRPr sz="2400" dirty="0"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7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Perceptron’s</a:t>
            </a:r>
            <a:r>
              <a:rPr lang="en-US" sz="2400" dirty="0">
                <a:cs typeface="Times New Roman"/>
              </a:rPr>
              <a:t> Rule and Delta Rule</a:t>
            </a:r>
            <a:endParaRPr sz="2400" dirty="0"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Multilayer</a:t>
            </a:r>
            <a:r>
              <a:rPr sz="2400" spc="-1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Networks</a:t>
            </a:r>
            <a:r>
              <a:rPr sz="2400" dirty="0">
                <a:cs typeface="Times New Roman"/>
              </a:rPr>
              <a:t> </a:t>
            </a:r>
            <a:r>
              <a:rPr sz="2400" spc="5" dirty="0">
                <a:cs typeface="Times New Roman"/>
              </a:rPr>
              <a:t>a</a:t>
            </a:r>
            <a:r>
              <a:rPr sz="2400" spc="-15" dirty="0">
                <a:cs typeface="Times New Roman"/>
              </a:rPr>
              <a:t>n</a:t>
            </a:r>
            <a:r>
              <a:rPr sz="2400" dirty="0">
                <a:cs typeface="Times New Roman"/>
              </a:rPr>
              <a:t>d</a:t>
            </a:r>
            <a:r>
              <a:rPr sz="2400" spc="10" dirty="0">
                <a:cs typeface="Times New Roman"/>
              </a:rPr>
              <a:t> </a:t>
            </a:r>
            <a:r>
              <a:rPr sz="2400" spc="-45" dirty="0">
                <a:cs typeface="Times New Roman"/>
              </a:rPr>
              <a:t>B</a:t>
            </a:r>
            <a:r>
              <a:rPr sz="2400" spc="-35" dirty="0">
                <a:cs typeface="Times New Roman"/>
              </a:rPr>
              <a:t>A</a:t>
            </a:r>
            <a:r>
              <a:rPr sz="2400" spc="-45" dirty="0">
                <a:cs typeface="Times New Roman"/>
              </a:rPr>
              <a:t>C</a:t>
            </a:r>
            <a:r>
              <a:rPr sz="2400" spc="-50" dirty="0">
                <a:cs typeface="Times New Roman"/>
              </a:rPr>
              <a:t>K</a:t>
            </a:r>
            <a:r>
              <a:rPr sz="2400" spc="-35" dirty="0">
                <a:cs typeface="Times New Roman"/>
              </a:rPr>
              <a:t>P</a:t>
            </a:r>
            <a:r>
              <a:rPr sz="2400" spc="-30" dirty="0">
                <a:cs typeface="Times New Roman"/>
              </a:rPr>
              <a:t>R</a:t>
            </a:r>
            <a:r>
              <a:rPr sz="2400" spc="-50" dirty="0">
                <a:cs typeface="Times New Roman"/>
              </a:rPr>
              <a:t>O</a:t>
            </a:r>
            <a:r>
              <a:rPr sz="2400" spc="-45" dirty="0">
                <a:cs typeface="Times New Roman"/>
              </a:rPr>
              <a:t>P</a:t>
            </a:r>
            <a:r>
              <a:rPr sz="2400" spc="-35" dirty="0">
                <a:cs typeface="Times New Roman"/>
              </a:rPr>
              <a:t>A</a:t>
            </a:r>
            <a:r>
              <a:rPr sz="2400" spc="-50" dirty="0">
                <a:cs typeface="Times New Roman"/>
              </a:rPr>
              <a:t>G</a:t>
            </a:r>
            <a:r>
              <a:rPr sz="2400" spc="-35" dirty="0">
                <a:cs typeface="Times New Roman"/>
              </a:rPr>
              <a:t>A</a:t>
            </a:r>
            <a:r>
              <a:rPr sz="2400" spc="-40" dirty="0">
                <a:cs typeface="Times New Roman"/>
              </a:rPr>
              <a:t>T</a:t>
            </a:r>
            <a:r>
              <a:rPr sz="2400" spc="-35" dirty="0">
                <a:cs typeface="Times New Roman"/>
              </a:rPr>
              <a:t>IO</a:t>
            </a:r>
            <a:r>
              <a:rPr sz="2400" spc="-5" dirty="0">
                <a:cs typeface="Times New Roman"/>
              </a:rPr>
              <a:t>N</a:t>
            </a:r>
            <a:r>
              <a:rPr sz="2400" spc="-1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Algor</a:t>
            </a:r>
            <a:r>
              <a:rPr sz="2400" spc="5" dirty="0">
                <a:cs typeface="Times New Roman"/>
              </a:rPr>
              <a:t>i</a:t>
            </a:r>
            <a:r>
              <a:rPr sz="2400" dirty="0">
                <a:cs typeface="Times New Roman"/>
              </a:rPr>
              <a:t>thms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FDF01D8-11C5-4F53-BF03-87E177B33D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9EA3149-D39E-47F5-B21A-0C93CEC946C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spc="515" dirty="0"/>
              <a:t>INTRODU</a:t>
            </a:r>
            <a:r>
              <a:rPr spc="490" dirty="0"/>
              <a:t>C</a:t>
            </a:r>
            <a:r>
              <a:rPr spc="459" dirty="0"/>
              <a:t>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352" y="1981200"/>
            <a:ext cx="10361295" cy="193373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480"/>
              </a:spcBef>
            </a:pPr>
            <a:r>
              <a:rPr sz="2800" spc="-5" dirty="0">
                <a:cs typeface="Times New Roman"/>
              </a:rPr>
              <a:t>Artificial neural networks (ANNs) provide a general, practical method </a:t>
            </a:r>
            <a:r>
              <a:rPr sz="2800" dirty="0">
                <a:cs typeface="Times New Roman"/>
              </a:rPr>
              <a:t> for</a:t>
            </a:r>
            <a:r>
              <a:rPr sz="2800" spc="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learning</a:t>
            </a:r>
            <a:r>
              <a:rPr sz="280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real-valued,</a:t>
            </a:r>
            <a:r>
              <a:rPr sz="2800" dirty="0">
                <a:cs typeface="Times New Roman"/>
              </a:rPr>
              <a:t> discrete-valued,</a:t>
            </a:r>
            <a:r>
              <a:rPr sz="2800" spc="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and</a:t>
            </a:r>
            <a:r>
              <a:rPr sz="2800" dirty="0">
                <a:cs typeface="Times New Roman"/>
              </a:rPr>
              <a:t> vector-valued</a:t>
            </a:r>
            <a:r>
              <a:rPr sz="2800" spc="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target </a:t>
            </a:r>
            <a:r>
              <a:rPr sz="280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functions from</a:t>
            </a:r>
            <a:r>
              <a:rPr sz="2800" spc="-1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examples.</a:t>
            </a:r>
            <a:endParaRPr sz="28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2E89ABB-E67C-4B63-B27B-CCB1DCD4CEE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2F5540C-5257-4AEB-9AEC-667A7B0683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44695" y="554481"/>
            <a:ext cx="32924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+mn-lt"/>
              </a:rPr>
              <a:t>Biological</a:t>
            </a:r>
            <a:r>
              <a:rPr sz="2800" spc="-3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Motivation</a:t>
            </a:r>
            <a:endParaRPr sz="280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9" y="1378965"/>
            <a:ext cx="10313670" cy="5013551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55600" marR="5080" indent="-343535" algn="just">
              <a:lnSpc>
                <a:spcPct val="150000"/>
              </a:lnSpc>
              <a:spcBef>
                <a:spcPts val="114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study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artificial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neural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networks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(ANNs)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has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been</a:t>
            </a:r>
            <a:r>
              <a:rPr sz="2400" dirty="0">
                <a:cs typeface="Times New Roman"/>
              </a:rPr>
              <a:t> inspired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by</a:t>
            </a:r>
            <a:r>
              <a:rPr sz="2400" spc="5" dirty="0">
                <a:cs typeface="Times New Roman"/>
              </a:rPr>
              <a:t> </a:t>
            </a:r>
            <a:r>
              <a:rPr sz="2400" spc="-15" dirty="0">
                <a:cs typeface="Times New Roman"/>
              </a:rPr>
              <a:t>the 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observation that </a:t>
            </a:r>
            <a:r>
              <a:rPr sz="2400" spc="-5" dirty="0">
                <a:cs typeface="Times New Roman"/>
              </a:rPr>
              <a:t>biological learning systems </a:t>
            </a:r>
            <a:r>
              <a:rPr sz="2400" dirty="0">
                <a:cs typeface="Times New Roman"/>
              </a:rPr>
              <a:t>are built of very </a:t>
            </a:r>
            <a:r>
              <a:rPr sz="2400" spc="-5" dirty="0">
                <a:cs typeface="Times New Roman"/>
              </a:rPr>
              <a:t>complex webs </a:t>
            </a:r>
            <a:r>
              <a:rPr sz="2400" dirty="0">
                <a:cs typeface="Times New Roman"/>
              </a:rPr>
              <a:t>of 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interconnected</a:t>
            </a:r>
            <a:r>
              <a:rPr sz="2400" spc="-40" dirty="0">
                <a:cs typeface="Times New Roman"/>
              </a:rPr>
              <a:t> </a:t>
            </a:r>
            <a:r>
              <a:rPr sz="2400" b="1" i="1" spc="-5" dirty="0">
                <a:cs typeface="Times New Roman"/>
              </a:rPr>
              <a:t>Neurons</a:t>
            </a:r>
            <a:endParaRPr sz="2400" dirty="0">
              <a:cs typeface="Times New Roman"/>
            </a:endParaRPr>
          </a:p>
          <a:p>
            <a:pPr marL="355600" marR="12065" indent="-343535" algn="just">
              <a:lnSpc>
                <a:spcPct val="150000"/>
              </a:lnSpc>
              <a:spcBef>
                <a:spcPts val="135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spc="-5" dirty="0">
                <a:cs typeface="Times New Roman"/>
              </a:rPr>
              <a:t>Human information processing system </a:t>
            </a:r>
            <a:r>
              <a:rPr sz="2400" dirty="0">
                <a:cs typeface="Times New Roman"/>
              </a:rPr>
              <a:t>consists of </a:t>
            </a:r>
            <a:r>
              <a:rPr sz="2400" b="1" dirty="0">
                <a:cs typeface="Times New Roman"/>
              </a:rPr>
              <a:t>brain </a:t>
            </a:r>
            <a:r>
              <a:rPr sz="2400" b="1" spc="-5" dirty="0">
                <a:cs typeface="Times New Roman"/>
              </a:rPr>
              <a:t>neuron</a:t>
            </a:r>
            <a:r>
              <a:rPr sz="2400" spc="-5" dirty="0">
                <a:cs typeface="Times New Roman"/>
              </a:rPr>
              <a:t>: basic </a:t>
            </a:r>
            <a:r>
              <a:rPr sz="2400" dirty="0">
                <a:cs typeface="Times New Roman"/>
              </a:rPr>
              <a:t>building 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block cell </a:t>
            </a:r>
            <a:r>
              <a:rPr sz="2400" spc="-5" dirty="0">
                <a:cs typeface="Times New Roman"/>
              </a:rPr>
              <a:t>that</a:t>
            </a:r>
            <a:r>
              <a:rPr sz="2400" spc="5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communicates</a:t>
            </a:r>
            <a:r>
              <a:rPr sz="2400" b="1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information</a:t>
            </a:r>
            <a:r>
              <a:rPr sz="2400" b="1" spc="5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to and</a:t>
            </a:r>
            <a:r>
              <a:rPr sz="2400" b="1" spc="-20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from</a:t>
            </a:r>
            <a:r>
              <a:rPr sz="2400" b="1" spc="5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various</a:t>
            </a:r>
            <a:r>
              <a:rPr sz="2400" b="1" spc="5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parts of</a:t>
            </a:r>
            <a:r>
              <a:rPr sz="2400" b="1" spc="-150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body</a:t>
            </a:r>
            <a:endParaRPr sz="2400" b="1" dirty="0">
              <a:cs typeface="Times New Roman"/>
            </a:endParaRPr>
          </a:p>
          <a:p>
            <a:pPr marL="355600" marR="9525" indent="-343535" algn="just">
              <a:lnSpc>
                <a:spcPct val="150000"/>
              </a:lnSpc>
              <a:spcBef>
                <a:spcPts val="30"/>
              </a:spcBef>
              <a:buFont typeface="Arial MT"/>
              <a:buChar char="•"/>
              <a:tabLst>
                <a:tab pos="356235" algn="l"/>
              </a:tabLst>
            </a:pPr>
            <a:r>
              <a:rPr sz="2400" spc="-5" dirty="0">
                <a:cs typeface="Times New Roman"/>
              </a:rPr>
              <a:t>Simplest model </a:t>
            </a:r>
            <a:r>
              <a:rPr sz="2400" dirty="0">
                <a:cs typeface="Times New Roman"/>
              </a:rPr>
              <a:t>of a neuron: </a:t>
            </a:r>
            <a:r>
              <a:rPr sz="2400" spc="-5" dirty="0">
                <a:cs typeface="Times New Roman"/>
              </a:rPr>
              <a:t>considered as </a:t>
            </a:r>
            <a:r>
              <a:rPr sz="2400" dirty="0">
                <a:cs typeface="Times New Roman"/>
              </a:rPr>
              <a:t>a </a:t>
            </a:r>
            <a:r>
              <a:rPr sz="2400" spc="-5" dirty="0">
                <a:cs typeface="Times New Roman"/>
              </a:rPr>
              <a:t>threshold </a:t>
            </a:r>
            <a:r>
              <a:rPr sz="2400" dirty="0">
                <a:cs typeface="Times New Roman"/>
              </a:rPr>
              <a:t>unit –a </a:t>
            </a:r>
            <a:r>
              <a:rPr sz="2400" b="1" spc="-5" dirty="0">
                <a:cs typeface="Times New Roman"/>
              </a:rPr>
              <a:t>processing element </a:t>
            </a:r>
            <a:r>
              <a:rPr sz="2400" b="1" spc="-585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(PE)</a:t>
            </a:r>
          </a:p>
          <a:p>
            <a:pPr marL="355600" marR="546100" indent="-343535" algn="just">
              <a:lnSpc>
                <a:spcPct val="150000"/>
              </a:lnSpc>
              <a:spcBef>
                <a:spcPts val="2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cs typeface="Times New Roman"/>
              </a:rPr>
              <a:t>Collects </a:t>
            </a:r>
            <a:r>
              <a:rPr sz="2400" spc="-5" dirty="0">
                <a:cs typeface="Times New Roman"/>
              </a:rPr>
              <a:t>inputs</a:t>
            </a:r>
            <a:r>
              <a:rPr sz="2400" dirty="0">
                <a:cs typeface="Times New Roman"/>
              </a:rPr>
              <a:t> &amp;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produces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output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if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sum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 input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exceeds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an</a:t>
            </a:r>
            <a:r>
              <a:rPr sz="2400" spc="39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internal </a:t>
            </a:r>
            <a:r>
              <a:rPr sz="2400" spc="-5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threshold</a:t>
            </a:r>
            <a:r>
              <a:rPr sz="2400" spc="-5" dirty="0">
                <a:cs typeface="Times New Roman"/>
              </a:rPr>
              <a:t> value</a:t>
            </a:r>
            <a:endParaRPr sz="24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C74830-1E6D-4F14-9F0E-9167A83FE21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739545B-19A6-4014-B1D9-D7D7C06AC0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385" y="127063"/>
            <a:ext cx="7484109" cy="620763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9C41147-0FD1-4500-8D96-BABD994EB2A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F21664-72C1-487C-9434-82367E74DF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425" y="38100"/>
            <a:ext cx="9436227" cy="630301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207717D-4489-4717-8A0F-F3E17AD186A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8C21ACC-1F2B-48C4-BCBD-D0107B25D0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5539" y="102107"/>
            <a:ext cx="9850120" cy="6220967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0A4591C-F668-45FE-ACF5-A8C1BEB00E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777E7892-D0C9-4BF6-8A73-0ADB4DAB1A0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3590" y="554481"/>
            <a:ext cx="5643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+mn-lt"/>
              </a:rPr>
              <a:t>When</a:t>
            </a:r>
            <a:r>
              <a:rPr sz="2800" spc="-1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to</a:t>
            </a:r>
            <a:r>
              <a:rPr sz="2800" spc="5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consider Neural</a:t>
            </a:r>
            <a:r>
              <a:rPr sz="2800" spc="-1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Networks</a:t>
            </a:r>
            <a:r>
              <a:rPr sz="2800" spc="1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?</a:t>
            </a:r>
            <a:endParaRPr sz="280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138" y="1410970"/>
            <a:ext cx="10360661" cy="40959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cs typeface="Times New Roman"/>
              </a:rPr>
              <a:t>Input </a:t>
            </a:r>
            <a:r>
              <a:rPr sz="2400" spc="-5" dirty="0">
                <a:cs typeface="Times New Roman"/>
              </a:rPr>
              <a:t>is</a:t>
            </a:r>
            <a:r>
              <a:rPr sz="2400" dirty="0">
                <a:cs typeface="Times New Roman"/>
              </a:rPr>
              <a:t> a </a:t>
            </a:r>
            <a:r>
              <a:rPr sz="2400" spc="-5" dirty="0">
                <a:cs typeface="Times New Roman"/>
              </a:rPr>
              <a:t>high-dimensional</a:t>
            </a:r>
            <a:r>
              <a:rPr sz="2400" dirty="0">
                <a:cs typeface="Times New Roman"/>
              </a:rPr>
              <a:t> discrete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or real-valued (e.g., </a:t>
            </a:r>
            <a:r>
              <a:rPr sz="2400" spc="-5" dirty="0">
                <a:cs typeface="Times New Roman"/>
              </a:rPr>
              <a:t>sensor</a:t>
            </a:r>
            <a:r>
              <a:rPr sz="2400" spc="-1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input)</a:t>
            </a: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cs typeface="Times New Roman"/>
              </a:rPr>
              <a:t>Output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is</a:t>
            </a:r>
            <a:r>
              <a:rPr sz="2400" spc="-5" dirty="0">
                <a:cs typeface="Times New Roman"/>
              </a:rPr>
              <a:t> discrete or</a:t>
            </a:r>
            <a:r>
              <a:rPr sz="2400" spc="-4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real-valued</a:t>
            </a:r>
            <a:endParaRPr sz="2400" dirty="0">
              <a:cs typeface="Times New Roman"/>
            </a:endParaRP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cs typeface="Times New Roman"/>
              </a:rPr>
              <a:t>Output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is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vector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-5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values</a:t>
            </a: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cs typeface="Times New Roman"/>
              </a:rPr>
              <a:t>Possibly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noisy</a:t>
            </a:r>
            <a:r>
              <a:rPr sz="2400" spc="-4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data</a:t>
            </a: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cs typeface="Times New Roman"/>
              </a:rPr>
              <a:t>Form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target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function</a:t>
            </a:r>
            <a:r>
              <a:rPr sz="2400" spc="-2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is</a:t>
            </a:r>
            <a:r>
              <a:rPr sz="2400" spc="-6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unknown</a:t>
            </a:r>
          </a:p>
          <a:p>
            <a:pPr marL="35560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cs typeface="Times New Roman"/>
              </a:rPr>
              <a:t>Human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readability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result</a:t>
            </a:r>
            <a:r>
              <a:rPr sz="2400" spc="-5" dirty="0">
                <a:cs typeface="Times New Roman"/>
              </a:rPr>
              <a:t> is</a:t>
            </a:r>
            <a:r>
              <a:rPr sz="2400" spc="-3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unimportant</a:t>
            </a:r>
            <a:endParaRPr sz="2400" dirty="0"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 dirty="0">
              <a:cs typeface="Times New Roman"/>
            </a:endParaRPr>
          </a:p>
          <a:p>
            <a:pPr marL="12700">
              <a:lnSpc>
                <a:spcPts val="2875"/>
              </a:lnSpc>
            </a:pPr>
            <a:r>
              <a:rPr sz="2400" b="1" i="1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Examples</a:t>
            </a:r>
            <a:endParaRPr sz="2400" dirty="0">
              <a:cs typeface="Times New Roman"/>
            </a:endParaRPr>
          </a:p>
          <a:p>
            <a:pPr marL="317500" indent="-305435">
              <a:lnSpc>
                <a:spcPts val="2875"/>
              </a:lnSpc>
              <a:buAutoNum type="arabicPeriod"/>
              <a:tabLst>
                <a:tab pos="318135" algn="l"/>
              </a:tabLst>
            </a:pPr>
            <a:r>
              <a:rPr sz="2400" dirty="0">
                <a:cs typeface="Times New Roman"/>
              </a:rPr>
              <a:t>Speech</a:t>
            </a:r>
            <a:r>
              <a:rPr sz="2400" spc="-2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phoneme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recognition</a:t>
            </a:r>
          </a:p>
          <a:p>
            <a:pPr marL="317500" indent="-305435">
              <a:lnSpc>
                <a:spcPct val="100000"/>
              </a:lnSpc>
              <a:buAutoNum type="arabicPeriod"/>
              <a:tabLst>
                <a:tab pos="318135" algn="l"/>
              </a:tabLst>
            </a:pPr>
            <a:r>
              <a:rPr sz="2400" spc="-5" dirty="0">
                <a:cs typeface="Times New Roman"/>
              </a:rPr>
              <a:t>Image</a:t>
            </a:r>
            <a:r>
              <a:rPr sz="2400" spc="-3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classification</a:t>
            </a:r>
          </a:p>
          <a:p>
            <a:pPr marL="317500" indent="-30543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18135" algn="l"/>
              </a:tabLst>
            </a:pPr>
            <a:r>
              <a:rPr sz="2400" dirty="0">
                <a:cs typeface="Times New Roman"/>
              </a:rPr>
              <a:t>Financial</a:t>
            </a:r>
            <a:r>
              <a:rPr sz="2400" spc="-5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perdition</a:t>
            </a:r>
            <a:endParaRPr sz="24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42133CCE-CA71-445D-B6E1-827E3B99F96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E2BC633-4C2C-4E27-8BAC-B855B2A8F22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6712" y="379222"/>
            <a:ext cx="141541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5" dirty="0">
                <a:latin typeface="+mn-lt"/>
              </a:rPr>
              <a:t>Neuron</a:t>
            </a:r>
            <a:endParaRPr sz="3400" dirty="0"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952833"/>
            <a:ext cx="6611620" cy="52235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0735863-4912-4543-93C8-D434643D720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BC66756-7700-43EA-BE52-59A5E11E5C3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0963AAB-5227-802B-2255-689F60DB6D4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8756F31-D03F-602A-8E03-2DD5CA1FA32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pic>
        <p:nvPicPr>
          <p:cNvPr id="1026" name="Picture 2" descr="Activation function in Neural Networks">
            <a:extLst>
              <a:ext uri="{FF2B5EF4-FFF2-40B4-BE49-F238E27FC236}">
                <a16:creationId xmlns="" xmlns:a16="http://schemas.microsoft.com/office/drawing/2014/main" id="{75D8CD96-0D3F-3782-14BF-030FAA16D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001" y="1412978"/>
            <a:ext cx="5796668" cy="3616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9220200" y="879322"/>
            <a:ext cx="1333500" cy="1676400"/>
            <a:chOff x="8439418" y="574854"/>
            <a:chExt cx="1333500" cy="1676400"/>
          </a:xfrm>
        </p:grpSpPr>
        <p:cxnSp>
          <p:nvCxnSpPr>
            <p:cNvPr id="5" name="Straight Arrow Connector 4"/>
            <p:cNvCxnSpPr/>
            <p:nvPr/>
          </p:nvCxnSpPr>
          <p:spPr>
            <a:xfrm>
              <a:off x="8553718" y="955854"/>
              <a:ext cx="0" cy="1295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8439418" y="574854"/>
              <a:ext cx="228600" cy="3810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668018" y="574854"/>
              <a:ext cx="1104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bias</a:t>
              </a:r>
              <a:endParaRPr lang="en-IN" dirty="0"/>
            </a:p>
          </p:txBody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268" y="1717522"/>
            <a:ext cx="5410200" cy="30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61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141541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spc="-5" dirty="0">
                <a:latin typeface="+mn-lt"/>
              </a:rPr>
              <a:t>Neuron</a:t>
            </a:r>
            <a:endParaRPr sz="3400" dirty="0"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4567" y="1752600"/>
            <a:ext cx="10222865" cy="29419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DC88E5D-93C9-4ABB-B92F-7A65348BEC1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8C3B201-7E31-4721-8AB7-69A487F2D52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5060"/>
            <a:ext cx="10242550" cy="1231106"/>
          </a:xfrm>
        </p:spPr>
        <p:txBody>
          <a:bodyPr/>
          <a:lstStyle/>
          <a:p>
            <a:r>
              <a:rPr lang="en-IN" spc="500" dirty="0">
                <a:latin typeface="Calibri"/>
                <a:cs typeface="Calibri"/>
              </a:rPr>
              <a:t>NEURAL</a:t>
            </a:r>
            <a:r>
              <a:rPr lang="en-IN" spc="-30" dirty="0">
                <a:latin typeface="Calibri"/>
                <a:cs typeface="Calibri"/>
              </a:rPr>
              <a:t> </a:t>
            </a:r>
            <a:r>
              <a:rPr lang="en-IN" spc="590" dirty="0">
                <a:latin typeface="Calibri"/>
                <a:cs typeface="Calibri"/>
              </a:rPr>
              <a:t>NETWORK</a:t>
            </a:r>
            <a:r>
              <a:rPr lang="en-IN" spc="-30" dirty="0">
                <a:latin typeface="Calibri"/>
                <a:cs typeface="Calibri"/>
              </a:rPr>
              <a:t> </a:t>
            </a:r>
            <a:r>
              <a:rPr lang="en-IN" spc="430" dirty="0">
                <a:latin typeface="Calibri"/>
                <a:cs typeface="Calibri"/>
              </a:rPr>
              <a:t>REPRESENTATIONS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 smtClean="0"/>
              <a:t>Dept of CSE, VVCE, Mysore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  <p:pic>
        <p:nvPicPr>
          <p:cNvPr id="1026" name="Picture 2" descr="What Is A Neural Network? | Introduction To Neural Networks | Edurek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451" y="1905000"/>
            <a:ext cx="5473149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923245"/>
            <a:ext cx="6380107" cy="344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8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67029"/>
            <a:ext cx="1034605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500" dirty="0">
                <a:latin typeface="Calibri"/>
                <a:cs typeface="Calibri"/>
              </a:rPr>
              <a:t>NEURAL</a:t>
            </a:r>
            <a:r>
              <a:rPr sz="4200" spc="-30" dirty="0">
                <a:latin typeface="Calibri"/>
                <a:cs typeface="Calibri"/>
              </a:rPr>
              <a:t> </a:t>
            </a:r>
            <a:r>
              <a:rPr sz="4200" spc="590" dirty="0">
                <a:latin typeface="Calibri"/>
                <a:cs typeface="Calibri"/>
              </a:rPr>
              <a:t>NETWORK</a:t>
            </a:r>
            <a:r>
              <a:rPr sz="4200" spc="-30" dirty="0">
                <a:latin typeface="Calibri"/>
                <a:cs typeface="Calibri"/>
              </a:rPr>
              <a:t> </a:t>
            </a:r>
            <a:r>
              <a:rPr sz="4200" spc="430" dirty="0">
                <a:latin typeface="Calibri"/>
                <a:cs typeface="Calibri"/>
              </a:rPr>
              <a:t>REPRESENTATIONS</a:t>
            </a:r>
            <a:endParaRPr sz="42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2604" y="1490344"/>
            <a:ext cx="6047486" cy="448246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258B0AD-9370-47A0-90D8-970E225B1F2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86B3E2D-3739-4302-8D06-66C14DE45B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1E80BD-AC5B-CB9F-8FD6-45DA2DBBF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444584F-C606-6519-0C57-2C632AEC28B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DE0C9CB-047E-794D-9BDF-7688B396C49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pic>
        <p:nvPicPr>
          <p:cNvPr id="5" name="Picture 2" descr="The Functional Components of Autonomous Vehicles | Robson Forensic">
            <a:extLst>
              <a:ext uri="{FF2B5EF4-FFF2-40B4-BE49-F238E27FC236}">
                <a16:creationId xmlns="" xmlns:a16="http://schemas.microsoft.com/office/drawing/2014/main" id="{BF174A0B-17FC-7F22-6EB4-9FFAEA0C2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0"/>
            <a:ext cx="104251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841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835" y="355600"/>
            <a:ext cx="10286365" cy="579069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B5E8A71-1A2D-405C-B993-4552380A024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7AA95ED-64BF-4F2A-B649-1750D7ECE94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4183" y="592582"/>
            <a:ext cx="10311765" cy="442409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56870" marR="5080" indent="-343535" algn="just">
              <a:lnSpc>
                <a:spcPct val="150000"/>
              </a:lnSpc>
              <a:spcBef>
                <a:spcPts val="204"/>
              </a:spcBef>
              <a:buFont typeface="Arial MT"/>
              <a:buChar char="•"/>
              <a:tabLst>
                <a:tab pos="357505" algn="l"/>
              </a:tabLst>
            </a:pPr>
            <a:r>
              <a:rPr sz="2400" spc="-5" dirty="0">
                <a:cs typeface="Times New Roman"/>
              </a:rPr>
              <a:t>A prototypical example </a:t>
            </a:r>
            <a:r>
              <a:rPr sz="2400" dirty="0">
                <a:cs typeface="Times New Roman"/>
              </a:rPr>
              <a:t>of </a:t>
            </a:r>
            <a:r>
              <a:rPr sz="2400" spc="-5" dirty="0">
                <a:cs typeface="Times New Roman"/>
              </a:rPr>
              <a:t>ANN </a:t>
            </a:r>
            <a:r>
              <a:rPr sz="2400" dirty="0">
                <a:cs typeface="Times New Roman"/>
              </a:rPr>
              <a:t>learning </a:t>
            </a:r>
            <a:r>
              <a:rPr sz="2400" spc="-5" dirty="0">
                <a:cs typeface="Times New Roman"/>
              </a:rPr>
              <a:t>is provided </a:t>
            </a:r>
            <a:r>
              <a:rPr sz="2400" dirty="0">
                <a:cs typeface="Times New Roman"/>
              </a:rPr>
              <a:t>by </a:t>
            </a:r>
            <a:r>
              <a:rPr sz="2400" spc="-5" dirty="0">
                <a:cs typeface="Times New Roman"/>
              </a:rPr>
              <a:t>Pomerleau's </a:t>
            </a:r>
            <a:r>
              <a:rPr sz="2400" dirty="0">
                <a:cs typeface="Times New Roman"/>
              </a:rPr>
              <a:t>(1993) 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system </a:t>
            </a:r>
            <a:r>
              <a:rPr sz="2400" spc="-40" dirty="0">
                <a:cs typeface="Times New Roman"/>
              </a:rPr>
              <a:t>ALVINN, </a:t>
            </a:r>
            <a:r>
              <a:rPr sz="2400" dirty="0">
                <a:cs typeface="Times New Roman"/>
              </a:rPr>
              <a:t>which </a:t>
            </a:r>
            <a:r>
              <a:rPr sz="2400" spc="-5" dirty="0">
                <a:cs typeface="Times New Roman"/>
              </a:rPr>
              <a:t>uses </a:t>
            </a:r>
            <a:r>
              <a:rPr sz="2400" dirty="0">
                <a:cs typeface="Times New Roman"/>
              </a:rPr>
              <a:t>a learned </a:t>
            </a:r>
            <a:r>
              <a:rPr sz="2400" spc="-5" dirty="0">
                <a:cs typeface="Times New Roman"/>
              </a:rPr>
              <a:t>ANN </a:t>
            </a:r>
            <a:r>
              <a:rPr sz="2400" dirty="0">
                <a:cs typeface="Times New Roman"/>
              </a:rPr>
              <a:t>to steer an </a:t>
            </a:r>
            <a:r>
              <a:rPr sz="2400" spc="-5" dirty="0">
                <a:cs typeface="Times New Roman"/>
              </a:rPr>
              <a:t>autonomous vehicle </a:t>
            </a:r>
            <a:r>
              <a:rPr sz="2400" dirty="0">
                <a:cs typeface="Times New Roman"/>
              </a:rPr>
              <a:t> driving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at </a:t>
            </a:r>
            <a:r>
              <a:rPr sz="2400" spc="-5" dirty="0">
                <a:cs typeface="Times New Roman"/>
              </a:rPr>
              <a:t>normal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speeds</a:t>
            </a:r>
            <a:r>
              <a:rPr sz="2400" dirty="0">
                <a:cs typeface="Times New Roman"/>
              </a:rPr>
              <a:t> on public</a:t>
            </a:r>
            <a:r>
              <a:rPr sz="2400" spc="-2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highways.</a:t>
            </a:r>
            <a:endParaRPr sz="2400" dirty="0">
              <a:cs typeface="Times New Roman"/>
            </a:endParaRPr>
          </a:p>
          <a:p>
            <a:pPr algn="just">
              <a:lnSpc>
                <a:spcPct val="150000"/>
              </a:lnSpc>
              <a:spcBef>
                <a:spcPts val="25"/>
              </a:spcBef>
              <a:buFont typeface="Arial MT"/>
              <a:buChar char="•"/>
            </a:pPr>
            <a:endParaRPr sz="2500" dirty="0">
              <a:cs typeface="Times New Roman"/>
            </a:endParaRPr>
          </a:p>
          <a:p>
            <a:pPr marL="356870" marR="5080" indent="-343535" algn="just">
              <a:lnSpc>
                <a:spcPct val="150000"/>
              </a:lnSpc>
              <a:buFont typeface="Arial MT"/>
              <a:buChar char="•"/>
              <a:tabLst>
                <a:tab pos="357505" algn="l"/>
              </a:tabLst>
            </a:pPr>
            <a:r>
              <a:rPr sz="2400" dirty="0">
                <a:cs typeface="Times New Roman"/>
              </a:rPr>
              <a:t>The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input</a:t>
            </a:r>
            <a:r>
              <a:rPr sz="2400" b="1" i="1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 the </a:t>
            </a:r>
            <a:r>
              <a:rPr sz="2400" spc="-5" dirty="0">
                <a:cs typeface="Times New Roman"/>
              </a:rPr>
              <a:t>neural network is </a:t>
            </a:r>
            <a:r>
              <a:rPr sz="2400" dirty="0">
                <a:cs typeface="Times New Roman"/>
              </a:rPr>
              <a:t>a 30x32 grid of pixel </a:t>
            </a:r>
            <a:r>
              <a:rPr sz="2400" spc="-5" dirty="0">
                <a:cs typeface="Times New Roman"/>
              </a:rPr>
              <a:t>intensities obtained </a:t>
            </a:r>
            <a:r>
              <a:rPr sz="2400" dirty="0">
                <a:cs typeface="Times New Roman"/>
              </a:rPr>
              <a:t>from </a:t>
            </a:r>
            <a:r>
              <a:rPr sz="2400" spc="-5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 </a:t>
            </a:r>
            <a:r>
              <a:rPr sz="2400" spc="-5" dirty="0">
                <a:cs typeface="Times New Roman"/>
              </a:rPr>
              <a:t>forward-pointed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camera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mounted</a:t>
            </a:r>
            <a:r>
              <a:rPr sz="2400" dirty="0">
                <a:cs typeface="Times New Roman"/>
              </a:rPr>
              <a:t> on the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vehicle.</a:t>
            </a:r>
          </a:p>
          <a:p>
            <a:pPr algn="just">
              <a:lnSpc>
                <a:spcPct val="150000"/>
              </a:lnSpc>
              <a:spcBef>
                <a:spcPts val="20"/>
              </a:spcBef>
              <a:buFont typeface="Arial MT"/>
              <a:buChar char="•"/>
            </a:pPr>
            <a:endParaRPr sz="2400" dirty="0">
              <a:cs typeface="Times New Roman"/>
            </a:endParaRPr>
          </a:p>
          <a:p>
            <a:pPr marL="356870" indent="-344805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cs typeface="Times New Roman"/>
              </a:rPr>
              <a:t>The network</a:t>
            </a:r>
            <a:r>
              <a:rPr sz="2400" spc="-10" dirty="0">
                <a:cs typeface="Times New Roman"/>
              </a:rPr>
              <a:t> </a:t>
            </a:r>
            <a:r>
              <a:rPr sz="2400" b="1" i="1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output</a:t>
            </a:r>
            <a:r>
              <a:rPr sz="2400" b="1" i="1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is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direction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which the vehicle </a:t>
            </a:r>
            <a:r>
              <a:rPr sz="2400" spc="-5" dirty="0">
                <a:cs typeface="Times New Roman"/>
              </a:rPr>
              <a:t>is</a:t>
            </a:r>
            <a:r>
              <a:rPr sz="2400" spc="-14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steered.</a:t>
            </a:r>
            <a:endParaRPr sz="2400" dirty="0"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D5E69194-30CF-442D-A80F-27EE80D4620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FD93EE2-D6EA-4BE3-8B63-7624D2B4945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97419"/>
            <a:ext cx="11811000" cy="13112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 marR="5080" indent="5715" algn="ctr">
              <a:lnSpc>
                <a:spcPts val="4840"/>
              </a:lnSpc>
              <a:spcBef>
                <a:spcPts val="630"/>
              </a:spcBef>
            </a:pPr>
            <a:r>
              <a:rPr sz="4400" spc="-35" dirty="0">
                <a:latin typeface="+mn-lt"/>
              </a:rPr>
              <a:t>APPROPRIATE </a:t>
            </a:r>
            <a:r>
              <a:rPr sz="4400" dirty="0">
                <a:latin typeface="+mn-lt"/>
              </a:rPr>
              <a:t>PROBLEMS FOR </a:t>
            </a:r>
            <a:r>
              <a:rPr lang="en-US" sz="4400" dirty="0">
                <a:latin typeface="+mn-lt"/>
              </a:rPr>
              <a:t/>
            </a:r>
            <a:br>
              <a:rPr lang="en-US" sz="4400" dirty="0">
                <a:latin typeface="+mn-lt"/>
              </a:rPr>
            </a:br>
            <a:r>
              <a:rPr sz="4400" spc="-1085" dirty="0">
                <a:latin typeface="+mn-lt"/>
              </a:rPr>
              <a:t> </a:t>
            </a:r>
            <a:r>
              <a:rPr sz="4400" dirty="0">
                <a:latin typeface="+mn-lt"/>
              </a:rPr>
              <a:t>NEURAL</a:t>
            </a:r>
            <a:r>
              <a:rPr sz="4400" spc="-15" dirty="0">
                <a:latin typeface="+mn-lt"/>
              </a:rPr>
              <a:t> </a:t>
            </a:r>
            <a:r>
              <a:rPr sz="4400" dirty="0">
                <a:latin typeface="+mn-lt"/>
              </a:rPr>
              <a:t>NETWORK</a:t>
            </a:r>
            <a:r>
              <a:rPr sz="4400" spc="-250" dirty="0">
                <a:latin typeface="+mn-lt"/>
              </a:rPr>
              <a:t> </a:t>
            </a:r>
            <a:r>
              <a:rPr sz="4400" dirty="0">
                <a:latin typeface="+mn-lt"/>
              </a:rPr>
              <a:t>LEARN</a:t>
            </a:r>
            <a:r>
              <a:rPr sz="4400" spc="-15" dirty="0">
                <a:latin typeface="+mn-lt"/>
              </a:rPr>
              <a:t>I</a:t>
            </a:r>
            <a:r>
              <a:rPr sz="4400" dirty="0">
                <a:latin typeface="+mn-lt"/>
              </a:rPr>
              <a:t>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845" y="1143000"/>
            <a:ext cx="10354310" cy="5462201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180"/>
              </a:spcBef>
            </a:pPr>
            <a:r>
              <a:rPr sz="2400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ANN</a:t>
            </a:r>
            <a:r>
              <a:rPr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is</a:t>
            </a:r>
            <a:r>
              <a:rPr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appropriate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for</a:t>
            </a:r>
            <a:r>
              <a:rPr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problems</a:t>
            </a:r>
            <a:r>
              <a:rPr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with</a:t>
            </a:r>
            <a:r>
              <a:rPr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the</a:t>
            </a:r>
            <a:r>
              <a:rPr sz="2400" u="heavy" spc="5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following</a:t>
            </a:r>
            <a:r>
              <a:rPr sz="2400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characteristics :</a:t>
            </a:r>
            <a:endParaRPr sz="2400" dirty="0"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10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cs typeface="Times New Roman"/>
              </a:rPr>
              <a:t>Instances</a:t>
            </a:r>
            <a:r>
              <a:rPr sz="2400" dirty="0">
                <a:cs typeface="Times New Roman"/>
              </a:rPr>
              <a:t> are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represented</a:t>
            </a:r>
            <a:r>
              <a:rPr sz="2400" dirty="0">
                <a:cs typeface="Times New Roman"/>
              </a:rPr>
              <a:t> by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many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attribute-value</a:t>
            </a:r>
            <a:r>
              <a:rPr sz="2400" spc="-9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pairs.</a:t>
            </a:r>
            <a:endParaRPr sz="2400" dirty="0"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  <a:tab pos="855344" algn="l"/>
                <a:tab pos="1685925" algn="l"/>
                <a:tab pos="2842895" algn="l"/>
                <a:tab pos="3761740" algn="l"/>
                <a:tab pos="4424680" algn="l"/>
                <a:tab pos="4854575" algn="l"/>
                <a:tab pos="6930390" algn="l"/>
                <a:tab pos="8519160" algn="l"/>
                <a:tab pos="8913495" algn="l"/>
                <a:tab pos="9189720" algn="l"/>
                <a:tab pos="10093325" algn="l"/>
              </a:tabLst>
            </a:pPr>
            <a:r>
              <a:rPr sz="2400" dirty="0">
                <a:cs typeface="Times New Roman"/>
              </a:rPr>
              <a:t>The	t</a:t>
            </a:r>
            <a:r>
              <a:rPr sz="2400" spc="5" dirty="0">
                <a:cs typeface="Times New Roman"/>
              </a:rPr>
              <a:t>a</a:t>
            </a:r>
            <a:r>
              <a:rPr sz="2400" dirty="0">
                <a:cs typeface="Times New Roman"/>
              </a:rPr>
              <a:t>rget	function	output	</a:t>
            </a:r>
            <a:r>
              <a:rPr sz="2400" spc="-20" dirty="0">
                <a:cs typeface="Times New Roman"/>
              </a:rPr>
              <a:t>m</a:t>
            </a:r>
            <a:r>
              <a:rPr sz="2400" dirty="0">
                <a:cs typeface="Times New Roman"/>
              </a:rPr>
              <a:t>ay	be	dis</a:t>
            </a:r>
            <a:r>
              <a:rPr sz="2400" spc="5" dirty="0">
                <a:cs typeface="Times New Roman"/>
              </a:rPr>
              <a:t>c</a:t>
            </a:r>
            <a:r>
              <a:rPr sz="2400" dirty="0">
                <a:cs typeface="Times New Roman"/>
              </a:rPr>
              <a:t>ret</a:t>
            </a:r>
            <a:r>
              <a:rPr sz="2400" spc="5" dirty="0">
                <a:cs typeface="Times New Roman"/>
              </a:rPr>
              <a:t>e</a:t>
            </a:r>
            <a:r>
              <a:rPr sz="2400" dirty="0">
                <a:cs typeface="Times New Roman"/>
              </a:rPr>
              <a:t>-</a:t>
            </a:r>
            <a:r>
              <a:rPr sz="2400" spc="-15" dirty="0">
                <a:cs typeface="Times New Roman"/>
              </a:rPr>
              <a:t>v</a:t>
            </a:r>
            <a:r>
              <a:rPr sz="2400" dirty="0">
                <a:cs typeface="Times New Roman"/>
              </a:rPr>
              <a:t>alued,	rea</a:t>
            </a:r>
            <a:r>
              <a:rPr sz="2400" spc="-5" dirty="0">
                <a:cs typeface="Times New Roman"/>
              </a:rPr>
              <a:t>l</a:t>
            </a:r>
            <a:r>
              <a:rPr sz="2400" dirty="0">
                <a:cs typeface="Times New Roman"/>
              </a:rPr>
              <a:t>-val</a:t>
            </a:r>
            <a:r>
              <a:rPr sz="2400" spc="-15" dirty="0">
                <a:cs typeface="Times New Roman"/>
              </a:rPr>
              <a:t>u</a:t>
            </a:r>
            <a:r>
              <a:rPr sz="2400" dirty="0">
                <a:cs typeface="Times New Roman"/>
              </a:rPr>
              <a:t>ed,	or	a	vec</a:t>
            </a:r>
            <a:r>
              <a:rPr sz="2400" spc="5" dirty="0">
                <a:cs typeface="Times New Roman"/>
              </a:rPr>
              <a:t>t</a:t>
            </a:r>
            <a:r>
              <a:rPr sz="2400" dirty="0">
                <a:cs typeface="Times New Roman"/>
              </a:rPr>
              <a:t>or	</a:t>
            </a:r>
            <a:r>
              <a:rPr sz="2400" spc="-50" dirty="0">
                <a:cs typeface="Times New Roman"/>
              </a:rPr>
              <a:t>o</a:t>
            </a:r>
            <a:r>
              <a:rPr sz="2400" dirty="0">
                <a:cs typeface="Times New Roman"/>
              </a:rPr>
              <a:t>f  several real-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or </a:t>
            </a:r>
            <a:r>
              <a:rPr sz="2400" spc="-5" dirty="0">
                <a:cs typeface="Times New Roman"/>
              </a:rPr>
              <a:t>discrete-valued</a:t>
            </a:r>
            <a:r>
              <a:rPr sz="2400" spc="-9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attributes.</a:t>
            </a:r>
            <a:endParaRPr sz="2400" dirty="0"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127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The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training</a:t>
            </a:r>
            <a:r>
              <a:rPr sz="2400" spc="-2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examples</a:t>
            </a:r>
            <a:r>
              <a:rPr sz="2400" dirty="0">
                <a:cs typeface="Times New Roman"/>
              </a:rPr>
              <a:t> may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contain</a:t>
            </a:r>
            <a:r>
              <a:rPr sz="2400" spc="-6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errors.</a:t>
            </a:r>
          </a:p>
          <a:p>
            <a:pPr marL="241300" indent="-228600">
              <a:lnSpc>
                <a:spcPct val="150000"/>
              </a:lnSpc>
              <a:spcBef>
                <a:spcPts val="12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Long</a:t>
            </a:r>
            <a:r>
              <a:rPr sz="2400" spc="-5" dirty="0">
                <a:cs typeface="Times New Roman"/>
              </a:rPr>
              <a:t> training times </a:t>
            </a:r>
            <a:r>
              <a:rPr sz="2400" dirty="0">
                <a:cs typeface="Times New Roman"/>
              </a:rPr>
              <a:t>are</a:t>
            </a:r>
            <a:r>
              <a:rPr sz="2400" spc="-3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acceptable.</a:t>
            </a:r>
            <a:endParaRPr sz="2400" dirty="0"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13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cs typeface="Times New Roman"/>
              </a:rPr>
              <a:t>Fast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evaluation</a:t>
            </a:r>
            <a:r>
              <a:rPr sz="2400" dirty="0">
                <a:cs typeface="Times New Roman"/>
              </a:rPr>
              <a:t> of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learned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target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function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may</a:t>
            </a:r>
            <a:r>
              <a:rPr sz="2400" dirty="0">
                <a:cs typeface="Times New Roman"/>
              </a:rPr>
              <a:t> be</a:t>
            </a:r>
            <a:r>
              <a:rPr sz="2400" spc="-9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required</a:t>
            </a:r>
            <a:endParaRPr sz="2400" dirty="0"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12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The ability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of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humans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understand</a:t>
            </a:r>
            <a:r>
              <a:rPr sz="2400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learned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target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function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not</a:t>
            </a:r>
            <a:r>
              <a:rPr sz="2400" spc="-12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important</a:t>
            </a:r>
            <a:endParaRPr sz="24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BE3DE87-FF8E-40DE-B011-DDFD12ACD3E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4145280" y="6515100"/>
            <a:ext cx="3901440" cy="342900"/>
          </a:xfrm>
        </p:spPr>
        <p:txBody>
          <a:bodyPr/>
          <a:lstStyle/>
          <a:p>
            <a:r>
              <a:rPr lang="en-IN" dirty="0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09F32BD-CDE4-45C3-AE92-9F53C80F0C2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9850" y="304800"/>
            <a:ext cx="951229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+mn-lt"/>
              </a:rPr>
              <a:t>Architectures</a:t>
            </a:r>
            <a:r>
              <a:rPr spc="15" dirty="0">
                <a:latin typeface="+mn-lt"/>
              </a:rPr>
              <a:t> </a:t>
            </a:r>
            <a:r>
              <a:rPr spc="-5" dirty="0">
                <a:latin typeface="+mn-lt"/>
              </a:rPr>
              <a:t>of</a:t>
            </a:r>
            <a:r>
              <a:rPr spc="10" dirty="0">
                <a:latin typeface="+mn-lt"/>
              </a:rPr>
              <a:t> </a:t>
            </a:r>
            <a:r>
              <a:rPr spc="-5" dirty="0">
                <a:latin typeface="+mn-lt"/>
              </a:rPr>
              <a:t>Artificial</a:t>
            </a:r>
            <a:r>
              <a:rPr spc="-10" dirty="0">
                <a:latin typeface="+mn-lt"/>
              </a:rPr>
              <a:t> </a:t>
            </a:r>
            <a:r>
              <a:rPr spc="-5" dirty="0">
                <a:latin typeface="+mn-lt"/>
              </a:rPr>
              <a:t>Neural</a:t>
            </a:r>
            <a:r>
              <a:rPr spc="10" dirty="0">
                <a:latin typeface="+mn-lt"/>
              </a:rPr>
              <a:t> </a:t>
            </a:r>
            <a:r>
              <a:rPr spc="-5" dirty="0">
                <a:latin typeface="+mn-lt"/>
              </a:rPr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716" y="939800"/>
            <a:ext cx="10362565" cy="5972917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13335" algn="just">
              <a:lnSpc>
                <a:spcPct val="150000"/>
              </a:lnSpc>
              <a:spcBef>
                <a:spcPts val="425"/>
              </a:spcBef>
            </a:pPr>
            <a:r>
              <a:rPr sz="2200" spc="-5" dirty="0">
                <a:cs typeface="Times New Roman"/>
              </a:rPr>
              <a:t>An</a:t>
            </a:r>
            <a:r>
              <a:rPr sz="2200" spc="53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artificial</a:t>
            </a:r>
            <a:r>
              <a:rPr sz="2200" spc="52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neural</a:t>
            </a:r>
            <a:r>
              <a:rPr sz="2200" spc="54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network</a:t>
            </a:r>
            <a:r>
              <a:rPr sz="2200" spc="54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can</a:t>
            </a:r>
            <a:r>
              <a:rPr sz="2200" spc="54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be</a:t>
            </a:r>
            <a:r>
              <a:rPr sz="2200" spc="54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divided</a:t>
            </a:r>
            <a:r>
              <a:rPr sz="2200" spc="54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into</a:t>
            </a:r>
            <a:r>
              <a:rPr sz="2200" spc="54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three</a:t>
            </a:r>
            <a:r>
              <a:rPr sz="2200" spc="54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parts</a:t>
            </a:r>
            <a:r>
              <a:rPr sz="2200" spc="55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(layers),</a:t>
            </a:r>
            <a:r>
              <a:rPr sz="2200" spc="53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which</a:t>
            </a:r>
            <a:r>
              <a:rPr sz="2200" spc="54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are </a:t>
            </a:r>
            <a:r>
              <a:rPr sz="2200" spc="-58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known</a:t>
            </a:r>
            <a:r>
              <a:rPr sz="2200" spc="-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as:</a:t>
            </a:r>
            <a:endParaRPr sz="2200" dirty="0">
              <a:cs typeface="Times New Roman"/>
            </a:endParaRPr>
          </a:p>
          <a:p>
            <a:pPr marL="241300" marR="8890" indent="-228600" algn="just">
              <a:lnSpc>
                <a:spcPct val="15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i="1" spc="-5" dirty="0">
                <a:cs typeface="Times New Roman"/>
              </a:rPr>
              <a:t>Input </a:t>
            </a:r>
            <a:r>
              <a:rPr sz="2200" b="1" i="1" dirty="0">
                <a:cs typeface="Times New Roman"/>
              </a:rPr>
              <a:t>layer: </a:t>
            </a:r>
            <a:r>
              <a:rPr sz="2200" dirty="0">
                <a:cs typeface="Times New Roman"/>
              </a:rPr>
              <a:t>This layer </a:t>
            </a:r>
            <a:r>
              <a:rPr sz="2200" spc="-5" dirty="0">
                <a:cs typeface="Times New Roman"/>
              </a:rPr>
              <a:t>is responsible </a:t>
            </a:r>
            <a:r>
              <a:rPr sz="2200" dirty="0">
                <a:cs typeface="Times New Roman"/>
              </a:rPr>
              <a:t>for </a:t>
            </a:r>
            <a:r>
              <a:rPr sz="2200" spc="-5" dirty="0">
                <a:cs typeface="Times New Roman"/>
              </a:rPr>
              <a:t>receiving </a:t>
            </a:r>
            <a:r>
              <a:rPr sz="2200" dirty="0">
                <a:cs typeface="Times New Roman"/>
              </a:rPr>
              <a:t>information </a:t>
            </a:r>
            <a:r>
              <a:rPr sz="2200" spc="-5" dirty="0">
                <a:cs typeface="Times New Roman"/>
              </a:rPr>
              <a:t>(data), </a:t>
            </a:r>
            <a:r>
              <a:rPr sz="2200" dirty="0">
                <a:cs typeface="Times New Roman"/>
              </a:rPr>
              <a:t>signals, 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features, or </a:t>
            </a:r>
            <a:r>
              <a:rPr sz="2200" spc="-5" dirty="0">
                <a:cs typeface="Times New Roman"/>
              </a:rPr>
              <a:t>measurements </a:t>
            </a:r>
            <a:r>
              <a:rPr sz="2200" dirty="0">
                <a:cs typeface="Times New Roman"/>
              </a:rPr>
              <a:t>from the external </a:t>
            </a:r>
            <a:r>
              <a:rPr sz="2200" spc="-5" dirty="0">
                <a:cs typeface="Times New Roman"/>
              </a:rPr>
              <a:t>environment. </a:t>
            </a:r>
            <a:r>
              <a:rPr sz="2200" dirty="0">
                <a:cs typeface="Times New Roman"/>
              </a:rPr>
              <a:t>These inputs </a:t>
            </a:r>
            <a:r>
              <a:rPr sz="2200" spc="-5" dirty="0">
                <a:cs typeface="Times New Roman"/>
              </a:rPr>
              <a:t>are </a:t>
            </a:r>
            <a:r>
              <a:rPr sz="2200" dirty="0">
                <a:cs typeface="Times New Roman"/>
              </a:rPr>
              <a:t>usually </a:t>
            </a:r>
            <a:r>
              <a:rPr sz="2200" spc="-58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normalized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within</a:t>
            </a:r>
            <a:r>
              <a:rPr sz="2200" dirty="0">
                <a:cs typeface="Times New Roman"/>
              </a:rPr>
              <a:t> the</a:t>
            </a:r>
            <a:r>
              <a:rPr sz="2200" spc="-5" dirty="0">
                <a:cs typeface="Times New Roman"/>
              </a:rPr>
              <a:t> limit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values</a:t>
            </a:r>
            <a:r>
              <a:rPr sz="2200" dirty="0">
                <a:cs typeface="Times New Roman"/>
              </a:rPr>
              <a:t> produced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by </a:t>
            </a:r>
            <a:r>
              <a:rPr sz="2200" spc="-5" dirty="0">
                <a:cs typeface="Times New Roman"/>
              </a:rPr>
              <a:t>activation</a:t>
            </a:r>
            <a:r>
              <a:rPr sz="2200" spc="-11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functions</a:t>
            </a:r>
          </a:p>
          <a:p>
            <a:pPr marL="241300" marR="5080" indent="-228600" algn="just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i="1" dirty="0">
                <a:cs typeface="Times New Roman"/>
              </a:rPr>
              <a:t>Hidden, </a:t>
            </a:r>
            <a:r>
              <a:rPr sz="2200" b="1" i="1" spc="-5" dirty="0">
                <a:cs typeface="Times New Roman"/>
              </a:rPr>
              <a:t>intermediate, or </a:t>
            </a:r>
            <a:r>
              <a:rPr sz="2200" b="1" i="1" dirty="0">
                <a:cs typeface="Times New Roman"/>
              </a:rPr>
              <a:t>invisible layers: </a:t>
            </a:r>
            <a:r>
              <a:rPr sz="2200" spc="-5" dirty="0">
                <a:cs typeface="Times New Roman"/>
              </a:rPr>
              <a:t>These </a:t>
            </a:r>
            <a:r>
              <a:rPr sz="2200" dirty="0">
                <a:cs typeface="Times New Roman"/>
              </a:rPr>
              <a:t>layers are </a:t>
            </a:r>
            <a:r>
              <a:rPr sz="2200" spc="-5" dirty="0">
                <a:cs typeface="Times New Roman"/>
              </a:rPr>
              <a:t>composed </a:t>
            </a:r>
            <a:r>
              <a:rPr sz="2200" dirty="0">
                <a:cs typeface="Times New Roman"/>
              </a:rPr>
              <a:t>of </a:t>
            </a:r>
            <a:r>
              <a:rPr sz="2200" spc="-5" dirty="0">
                <a:cs typeface="Times New Roman"/>
              </a:rPr>
              <a:t>neurons 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which </a:t>
            </a:r>
            <a:r>
              <a:rPr sz="2200" dirty="0">
                <a:cs typeface="Times New Roman"/>
              </a:rPr>
              <a:t>are responsible for </a:t>
            </a:r>
            <a:r>
              <a:rPr sz="2200" spc="-5" dirty="0">
                <a:cs typeface="Times New Roman"/>
              </a:rPr>
              <a:t>extracting </a:t>
            </a:r>
            <a:r>
              <a:rPr sz="2200" dirty="0">
                <a:cs typeface="Times New Roman"/>
              </a:rPr>
              <a:t>patterns </a:t>
            </a:r>
            <a:r>
              <a:rPr sz="2200" spc="-5" dirty="0">
                <a:cs typeface="Times New Roman"/>
              </a:rPr>
              <a:t>associated </a:t>
            </a:r>
            <a:r>
              <a:rPr sz="2200" dirty="0">
                <a:cs typeface="Times New Roman"/>
              </a:rPr>
              <a:t>with the </a:t>
            </a:r>
            <a:r>
              <a:rPr sz="2200" spc="-5" dirty="0">
                <a:cs typeface="Times New Roman"/>
              </a:rPr>
              <a:t>process </a:t>
            </a:r>
            <a:r>
              <a:rPr sz="2200" dirty="0">
                <a:cs typeface="Times New Roman"/>
              </a:rPr>
              <a:t>or </a:t>
            </a:r>
            <a:r>
              <a:rPr sz="2200" spc="-5" dirty="0">
                <a:cs typeface="Times New Roman"/>
              </a:rPr>
              <a:t>system </a:t>
            </a:r>
            <a:r>
              <a:rPr sz="2200" spc="-58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being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analysed.</a:t>
            </a:r>
            <a:r>
              <a:rPr sz="2200" dirty="0">
                <a:cs typeface="Times New Roman"/>
              </a:rPr>
              <a:t> These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layers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perform</a:t>
            </a:r>
            <a:r>
              <a:rPr sz="2200" dirty="0">
                <a:cs typeface="Times New Roman"/>
              </a:rPr>
              <a:t> most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of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the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internal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processing</a:t>
            </a:r>
            <a:r>
              <a:rPr sz="2200" dirty="0">
                <a:cs typeface="Times New Roman"/>
              </a:rPr>
              <a:t> from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a </a:t>
            </a:r>
            <a:r>
              <a:rPr sz="2200" spc="-58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network.</a:t>
            </a:r>
          </a:p>
          <a:p>
            <a:pPr marL="241300" marR="8255" indent="-228600" algn="just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i="1" spc="-5" dirty="0">
                <a:cs typeface="Times New Roman"/>
              </a:rPr>
              <a:t>Output layer </a:t>
            </a:r>
            <a:r>
              <a:rPr sz="2200" b="1" i="1" dirty="0">
                <a:cs typeface="Times New Roman"/>
              </a:rPr>
              <a:t>: </a:t>
            </a:r>
            <a:r>
              <a:rPr sz="2200" dirty="0">
                <a:cs typeface="Times New Roman"/>
              </a:rPr>
              <a:t>This </a:t>
            </a:r>
            <a:r>
              <a:rPr sz="2200" spc="-5" dirty="0">
                <a:cs typeface="Times New Roman"/>
              </a:rPr>
              <a:t>layer is also composed </a:t>
            </a:r>
            <a:r>
              <a:rPr sz="2200" dirty="0">
                <a:cs typeface="Times New Roman"/>
              </a:rPr>
              <a:t>of neurons, and thus </a:t>
            </a:r>
            <a:r>
              <a:rPr sz="2200" spc="-5" dirty="0">
                <a:cs typeface="Times New Roman"/>
              </a:rPr>
              <a:t>is responsible </a:t>
            </a:r>
            <a:r>
              <a:rPr sz="2200" dirty="0">
                <a:cs typeface="Times New Roman"/>
              </a:rPr>
              <a:t>for 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producing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and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presenting</a:t>
            </a:r>
            <a:r>
              <a:rPr sz="2200" dirty="0">
                <a:cs typeface="Times New Roman"/>
              </a:rPr>
              <a:t> the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final</a:t>
            </a:r>
            <a:r>
              <a:rPr sz="2200" dirty="0">
                <a:cs typeface="Times New Roman"/>
              </a:rPr>
              <a:t> network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outputs,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which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result</a:t>
            </a:r>
            <a:r>
              <a:rPr sz="2200" dirty="0">
                <a:cs typeface="Times New Roman"/>
              </a:rPr>
              <a:t> from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the 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processing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performed</a:t>
            </a:r>
            <a:r>
              <a:rPr sz="2200" dirty="0">
                <a:cs typeface="Times New Roman"/>
              </a:rPr>
              <a:t> by</a:t>
            </a:r>
            <a:r>
              <a:rPr sz="2200" spc="1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the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neurons </a:t>
            </a:r>
            <a:r>
              <a:rPr sz="2200" dirty="0">
                <a:cs typeface="Times New Roman"/>
              </a:rPr>
              <a:t>in</a:t>
            </a:r>
            <a:r>
              <a:rPr sz="2200" spc="2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the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previous</a:t>
            </a:r>
            <a:r>
              <a:rPr sz="2200" spc="-5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layers.</a:t>
            </a:r>
            <a:endParaRPr sz="22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EBF49DF-0091-4645-A707-2CC0BF3A9A0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CF71A8C-D87F-4EC0-AAE5-D40A342542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Architectures</a:t>
            </a:r>
            <a:r>
              <a:rPr spc="15" dirty="0"/>
              <a:t> </a:t>
            </a:r>
            <a:r>
              <a:rPr spc="-5" dirty="0"/>
              <a:t>of</a:t>
            </a:r>
            <a:r>
              <a:rPr spc="10" dirty="0"/>
              <a:t> </a:t>
            </a:r>
            <a:r>
              <a:rPr spc="-5" dirty="0"/>
              <a:t>Artificial</a:t>
            </a:r>
            <a:r>
              <a:rPr spc="-10" dirty="0"/>
              <a:t> </a:t>
            </a:r>
            <a:r>
              <a:rPr spc="-5" dirty="0"/>
              <a:t>Neural</a:t>
            </a:r>
            <a:r>
              <a:rPr spc="10" dirty="0"/>
              <a:t> </a:t>
            </a:r>
            <a:r>
              <a:rPr spc="-5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226565"/>
            <a:ext cx="10362565" cy="4363182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algn="just">
              <a:lnSpc>
                <a:spcPct val="150000"/>
              </a:lnSpc>
              <a:spcBef>
                <a:spcPts val="390"/>
              </a:spcBef>
            </a:pPr>
            <a:r>
              <a:rPr sz="2400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main</a:t>
            </a:r>
            <a:r>
              <a:rPr sz="2400" dirty="0">
                <a:cs typeface="Times New Roman"/>
              </a:rPr>
              <a:t> architectures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artificial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neural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networks,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considering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the</a:t>
            </a:r>
            <a:r>
              <a:rPr sz="2400" dirty="0">
                <a:cs typeface="Times New Roman"/>
              </a:rPr>
              <a:t> neuron 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disposition, how they are </a:t>
            </a:r>
            <a:r>
              <a:rPr sz="2400" spc="-5" dirty="0">
                <a:cs typeface="Times New Roman"/>
              </a:rPr>
              <a:t>interconnected </a:t>
            </a:r>
            <a:r>
              <a:rPr sz="2400" dirty="0">
                <a:cs typeface="Times New Roman"/>
              </a:rPr>
              <a:t>and </a:t>
            </a:r>
            <a:r>
              <a:rPr sz="2400" spc="-10" dirty="0">
                <a:cs typeface="Times New Roman"/>
              </a:rPr>
              <a:t>how </a:t>
            </a:r>
            <a:r>
              <a:rPr sz="2400" dirty="0">
                <a:cs typeface="Times New Roman"/>
              </a:rPr>
              <a:t>its </a:t>
            </a:r>
            <a:r>
              <a:rPr sz="2400" spc="-5" dirty="0">
                <a:cs typeface="Times New Roman"/>
              </a:rPr>
              <a:t>layers </a:t>
            </a:r>
            <a:r>
              <a:rPr sz="2400" dirty="0">
                <a:cs typeface="Times New Roman"/>
              </a:rPr>
              <a:t>are </a:t>
            </a:r>
            <a:r>
              <a:rPr sz="2400" spc="-5" dirty="0">
                <a:cs typeface="Times New Roman"/>
              </a:rPr>
              <a:t>composed, </a:t>
            </a:r>
            <a:r>
              <a:rPr sz="2400" dirty="0">
                <a:cs typeface="Times New Roman"/>
              </a:rPr>
              <a:t>can </a:t>
            </a:r>
            <a:r>
              <a:rPr sz="2400" spc="-25" dirty="0">
                <a:cs typeface="Times New Roman"/>
              </a:rPr>
              <a:t>be 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divided</a:t>
            </a:r>
            <a:r>
              <a:rPr sz="2400" spc="-5" dirty="0">
                <a:cs typeface="Times New Roman"/>
              </a:rPr>
              <a:t> as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follows:</a:t>
            </a:r>
            <a:endParaRPr sz="2400" dirty="0">
              <a:cs typeface="Times New Roman"/>
            </a:endParaRPr>
          </a:p>
          <a:p>
            <a:pPr>
              <a:lnSpc>
                <a:spcPct val="150000"/>
              </a:lnSpc>
              <a:spcBef>
                <a:spcPts val="55"/>
              </a:spcBef>
            </a:pPr>
            <a:endParaRPr sz="3700" dirty="0">
              <a:cs typeface="Times New Roman"/>
            </a:endParaRPr>
          </a:p>
          <a:p>
            <a:pPr marL="1181735" indent="-457834">
              <a:lnSpc>
                <a:spcPct val="150000"/>
              </a:lnSpc>
              <a:buAutoNum type="arabicPeriod"/>
              <a:tabLst>
                <a:tab pos="1181735" algn="l"/>
                <a:tab pos="1182370" algn="l"/>
              </a:tabLst>
            </a:pPr>
            <a:r>
              <a:rPr sz="2400" dirty="0">
                <a:cs typeface="Times New Roman"/>
              </a:rPr>
              <a:t>Single-layer</a:t>
            </a:r>
            <a:r>
              <a:rPr sz="2400" spc="-3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feedforward</a:t>
            </a:r>
            <a:r>
              <a:rPr sz="2400" spc="-5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network</a:t>
            </a:r>
          </a:p>
          <a:p>
            <a:pPr marL="1181735" indent="-457834">
              <a:lnSpc>
                <a:spcPct val="150000"/>
              </a:lnSpc>
              <a:spcBef>
                <a:spcPts val="710"/>
              </a:spcBef>
              <a:buAutoNum type="arabicPeriod"/>
              <a:tabLst>
                <a:tab pos="1181735" algn="l"/>
                <a:tab pos="1182370" algn="l"/>
              </a:tabLst>
            </a:pPr>
            <a:r>
              <a:rPr sz="2400" spc="-5" dirty="0">
                <a:cs typeface="Times New Roman"/>
              </a:rPr>
              <a:t>Multi-layer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feedforward</a:t>
            </a:r>
            <a:r>
              <a:rPr sz="2400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networks</a:t>
            </a:r>
            <a:endParaRPr sz="2400" dirty="0">
              <a:cs typeface="Times New Roman"/>
            </a:endParaRPr>
          </a:p>
          <a:p>
            <a:pPr marL="1181735" indent="-457834">
              <a:lnSpc>
                <a:spcPct val="150000"/>
              </a:lnSpc>
              <a:spcBef>
                <a:spcPts val="710"/>
              </a:spcBef>
              <a:buAutoNum type="arabicPeriod"/>
              <a:tabLst>
                <a:tab pos="1181735" algn="l"/>
                <a:tab pos="1182370" algn="l"/>
              </a:tabLst>
            </a:pPr>
            <a:r>
              <a:rPr sz="2400" dirty="0">
                <a:cs typeface="Times New Roman"/>
              </a:rPr>
              <a:t>Recurrent </a:t>
            </a:r>
            <a:r>
              <a:rPr sz="2400" spc="-10" dirty="0">
                <a:cs typeface="Times New Roman"/>
              </a:rPr>
              <a:t>or</a:t>
            </a:r>
            <a:r>
              <a:rPr sz="2400" spc="-5" dirty="0">
                <a:cs typeface="Times New Roman"/>
              </a:rPr>
              <a:t> Feedback</a:t>
            </a:r>
            <a:r>
              <a:rPr sz="2400" spc="-3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networks</a:t>
            </a:r>
            <a:endParaRPr sz="24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B049BC0-09BE-4487-BFC0-0331E49AFB2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07DE193-BDFF-4D20-AC1A-D00CA16802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2355" y="3380953"/>
            <a:ext cx="5191838" cy="347001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533146"/>
            <a:ext cx="6245861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+mn-lt"/>
              </a:rPr>
              <a:t>Single-Layer</a:t>
            </a:r>
            <a:r>
              <a:rPr sz="2400" spc="-20" dirty="0">
                <a:latin typeface="+mn-lt"/>
              </a:rPr>
              <a:t> </a:t>
            </a:r>
            <a:r>
              <a:rPr sz="2400" dirty="0">
                <a:latin typeface="+mn-lt"/>
              </a:rPr>
              <a:t>Feedforward</a:t>
            </a:r>
            <a:r>
              <a:rPr sz="2400" spc="-20" dirty="0">
                <a:latin typeface="+mn-lt"/>
              </a:rPr>
              <a:t> </a:t>
            </a:r>
            <a:r>
              <a:rPr sz="2400" dirty="0">
                <a:latin typeface="+mn-lt"/>
              </a:rPr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962725"/>
            <a:ext cx="10071735" cy="2575704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41300" marR="75565" indent="-228600">
              <a:lnSpc>
                <a:spcPct val="150000"/>
              </a:lnSpc>
              <a:spcBef>
                <a:spcPts val="384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cs typeface="Times New Roman"/>
              </a:rPr>
              <a:t>This </a:t>
            </a:r>
            <a:r>
              <a:rPr sz="2000" spc="-5" dirty="0">
                <a:cs typeface="Times New Roman"/>
              </a:rPr>
              <a:t>artificial </a:t>
            </a:r>
            <a:r>
              <a:rPr sz="2000" dirty="0">
                <a:cs typeface="Times New Roman"/>
              </a:rPr>
              <a:t>neural network has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just </a:t>
            </a:r>
            <a:r>
              <a:rPr sz="2000" spc="5" dirty="0">
                <a:solidFill>
                  <a:srgbClr val="FF0000"/>
                </a:solidFill>
                <a:cs typeface="Times New Roman"/>
              </a:rPr>
              <a:t>one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input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layer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and a </a:t>
            </a:r>
            <a:r>
              <a:rPr sz="2000" spc="5" dirty="0">
                <a:solidFill>
                  <a:srgbClr val="FF0000"/>
                </a:solidFill>
                <a:cs typeface="Times New Roman"/>
              </a:rPr>
              <a:t>single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neural </a:t>
            </a:r>
            <a:r>
              <a:rPr sz="2000" spc="-30" dirty="0">
                <a:solidFill>
                  <a:srgbClr val="FF0000"/>
                </a:solidFill>
                <a:cs typeface="Times New Roman"/>
              </a:rPr>
              <a:t>laye</a:t>
            </a:r>
            <a:r>
              <a:rPr sz="2000" spc="-30" dirty="0">
                <a:cs typeface="Times New Roman"/>
              </a:rPr>
              <a:t>r, </a:t>
            </a:r>
            <a:r>
              <a:rPr sz="2000" dirty="0">
                <a:cs typeface="Times New Roman"/>
              </a:rPr>
              <a:t>which is </a:t>
            </a:r>
            <a:r>
              <a:rPr sz="2000" spc="-5" dirty="0">
                <a:cs typeface="Times New Roman"/>
              </a:rPr>
              <a:t>also </a:t>
            </a:r>
            <a:r>
              <a:rPr sz="2000" dirty="0">
                <a:cs typeface="Times New Roman"/>
              </a:rPr>
              <a:t>the </a:t>
            </a:r>
            <a:r>
              <a:rPr sz="2000" spc="-484" dirty="0"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output</a:t>
            </a:r>
            <a:r>
              <a:rPr sz="2000" spc="-3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25" dirty="0">
                <a:solidFill>
                  <a:srgbClr val="FF0000"/>
                </a:solidFill>
                <a:cs typeface="Times New Roman"/>
              </a:rPr>
              <a:t>layer</a:t>
            </a:r>
            <a:r>
              <a:rPr sz="2000" spc="-25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241300" indent="-228600">
              <a:lnSpc>
                <a:spcPct val="150000"/>
              </a:lnSpc>
              <a:spcBef>
                <a:spcPts val="7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cs typeface="Times New Roman"/>
              </a:rPr>
              <a:t>Figure</a:t>
            </a:r>
            <a:r>
              <a:rPr sz="2000" spc="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illustrates</a:t>
            </a:r>
            <a:r>
              <a:rPr sz="2000" spc="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simple-layer</a:t>
            </a:r>
            <a:r>
              <a:rPr sz="2000" spc="15" dirty="0"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feedforward</a:t>
            </a:r>
            <a:r>
              <a:rPr sz="2000" spc="1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network</a:t>
            </a:r>
            <a:r>
              <a:rPr sz="2000" spc="1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composed</a:t>
            </a:r>
            <a:r>
              <a:rPr sz="2000" dirty="0">
                <a:cs typeface="Times New Roman"/>
              </a:rPr>
              <a:t> of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n</a:t>
            </a:r>
            <a:r>
              <a:rPr sz="2000" spc="1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inputs</a:t>
            </a:r>
            <a:r>
              <a:rPr sz="2000" spc="1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and</a:t>
            </a:r>
            <a:r>
              <a:rPr sz="2000" spc="1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m</a:t>
            </a:r>
            <a:r>
              <a:rPr sz="2000" spc="-22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outputs</a:t>
            </a:r>
            <a:r>
              <a:rPr sz="2000" spc="-5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241300" marR="5080" indent="-228600">
              <a:lnSpc>
                <a:spcPct val="15000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cs typeface="Times New Roman"/>
              </a:rPr>
              <a:t>The</a:t>
            </a:r>
            <a:r>
              <a:rPr sz="2000" spc="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information</a:t>
            </a:r>
            <a:r>
              <a:rPr sz="2000" spc="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always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flows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in</a:t>
            </a:r>
            <a:r>
              <a:rPr sz="2000" spc="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single</a:t>
            </a:r>
            <a:r>
              <a:rPr sz="2000" spc="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direction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(thus,</a:t>
            </a:r>
            <a:r>
              <a:rPr sz="2000" spc="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unidirectional), which</a:t>
            </a:r>
            <a:r>
              <a:rPr sz="2000" spc="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is from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2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input </a:t>
            </a:r>
            <a:r>
              <a:rPr sz="2000" spc="-484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layer</a:t>
            </a:r>
            <a:r>
              <a:rPr sz="2000" dirty="0">
                <a:cs typeface="Times New Roman"/>
              </a:rPr>
              <a:t> to the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output</a:t>
            </a:r>
            <a:r>
              <a:rPr sz="2000" spc="-7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layer</a:t>
            </a:r>
            <a:endParaRPr sz="2000" dirty="0">
              <a:cs typeface="Times New Roman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D1C984-FD54-4721-B122-B224F0BE2CD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93F0064-86A3-4D0C-86C9-0DEA43AACA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6894" y="2539899"/>
            <a:ext cx="64135" cy="281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3404821"/>
            <a:ext cx="4955286" cy="33769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533146"/>
            <a:ext cx="5139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+mn-lt"/>
              </a:rPr>
              <a:t>Multi-Layer</a:t>
            </a:r>
            <a:r>
              <a:rPr sz="2400" spc="30" dirty="0">
                <a:latin typeface="+mn-lt"/>
              </a:rPr>
              <a:t> </a:t>
            </a:r>
            <a:r>
              <a:rPr sz="2400" spc="-5" dirty="0">
                <a:latin typeface="+mn-lt"/>
              </a:rPr>
              <a:t>Feedforward</a:t>
            </a:r>
            <a:r>
              <a:rPr sz="2400" spc="30" dirty="0">
                <a:latin typeface="+mn-lt"/>
              </a:rPr>
              <a:t> </a:t>
            </a:r>
            <a:r>
              <a:rPr sz="2400" spc="-5" dirty="0">
                <a:latin typeface="+mn-lt"/>
              </a:rPr>
              <a:t>Architecture</a:t>
            </a:r>
            <a:endParaRPr sz="2400" dirty="0">
              <a:latin typeface="+mn-l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239" y="991870"/>
            <a:ext cx="10391775" cy="2947601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54000" marR="26670" indent="-228600" algn="just">
              <a:lnSpc>
                <a:spcPct val="150000"/>
              </a:lnSpc>
              <a:spcBef>
                <a:spcPts val="384"/>
              </a:spcBef>
              <a:buFont typeface="Arial MT"/>
              <a:buChar char="•"/>
              <a:tabLst>
                <a:tab pos="254000" algn="l"/>
              </a:tabLst>
            </a:pPr>
            <a:r>
              <a:rPr sz="2000" dirty="0">
                <a:cs typeface="Times New Roman"/>
              </a:rPr>
              <a:t>This </a:t>
            </a:r>
            <a:r>
              <a:rPr sz="2000" spc="-5" dirty="0">
                <a:cs typeface="Times New Roman"/>
              </a:rPr>
              <a:t>artificial </a:t>
            </a:r>
            <a:r>
              <a:rPr sz="2000" dirty="0">
                <a:cs typeface="Times New Roman"/>
              </a:rPr>
              <a:t>neural feedforward networks with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multiple layers </a:t>
            </a:r>
            <a:r>
              <a:rPr sz="2000" spc="-5" dirty="0">
                <a:cs typeface="Times New Roman"/>
              </a:rPr>
              <a:t>are composed </a:t>
            </a:r>
            <a:r>
              <a:rPr sz="2000" dirty="0">
                <a:cs typeface="Times New Roman"/>
              </a:rPr>
              <a:t>of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one or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more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 hidden</a:t>
            </a:r>
            <a:r>
              <a:rPr sz="2000" spc="-1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neural</a:t>
            </a:r>
            <a:r>
              <a:rPr sz="2000" spc="-6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layers</a:t>
            </a:r>
            <a:r>
              <a:rPr sz="2000" spc="-5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  <a:p>
            <a:pPr marL="254000" marR="17780" indent="-228600" algn="just">
              <a:lnSpc>
                <a:spcPct val="150000"/>
              </a:lnSpc>
              <a:spcBef>
                <a:spcPts val="995"/>
              </a:spcBef>
              <a:buFont typeface="Arial MT"/>
              <a:buChar char="•"/>
              <a:tabLst>
                <a:tab pos="254000" algn="l"/>
              </a:tabLst>
            </a:pPr>
            <a:r>
              <a:rPr sz="2000" dirty="0">
                <a:cs typeface="Times New Roman"/>
              </a:rPr>
              <a:t>Figure </a:t>
            </a:r>
            <a:r>
              <a:rPr sz="2000" spc="-5" dirty="0">
                <a:cs typeface="Times New Roman"/>
              </a:rPr>
              <a:t>shows </a:t>
            </a:r>
            <a:r>
              <a:rPr sz="2000" dirty="0">
                <a:cs typeface="Times New Roman"/>
              </a:rPr>
              <a:t>a </a:t>
            </a:r>
            <a:r>
              <a:rPr sz="2000" spc="-5" dirty="0">
                <a:cs typeface="Times New Roman"/>
              </a:rPr>
              <a:t>feedforward network </a:t>
            </a:r>
            <a:r>
              <a:rPr sz="2000" dirty="0">
                <a:cs typeface="Times New Roman"/>
              </a:rPr>
              <a:t>with </a:t>
            </a:r>
            <a:r>
              <a:rPr sz="2000" spc="-5" dirty="0">
                <a:cs typeface="Times New Roman"/>
              </a:rPr>
              <a:t>multiple </a:t>
            </a:r>
            <a:r>
              <a:rPr sz="2000" dirty="0">
                <a:cs typeface="Times New Roman"/>
              </a:rPr>
              <a:t>layers </a:t>
            </a:r>
            <a:r>
              <a:rPr sz="2000" spc="-5" dirty="0">
                <a:cs typeface="Times New Roman"/>
              </a:rPr>
              <a:t>composed </a:t>
            </a:r>
            <a:r>
              <a:rPr sz="2000" dirty="0">
                <a:cs typeface="Times New Roman"/>
              </a:rPr>
              <a:t>of </a:t>
            </a:r>
            <a:r>
              <a:rPr sz="2000" spc="5" dirty="0">
                <a:cs typeface="Times New Roman"/>
              </a:rPr>
              <a:t>one </a:t>
            </a:r>
            <a:r>
              <a:rPr sz="2000" spc="-5" dirty="0">
                <a:cs typeface="Times New Roman"/>
              </a:rPr>
              <a:t>input layer </a:t>
            </a:r>
            <a:r>
              <a:rPr sz="2000" dirty="0">
                <a:cs typeface="Times New Roman"/>
              </a:rPr>
              <a:t>with n 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sample </a:t>
            </a:r>
            <a:r>
              <a:rPr sz="2000" dirty="0">
                <a:cs typeface="Times New Roman"/>
              </a:rPr>
              <a:t>signals, two </a:t>
            </a:r>
            <a:r>
              <a:rPr sz="2000" spc="-5" dirty="0">
                <a:cs typeface="Times New Roman"/>
              </a:rPr>
              <a:t>hidden </a:t>
            </a:r>
            <a:r>
              <a:rPr sz="2000" dirty="0">
                <a:cs typeface="Times New Roman"/>
              </a:rPr>
              <a:t>neural </a:t>
            </a:r>
            <a:r>
              <a:rPr sz="2000" spc="-5" dirty="0">
                <a:cs typeface="Times New Roman"/>
              </a:rPr>
              <a:t>layers consisting </a:t>
            </a:r>
            <a:r>
              <a:rPr sz="2000" dirty="0">
                <a:cs typeface="Times New Roman"/>
              </a:rPr>
              <a:t>of </a:t>
            </a:r>
            <a:r>
              <a:rPr sz="2000" spc="20" dirty="0">
                <a:solidFill>
                  <a:srgbClr val="FF0000"/>
                </a:solidFill>
                <a:cs typeface="Times New Roman"/>
              </a:rPr>
              <a:t>n</a:t>
            </a:r>
            <a:r>
              <a:rPr sz="1950" spc="30" baseline="-19230" dirty="0">
                <a:solidFill>
                  <a:srgbClr val="FF0000"/>
                </a:solidFill>
                <a:cs typeface="Times New Roman"/>
              </a:rPr>
              <a:t>1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and </a:t>
            </a:r>
            <a:r>
              <a:rPr sz="2000" spc="5" dirty="0">
                <a:solidFill>
                  <a:srgbClr val="FF0000"/>
                </a:solidFill>
                <a:cs typeface="Times New Roman"/>
              </a:rPr>
              <a:t>n</a:t>
            </a:r>
            <a:r>
              <a:rPr sz="1950" spc="7" baseline="-19230" dirty="0">
                <a:solidFill>
                  <a:srgbClr val="FF0000"/>
                </a:solidFill>
                <a:cs typeface="Times New Roman"/>
              </a:rPr>
              <a:t>2 </a:t>
            </a:r>
            <a:r>
              <a:rPr sz="2000" spc="-5" dirty="0">
                <a:cs typeface="Times New Roman"/>
              </a:rPr>
              <a:t>neurons </a:t>
            </a:r>
            <a:r>
              <a:rPr sz="2000" spc="-15" dirty="0">
                <a:cs typeface="Times New Roman"/>
              </a:rPr>
              <a:t>respectively, </a:t>
            </a:r>
            <a:r>
              <a:rPr sz="2000" spc="-5" dirty="0">
                <a:cs typeface="Times New Roman"/>
              </a:rPr>
              <a:t>and, </a:t>
            </a:r>
            <a:r>
              <a:rPr sz="2000" spc="-25" dirty="0">
                <a:cs typeface="Times New Roman"/>
              </a:rPr>
              <a:t>finally, </a:t>
            </a:r>
            <a:r>
              <a:rPr sz="2000" spc="-20" dirty="0">
                <a:cs typeface="Times New Roman"/>
              </a:rPr>
              <a:t> </a:t>
            </a:r>
            <a:r>
              <a:rPr sz="2000" spc="5" dirty="0">
                <a:cs typeface="Times New Roman"/>
              </a:rPr>
              <a:t>one </a:t>
            </a:r>
            <a:r>
              <a:rPr sz="2000" dirty="0">
                <a:cs typeface="Times New Roman"/>
              </a:rPr>
              <a:t>output neural </a:t>
            </a:r>
            <a:r>
              <a:rPr sz="2000" spc="-5" dirty="0">
                <a:cs typeface="Times New Roman"/>
              </a:rPr>
              <a:t>layer composed </a:t>
            </a:r>
            <a:r>
              <a:rPr sz="2000" dirty="0">
                <a:cs typeface="Times New Roman"/>
              </a:rPr>
              <a:t>of 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m neurons </a:t>
            </a:r>
            <a:r>
              <a:rPr sz="2000" spc="-5" dirty="0">
                <a:cs typeface="Times New Roman"/>
              </a:rPr>
              <a:t>representing the </a:t>
            </a:r>
            <a:r>
              <a:rPr sz="2000" dirty="0">
                <a:cs typeface="Times New Roman"/>
              </a:rPr>
              <a:t>respective </a:t>
            </a:r>
            <a:r>
              <a:rPr sz="2000" spc="-5" dirty="0">
                <a:cs typeface="Times New Roman"/>
              </a:rPr>
              <a:t>output </a:t>
            </a:r>
            <a:r>
              <a:rPr sz="2000" dirty="0">
                <a:cs typeface="Times New Roman"/>
              </a:rPr>
              <a:t>values of </a:t>
            </a:r>
            <a:r>
              <a:rPr sz="2000" spc="-5" dirty="0">
                <a:cs typeface="Times New Roman"/>
              </a:rPr>
              <a:t>the </a:t>
            </a:r>
            <a:r>
              <a:rPr sz="2000" dirty="0">
                <a:cs typeface="Times New Roman"/>
              </a:rPr>
              <a:t> problem</a:t>
            </a:r>
            <a:r>
              <a:rPr sz="2000" spc="-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being</a:t>
            </a:r>
            <a:r>
              <a:rPr sz="2000" spc="-6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analyzed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7BCF333-07FB-4920-87AD-C7B05AF6DF0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9804A2F-FDE6-41DD-8C65-EDC2C6DA8F0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33146"/>
            <a:ext cx="47898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+mn-lt"/>
              </a:rPr>
              <a:t>Recurrent</a:t>
            </a:r>
            <a:r>
              <a:rPr sz="2400" spc="5" dirty="0">
                <a:latin typeface="+mn-lt"/>
              </a:rPr>
              <a:t> </a:t>
            </a:r>
            <a:r>
              <a:rPr sz="2400" dirty="0">
                <a:latin typeface="+mn-lt"/>
              </a:rPr>
              <a:t>or</a:t>
            </a:r>
            <a:r>
              <a:rPr sz="2400" spc="10" dirty="0">
                <a:latin typeface="+mn-lt"/>
              </a:rPr>
              <a:t> </a:t>
            </a:r>
            <a:r>
              <a:rPr sz="2400" spc="-5" dirty="0">
                <a:latin typeface="+mn-lt"/>
              </a:rPr>
              <a:t>Feedback</a:t>
            </a:r>
            <a:r>
              <a:rPr sz="2400" spc="15" dirty="0">
                <a:latin typeface="+mn-lt"/>
              </a:rPr>
              <a:t> </a:t>
            </a:r>
            <a:r>
              <a:rPr sz="2400" spc="-5" dirty="0">
                <a:latin typeface="+mn-lt"/>
              </a:rPr>
              <a:t>Architecture</a:t>
            </a:r>
            <a:endParaRPr sz="240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901040"/>
            <a:ext cx="10741661" cy="1605568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indent="-228600">
              <a:lnSpc>
                <a:spcPct val="150000"/>
              </a:lnSpc>
              <a:spcBef>
                <a:spcPts val="82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cs typeface="Times New Roman"/>
              </a:rPr>
              <a:t>In</a:t>
            </a:r>
            <a:r>
              <a:rPr sz="2000" spc="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these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networks,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outputs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of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 </a:t>
            </a:r>
            <a:r>
              <a:rPr sz="2000" spc="-5" dirty="0">
                <a:cs typeface="Times New Roman"/>
              </a:rPr>
              <a:t>neurons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are </a:t>
            </a:r>
            <a:r>
              <a:rPr sz="2000" spc="-5" dirty="0">
                <a:cs typeface="Times New Roman"/>
              </a:rPr>
              <a:t>used</a:t>
            </a:r>
            <a:r>
              <a:rPr sz="2000" spc="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as </a:t>
            </a:r>
            <a:r>
              <a:rPr sz="2000" spc="-5" dirty="0">
                <a:cs typeface="Times New Roman"/>
              </a:rPr>
              <a:t>feedback</a:t>
            </a:r>
            <a:r>
              <a:rPr sz="2000" spc="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inputs</a:t>
            </a:r>
            <a:r>
              <a:rPr sz="200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for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other</a:t>
            </a:r>
            <a:r>
              <a:rPr sz="2000" spc="-24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neurons.</a:t>
            </a:r>
          </a:p>
          <a:p>
            <a:pPr marL="241300" marR="5080" indent="-228600">
              <a:lnSpc>
                <a:spcPct val="150000"/>
              </a:lnSpc>
              <a:spcBef>
                <a:spcPts val="9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dirty="0">
                <a:cs typeface="Times New Roman"/>
              </a:rPr>
              <a:t>Figure </a:t>
            </a:r>
            <a:r>
              <a:rPr sz="2000" spc="-5" dirty="0">
                <a:cs typeface="Times New Roman"/>
              </a:rPr>
              <a:t>illustrates </a:t>
            </a:r>
            <a:r>
              <a:rPr sz="2000" dirty="0">
                <a:cs typeface="Times New Roman"/>
              </a:rPr>
              <a:t>an </a:t>
            </a:r>
            <a:r>
              <a:rPr sz="2000" spc="-5" dirty="0">
                <a:cs typeface="Times New Roman"/>
              </a:rPr>
              <a:t>example </a:t>
            </a:r>
            <a:r>
              <a:rPr sz="2000" dirty="0">
                <a:cs typeface="Times New Roman"/>
              </a:rPr>
              <a:t>of a </a:t>
            </a:r>
            <a:r>
              <a:rPr sz="2000" spc="-5" dirty="0">
                <a:cs typeface="Times New Roman"/>
              </a:rPr>
              <a:t>Perceptron network </a:t>
            </a:r>
            <a:r>
              <a:rPr sz="2000" dirty="0">
                <a:cs typeface="Times New Roman"/>
              </a:rPr>
              <a:t>with </a:t>
            </a:r>
            <a:r>
              <a:rPr sz="2000" spc="-5" dirty="0">
                <a:cs typeface="Times New Roman"/>
              </a:rPr>
              <a:t>feedback, where </a:t>
            </a:r>
            <a:r>
              <a:rPr sz="2000" dirty="0">
                <a:cs typeface="Times New Roman"/>
              </a:rPr>
              <a:t>one of </a:t>
            </a:r>
            <a:r>
              <a:rPr sz="2000" spc="-5" dirty="0">
                <a:cs typeface="Times New Roman"/>
              </a:rPr>
              <a:t>its </a:t>
            </a:r>
            <a:r>
              <a:rPr sz="2000" dirty="0">
                <a:cs typeface="Times New Roman"/>
              </a:rPr>
              <a:t>output </a:t>
            </a:r>
            <a:r>
              <a:rPr sz="2000" spc="-484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signals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is</a:t>
            </a:r>
            <a:r>
              <a:rPr sz="2000" spc="-10" dirty="0"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fed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back</a:t>
            </a:r>
            <a:r>
              <a:rPr sz="2000" dirty="0">
                <a:solidFill>
                  <a:srgbClr val="FF0000"/>
                </a:solidFill>
                <a:cs typeface="Times New Roman"/>
              </a:rPr>
              <a:t> to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the</a:t>
            </a:r>
            <a:r>
              <a:rPr sz="2000" spc="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cs typeface="Times New Roman"/>
              </a:rPr>
              <a:t>middle layer</a:t>
            </a:r>
            <a:r>
              <a:rPr sz="2000" spc="-5" dirty="0">
                <a:cs typeface="Times New Roman"/>
              </a:rPr>
              <a:t>.</a:t>
            </a:r>
            <a:endParaRPr sz="2000" dirty="0"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3768" y="2510291"/>
            <a:ext cx="5244464" cy="377761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913C70-6FA7-4884-92B1-D237DB59B2B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7A5B11B-E54B-4EA6-B2CB-82A646D47B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7932" y="315586"/>
            <a:ext cx="463613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200" spc="-5" dirty="0">
                <a:latin typeface="+mn-lt"/>
              </a:rPr>
              <a:t>Learning Problem</a:t>
            </a:r>
            <a:endParaRPr sz="3200" dirty="0">
              <a:latin typeface="+mn-l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2000" y="961234"/>
            <a:ext cx="11123930" cy="464037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89535" marR="386080" algn="just">
              <a:lnSpc>
                <a:spcPct val="150000"/>
              </a:lnSpc>
              <a:spcBef>
                <a:spcPts val="425"/>
              </a:spcBef>
            </a:pPr>
            <a:r>
              <a:rPr sz="3200" dirty="0">
                <a:latin typeface="+mn-lt"/>
              </a:rPr>
              <a:t>The learning</a:t>
            </a:r>
            <a:r>
              <a:rPr sz="3200" spc="-10" dirty="0">
                <a:latin typeface="+mn-lt"/>
              </a:rPr>
              <a:t> </a:t>
            </a:r>
            <a:r>
              <a:rPr sz="3200" dirty="0">
                <a:latin typeface="+mn-lt"/>
              </a:rPr>
              <a:t>problem</a:t>
            </a:r>
            <a:r>
              <a:rPr sz="3200" spc="-20" dirty="0">
                <a:latin typeface="+mn-lt"/>
              </a:rPr>
              <a:t> </a:t>
            </a:r>
            <a:r>
              <a:rPr sz="3200" spc="-5" dirty="0">
                <a:latin typeface="+mn-lt"/>
              </a:rPr>
              <a:t>is</a:t>
            </a:r>
            <a:r>
              <a:rPr sz="3200" spc="5" dirty="0">
                <a:latin typeface="+mn-lt"/>
              </a:rPr>
              <a:t> </a:t>
            </a:r>
            <a:r>
              <a:rPr sz="3200" dirty="0">
                <a:latin typeface="+mn-lt"/>
              </a:rPr>
              <a:t>to </a:t>
            </a:r>
            <a:r>
              <a:rPr sz="3200" spc="-5" dirty="0">
                <a:latin typeface="+mn-lt"/>
              </a:rPr>
              <a:t>determine</a:t>
            </a:r>
            <a:r>
              <a:rPr sz="3200" spc="10" dirty="0">
                <a:latin typeface="+mn-lt"/>
              </a:rPr>
              <a:t> </a:t>
            </a:r>
            <a:r>
              <a:rPr sz="3200" dirty="0">
                <a:latin typeface="+mn-lt"/>
              </a:rPr>
              <a:t>a </a:t>
            </a:r>
            <a:r>
              <a:rPr sz="3200" b="1" dirty="0">
                <a:solidFill>
                  <a:srgbClr val="FF0000"/>
                </a:solidFill>
                <a:latin typeface="+mn-lt"/>
              </a:rPr>
              <a:t>weight</a:t>
            </a:r>
            <a:r>
              <a:rPr sz="3200" b="1" spc="10" dirty="0">
                <a:solidFill>
                  <a:srgbClr val="FF0000"/>
                </a:solidFill>
                <a:latin typeface="+mn-lt"/>
              </a:rPr>
              <a:t> </a:t>
            </a:r>
            <a:r>
              <a:rPr sz="3200" b="1" dirty="0">
                <a:solidFill>
                  <a:srgbClr val="FF0000"/>
                </a:solidFill>
                <a:latin typeface="+mn-lt"/>
              </a:rPr>
              <a:t>vector </a:t>
            </a:r>
            <a:r>
              <a:rPr sz="3200" spc="-5" dirty="0">
                <a:latin typeface="+mn-lt"/>
              </a:rPr>
              <a:t>that</a:t>
            </a:r>
            <a:r>
              <a:rPr sz="3200" spc="5" dirty="0">
                <a:latin typeface="+mn-lt"/>
              </a:rPr>
              <a:t> </a:t>
            </a:r>
            <a:r>
              <a:rPr sz="3200" spc="-5" dirty="0">
                <a:latin typeface="+mn-lt"/>
              </a:rPr>
              <a:t>causes</a:t>
            </a:r>
            <a:r>
              <a:rPr sz="3200" dirty="0">
                <a:latin typeface="+mn-lt"/>
              </a:rPr>
              <a:t> the</a:t>
            </a:r>
            <a:r>
              <a:rPr sz="3200" spc="5" dirty="0">
                <a:latin typeface="+mn-lt"/>
              </a:rPr>
              <a:t> </a:t>
            </a:r>
            <a:r>
              <a:rPr sz="3200" spc="-5" dirty="0">
                <a:latin typeface="+mn-lt"/>
              </a:rPr>
              <a:t>perceptron</a:t>
            </a:r>
            <a:r>
              <a:rPr sz="3200" dirty="0">
                <a:latin typeface="+mn-lt"/>
              </a:rPr>
              <a:t> to </a:t>
            </a:r>
            <a:r>
              <a:rPr sz="3200" spc="-585" dirty="0">
                <a:latin typeface="+mn-lt"/>
              </a:rPr>
              <a:t> </a:t>
            </a:r>
            <a:r>
              <a:rPr sz="3200" dirty="0">
                <a:latin typeface="+mn-lt"/>
              </a:rPr>
              <a:t>produce</a:t>
            </a:r>
            <a:r>
              <a:rPr sz="3200" spc="-5" dirty="0">
                <a:latin typeface="+mn-lt"/>
              </a:rPr>
              <a:t> </a:t>
            </a:r>
            <a:r>
              <a:rPr sz="3200" dirty="0">
                <a:latin typeface="+mn-lt"/>
              </a:rPr>
              <a:t>the</a:t>
            </a:r>
            <a:r>
              <a:rPr sz="3200" spc="-10" dirty="0">
                <a:latin typeface="+mn-lt"/>
              </a:rPr>
              <a:t> </a:t>
            </a:r>
            <a:r>
              <a:rPr sz="3200" spc="-5" dirty="0">
                <a:latin typeface="+mn-lt"/>
              </a:rPr>
              <a:t>correct</a:t>
            </a:r>
            <a:r>
              <a:rPr sz="3200" dirty="0">
                <a:latin typeface="+mn-lt"/>
              </a:rPr>
              <a:t> </a:t>
            </a:r>
            <a:r>
              <a:rPr sz="3200" b="1" dirty="0">
                <a:solidFill>
                  <a:srgbClr val="FF0000"/>
                </a:solidFill>
                <a:latin typeface="+mn-lt"/>
              </a:rPr>
              <a:t>+ 1 </a:t>
            </a:r>
            <a:r>
              <a:rPr sz="3200" b="1" spc="-10" dirty="0">
                <a:solidFill>
                  <a:srgbClr val="FF0000"/>
                </a:solidFill>
                <a:latin typeface="+mn-lt"/>
              </a:rPr>
              <a:t>or</a:t>
            </a:r>
            <a:r>
              <a:rPr sz="3200" b="1" spc="20" dirty="0">
                <a:solidFill>
                  <a:srgbClr val="FF0000"/>
                </a:solidFill>
                <a:latin typeface="+mn-lt"/>
              </a:rPr>
              <a:t> </a:t>
            </a:r>
            <a:r>
              <a:rPr sz="3200" b="1" dirty="0">
                <a:solidFill>
                  <a:srgbClr val="FF0000"/>
                </a:solidFill>
                <a:latin typeface="+mn-lt"/>
              </a:rPr>
              <a:t>- 1</a:t>
            </a:r>
            <a:r>
              <a:rPr sz="3200" b="1" spc="-5" dirty="0">
                <a:solidFill>
                  <a:srgbClr val="FF0000"/>
                </a:solidFill>
                <a:latin typeface="+mn-lt"/>
              </a:rPr>
              <a:t> </a:t>
            </a:r>
            <a:r>
              <a:rPr sz="3200" dirty="0">
                <a:latin typeface="+mn-lt"/>
              </a:rPr>
              <a:t>output </a:t>
            </a:r>
            <a:r>
              <a:rPr sz="3200" spc="-5" dirty="0">
                <a:latin typeface="+mn-lt"/>
              </a:rPr>
              <a:t>for</a:t>
            </a:r>
            <a:r>
              <a:rPr sz="3200" dirty="0">
                <a:latin typeface="+mn-lt"/>
              </a:rPr>
              <a:t> each of </a:t>
            </a:r>
            <a:r>
              <a:rPr sz="3200" spc="-5" dirty="0">
                <a:latin typeface="+mn-lt"/>
              </a:rPr>
              <a:t>the</a:t>
            </a:r>
            <a:r>
              <a:rPr sz="3200" dirty="0">
                <a:latin typeface="+mn-lt"/>
              </a:rPr>
              <a:t> given training </a:t>
            </a:r>
            <a:r>
              <a:rPr sz="3200" spc="-5" dirty="0">
                <a:latin typeface="+mn-lt"/>
              </a:rPr>
              <a:t>examples.</a:t>
            </a:r>
            <a:endParaRPr lang="en-US" sz="3200" spc="-5" dirty="0">
              <a:latin typeface="+mn-lt"/>
            </a:endParaRPr>
          </a:p>
          <a:p>
            <a:pPr marL="89535" marR="386080" algn="just">
              <a:lnSpc>
                <a:spcPct val="150000"/>
              </a:lnSpc>
              <a:spcBef>
                <a:spcPts val="425"/>
              </a:spcBef>
            </a:pPr>
            <a:r>
              <a:rPr lang="en-IN" sz="3200" spc="-5" dirty="0">
                <a:latin typeface="+mn-lt"/>
              </a:rPr>
              <a:t>Several algorithms are known to solve the learning problem:</a:t>
            </a:r>
          </a:p>
          <a:p>
            <a:pPr marL="432435" marR="386080" indent="-342900" algn="just">
              <a:lnSpc>
                <a:spcPct val="150000"/>
              </a:lnSpc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IN" sz="3200" spc="-5" dirty="0">
                <a:latin typeface="+mn-lt"/>
              </a:rPr>
              <a:t>The Perceptron rule</a:t>
            </a:r>
          </a:p>
          <a:p>
            <a:pPr marL="432435" marR="386080" indent="-342900" algn="just">
              <a:lnSpc>
                <a:spcPct val="150000"/>
              </a:lnSpc>
              <a:spcBef>
                <a:spcPts val="425"/>
              </a:spcBef>
              <a:buFont typeface="Arial" panose="020B0604020202020204" pitchFamily="34" charset="0"/>
              <a:buChar char="•"/>
            </a:pPr>
            <a:r>
              <a:rPr lang="en-IN" sz="3200" spc="-5" dirty="0">
                <a:latin typeface="+mn-lt"/>
              </a:rPr>
              <a:t>The Delta rule</a:t>
            </a:r>
            <a:endParaRPr sz="3200" spc="-5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8FBBF0A-F751-4859-8FBD-DFFBBFC0DC9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2C50D00-42FC-4CCC-AF2F-7CF3FB1DC49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395666"/>
            <a:ext cx="10439399" cy="47802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32187" y="486474"/>
            <a:ext cx="5127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+mn-lt"/>
              </a:rPr>
              <a:t>Representational</a:t>
            </a:r>
            <a:r>
              <a:rPr sz="2400" spc="5" dirty="0">
                <a:latin typeface="+mn-lt"/>
              </a:rPr>
              <a:t> </a:t>
            </a:r>
            <a:r>
              <a:rPr sz="2400" spc="-5" dirty="0">
                <a:latin typeface="+mn-lt"/>
              </a:rPr>
              <a:t>Power</a:t>
            </a:r>
            <a:r>
              <a:rPr sz="2400" spc="5" dirty="0">
                <a:latin typeface="+mn-lt"/>
              </a:rPr>
              <a:t> </a:t>
            </a:r>
            <a:r>
              <a:rPr sz="2400" dirty="0">
                <a:latin typeface="+mn-lt"/>
              </a:rPr>
              <a:t>of</a:t>
            </a:r>
            <a:r>
              <a:rPr sz="2400" spc="15" dirty="0">
                <a:latin typeface="+mn-lt"/>
              </a:rPr>
              <a:t> </a:t>
            </a:r>
            <a:r>
              <a:rPr sz="2400" spc="-5" dirty="0">
                <a:latin typeface="+mn-lt"/>
              </a:rPr>
              <a:t>Perceptrons</a:t>
            </a:r>
            <a:endParaRPr sz="2400" dirty="0">
              <a:latin typeface="+mn-lt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75BAF743-4610-47A7-93CC-B183C21B1DC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2293A50-86A6-400E-B636-F48AF6F5FA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9AB5543-6E34-4D58-8D03-DD66FFE3B9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8EF9B7B-9D86-41C6-AAF4-EFB5972A32E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D08671ED-D363-54D4-059F-9AA3EDAC2A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" t="1976" r="3125" b="11092"/>
          <a:stretch/>
        </p:blipFill>
        <p:spPr>
          <a:xfrm>
            <a:off x="228600" y="137160"/>
            <a:ext cx="11582400" cy="5958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B2E1AF-B46B-F958-0552-81C64FD1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3109149-38F0-D30B-AFE0-8C29C386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457FABB-4B6B-E975-07A4-8CBC4FF9B9C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4921A81-F495-E66E-C5F6-811C7F37D5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7543A00-A634-B159-36CA-0BB18EC2E9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1" t="1976" r="1875" b="13315"/>
          <a:stretch/>
        </p:blipFill>
        <p:spPr>
          <a:xfrm>
            <a:off x="152400" y="137160"/>
            <a:ext cx="11811000" cy="580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3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9E243A2-55D3-4772-B742-D38AD905C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341223"/>
            <a:ext cx="11734800" cy="553997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b="0" i="0" dirty="0">
                <a:solidFill>
                  <a:srgbClr val="610B4B"/>
                </a:solidFill>
                <a:effectLst/>
                <a:latin typeface="+mn-lt"/>
              </a:rPr>
              <a:t>The perceptron consists of 4 parts.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+mn-lt"/>
              </a:rPr>
              <a:t>Input value or One input layer:</a:t>
            </a:r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 The input layer of the perceptron is made of artificial input neurons and takes the initial data into the system for further processing.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+mn-lt"/>
              </a:rPr>
              <a:t>Weights and Bias:</a:t>
            </a:r>
          </a:p>
          <a:p>
            <a:pPr algn="just">
              <a:lnSpc>
                <a:spcPct val="150000"/>
              </a:lnSpc>
            </a:pPr>
            <a:r>
              <a:rPr lang="en-IN" b="1" i="0" dirty="0">
                <a:solidFill>
                  <a:srgbClr val="000000"/>
                </a:solidFill>
                <a:effectLst/>
                <a:latin typeface="+mn-lt"/>
              </a:rPr>
              <a:t>Weight:</a:t>
            </a:r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 It represents the dimension or </a:t>
            </a:r>
            <a:r>
              <a:rPr lang="en-IN" b="1" i="0" dirty="0">
                <a:solidFill>
                  <a:srgbClr val="FF0000"/>
                </a:solidFill>
                <a:effectLst/>
                <a:latin typeface="+mn-lt"/>
              </a:rPr>
              <a:t>strength of the connection between units</a:t>
            </a:r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. If the weight to node 1 to node 2 has a higher quantity, then neuron 1 has a more considerable influence on the neuron. </a:t>
            </a:r>
            <a:r>
              <a:rPr lang="en-IN" dirty="0">
                <a:solidFill>
                  <a:srgbClr val="FF0000"/>
                </a:solidFill>
                <a:latin typeface="+mn-lt"/>
              </a:rPr>
              <a:t>Weights</a:t>
            </a:r>
            <a:r>
              <a:rPr lang="en-IN" dirty="0">
                <a:solidFill>
                  <a:srgbClr val="000000"/>
                </a:solidFill>
                <a:latin typeface="+mn-lt"/>
              </a:rPr>
              <a:t> shows the </a:t>
            </a:r>
            <a:r>
              <a:rPr lang="en-IN" dirty="0">
                <a:solidFill>
                  <a:srgbClr val="FF0000"/>
                </a:solidFill>
                <a:latin typeface="+mn-lt"/>
              </a:rPr>
              <a:t>strength of the particular node</a:t>
            </a:r>
            <a:r>
              <a:rPr lang="en-IN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b="1" i="0" dirty="0">
                <a:solidFill>
                  <a:srgbClr val="000000"/>
                </a:solidFill>
                <a:effectLst/>
                <a:latin typeface="+mn-lt"/>
              </a:rPr>
              <a:t>Bias:</a:t>
            </a:r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 It is the same as the intercept added in a linear equation. It is an additional parameter which task is to modify the output along with the weighted sum of the input to the other neuron. </a:t>
            </a:r>
            <a:r>
              <a:rPr lang="en-IN" dirty="0">
                <a:solidFill>
                  <a:srgbClr val="000000"/>
                </a:solidFill>
                <a:latin typeface="+mn-lt"/>
              </a:rPr>
              <a:t>A </a:t>
            </a:r>
            <a:r>
              <a:rPr lang="en-IN" b="1" dirty="0">
                <a:solidFill>
                  <a:srgbClr val="000000"/>
                </a:solidFill>
                <a:latin typeface="+mn-lt"/>
              </a:rPr>
              <a:t>bias</a:t>
            </a:r>
            <a:r>
              <a:rPr lang="en-IN" dirty="0">
                <a:solidFill>
                  <a:srgbClr val="000000"/>
                </a:solidFill>
                <a:latin typeface="+mn-lt"/>
              </a:rPr>
              <a:t> value allows you to shift the activation </a:t>
            </a:r>
            <a:r>
              <a:rPr lang="en-IN" b="1" dirty="0">
                <a:solidFill>
                  <a:srgbClr val="FF0000"/>
                </a:solidFill>
                <a:latin typeface="+mn-lt"/>
              </a:rPr>
              <a:t>function curve up or down</a:t>
            </a:r>
            <a:r>
              <a:rPr lang="en-IN" dirty="0">
                <a:solidFill>
                  <a:srgbClr val="000000"/>
                </a:solidFill>
                <a:latin typeface="+mn-lt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AE43435-A589-4D64-BAA3-30B4F74E5D1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D8D91E55-73F8-494E-A888-841465700F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3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BD510F-17B6-4C9C-A3DC-CE7F2EB55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81" y="533400"/>
            <a:ext cx="9512299" cy="635000"/>
          </a:xfrm>
        </p:spPr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85914BB-2FE6-420B-97E4-AEC994C13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470" y="1484121"/>
            <a:ext cx="10513059" cy="3580788"/>
          </a:xfrm>
        </p:spPr>
        <p:txBody>
          <a:bodyPr/>
          <a:lstStyle/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+mn-lt"/>
              </a:rPr>
              <a:t>Net sum:</a:t>
            </a:r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 It calculates the total sum.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000000"/>
                </a:solidFill>
                <a:effectLst/>
                <a:latin typeface="+mn-lt"/>
              </a:rPr>
              <a:t>Activation Function:</a:t>
            </a:r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 A neuron can be activated or not, is determined by an activation function. The activation function calculates a weighted sum and further adding bias with it to give the result.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2B435A2-942B-4D0F-A6BD-7D25989385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5F399A7-A5A2-434E-A435-4312ECDC4A4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479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178E14-FF5D-AE08-A8C9-DE258A5F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01FDC16-0FFF-66D3-2C0B-F32EB5A50CC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DA6DC2F-3371-0E17-C6B7-DE80265C133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59D17BD3-9604-4AF3-87DB-BAFBFE23F9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1" t="1976" r="1875" b="32021"/>
          <a:stretch/>
        </p:blipFill>
        <p:spPr>
          <a:xfrm>
            <a:off x="152401" y="110656"/>
            <a:ext cx="11811000" cy="4044021"/>
          </a:xfrm>
          <a:prstGeom prst="rect">
            <a:avLst/>
          </a:prstGeom>
        </p:spPr>
      </p:pic>
      <p:pic>
        <p:nvPicPr>
          <p:cNvPr id="8" name="object 3">
            <a:extLst>
              <a:ext uri="{FF2B5EF4-FFF2-40B4-BE49-F238E27FC236}">
                <a16:creationId xmlns="" xmlns:a16="http://schemas.microsoft.com/office/drawing/2014/main" id="{3340F948-33E1-BBCB-48F9-DD2AA974F3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6200" y="4090798"/>
            <a:ext cx="3992879" cy="256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2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429350-C542-C66B-FD71-FCBB16F83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0EF47D0-ADE1-8EA4-89A3-59CF25052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8B4453E-8BED-16C8-7B6E-67593258A9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77BAEC5-C989-BEB2-587F-13C876EDD6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C5EA3EE-4F6C-D76C-BBDE-29D59EF2C2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1" t="1976" r="1875" b="12204"/>
          <a:stretch/>
        </p:blipFill>
        <p:spPr>
          <a:xfrm>
            <a:off x="152400" y="137160"/>
            <a:ext cx="11811000" cy="58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001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502DACD-706E-2D4B-6E70-DD49D71A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470" y="1484121"/>
            <a:ext cx="10513059" cy="4431983"/>
          </a:xfrm>
        </p:spPr>
        <p:txBody>
          <a:bodyPr/>
          <a:lstStyle/>
          <a:p>
            <a:pPr algn="ctr"/>
            <a:r>
              <a:rPr lang="en-US" sz="3200" b="1" dirty="0"/>
              <a:t>Design a perceptron Network for Logical ‘AND’</a:t>
            </a:r>
          </a:p>
          <a:p>
            <a:pPr algn="ctr"/>
            <a:endParaRPr lang="en-US" sz="3200" b="1" dirty="0"/>
          </a:p>
          <a:p>
            <a:pPr algn="ctr"/>
            <a:endParaRPr lang="en-US" sz="3200" b="1" dirty="0"/>
          </a:p>
          <a:p>
            <a:pPr algn="ctr"/>
            <a:endParaRPr lang="en-US" sz="3200" b="1" dirty="0"/>
          </a:p>
          <a:p>
            <a:pPr algn="ctr"/>
            <a:endParaRPr lang="en-US" sz="3200" b="1" dirty="0"/>
          </a:p>
          <a:p>
            <a:pPr algn="ctr"/>
            <a:endParaRPr lang="en-US" sz="3200" b="1" dirty="0"/>
          </a:p>
          <a:p>
            <a:pPr algn="ctr"/>
            <a:r>
              <a:rPr lang="en-US" sz="3200" b="1" dirty="0"/>
              <a:t>Design a perceptron Network for Logical ‘OR’</a:t>
            </a:r>
          </a:p>
          <a:p>
            <a:pPr algn="ctr"/>
            <a:endParaRPr lang="en-US" sz="3200" b="1" dirty="0"/>
          </a:p>
          <a:p>
            <a:pPr algn="ctr"/>
            <a:endParaRPr lang="en-IN" sz="3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77A678-9DB9-1CF6-BF28-7105A1F9709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64B5876-E201-DE8A-8164-6E25B231B66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605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81000"/>
            <a:ext cx="10055861" cy="102284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330"/>
              </a:spcBef>
            </a:pPr>
            <a:r>
              <a:rPr sz="2200" b="0" spc="-5" dirty="0">
                <a:latin typeface="+mn-lt"/>
                <a:cs typeface="Times New Roman"/>
              </a:rPr>
              <a:t>A</a:t>
            </a:r>
            <a:r>
              <a:rPr sz="2200" b="0" dirty="0">
                <a:latin typeface="+mn-lt"/>
                <a:cs typeface="Times New Roman"/>
              </a:rPr>
              <a:t> </a:t>
            </a:r>
            <a:r>
              <a:rPr sz="2200" b="0" spc="-5" dirty="0">
                <a:latin typeface="+mn-lt"/>
                <a:cs typeface="Times New Roman"/>
              </a:rPr>
              <a:t>single</a:t>
            </a:r>
            <a:r>
              <a:rPr sz="2200" b="0" spc="5" dirty="0">
                <a:latin typeface="+mn-lt"/>
                <a:cs typeface="Times New Roman"/>
              </a:rPr>
              <a:t> </a:t>
            </a:r>
            <a:r>
              <a:rPr sz="2200" b="0" spc="-5" dirty="0">
                <a:latin typeface="+mn-lt"/>
                <a:cs typeface="Times New Roman"/>
              </a:rPr>
              <a:t>perceptron</a:t>
            </a:r>
            <a:r>
              <a:rPr sz="2200" b="0" spc="10" dirty="0">
                <a:latin typeface="+mn-lt"/>
                <a:cs typeface="Times New Roman"/>
              </a:rPr>
              <a:t> </a:t>
            </a:r>
            <a:r>
              <a:rPr sz="2200" b="0" spc="-5" dirty="0">
                <a:latin typeface="+mn-lt"/>
                <a:cs typeface="Times New Roman"/>
              </a:rPr>
              <a:t>can</a:t>
            </a:r>
            <a:r>
              <a:rPr sz="2200" b="0" spc="5" dirty="0">
                <a:latin typeface="+mn-lt"/>
                <a:cs typeface="Times New Roman"/>
              </a:rPr>
              <a:t> </a:t>
            </a:r>
            <a:r>
              <a:rPr sz="2200" b="0" dirty="0">
                <a:latin typeface="+mn-lt"/>
                <a:cs typeface="Times New Roman"/>
              </a:rPr>
              <a:t>be </a:t>
            </a:r>
            <a:r>
              <a:rPr sz="2200" b="0" spc="-5" dirty="0">
                <a:latin typeface="+mn-lt"/>
                <a:cs typeface="Times New Roman"/>
              </a:rPr>
              <a:t>used</a:t>
            </a:r>
            <a:r>
              <a:rPr sz="2200" b="0" spc="10" dirty="0">
                <a:latin typeface="+mn-lt"/>
                <a:cs typeface="Times New Roman"/>
              </a:rPr>
              <a:t> </a:t>
            </a:r>
            <a:r>
              <a:rPr sz="2200" b="0" spc="-5" dirty="0">
                <a:latin typeface="+mn-lt"/>
                <a:cs typeface="Times New Roman"/>
              </a:rPr>
              <a:t>to</a:t>
            </a:r>
            <a:r>
              <a:rPr sz="2200" b="0" spc="15" dirty="0">
                <a:latin typeface="+mn-lt"/>
                <a:cs typeface="Times New Roman"/>
              </a:rPr>
              <a:t> </a:t>
            </a:r>
            <a:r>
              <a:rPr sz="2200" b="0" spc="-5" dirty="0">
                <a:latin typeface="+mn-lt"/>
                <a:cs typeface="Times New Roman"/>
              </a:rPr>
              <a:t>represent</a:t>
            </a:r>
            <a:r>
              <a:rPr sz="2200" b="0" spc="20" dirty="0">
                <a:latin typeface="+mn-lt"/>
                <a:cs typeface="Times New Roman"/>
              </a:rPr>
              <a:t> </a:t>
            </a:r>
            <a:r>
              <a:rPr sz="2200" b="0" spc="-10" dirty="0">
                <a:latin typeface="+mn-lt"/>
                <a:cs typeface="Times New Roman"/>
              </a:rPr>
              <a:t>many</a:t>
            </a:r>
            <a:r>
              <a:rPr sz="2200" b="0" spc="25" dirty="0">
                <a:latin typeface="+mn-lt"/>
                <a:cs typeface="Times New Roman"/>
              </a:rPr>
              <a:t> </a:t>
            </a:r>
            <a:r>
              <a:rPr sz="2200" b="0" spc="-5" dirty="0">
                <a:latin typeface="+mn-lt"/>
                <a:cs typeface="Times New Roman"/>
              </a:rPr>
              <a:t>Boolean</a:t>
            </a:r>
            <a:r>
              <a:rPr sz="2200" b="0" spc="5" dirty="0">
                <a:latin typeface="+mn-lt"/>
                <a:cs typeface="Times New Roman"/>
              </a:rPr>
              <a:t> </a:t>
            </a:r>
            <a:r>
              <a:rPr sz="2200" b="0" spc="-5" dirty="0">
                <a:latin typeface="+mn-lt"/>
                <a:cs typeface="Times New Roman"/>
              </a:rPr>
              <a:t>functions</a:t>
            </a:r>
            <a:endParaRPr sz="2200" dirty="0">
              <a:latin typeface="+mn-lt"/>
              <a:cs typeface="Times New Roman"/>
            </a:endParaRPr>
          </a:p>
          <a:p>
            <a:pPr marL="12700">
              <a:lnSpc>
                <a:spcPct val="150000"/>
              </a:lnSpc>
              <a:spcBef>
                <a:spcPts val="229"/>
              </a:spcBef>
            </a:pP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+mn-lt"/>
              </a:rPr>
              <a:t>AND</a:t>
            </a:r>
            <a:r>
              <a:rPr sz="2200" u="heavy" spc="-50" dirty="0">
                <a:uFill>
                  <a:solidFill>
                    <a:srgbClr val="000000"/>
                  </a:solidFill>
                </a:uFill>
                <a:latin typeface="+mn-lt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+mn-lt"/>
              </a:rPr>
              <a:t>function</a:t>
            </a:r>
            <a:endParaRPr sz="220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351" y="2893068"/>
            <a:ext cx="9293861" cy="3964932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27965" marR="3089910" indent="-227965">
              <a:lnSpc>
                <a:spcPct val="150000"/>
              </a:lnSpc>
              <a:spcBef>
                <a:spcPts val="390"/>
              </a:spcBef>
              <a:buFont typeface="Arial MT"/>
              <a:buChar char="•"/>
              <a:tabLst>
                <a:tab pos="227965" algn="l"/>
                <a:tab pos="241300" algn="l"/>
              </a:tabLst>
            </a:pPr>
            <a:r>
              <a:rPr sz="2000" dirty="0">
                <a:cs typeface="Times New Roman"/>
              </a:rPr>
              <a:t>If </a:t>
            </a:r>
            <a:r>
              <a:rPr sz="2000" spc="-5" dirty="0">
                <a:cs typeface="Times New Roman"/>
              </a:rPr>
              <a:t>A</a:t>
            </a:r>
            <a:r>
              <a:rPr sz="2000" spc="-15" dirty="0">
                <a:cs typeface="Times New Roman"/>
              </a:rPr>
              <a:t>=</a:t>
            </a:r>
            <a:r>
              <a:rPr sz="2000" dirty="0">
                <a:cs typeface="Times New Roman"/>
              </a:rPr>
              <a:t>0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&amp;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B=0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→ 0</a:t>
            </a:r>
            <a:r>
              <a:rPr sz="2000" spc="-10" dirty="0">
                <a:cs typeface="Times New Roman"/>
              </a:rPr>
              <a:t>*</a:t>
            </a:r>
            <a:r>
              <a:rPr sz="2000" dirty="0">
                <a:cs typeface="Times New Roman"/>
              </a:rPr>
              <a:t>0.6 + </a:t>
            </a:r>
            <a:r>
              <a:rPr sz="2000" spc="-15" dirty="0">
                <a:cs typeface="Times New Roman"/>
              </a:rPr>
              <a:t>0</a:t>
            </a:r>
            <a:r>
              <a:rPr sz="2000" dirty="0">
                <a:cs typeface="Times New Roman"/>
              </a:rPr>
              <a:t>*0.6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=</a:t>
            </a:r>
            <a:r>
              <a:rPr sz="2000" spc="-23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0.</a:t>
            </a:r>
            <a:endParaRPr sz="2000" dirty="0">
              <a:cs typeface="Times New Roman"/>
            </a:endParaRPr>
          </a:p>
          <a:p>
            <a:pPr marL="914400" algn="ctr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cs typeface="Times New Roman"/>
              </a:rPr>
              <a:t>This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is</a:t>
            </a:r>
            <a:r>
              <a:rPr sz="2000" spc="-10" dirty="0">
                <a:cs typeface="Times New Roman"/>
              </a:rPr>
              <a:t> </a:t>
            </a:r>
            <a:r>
              <a:rPr sz="2000" spc="5" dirty="0">
                <a:cs typeface="Times New Roman"/>
              </a:rPr>
              <a:t>not</a:t>
            </a:r>
            <a:r>
              <a:rPr sz="2000" spc="-2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greater</a:t>
            </a:r>
            <a:r>
              <a:rPr sz="200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than</a:t>
            </a:r>
            <a:r>
              <a:rPr sz="2000" dirty="0">
                <a:cs typeface="Times New Roman"/>
              </a:rPr>
              <a:t> the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threshold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of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1,</a:t>
            </a:r>
            <a:r>
              <a:rPr sz="2000" spc="-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so</a:t>
            </a:r>
            <a:r>
              <a:rPr sz="2000" dirty="0">
                <a:cs typeface="Times New Roman"/>
              </a:rPr>
              <a:t> the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output =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0.</a:t>
            </a:r>
          </a:p>
          <a:p>
            <a:pPr marL="227965" marR="2898140" indent="-227965">
              <a:lnSpc>
                <a:spcPct val="150000"/>
              </a:lnSpc>
              <a:spcBef>
                <a:spcPts val="285"/>
              </a:spcBef>
              <a:buFont typeface="Arial MT"/>
              <a:buChar char="•"/>
              <a:tabLst>
                <a:tab pos="227965" algn="l"/>
                <a:tab pos="241300" algn="l"/>
              </a:tabLst>
            </a:pPr>
            <a:r>
              <a:rPr sz="2000" dirty="0">
                <a:cs typeface="Times New Roman"/>
              </a:rPr>
              <a:t>If </a:t>
            </a:r>
            <a:r>
              <a:rPr sz="2000" spc="-5" dirty="0">
                <a:cs typeface="Times New Roman"/>
              </a:rPr>
              <a:t>A</a:t>
            </a:r>
            <a:r>
              <a:rPr sz="2000" spc="-15" dirty="0">
                <a:cs typeface="Times New Roman"/>
              </a:rPr>
              <a:t>=</a:t>
            </a:r>
            <a:r>
              <a:rPr sz="2000" dirty="0">
                <a:cs typeface="Times New Roman"/>
              </a:rPr>
              <a:t>0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&amp;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B=1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→ 0</a:t>
            </a:r>
            <a:r>
              <a:rPr sz="2000" spc="-10" dirty="0">
                <a:cs typeface="Times New Roman"/>
              </a:rPr>
              <a:t>*</a:t>
            </a:r>
            <a:r>
              <a:rPr sz="2000" dirty="0">
                <a:cs typeface="Times New Roman"/>
              </a:rPr>
              <a:t>0.6 + </a:t>
            </a:r>
            <a:r>
              <a:rPr sz="2000" spc="-15" dirty="0">
                <a:cs typeface="Times New Roman"/>
              </a:rPr>
              <a:t>1</a:t>
            </a:r>
            <a:r>
              <a:rPr sz="2000" dirty="0">
                <a:cs typeface="Times New Roman"/>
              </a:rPr>
              <a:t>*0.6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=</a:t>
            </a:r>
            <a:r>
              <a:rPr sz="2000" spc="-23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0.</a:t>
            </a:r>
            <a:r>
              <a:rPr sz="2000" spc="-10" dirty="0">
                <a:cs typeface="Times New Roman"/>
              </a:rPr>
              <a:t>6</a:t>
            </a:r>
            <a:r>
              <a:rPr sz="2000" dirty="0">
                <a:cs typeface="Times New Roman"/>
              </a:rPr>
              <a:t>.</a:t>
            </a:r>
          </a:p>
          <a:p>
            <a:pPr marL="449580" algn="ctr">
              <a:lnSpc>
                <a:spcPct val="150000"/>
              </a:lnSpc>
              <a:spcBef>
                <a:spcPts val="265"/>
              </a:spcBef>
            </a:pPr>
            <a:r>
              <a:rPr sz="2000" dirty="0">
                <a:cs typeface="Times New Roman"/>
              </a:rPr>
              <a:t>This is</a:t>
            </a:r>
            <a:r>
              <a:rPr sz="2000" spc="-10" dirty="0">
                <a:cs typeface="Times New Roman"/>
              </a:rPr>
              <a:t> </a:t>
            </a:r>
            <a:r>
              <a:rPr sz="2000" spc="5" dirty="0">
                <a:cs typeface="Times New Roman"/>
              </a:rPr>
              <a:t>not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greater</a:t>
            </a:r>
            <a:r>
              <a:rPr sz="200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than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threshold,</a:t>
            </a:r>
            <a:r>
              <a:rPr sz="2000" dirty="0">
                <a:cs typeface="Times New Roman"/>
              </a:rPr>
              <a:t> so the</a:t>
            </a:r>
            <a:r>
              <a:rPr sz="2000" spc="-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output =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0.</a:t>
            </a:r>
          </a:p>
          <a:p>
            <a:pPr marL="227965" marR="2898775" indent="-227965">
              <a:lnSpc>
                <a:spcPct val="150000"/>
              </a:lnSpc>
              <a:spcBef>
                <a:spcPts val="275"/>
              </a:spcBef>
              <a:buFont typeface="Arial MT"/>
              <a:buChar char="•"/>
              <a:tabLst>
                <a:tab pos="227965" algn="l"/>
                <a:tab pos="241300" algn="l"/>
              </a:tabLst>
            </a:pPr>
            <a:r>
              <a:rPr sz="2000" dirty="0">
                <a:cs typeface="Times New Roman"/>
              </a:rPr>
              <a:t>If </a:t>
            </a:r>
            <a:r>
              <a:rPr sz="2000" spc="-5" dirty="0">
                <a:cs typeface="Times New Roman"/>
              </a:rPr>
              <a:t>A</a:t>
            </a:r>
            <a:r>
              <a:rPr sz="2000" spc="-15" dirty="0">
                <a:cs typeface="Times New Roman"/>
              </a:rPr>
              <a:t>=</a:t>
            </a:r>
            <a:r>
              <a:rPr sz="2000" dirty="0">
                <a:cs typeface="Times New Roman"/>
              </a:rPr>
              <a:t>1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&amp;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B=0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→ 1</a:t>
            </a:r>
            <a:r>
              <a:rPr sz="2000" spc="-10" dirty="0">
                <a:cs typeface="Times New Roman"/>
              </a:rPr>
              <a:t>*</a:t>
            </a:r>
            <a:r>
              <a:rPr sz="2000" dirty="0">
                <a:cs typeface="Times New Roman"/>
              </a:rPr>
              <a:t>0.6 + </a:t>
            </a:r>
            <a:r>
              <a:rPr sz="2000" spc="-15" dirty="0">
                <a:cs typeface="Times New Roman"/>
              </a:rPr>
              <a:t>0</a:t>
            </a:r>
            <a:r>
              <a:rPr sz="2000" dirty="0">
                <a:cs typeface="Times New Roman"/>
              </a:rPr>
              <a:t>*0.6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=</a:t>
            </a:r>
            <a:r>
              <a:rPr sz="2000" spc="-25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0.6.</a:t>
            </a:r>
          </a:p>
          <a:p>
            <a:pPr marL="449580" algn="ctr">
              <a:lnSpc>
                <a:spcPct val="150000"/>
              </a:lnSpc>
              <a:spcBef>
                <a:spcPts val="300"/>
              </a:spcBef>
            </a:pPr>
            <a:r>
              <a:rPr sz="2000" dirty="0">
                <a:cs typeface="Times New Roman"/>
              </a:rPr>
              <a:t>This is</a:t>
            </a:r>
            <a:r>
              <a:rPr sz="2000" spc="-10" dirty="0">
                <a:cs typeface="Times New Roman"/>
              </a:rPr>
              <a:t> </a:t>
            </a:r>
            <a:r>
              <a:rPr sz="2000" spc="5" dirty="0">
                <a:cs typeface="Times New Roman"/>
              </a:rPr>
              <a:t>not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greater</a:t>
            </a:r>
            <a:r>
              <a:rPr sz="200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than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threshold,</a:t>
            </a:r>
            <a:r>
              <a:rPr sz="2000" dirty="0">
                <a:cs typeface="Times New Roman"/>
              </a:rPr>
              <a:t> so the</a:t>
            </a:r>
            <a:r>
              <a:rPr sz="2000" spc="-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output =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0.</a:t>
            </a:r>
          </a:p>
          <a:p>
            <a:pPr marL="227965" marR="2898140" indent="-227965">
              <a:lnSpc>
                <a:spcPct val="150000"/>
              </a:lnSpc>
              <a:spcBef>
                <a:spcPts val="280"/>
              </a:spcBef>
              <a:buFont typeface="Arial MT"/>
              <a:buChar char="•"/>
              <a:tabLst>
                <a:tab pos="227965" algn="l"/>
                <a:tab pos="241300" algn="l"/>
              </a:tabLst>
            </a:pPr>
            <a:r>
              <a:rPr sz="2000" dirty="0">
                <a:cs typeface="Times New Roman"/>
              </a:rPr>
              <a:t>If </a:t>
            </a:r>
            <a:r>
              <a:rPr sz="2000" spc="-5" dirty="0">
                <a:cs typeface="Times New Roman"/>
              </a:rPr>
              <a:t>A</a:t>
            </a:r>
            <a:r>
              <a:rPr sz="2000" spc="-15" dirty="0">
                <a:cs typeface="Times New Roman"/>
              </a:rPr>
              <a:t>=</a:t>
            </a:r>
            <a:r>
              <a:rPr sz="2000" dirty="0">
                <a:cs typeface="Times New Roman"/>
              </a:rPr>
              <a:t>1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&amp;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B=1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→ 1</a:t>
            </a:r>
            <a:r>
              <a:rPr sz="2000" spc="-10" dirty="0">
                <a:cs typeface="Times New Roman"/>
              </a:rPr>
              <a:t>*</a:t>
            </a:r>
            <a:r>
              <a:rPr sz="2000" dirty="0">
                <a:cs typeface="Times New Roman"/>
              </a:rPr>
              <a:t>0.6 + </a:t>
            </a:r>
            <a:r>
              <a:rPr sz="2000" spc="-15" dirty="0">
                <a:cs typeface="Times New Roman"/>
              </a:rPr>
              <a:t>1</a:t>
            </a:r>
            <a:r>
              <a:rPr sz="2000" dirty="0">
                <a:cs typeface="Times New Roman"/>
              </a:rPr>
              <a:t>*0.6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=</a:t>
            </a:r>
            <a:r>
              <a:rPr sz="2000" spc="-23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1.</a:t>
            </a:r>
            <a:r>
              <a:rPr sz="2000" spc="-10" dirty="0">
                <a:cs typeface="Times New Roman"/>
              </a:rPr>
              <a:t>2</a:t>
            </a:r>
            <a:r>
              <a:rPr sz="2000" dirty="0">
                <a:cs typeface="Times New Roman"/>
              </a:rPr>
              <a:t>.</a:t>
            </a:r>
          </a:p>
          <a:p>
            <a:pPr marR="564515" algn="ctr">
              <a:lnSpc>
                <a:spcPct val="150000"/>
              </a:lnSpc>
              <a:spcBef>
                <a:spcPts val="265"/>
              </a:spcBef>
            </a:pPr>
            <a:r>
              <a:rPr sz="2000" dirty="0">
                <a:cs typeface="Times New Roman"/>
              </a:rPr>
              <a:t>This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exceeds</a:t>
            </a:r>
            <a:r>
              <a:rPr sz="2000" spc="-5" dirty="0">
                <a:cs typeface="Times New Roman"/>
              </a:rPr>
              <a:t> the</a:t>
            </a:r>
            <a:r>
              <a:rPr sz="200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threshold, so</a:t>
            </a:r>
            <a:r>
              <a:rPr sz="2000" dirty="0">
                <a:cs typeface="Times New Roman"/>
              </a:rPr>
              <a:t> the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output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=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1.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6105" y="1524001"/>
            <a:ext cx="8979789" cy="154277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E4F81B8-9E68-4439-81E5-5F823B9C191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E557E25-A227-420B-A2FD-C29D9D3E0A1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E1D815A1-8903-C0A7-78C5-C32CD403287C}"/>
              </a:ext>
            </a:extLst>
          </p:cNvPr>
          <p:cNvSpPr/>
          <p:nvPr/>
        </p:nvSpPr>
        <p:spPr>
          <a:xfrm>
            <a:off x="6705600" y="1835373"/>
            <a:ext cx="371061" cy="222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FFE407F-0A47-A5D7-FF70-E925E698FC5C}"/>
              </a:ext>
            </a:extLst>
          </p:cNvPr>
          <p:cNvSpPr/>
          <p:nvPr/>
        </p:nvSpPr>
        <p:spPr>
          <a:xfrm>
            <a:off x="6705599" y="2476758"/>
            <a:ext cx="371061" cy="2220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9DAE365-D9AF-951E-6340-E55E98AC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D03663C-332B-C5DA-0D95-8C98AB281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09ECF57-6D7E-27DE-5852-2E895B2EF61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D566ED-5C90-E6B0-0F94-F0518EC992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24D10DD-C465-F2E1-0F38-3F94A4AAE5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69"/>
          <a:stretch/>
        </p:blipFill>
        <p:spPr>
          <a:xfrm>
            <a:off x="0" y="131213"/>
            <a:ext cx="12192000" cy="624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23C8E12-D595-A3C3-4D19-D652F24C1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2357617-22CE-AE61-247C-1DA7E3CB4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8326F9B-FE41-9DB1-4001-5D385D3F996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5A49F9F-4743-FD82-2A33-896CC00BEBC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208887E-E393-B50E-A0E2-1EC899E668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" t="1976" r="2500" b="8869"/>
          <a:stretch/>
        </p:blipFill>
        <p:spPr>
          <a:xfrm>
            <a:off x="228600" y="98523"/>
            <a:ext cx="11658600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96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900CD3-2893-FBCE-9E34-6828FA9F5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FF2EEF1-5D66-14AA-3250-9B7CFD0D7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42F7338-CA17-3C8F-ED7B-6F562929AD0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8104639-89F9-143D-F4D2-A28713A8263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B9C076A-AFA3-2E3F-5481-EBFBDFF521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" t="1976" r="1875" b="8869"/>
          <a:stretch/>
        </p:blipFill>
        <p:spPr>
          <a:xfrm>
            <a:off x="228600" y="137160"/>
            <a:ext cx="11734800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98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15D707-9FA6-1184-3535-E9692AC61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2F29855-E34B-38AB-1E91-9DCE471B0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6FA798A-D5EE-45FF-0111-DB5E79A529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FA6B4C6-2C47-9525-53DF-479CDC8A38B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F36AA16-D07B-8139-48A7-805D4FAA6E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76" b="8869"/>
          <a:stretch/>
        </p:blipFill>
        <p:spPr>
          <a:xfrm>
            <a:off x="0" y="76200"/>
            <a:ext cx="12192000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3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56539E5-BB6B-ACDB-4C9E-B6DFF429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DCA7D0D-1CB3-E463-6787-97B1C9BCA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6E17D75-021C-60F0-0FDC-25BFCA7CB5F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92A68E06-2ECC-715E-0F93-8293C120F13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18CC99D-D970-AEBD-FF3A-D7B2193FA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" t="1976" r="1250" b="8869"/>
          <a:stretch/>
        </p:blipFill>
        <p:spPr>
          <a:xfrm>
            <a:off x="152400" y="137160"/>
            <a:ext cx="11887200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48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948471-A033-072E-AD65-4E1451860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2060DC8-4C90-1980-17FF-DBF466B76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FB1B552-8C20-27F4-7E87-DA060BFE0DD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3DD6F1B-49AF-5E7C-E38C-18BB6084B05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B9549F6-87EA-43EC-FAC8-4663157F45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" t="1976" r="2500" b="8869"/>
          <a:stretch/>
        </p:blipFill>
        <p:spPr>
          <a:xfrm>
            <a:off x="152400" y="137160"/>
            <a:ext cx="11734800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4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9E95D0-F2D6-CAA6-2B2B-18582A2B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23EDB57-8055-DDF8-D090-25580D92E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ABE5D55-2F52-7465-E711-3C95BBB0B3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01C7D68-84CB-7BEA-098D-F81BA0552B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4ABC42F-BED5-06E4-FE9E-21FF6ADD4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75" t="1976" r="2500" b="8869"/>
          <a:stretch/>
        </p:blipFill>
        <p:spPr>
          <a:xfrm>
            <a:off x="228600" y="137160"/>
            <a:ext cx="11658600" cy="611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6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B68B77-BA54-8921-C5D8-4D057A14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3D52E20-3E81-95E8-A0D3-51E43DEDE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0BAFC06-F670-D0BC-9A36-222BDAA678C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BB2D501-5C88-4DED-8120-8F8ABA07DF7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D2560A0-A79C-06B9-7C37-BFDDB450AC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0" t="1976" r="3124" b="11092"/>
          <a:stretch/>
        </p:blipFill>
        <p:spPr>
          <a:xfrm>
            <a:off x="457200" y="137160"/>
            <a:ext cx="11353800" cy="595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7274" y="510286"/>
            <a:ext cx="91014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+mn-lt"/>
              </a:rPr>
              <a:t>GRADIENT</a:t>
            </a:r>
            <a:r>
              <a:rPr sz="2800" spc="15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DESCENT</a:t>
            </a:r>
            <a:r>
              <a:rPr sz="2800" spc="5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algorithm</a:t>
            </a:r>
            <a:r>
              <a:rPr sz="2800" spc="5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for</a:t>
            </a:r>
            <a:r>
              <a:rPr sz="2800" spc="2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training</a:t>
            </a:r>
            <a:r>
              <a:rPr sz="2800" spc="2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a</a:t>
            </a:r>
            <a:r>
              <a:rPr sz="280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linear</a:t>
            </a:r>
            <a:r>
              <a:rPr sz="2800" spc="5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unit</a:t>
            </a:r>
            <a:endParaRPr sz="2800" dirty="0">
              <a:latin typeface="+mn-l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0045" y="1611190"/>
            <a:ext cx="8824214" cy="425621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8288653-AFFE-43C5-BAA5-70FEAB1D04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69D2FDD-7168-4CC4-ACD9-27960326B03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9FF6357E-4BC4-9A47-AC67-6A46750795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75" t="1977" r="2500" b="7420"/>
          <a:stretch/>
        </p:blipFill>
        <p:spPr>
          <a:xfrm>
            <a:off x="228600" y="137160"/>
            <a:ext cx="11658600" cy="62105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9480" y="296685"/>
            <a:ext cx="527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+mn-lt"/>
              </a:rPr>
              <a:t>Features</a:t>
            </a:r>
            <a:r>
              <a:rPr sz="2400" spc="-20" dirty="0">
                <a:latin typeface="+mn-lt"/>
              </a:rPr>
              <a:t> </a:t>
            </a:r>
            <a:r>
              <a:rPr sz="2400" dirty="0">
                <a:latin typeface="+mn-lt"/>
              </a:rPr>
              <a:t>of</a:t>
            </a:r>
            <a:r>
              <a:rPr sz="2400" spc="-25" dirty="0">
                <a:latin typeface="+mn-lt"/>
              </a:rPr>
              <a:t> </a:t>
            </a:r>
            <a:r>
              <a:rPr sz="2400" dirty="0">
                <a:latin typeface="+mn-lt"/>
              </a:rPr>
              <a:t>Gradient</a:t>
            </a:r>
            <a:r>
              <a:rPr sz="2400" spc="-20" dirty="0">
                <a:latin typeface="+mn-lt"/>
              </a:rPr>
              <a:t> </a:t>
            </a:r>
            <a:r>
              <a:rPr sz="2400" spc="-5" dirty="0">
                <a:latin typeface="+mn-lt"/>
              </a:rPr>
              <a:t>Descent</a:t>
            </a:r>
            <a:r>
              <a:rPr sz="2400" spc="-15" dirty="0">
                <a:latin typeface="+mn-lt"/>
              </a:rPr>
              <a:t> </a:t>
            </a:r>
            <a:r>
              <a:rPr sz="2400" dirty="0">
                <a:latin typeface="+mn-lt"/>
              </a:rPr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457200"/>
            <a:ext cx="10255885" cy="5987344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98425" indent="-342900" algn="just">
              <a:lnSpc>
                <a:spcPct val="15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2400" spc="-5" dirty="0">
                <a:cs typeface="Times New Roman"/>
              </a:rPr>
              <a:t>Gradient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descent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an </a:t>
            </a:r>
            <a:r>
              <a:rPr sz="2400" spc="-5" dirty="0">
                <a:cs typeface="Times New Roman"/>
              </a:rPr>
              <a:t>important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general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paradigm</a:t>
            </a:r>
            <a:r>
              <a:rPr sz="2400" spc="-2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for</a:t>
            </a:r>
            <a:r>
              <a:rPr sz="2400" dirty="0">
                <a:cs typeface="Times New Roman"/>
              </a:rPr>
              <a:t> learning.</a:t>
            </a:r>
            <a:r>
              <a:rPr sz="2400" spc="5" dirty="0">
                <a:cs typeface="Times New Roman"/>
              </a:rPr>
              <a:t> </a:t>
            </a:r>
            <a:endParaRPr lang="en-US" sz="2400" spc="5" dirty="0">
              <a:cs typeface="Times New Roman"/>
            </a:endParaRPr>
          </a:p>
          <a:p>
            <a:pPr marL="355600" marR="98425" indent="-342900" algn="just">
              <a:lnSpc>
                <a:spcPct val="150000"/>
              </a:lnSpc>
              <a:spcBef>
                <a:spcPts val="434"/>
              </a:spcBef>
              <a:buFont typeface="Arial" panose="020B0604020202020204" pitchFamily="34" charset="0"/>
              <a:buChar char="•"/>
            </a:pPr>
            <a:r>
              <a:rPr sz="2400" dirty="0">
                <a:cs typeface="Times New Roman"/>
              </a:rPr>
              <a:t>It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 strategy </a:t>
            </a:r>
            <a:r>
              <a:rPr sz="2400" spc="-5" dirty="0">
                <a:cs typeface="Times New Roman"/>
              </a:rPr>
              <a:t>for 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searching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through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large</a:t>
            </a:r>
            <a:r>
              <a:rPr sz="2400" dirty="0">
                <a:cs typeface="Times New Roman"/>
              </a:rPr>
              <a:t> or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infinite</a:t>
            </a:r>
            <a:r>
              <a:rPr sz="2400" spc="-5" dirty="0">
                <a:cs typeface="Times New Roman"/>
              </a:rPr>
              <a:t> hypothesis space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can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be applied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whenever</a:t>
            </a:r>
          </a:p>
          <a:p>
            <a:pPr marL="927100" lvl="1" indent="-457834" algn="just">
              <a:lnSpc>
                <a:spcPct val="150000"/>
              </a:lnSpc>
              <a:spcBef>
                <a:spcPts val="67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hypothesis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space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contains</a:t>
            </a:r>
            <a:r>
              <a:rPr sz="2400" spc="1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continuously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parameterized</a:t>
            </a:r>
            <a:r>
              <a:rPr sz="2400" spc="-7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hypotheses</a:t>
            </a:r>
            <a:endParaRPr sz="2400" dirty="0">
              <a:cs typeface="Times New Roman"/>
            </a:endParaRPr>
          </a:p>
          <a:p>
            <a:pPr marL="927100" lvl="1" indent="-457834" algn="just">
              <a:lnSpc>
                <a:spcPct val="150000"/>
              </a:lnSpc>
              <a:spcBef>
                <a:spcPts val="705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error can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differentiated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with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respect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these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hypothesis</a:t>
            </a:r>
            <a:r>
              <a:rPr sz="2400" spc="-114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parameters</a:t>
            </a:r>
            <a:endParaRPr sz="2400" dirty="0">
              <a:cs typeface="Times New Roman"/>
            </a:endParaRPr>
          </a:p>
          <a:p>
            <a:pPr marL="12700" algn="just">
              <a:lnSpc>
                <a:spcPct val="150000"/>
              </a:lnSpc>
            </a:pPr>
            <a:r>
              <a:rPr sz="2400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key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practical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difficulties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applying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gradient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descent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are</a:t>
            </a:r>
          </a:p>
          <a:p>
            <a:pPr marL="469900" indent="-457834" algn="just">
              <a:lnSpc>
                <a:spcPct val="150000"/>
              </a:lnSpc>
              <a:spcBef>
                <a:spcPts val="71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dirty="0">
                <a:cs typeface="Times New Roman"/>
              </a:rPr>
              <a:t>Converging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-5" dirty="0">
                <a:cs typeface="Times New Roman"/>
              </a:rPr>
              <a:t> local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minimum </a:t>
            </a:r>
            <a:r>
              <a:rPr sz="2400" dirty="0">
                <a:cs typeface="Times New Roman"/>
              </a:rPr>
              <a:t>can </a:t>
            </a:r>
            <a:r>
              <a:rPr sz="2400" spc="-5" dirty="0">
                <a:cs typeface="Times New Roman"/>
              </a:rPr>
              <a:t>sometimes </a:t>
            </a:r>
            <a:r>
              <a:rPr sz="2400" dirty="0">
                <a:cs typeface="Times New Roman"/>
              </a:rPr>
              <a:t>be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quite</a:t>
            </a:r>
            <a:r>
              <a:rPr sz="2400" spc="-7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slow</a:t>
            </a:r>
            <a:endParaRPr sz="2400" dirty="0">
              <a:cs typeface="Times New Roman"/>
            </a:endParaRPr>
          </a:p>
          <a:p>
            <a:pPr marL="469900" marR="5080" indent="-457834" algn="just">
              <a:lnSpc>
                <a:spcPct val="150000"/>
              </a:lnSpc>
              <a:spcBef>
                <a:spcPts val="103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sz="2400" dirty="0">
                <a:cs typeface="Times New Roman"/>
              </a:rPr>
              <a:t>If there are multiple local </a:t>
            </a:r>
            <a:r>
              <a:rPr sz="2400" spc="-5" dirty="0">
                <a:cs typeface="Times New Roman"/>
              </a:rPr>
              <a:t>minima </a:t>
            </a:r>
            <a:r>
              <a:rPr sz="2400" dirty="0">
                <a:cs typeface="Times New Roman"/>
              </a:rPr>
              <a:t>in the error </a:t>
            </a:r>
            <a:r>
              <a:rPr sz="2400" spc="-5" dirty="0">
                <a:cs typeface="Times New Roman"/>
              </a:rPr>
              <a:t>surface, </a:t>
            </a:r>
            <a:r>
              <a:rPr sz="2400" dirty="0">
                <a:cs typeface="Times New Roman"/>
              </a:rPr>
              <a:t>then </a:t>
            </a:r>
            <a:r>
              <a:rPr sz="2400" spc="-5" dirty="0">
                <a:cs typeface="Times New Roman"/>
              </a:rPr>
              <a:t>there </a:t>
            </a:r>
            <a:r>
              <a:rPr sz="2400" dirty="0">
                <a:cs typeface="Times New Roman"/>
              </a:rPr>
              <a:t>is no </a:t>
            </a:r>
            <a:r>
              <a:rPr sz="2400" spc="-5" dirty="0">
                <a:cs typeface="Times New Roman"/>
              </a:rPr>
              <a:t>guarantee </a:t>
            </a:r>
            <a:r>
              <a:rPr sz="2400" spc="-5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that</a:t>
            </a:r>
            <a:r>
              <a:rPr sz="2400" spc="-5" dirty="0">
                <a:cs typeface="Times New Roman"/>
              </a:rPr>
              <a:t> the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procedure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will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find</a:t>
            </a:r>
            <a:r>
              <a:rPr sz="2400" dirty="0">
                <a:cs typeface="Times New Roman"/>
              </a:rPr>
              <a:t> the global</a:t>
            </a:r>
            <a:r>
              <a:rPr sz="2400" spc="-6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minimum</a:t>
            </a:r>
            <a:endParaRPr sz="24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92EFA3B-D6FB-4F80-92A6-9A56E0865DB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10E49725-B190-4D39-8542-E2F7B32BF0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39D284-6EBE-8EDD-4A79-EC9D7D7DF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3306DE0-B629-871D-ED17-8E9E19763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2BAB0BC-B493-0F18-3F6E-B9D47E9E6AC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9C07613-6A17-8090-5FE3-85B8841DBC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16B2DE3-2043-D1D6-0C05-CEDCF5E252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75" b="8869"/>
          <a:stretch/>
        </p:blipFill>
        <p:spPr>
          <a:xfrm>
            <a:off x="-76200" y="77873"/>
            <a:ext cx="11963400" cy="624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3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D4049F-B7A0-BFEA-FB05-9023A073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8C85C56-BDE7-A740-25FF-98FE02C88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46F629D-EBDA-8199-6631-06661FB799C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6F143F4-84C8-77BC-6014-3E5342E18F1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C380000-CAA0-30B0-8CE1-F250A9F7B5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79"/>
          <a:stretch/>
        </p:blipFill>
        <p:spPr>
          <a:xfrm>
            <a:off x="0" y="1673"/>
            <a:ext cx="12192000" cy="637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86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0" y="461518"/>
            <a:ext cx="11353800" cy="506549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49225" marR="5080" indent="-137160">
              <a:lnSpc>
                <a:spcPts val="3440"/>
              </a:lnSpc>
              <a:spcBef>
                <a:spcPts val="550"/>
              </a:spcBef>
            </a:pPr>
            <a:r>
              <a:rPr sz="3200" b="1" spc="-65" dirty="0">
                <a:cs typeface="Times New Roman"/>
              </a:rPr>
              <a:t>M</a:t>
            </a:r>
            <a:r>
              <a:rPr sz="3200" b="1" spc="-60" dirty="0">
                <a:cs typeface="Times New Roman"/>
              </a:rPr>
              <a:t>U</a:t>
            </a:r>
            <a:r>
              <a:rPr sz="3200" b="1" spc="-65" dirty="0">
                <a:cs typeface="Times New Roman"/>
              </a:rPr>
              <a:t>LT</a:t>
            </a:r>
            <a:r>
              <a:rPr sz="3200" b="1" spc="-75" dirty="0">
                <a:cs typeface="Times New Roman"/>
              </a:rPr>
              <a:t>I</a:t>
            </a:r>
            <a:r>
              <a:rPr sz="3200" b="1" spc="-65" dirty="0">
                <a:cs typeface="Times New Roman"/>
              </a:rPr>
              <a:t>L</a:t>
            </a:r>
            <a:r>
              <a:rPr sz="3200" b="1" spc="-60" dirty="0">
                <a:cs typeface="Times New Roman"/>
              </a:rPr>
              <a:t>AY</a:t>
            </a:r>
            <a:r>
              <a:rPr sz="3200" b="1" spc="-65" dirty="0">
                <a:cs typeface="Times New Roman"/>
              </a:rPr>
              <a:t>E</a:t>
            </a:r>
            <a:r>
              <a:rPr sz="3200" b="1" dirty="0">
                <a:cs typeface="Times New Roman"/>
              </a:rPr>
              <a:t>R</a:t>
            </a:r>
            <a:r>
              <a:rPr sz="3200" b="1" spc="-135" dirty="0">
                <a:cs typeface="Times New Roman"/>
              </a:rPr>
              <a:t> </a:t>
            </a:r>
            <a:r>
              <a:rPr sz="3200" b="1" dirty="0">
                <a:cs typeface="Times New Roman"/>
              </a:rPr>
              <a:t>NET</a:t>
            </a:r>
            <a:r>
              <a:rPr sz="3200" b="1" spc="-15" dirty="0">
                <a:cs typeface="Times New Roman"/>
              </a:rPr>
              <a:t>W</a:t>
            </a:r>
            <a:r>
              <a:rPr sz="3200" b="1" dirty="0">
                <a:cs typeface="Times New Roman"/>
              </a:rPr>
              <a:t>ORKS </a:t>
            </a:r>
            <a:r>
              <a:rPr sz="3200" b="1" spc="-20" dirty="0">
                <a:cs typeface="Times New Roman"/>
              </a:rPr>
              <a:t>A</a:t>
            </a:r>
            <a:r>
              <a:rPr sz="3200" b="1" dirty="0">
                <a:cs typeface="Times New Roman"/>
              </a:rPr>
              <a:t>ND </a:t>
            </a:r>
            <a:r>
              <a:rPr sz="3200" b="1" spc="-40" dirty="0">
                <a:cs typeface="Times New Roman"/>
              </a:rPr>
              <a:t>T</a:t>
            </a:r>
            <a:r>
              <a:rPr sz="3200" b="1" spc="-20" dirty="0">
                <a:cs typeface="Times New Roman"/>
              </a:rPr>
              <a:t>H</a:t>
            </a:r>
            <a:r>
              <a:rPr sz="3200" b="1" dirty="0">
                <a:cs typeface="Times New Roman"/>
              </a:rPr>
              <a:t>E  </a:t>
            </a:r>
            <a:r>
              <a:rPr sz="3200" b="1" spc="-35" dirty="0">
                <a:cs typeface="Times New Roman"/>
              </a:rPr>
              <a:t>BACKPROPAGATION</a:t>
            </a:r>
            <a:r>
              <a:rPr sz="3200" b="1" spc="-120" dirty="0">
                <a:cs typeface="Times New Roman"/>
              </a:rPr>
              <a:t> </a:t>
            </a:r>
            <a:r>
              <a:rPr sz="3200" b="1" dirty="0">
                <a:cs typeface="Times New Roman"/>
              </a:rPr>
              <a:t>ALGORITHM</a:t>
            </a:r>
            <a:endParaRPr sz="3200" dirty="0"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1227" y="1371600"/>
            <a:ext cx="10253345" cy="109626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355"/>
              </a:spcBef>
            </a:pPr>
            <a:r>
              <a:rPr sz="2400" spc="-5" dirty="0">
                <a:cs typeface="Times New Roman"/>
              </a:rPr>
              <a:t>Multilayer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networks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learned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by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25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BACKPROPACATION</a:t>
            </a:r>
            <a:r>
              <a:rPr sz="2400" b="1" spc="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algorithm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are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capable </a:t>
            </a:r>
            <a:r>
              <a:rPr sz="2400" spc="-5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expressing</a:t>
            </a:r>
            <a:r>
              <a:rPr sz="2400" dirty="0">
                <a:cs typeface="Times New Roman"/>
              </a:rPr>
              <a:t> a rich </a:t>
            </a:r>
            <a:r>
              <a:rPr sz="2400" spc="-5" dirty="0">
                <a:cs typeface="Times New Roman"/>
              </a:rPr>
              <a:t>variety</a:t>
            </a:r>
            <a:r>
              <a:rPr sz="2400" dirty="0">
                <a:cs typeface="Times New Roman"/>
              </a:rPr>
              <a:t> of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nonlinear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decision</a:t>
            </a:r>
            <a:r>
              <a:rPr sz="2400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surfaces</a:t>
            </a:r>
            <a:endParaRPr sz="2400" dirty="0">
              <a:cs typeface="Times New Roman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69AF46E-2D00-46CB-89F8-B82BBA08BB7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85673B5-910B-4602-BF68-88B355061A5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  <p:pic>
        <p:nvPicPr>
          <p:cNvPr id="6" name="object 3">
            <a:extLst>
              <a:ext uri="{FF2B5EF4-FFF2-40B4-BE49-F238E27FC236}">
                <a16:creationId xmlns="" xmlns:a16="http://schemas.microsoft.com/office/drawing/2014/main" id="{AD726208-889B-7B55-9108-03DBEB96D5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2636956"/>
            <a:ext cx="4955286" cy="33769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5035" y="3886200"/>
            <a:ext cx="10361930" cy="2645596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spc="-5" dirty="0">
                <a:cs typeface="Times New Roman"/>
              </a:rPr>
              <a:t>Decision regions </a:t>
            </a:r>
            <a:r>
              <a:rPr sz="1800" dirty="0">
                <a:cs typeface="Times New Roman"/>
              </a:rPr>
              <a:t>of a </a:t>
            </a:r>
            <a:r>
              <a:rPr sz="1800" spc="-5" dirty="0">
                <a:cs typeface="Times New Roman"/>
              </a:rPr>
              <a:t>multilayer </a:t>
            </a:r>
            <a:r>
              <a:rPr sz="1800" dirty="0">
                <a:cs typeface="Times New Roman"/>
              </a:rPr>
              <a:t>feedforward </a:t>
            </a:r>
            <a:r>
              <a:rPr sz="1800" spc="-5" dirty="0">
                <a:cs typeface="Times New Roman"/>
              </a:rPr>
              <a:t>network. </a:t>
            </a:r>
            <a:r>
              <a:rPr sz="1800" dirty="0">
                <a:cs typeface="Times New Roman"/>
              </a:rPr>
              <a:t>The </a:t>
            </a:r>
            <a:r>
              <a:rPr sz="1800" spc="-5" dirty="0">
                <a:cs typeface="Times New Roman"/>
              </a:rPr>
              <a:t>network shown </a:t>
            </a:r>
            <a:r>
              <a:rPr sz="1800" dirty="0">
                <a:cs typeface="Times New Roman"/>
              </a:rPr>
              <a:t>here </a:t>
            </a:r>
            <a:r>
              <a:rPr sz="1800" spc="-5" dirty="0">
                <a:cs typeface="Times New Roman"/>
              </a:rPr>
              <a:t>was trained </a:t>
            </a:r>
            <a:r>
              <a:rPr sz="1800" dirty="0">
                <a:cs typeface="Times New Roman"/>
              </a:rPr>
              <a:t>to </a:t>
            </a:r>
            <a:r>
              <a:rPr sz="1800" spc="-5" dirty="0">
                <a:cs typeface="Times New Roman"/>
              </a:rPr>
              <a:t>recognize </a:t>
            </a:r>
            <a:r>
              <a:rPr sz="1800" dirty="0">
                <a:cs typeface="Times New Roman"/>
              </a:rPr>
              <a:t>1 </a:t>
            </a:r>
            <a:r>
              <a:rPr sz="1800" spc="-10" dirty="0">
                <a:cs typeface="Times New Roman"/>
              </a:rPr>
              <a:t>of </a:t>
            </a:r>
            <a:r>
              <a:rPr sz="1800" spc="-5" dirty="0">
                <a:cs typeface="Times New Roman"/>
              </a:rPr>
              <a:t> </a:t>
            </a:r>
            <a:r>
              <a:rPr sz="1800" b="1" i="1" dirty="0">
                <a:cs typeface="Times New Roman"/>
              </a:rPr>
              <a:t>10 </a:t>
            </a:r>
            <a:r>
              <a:rPr sz="1800" dirty="0">
                <a:cs typeface="Times New Roman"/>
              </a:rPr>
              <a:t>vowel </a:t>
            </a:r>
            <a:r>
              <a:rPr sz="1800" spc="-5" dirty="0">
                <a:cs typeface="Times New Roman"/>
              </a:rPr>
              <a:t>sounds </a:t>
            </a:r>
            <a:r>
              <a:rPr sz="1800" dirty="0">
                <a:cs typeface="Times New Roman"/>
              </a:rPr>
              <a:t>occurring in </a:t>
            </a:r>
            <a:r>
              <a:rPr sz="1800" spc="-5" dirty="0">
                <a:cs typeface="Times New Roman"/>
              </a:rPr>
              <a:t>the context "h_d" (e.g., "had," </a:t>
            </a:r>
            <a:r>
              <a:rPr sz="1800" dirty="0">
                <a:cs typeface="Times New Roman"/>
              </a:rPr>
              <a:t>"hid"). The </a:t>
            </a:r>
            <a:r>
              <a:rPr sz="1800" spc="-5" dirty="0">
                <a:cs typeface="Times New Roman"/>
              </a:rPr>
              <a:t>network </a:t>
            </a:r>
            <a:r>
              <a:rPr sz="1800" dirty="0">
                <a:cs typeface="Times New Roman"/>
              </a:rPr>
              <a:t>input </a:t>
            </a:r>
            <a:r>
              <a:rPr sz="1800" spc="-5" dirty="0">
                <a:cs typeface="Times New Roman"/>
              </a:rPr>
              <a:t>consists </a:t>
            </a:r>
            <a:r>
              <a:rPr sz="1800" dirty="0">
                <a:cs typeface="Times New Roman"/>
              </a:rPr>
              <a:t>of </a:t>
            </a:r>
            <a:r>
              <a:rPr sz="1800" spc="-5" dirty="0">
                <a:cs typeface="Times New Roman"/>
              </a:rPr>
              <a:t>two </a:t>
            </a:r>
            <a:r>
              <a:rPr sz="180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parameters, F1 and F2, obtained </a:t>
            </a:r>
            <a:r>
              <a:rPr sz="1800" dirty="0">
                <a:cs typeface="Times New Roman"/>
              </a:rPr>
              <a:t>from a </a:t>
            </a:r>
            <a:r>
              <a:rPr sz="1800" spc="-5" dirty="0">
                <a:cs typeface="Times New Roman"/>
              </a:rPr>
              <a:t>spectral analysis </a:t>
            </a:r>
            <a:r>
              <a:rPr sz="1800" dirty="0">
                <a:cs typeface="Times New Roman"/>
              </a:rPr>
              <a:t>of the sound. </a:t>
            </a:r>
            <a:r>
              <a:rPr sz="1800" spc="-5" dirty="0">
                <a:cs typeface="Times New Roman"/>
              </a:rPr>
              <a:t>The </a:t>
            </a:r>
            <a:r>
              <a:rPr sz="1800" dirty="0">
                <a:cs typeface="Times New Roman"/>
              </a:rPr>
              <a:t>10 </a:t>
            </a:r>
            <a:r>
              <a:rPr sz="1800" spc="-5" dirty="0">
                <a:cs typeface="Times New Roman"/>
              </a:rPr>
              <a:t>network </a:t>
            </a:r>
            <a:r>
              <a:rPr sz="1800" dirty="0">
                <a:cs typeface="Times New Roman"/>
              </a:rPr>
              <a:t>outputs correspond </a:t>
            </a:r>
            <a:r>
              <a:rPr sz="1800" spc="-5" dirty="0">
                <a:cs typeface="Times New Roman"/>
              </a:rPr>
              <a:t>to </a:t>
            </a:r>
            <a:r>
              <a:rPr sz="1800" dirty="0">
                <a:cs typeface="Times New Roman"/>
              </a:rPr>
              <a:t> the</a:t>
            </a:r>
            <a:r>
              <a:rPr sz="1800" spc="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10</a:t>
            </a:r>
            <a:r>
              <a:rPr sz="1800" spc="-1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possible</a:t>
            </a:r>
            <a:r>
              <a:rPr sz="1800" dirty="0">
                <a:cs typeface="Times New Roman"/>
              </a:rPr>
              <a:t> vowel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sounds.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The</a:t>
            </a:r>
            <a:r>
              <a:rPr sz="1800" spc="1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network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prediction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is </a:t>
            </a:r>
            <a:r>
              <a:rPr sz="1800" dirty="0">
                <a:cs typeface="Times New Roman"/>
              </a:rPr>
              <a:t>the output</a:t>
            </a:r>
            <a:r>
              <a:rPr sz="1800" spc="-1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whose</a:t>
            </a:r>
            <a:r>
              <a:rPr sz="1800" spc="1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value</a:t>
            </a:r>
            <a:r>
              <a:rPr sz="180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is</a:t>
            </a:r>
            <a:r>
              <a:rPr sz="1800" spc="-4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highest.</a:t>
            </a:r>
          </a:p>
          <a:p>
            <a:pPr marL="241300" marR="9525" indent="-228600" algn="just">
              <a:lnSpc>
                <a:spcPct val="1500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1800" dirty="0">
                <a:cs typeface="Times New Roman"/>
              </a:rPr>
              <a:t>The plot on the right </a:t>
            </a:r>
            <a:r>
              <a:rPr sz="1800" spc="-5" dirty="0">
                <a:cs typeface="Times New Roman"/>
              </a:rPr>
              <a:t>illustrates </a:t>
            </a:r>
            <a:r>
              <a:rPr sz="1800" dirty="0">
                <a:cs typeface="Times New Roman"/>
              </a:rPr>
              <a:t>the </a:t>
            </a:r>
            <a:r>
              <a:rPr sz="1800" spc="-5" dirty="0">
                <a:cs typeface="Times New Roman"/>
              </a:rPr>
              <a:t>highly nonlinear decision </a:t>
            </a:r>
            <a:r>
              <a:rPr sz="1800" dirty="0">
                <a:cs typeface="Times New Roman"/>
              </a:rPr>
              <a:t>surface </a:t>
            </a:r>
            <a:r>
              <a:rPr sz="1800" spc="-5" dirty="0">
                <a:cs typeface="Times New Roman"/>
              </a:rPr>
              <a:t>represented </a:t>
            </a:r>
            <a:r>
              <a:rPr sz="1800" spc="-10" dirty="0">
                <a:cs typeface="Times New Roman"/>
              </a:rPr>
              <a:t>by </a:t>
            </a:r>
            <a:r>
              <a:rPr sz="1800" spc="-5" dirty="0">
                <a:cs typeface="Times New Roman"/>
              </a:rPr>
              <a:t>the learned network. </a:t>
            </a:r>
            <a:r>
              <a:rPr sz="180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Points</a:t>
            </a:r>
            <a:r>
              <a:rPr sz="180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shown</a:t>
            </a:r>
            <a:r>
              <a:rPr sz="1800" dirty="0">
                <a:cs typeface="Times New Roman"/>
              </a:rPr>
              <a:t> on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plot</a:t>
            </a:r>
            <a:r>
              <a:rPr sz="1800" spc="-1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are</a:t>
            </a:r>
            <a:r>
              <a:rPr sz="1800" dirty="0">
                <a:cs typeface="Times New Roman"/>
              </a:rPr>
              <a:t> test</a:t>
            </a:r>
            <a:r>
              <a:rPr sz="1800" spc="-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examples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distinct</a:t>
            </a:r>
            <a:r>
              <a:rPr sz="1800" dirty="0">
                <a:cs typeface="Times New Roman"/>
              </a:rPr>
              <a:t> from</a:t>
            </a:r>
            <a:r>
              <a:rPr sz="1800" spc="-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 </a:t>
            </a:r>
            <a:r>
              <a:rPr sz="1800" spc="-5" dirty="0">
                <a:cs typeface="Times New Roman"/>
              </a:rPr>
              <a:t>examples</a:t>
            </a:r>
            <a:r>
              <a:rPr sz="1800" spc="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used</a:t>
            </a:r>
            <a:r>
              <a:rPr sz="1800" spc="-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to train</a:t>
            </a:r>
            <a:r>
              <a:rPr sz="1800" spc="-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-2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network.</a:t>
            </a:r>
            <a:endParaRPr sz="1800" dirty="0"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00" y="241301"/>
            <a:ext cx="9764395" cy="3492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CB0601B-FED6-4882-9E48-330D23A9212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4C03869-2DFD-42FE-AA2F-0D62E6201AA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8202" y="437954"/>
            <a:ext cx="48907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+mn-lt"/>
              </a:rPr>
              <a:t>A</a:t>
            </a:r>
            <a:r>
              <a:rPr sz="2800" spc="-1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Differentiable Threshold</a:t>
            </a:r>
            <a:r>
              <a:rPr sz="2800" spc="-10" dirty="0">
                <a:latin typeface="+mn-lt"/>
              </a:rPr>
              <a:t> </a:t>
            </a:r>
            <a:r>
              <a:rPr sz="2800" spc="-5" dirty="0">
                <a:latin typeface="+mn-lt"/>
              </a:rPr>
              <a:t>Unit</a:t>
            </a:r>
            <a:endParaRPr sz="2800" dirty="0">
              <a:latin typeface="+mn-l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42973"/>
            <a:ext cx="10363200" cy="228663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18415" indent="-228600" algn="just">
              <a:lnSpc>
                <a:spcPts val="258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5" dirty="0">
                <a:cs typeface="Times New Roman"/>
              </a:rPr>
              <a:t>Sigmoid</a:t>
            </a:r>
            <a:r>
              <a:rPr sz="2400" dirty="0">
                <a:cs typeface="Times New Roman"/>
              </a:rPr>
              <a:t> unit-a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unit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very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much</a:t>
            </a:r>
            <a:r>
              <a:rPr sz="2400" dirty="0">
                <a:cs typeface="Times New Roman"/>
              </a:rPr>
              <a:t> like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perceptron,</a:t>
            </a:r>
            <a:r>
              <a:rPr sz="2400" dirty="0">
                <a:cs typeface="Times New Roman"/>
              </a:rPr>
              <a:t> but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based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on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smoothed, 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differentiable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threshold</a:t>
            </a:r>
            <a:r>
              <a:rPr sz="2400" spc="-4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function.</a:t>
            </a:r>
            <a:endParaRPr sz="2400" dirty="0">
              <a:cs typeface="Times New Roman"/>
            </a:endParaRPr>
          </a:p>
          <a:p>
            <a:pPr marL="241300" marR="5080" indent="-228600" algn="just">
              <a:lnSpc>
                <a:spcPct val="89800"/>
              </a:lnSpc>
              <a:spcBef>
                <a:spcPts val="97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sigmoid </a:t>
            </a:r>
            <a:r>
              <a:rPr sz="2400" dirty="0">
                <a:cs typeface="Times New Roman"/>
              </a:rPr>
              <a:t>unit </a:t>
            </a:r>
            <a:r>
              <a:rPr sz="2400" spc="-5" dirty="0">
                <a:cs typeface="Times New Roman"/>
              </a:rPr>
              <a:t>first computes </a:t>
            </a:r>
            <a:r>
              <a:rPr sz="2400" dirty="0">
                <a:cs typeface="Times New Roman"/>
              </a:rPr>
              <a:t>a </a:t>
            </a:r>
            <a:r>
              <a:rPr sz="2400" spc="-5" dirty="0">
                <a:cs typeface="Times New Roman"/>
              </a:rPr>
              <a:t>linear combination </a:t>
            </a:r>
            <a:r>
              <a:rPr sz="2400" dirty="0">
                <a:cs typeface="Times New Roman"/>
              </a:rPr>
              <a:t>of its </a:t>
            </a:r>
            <a:r>
              <a:rPr sz="2400" spc="-5" dirty="0">
                <a:cs typeface="Times New Roman"/>
              </a:rPr>
              <a:t>inputs, then applies </a:t>
            </a:r>
            <a:r>
              <a:rPr sz="2400" dirty="0">
                <a:cs typeface="Times New Roman"/>
              </a:rPr>
              <a:t>a 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threshold to the </a:t>
            </a:r>
            <a:r>
              <a:rPr sz="2400" spc="-5" dirty="0">
                <a:cs typeface="Times New Roman"/>
              </a:rPr>
              <a:t>result. </a:t>
            </a:r>
            <a:r>
              <a:rPr sz="2400" dirty="0">
                <a:cs typeface="Times New Roman"/>
              </a:rPr>
              <a:t>In the case of the sigmoid unit, </a:t>
            </a:r>
            <a:r>
              <a:rPr sz="2400" spc="-15" dirty="0">
                <a:cs typeface="Times New Roman"/>
              </a:rPr>
              <a:t>however, </a:t>
            </a: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threshold </a:t>
            </a:r>
            <a:r>
              <a:rPr sz="2400" dirty="0">
                <a:cs typeface="Times New Roman"/>
              </a:rPr>
              <a:t> output </a:t>
            </a:r>
            <a:r>
              <a:rPr sz="2400" spc="-5" dirty="0">
                <a:cs typeface="Times New Roman"/>
              </a:rPr>
              <a:t>is</a:t>
            </a:r>
            <a:r>
              <a:rPr sz="2400" dirty="0">
                <a:cs typeface="Times New Roman"/>
              </a:rPr>
              <a:t> a </a:t>
            </a:r>
            <a:r>
              <a:rPr sz="2400" spc="-5" dirty="0">
                <a:cs typeface="Times New Roman"/>
              </a:rPr>
              <a:t>continuous</a:t>
            </a:r>
            <a:r>
              <a:rPr sz="2400" dirty="0">
                <a:cs typeface="Times New Roman"/>
              </a:rPr>
              <a:t> function of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its</a:t>
            </a:r>
            <a:r>
              <a:rPr sz="2400" spc="-8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input.</a:t>
            </a:r>
          </a:p>
          <a:p>
            <a:pPr marL="241300" indent="-228600" algn="just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Times New Roman"/>
              </a:rPr>
              <a:t>More</a:t>
            </a:r>
            <a:r>
              <a:rPr sz="2400" spc="5" dirty="0">
                <a:cs typeface="Times New Roman"/>
              </a:rPr>
              <a:t> </a:t>
            </a:r>
            <a:r>
              <a:rPr sz="2400" spc="-20" dirty="0">
                <a:cs typeface="Times New Roman"/>
              </a:rPr>
              <a:t>precisely, </a:t>
            </a:r>
            <a:r>
              <a:rPr sz="2400" spc="-5" dirty="0">
                <a:cs typeface="Times New Roman"/>
              </a:rPr>
              <a:t>the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sigmoid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 </a:t>
            </a:r>
            <a:r>
              <a:rPr sz="2400" spc="-5" dirty="0">
                <a:cs typeface="Times New Roman"/>
              </a:rPr>
              <a:t>computes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its</a:t>
            </a:r>
            <a:r>
              <a:rPr sz="2400" dirty="0">
                <a:cs typeface="Times New Roman"/>
              </a:rPr>
              <a:t> output</a:t>
            </a:r>
            <a:r>
              <a:rPr sz="2400" spc="20" dirty="0">
                <a:cs typeface="Times New Roman"/>
              </a:rPr>
              <a:t> </a:t>
            </a:r>
            <a:r>
              <a:rPr sz="2400" b="1" i="1" spc="-5" dirty="0">
                <a:cs typeface="Times New Roman"/>
              </a:rPr>
              <a:t>O</a:t>
            </a:r>
            <a:r>
              <a:rPr sz="2400" b="1" i="1" spc="-10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as</a:t>
            </a:r>
            <a:endParaRPr sz="2400" dirty="0"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1155" y="5593791"/>
            <a:ext cx="3067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cs typeface="Times New Roman"/>
              </a:rPr>
              <a:t>σ</a:t>
            </a:r>
            <a:r>
              <a:rPr sz="2400" spc="-3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is</a:t>
            </a:r>
            <a:r>
              <a:rPr sz="2400" spc="-2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2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sigmoid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function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5284" y="3815715"/>
            <a:ext cx="3383915" cy="17428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2421541-6815-4376-ABA2-3EFBE89DF62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99073AE-4318-42D7-A681-C724169764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2529" y="457250"/>
            <a:ext cx="7312659" cy="5409819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BC69D6B-A281-429C-8D0F-F8B93D7DFA3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387054D-86D3-42DB-B8A6-D9E6F7DC331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9A9D841-9D84-BAB3-0BA7-4FDEEF0B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E0236F5-BF0C-BCFC-DA28-C7166237F3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74A88E4-C259-DBF5-EE60-7EDCEEE8CAD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059683B-BA98-576C-875E-CBE9E3877C0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FBE538D-1ED2-33C7-EA6E-687F09BD67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69"/>
          <a:stretch/>
        </p:blipFill>
        <p:spPr>
          <a:xfrm>
            <a:off x="0" y="1673"/>
            <a:ext cx="12192000" cy="624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76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7775AE4-9428-3704-2A89-1C5B62742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5E3DAFF-4F63-7C79-BAA7-61013497AD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EA000DF-0721-4C16-7C3A-9F8ACA3B534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E12A397-716B-9432-318F-A8F72F436A5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D71861EA-4F37-5C4C-010E-2364C59134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869"/>
          <a:stretch/>
        </p:blipFill>
        <p:spPr>
          <a:xfrm>
            <a:off x="0" y="1673"/>
            <a:ext cx="12192000" cy="624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2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0E00EA-845D-8CCF-2441-61019842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44AAD8BF-EEDC-C3FD-BFFA-CC4FC3476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609AE16-4203-FBF3-2484-47148A3ACB8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82633CB-E8D8-BFDB-AAD0-A25248F585E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975D671-0E13-DC9E-D490-EE8E4B3A2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2204"/>
          <a:stretch/>
        </p:blipFill>
        <p:spPr>
          <a:xfrm>
            <a:off x="0" y="1673"/>
            <a:ext cx="12192000" cy="601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4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9938" y="466090"/>
            <a:ext cx="6068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/>
              <a:t>The</a:t>
            </a:r>
            <a:r>
              <a:rPr sz="2800" spc="-10" dirty="0"/>
              <a:t> </a:t>
            </a:r>
            <a:r>
              <a:rPr sz="2800" spc="-5" dirty="0"/>
              <a:t>BACKPROPAGATION</a:t>
            </a:r>
            <a:r>
              <a:rPr sz="2800" spc="5" dirty="0"/>
              <a:t> </a:t>
            </a:r>
            <a:r>
              <a:rPr sz="2800" spc="-5" dirty="0"/>
              <a:t>Algorithm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906207" y="918210"/>
            <a:ext cx="10363200" cy="243310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5080" indent="-228600" algn="just">
              <a:lnSpc>
                <a:spcPct val="15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cs typeface="Times New Roman"/>
              </a:rPr>
              <a:t>The</a:t>
            </a:r>
            <a:r>
              <a:rPr sz="2000" spc="5" dirty="0">
                <a:cs typeface="Times New Roman"/>
              </a:rPr>
              <a:t> </a:t>
            </a:r>
            <a:r>
              <a:rPr sz="2000" spc="-35" dirty="0">
                <a:cs typeface="Times New Roman"/>
              </a:rPr>
              <a:t>BACKPROPAGATION</a:t>
            </a:r>
            <a:r>
              <a:rPr sz="2000" spc="-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Algorithm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learns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weights</a:t>
            </a:r>
            <a:r>
              <a:rPr sz="2000" dirty="0">
                <a:cs typeface="Times New Roman"/>
              </a:rPr>
              <a:t> for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multilayer</a:t>
            </a:r>
            <a:r>
              <a:rPr sz="2000" dirty="0">
                <a:cs typeface="Times New Roman"/>
              </a:rPr>
              <a:t> network,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given</a:t>
            </a:r>
            <a:r>
              <a:rPr sz="2000" dirty="0">
                <a:cs typeface="Times New Roman"/>
              </a:rPr>
              <a:t> a 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network with a </a:t>
            </a:r>
            <a:r>
              <a:rPr sz="2000" spc="-5" dirty="0">
                <a:cs typeface="Times New Roman"/>
              </a:rPr>
              <a:t>fixed </a:t>
            </a:r>
            <a:r>
              <a:rPr sz="2000" dirty="0">
                <a:cs typeface="Times New Roman"/>
              </a:rPr>
              <a:t>set of units </a:t>
            </a:r>
            <a:r>
              <a:rPr sz="2000" spc="-5" dirty="0">
                <a:cs typeface="Times New Roman"/>
              </a:rPr>
              <a:t>and interconnections. </a:t>
            </a:r>
            <a:r>
              <a:rPr sz="2000" dirty="0">
                <a:cs typeface="Times New Roman"/>
              </a:rPr>
              <a:t>It </a:t>
            </a:r>
            <a:r>
              <a:rPr sz="2000" spc="-5" dirty="0">
                <a:cs typeface="Times New Roman"/>
              </a:rPr>
              <a:t>employs gradient </a:t>
            </a:r>
            <a:r>
              <a:rPr sz="2000" dirty="0">
                <a:cs typeface="Times New Roman"/>
              </a:rPr>
              <a:t>descent to </a:t>
            </a:r>
            <a:r>
              <a:rPr sz="2000" spc="-5" dirty="0">
                <a:cs typeface="Times New Roman"/>
              </a:rPr>
              <a:t>attempt </a:t>
            </a:r>
            <a:r>
              <a:rPr sz="2000" dirty="0">
                <a:cs typeface="Times New Roman"/>
              </a:rPr>
              <a:t>to 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minimize </a:t>
            </a:r>
            <a:r>
              <a:rPr sz="2000" dirty="0">
                <a:cs typeface="Times New Roman"/>
              </a:rPr>
              <a:t>the </a:t>
            </a:r>
            <a:r>
              <a:rPr sz="2000" spc="-5" dirty="0">
                <a:cs typeface="Times New Roman"/>
              </a:rPr>
              <a:t>squared error between the </a:t>
            </a:r>
            <a:r>
              <a:rPr sz="2000" dirty="0">
                <a:cs typeface="Times New Roman"/>
              </a:rPr>
              <a:t>network output </a:t>
            </a:r>
            <a:r>
              <a:rPr sz="2000" spc="-5" dirty="0">
                <a:cs typeface="Times New Roman"/>
              </a:rPr>
              <a:t>values and </a:t>
            </a:r>
            <a:r>
              <a:rPr sz="2000" spc="-15" dirty="0">
                <a:cs typeface="Times New Roman"/>
              </a:rPr>
              <a:t>the target </a:t>
            </a:r>
            <a:r>
              <a:rPr sz="2000" spc="-5" dirty="0">
                <a:cs typeface="Times New Roman"/>
              </a:rPr>
              <a:t>values for these </a:t>
            </a:r>
            <a:r>
              <a:rPr sz="2000" dirty="0">
                <a:cs typeface="Times New Roman"/>
              </a:rPr>
              <a:t> outputs.</a:t>
            </a:r>
          </a:p>
          <a:p>
            <a:pPr marL="241300" marR="148590" indent="-228600" algn="just">
              <a:lnSpc>
                <a:spcPct val="15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cs typeface="Times New Roman"/>
              </a:rPr>
              <a:t>In </a:t>
            </a:r>
            <a:r>
              <a:rPr sz="2000" spc="-30" dirty="0">
                <a:cs typeface="Times New Roman"/>
              </a:rPr>
              <a:t>BACKPROPAGATION </a:t>
            </a:r>
            <a:r>
              <a:rPr sz="2000" spc="-5" dirty="0">
                <a:cs typeface="Times New Roman"/>
              </a:rPr>
              <a:t>algorithm, </a:t>
            </a:r>
            <a:r>
              <a:rPr sz="2000" spc="5" dirty="0">
                <a:cs typeface="Times New Roman"/>
              </a:rPr>
              <a:t>we </a:t>
            </a:r>
            <a:r>
              <a:rPr sz="2000" spc="-5" dirty="0">
                <a:cs typeface="Times New Roman"/>
              </a:rPr>
              <a:t>consider networks </a:t>
            </a:r>
            <a:r>
              <a:rPr sz="2000" dirty="0">
                <a:cs typeface="Times New Roman"/>
              </a:rPr>
              <a:t>with </a:t>
            </a:r>
            <a:r>
              <a:rPr sz="2000" spc="-5" dirty="0">
                <a:cs typeface="Times New Roman"/>
              </a:rPr>
              <a:t>multiple </a:t>
            </a:r>
            <a:r>
              <a:rPr sz="2000" dirty="0">
                <a:cs typeface="Times New Roman"/>
              </a:rPr>
              <a:t>output </a:t>
            </a:r>
            <a:r>
              <a:rPr sz="2000" spc="-5" dirty="0">
                <a:cs typeface="Times New Roman"/>
              </a:rPr>
              <a:t>units rather than </a:t>
            </a:r>
            <a:r>
              <a:rPr sz="2000" spc="-484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single</a:t>
            </a:r>
            <a:r>
              <a:rPr sz="2000" spc="-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units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as before,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so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we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redefine</a:t>
            </a:r>
            <a:r>
              <a:rPr sz="2000" spc="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E</a:t>
            </a:r>
            <a:r>
              <a:rPr sz="2000" spc="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to</a:t>
            </a:r>
            <a:r>
              <a:rPr sz="2000" spc="10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sum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errors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over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all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of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5" dirty="0">
                <a:cs typeface="Times New Roman"/>
              </a:rPr>
              <a:t> network</a:t>
            </a:r>
            <a:r>
              <a:rPr sz="2000" spc="5" dirty="0">
                <a:cs typeface="Times New Roman"/>
              </a:rPr>
              <a:t> </a:t>
            </a:r>
            <a:r>
              <a:rPr sz="2000" spc="15" dirty="0">
                <a:cs typeface="Times New Roman"/>
              </a:rPr>
              <a:t>outputunits.</a:t>
            </a:r>
            <a:endParaRPr sz="2000" dirty="0"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6207" y="4572000"/>
            <a:ext cx="10614661" cy="1620957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2000" u="sng" dirty="0">
                <a:uFill>
                  <a:solidFill>
                    <a:srgbClr val="000000"/>
                  </a:solidFill>
                </a:uFill>
                <a:cs typeface="Times New Roman"/>
              </a:rPr>
              <a:t>where,</a:t>
            </a:r>
            <a:endParaRPr sz="2000" dirty="0">
              <a:cs typeface="Times New Roman"/>
            </a:endParaRPr>
          </a:p>
          <a:p>
            <a:pPr marL="266700" indent="-2286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66065" algn="l"/>
                <a:tab pos="266700" algn="l"/>
              </a:tabLst>
            </a:pPr>
            <a:r>
              <a:rPr sz="2000" b="1" i="1" dirty="0">
                <a:cs typeface="Times New Roman"/>
              </a:rPr>
              <a:t>o</a:t>
            </a:r>
            <a:r>
              <a:rPr sz="2000" b="1" i="1" spc="5" dirty="0">
                <a:cs typeface="Times New Roman"/>
              </a:rPr>
              <a:t>u</a:t>
            </a:r>
            <a:r>
              <a:rPr sz="2000" b="1" i="1" dirty="0">
                <a:cs typeface="Times New Roman"/>
              </a:rPr>
              <a:t>t</a:t>
            </a:r>
            <a:r>
              <a:rPr sz="2000" b="1" i="1" spc="-15" dirty="0">
                <a:cs typeface="Times New Roman"/>
              </a:rPr>
              <a:t>p</a:t>
            </a:r>
            <a:r>
              <a:rPr sz="2000" b="1" i="1" dirty="0">
                <a:cs typeface="Times New Roman"/>
              </a:rPr>
              <a:t>uts</a:t>
            </a:r>
            <a:r>
              <a:rPr sz="2000" b="1" i="1" spc="5" dirty="0">
                <a:cs typeface="Times New Roman"/>
              </a:rPr>
              <a:t> </a:t>
            </a:r>
            <a:r>
              <a:rPr sz="2000" b="1" i="1" dirty="0">
                <a:cs typeface="Times New Roman"/>
              </a:rPr>
              <a:t>-</a:t>
            </a:r>
            <a:r>
              <a:rPr sz="2000" b="1" i="1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is </a:t>
            </a:r>
            <a:r>
              <a:rPr sz="2000" spc="-10" dirty="0">
                <a:cs typeface="Times New Roman"/>
              </a:rPr>
              <a:t>t</a:t>
            </a:r>
            <a:r>
              <a:rPr sz="2000" dirty="0">
                <a:cs typeface="Times New Roman"/>
              </a:rPr>
              <a:t>he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set </a:t>
            </a:r>
            <a:r>
              <a:rPr sz="2000" spc="-10" dirty="0">
                <a:cs typeface="Times New Roman"/>
              </a:rPr>
              <a:t>o</a:t>
            </a:r>
            <a:r>
              <a:rPr sz="2000" dirty="0">
                <a:cs typeface="Times New Roman"/>
              </a:rPr>
              <a:t>f o</a:t>
            </a:r>
            <a:r>
              <a:rPr sz="2000" spc="5" dirty="0">
                <a:cs typeface="Times New Roman"/>
              </a:rPr>
              <a:t>u</a:t>
            </a:r>
            <a:r>
              <a:rPr sz="2000" spc="-20" dirty="0">
                <a:cs typeface="Times New Roman"/>
              </a:rPr>
              <a:t>t</a:t>
            </a:r>
            <a:r>
              <a:rPr sz="2000" dirty="0">
                <a:cs typeface="Times New Roman"/>
              </a:rPr>
              <a:t>p</a:t>
            </a:r>
            <a:r>
              <a:rPr sz="2000" spc="10" dirty="0">
                <a:cs typeface="Times New Roman"/>
              </a:rPr>
              <a:t>u</a:t>
            </a:r>
            <a:r>
              <a:rPr sz="2000" dirty="0">
                <a:cs typeface="Times New Roman"/>
              </a:rPr>
              <a:t>t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uni</a:t>
            </a:r>
            <a:r>
              <a:rPr sz="2000" spc="-10" dirty="0">
                <a:cs typeface="Times New Roman"/>
              </a:rPr>
              <a:t>t</a:t>
            </a:r>
            <a:r>
              <a:rPr sz="2000" dirty="0">
                <a:cs typeface="Times New Roman"/>
              </a:rPr>
              <a:t>s in</a:t>
            </a:r>
            <a:r>
              <a:rPr sz="2000" spc="5" dirty="0">
                <a:cs typeface="Times New Roman"/>
              </a:rPr>
              <a:t> </a:t>
            </a:r>
            <a:r>
              <a:rPr sz="2000" spc="-20" dirty="0">
                <a:cs typeface="Times New Roman"/>
              </a:rPr>
              <a:t>t</a:t>
            </a:r>
            <a:r>
              <a:rPr sz="2000" dirty="0">
                <a:cs typeface="Times New Roman"/>
              </a:rPr>
              <a:t>he</a:t>
            </a:r>
            <a:r>
              <a:rPr sz="2000" spc="-17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ne</a:t>
            </a:r>
            <a:r>
              <a:rPr sz="2000" spc="-15" dirty="0">
                <a:cs typeface="Times New Roman"/>
              </a:rPr>
              <a:t>t</a:t>
            </a:r>
            <a:r>
              <a:rPr sz="2000" spc="-10" dirty="0">
                <a:cs typeface="Times New Roman"/>
              </a:rPr>
              <a:t>w</a:t>
            </a:r>
            <a:r>
              <a:rPr sz="2000" dirty="0">
                <a:cs typeface="Times New Roman"/>
              </a:rPr>
              <a:t>ork</a:t>
            </a:r>
          </a:p>
          <a:p>
            <a:pPr marL="266700" indent="-228600">
              <a:lnSpc>
                <a:spcPct val="100000"/>
              </a:lnSpc>
              <a:spcBef>
                <a:spcPts val="810"/>
              </a:spcBef>
              <a:buFont typeface="Arial MT"/>
              <a:buChar char="•"/>
              <a:tabLst>
                <a:tab pos="266065" algn="l"/>
                <a:tab pos="266700" algn="l"/>
              </a:tabLst>
            </a:pPr>
            <a:r>
              <a:rPr sz="2000" b="1" i="1" spc="-5" dirty="0">
                <a:cs typeface="Times New Roman"/>
              </a:rPr>
              <a:t>t</a:t>
            </a:r>
            <a:r>
              <a:rPr sz="1950" b="1" i="1" spc="-7" baseline="-19230" dirty="0">
                <a:cs typeface="Times New Roman"/>
              </a:rPr>
              <a:t>kd</a:t>
            </a:r>
            <a:r>
              <a:rPr sz="1950" b="1" i="1" baseline="-192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and </a:t>
            </a:r>
            <a:r>
              <a:rPr sz="2000" b="1" i="1" dirty="0">
                <a:cs typeface="Times New Roman"/>
              </a:rPr>
              <a:t>O</a:t>
            </a:r>
            <a:r>
              <a:rPr sz="1950" b="1" i="1" baseline="-19230" dirty="0">
                <a:cs typeface="Times New Roman"/>
              </a:rPr>
              <a:t>kd</a:t>
            </a:r>
            <a:r>
              <a:rPr sz="1950" b="1" i="1" spc="-7" baseline="-1923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-</a:t>
            </a:r>
            <a:r>
              <a:rPr sz="2000" spc="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the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target </a:t>
            </a:r>
            <a:r>
              <a:rPr sz="2000" spc="-5" dirty="0">
                <a:cs typeface="Times New Roman"/>
              </a:rPr>
              <a:t>and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output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values </a:t>
            </a:r>
            <a:r>
              <a:rPr sz="2000" spc="-5" dirty="0">
                <a:cs typeface="Times New Roman"/>
              </a:rPr>
              <a:t>associated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with</a:t>
            </a:r>
            <a:r>
              <a:rPr sz="2000" spc="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the</a:t>
            </a:r>
            <a:r>
              <a:rPr sz="2000" dirty="0">
                <a:cs typeface="Times New Roman"/>
              </a:rPr>
              <a:t> k</a:t>
            </a:r>
            <a:r>
              <a:rPr sz="1950" baseline="25641" dirty="0">
                <a:cs typeface="Times New Roman"/>
              </a:rPr>
              <a:t>th </a:t>
            </a:r>
            <a:r>
              <a:rPr sz="2000" spc="-5" dirty="0">
                <a:cs typeface="Times New Roman"/>
              </a:rPr>
              <a:t>output</a:t>
            </a:r>
            <a:r>
              <a:rPr sz="2000" spc="3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unit</a:t>
            </a:r>
          </a:p>
          <a:p>
            <a:pPr marL="2667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66065" algn="l"/>
                <a:tab pos="266700" algn="l"/>
              </a:tabLst>
            </a:pPr>
            <a:r>
              <a:rPr sz="2000" dirty="0">
                <a:cs typeface="Times New Roman"/>
              </a:rPr>
              <a:t>d -</a:t>
            </a:r>
            <a:r>
              <a:rPr sz="2000" spc="-15" dirty="0">
                <a:cs typeface="Times New Roman"/>
              </a:rPr>
              <a:t> </a:t>
            </a:r>
            <a:r>
              <a:rPr sz="2000" spc="-5" dirty="0">
                <a:cs typeface="Times New Roman"/>
              </a:rPr>
              <a:t>training</a:t>
            </a:r>
            <a:r>
              <a:rPr sz="2000" spc="-3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example</a:t>
            </a:r>
            <a:endParaRPr sz="2000" dirty="0"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2859" y="3459479"/>
            <a:ext cx="4509897" cy="64452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6F0E595-335E-42AE-8444-FF28FDE0944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8A224CA-9750-41F7-83E0-F6F45D94F2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4935" y="495312"/>
            <a:ext cx="9067800" cy="518134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C3F6659-B63A-48AF-9776-70372934DE5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7F22830-7281-424F-87CC-6A6EA3BDB44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635" y="635508"/>
            <a:ext cx="6445758" cy="451180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71B9BB7-D07B-41D5-B63A-BFEEF5A540D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B31CBA-787F-4DF4-95A0-44FF1FAA45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54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2757" y="429513"/>
            <a:ext cx="66687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+mn-lt"/>
              </a:rPr>
              <a:t>Derivation</a:t>
            </a:r>
            <a:r>
              <a:rPr sz="2600" spc="5" dirty="0">
                <a:latin typeface="+mn-lt"/>
              </a:rPr>
              <a:t> </a:t>
            </a:r>
            <a:r>
              <a:rPr sz="2600" dirty="0">
                <a:latin typeface="+mn-lt"/>
              </a:rPr>
              <a:t>of</a:t>
            </a:r>
            <a:r>
              <a:rPr sz="2600" spc="10" dirty="0">
                <a:latin typeface="+mn-lt"/>
              </a:rPr>
              <a:t> </a:t>
            </a:r>
            <a:r>
              <a:rPr sz="2600" spc="-5" dirty="0">
                <a:latin typeface="+mn-lt"/>
              </a:rPr>
              <a:t>the</a:t>
            </a:r>
            <a:r>
              <a:rPr sz="2600" spc="10" dirty="0">
                <a:latin typeface="+mn-lt"/>
              </a:rPr>
              <a:t> </a:t>
            </a:r>
            <a:r>
              <a:rPr sz="2600" spc="-5" dirty="0">
                <a:latin typeface="+mn-lt"/>
              </a:rPr>
              <a:t>BACKPROPAGATION</a:t>
            </a:r>
            <a:r>
              <a:rPr sz="2600" spc="5" dirty="0">
                <a:latin typeface="+mn-lt"/>
              </a:rPr>
              <a:t> </a:t>
            </a:r>
            <a:r>
              <a:rPr sz="2600" dirty="0">
                <a:latin typeface="+mn-lt"/>
              </a:rPr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539" y="1287525"/>
            <a:ext cx="9471025" cy="1564403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66700" marR="30480" indent="-228600" algn="just">
              <a:lnSpc>
                <a:spcPct val="80700"/>
              </a:lnSpc>
              <a:spcBef>
                <a:spcPts val="605"/>
              </a:spcBef>
              <a:buFont typeface="Arial MT"/>
              <a:buChar char="•"/>
              <a:tabLst>
                <a:tab pos="266065" algn="l"/>
                <a:tab pos="266700" algn="l"/>
              </a:tabLst>
            </a:pPr>
            <a:r>
              <a:rPr sz="2200" spc="-5" dirty="0">
                <a:cs typeface="Times New Roman"/>
              </a:rPr>
              <a:t>Deriving</a:t>
            </a:r>
            <a:r>
              <a:rPr sz="2200" spc="2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the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stochastic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gradient</a:t>
            </a:r>
            <a:r>
              <a:rPr sz="2200" spc="2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descent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rule:</a:t>
            </a:r>
            <a:r>
              <a:rPr sz="2200" spc="1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Stochastic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gradient</a:t>
            </a:r>
            <a:r>
              <a:rPr sz="2200" spc="2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descent</a:t>
            </a:r>
            <a:r>
              <a:rPr sz="2200" spc="-3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involves </a:t>
            </a:r>
            <a:r>
              <a:rPr sz="2200" spc="-53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iterating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through</a:t>
            </a:r>
            <a:r>
              <a:rPr sz="2200" spc="10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the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training</a:t>
            </a:r>
            <a:r>
              <a:rPr sz="2200" spc="1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examples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one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at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a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time,</a:t>
            </a:r>
            <a:r>
              <a:rPr sz="2200" spc="10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for </a:t>
            </a:r>
            <a:r>
              <a:rPr sz="2200" spc="-5" dirty="0">
                <a:cs typeface="Times New Roman"/>
              </a:rPr>
              <a:t>each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training</a:t>
            </a:r>
            <a:r>
              <a:rPr sz="2200" spc="1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example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d 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descending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the gradient</a:t>
            </a:r>
            <a:r>
              <a:rPr sz="2200" dirty="0">
                <a:cs typeface="Times New Roman"/>
              </a:rPr>
              <a:t> of </a:t>
            </a:r>
            <a:r>
              <a:rPr sz="2200" spc="-5" dirty="0">
                <a:cs typeface="Times New Roman"/>
              </a:rPr>
              <a:t>the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error</a:t>
            </a:r>
            <a:r>
              <a:rPr sz="2200" spc="25" dirty="0">
                <a:cs typeface="Times New Roman"/>
              </a:rPr>
              <a:t> </a:t>
            </a:r>
            <a:r>
              <a:rPr sz="2200" b="1" i="1" spc="-5" dirty="0">
                <a:cs typeface="Times New Roman"/>
              </a:rPr>
              <a:t>E</a:t>
            </a:r>
            <a:r>
              <a:rPr sz="2175" b="1" i="1" spc="-7" baseline="-19157" dirty="0">
                <a:cs typeface="Times New Roman"/>
              </a:rPr>
              <a:t>d</a:t>
            </a:r>
            <a:r>
              <a:rPr sz="2175" b="1" i="1" baseline="-19157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with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respect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to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this single</a:t>
            </a:r>
            <a:r>
              <a:rPr sz="2200" spc="-2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example</a:t>
            </a:r>
            <a:endParaRPr sz="2200" dirty="0">
              <a:cs typeface="Times New Roman"/>
            </a:endParaRPr>
          </a:p>
          <a:p>
            <a:pPr marL="266700" indent="-228600" algn="just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66065" algn="l"/>
                <a:tab pos="266700" algn="l"/>
              </a:tabLst>
            </a:pPr>
            <a:r>
              <a:rPr sz="2200" spc="-5" dirty="0">
                <a:cs typeface="Times New Roman"/>
              </a:rPr>
              <a:t>For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each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training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example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d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every</a:t>
            </a:r>
            <a:r>
              <a:rPr sz="2200" spc="2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weight</a:t>
            </a:r>
            <a:r>
              <a:rPr sz="2200" spc="25" dirty="0">
                <a:cs typeface="Times New Roman"/>
              </a:rPr>
              <a:t> </a:t>
            </a:r>
            <a:r>
              <a:rPr sz="2200" b="1" i="1" spc="-5" dirty="0">
                <a:cs typeface="Times New Roman"/>
              </a:rPr>
              <a:t>w</a:t>
            </a:r>
            <a:r>
              <a:rPr sz="2175" b="1" i="1" spc="-7" baseline="-19157" dirty="0">
                <a:cs typeface="Times New Roman"/>
              </a:rPr>
              <a:t>ji</a:t>
            </a:r>
            <a:r>
              <a:rPr sz="2175" b="1" i="1" spc="7" baseline="-19157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is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updated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by</a:t>
            </a:r>
            <a:r>
              <a:rPr sz="2200" spc="1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adding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to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it</a:t>
            </a:r>
            <a:r>
              <a:rPr sz="2200" spc="30" dirty="0">
                <a:cs typeface="Times New Roman"/>
              </a:rPr>
              <a:t> </a:t>
            </a:r>
            <a:r>
              <a:rPr sz="2200" b="1" i="1" spc="55" dirty="0">
                <a:cs typeface="Times New Roman"/>
              </a:rPr>
              <a:t>Δw</a:t>
            </a:r>
            <a:r>
              <a:rPr sz="2175" b="1" i="1" spc="82" baseline="-19157" dirty="0">
                <a:cs typeface="Times New Roman"/>
              </a:rPr>
              <a:t>ji</a:t>
            </a:r>
            <a:endParaRPr sz="2175" baseline="-19157" dirty="0"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9933" y="5420055"/>
            <a:ext cx="9723755" cy="68072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38100" marR="30480" algn="just">
              <a:lnSpc>
                <a:spcPts val="2520"/>
              </a:lnSpc>
              <a:spcBef>
                <a:spcPts val="280"/>
              </a:spcBef>
            </a:pPr>
            <a:r>
              <a:rPr sz="2200" spc="-5" dirty="0">
                <a:cs typeface="Times New Roman"/>
              </a:rPr>
              <a:t>Here</a:t>
            </a:r>
            <a:r>
              <a:rPr sz="2200" dirty="0">
                <a:cs typeface="Times New Roman"/>
              </a:rPr>
              <a:t> </a:t>
            </a:r>
            <a:r>
              <a:rPr sz="2200" b="1" i="1" spc="-5" dirty="0">
                <a:cs typeface="Times New Roman"/>
              </a:rPr>
              <a:t>outputs</a:t>
            </a:r>
            <a:r>
              <a:rPr sz="2200" b="1" i="1" spc="2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is</a:t>
            </a:r>
            <a:r>
              <a:rPr sz="2200" dirty="0">
                <a:cs typeface="Times New Roman"/>
              </a:rPr>
              <a:t> the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set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of</a:t>
            </a:r>
            <a:r>
              <a:rPr sz="2200" spc="1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output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units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in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the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network,</a:t>
            </a:r>
            <a:r>
              <a:rPr sz="2200" spc="45" dirty="0">
                <a:cs typeface="Times New Roman"/>
              </a:rPr>
              <a:t> </a:t>
            </a:r>
            <a:r>
              <a:rPr sz="2200" b="1" i="1" spc="-10" dirty="0">
                <a:cs typeface="Times New Roman"/>
              </a:rPr>
              <a:t>t</a:t>
            </a:r>
            <a:r>
              <a:rPr sz="2175" b="1" i="1" spc="-15" baseline="-19157" dirty="0">
                <a:cs typeface="Times New Roman"/>
              </a:rPr>
              <a:t>k</a:t>
            </a:r>
            <a:r>
              <a:rPr sz="2175" b="1" i="1" spc="7" baseline="-19157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is</a:t>
            </a:r>
            <a:r>
              <a:rPr sz="2200" spc="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the </a:t>
            </a:r>
            <a:r>
              <a:rPr sz="2200" spc="-5" dirty="0">
                <a:cs typeface="Times New Roman"/>
              </a:rPr>
              <a:t>target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value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of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unit</a:t>
            </a:r>
            <a:r>
              <a:rPr sz="2200" spc="10" dirty="0">
                <a:cs typeface="Times New Roman"/>
              </a:rPr>
              <a:t> </a:t>
            </a:r>
            <a:r>
              <a:rPr sz="2200" b="1" i="1" spc="-5" dirty="0">
                <a:cs typeface="Times New Roman"/>
              </a:rPr>
              <a:t>k</a:t>
            </a:r>
            <a:r>
              <a:rPr sz="2200" b="1" i="1" spc="1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for </a:t>
            </a:r>
            <a:r>
              <a:rPr sz="2200" spc="-53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training</a:t>
            </a:r>
            <a:r>
              <a:rPr sz="2200" spc="5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example </a:t>
            </a:r>
            <a:r>
              <a:rPr sz="2200" dirty="0">
                <a:cs typeface="Times New Roman"/>
              </a:rPr>
              <a:t>d, </a:t>
            </a:r>
            <a:r>
              <a:rPr sz="2200" spc="-5" dirty="0">
                <a:cs typeface="Times New Roman"/>
              </a:rPr>
              <a:t>and</a:t>
            </a:r>
            <a:r>
              <a:rPr sz="2200" spc="10" dirty="0">
                <a:cs typeface="Times New Roman"/>
              </a:rPr>
              <a:t> </a:t>
            </a:r>
            <a:r>
              <a:rPr sz="2200" b="1" i="1" dirty="0">
                <a:cs typeface="Times New Roman"/>
              </a:rPr>
              <a:t>o</a:t>
            </a:r>
            <a:r>
              <a:rPr sz="2175" b="1" i="1" baseline="-19157" dirty="0">
                <a:cs typeface="Times New Roman"/>
              </a:rPr>
              <a:t>k</a:t>
            </a:r>
            <a:r>
              <a:rPr sz="2175" b="1" i="1" spc="7" baseline="-19157" dirty="0">
                <a:cs typeface="Times New Roman"/>
              </a:rPr>
              <a:t> </a:t>
            </a:r>
            <a:r>
              <a:rPr sz="2200" spc="-10" dirty="0">
                <a:cs typeface="Times New Roman"/>
              </a:rPr>
              <a:t>is</a:t>
            </a:r>
            <a:r>
              <a:rPr sz="2200" spc="-5" dirty="0">
                <a:cs typeface="Times New Roman"/>
              </a:rPr>
              <a:t> </a:t>
            </a:r>
            <a:r>
              <a:rPr sz="2200" dirty="0">
                <a:cs typeface="Times New Roman"/>
              </a:rPr>
              <a:t>the </a:t>
            </a:r>
            <a:r>
              <a:rPr sz="2200" spc="-5" dirty="0">
                <a:cs typeface="Times New Roman"/>
              </a:rPr>
              <a:t>output </a:t>
            </a:r>
            <a:r>
              <a:rPr sz="2200" spc="-10" dirty="0">
                <a:cs typeface="Times New Roman"/>
              </a:rPr>
              <a:t>of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unit k</a:t>
            </a:r>
            <a:r>
              <a:rPr sz="220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given</a:t>
            </a:r>
            <a:r>
              <a:rPr sz="2200" spc="-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training</a:t>
            </a:r>
            <a:r>
              <a:rPr sz="2200" spc="10" dirty="0">
                <a:cs typeface="Times New Roman"/>
              </a:rPr>
              <a:t> </a:t>
            </a:r>
            <a:r>
              <a:rPr sz="2200" spc="-5" dirty="0">
                <a:cs typeface="Times New Roman"/>
              </a:rPr>
              <a:t>example d.</a:t>
            </a:r>
            <a:endParaRPr sz="2200" dirty="0"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0630" y="3019425"/>
            <a:ext cx="9424162" cy="225615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C5FD1D4-7D74-4DCB-8736-E0F36EF0E55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5C7E6DC-4211-41BA-B74D-6E8FF5BA2D3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55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4239" y="473709"/>
            <a:ext cx="10121265" cy="6208431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5400" marR="17780">
              <a:lnSpc>
                <a:spcPct val="150000"/>
              </a:lnSpc>
              <a:spcBef>
                <a:spcPts val="425"/>
              </a:spcBef>
            </a:pP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derivation</a:t>
            </a:r>
            <a:r>
              <a:rPr sz="2400" dirty="0">
                <a:cs typeface="Times New Roman"/>
              </a:rPr>
              <a:t> of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stochastic </a:t>
            </a:r>
            <a:r>
              <a:rPr sz="2400" spc="-5" dirty="0">
                <a:cs typeface="Times New Roman"/>
              </a:rPr>
              <a:t>gradient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descent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rule is </a:t>
            </a:r>
            <a:r>
              <a:rPr sz="2400" spc="-5" dirty="0">
                <a:cs typeface="Times New Roman"/>
              </a:rPr>
              <a:t>conceptually </a:t>
            </a:r>
            <a:r>
              <a:rPr sz="2400" dirty="0">
                <a:cs typeface="Times New Roman"/>
              </a:rPr>
              <a:t> straightforward, but </a:t>
            </a:r>
            <a:r>
              <a:rPr sz="2400" spc="-5" dirty="0">
                <a:cs typeface="Times New Roman"/>
              </a:rPr>
              <a:t>requires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keeping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track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 a </a:t>
            </a:r>
            <a:r>
              <a:rPr sz="2400" spc="-5" dirty="0">
                <a:cs typeface="Times New Roman"/>
              </a:rPr>
              <a:t>number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subscripts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and </a:t>
            </a:r>
            <a:r>
              <a:rPr sz="2400" spc="-5" dirty="0">
                <a:cs typeface="Times New Roman"/>
              </a:rPr>
              <a:t>variables</a:t>
            </a:r>
            <a:endParaRPr sz="2400" dirty="0"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50" dirty="0">
              <a:cs typeface="Times New Roman"/>
            </a:endParaRPr>
          </a:p>
          <a:p>
            <a:pPr marL="383540" algn="just">
              <a:lnSpc>
                <a:spcPct val="100000"/>
              </a:lnSpc>
            </a:pPr>
            <a:r>
              <a:rPr sz="2400" i="1" spc="-5" dirty="0">
                <a:cs typeface="Times New Roman"/>
              </a:rPr>
              <a:t>x</a:t>
            </a:r>
            <a:r>
              <a:rPr sz="2400" i="1" spc="-7" baseline="-19097" dirty="0">
                <a:cs typeface="Times New Roman"/>
              </a:rPr>
              <a:t>ji</a:t>
            </a:r>
            <a:r>
              <a:rPr sz="2400" i="1" spc="-15" baseline="-19097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=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</a:t>
            </a:r>
            <a:r>
              <a:rPr sz="2400" baseline="24305" dirty="0">
                <a:cs typeface="Times New Roman"/>
              </a:rPr>
              <a:t>th</a:t>
            </a:r>
            <a:r>
              <a:rPr sz="2400" spc="-7" baseline="2430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input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to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</a:t>
            </a:r>
            <a:r>
              <a:rPr sz="2400" spc="-10" dirty="0">
                <a:cs typeface="Times New Roman"/>
              </a:rPr>
              <a:t> </a:t>
            </a:r>
            <a:r>
              <a:rPr sz="2400" i="1" dirty="0">
                <a:cs typeface="Times New Roman"/>
              </a:rPr>
              <a:t>j</a:t>
            </a:r>
            <a:endParaRPr sz="2400" dirty="0">
              <a:cs typeface="Times New Roman"/>
            </a:endParaRPr>
          </a:p>
          <a:p>
            <a:pPr marL="383540" marR="3291840" algn="just">
              <a:lnSpc>
                <a:spcPct val="123100"/>
              </a:lnSpc>
              <a:spcBef>
                <a:spcPts val="10"/>
              </a:spcBef>
            </a:pPr>
            <a:r>
              <a:rPr sz="2400" i="1" spc="-5" dirty="0">
                <a:cs typeface="Times New Roman"/>
              </a:rPr>
              <a:t>w</a:t>
            </a:r>
            <a:r>
              <a:rPr sz="2400" i="1" spc="-7" baseline="-19097" dirty="0">
                <a:cs typeface="Times New Roman"/>
              </a:rPr>
              <a:t>ji </a:t>
            </a:r>
            <a:r>
              <a:rPr sz="2400" dirty="0">
                <a:cs typeface="Times New Roman"/>
              </a:rPr>
              <a:t>= the weight </a:t>
            </a:r>
            <a:r>
              <a:rPr sz="2400" spc="-5" dirty="0">
                <a:cs typeface="Times New Roman"/>
              </a:rPr>
              <a:t>associated </a:t>
            </a:r>
            <a:r>
              <a:rPr sz="2400" dirty="0">
                <a:cs typeface="Times New Roman"/>
              </a:rPr>
              <a:t>with the </a:t>
            </a:r>
            <a:r>
              <a:rPr sz="2400" spc="5" dirty="0">
                <a:cs typeface="Times New Roman"/>
              </a:rPr>
              <a:t>i</a:t>
            </a:r>
            <a:r>
              <a:rPr sz="2400" spc="7" baseline="24305" dirty="0">
                <a:cs typeface="Times New Roman"/>
              </a:rPr>
              <a:t>th </a:t>
            </a:r>
            <a:r>
              <a:rPr sz="2400" dirty="0">
                <a:cs typeface="Times New Roman"/>
              </a:rPr>
              <a:t>input to </a:t>
            </a:r>
            <a:r>
              <a:rPr sz="2400" spc="-5" dirty="0">
                <a:cs typeface="Times New Roman"/>
              </a:rPr>
              <a:t>unit </a:t>
            </a:r>
            <a:r>
              <a:rPr sz="2400" i="1" dirty="0">
                <a:cs typeface="Times New Roman"/>
              </a:rPr>
              <a:t>j </a:t>
            </a:r>
            <a:r>
              <a:rPr sz="2400" i="1" spc="5" dirty="0">
                <a:cs typeface="Times New Roman"/>
              </a:rPr>
              <a:t> </a:t>
            </a:r>
            <a:r>
              <a:rPr sz="2400" i="1" dirty="0">
                <a:cs typeface="Times New Roman"/>
              </a:rPr>
              <a:t>net</a:t>
            </a:r>
            <a:r>
              <a:rPr sz="2400" i="1" baseline="-19097" dirty="0">
                <a:cs typeface="Times New Roman"/>
              </a:rPr>
              <a:t>j </a:t>
            </a:r>
            <a:r>
              <a:rPr sz="2400" dirty="0">
                <a:cs typeface="Times New Roman"/>
              </a:rPr>
              <a:t>= </a:t>
            </a:r>
            <a:r>
              <a:rPr sz="2400" i="1" spc="-5" dirty="0">
                <a:cs typeface="Times New Roman"/>
              </a:rPr>
              <a:t>Σ</a:t>
            </a:r>
            <a:r>
              <a:rPr sz="2400" i="1" spc="-7" baseline="-19097" dirty="0">
                <a:cs typeface="Times New Roman"/>
              </a:rPr>
              <a:t>i </a:t>
            </a:r>
            <a:r>
              <a:rPr sz="2400" i="1" spc="-5" dirty="0">
                <a:cs typeface="Times New Roman"/>
              </a:rPr>
              <a:t>w</a:t>
            </a:r>
            <a:r>
              <a:rPr sz="2400" i="1" spc="-7" baseline="-19097" dirty="0">
                <a:cs typeface="Times New Roman"/>
              </a:rPr>
              <a:t>ji</a:t>
            </a:r>
            <a:r>
              <a:rPr sz="2400" i="1" spc="-5" dirty="0">
                <a:cs typeface="Times New Roman"/>
              </a:rPr>
              <a:t>x</a:t>
            </a:r>
            <a:r>
              <a:rPr sz="2400" i="1" spc="-7" baseline="-19097" dirty="0">
                <a:cs typeface="Times New Roman"/>
              </a:rPr>
              <a:t>ji </a:t>
            </a:r>
            <a:r>
              <a:rPr sz="2400" dirty="0">
                <a:cs typeface="Times New Roman"/>
              </a:rPr>
              <a:t>(the </a:t>
            </a:r>
            <a:r>
              <a:rPr sz="2400" spc="-5" dirty="0">
                <a:cs typeface="Times New Roman"/>
              </a:rPr>
              <a:t>weighted </a:t>
            </a:r>
            <a:r>
              <a:rPr sz="2400" dirty="0">
                <a:cs typeface="Times New Roman"/>
              </a:rPr>
              <a:t>sum of inputs for </a:t>
            </a:r>
            <a:r>
              <a:rPr sz="2400" spc="-10" dirty="0">
                <a:cs typeface="Times New Roman"/>
              </a:rPr>
              <a:t>unit </a:t>
            </a:r>
            <a:r>
              <a:rPr sz="2400" i="1" dirty="0">
                <a:cs typeface="Times New Roman"/>
              </a:rPr>
              <a:t>j ) </a:t>
            </a:r>
            <a:r>
              <a:rPr sz="2400" i="1" spc="5" dirty="0">
                <a:cs typeface="Times New Roman"/>
              </a:rPr>
              <a:t> </a:t>
            </a:r>
            <a:r>
              <a:rPr sz="2400" i="1" spc="-5" dirty="0">
                <a:cs typeface="Times New Roman"/>
              </a:rPr>
              <a:t>o</a:t>
            </a:r>
            <a:r>
              <a:rPr sz="2400" i="1" spc="-7" baseline="-19097" dirty="0">
                <a:cs typeface="Times New Roman"/>
              </a:rPr>
              <a:t>j</a:t>
            </a:r>
            <a:r>
              <a:rPr sz="2400" i="1" spc="-15" baseline="-19097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= the output</a:t>
            </a:r>
            <a:r>
              <a:rPr sz="2400" spc="-5" dirty="0">
                <a:cs typeface="Times New Roman"/>
              </a:rPr>
              <a:t> computed</a:t>
            </a:r>
            <a:r>
              <a:rPr sz="2400" dirty="0">
                <a:cs typeface="Times New Roman"/>
              </a:rPr>
              <a:t> by unit</a:t>
            </a:r>
            <a:r>
              <a:rPr sz="2400" spc="15" dirty="0">
                <a:cs typeface="Times New Roman"/>
              </a:rPr>
              <a:t> </a:t>
            </a:r>
            <a:r>
              <a:rPr sz="2400" i="1" dirty="0">
                <a:cs typeface="Times New Roman"/>
              </a:rPr>
              <a:t>j</a:t>
            </a:r>
            <a:endParaRPr sz="2400" dirty="0"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1010"/>
              </a:spcBef>
            </a:pPr>
            <a:r>
              <a:rPr sz="2400" i="1" spc="5" dirty="0">
                <a:cs typeface="Times New Roman"/>
              </a:rPr>
              <a:t>t</a:t>
            </a:r>
            <a:r>
              <a:rPr sz="2400" i="1" spc="-7" baseline="-19097" dirty="0">
                <a:cs typeface="Times New Roman"/>
              </a:rPr>
              <a:t>j </a:t>
            </a:r>
            <a:r>
              <a:rPr sz="2400" dirty="0">
                <a:cs typeface="Times New Roman"/>
              </a:rPr>
              <a:t>= </a:t>
            </a:r>
            <a:r>
              <a:rPr sz="2400" spc="5" dirty="0">
                <a:cs typeface="Times New Roman"/>
              </a:rPr>
              <a:t>t</a:t>
            </a:r>
            <a:r>
              <a:rPr sz="2400" dirty="0">
                <a:cs typeface="Times New Roman"/>
              </a:rPr>
              <a:t>he targ</a:t>
            </a:r>
            <a:r>
              <a:rPr sz="2400" spc="-10" dirty="0">
                <a:cs typeface="Times New Roman"/>
              </a:rPr>
              <a:t>e</a:t>
            </a:r>
            <a:r>
              <a:rPr sz="2400" dirty="0">
                <a:cs typeface="Times New Roman"/>
              </a:rPr>
              <a:t>t ou</a:t>
            </a:r>
            <a:r>
              <a:rPr sz="2400" spc="5" dirty="0">
                <a:cs typeface="Times New Roman"/>
              </a:rPr>
              <a:t>t</a:t>
            </a:r>
            <a:r>
              <a:rPr sz="2400" dirty="0">
                <a:cs typeface="Times New Roman"/>
              </a:rPr>
              <a:t>put for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</a:t>
            </a:r>
            <a:r>
              <a:rPr sz="2400" spc="-245" dirty="0">
                <a:cs typeface="Times New Roman"/>
              </a:rPr>
              <a:t> </a:t>
            </a:r>
            <a:r>
              <a:rPr sz="2400" i="1" dirty="0">
                <a:cs typeface="Times New Roman"/>
              </a:rPr>
              <a:t>j</a:t>
            </a:r>
            <a:endParaRPr sz="2400" dirty="0">
              <a:cs typeface="Times New Roman"/>
            </a:endParaRPr>
          </a:p>
          <a:p>
            <a:pPr marL="383540">
              <a:lnSpc>
                <a:spcPct val="100000"/>
              </a:lnSpc>
              <a:spcBef>
                <a:spcPts val="375"/>
              </a:spcBef>
            </a:pPr>
            <a:r>
              <a:rPr sz="2400" dirty="0">
                <a:cs typeface="Times New Roman"/>
              </a:rPr>
              <a:t>σ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=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sigmoid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function</a:t>
            </a:r>
          </a:p>
          <a:p>
            <a:pPr marL="383540">
              <a:lnSpc>
                <a:spcPct val="100000"/>
              </a:lnSpc>
              <a:spcBef>
                <a:spcPts val="705"/>
              </a:spcBef>
            </a:pPr>
            <a:r>
              <a:rPr sz="2400" i="1" dirty="0">
                <a:cs typeface="Times New Roman"/>
              </a:rPr>
              <a:t>outputs </a:t>
            </a:r>
            <a:r>
              <a:rPr sz="2400" dirty="0">
                <a:cs typeface="Times New Roman"/>
              </a:rPr>
              <a:t>=</a:t>
            </a:r>
            <a:r>
              <a:rPr sz="2400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the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set</a:t>
            </a:r>
            <a:r>
              <a:rPr sz="2400" dirty="0">
                <a:cs typeface="Times New Roman"/>
              </a:rPr>
              <a:t> of </a:t>
            </a:r>
            <a:r>
              <a:rPr sz="2400" spc="-5" dirty="0">
                <a:cs typeface="Times New Roman"/>
              </a:rPr>
              <a:t>units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 the </a:t>
            </a:r>
            <a:r>
              <a:rPr sz="2400" spc="-5" dirty="0">
                <a:cs typeface="Times New Roman"/>
              </a:rPr>
              <a:t>final</a:t>
            </a:r>
            <a:r>
              <a:rPr sz="2400" dirty="0">
                <a:cs typeface="Times New Roman"/>
              </a:rPr>
              <a:t> layer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network</a:t>
            </a:r>
            <a:endParaRPr sz="2400" dirty="0">
              <a:cs typeface="Times New Roman"/>
            </a:endParaRPr>
          </a:p>
          <a:p>
            <a:pPr marL="383540" marR="128270">
              <a:lnSpc>
                <a:spcPts val="2580"/>
              </a:lnSpc>
              <a:spcBef>
                <a:spcPts val="1060"/>
              </a:spcBef>
            </a:pPr>
            <a:r>
              <a:rPr sz="2400" i="1" spc="-5" dirty="0">
                <a:cs typeface="Times New Roman"/>
              </a:rPr>
              <a:t>Downstream(j)</a:t>
            </a:r>
            <a:r>
              <a:rPr sz="2400" i="1" spc="-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=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set </a:t>
            </a:r>
            <a:r>
              <a:rPr sz="2400" dirty="0">
                <a:cs typeface="Times New Roman"/>
              </a:rPr>
              <a:t>of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units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whose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immediate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inputs </a:t>
            </a:r>
            <a:r>
              <a:rPr sz="2400" spc="-5" dirty="0">
                <a:cs typeface="Times New Roman"/>
              </a:rPr>
              <a:t>include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output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of </a:t>
            </a:r>
            <a:r>
              <a:rPr sz="2400" spc="-5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</a:t>
            </a:r>
            <a:r>
              <a:rPr sz="2400" spc="5" dirty="0">
                <a:cs typeface="Times New Roman"/>
              </a:rPr>
              <a:t> </a:t>
            </a:r>
            <a:r>
              <a:rPr sz="2400" i="1" dirty="0">
                <a:cs typeface="Times New Roman"/>
              </a:rPr>
              <a:t>j</a:t>
            </a:r>
            <a:endParaRPr sz="2400" dirty="0"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06E56C8-54A2-4A42-B867-0DFE2C84B35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DDAB573-9D54-41CE-A28C-AA367555468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56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89050" y="5289041"/>
            <a:ext cx="10133965" cy="800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800" b="1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Consider</a:t>
            </a:r>
            <a:r>
              <a:rPr sz="1800" b="1" u="heavy" spc="10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two cases</a:t>
            </a:r>
            <a:r>
              <a:rPr sz="1800" b="1" u="heavy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in</a:t>
            </a:r>
            <a:r>
              <a:rPr sz="1800" b="1" u="heavy" spc="5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1800" b="1" u="heavy" spc="-5" dirty="0">
                <a:uFill>
                  <a:solidFill>
                    <a:srgbClr val="000000"/>
                  </a:solidFill>
                </a:uFill>
                <a:cs typeface="Times New Roman"/>
              </a:rPr>
              <a:t>turn:</a:t>
            </a:r>
            <a:r>
              <a:rPr sz="1800" b="1" u="heavy" spc="15" dirty="0">
                <a:uFill>
                  <a:solidFill>
                    <a:srgbClr val="000000"/>
                  </a:solidFill>
                </a:uFill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case</a:t>
            </a:r>
            <a:r>
              <a:rPr sz="1800" spc="-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where </a:t>
            </a:r>
            <a:r>
              <a:rPr sz="1800" spc="-5" dirty="0">
                <a:cs typeface="Times New Roman"/>
              </a:rPr>
              <a:t>unit</a:t>
            </a:r>
            <a:r>
              <a:rPr sz="1800" dirty="0">
                <a:cs typeface="Times New Roman"/>
              </a:rPr>
              <a:t> j</a:t>
            </a:r>
            <a:r>
              <a:rPr sz="1800" spc="1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is</a:t>
            </a:r>
            <a:r>
              <a:rPr sz="1800" spc="-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an</a:t>
            </a:r>
            <a:r>
              <a:rPr sz="1800" spc="25" dirty="0">
                <a:cs typeface="Times New Roman"/>
              </a:rPr>
              <a:t> </a:t>
            </a:r>
            <a:r>
              <a:rPr sz="1800" b="1" i="1" spc="-5" dirty="0">
                <a:cs typeface="Times New Roman"/>
              </a:rPr>
              <a:t>output</a:t>
            </a:r>
            <a:r>
              <a:rPr sz="1800" b="1" i="1" spc="5" dirty="0">
                <a:cs typeface="Times New Roman"/>
              </a:rPr>
              <a:t> </a:t>
            </a:r>
            <a:r>
              <a:rPr sz="1800" b="1" i="1" spc="-10" dirty="0">
                <a:cs typeface="Times New Roman"/>
              </a:rPr>
              <a:t>unit</a:t>
            </a:r>
            <a:r>
              <a:rPr sz="1800" b="1" i="1" spc="2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for</a:t>
            </a:r>
            <a:r>
              <a:rPr sz="1800" spc="-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network,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and </a:t>
            </a:r>
            <a:r>
              <a:rPr sz="1800" spc="-5" dirty="0">
                <a:cs typeface="Times New Roman"/>
              </a:rPr>
              <a:t>the</a:t>
            </a:r>
            <a:r>
              <a:rPr sz="1800" dirty="0">
                <a:cs typeface="Times New Roman"/>
              </a:rPr>
              <a:t> case</a:t>
            </a:r>
            <a:r>
              <a:rPr sz="1800" spc="-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where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j</a:t>
            </a:r>
            <a:r>
              <a:rPr sz="1800" spc="-5" dirty="0">
                <a:cs typeface="Times New Roman"/>
              </a:rPr>
              <a:t> is</a:t>
            </a:r>
            <a:r>
              <a:rPr sz="1800" spc="-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an</a:t>
            </a:r>
            <a:r>
              <a:rPr lang="en-US" sz="1800" dirty="0">
                <a:cs typeface="Times New Roman"/>
              </a:rPr>
              <a:t> </a:t>
            </a:r>
            <a:r>
              <a:rPr sz="1800" b="1" i="1" spc="-5" dirty="0">
                <a:cs typeface="Times New Roman"/>
              </a:rPr>
              <a:t>internal unit (hidden </a:t>
            </a:r>
            <a:r>
              <a:rPr sz="1800" b="1" i="1" dirty="0">
                <a:cs typeface="Times New Roman"/>
              </a:rPr>
              <a:t>unit)</a:t>
            </a:r>
            <a:r>
              <a:rPr sz="1800" dirty="0">
                <a:cs typeface="Times New Roman"/>
              </a:rPr>
              <a:t>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675" y="304800"/>
            <a:ext cx="8778240" cy="480047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C8282062-F51F-4DE2-8DAA-8E366247454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D5815AE-EA28-47ED-80A2-98E09B26DE6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57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200" y="76200"/>
            <a:ext cx="9931400" cy="142474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8100">
              <a:lnSpc>
                <a:spcPct val="150000"/>
              </a:lnSpc>
              <a:spcBef>
                <a:spcPts val="925"/>
              </a:spcBef>
            </a:pPr>
            <a:r>
              <a:rPr sz="1800" b="1" spc="-5" dirty="0">
                <a:cs typeface="Times New Roman"/>
              </a:rPr>
              <a:t>Case</a:t>
            </a:r>
            <a:r>
              <a:rPr sz="1800" b="1" spc="5" dirty="0">
                <a:cs typeface="Times New Roman"/>
              </a:rPr>
              <a:t> </a:t>
            </a:r>
            <a:r>
              <a:rPr sz="1800" b="1" dirty="0">
                <a:cs typeface="Times New Roman"/>
              </a:rPr>
              <a:t>1:</a:t>
            </a:r>
            <a:r>
              <a:rPr sz="1800" b="1" spc="5" dirty="0">
                <a:cs typeface="Times New Roman"/>
              </a:rPr>
              <a:t> </a:t>
            </a:r>
            <a:r>
              <a:rPr sz="1800" b="1" spc="-5" dirty="0">
                <a:cs typeface="Times New Roman"/>
              </a:rPr>
              <a:t>Training</a:t>
            </a:r>
            <a:r>
              <a:rPr sz="1800" b="1" dirty="0">
                <a:cs typeface="Times New Roman"/>
              </a:rPr>
              <a:t> </a:t>
            </a:r>
            <a:r>
              <a:rPr sz="1800" b="1" spc="-5" dirty="0">
                <a:cs typeface="Times New Roman"/>
              </a:rPr>
              <a:t>Rule</a:t>
            </a:r>
            <a:r>
              <a:rPr sz="1800" b="1" spc="15" dirty="0">
                <a:cs typeface="Times New Roman"/>
              </a:rPr>
              <a:t> </a:t>
            </a:r>
            <a:r>
              <a:rPr sz="1800" b="1" dirty="0">
                <a:cs typeface="Times New Roman"/>
              </a:rPr>
              <a:t>for</a:t>
            </a:r>
            <a:r>
              <a:rPr sz="1800" b="1" spc="-5" dirty="0">
                <a:cs typeface="Times New Roman"/>
              </a:rPr>
              <a:t> Output</a:t>
            </a:r>
            <a:r>
              <a:rPr sz="1800" b="1" dirty="0">
                <a:cs typeface="Times New Roman"/>
              </a:rPr>
              <a:t> </a:t>
            </a:r>
            <a:r>
              <a:rPr sz="1800" b="1" spc="-5" dirty="0">
                <a:cs typeface="Times New Roman"/>
              </a:rPr>
              <a:t>Unit</a:t>
            </a:r>
            <a:r>
              <a:rPr sz="1800" b="1" spc="5" dirty="0">
                <a:cs typeface="Times New Roman"/>
              </a:rPr>
              <a:t> </a:t>
            </a:r>
            <a:r>
              <a:rPr sz="1800" b="1" spc="-5" dirty="0">
                <a:cs typeface="Times New Roman"/>
              </a:rPr>
              <a:t>Weights.</a:t>
            </a:r>
            <a:endParaRPr sz="1800" dirty="0">
              <a:cs typeface="Times New Roman"/>
            </a:endParaRPr>
          </a:p>
          <a:p>
            <a:pPr marL="266700" indent="-228600">
              <a:lnSpc>
                <a:spcPct val="150000"/>
              </a:lnSpc>
              <a:spcBef>
                <a:spcPts val="830"/>
              </a:spcBef>
              <a:buFont typeface="Arial MT"/>
              <a:buChar char="•"/>
              <a:tabLst>
                <a:tab pos="266065" algn="l"/>
                <a:tab pos="266700" algn="l"/>
              </a:tabLst>
            </a:pPr>
            <a:r>
              <a:rPr sz="1800" b="1" i="1" dirty="0">
                <a:cs typeface="Times New Roman"/>
              </a:rPr>
              <a:t>w</a:t>
            </a:r>
            <a:r>
              <a:rPr sz="1800" b="1" i="1" baseline="-18518" dirty="0">
                <a:cs typeface="Times New Roman"/>
              </a:rPr>
              <a:t>ji </a:t>
            </a:r>
            <a:r>
              <a:rPr sz="1800" dirty="0">
                <a:cs typeface="Times New Roman"/>
              </a:rPr>
              <a:t>can</a:t>
            </a:r>
            <a:r>
              <a:rPr sz="1800" spc="-5" dirty="0">
                <a:cs typeface="Times New Roman"/>
              </a:rPr>
              <a:t> influence</a:t>
            </a:r>
            <a:r>
              <a:rPr sz="1800" spc="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10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rest</a:t>
            </a:r>
            <a:r>
              <a:rPr sz="1800" spc="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of</a:t>
            </a:r>
            <a:r>
              <a:rPr sz="1800" spc="-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network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only</a:t>
            </a:r>
            <a:r>
              <a:rPr sz="1800" spc="1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through</a:t>
            </a:r>
            <a:r>
              <a:rPr sz="1800" spc="25" dirty="0">
                <a:cs typeface="Times New Roman"/>
              </a:rPr>
              <a:t> </a:t>
            </a:r>
            <a:r>
              <a:rPr sz="1800" b="1" i="1" dirty="0">
                <a:cs typeface="Times New Roman"/>
              </a:rPr>
              <a:t>net</a:t>
            </a:r>
            <a:r>
              <a:rPr sz="1800" b="1" i="1" baseline="-18518" dirty="0">
                <a:cs typeface="Times New Roman"/>
              </a:rPr>
              <a:t>j</a:t>
            </a:r>
            <a:r>
              <a:rPr sz="1800" b="1" i="1" spc="-7" baseline="-18518" dirty="0">
                <a:cs typeface="Times New Roman"/>
              </a:rPr>
              <a:t> </a:t>
            </a:r>
            <a:r>
              <a:rPr sz="1800" b="1" i="1" dirty="0">
                <a:cs typeface="Times New Roman"/>
              </a:rPr>
              <a:t>,</a:t>
            </a:r>
            <a:r>
              <a:rPr sz="1800" b="1" i="1" spc="10" dirty="0">
                <a:cs typeface="Times New Roman"/>
              </a:rPr>
              <a:t> </a:t>
            </a:r>
            <a:r>
              <a:rPr sz="1800" b="1" i="1" spc="-5" dirty="0">
                <a:cs typeface="Times New Roman"/>
              </a:rPr>
              <a:t>net</a:t>
            </a:r>
            <a:r>
              <a:rPr sz="1800" b="1" i="1" spc="-7" baseline="-18518" dirty="0">
                <a:cs typeface="Times New Roman"/>
              </a:rPr>
              <a:t>j</a:t>
            </a:r>
            <a:r>
              <a:rPr sz="1800" b="1" i="1" spc="7" baseline="-18518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can</a:t>
            </a:r>
            <a:r>
              <a:rPr sz="1800" spc="-1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influence</a:t>
            </a:r>
            <a:r>
              <a:rPr sz="1800" spc="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network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only</a:t>
            </a:r>
            <a:r>
              <a:rPr sz="1800" spc="1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through</a:t>
            </a:r>
            <a:r>
              <a:rPr sz="1800" spc="-60" dirty="0">
                <a:cs typeface="Times New Roman"/>
              </a:rPr>
              <a:t> </a:t>
            </a:r>
            <a:r>
              <a:rPr sz="1800" b="1" i="1" dirty="0" err="1">
                <a:cs typeface="Times New Roman"/>
              </a:rPr>
              <a:t>o</a:t>
            </a:r>
            <a:r>
              <a:rPr sz="1800" b="1" i="1" baseline="-18518" dirty="0" err="1">
                <a:cs typeface="Times New Roman"/>
              </a:rPr>
              <a:t>j</a:t>
            </a:r>
            <a:r>
              <a:rPr sz="1800" b="1" i="1" dirty="0">
                <a:cs typeface="Times New Roman"/>
              </a:rPr>
              <a:t>.</a:t>
            </a:r>
            <a:r>
              <a:rPr lang="en-US" sz="1800" b="1" i="1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Therefore, we </a:t>
            </a:r>
            <a:r>
              <a:rPr sz="1800" dirty="0">
                <a:cs typeface="Times New Roman"/>
              </a:rPr>
              <a:t>can</a:t>
            </a:r>
            <a:r>
              <a:rPr sz="1800" spc="-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invoke</a:t>
            </a:r>
            <a:r>
              <a:rPr sz="1800" spc="-5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the</a:t>
            </a:r>
            <a:r>
              <a:rPr sz="1800" spc="-5" dirty="0">
                <a:cs typeface="Times New Roman"/>
              </a:rPr>
              <a:t> chain</a:t>
            </a:r>
            <a:r>
              <a:rPr sz="1800" spc="5" dirty="0">
                <a:cs typeface="Times New Roman"/>
              </a:rPr>
              <a:t> </a:t>
            </a:r>
            <a:r>
              <a:rPr sz="1800" spc="-5" dirty="0">
                <a:cs typeface="Times New Roman"/>
              </a:rPr>
              <a:t>rule </a:t>
            </a:r>
            <a:r>
              <a:rPr sz="1800" dirty="0">
                <a:cs typeface="Times New Roman"/>
              </a:rPr>
              <a:t>again</a:t>
            </a:r>
            <a:r>
              <a:rPr sz="1800" spc="-1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to</a:t>
            </a:r>
            <a:r>
              <a:rPr sz="1800" spc="-20" dirty="0">
                <a:cs typeface="Times New Roman"/>
              </a:rPr>
              <a:t> </a:t>
            </a:r>
            <a:r>
              <a:rPr sz="1800" dirty="0">
                <a:cs typeface="Times New Roman"/>
              </a:rPr>
              <a:t>write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0420" y="1724258"/>
            <a:ext cx="7973695" cy="462648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F6D6FFB7-A6C7-4119-A29D-5E0D665399D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5AE71CA4-E891-427B-8A8F-768D8810483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58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1110" y="236336"/>
            <a:ext cx="9420987" cy="553364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296DA22-3C84-4E69-8FA2-C804641FAE7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3528976-BA28-4C3F-A4AE-86329BEAA07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59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1539" y="388366"/>
            <a:ext cx="10303510" cy="5376921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8100" algn="just">
              <a:lnSpc>
                <a:spcPct val="150000"/>
              </a:lnSpc>
              <a:spcBef>
                <a:spcPts val="795"/>
              </a:spcBef>
            </a:pPr>
            <a:r>
              <a:rPr sz="2400" b="1" spc="-5" dirty="0">
                <a:cs typeface="Times New Roman"/>
              </a:rPr>
              <a:t>Case</a:t>
            </a:r>
            <a:r>
              <a:rPr sz="2400" b="1" dirty="0">
                <a:cs typeface="Times New Roman"/>
              </a:rPr>
              <a:t> 2: </a:t>
            </a:r>
            <a:r>
              <a:rPr sz="2400" b="1" spc="-5" dirty="0">
                <a:cs typeface="Times New Roman"/>
              </a:rPr>
              <a:t>Training</a:t>
            </a:r>
            <a:r>
              <a:rPr sz="2400" b="1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Rule</a:t>
            </a:r>
            <a:r>
              <a:rPr sz="2400" b="1" spc="5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for</a:t>
            </a:r>
            <a:r>
              <a:rPr sz="2400" b="1" spc="5" dirty="0">
                <a:cs typeface="Times New Roman"/>
              </a:rPr>
              <a:t> </a:t>
            </a:r>
            <a:r>
              <a:rPr sz="2400" b="1" dirty="0">
                <a:cs typeface="Times New Roman"/>
              </a:rPr>
              <a:t>Hidden</a:t>
            </a:r>
            <a:r>
              <a:rPr sz="2400" b="1" spc="-20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Unit</a:t>
            </a:r>
            <a:r>
              <a:rPr sz="2400" b="1" spc="5" dirty="0">
                <a:cs typeface="Times New Roman"/>
              </a:rPr>
              <a:t> </a:t>
            </a:r>
            <a:r>
              <a:rPr sz="2400" b="1" spc="-5" dirty="0">
                <a:cs typeface="Times New Roman"/>
              </a:rPr>
              <a:t>Weights.</a:t>
            </a:r>
            <a:endParaRPr sz="2400" dirty="0">
              <a:cs typeface="Times New Roman"/>
            </a:endParaRPr>
          </a:p>
          <a:p>
            <a:pPr marL="266700" marR="233045" indent="-228600" algn="just">
              <a:lnSpc>
                <a:spcPct val="150000"/>
              </a:lnSpc>
              <a:spcBef>
                <a:spcPts val="96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dirty="0">
                <a:cs typeface="Times New Roman"/>
              </a:rPr>
              <a:t>In the case where </a:t>
            </a:r>
            <a:r>
              <a:rPr sz="2400" b="1" i="1" dirty="0">
                <a:cs typeface="Times New Roman"/>
              </a:rPr>
              <a:t>j </a:t>
            </a:r>
            <a:r>
              <a:rPr sz="2400" spc="-5" dirty="0">
                <a:cs typeface="Times New Roman"/>
              </a:rPr>
              <a:t>is </a:t>
            </a:r>
            <a:r>
              <a:rPr sz="2400" dirty="0">
                <a:cs typeface="Times New Roman"/>
              </a:rPr>
              <a:t>an internal, or </a:t>
            </a:r>
            <a:r>
              <a:rPr sz="2400" spc="-5" dirty="0">
                <a:cs typeface="Times New Roman"/>
              </a:rPr>
              <a:t>hidden </a:t>
            </a:r>
            <a:r>
              <a:rPr sz="2400" dirty="0">
                <a:cs typeface="Times New Roman"/>
              </a:rPr>
              <a:t>unit in the </a:t>
            </a:r>
            <a:r>
              <a:rPr sz="2400" spc="-5" dirty="0">
                <a:cs typeface="Times New Roman"/>
              </a:rPr>
              <a:t>network, </a:t>
            </a: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derivation </a:t>
            </a:r>
            <a:r>
              <a:rPr sz="2400" spc="-10" dirty="0">
                <a:cs typeface="Times New Roman"/>
              </a:rPr>
              <a:t>of </a:t>
            </a:r>
            <a:r>
              <a:rPr sz="2400" spc="-58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 </a:t>
            </a:r>
            <a:r>
              <a:rPr sz="2400" spc="-5" dirty="0">
                <a:cs typeface="Times New Roman"/>
              </a:rPr>
              <a:t>training </a:t>
            </a:r>
            <a:r>
              <a:rPr sz="2400" dirty="0">
                <a:cs typeface="Times New Roman"/>
              </a:rPr>
              <a:t>rule for </a:t>
            </a:r>
            <a:r>
              <a:rPr sz="2400" b="1" i="1" spc="-5" dirty="0">
                <a:cs typeface="Times New Roman"/>
              </a:rPr>
              <a:t>w</a:t>
            </a:r>
            <a:r>
              <a:rPr sz="2400" b="1" i="1" spc="-7" baseline="-19097" dirty="0">
                <a:cs typeface="Times New Roman"/>
              </a:rPr>
              <a:t>ji </a:t>
            </a:r>
            <a:r>
              <a:rPr sz="2400" dirty="0">
                <a:cs typeface="Times New Roman"/>
              </a:rPr>
              <a:t>must take </a:t>
            </a:r>
            <a:r>
              <a:rPr sz="2400" spc="-5" dirty="0">
                <a:cs typeface="Times New Roman"/>
              </a:rPr>
              <a:t>into account the </a:t>
            </a:r>
            <a:r>
              <a:rPr sz="2400" dirty="0">
                <a:cs typeface="Times New Roman"/>
              </a:rPr>
              <a:t>indirect </a:t>
            </a:r>
            <a:r>
              <a:rPr sz="2400" spc="-5" dirty="0">
                <a:cs typeface="Times New Roman"/>
              </a:rPr>
              <a:t>ways </a:t>
            </a:r>
            <a:r>
              <a:rPr sz="2400" dirty="0">
                <a:cs typeface="Times New Roman"/>
              </a:rPr>
              <a:t>in </a:t>
            </a:r>
            <a:r>
              <a:rPr sz="2400" spc="-10" dirty="0">
                <a:cs typeface="Times New Roman"/>
              </a:rPr>
              <a:t>which </a:t>
            </a:r>
            <a:r>
              <a:rPr sz="2400" b="1" i="1" spc="-15" dirty="0">
                <a:cs typeface="Times New Roman"/>
              </a:rPr>
              <a:t>w</a:t>
            </a:r>
            <a:r>
              <a:rPr sz="2400" b="1" i="1" spc="-22" baseline="-19097" dirty="0">
                <a:cs typeface="Times New Roman"/>
              </a:rPr>
              <a:t>ji </a:t>
            </a:r>
            <a:r>
              <a:rPr sz="2400" spc="-10" dirty="0">
                <a:cs typeface="Times New Roman"/>
              </a:rPr>
              <a:t>can 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influence </a:t>
            </a:r>
            <a:r>
              <a:rPr sz="2400" spc="-5" dirty="0">
                <a:cs typeface="Times New Roman"/>
              </a:rPr>
              <a:t>the</a:t>
            </a:r>
            <a:r>
              <a:rPr sz="2400" dirty="0">
                <a:cs typeface="Times New Roman"/>
              </a:rPr>
              <a:t> network </a:t>
            </a:r>
            <a:r>
              <a:rPr sz="2400" spc="-5" dirty="0">
                <a:cs typeface="Times New Roman"/>
              </a:rPr>
              <a:t>outputs</a:t>
            </a:r>
            <a:r>
              <a:rPr sz="2400" dirty="0">
                <a:cs typeface="Times New Roman"/>
              </a:rPr>
              <a:t> and </a:t>
            </a:r>
            <a:r>
              <a:rPr sz="2400" spc="-5" dirty="0">
                <a:cs typeface="Times New Roman"/>
              </a:rPr>
              <a:t>hence</a:t>
            </a:r>
            <a:r>
              <a:rPr sz="2400" spc="-40" dirty="0">
                <a:cs typeface="Times New Roman"/>
              </a:rPr>
              <a:t> </a:t>
            </a:r>
            <a:r>
              <a:rPr sz="2400" b="1" i="1" spc="-5" dirty="0">
                <a:cs typeface="Times New Roman"/>
              </a:rPr>
              <a:t>E</a:t>
            </a:r>
            <a:r>
              <a:rPr sz="2400" b="1" i="1" spc="-7" baseline="-19097" dirty="0">
                <a:cs typeface="Times New Roman"/>
              </a:rPr>
              <a:t>d</a:t>
            </a:r>
            <a:r>
              <a:rPr sz="2400" b="1" i="1" spc="-5" dirty="0">
                <a:cs typeface="Times New Roman"/>
              </a:rPr>
              <a:t>.</a:t>
            </a:r>
            <a:endParaRPr sz="2400" dirty="0">
              <a:cs typeface="Times New Roman"/>
            </a:endParaRPr>
          </a:p>
          <a:p>
            <a:pPr marL="266700" marR="30480" indent="-228600" algn="just">
              <a:lnSpc>
                <a:spcPct val="150000"/>
              </a:lnSpc>
              <a:spcBef>
                <a:spcPts val="90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spc="-5" dirty="0">
                <a:cs typeface="Times New Roman"/>
              </a:rPr>
              <a:t>For</a:t>
            </a:r>
            <a:r>
              <a:rPr sz="2400" dirty="0">
                <a:cs typeface="Times New Roman"/>
              </a:rPr>
              <a:t> this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reason, </a:t>
            </a:r>
            <a:r>
              <a:rPr sz="2400" spc="-10" dirty="0">
                <a:cs typeface="Times New Roman"/>
              </a:rPr>
              <a:t>we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will</a:t>
            </a:r>
            <a:r>
              <a:rPr sz="2400" dirty="0">
                <a:cs typeface="Times New Roman"/>
              </a:rPr>
              <a:t> find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it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useful</a:t>
            </a:r>
            <a:r>
              <a:rPr sz="2400" dirty="0">
                <a:cs typeface="Times New Roman"/>
              </a:rPr>
              <a:t> to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refer to</a:t>
            </a:r>
            <a:r>
              <a:rPr sz="2400" spc="-5" dirty="0">
                <a:cs typeface="Times New Roman"/>
              </a:rPr>
              <a:t> the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set</a:t>
            </a:r>
            <a:r>
              <a:rPr sz="2400" dirty="0">
                <a:cs typeface="Times New Roman"/>
              </a:rPr>
              <a:t> of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all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units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immediately </a:t>
            </a:r>
            <a:r>
              <a:rPr sz="240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downstream</a:t>
            </a:r>
            <a:r>
              <a:rPr sz="2400" dirty="0">
                <a:cs typeface="Times New Roman"/>
              </a:rPr>
              <a:t> of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j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 </a:t>
            </a:r>
            <a:r>
              <a:rPr sz="2400" spc="-5" dirty="0">
                <a:cs typeface="Times New Roman"/>
              </a:rPr>
              <a:t>the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network</a:t>
            </a:r>
            <a:r>
              <a:rPr sz="2400" spc="-1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and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denoted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this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set</a:t>
            </a:r>
            <a:r>
              <a:rPr sz="2400" dirty="0">
                <a:cs typeface="Times New Roman"/>
              </a:rPr>
              <a:t> of</a:t>
            </a:r>
            <a:r>
              <a:rPr sz="2400" spc="-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units by</a:t>
            </a:r>
            <a:r>
              <a:rPr sz="2400" spc="-60" dirty="0">
                <a:cs typeface="Times New Roman"/>
              </a:rPr>
              <a:t> </a:t>
            </a:r>
            <a:r>
              <a:rPr sz="2400" b="1" i="1" spc="-5" dirty="0">
                <a:cs typeface="Times New Roman"/>
              </a:rPr>
              <a:t>Downstream( </a:t>
            </a:r>
            <a:r>
              <a:rPr sz="2400" b="1" i="1" spc="-585" dirty="0">
                <a:cs typeface="Times New Roman"/>
              </a:rPr>
              <a:t> </a:t>
            </a:r>
            <a:r>
              <a:rPr sz="2400" spc="5" dirty="0">
                <a:cs typeface="Times New Roman"/>
              </a:rPr>
              <a:t>j).</a:t>
            </a:r>
            <a:endParaRPr sz="2400" dirty="0">
              <a:cs typeface="Times New Roman"/>
            </a:endParaRPr>
          </a:p>
          <a:p>
            <a:pPr marL="266700" indent="-228600" algn="just">
              <a:lnSpc>
                <a:spcPct val="150000"/>
              </a:lnSpc>
              <a:spcBef>
                <a:spcPts val="765"/>
              </a:spcBef>
              <a:buFont typeface="Arial MT"/>
              <a:buChar char="•"/>
              <a:tabLst>
                <a:tab pos="266700" algn="l"/>
              </a:tabLst>
            </a:pPr>
            <a:r>
              <a:rPr sz="2400" b="1" i="1" dirty="0">
                <a:cs typeface="Times New Roman"/>
              </a:rPr>
              <a:t>net</a:t>
            </a:r>
            <a:r>
              <a:rPr sz="2400" b="1" i="1" baseline="-19097" dirty="0">
                <a:cs typeface="Times New Roman"/>
              </a:rPr>
              <a:t>j</a:t>
            </a:r>
            <a:r>
              <a:rPr sz="2400" b="1" i="1" spc="-7" baseline="-19097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can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influence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the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network</a:t>
            </a:r>
            <a:r>
              <a:rPr sz="2400" spc="10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outputs</a:t>
            </a:r>
            <a:r>
              <a:rPr sz="2400" spc="5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only</a:t>
            </a:r>
            <a:r>
              <a:rPr sz="2400" spc="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through </a:t>
            </a:r>
            <a:r>
              <a:rPr sz="2400" dirty="0">
                <a:cs typeface="Times New Roman"/>
              </a:rPr>
              <a:t>the</a:t>
            </a:r>
            <a:r>
              <a:rPr sz="2400" spc="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units</a:t>
            </a:r>
            <a:r>
              <a:rPr sz="2400" spc="-1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in</a:t>
            </a:r>
            <a:r>
              <a:rPr sz="2400" spc="-275" dirty="0">
                <a:cs typeface="Times New Roman"/>
              </a:rPr>
              <a:t> </a:t>
            </a:r>
            <a:r>
              <a:rPr sz="2400" b="1" i="1" spc="-5" dirty="0">
                <a:cs typeface="Times New Roman"/>
              </a:rPr>
              <a:t>Downstream(j).</a:t>
            </a:r>
            <a:endParaRPr sz="2400" dirty="0">
              <a:cs typeface="Times New Roman"/>
            </a:endParaRPr>
          </a:p>
          <a:p>
            <a:pPr marL="266700" algn="just">
              <a:lnSpc>
                <a:spcPct val="150000"/>
              </a:lnSpc>
            </a:pPr>
            <a:r>
              <a:rPr sz="2400" dirty="0">
                <a:cs typeface="Times New Roman"/>
              </a:rPr>
              <a:t>Therefore,</a:t>
            </a:r>
            <a:r>
              <a:rPr sz="2400" spc="-2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we</a:t>
            </a:r>
            <a:r>
              <a:rPr sz="2400" spc="-20" dirty="0">
                <a:cs typeface="Times New Roman"/>
              </a:rPr>
              <a:t> </a:t>
            </a:r>
            <a:r>
              <a:rPr sz="2400" dirty="0">
                <a:cs typeface="Times New Roman"/>
              </a:rPr>
              <a:t>can</a:t>
            </a:r>
            <a:r>
              <a:rPr sz="2400" spc="-15" dirty="0">
                <a:cs typeface="Times New Roman"/>
              </a:rPr>
              <a:t> </a:t>
            </a:r>
            <a:r>
              <a:rPr sz="2400" spc="-5" dirty="0">
                <a:cs typeface="Times New Roman"/>
              </a:rPr>
              <a:t>write</a:t>
            </a:r>
            <a:endParaRPr sz="2400" dirty="0"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69C999C-854B-414C-8ECE-3B06E65AA03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CE406B1-41FA-4231-87E0-D1FAF2C50E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60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20035" y="342900"/>
            <a:ext cx="6370828" cy="575754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11866A0-038F-4D09-970B-015E99145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B81A51B-9F1D-449D-A1B7-8B3C9038C8A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61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7810" y="2540584"/>
            <a:ext cx="659955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b="0" spc="-5" dirty="0">
                <a:latin typeface="+mn-lt"/>
                <a:cs typeface="Times New Roman"/>
              </a:rPr>
              <a:t>THANK</a:t>
            </a:r>
            <a:r>
              <a:rPr sz="8800" b="0" spc="-385" dirty="0">
                <a:latin typeface="+mn-lt"/>
                <a:cs typeface="Times New Roman"/>
              </a:rPr>
              <a:t> </a:t>
            </a:r>
            <a:r>
              <a:rPr sz="8800" b="0" dirty="0">
                <a:latin typeface="+mn-lt"/>
                <a:cs typeface="Times New Roman"/>
              </a:rPr>
              <a:t>YOU</a:t>
            </a:r>
            <a:endParaRPr sz="8800" dirty="0">
              <a:latin typeface="+mn-lt"/>
              <a:cs typeface="Times New Roman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2CFE2CA-0083-4B82-A577-38034DBB213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IN"/>
              <a:t>Dept of CSE, VVCE, Mysore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D830386-5683-4E74-9D26-15744ABDFE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62</a:t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12577</TotalTime>
  <Words>2183</Words>
  <Application>Microsoft Office PowerPoint</Application>
  <PresentationFormat>Widescreen</PresentationFormat>
  <Paragraphs>269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Arial</vt:lpstr>
      <vt:lpstr>Arial MT</vt:lpstr>
      <vt:lpstr>Calibri</vt:lpstr>
      <vt:lpstr>Calibri Light</vt:lpstr>
      <vt:lpstr>Times New Roman</vt:lpstr>
      <vt:lpstr>Office Theme</vt:lpstr>
      <vt:lpstr>MODULE -3  ARTIFICIAL NEURAL NETWORKS</vt:lpstr>
      <vt:lpstr>CONTENT</vt:lpstr>
      <vt:lpstr>INTRODUCTION</vt:lpstr>
      <vt:lpstr>Biological Motivation</vt:lpstr>
      <vt:lpstr>PowerPoint Presentation</vt:lpstr>
      <vt:lpstr>PowerPoint Presentation</vt:lpstr>
      <vt:lpstr>PowerPoint Presentation</vt:lpstr>
      <vt:lpstr>When to consider Neural Networks ?</vt:lpstr>
      <vt:lpstr>Neuron</vt:lpstr>
      <vt:lpstr>PowerPoint Presentation</vt:lpstr>
      <vt:lpstr>Neuron</vt:lpstr>
      <vt:lpstr>NEURAL NETWORK REPRESENTATIONS</vt:lpstr>
      <vt:lpstr>NEURAL NETWORK REPRESENTATIONS</vt:lpstr>
      <vt:lpstr>PowerPoint Presentation</vt:lpstr>
      <vt:lpstr>PowerPoint Presentation</vt:lpstr>
      <vt:lpstr>PowerPoint Presentation</vt:lpstr>
      <vt:lpstr>APPROPRIATE PROBLEMS FOR   NEURAL NETWORK LEARNING</vt:lpstr>
      <vt:lpstr>Architectures of Artificial Neural Networks</vt:lpstr>
      <vt:lpstr>Architectures of Artificial Neural Networks</vt:lpstr>
      <vt:lpstr>Single-Layer Feedforward Architecture</vt:lpstr>
      <vt:lpstr>Multi-Layer Feedforward Architecture</vt:lpstr>
      <vt:lpstr>Recurrent or Feedback Architecture</vt:lpstr>
      <vt:lpstr>Learning Problem</vt:lpstr>
      <vt:lpstr>Representational Power of Perceptrons</vt:lpstr>
      <vt:lpstr>PowerPoint Presentation</vt:lpstr>
      <vt:lpstr>PowerPoint Presentation</vt:lpstr>
      <vt:lpstr>PowerPoint Presentation</vt:lpstr>
      <vt:lpstr>Continue…</vt:lpstr>
      <vt:lpstr>PowerPoint Presentation</vt:lpstr>
      <vt:lpstr>PowerPoint Presentation</vt:lpstr>
      <vt:lpstr>PowerPoint Presentation</vt:lpstr>
      <vt:lpstr>A single perceptron can be used to represent many Boolean functions AND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 algorithm for training a linear unit</vt:lpstr>
      <vt:lpstr>Features of Gradient Descent Algorithm</vt:lpstr>
      <vt:lpstr>PowerPoint Presentation</vt:lpstr>
      <vt:lpstr>PowerPoint Presentation</vt:lpstr>
      <vt:lpstr>PowerPoint Presentation</vt:lpstr>
      <vt:lpstr>PowerPoint Presentation</vt:lpstr>
      <vt:lpstr>A Differentiable Threshold Unit</vt:lpstr>
      <vt:lpstr>PowerPoint Presentation</vt:lpstr>
      <vt:lpstr>PowerPoint Presentation</vt:lpstr>
      <vt:lpstr>PowerPoint Presentation</vt:lpstr>
      <vt:lpstr>PowerPoint Presentation</vt:lpstr>
      <vt:lpstr>The BACKPROPAGATION Algorithm</vt:lpstr>
      <vt:lpstr>PowerPoint Presentation</vt:lpstr>
      <vt:lpstr>PowerPoint Presentation</vt:lpstr>
      <vt:lpstr>Derivation of the BACKPROPAGATION Rule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-3  ARTIFICIAL NEURAL NETWORKS</dc:title>
  <dc:creator>Tanuja Kayarga</dc:creator>
  <cp:lastModifiedBy>user</cp:lastModifiedBy>
  <cp:revision>53</cp:revision>
  <dcterms:created xsi:type="dcterms:W3CDTF">2021-12-09T16:08:56Z</dcterms:created>
  <dcterms:modified xsi:type="dcterms:W3CDTF">2025-03-19T03:31:33Z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2020-10-16T00:00:00Z</vt:filetime>
  </property>
  <property fmtid="{D5CDD505-2E9C-101B-9397-08002B2CF9AE}" pid="3" name="Creator">
    <vt:lpwstr>Microsoft® Word 2010</vt:lpwstr>
  </property>
  <property fmtid="{D5CDD505-2E9C-101B-9397-08002B2CF9AE}" pid="4" name="LastSaved">
    <vt:filetime>2021-12-09T00:00:00Z</vt:filetime>
  </property>
</Properties>
</file>