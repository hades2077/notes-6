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abin" panose="020B0604020202020204" charset="0"/>
      <p:regular r:id="rId13"/>
    </p:embeddedFont>
    <p:embeddedFont>
      <p:font typeface="Unbounde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83" autoAdjust="0"/>
    <p:restoredTop sz="94610"/>
  </p:normalViewPr>
  <p:slideViewPr>
    <p:cSldViewPr snapToGrid="0" snapToObjects="1">
      <p:cViewPr varScale="1">
        <p:scale>
          <a:sx n="69" d="100"/>
          <a:sy n="69" d="100"/>
        </p:scale>
        <p:origin x="66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9699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842605"/>
            <a:ext cx="7468553" cy="2816066"/>
          </a:xfrm>
          <a:prstGeom prst="rect">
            <a:avLst/>
          </a:prstGeom>
          <a:noFill/>
          <a:ln/>
        </p:spPr>
        <p:txBody>
          <a:bodyPr wrap="squar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GCP Organization Structure: Projects, Accounts, Roles &amp; Identities</a:t>
            </a:r>
            <a:endParaRPr lang="en-US" sz="4400" dirty="0"/>
          </a:p>
        </p:txBody>
      </p:sp>
      <p:sp>
        <p:nvSpPr>
          <p:cNvPr id="4" name="Text 1"/>
          <p:cNvSpPr/>
          <p:nvPr/>
        </p:nvSpPr>
        <p:spPr>
          <a:xfrm>
            <a:off x="837724" y="4017645"/>
            <a:ext cx="7468553" cy="2681168"/>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This presentation explores how Google Cloud Platform (GCP) organizes its resource hierarchy, accounts, roles, and identities to deliver secure and scalable access management. We will dissect GCP’s foundational structure, illustrating how organizations leverage projects as core units while managing access through IAM roles assigned to various identities. Understanding this architecture is essential for designing effective cloud governance and security models for enterprise environments.</a:t>
            </a:r>
            <a:endParaRPr lang="en-US" sz="1850" dirty="0"/>
          </a:p>
        </p:txBody>
      </p:sp>
      <p:sp>
        <p:nvSpPr>
          <p:cNvPr id="7" name="Text 3"/>
          <p:cNvSpPr/>
          <p:nvPr/>
        </p:nvSpPr>
        <p:spPr>
          <a:xfrm>
            <a:off x="1340287" y="6968014"/>
            <a:ext cx="1739265" cy="418862"/>
          </a:xfrm>
          <a:prstGeom prst="rect">
            <a:avLst/>
          </a:prstGeom>
          <a:noFill/>
          <a:ln/>
        </p:spPr>
        <p:txBody>
          <a:bodyPr wrap="none" lIns="0" tIns="0" rIns="0" bIns="0" rtlCol="0" anchor="t"/>
          <a:lstStyle/>
          <a:p>
            <a:pPr marL="0" indent="0" algn="l">
              <a:lnSpc>
                <a:spcPts val="3250"/>
              </a:lnSpc>
              <a:buNone/>
            </a:pPr>
            <a:r>
              <a:rPr lang="en-US" sz="2350" b="1" dirty="0">
                <a:solidFill>
                  <a:srgbClr val="CAD6DE"/>
                </a:solidFill>
                <a:latin typeface="Cabin Bold" pitchFamily="34" charset="0"/>
                <a:ea typeface="Cabin Bold" pitchFamily="34" charset="-122"/>
                <a:cs typeface="Cabin Bold" pitchFamily="34" charset="-120"/>
              </a:rPr>
              <a:t>By Ashwin Kumar  </a:t>
            </a:r>
            <a:endParaRPr lang="en-US" sz="2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1543764"/>
            <a:ext cx="8180546" cy="704017"/>
          </a:xfrm>
          <a:prstGeom prst="rect">
            <a:avLst/>
          </a:prstGeom>
          <a:noFill/>
          <a:ln/>
        </p:spPr>
        <p:txBody>
          <a:bodyPr wrap="non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GCP Resource Hierarchy</a:t>
            </a:r>
            <a:endParaRPr lang="en-US" sz="4400" dirty="0"/>
          </a:p>
        </p:txBody>
      </p:sp>
      <p:sp>
        <p:nvSpPr>
          <p:cNvPr id="3" name="Text 1"/>
          <p:cNvSpPr/>
          <p:nvPr/>
        </p:nvSpPr>
        <p:spPr>
          <a:xfrm>
            <a:off x="837724" y="2846070"/>
            <a:ext cx="2800826" cy="703898"/>
          </a:xfrm>
          <a:prstGeom prst="rect">
            <a:avLst/>
          </a:prstGeom>
          <a:noFill/>
          <a:ln/>
        </p:spPr>
        <p:txBody>
          <a:bodyPr wrap="square" lIns="0" tIns="0" rIns="0" bIns="0" rtlCol="0" anchor="t"/>
          <a:lstStyle/>
          <a:p>
            <a:pPr marL="0" indent="0" algn="l">
              <a:lnSpc>
                <a:spcPts val="2750"/>
              </a:lnSpc>
              <a:buNone/>
            </a:pPr>
            <a:r>
              <a:rPr lang="en-US" sz="2200" dirty="0">
                <a:solidFill>
                  <a:srgbClr val="FFFFFF"/>
                </a:solidFill>
                <a:latin typeface="Unbounded" pitchFamily="34" charset="0"/>
                <a:ea typeface="Unbounded" pitchFamily="34" charset="-122"/>
                <a:cs typeface="Unbounded" pitchFamily="34" charset="-120"/>
              </a:rPr>
              <a:t>Organization (Root Node)</a:t>
            </a:r>
            <a:endParaRPr lang="en-US" sz="2200" dirty="0"/>
          </a:p>
        </p:txBody>
      </p:sp>
      <p:sp>
        <p:nvSpPr>
          <p:cNvPr id="4" name="Text 2"/>
          <p:cNvSpPr/>
          <p:nvPr/>
        </p:nvSpPr>
        <p:spPr>
          <a:xfrm>
            <a:off x="837724" y="3789283"/>
            <a:ext cx="2800826" cy="2298144"/>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Represents the company entity, such as your domain (e.g., org.com). It is the top-level node in the hierarchy, centralizing policy and billing administration.</a:t>
            </a:r>
            <a:endParaRPr lang="en-US" sz="1850" dirty="0"/>
          </a:p>
        </p:txBody>
      </p:sp>
      <p:sp>
        <p:nvSpPr>
          <p:cNvPr id="5" name="Text 3"/>
          <p:cNvSpPr/>
          <p:nvPr/>
        </p:nvSpPr>
        <p:spPr>
          <a:xfrm>
            <a:off x="4230053" y="2846070"/>
            <a:ext cx="2800826" cy="703898"/>
          </a:xfrm>
          <a:prstGeom prst="rect">
            <a:avLst/>
          </a:prstGeom>
          <a:noFill/>
          <a:ln/>
        </p:spPr>
        <p:txBody>
          <a:bodyPr wrap="square" lIns="0" tIns="0" rIns="0" bIns="0" rtlCol="0" anchor="t"/>
          <a:lstStyle/>
          <a:p>
            <a:pPr marL="0" indent="0" algn="l">
              <a:lnSpc>
                <a:spcPts val="2750"/>
              </a:lnSpc>
              <a:buNone/>
            </a:pPr>
            <a:r>
              <a:rPr lang="en-US" sz="2200" dirty="0">
                <a:solidFill>
                  <a:srgbClr val="FFFFFF"/>
                </a:solidFill>
                <a:latin typeface="Unbounded" pitchFamily="34" charset="0"/>
                <a:ea typeface="Unbounded" pitchFamily="34" charset="-122"/>
                <a:cs typeface="Unbounded" pitchFamily="34" charset="-120"/>
              </a:rPr>
              <a:t>Folders (Optional)</a:t>
            </a:r>
            <a:endParaRPr lang="en-US" sz="2200" dirty="0"/>
          </a:p>
        </p:txBody>
      </p:sp>
      <p:sp>
        <p:nvSpPr>
          <p:cNvPr id="6" name="Text 4"/>
          <p:cNvSpPr/>
          <p:nvPr/>
        </p:nvSpPr>
        <p:spPr>
          <a:xfrm>
            <a:off x="4230053" y="3789283"/>
            <a:ext cx="2800826" cy="2298144"/>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Logical containers grouping projects, often aligned to departments like IT or Finance, facilitating delegation and policy inheritance.</a:t>
            </a:r>
            <a:endParaRPr lang="en-US" sz="1850" dirty="0"/>
          </a:p>
        </p:txBody>
      </p:sp>
      <p:sp>
        <p:nvSpPr>
          <p:cNvPr id="7" name="Text 5"/>
          <p:cNvSpPr/>
          <p:nvPr/>
        </p:nvSpPr>
        <p:spPr>
          <a:xfrm>
            <a:off x="7622381" y="2846070"/>
            <a:ext cx="2800826" cy="703898"/>
          </a:xfrm>
          <a:prstGeom prst="rect">
            <a:avLst/>
          </a:prstGeom>
          <a:noFill/>
          <a:ln/>
        </p:spPr>
        <p:txBody>
          <a:bodyPr wrap="square" lIns="0" tIns="0" rIns="0" bIns="0" rtlCol="0" anchor="t"/>
          <a:lstStyle/>
          <a:p>
            <a:pPr marL="0" indent="0" algn="l">
              <a:lnSpc>
                <a:spcPts val="2750"/>
              </a:lnSpc>
              <a:buNone/>
            </a:pPr>
            <a:r>
              <a:rPr lang="en-US" sz="2200" dirty="0">
                <a:solidFill>
                  <a:srgbClr val="FFFFFF"/>
                </a:solidFill>
                <a:latin typeface="Unbounded" pitchFamily="34" charset="0"/>
                <a:ea typeface="Unbounded" pitchFamily="34" charset="-122"/>
                <a:cs typeface="Unbounded" pitchFamily="34" charset="-120"/>
              </a:rPr>
              <a:t>Projects (Core Units)</a:t>
            </a:r>
            <a:endParaRPr lang="en-US" sz="2200" dirty="0"/>
          </a:p>
        </p:txBody>
      </p:sp>
      <p:sp>
        <p:nvSpPr>
          <p:cNvPr id="8" name="Text 6"/>
          <p:cNvSpPr/>
          <p:nvPr/>
        </p:nvSpPr>
        <p:spPr>
          <a:xfrm>
            <a:off x="7622381" y="3789283"/>
            <a:ext cx="2800826" cy="2681168"/>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The primary boundary for resources, billing, API enablement, and access control. Projects encapsulate resources like Compute Engine and BigQuery datasets.</a:t>
            </a:r>
            <a:endParaRPr lang="en-US" sz="1850" dirty="0"/>
          </a:p>
        </p:txBody>
      </p:sp>
      <p:sp>
        <p:nvSpPr>
          <p:cNvPr id="9" name="Text 7"/>
          <p:cNvSpPr/>
          <p:nvPr/>
        </p:nvSpPr>
        <p:spPr>
          <a:xfrm>
            <a:off x="11014710" y="2846070"/>
            <a:ext cx="2800826"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Unbounded" pitchFamily="34" charset="0"/>
                <a:ea typeface="Unbounded" pitchFamily="34" charset="-122"/>
                <a:cs typeface="Unbounded" pitchFamily="34" charset="-120"/>
              </a:rPr>
              <a:t>Resources</a:t>
            </a:r>
            <a:endParaRPr lang="en-US" sz="2200" dirty="0"/>
          </a:p>
        </p:txBody>
      </p:sp>
      <p:sp>
        <p:nvSpPr>
          <p:cNvPr id="10" name="Text 8"/>
          <p:cNvSpPr/>
          <p:nvPr/>
        </p:nvSpPr>
        <p:spPr>
          <a:xfrm>
            <a:off x="11014710" y="3437334"/>
            <a:ext cx="2800826" cy="1915120"/>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Actual cloud services and assets such as VM instances, storage buckets, and databases that operate within projects.</a:t>
            </a:r>
            <a:endParaRPr lang="en-US" sz="1850" dirty="0"/>
          </a:p>
        </p:txBody>
      </p:sp>
      <p:pic>
        <p:nvPicPr>
          <p:cNvPr id="11" name="Picture 10">
            <a:extLst>
              <a:ext uri="{FF2B5EF4-FFF2-40B4-BE49-F238E27FC236}">
                <a16:creationId xmlns:a16="http://schemas.microsoft.com/office/drawing/2014/main" id="{7BEF2AD3-8658-0FD3-FF46-EA4923CE8486}"/>
              </a:ext>
            </a:extLst>
          </p:cNvPr>
          <p:cNvPicPr>
            <a:picLocks noChangeAspect="1"/>
          </p:cNvPicPr>
          <p:nvPr/>
        </p:nvPicPr>
        <p:blipFill>
          <a:blip r:embed="rId3"/>
          <a:srcRect r="900" b="3768"/>
          <a:stretch/>
        </p:blipFill>
        <p:spPr>
          <a:xfrm>
            <a:off x="253197" y="376557"/>
            <a:ext cx="14377203" cy="785304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759988"/>
          </a:xfrm>
          <a:prstGeom prst="rect">
            <a:avLst/>
          </a:prstGeom>
        </p:spPr>
      </p:pic>
      <p:sp>
        <p:nvSpPr>
          <p:cNvPr id="3" name="Text 0"/>
          <p:cNvSpPr/>
          <p:nvPr/>
        </p:nvSpPr>
        <p:spPr>
          <a:xfrm>
            <a:off x="772716" y="3367326"/>
            <a:ext cx="5830610" cy="649486"/>
          </a:xfrm>
          <a:prstGeom prst="rect">
            <a:avLst/>
          </a:prstGeom>
          <a:noFill/>
          <a:ln/>
        </p:spPr>
        <p:txBody>
          <a:bodyPr wrap="none" lIns="0" tIns="0" rIns="0" bIns="0" rtlCol="0" anchor="t"/>
          <a:lstStyle/>
          <a:p>
            <a:pPr marL="0" indent="0" algn="l">
              <a:lnSpc>
                <a:spcPts val="5100"/>
              </a:lnSpc>
              <a:buNone/>
            </a:pPr>
            <a:r>
              <a:rPr lang="en-US" sz="4050" dirty="0">
                <a:solidFill>
                  <a:srgbClr val="FFFFFF"/>
                </a:solidFill>
                <a:latin typeface="Unbounded" pitchFamily="34" charset="0"/>
                <a:ea typeface="Unbounded" pitchFamily="34" charset="-122"/>
                <a:cs typeface="Unbounded" pitchFamily="34" charset="-120"/>
              </a:rPr>
              <a:t>GCP Identity Types</a:t>
            </a:r>
            <a:endParaRPr lang="en-US" sz="4050" dirty="0"/>
          </a:p>
        </p:txBody>
      </p:sp>
      <p:sp>
        <p:nvSpPr>
          <p:cNvPr id="5" name="Text 2"/>
          <p:cNvSpPr/>
          <p:nvPr/>
        </p:nvSpPr>
        <p:spPr>
          <a:xfrm>
            <a:off x="1490186" y="4423767"/>
            <a:ext cx="2597587" cy="324683"/>
          </a:xfrm>
          <a:prstGeom prst="rect">
            <a:avLst/>
          </a:prstGeom>
          <a:noFill/>
          <a:ln/>
        </p:spPr>
        <p:txBody>
          <a:bodyPr wrap="none" lIns="0" tIns="0" rIns="0" bIns="0" rtlCol="0" anchor="t"/>
          <a:lstStyle/>
          <a:p>
            <a:pPr marL="0" indent="0" algn="l">
              <a:lnSpc>
                <a:spcPts val="2550"/>
              </a:lnSpc>
              <a:buNone/>
            </a:pPr>
            <a:r>
              <a:rPr lang="en-US" sz="2000" dirty="0">
                <a:solidFill>
                  <a:srgbClr val="CAD6DE"/>
                </a:solidFill>
                <a:latin typeface="Unbounded" pitchFamily="34" charset="0"/>
                <a:ea typeface="Unbounded" pitchFamily="34" charset="-122"/>
                <a:cs typeface="Unbounded" pitchFamily="34" charset="-120"/>
              </a:rPr>
              <a:t>Google Account</a:t>
            </a:r>
            <a:endParaRPr lang="en-US" sz="2000" dirty="0"/>
          </a:p>
        </p:txBody>
      </p:sp>
      <p:sp>
        <p:nvSpPr>
          <p:cNvPr id="6" name="Text 3"/>
          <p:cNvSpPr/>
          <p:nvPr/>
        </p:nvSpPr>
        <p:spPr>
          <a:xfrm>
            <a:off x="1490186" y="4880848"/>
            <a:ext cx="5687020" cy="706755"/>
          </a:xfrm>
          <a:prstGeom prst="rect">
            <a:avLst/>
          </a:prstGeom>
          <a:noFill/>
          <a:ln/>
        </p:spPr>
        <p:txBody>
          <a:bodyPr wrap="square" lIns="0" tIns="0" rIns="0" bIns="0" rtlCol="0" anchor="t"/>
          <a:lstStyle/>
          <a:p>
            <a:pPr marL="0" indent="0" algn="l">
              <a:lnSpc>
                <a:spcPts val="2750"/>
              </a:lnSpc>
              <a:buNone/>
            </a:pPr>
            <a:r>
              <a:rPr lang="en-US" sz="1700" dirty="0">
                <a:solidFill>
                  <a:srgbClr val="CAD6DE"/>
                </a:solidFill>
                <a:latin typeface="Cabin" pitchFamily="34" charset="0"/>
                <a:ea typeface="Cabin" pitchFamily="34" charset="-122"/>
                <a:cs typeface="Cabin" pitchFamily="34" charset="-120"/>
              </a:rPr>
              <a:t>Single-user identities, such as individual email accounts (user@example.com) representing end users.</a:t>
            </a:r>
            <a:endParaRPr lang="en-US" sz="1700" dirty="0"/>
          </a:p>
        </p:txBody>
      </p:sp>
      <p:sp>
        <p:nvSpPr>
          <p:cNvPr id="8" name="Text 5"/>
          <p:cNvSpPr/>
          <p:nvPr/>
        </p:nvSpPr>
        <p:spPr>
          <a:xfrm>
            <a:off x="8170664" y="4423767"/>
            <a:ext cx="2597587" cy="324683"/>
          </a:xfrm>
          <a:prstGeom prst="rect">
            <a:avLst/>
          </a:prstGeom>
          <a:noFill/>
          <a:ln/>
        </p:spPr>
        <p:txBody>
          <a:bodyPr wrap="none" lIns="0" tIns="0" rIns="0" bIns="0" rtlCol="0" anchor="t"/>
          <a:lstStyle/>
          <a:p>
            <a:pPr marL="0" indent="0" algn="l">
              <a:lnSpc>
                <a:spcPts val="2550"/>
              </a:lnSpc>
              <a:buNone/>
            </a:pPr>
            <a:r>
              <a:rPr lang="en-US" sz="2000" dirty="0">
                <a:solidFill>
                  <a:srgbClr val="CAD6DE"/>
                </a:solidFill>
                <a:latin typeface="Unbounded" pitchFamily="34" charset="0"/>
                <a:ea typeface="Unbounded" pitchFamily="34" charset="-122"/>
                <a:cs typeface="Unbounded" pitchFamily="34" charset="-120"/>
              </a:rPr>
              <a:t>Service Account</a:t>
            </a:r>
            <a:endParaRPr lang="en-US" sz="2000" dirty="0"/>
          </a:p>
        </p:txBody>
      </p:sp>
      <p:sp>
        <p:nvSpPr>
          <p:cNvPr id="9" name="Text 6"/>
          <p:cNvSpPr/>
          <p:nvPr/>
        </p:nvSpPr>
        <p:spPr>
          <a:xfrm>
            <a:off x="8170664" y="4880848"/>
            <a:ext cx="5687020" cy="706755"/>
          </a:xfrm>
          <a:prstGeom prst="rect">
            <a:avLst/>
          </a:prstGeom>
          <a:noFill/>
          <a:ln/>
        </p:spPr>
        <p:txBody>
          <a:bodyPr wrap="square" lIns="0" tIns="0" rIns="0" bIns="0" rtlCol="0" anchor="t"/>
          <a:lstStyle/>
          <a:p>
            <a:pPr marL="0" indent="0" algn="l">
              <a:lnSpc>
                <a:spcPts val="2750"/>
              </a:lnSpc>
              <a:buNone/>
            </a:pPr>
            <a:r>
              <a:rPr lang="en-US" sz="1700" dirty="0">
                <a:solidFill>
                  <a:srgbClr val="CAD6DE"/>
                </a:solidFill>
                <a:latin typeface="Cabin" pitchFamily="34" charset="0"/>
                <a:ea typeface="Cabin" pitchFamily="34" charset="-122"/>
                <a:cs typeface="Cabin" pitchFamily="34" charset="-120"/>
              </a:rPr>
              <a:t>Non-human identities for applications or services to authenticate and access GCP resources securely.</a:t>
            </a:r>
            <a:endParaRPr lang="en-US" sz="1700" dirty="0"/>
          </a:p>
        </p:txBody>
      </p:sp>
      <p:sp>
        <p:nvSpPr>
          <p:cNvPr id="11" name="Text 8"/>
          <p:cNvSpPr/>
          <p:nvPr/>
        </p:nvSpPr>
        <p:spPr>
          <a:xfrm>
            <a:off x="1490186" y="6105049"/>
            <a:ext cx="2597587" cy="324683"/>
          </a:xfrm>
          <a:prstGeom prst="rect">
            <a:avLst/>
          </a:prstGeom>
          <a:noFill/>
          <a:ln/>
        </p:spPr>
        <p:txBody>
          <a:bodyPr wrap="none" lIns="0" tIns="0" rIns="0" bIns="0" rtlCol="0" anchor="t"/>
          <a:lstStyle/>
          <a:p>
            <a:pPr marL="0" indent="0" algn="l">
              <a:lnSpc>
                <a:spcPts val="2550"/>
              </a:lnSpc>
              <a:buNone/>
            </a:pPr>
            <a:r>
              <a:rPr lang="en-US" sz="2000" dirty="0">
                <a:solidFill>
                  <a:srgbClr val="CAD6DE"/>
                </a:solidFill>
                <a:latin typeface="Unbounded" pitchFamily="34" charset="0"/>
                <a:ea typeface="Unbounded" pitchFamily="34" charset="-122"/>
                <a:cs typeface="Unbounded" pitchFamily="34" charset="-120"/>
              </a:rPr>
              <a:t>Google Groups</a:t>
            </a:r>
            <a:endParaRPr lang="en-US" sz="2000" dirty="0"/>
          </a:p>
        </p:txBody>
      </p:sp>
      <p:sp>
        <p:nvSpPr>
          <p:cNvPr id="12" name="Text 9"/>
          <p:cNvSpPr/>
          <p:nvPr/>
        </p:nvSpPr>
        <p:spPr>
          <a:xfrm>
            <a:off x="1490186" y="6562130"/>
            <a:ext cx="5687020" cy="1060133"/>
          </a:xfrm>
          <a:prstGeom prst="rect">
            <a:avLst/>
          </a:prstGeom>
          <a:noFill/>
          <a:ln/>
        </p:spPr>
        <p:txBody>
          <a:bodyPr wrap="square" lIns="0" tIns="0" rIns="0" bIns="0" rtlCol="0" anchor="t"/>
          <a:lstStyle/>
          <a:p>
            <a:pPr marL="0" indent="0" algn="l">
              <a:lnSpc>
                <a:spcPts val="2750"/>
              </a:lnSpc>
              <a:buNone/>
            </a:pPr>
            <a:r>
              <a:rPr lang="en-US" sz="1700" dirty="0">
                <a:solidFill>
                  <a:srgbClr val="CAD6DE"/>
                </a:solidFill>
                <a:latin typeface="Cabin" pitchFamily="34" charset="0"/>
                <a:ea typeface="Cabin" pitchFamily="34" charset="-122"/>
                <a:cs typeface="Cabin" pitchFamily="34" charset="-120"/>
              </a:rPr>
              <a:t>Collections of user accounts that simplify access management by assigning roles to groups instead of individuals.</a:t>
            </a:r>
            <a:endParaRPr lang="en-US" sz="1700" dirty="0"/>
          </a:p>
        </p:txBody>
      </p:sp>
      <p:sp>
        <p:nvSpPr>
          <p:cNvPr id="14" name="Text 11"/>
          <p:cNvSpPr/>
          <p:nvPr/>
        </p:nvSpPr>
        <p:spPr>
          <a:xfrm>
            <a:off x="8170664" y="6105049"/>
            <a:ext cx="5132546" cy="324683"/>
          </a:xfrm>
          <a:prstGeom prst="rect">
            <a:avLst/>
          </a:prstGeom>
          <a:noFill/>
          <a:ln/>
        </p:spPr>
        <p:txBody>
          <a:bodyPr wrap="none" lIns="0" tIns="0" rIns="0" bIns="0" rtlCol="0" anchor="t"/>
          <a:lstStyle/>
          <a:p>
            <a:pPr marL="0" indent="0" algn="l">
              <a:lnSpc>
                <a:spcPts val="2550"/>
              </a:lnSpc>
              <a:buNone/>
            </a:pPr>
            <a:r>
              <a:rPr lang="en-US" sz="2000" dirty="0">
                <a:solidFill>
                  <a:srgbClr val="CAD6DE"/>
                </a:solidFill>
                <a:latin typeface="Unbounded" pitchFamily="34" charset="0"/>
                <a:ea typeface="Unbounded" pitchFamily="34" charset="-122"/>
                <a:cs typeface="Unbounded" pitchFamily="34" charset="-120"/>
              </a:rPr>
              <a:t>Cloud Identity / Workspace Users</a:t>
            </a:r>
            <a:endParaRPr lang="en-US" sz="2000" dirty="0"/>
          </a:p>
        </p:txBody>
      </p:sp>
      <p:sp>
        <p:nvSpPr>
          <p:cNvPr id="15" name="Text 12"/>
          <p:cNvSpPr/>
          <p:nvPr/>
        </p:nvSpPr>
        <p:spPr>
          <a:xfrm>
            <a:off x="8170664" y="6562130"/>
            <a:ext cx="5687020" cy="1060133"/>
          </a:xfrm>
          <a:prstGeom prst="rect">
            <a:avLst/>
          </a:prstGeom>
          <a:noFill/>
          <a:ln/>
        </p:spPr>
        <p:txBody>
          <a:bodyPr wrap="square" lIns="0" tIns="0" rIns="0" bIns="0" rtlCol="0" anchor="t"/>
          <a:lstStyle/>
          <a:p>
            <a:pPr marL="0" indent="0" algn="l">
              <a:lnSpc>
                <a:spcPts val="2750"/>
              </a:lnSpc>
              <a:buNone/>
            </a:pPr>
            <a:r>
              <a:rPr lang="en-US" sz="1700" dirty="0">
                <a:solidFill>
                  <a:srgbClr val="CAD6DE"/>
                </a:solidFill>
                <a:latin typeface="Cabin" pitchFamily="34" charset="0"/>
                <a:ea typeface="Cabin" pitchFamily="34" charset="-122"/>
                <a:cs typeface="Cabin" pitchFamily="34" charset="-120"/>
              </a:rPr>
              <a:t>Enterprise-managed user accounts managed via Cloud Identity or Google Workspace, including both internal employees and external partners.</a:t>
            </a:r>
            <a:endParaRPr lang="en-US" sz="1700" dirty="0"/>
          </a:p>
        </p:txBody>
      </p:sp>
      <p:pic>
        <p:nvPicPr>
          <p:cNvPr id="17" name="Picture 16">
            <a:extLst>
              <a:ext uri="{FF2B5EF4-FFF2-40B4-BE49-F238E27FC236}">
                <a16:creationId xmlns:a16="http://schemas.microsoft.com/office/drawing/2014/main" id="{4FA717E8-F075-2C4E-6AAD-4336D10994DC}"/>
              </a:ext>
            </a:extLst>
          </p:cNvPr>
          <p:cNvPicPr>
            <a:picLocks noChangeAspect="1"/>
          </p:cNvPicPr>
          <p:nvPr/>
        </p:nvPicPr>
        <p:blipFill>
          <a:blip r:embed="rId4"/>
          <a:srcRect l="1547" t="370" r="77693" b="70075"/>
          <a:stretch/>
        </p:blipFill>
        <p:spPr>
          <a:xfrm>
            <a:off x="426131" y="4224648"/>
            <a:ext cx="921858" cy="1312399"/>
          </a:xfrm>
          <a:prstGeom prst="rect">
            <a:avLst/>
          </a:prstGeom>
        </p:spPr>
      </p:pic>
      <p:pic>
        <p:nvPicPr>
          <p:cNvPr id="19" name="Picture 18">
            <a:extLst>
              <a:ext uri="{FF2B5EF4-FFF2-40B4-BE49-F238E27FC236}">
                <a16:creationId xmlns:a16="http://schemas.microsoft.com/office/drawing/2014/main" id="{5D35FD5A-4076-AFBA-B9ED-443E92DE6AF6}"/>
              </a:ext>
            </a:extLst>
          </p:cNvPr>
          <p:cNvPicPr>
            <a:picLocks noChangeAspect="1"/>
          </p:cNvPicPr>
          <p:nvPr/>
        </p:nvPicPr>
        <p:blipFill>
          <a:blip r:embed="rId4"/>
          <a:srcRect l="24661" t="10369" r="53388" b="73577"/>
          <a:stretch/>
        </p:blipFill>
        <p:spPr>
          <a:xfrm>
            <a:off x="426131" y="6267390"/>
            <a:ext cx="991772" cy="725329"/>
          </a:xfrm>
          <a:prstGeom prst="rect">
            <a:avLst/>
          </a:prstGeom>
        </p:spPr>
      </p:pic>
      <p:pic>
        <p:nvPicPr>
          <p:cNvPr id="21" name="Picture 20">
            <a:extLst>
              <a:ext uri="{FF2B5EF4-FFF2-40B4-BE49-F238E27FC236}">
                <a16:creationId xmlns:a16="http://schemas.microsoft.com/office/drawing/2014/main" id="{5D81958D-2C80-E7EF-42C3-D2EB57F299F4}"/>
              </a:ext>
            </a:extLst>
          </p:cNvPr>
          <p:cNvPicPr>
            <a:picLocks noChangeAspect="1"/>
          </p:cNvPicPr>
          <p:nvPr/>
        </p:nvPicPr>
        <p:blipFill>
          <a:blip r:embed="rId4"/>
          <a:srcRect l="54897" t="10054" r="27986" b="70795"/>
          <a:stretch/>
        </p:blipFill>
        <p:spPr>
          <a:xfrm>
            <a:off x="7155839" y="4427749"/>
            <a:ext cx="931223" cy="1041864"/>
          </a:xfrm>
          <a:prstGeom prst="rect">
            <a:avLst/>
          </a:prstGeom>
        </p:spPr>
      </p:pic>
      <p:pic>
        <p:nvPicPr>
          <p:cNvPr id="23" name="Picture 22">
            <a:extLst>
              <a:ext uri="{FF2B5EF4-FFF2-40B4-BE49-F238E27FC236}">
                <a16:creationId xmlns:a16="http://schemas.microsoft.com/office/drawing/2014/main" id="{967E1B12-0030-7916-5627-5171F1DCC01E}"/>
              </a:ext>
            </a:extLst>
          </p:cNvPr>
          <p:cNvPicPr>
            <a:picLocks noChangeAspect="1"/>
          </p:cNvPicPr>
          <p:nvPr/>
        </p:nvPicPr>
        <p:blipFill>
          <a:blip r:embed="rId4"/>
          <a:srcRect l="75966" t="10269" r="2169" b="73200"/>
          <a:stretch/>
        </p:blipFill>
        <p:spPr>
          <a:xfrm>
            <a:off x="7050379" y="6040702"/>
            <a:ext cx="1036683" cy="783777"/>
          </a:xfrm>
          <a:prstGeom prst="rect">
            <a:avLst/>
          </a:prstGeom>
        </p:spPr>
      </p:pic>
      <p:pic>
        <p:nvPicPr>
          <p:cNvPr id="27" name="Picture 26">
            <a:extLst>
              <a:ext uri="{FF2B5EF4-FFF2-40B4-BE49-F238E27FC236}">
                <a16:creationId xmlns:a16="http://schemas.microsoft.com/office/drawing/2014/main" id="{73129CF4-A26A-0C4E-5AF7-8DABDF0BDFE1}"/>
              </a:ext>
            </a:extLst>
          </p:cNvPr>
          <p:cNvPicPr>
            <a:picLocks noChangeAspect="1"/>
          </p:cNvPicPr>
          <p:nvPr/>
        </p:nvPicPr>
        <p:blipFill>
          <a:blip r:embed="rId5"/>
          <a:srcRect r="900" b="3768"/>
          <a:stretch/>
        </p:blipFill>
        <p:spPr>
          <a:xfrm>
            <a:off x="253197" y="376557"/>
            <a:ext cx="14377203" cy="785304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16" name="Shape 1">
            <a:extLst>
              <a:ext uri="{FF2B5EF4-FFF2-40B4-BE49-F238E27FC236}">
                <a16:creationId xmlns:a16="http://schemas.microsoft.com/office/drawing/2014/main" id="{D2D19800-CCA1-93DA-E738-195D475DE53D}"/>
              </a:ext>
            </a:extLst>
          </p:cNvPr>
          <p:cNvSpPr/>
          <p:nvPr/>
        </p:nvSpPr>
        <p:spPr>
          <a:xfrm>
            <a:off x="9778462" y="2971490"/>
            <a:ext cx="3691696" cy="3797045"/>
          </a:xfrm>
          <a:prstGeom prst="roundRect">
            <a:avLst>
              <a:gd name="adj" fmla="val 2064"/>
            </a:avLst>
          </a:prstGeom>
          <a:solidFill>
            <a:srgbClr val="304755"/>
          </a:solidFill>
          <a:ln/>
          <a:effectLst>
            <a:innerShdw blurRad="63500" dist="50800" dir="13500000">
              <a:prstClr val="black">
                <a:alpha val="50000"/>
              </a:prstClr>
            </a:innerShdw>
          </a:effectLst>
        </p:spPr>
      </p:sp>
      <p:sp>
        <p:nvSpPr>
          <p:cNvPr id="15" name="Shape 1">
            <a:extLst>
              <a:ext uri="{FF2B5EF4-FFF2-40B4-BE49-F238E27FC236}">
                <a16:creationId xmlns:a16="http://schemas.microsoft.com/office/drawing/2014/main" id="{72D4F09B-0B28-BD48-9F48-BF567EF1AFFF}"/>
              </a:ext>
            </a:extLst>
          </p:cNvPr>
          <p:cNvSpPr/>
          <p:nvPr/>
        </p:nvSpPr>
        <p:spPr>
          <a:xfrm>
            <a:off x="5260614" y="2971490"/>
            <a:ext cx="3691696" cy="3797045"/>
          </a:xfrm>
          <a:prstGeom prst="roundRect">
            <a:avLst>
              <a:gd name="adj" fmla="val 2064"/>
            </a:avLst>
          </a:prstGeom>
          <a:solidFill>
            <a:srgbClr val="304755"/>
          </a:solidFill>
          <a:ln/>
          <a:effectLst>
            <a:innerShdw blurRad="63500" dist="50800" dir="13500000">
              <a:prstClr val="black">
                <a:alpha val="50000"/>
              </a:prstClr>
            </a:innerShdw>
          </a:effectLst>
        </p:spPr>
      </p:sp>
      <p:sp>
        <p:nvSpPr>
          <p:cNvPr id="14" name="Shape 1">
            <a:extLst>
              <a:ext uri="{FF2B5EF4-FFF2-40B4-BE49-F238E27FC236}">
                <a16:creationId xmlns:a16="http://schemas.microsoft.com/office/drawing/2014/main" id="{DA8927C7-6E2F-7C0F-2C7C-1D4106E61918}"/>
              </a:ext>
            </a:extLst>
          </p:cNvPr>
          <p:cNvSpPr/>
          <p:nvPr/>
        </p:nvSpPr>
        <p:spPr>
          <a:xfrm>
            <a:off x="657280" y="2971490"/>
            <a:ext cx="3691696" cy="3797045"/>
          </a:xfrm>
          <a:prstGeom prst="roundRect">
            <a:avLst>
              <a:gd name="adj" fmla="val 2064"/>
            </a:avLst>
          </a:prstGeom>
          <a:solidFill>
            <a:srgbClr val="304755"/>
          </a:solidFill>
          <a:ln/>
          <a:effectLst>
            <a:innerShdw blurRad="63500" dist="50800" dir="13500000">
              <a:prstClr val="black">
                <a:alpha val="50000"/>
              </a:prstClr>
            </a:innerShdw>
          </a:effectLst>
        </p:spPr>
      </p:sp>
      <p:sp>
        <p:nvSpPr>
          <p:cNvPr id="2" name="Text 0"/>
          <p:cNvSpPr/>
          <p:nvPr/>
        </p:nvSpPr>
        <p:spPr>
          <a:xfrm>
            <a:off x="837724" y="2126694"/>
            <a:ext cx="8215551" cy="704017"/>
          </a:xfrm>
          <a:prstGeom prst="rect">
            <a:avLst/>
          </a:prstGeom>
          <a:noFill/>
          <a:ln/>
        </p:spPr>
        <p:txBody>
          <a:bodyPr wrap="non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GCP IAM Roles Overview</a:t>
            </a:r>
            <a:endParaRPr lang="en-US" sz="4400" dirty="0"/>
          </a:p>
        </p:txBody>
      </p:sp>
      <p:sp>
        <p:nvSpPr>
          <p:cNvPr id="3" name="Text 1"/>
          <p:cNvSpPr/>
          <p:nvPr/>
        </p:nvSpPr>
        <p:spPr>
          <a:xfrm>
            <a:off x="837724" y="342900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Unbounded" pitchFamily="34" charset="0"/>
                <a:ea typeface="Unbounded" pitchFamily="34" charset="-122"/>
                <a:cs typeface="Unbounded" pitchFamily="34" charset="-120"/>
              </a:rPr>
              <a:t>Primitive Roles</a:t>
            </a:r>
            <a:endParaRPr lang="en-US" sz="2200" dirty="0"/>
          </a:p>
        </p:txBody>
      </p:sp>
      <p:sp>
        <p:nvSpPr>
          <p:cNvPr id="4" name="Text 2"/>
          <p:cNvSpPr/>
          <p:nvPr/>
        </p:nvSpPr>
        <p:spPr>
          <a:xfrm>
            <a:off x="837724" y="4020264"/>
            <a:ext cx="3928586" cy="766048"/>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CAD6DE"/>
                </a:solidFill>
                <a:latin typeface="Cabin" pitchFamily="34" charset="0"/>
                <a:ea typeface="Cabin" pitchFamily="34" charset="-122"/>
                <a:cs typeface="Cabin" pitchFamily="34" charset="-120"/>
              </a:rPr>
              <a:t>Owner: Full control over all resources</a:t>
            </a:r>
            <a:endParaRPr lang="en-US" sz="1850" dirty="0"/>
          </a:p>
        </p:txBody>
      </p:sp>
      <p:sp>
        <p:nvSpPr>
          <p:cNvPr id="5" name="Text 3"/>
          <p:cNvSpPr/>
          <p:nvPr/>
        </p:nvSpPr>
        <p:spPr>
          <a:xfrm>
            <a:off x="837724" y="4870013"/>
            <a:ext cx="3928586"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CAD6DE"/>
                </a:solidFill>
                <a:latin typeface="Cabin" pitchFamily="34" charset="0"/>
                <a:ea typeface="Cabin" pitchFamily="34" charset="-122"/>
                <a:cs typeface="Cabin" pitchFamily="34" charset="-120"/>
              </a:rPr>
              <a:t>Editor: Modify most resources</a:t>
            </a:r>
            <a:endParaRPr lang="en-US" sz="1850" dirty="0"/>
          </a:p>
        </p:txBody>
      </p:sp>
      <p:sp>
        <p:nvSpPr>
          <p:cNvPr id="6" name="Text 4"/>
          <p:cNvSpPr/>
          <p:nvPr/>
        </p:nvSpPr>
        <p:spPr>
          <a:xfrm>
            <a:off x="837724" y="5336738"/>
            <a:ext cx="3928586"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CAD6DE"/>
                </a:solidFill>
                <a:latin typeface="Cabin" pitchFamily="34" charset="0"/>
                <a:ea typeface="Cabin" pitchFamily="34" charset="-122"/>
                <a:cs typeface="Cabin" pitchFamily="34" charset="-120"/>
              </a:rPr>
              <a:t>Viewer: Read-only access</a:t>
            </a:r>
            <a:endParaRPr lang="en-US" sz="1850" dirty="0"/>
          </a:p>
        </p:txBody>
      </p:sp>
      <p:sp>
        <p:nvSpPr>
          <p:cNvPr id="7" name="Text 5"/>
          <p:cNvSpPr/>
          <p:nvPr/>
        </p:nvSpPr>
        <p:spPr>
          <a:xfrm>
            <a:off x="5357813" y="342900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Unbounded" pitchFamily="34" charset="0"/>
                <a:ea typeface="Unbounded" pitchFamily="34" charset="-122"/>
                <a:cs typeface="Unbounded" pitchFamily="34" charset="-120"/>
              </a:rPr>
              <a:t>Predefined Roles</a:t>
            </a:r>
            <a:endParaRPr lang="en-US" sz="2200" dirty="0"/>
          </a:p>
        </p:txBody>
      </p:sp>
      <p:sp>
        <p:nvSpPr>
          <p:cNvPr id="8" name="Text 6"/>
          <p:cNvSpPr/>
          <p:nvPr/>
        </p:nvSpPr>
        <p:spPr>
          <a:xfrm>
            <a:off x="5357813" y="4020264"/>
            <a:ext cx="3928586" cy="1149072"/>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CAD6DE"/>
                </a:solidFill>
                <a:latin typeface="Cabin" pitchFamily="34" charset="0"/>
                <a:ea typeface="Cabin" pitchFamily="34" charset="-122"/>
                <a:cs typeface="Cabin" pitchFamily="34" charset="-120"/>
              </a:rPr>
              <a:t>Specific to GCP services (e.g., BigQuery Data Editor, Compute Admin)</a:t>
            </a:r>
            <a:endParaRPr lang="en-US" sz="1850" dirty="0"/>
          </a:p>
        </p:txBody>
      </p:sp>
      <p:sp>
        <p:nvSpPr>
          <p:cNvPr id="9" name="Text 7"/>
          <p:cNvSpPr/>
          <p:nvPr/>
        </p:nvSpPr>
        <p:spPr>
          <a:xfrm>
            <a:off x="5357813" y="5253038"/>
            <a:ext cx="3928586" cy="766048"/>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CAD6DE"/>
                </a:solidFill>
                <a:latin typeface="Cabin" pitchFamily="34" charset="0"/>
                <a:ea typeface="Cabin" pitchFamily="34" charset="-122"/>
                <a:cs typeface="Cabin" pitchFamily="34" charset="-120"/>
              </a:rPr>
              <a:t>Offer granular access tailored to service requirements</a:t>
            </a:r>
            <a:endParaRPr lang="en-US" sz="1850" dirty="0"/>
          </a:p>
        </p:txBody>
      </p:sp>
      <p:sp>
        <p:nvSpPr>
          <p:cNvPr id="10" name="Text 8"/>
          <p:cNvSpPr/>
          <p:nvPr/>
        </p:nvSpPr>
        <p:spPr>
          <a:xfrm>
            <a:off x="9877901" y="342900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Unbounded" pitchFamily="34" charset="0"/>
                <a:ea typeface="Unbounded" pitchFamily="34" charset="-122"/>
                <a:cs typeface="Unbounded" pitchFamily="34" charset="-120"/>
              </a:rPr>
              <a:t>Custom Roles</a:t>
            </a:r>
            <a:endParaRPr lang="en-US" sz="2200" dirty="0"/>
          </a:p>
        </p:txBody>
      </p:sp>
      <p:sp>
        <p:nvSpPr>
          <p:cNvPr id="11" name="Text 9"/>
          <p:cNvSpPr/>
          <p:nvPr/>
        </p:nvSpPr>
        <p:spPr>
          <a:xfrm>
            <a:off x="9877901" y="4020264"/>
            <a:ext cx="3928586" cy="766048"/>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CAD6DE"/>
                </a:solidFill>
                <a:latin typeface="Cabin" pitchFamily="34" charset="0"/>
                <a:ea typeface="Cabin" pitchFamily="34" charset="-122"/>
                <a:cs typeface="Cabin" pitchFamily="34" charset="-120"/>
              </a:rPr>
              <a:t>User-defined collection of permissions</a:t>
            </a:r>
            <a:endParaRPr lang="en-US" sz="1850" dirty="0"/>
          </a:p>
        </p:txBody>
      </p:sp>
      <p:sp>
        <p:nvSpPr>
          <p:cNvPr id="12" name="Text 10"/>
          <p:cNvSpPr/>
          <p:nvPr/>
        </p:nvSpPr>
        <p:spPr>
          <a:xfrm>
            <a:off x="9877901" y="4870013"/>
            <a:ext cx="3928586" cy="766048"/>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CAD6DE"/>
                </a:solidFill>
                <a:latin typeface="Cabin" pitchFamily="34" charset="0"/>
                <a:ea typeface="Cabin" pitchFamily="34" charset="-122"/>
                <a:cs typeface="Cabin" pitchFamily="34" charset="-120"/>
              </a:rPr>
              <a:t>Allows precise control fulfilling unique organizational policies</a:t>
            </a:r>
            <a:endParaRPr lang="en-US" sz="1850" dirty="0"/>
          </a:p>
        </p:txBody>
      </p:sp>
      <p:pic>
        <p:nvPicPr>
          <p:cNvPr id="13" name="Picture 12">
            <a:extLst>
              <a:ext uri="{FF2B5EF4-FFF2-40B4-BE49-F238E27FC236}">
                <a16:creationId xmlns:a16="http://schemas.microsoft.com/office/drawing/2014/main" id="{E463EE09-35F5-840B-7339-BD489D790953}"/>
              </a:ext>
            </a:extLst>
          </p:cNvPr>
          <p:cNvPicPr>
            <a:picLocks noChangeAspect="1"/>
          </p:cNvPicPr>
          <p:nvPr/>
        </p:nvPicPr>
        <p:blipFill>
          <a:blip r:embed="rId3"/>
          <a:srcRect r="900" b="3768"/>
          <a:stretch/>
        </p:blipFill>
        <p:spPr>
          <a:xfrm>
            <a:off x="253197" y="376557"/>
            <a:ext cx="14377203" cy="785304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37724" y="2485787"/>
            <a:ext cx="6075521" cy="704017"/>
          </a:xfrm>
          <a:prstGeom prst="rect">
            <a:avLst/>
          </a:prstGeom>
          <a:noFill/>
          <a:ln/>
        </p:spPr>
        <p:txBody>
          <a:bodyPr wrap="non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IAM Policy Binding</a:t>
            </a:r>
            <a:endParaRPr lang="en-US" sz="4400" dirty="0"/>
          </a:p>
        </p:txBody>
      </p:sp>
      <p:sp>
        <p:nvSpPr>
          <p:cNvPr id="3" name="Text 1"/>
          <p:cNvSpPr/>
          <p:nvPr/>
        </p:nvSpPr>
        <p:spPr>
          <a:xfrm>
            <a:off x="837724" y="3788093"/>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Unbounded" pitchFamily="34" charset="0"/>
                <a:ea typeface="Unbounded" pitchFamily="34" charset="-122"/>
                <a:cs typeface="Unbounded" pitchFamily="34" charset="-120"/>
              </a:rPr>
              <a:t>Policy Structure</a:t>
            </a:r>
            <a:endParaRPr lang="en-US" sz="2200" dirty="0"/>
          </a:p>
        </p:txBody>
      </p:sp>
      <p:sp>
        <p:nvSpPr>
          <p:cNvPr id="4" name="Text 2"/>
          <p:cNvSpPr/>
          <p:nvPr/>
        </p:nvSpPr>
        <p:spPr>
          <a:xfrm>
            <a:off x="837724" y="4379357"/>
            <a:ext cx="6185535" cy="1149072"/>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An IAM policy defines bindings mapping members (identities) to roles on resources. Example syntax shows bindings with roles and members.</a:t>
            </a:r>
            <a:endParaRPr lang="en-US" sz="1850" dirty="0"/>
          </a:p>
        </p:txBody>
      </p:sp>
      <p:sp>
        <p:nvSpPr>
          <p:cNvPr id="5" name="Text 3"/>
          <p:cNvSpPr/>
          <p:nvPr/>
        </p:nvSpPr>
        <p:spPr>
          <a:xfrm>
            <a:off x="7614761" y="3788093"/>
            <a:ext cx="3018234"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Unbounded" pitchFamily="34" charset="0"/>
                <a:ea typeface="Unbounded" pitchFamily="34" charset="-122"/>
                <a:cs typeface="Unbounded" pitchFamily="34" charset="-120"/>
              </a:rPr>
              <a:t>Inheritance Model</a:t>
            </a:r>
            <a:endParaRPr lang="en-US" sz="2200" dirty="0"/>
          </a:p>
        </p:txBody>
      </p:sp>
      <p:sp>
        <p:nvSpPr>
          <p:cNvPr id="6" name="Text 4"/>
          <p:cNvSpPr/>
          <p:nvPr/>
        </p:nvSpPr>
        <p:spPr>
          <a:xfrm>
            <a:off x="7614761" y="4379357"/>
            <a:ext cx="6185535" cy="1149072"/>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Policies can be applied at any hierarchy level (organization, folder, project, or resource). Permissions cascade downward, allowing centralized management.</a:t>
            </a:r>
            <a:endParaRPr lang="en-US" sz="1850" dirty="0"/>
          </a:p>
        </p:txBody>
      </p:sp>
      <p:pic>
        <p:nvPicPr>
          <p:cNvPr id="7" name="Picture 6">
            <a:extLst>
              <a:ext uri="{FF2B5EF4-FFF2-40B4-BE49-F238E27FC236}">
                <a16:creationId xmlns:a16="http://schemas.microsoft.com/office/drawing/2014/main" id="{4AADFB61-8281-B9C2-7F2C-185E7D883DF1}"/>
              </a:ext>
            </a:extLst>
          </p:cNvPr>
          <p:cNvPicPr>
            <a:picLocks noChangeAspect="1"/>
          </p:cNvPicPr>
          <p:nvPr/>
        </p:nvPicPr>
        <p:blipFill>
          <a:blip r:embed="rId3"/>
          <a:srcRect r="900" b="3768"/>
          <a:stretch/>
        </p:blipFill>
        <p:spPr>
          <a:xfrm>
            <a:off x="253197" y="376557"/>
            <a:ext cx="14377203" cy="785304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37724" y="2133719"/>
            <a:ext cx="12954952" cy="1408033"/>
          </a:xfrm>
          <a:prstGeom prst="rect">
            <a:avLst/>
          </a:prstGeom>
          <a:noFill/>
          <a:ln/>
        </p:spPr>
        <p:txBody>
          <a:bodyPr wrap="squar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GCP Projects: Central Management Unit</a:t>
            </a:r>
            <a:endParaRPr lang="en-US" sz="4400" dirty="0"/>
          </a:p>
        </p:txBody>
      </p:sp>
      <p:sp>
        <p:nvSpPr>
          <p:cNvPr id="3" name="Text 1"/>
          <p:cNvSpPr/>
          <p:nvPr/>
        </p:nvSpPr>
        <p:spPr>
          <a:xfrm>
            <a:off x="837724" y="4140041"/>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Unbounded" pitchFamily="34" charset="0"/>
                <a:ea typeface="Unbounded" pitchFamily="34" charset="-122"/>
                <a:cs typeface="Unbounded" pitchFamily="34" charset="-120"/>
              </a:rPr>
              <a:t>Billing &amp; Services</a:t>
            </a:r>
            <a:endParaRPr lang="en-US" sz="2200" dirty="0"/>
          </a:p>
        </p:txBody>
      </p:sp>
      <p:sp>
        <p:nvSpPr>
          <p:cNvPr id="4" name="Text 2"/>
          <p:cNvSpPr/>
          <p:nvPr/>
        </p:nvSpPr>
        <p:spPr>
          <a:xfrm>
            <a:off x="837724" y="4731306"/>
            <a:ext cx="6185535" cy="1149072"/>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Projects serve as billing containers; billing accounts are linked at this level. APIs and services are enabled per project to control resource usage.</a:t>
            </a:r>
            <a:endParaRPr lang="en-US" sz="1850" dirty="0"/>
          </a:p>
        </p:txBody>
      </p:sp>
      <p:sp>
        <p:nvSpPr>
          <p:cNvPr id="5" name="Text 3"/>
          <p:cNvSpPr/>
          <p:nvPr/>
        </p:nvSpPr>
        <p:spPr>
          <a:xfrm>
            <a:off x="7614761" y="4140041"/>
            <a:ext cx="4800957"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Unbounded" pitchFamily="34" charset="0"/>
                <a:ea typeface="Unbounded" pitchFamily="34" charset="-122"/>
                <a:cs typeface="Unbounded" pitchFamily="34" charset="-120"/>
              </a:rPr>
              <a:t>Access Control &amp; Monitoring</a:t>
            </a:r>
            <a:endParaRPr lang="en-US" sz="2200" dirty="0"/>
          </a:p>
        </p:txBody>
      </p:sp>
      <p:sp>
        <p:nvSpPr>
          <p:cNvPr id="6" name="Text 4"/>
          <p:cNvSpPr/>
          <p:nvPr/>
        </p:nvSpPr>
        <p:spPr>
          <a:xfrm>
            <a:off x="7614761" y="4731306"/>
            <a:ext cx="6185535" cy="1149072"/>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IAM policies manage project-level access, while quotas, logs, and monitoring metrics are collected per project to ensure efficient operations.</a:t>
            </a:r>
            <a:endParaRPr lang="en-US" sz="1850" dirty="0"/>
          </a:p>
        </p:txBody>
      </p:sp>
      <p:pic>
        <p:nvPicPr>
          <p:cNvPr id="7" name="Picture 6">
            <a:extLst>
              <a:ext uri="{FF2B5EF4-FFF2-40B4-BE49-F238E27FC236}">
                <a16:creationId xmlns:a16="http://schemas.microsoft.com/office/drawing/2014/main" id="{D564B252-7CEB-7645-21C7-F0CE0559CD35}"/>
              </a:ext>
            </a:extLst>
          </p:cNvPr>
          <p:cNvPicPr>
            <a:picLocks noChangeAspect="1"/>
          </p:cNvPicPr>
          <p:nvPr/>
        </p:nvPicPr>
        <p:blipFill>
          <a:blip r:embed="rId3"/>
          <a:srcRect r="900" b="3768"/>
          <a:stretch/>
        </p:blipFill>
        <p:spPr>
          <a:xfrm>
            <a:off x="253197" y="376557"/>
            <a:ext cx="14377203" cy="785304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1557099"/>
            <a:ext cx="8047077" cy="704017"/>
          </a:xfrm>
          <a:prstGeom prst="rect">
            <a:avLst/>
          </a:prstGeom>
          <a:noFill/>
          <a:ln/>
        </p:spPr>
        <p:txBody>
          <a:bodyPr wrap="non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GCP IAM Best Practices</a:t>
            </a:r>
            <a:endParaRPr lang="en-US" sz="4400" dirty="0"/>
          </a:p>
        </p:txBody>
      </p:sp>
      <p:sp>
        <p:nvSpPr>
          <p:cNvPr id="4" name="Text 2"/>
          <p:cNvSpPr/>
          <p:nvPr/>
        </p:nvSpPr>
        <p:spPr>
          <a:xfrm>
            <a:off x="1615559" y="2822138"/>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Least Privilege</a:t>
            </a:r>
            <a:endParaRPr lang="en-US" sz="2200" dirty="0"/>
          </a:p>
        </p:txBody>
      </p:sp>
      <p:sp>
        <p:nvSpPr>
          <p:cNvPr id="5" name="Text 3"/>
          <p:cNvSpPr/>
          <p:nvPr/>
        </p:nvSpPr>
        <p:spPr>
          <a:xfrm>
            <a:off x="1615559" y="3317677"/>
            <a:ext cx="3341013" cy="1149072"/>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Grant only the necessary permissions to users and service accounts to minimize risk.</a:t>
            </a:r>
            <a:endParaRPr lang="en-US" sz="1850" dirty="0"/>
          </a:p>
        </p:txBody>
      </p:sp>
      <p:sp>
        <p:nvSpPr>
          <p:cNvPr id="7" name="Text 5"/>
          <p:cNvSpPr/>
          <p:nvPr/>
        </p:nvSpPr>
        <p:spPr>
          <a:xfrm>
            <a:off x="6033611" y="2822138"/>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Predefined Roles</a:t>
            </a:r>
            <a:endParaRPr lang="en-US" sz="2200" dirty="0"/>
          </a:p>
        </p:txBody>
      </p:sp>
      <p:sp>
        <p:nvSpPr>
          <p:cNvPr id="8" name="Text 6"/>
          <p:cNvSpPr/>
          <p:nvPr/>
        </p:nvSpPr>
        <p:spPr>
          <a:xfrm>
            <a:off x="6033611" y="3317677"/>
            <a:ext cx="3341013" cy="1149072"/>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Use predefined roles where possible to leverage Google’s curated permission sets.</a:t>
            </a:r>
            <a:endParaRPr lang="en-US" sz="1850" dirty="0"/>
          </a:p>
        </p:txBody>
      </p:sp>
      <p:sp>
        <p:nvSpPr>
          <p:cNvPr id="10" name="Text 8"/>
          <p:cNvSpPr/>
          <p:nvPr/>
        </p:nvSpPr>
        <p:spPr>
          <a:xfrm>
            <a:off x="10451663" y="2822138"/>
            <a:ext cx="2941915"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Service Accounts</a:t>
            </a:r>
            <a:endParaRPr lang="en-US" sz="2200" dirty="0"/>
          </a:p>
        </p:txBody>
      </p:sp>
      <p:sp>
        <p:nvSpPr>
          <p:cNvPr id="11" name="Text 9"/>
          <p:cNvSpPr/>
          <p:nvPr/>
        </p:nvSpPr>
        <p:spPr>
          <a:xfrm>
            <a:off x="10451663" y="3317677"/>
            <a:ext cx="3341013" cy="1532096"/>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Use service accounts for automated workflows and avoid using user accounts for automation.</a:t>
            </a:r>
            <a:endParaRPr lang="en-US" sz="1850" dirty="0"/>
          </a:p>
        </p:txBody>
      </p:sp>
      <p:sp>
        <p:nvSpPr>
          <p:cNvPr id="13" name="Text 11"/>
          <p:cNvSpPr/>
          <p:nvPr/>
        </p:nvSpPr>
        <p:spPr>
          <a:xfrm>
            <a:off x="1615559" y="5410795"/>
            <a:ext cx="4697135"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Audit &amp; Group Management</a:t>
            </a:r>
            <a:endParaRPr lang="en-US" sz="2200" dirty="0"/>
          </a:p>
        </p:txBody>
      </p:sp>
      <p:sp>
        <p:nvSpPr>
          <p:cNvPr id="14" name="Text 12"/>
          <p:cNvSpPr/>
          <p:nvPr/>
        </p:nvSpPr>
        <p:spPr>
          <a:xfrm>
            <a:off x="1615559" y="5906333"/>
            <a:ext cx="5550098" cy="766048"/>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Enable Cloud Audit Logs for monitoring and use groups to simplify role management for multiple users.</a:t>
            </a:r>
            <a:endParaRPr lang="en-US" sz="1850" dirty="0"/>
          </a:p>
        </p:txBody>
      </p:sp>
      <p:sp>
        <p:nvSpPr>
          <p:cNvPr id="16" name="Text 14"/>
          <p:cNvSpPr/>
          <p:nvPr/>
        </p:nvSpPr>
        <p:spPr>
          <a:xfrm>
            <a:off x="8242697" y="5410795"/>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Regular Reviews</a:t>
            </a:r>
            <a:endParaRPr lang="en-US" sz="2200" dirty="0"/>
          </a:p>
        </p:txBody>
      </p:sp>
      <p:sp>
        <p:nvSpPr>
          <p:cNvPr id="17" name="Text 15"/>
          <p:cNvSpPr/>
          <p:nvPr/>
        </p:nvSpPr>
        <p:spPr>
          <a:xfrm>
            <a:off x="8242697" y="5906333"/>
            <a:ext cx="5550098" cy="766048"/>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Periodically review and update IAM policies to maintain security posture.</a:t>
            </a:r>
            <a:endParaRPr lang="en-US" sz="1850" dirty="0"/>
          </a:p>
        </p:txBody>
      </p:sp>
      <p:pic>
        <p:nvPicPr>
          <p:cNvPr id="19" name="Picture 18">
            <a:extLst>
              <a:ext uri="{FF2B5EF4-FFF2-40B4-BE49-F238E27FC236}">
                <a16:creationId xmlns:a16="http://schemas.microsoft.com/office/drawing/2014/main" id="{39B3836D-DFC1-A00F-A0A9-97480001ADA6}"/>
              </a:ext>
            </a:extLst>
          </p:cNvPr>
          <p:cNvPicPr>
            <a:picLocks noChangeAspect="1"/>
          </p:cNvPicPr>
          <p:nvPr/>
        </p:nvPicPr>
        <p:blipFill>
          <a:blip r:embed="rId3"/>
          <a:srcRect t="47968" r="79573" b="33415"/>
          <a:stretch/>
        </p:blipFill>
        <p:spPr>
          <a:xfrm>
            <a:off x="354777" y="2739866"/>
            <a:ext cx="1260782" cy="1149072"/>
          </a:xfrm>
          <a:prstGeom prst="rect">
            <a:avLst/>
          </a:prstGeom>
        </p:spPr>
      </p:pic>
      <p:pic>
        <p:nvPicPr>
          <p:cNvPr id="21" name="Picture 20">
            <a:extLst>
              <a:ext uri="{FF2B5EF4-FFF2-40B4-BE49-F238E27FC236}">
                <a16:creationId xmlns:a16="http://schemas.microsoft.com/office/drawing/2014/main" id="{F19B1E78-1559-E9A2-43A6-98EBED305539}"/>
              </a:ext>
            </a:extLst>
          </p:cNvPr>
          <p:cNvPicPr>
            <a:picLocks noChangeAspect="1"/>
          </p:cNvPicPr>
          <p:nvPr/>
        </p:nvPicPr>
        <p:blipFill>
          <a:blip r:embed="rId3"/>
          <a:srcRect l="24976" t="50001" r="55393" b="34251"/>
          <a:stretch/>
        </p:blipFill>
        <p:spPr>
          <a:xfrm>
            <a:off x="4671059" y="2841035"/>
            <a:ext cx="1334228" cy="1070312"/>
          </a:xfrm>
          <a:prstGeom prst="rect">
            <a:avLst/>
          </a:prstGeom>
        </p:spPr>
      </p:pic>
      <p:pic>
        <p:nvPicPr>
          <p:cNvPr id="23" name="Picture 22">
            <a:extLst>
              <a:ext uri="{FF2B5EF4-FFF2-40B4-BE49-F238E27FC236}">
                <a16:creationId xmlns:a16="http://schemas.microsoft.com/office/drawing/2014/main" id="{655D3700-51FB-FEE3-5919-D881DF6441B0}"/>
              </a:ext>
            </a:extLst>
          </p:cNvPr>
          <p:cNvPicPr>
            <a:picLocks noChangeAspect="1"/>
          </p:cNvPicPr>
          <p:nvPr/>
        </p:nvPicPr>
        <p:blipFill>
          <a:blip r:embed="rId3"/>
          <a:srcRect l="55285" t="49041" r="28788" b="34252"/>
          <a:stretch/>
        </p:blipFill>
        <p:spPr>
          <a:xfrm>
            <a:off x="9605811" y="2874021"/>
            <a:ext cx="845852" cy="887312"/>
          </a:xfrm>
          <a:prstGeom prst="rect">
            <a:avLst/>
          </a:prstGeom>
        </p:spPr>
      </p:pic>
      <p:pic>
        <p:nvPicPr>
          <p:cNvPr id="25" name="Picture 24">
            <a:extLst>
              <a:ext uri="{FF2B5EF4-FFF2-40B4-BE49-F238E27FC236}">
                <a16:creationId xmlns:a16="http://schemas.microsoft.com/office/drawing/2014/main" id="{5E15383C-30EA-16A8-C152-105703B6CCE6}"/>
              </a:ext>
            </a:extLst>
          </p:cNvPr>
          <p:cNvPicPr>
            <a:picLocks noChangeAspect="1"/>
          </p:cNvPicPr>
          <p:nvPr/>
        </p:nvPicPr>
        <p:blipFill>
          <a:blip r:embed="rId3"/>
          <a:srcRect l="76829" t="47255" r="2218" b="34128"/>
          <a:stretch/>
        </p:blipFill>
        <p:spPr>
          <a:xfrm>
            <a:off x="535539" y="5410795"/>
            <a:ext cx="1071078" cy="951667"/>
          </a:xfrm>
          <a:prstGeom prst="rect">
            <a:avLst/>
          </a:prstGeom>
        </p:spPr>
      </p:pic>
      <p:pic>
        <p:nvPicPr>
          <p:cNvPr id="29" name="Picture 28">
            <a:extLst>
              <a:ext uri="{FF2B5EF4-FFF2-40B4-BE49-F238E27FC236}">
                <a16:creationId xmlns:a16="http://schemas.microsoft.com/office/drawing/2014/main" id="{3310FA82-CC64-080E-967B-E7E445466310}"/>
              </a:ext>
            </a:extLst>
          </p:cNvPr>
          <p:cNvPicPr>
            <a:picLocks noChangeAspect="1"/>
          </p:cNvPicPr>
          <p:nvPr/>
        </p:nvPicPr>
        <p:blipFill>
          <a:blip r:embed="rId3"/>
          <a:srcRect l="52002" t="76938" r="26006" b="6395"/>
          <a:stretch/>
        </p:blipFill>
        <p:spPr>
          <a:xfrm>
            <a:off x="7061942" y="5355789"/>
            <a:ext cx="1255766" cy="951666"/>
          </a:xfrm>
          <a:prstGeom prst="rect">
            <a:avLst/>
          </a:prstGeom>
        </p:spPr>
      </p:pic>
      <p:pic>
        <p:nvPicPr>
          <p:cNvPr id="30" name="Picture 29">
            <a:extLst>
              <a:ext uri="{FF2B5EF4-FFF2-40B4-BE49-F238E27FC236}">
                <a16:creationId xmlns:a16="http://schemas.microsoft.com/office/drawing/2014/main" id="{24D9C634-0D97-2803-D2DB-95901345CDB9}"/>
              </a:ext>
            </a:extLst>
          </p:cNvPr>
          <p:cNvPicPr>
            <a:picLocks noChangeAspect="1"/>
          </p:cNvPicPr>
          <p:nvPr/>
        </p:nvPicPr>
        <p:blipFill>
          <a:blip r:embed="rId4"/>
          <a:srcRect r="900" b="3768"/>
          <a:stretch/>
        </p:blipFill>
        <p:spPr>
          <a:xfrm>
            <a:off x="253197" y="376557"/>
            <a:ext cx="14377203" cy="785304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86ADAD72-3AE8-45C1-7C96-83B6AFFDFE87}"/>
              </a:ext>
            </a:extLst>
          </p:cNvPr>
          <p:cNvPicPr>
            <a:picLocks noChangeAspect="1"/>
          </p:cNvPicPr>
          <p:nvPr/>
        </p:nvPicPr>
        <p:blipFill>
          <a:blip r:embed="rId3"/>
          <a:srcRect r="900" b="3768"/>
          <a:stretch/>
        </p:blipFill>
        <p:spPr>
          <a:xfrm>
            <a:off x="253197" y="376557"/>
            <a:ext cx="14377203" cy="7853044"/>
          </a:xfrm>
          <a:prstGeom prst="rect">
            <a:avLst/>
          </a:prstGeom>
        </p:spPr>
      </p:pic>
      <p:pic>
        <p:nvPicPr>
          <p:cNvPr id="2" name="Image 0" descr="preencoded.png"/>
          <p:cNvPicPr>
            <a:picLocks noChangeAspect="1"/>
          </p:cNvPicPr>
          <p:nvPr/>
        </p:nvPicPr>
        <p:blipFill>
          <a:blip r:embed="rId4"/>
          <a:stretch>
            <a:fillRect/>
          </a:stretch>
        </p:blipFill>
        <p:spPr>
          <a:xfrm>
            <a:off x="0" y="0"/>
            <a:ext cx="5486400" cy="8231505"/>
          </a:xfrm>
          <a:prstGeom prst="rect">
            <a:avLst/>
          </a:prstGeom>
        </p:spPr>
      </p:pic>
      <p:sp>
        <p:nvSpPr>
          <p:cNvPr id="3" name="Text 0"/>
          <p:cNvSpPr/>
          <p:nvPr/>
        </p:nvSpPr>
        <p:spPr>
          <a:xfrm>
            <a:off x="6260425" y="608171"/>
            <a:ext cx="5204222" cy="650438"/>
          </a:xfrm>
          <a:prstGeom prst="rect">
            <a:avLst/>
          </a:prstGeom>
          <a:noFill/>
          <a:ln/>
        </p:spPr>
        <p:txBody>
          <a:bodyPr wrap="none" lIns="0" tIns="0" rIns="0" bIns="0" rtlCol="0" anchor="t"/>
          <a:lstStyle/>
          <a:p>
            <a:pPr marL="0" indent="0" algn="l">
              <a:lnSpc>
                <a:spcPts val="5100"/>
              </a:lnSpc>
              <a:buNone/>
            </a:pPr>
            <a:r>
              <a:rPr lang="en-US" sz="4050" dirty="0">
                <a:solidFill>
                  <a:srgbClr val="FFFFFF"/>
                </a:solidFill>
                <a:latin typeface="Unbounded" pitchFamily="34" charset="0"/>
                <a:ea typeface="Unbounded" pitchFamily="34" charset="-122"/>
                <a:cs typeface="Unbounded" pitchFamily="34" charset="-120"/>
              </a:rPr>
              <a:t>Key Takeaways</a:t>
            </a:r>
            <a:endParaRPr lang="en-US" sz="4050" dirty="0"/>
          </a:p>
        </p:txBody>
      </p:sp>
      <p:sp>
        <p:nvSpPr>
          <p:cNvPr id="4" name="Shape 1"/>
          <p:cNvSpPr/>
          <p:nvPr/>
        </p:nvSpPr>
        <p:spPr>
          <a:xfrm>
            <a:off x="6260425" y="1590318"/>
            <a:ext cx="7595949" cy="1607820"/>
          </a:xfrm>
          <a:prstGeom prst="roundRect">
            <a:avLst>
              <a:gd name="adj" fmla="val 2064"/>
            </a:avLst>
          </a:prstGeom>
          <a:solidFill>
            <a:srgbClr val="304755"/>
          </a:solidFill>
          <a:ln/>
        </p:spPr>
      </p:sp>
      <p:sp>
        <p:nvSpPr>
          <p:cNvPr id="5" name="Text 2"/>
          <p:cNvSpPr/>
          <p:nvPr/>
        </p:nvSpPr>
        <p:spPr>
          <a:xfrm>
            <a:off x="6481524" y="1811417"/>
            <a:ext cx="2890361" cy="325279"/>
          </a:xfrm>
          <a:prstGeom prst="rect">
            <a:avLst/>
          </a:prstGeom>
          <a:noFill/>
          <a:ln/>
        </p:spPr>
        <p:txBody>
          <a:bodyPr wrap="none" lIns="0" tIns="0" rIns="0" bIns="0" rtlCol="0" anchor="t"/>
          <a:lstStyle/>
          <a:p>
            <a:pPr marL="0" indent="0" algn="l">
              <a:lnSpc>
                <a:spcPts val="2550"/>
              </a:lnSpc>
              <a:buNone/>
            </a:pPr>
            <a:r>
              <a:rPr lang="en-US" sz="2000" dirty="0">
                <a:solidFill>
                  <a:srgbClr val="CAD6DE"/>
                </a:solidFill>
                <a:latin typeface="Unbounded" pitchFamily="34" charset="0"/>
                <a:ea typeface="Unbounded" pitchFamily="34" charset="-122"/>
                <a:cs typeface="Unbounded" pitchFamily="34" charset="-120"/>
              </a:rPr>
              <a:t>Hierarchical Model</a:t>
            </a:r>
            <a:endParaRPr lang="en-US" sz="2000" dirty="0"/>
          </a:p>
        </p:txBody>
      </p:sp>
      <p:sp>
        <p:nvSpPr>
          <p:cNvPr id="6" name="Text 3"/>
          <p:cNvSpPr/>
          <p:nvPr/>
        </p:nvSpPr>
        <p:spPr>
          <a:xfrm>
            <a:off x="6481524" y="2269331"/>
            <a:ext cx="7153751" cy="707707"/>
          </a:xfrm>
          <a:prstGeom prst="rect">
            <a:avLst/>
          </a:prstGeom>
          <a:noFill/>
          <a:ln/>
        </p:spPr>
        <p:txBody>
          <a:bodyPr wrap="square" lIns="0" tIns="0" rIns="0" bIns="0" rtlCol="0" anchor="t"/>
          <a:lstStyle/>
          <a:p>
            <a:pPr marL="0" indent="0" algn="l">
              <a:lnSpc>
                <a:spcPts val="2750"/>
              </a:lnSpc>
              <a:buNone/>
            </a:pPr>
            <a:r>
              <a:rPr lang="en-US" sz="1700" dirty="0">
                <a:solidFill>
                  <a:srgbClr val="CAD6DE"/>
                </a:solidFill>
                <a:latin typeface="Cabin" pitchFamily="34" charset="0"/>
                <a:ea typeface="Cabin" pitchFamily="34" charset="-122"/>
                <a:cs typeface="Cabin" pitchFamily="34" charset="-120"/>
              </a:rPr>
              <a:t>Resources are structured in Organization, Folders, Projects, and Resources layers.</a:t>
            </a:r>
            <a:endParaRPr lang="en-US" sz="1700" dirty="0"/>
          </a:p>
        </p:txBody>
      </p:sp>
      <p:sp>
        <p:nvSpPr>
          <p:cNvPr id="7" name="Shape 4"/>
          <p:cNvSpPr/>
          <p:nvPr/>
        </p:nvSpPr>
        <p:spPr>
          <a:xfrm>
            <a:off x="6260425" y="3419237"/>
            <a:ext cx="7595949" cy="1253966"/>
          </a:xfrm>
          <a:prstGeom prst="roundRect">
            <a:avLst>
              <a:gd name="adj" fmla="val 2646"/>
            </a:avLst>
          </a:prstGeom>
          <a:solidFill>
            <a:srgbClr val="304755"/>
          </a:solidFill>
          <a:ln/>
        </p:spPr>
      </p:sp>
      <p:sp>
        <p:nvSpPr>
          <p:cNvPr id="8" name="Text 5"/>
          <p:cNvSpPr/>
          <p:nvPr/>
        </p:nvSpPr>
        <p:spPr>
          <a:xfrm>
            <a:off x="6481524" y="3640336"/>
            <a:ext cx="2602111" cy="325279"/>
          </a:xfrm>
          <a:prstGeom prst="rect">
            <a:avLst/>
          </a:prstGeom>
          <a:noFill/>
          <a:ln/>
        </p:spPr>
        <p:txBody>
          <a:bodyPr wrap="none" lIns="0" tIns="0" rIns="0" bIns="0" rtlCol="0" anchor="t"/>
          <a:lstStyle/>
          <a:p>
            <a:pPr marL="0" indent="0" algn="l">
              <a:lnSpc>
                <a:spcPts val="2550"/>
              </a:lnSpc>
              <a:buNone/>
            </a:pPr>
            <a:r>
              <a:rPr lang="en-US" sz="2000" dirty="0">
                <a:solidFill>
                  <a:srgbClr val="CAD6DE"/>
                </a:solidFill>
                <a:latin typeface="Unbounded" pitchFamily="34" charset="0"/>
                <a:ea typeface="Unbounded" pitchFamily="34" charset="-122"/>
                <a:cs typeface="Unbounded" pitchFamily="34" charset="-120"/>
              </a:rPr>
              <a:t>Identity Types</a:t>
            </a:r>
            <a:endParaRPr lang="en-US" sz="2000" dirty="0"/>
          </a:p>
        </p:txBody>
      </p:sp>
      <p:sp>
        <p:nvSpPr>
          <p:cNvPr id="9" name="Text 6"/>
          <p:cNvSpPr/>
          <p:nvPr/>
        </p:nvSpPr>
        <p:spPr>
          <a:xfrm>
            <a:off x="6481524" y="4098250"/>
            <a:ext cx="7153751" cy="353854"/>
          </a:xfrm>
          <a:prstGeom prst="rect">
            <a:avLst/>
          </a:prstGeom>
          <a:noFill/>
          <a:ln/>
        </p:spPr>
        <p:txBody>
          <a:bodyPr wrap="none" lIns="0" tIns="0" rIns="0" bIns="0" rtlCol="0" anchor="t"/>
          <a:lstStyle/>
          <a:p>
            <a:pPr marL="0" indent="0" algn="l">
              <a:lnSpc>
                <a:spcPts val="2750"/>
              </a:lnSpc>
              <a:buNone/>
            </a:pPr>
            <a:r>
              <a:rPr lang="en-US" sz="1700" dirty="0">
                <a:solidFill>
                  <a:srgbClr val="CAD6DE"/>
                </a:solidFill>
                <a:latin typeface="Cabin" pitchFamily="34" charset="0"/>
                <a:ea typeface="Cabin" pitchFamily="34" charset="-122"/>
                <a:cs typeface="Cabin" pitchFamily="34" charset="-120"/>
              </a:rPr>
              <a:t>Supports users, service accounts, groups, and enterprise identities.</a:t>
            </a:r>
            <a:endParaRPr lang="en-US" sz="1700" dirty="0"/>
          </a:p>
        </p:txBody>
      </p:sp>
      <p:sp>
        <p:nvSpPr>
          <p:cNvPr id="10" name="Shape 7"/>
          <p:cNvSpPr/>
          <p:nvPr/>
        </p:nvSpPr>
        <p:spPr>
          <a:xfrm>
            <a:off x="6260425" y="4894302"/>
            <a:ext cx="7595949" cy="1253966"/>
          </a:xfrm>
          <a:prstGeom prst="roundRect">
            <a:avLst>
              <a:gd name="adj" fmla="val 2646"/>
            </a:avLst>
          </a:prstGeom>
          <a:solidFill>
            <a:srgbClr val="304755"/>
          </a:solidFill>
          <a:ln/>
        </p:spPr>
      </p:sp>
      <p:sp>
        <p:nvSpPr>
          <p:cNvPr id="11" name="Text 8"/>
          <p:cNvSpPr/>
          <p:nvPr/>
        </p:nvSpPr>
        <p:spPr>
          <a:xfrm>
            <a:off x="6481524" y="5115401"/>
            <a:ext cx="3121462" cy="325279"/>
          </a:xfrm>
          <a:prstGeom prst="rect">
            <a:avLst/>
          </a:prstGeom>
          <a:noFill/>
          <a:ln/>
        </p:spPr>
        <p:txBody>
          <a:bodyPr wrap="none" lIns="0" tIns="0" rIns="0" bIns="0" rtlCol="0" anchor="t"/>
          <a:lstStyle/>
          <a:p>
            <a:pPr marL="0" indent="0" algn="l">
              <a:lnSpc>
                <a:spcPts val="2550"/>
              </a:lnSpc>
              <a:buNone/>
            </a:pPr>
            <a:r>
              <a:rPr lang="en-US" sz="2000" dirty="0">
                <a:solidFill>
                  <a:srgbClr val="CAD6DE"/>
                </a:solidFill>
                <a:latin typeface="Unbounded" pitchFamily="34" charset="0"/>
                <a:ea typeface="Unbounded" pitchFamily="34" charset="-122"/>
                <a:cs typeface="Unbounded" pitchFamily="34" charset="-120"/>
              </a:rPr>
              <a:t>Fine-grained Access</a:t>
            </a:r>
            <a:endParaRPr lang="en-US" sz="2000" dirty="0"/>
          </a:p>
        </p:txBody>
      </p:sp>
      <p:sp>
        <p:nvSpPr>
          <p:cNvPr id="12" name="Text 9"/>
          <p:cNvSpPr/>
          <p:nvPr/>
        </p:nvSpPr>
        <p:spPr>
          <a:xfrm>
            <a:off x="6481524" y="5573316"/>
            <a:ext cx="7153751" cy="353854"/>
          </a:xfrm>
          <a:prstGeom prst="rect">
            <a:avLst/>
          </a:prstGeom>
          <a:noFill/>
          <a:ln/>
        </p:spPr>
        <p:txBody>
          <a:bodyPr wrap="none" lIns="0" tIns="0" rIns="0" bIns="0" rtlCol="0" anchor="t"/>
          <a:lstStyle/>
          <a:p>
            <a:pPr marL="0" indent="0" algn="l">
              <a:lnSpc>
                <a:spcPts val="2750"/>
              </a:lnSpc>
              <a:buNone/>
            </a:pPr>
            <a:r>
              <a:rPr lang="en-US" sz="1700" dirty="0">
                <a:solidFill>
                  <a:srgbClr val="CAD6DE"/>
                </a:solidFill>
                <a:latin typeface="Cabin" pitchFamily="34" charset="0"/>
                <a:ea typeface="Cabin" pitchFamily="34" charset="-122"/>
                <a:cs typeface="Cabin" pitchFamily="34" charset="-120"/>
              </a:rPr>
              <a:t>IAM roles provide flexible, detailed permission control across resources.</a:t>
            </a:r>
            <a:endParaRPr lang="en-US" sz="1700" dirty="0"/>
          </a:p>
        </p:txBody>
      </p:sp>
      <p:sp>
        <p:nvSpPr>
          <p:cNvPr id="13" name="Shape 10"/>
          <p:cNvSpPr/>
          <p:nvPr/>
        </p:nvSpPr>
        <p:spPr>
          <a:xfrm>
            <a:off x="6260425" y="6369368"/>
            <a:ext cx="7595949" cy="1253966"/>
          </a:xfrm>
          <a:prstGeom prst="roundRect">
            <a:avLst>
              <a:gd name="adj" fmla="val 2646"/>
            </a:avLst>
          </a:prstGeom>
          <a:solidFill>
            <a:srgbClr val="304755"/>
          </a:solidFill>
          <a:ln/>
        </p:spPr>
      </p:sp>
      <p:sp>
        <p:nvSpPr>
          <p:cNvPr id="14" name="Text 11"/>
          <p:cNvSpPr/>
          <p:nvPr/>
        </p:nvSpPr>
        <p:spPr>
          <a:xfrm>
            <a:off x="6481524" y="6590467"/>
            <a:ext cx="2623780" cy="325279"/>
          </a:xfrm>
          <a:prstGeom prst="rect">
            <a:avLst/>
          </a:prstGeom>
          <a:noFill/>
          <a:ln/>
        </p:spPr>
        <p:txBody>
          <a:bodyPr wrap="none" lIns="0" tIns="0" rIns="0" bIns="0" rtlCol="0" anchor="t"/>
          <a:lstStyle/>
          <a:p>
            <a:pPr marL="0" indent="0" algn="l">
              <a:lnSpc>
                <a:spcPts val="2550"/>
              </a:lnSpc>
              <a:buNone/>
            </a:pPr>
            <a:r>
              <a:rPr lang="en-US" sz="2000" dirty="0">
                <a:solidFill>
                  <a:srgbClr val="CAD6DE"/>
                </a:solidFill>
                <a:latin typeface="Unbounded" pitchFamily="34" charset="0"/>
                <a:ea typeface="Unbounded" pitchFamily="34" charset="-122"/>
                <a:cs typeface="Unbounded" pitchFamily="34" charset="-120"/>
              </a:rPr>
              <a:t>Projects as Units</a:t>
            </a:r>
            <a:endParaRPr lang="en-US" sz="2000" dirty="0"/>
          </a:p>
        </p:txBody>
      </p:sp>
      <p:sp>
        <p:nvSpPr>
          <p:cNvPr id="15" name="Text 12"/>
          <p:cNvSpPr/>
          <p:nvPr/>
        </p:nvSpPr>
        <p:spPr>
          <a:xfrm>
            <a:off x="6481524" y="7048381"/>
            <a:ext cx="7153751" cy="353854"/>
          </a:xfrm>
          <a:prstGeom prst="rect">
            <a:avLst/>
          </a:prstGeom>
          <a:noFill/>
          <a:ln/>
        </p:spPr>
        <p:txBody>
          <a:bodyPr wrap="none" lIns="0" tIns="0" rIns="0" bIns="0" rtlCol="0" anchor="t"/>
          <a:lstStyle/>
          <a:p>
            <a:pPr marL="0" indent="0" algn="l">
              <a:lnSpc>
                <a:spcPts val="2750"/>
              </a:lnSpc>
              <a:buNone/>
            </a:pPr>
            <a:r>
              <a:rPr lang="en-US" sz="1700" dirty="0">
                <a:solidFill>
                  <a:srgbClr val="CAD6DE"/>
                </a:solidFill>
                <a:latin typeface="Cabin" pitchFamily="34" charset="0"/>
                <a:ea typeface="Cabin" pitchFamily="34" charset="-122"/>
                <a:cs typeface="Cabin" pitchFamily="34" charset="-120"/>
              </a:rPr>
              <a:t>Projects centralize billing, API enablement, and access control.</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19AC782-A438-94E2-D22C-F2AA041D5FA5}"/>
              </a:ext>
            </a:extLst>
          </p:cNvPr>
          <p:cNvPicPr>
            <a:picLocks noChangeAspect="1"/>
          </p:cNvPicPr>
          <p:nvPr/>
        </p:nvPicPr>
        <p:blipFill>
          <a:blip r:embed="rId3"/>
          <a:srcRect r="900" b="3768"/>
          <a:stretch/>
        </p:blipFill>
        <p:spPr>
          <a:xfrm>
            <a:off x="253197" y="376557"/>
            <a:ext cx="14377203" cy="7853044"/>
          </a:xfrm>
          <a:prstGeom prst="rect">
            <a:avLst/>
          </a:prstGeom>
        </p:spPr>
      </p:pic>
      <p:pic>
        <p:nvPicPr>
          <p:cNvPr id="2" name="Image 0" descr="preencoded.png"/>
          <p:cNvPicPr>
            <a:picLocks noChangeAspect="1"/>
          </p:cNvPicPr>
          <p:nvPr/>
        </p:nvPicPr>
        <p:blipFill>
          <a:blip r:embed="rId4"/>
          <a:stretch>
            <a:fillRect/>
          </a:stretch>
        </p:blipFill>
        <p:spPr>
          <a:xfrm>
            <a:off x="0" y="0"/>
            <a:ext cx="14630400" cy="2992160"/>
          </a:xfrm>
          <a:prstGeom prst="rect">
            <a:avLst/>
          </a:prstGeom>
        </p:spPr>
      </p:pic>
      <p:sp>
        <p:nvSpPr>
          <p:cNvPr id="3" name="Text 0"/>
          <p:cNvSpPr/>
          <p:nvPr/>
        </p:nvSpPr>
        <p:spPr>
          <a:xfrm>
            <a:off x="837724" y="4024432"/>
            <a:ext cx="9186386" cy="704017"/>
          </a:xfrm>
          <a:prstGeom prst="rect">
            <a:avLst/>
          </a:prstGeom>
          <a:noFill/>
          <a:ln/>
        </p:spPr>
        <p:txBody>
          <a:bodyPr wrap="none" lIns="0" tIns="0" rIns="0" bIns="0" rtlCol="0" anchor="t"/>
          <a:lstStyle/>
          <a:p>
            <a:pPr marL="0" indent="0" algn="l">
              <a:lnSpc>
                <a:spcPts val="5500"/>
              </a:lnSpc>
              <a:buNone/>
            </a:pPr>
            <a:r>
              <a:rPr lang="en-US" sz="4400" dirty="0">
                <a:solidFill>
                  <a:srgbClr val="FFFFFF"/>
                </a:solidFill>
                <a:latin typeface="Unbounded" pitchFamily="34" charset="0"/>
                <a:ea typeface="Unbounded" pitchFamily="34" charset="-122"/>
                <a:cs typeface="Unbounded" pitchFamily="34" charset="-120"/>
              </a:rPr>
              <a:t>Additional Support Options</a:t>
            </a:r>
            <a:endParaRPr lang="en-US" sz="4400" dirty="0"/>
          </a:p>
        </p:txBody>
      </p:sp>
      <p:sp>
        <p:nvSpPr>
          <p:cNvPr id="5" name="Text 2"/>
          <p:cNvSpPr/>
          <p:nvPr/>
        </p:nvSpPr>
        <p:spPr>
          <a:xfrm>
            <a:off x="1615559" y="5169694"/>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.pptx Delivery</a:t>
            </a:r>
            <a:endParaRPr lang="en-US" sz="2200" dirty="0"/>
          </a:p>
        </p:txBody>
      </p:sp>
      <p:sp>
        <p:nvSpPr>
          <p:cNvPr id="6" name="Text 3"/>
          <p:cNvSpPr/>
          <p:nvPr/>
        </p:nvSpPr>
        <p:spPr>
          <a:xfrm>
            <a:off x="1615559" y="5665232"/>
            <a:ext cx="3341013" cy="1532096"/>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We can provide the entire presentation in editable PowerPoint format for your convenience.</a:t>
            </a:r>
            <a:endParaRPr lang="en-US" sz="1850" dirty="0"/>
          </a:p>
        </p:txBody>
      </p:sp>
      <p:sp>
        <p:nvSpPr>
          <p:cNvPr id="8" name="Text 5"/>
          <p:cNvSpPr/>
          <p:nvPr/>
        </p:nvSpPr>
        <p:spPr>
          <a:xfrm>
            <a:off x="6033611" y="5169694"/>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Visual Diagrams</a:t>
            </a:r>
            <a:endParaRPr lang="en-US" sz="2200" dirty="0"/>
          </a:p>
        </p:txBody>
      </p:sp>
      <p:sp>
        <p:nvSpPr>
          <p:cNvPr id="9" name="Text 6"/>
          <p:cNvSpPr/>
          <p:nvPr/>
        </p:nvSpPr>
        <p:spPr>
          <a:xfrm>
            <a:off x="6033611" y="5665232"/>
            <a:ext cx="3341013" cy="1149072"/>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Include detailed diagrams for complex structures to aid understanding.</a:t>
            </a:r>
            <a:endParaRPr lang="en-US" sz="1850" dirty="0"/>
          </a:p>
        </p:txBody>
      </p:sp>
      <p:sp>
        <p:nvSpPr>
          <p:cNvPr id="11" name="Text 8"/>
          <p:cNvSpPr/>
          <p:nvPr/>
        </p:nvSpPr>
        <p:spPr>
          <a:xfrm>
            <a:off x="10451663" y="5169694"/>
            <a:ext cx="3238262" cy="351949"/>
          </a:xfrm>
          <a:prstGeom prst="rect">
            <a:avLst/>
          </a:prstGeom>
          <a:noFill/>
          <a:ln/>
        </p:spPr>
        <p:txBody>
          <a:bodyPr wrap="none" lIns="0" tIns="0" rIns="0" bIns="0" rtlCol="0" anchor="t"/>
          <a:lstStyle/>
          <a:p>
            <a:pPr marL="0" indent="0" algn="l">
              <a:lnSpc>
                <a:spcPts val="2750"/>
              </a:lnSpc>
              <a:buNone/>
            </a:pPr>
            <a:r>
              <a:rPr lang="en-US" sz="2200" dirty="0">
                <a:solidFill>
                  <a:srgbClr val="CAD6DE"/>
                </a:solidFill>
                <a:latin typeface="Unbounded" pitchFamily="34" charset="0"/>
                <a:ea typeface="Unbounded" pitchFamily="34" charset="-122"/>
                <a:cs typeface="Unbounded" pitchFamily="34" charset="-120"/>
              </a:rPr>
              <a:t>Engagement Slides</a:t>
            </a:r>
            <a:endParaRPr lang="en-US" sz="2200" dirty="0"/>
          </a:p>
        </p:txBody>
      </p:sp>
      <p:sp>
        <p:nvSpPr>
          <p:cNvPr id="12" name="Text 9"/>
          <p:cNvSpPr/>
          <p:nvPr/>
        </p:nvSpPr>
        <p:spPr>
          <a:xfrm>
            <a:off x="10451663" y="5665232"/>
            <a:ext cx="3341013" cy="1149072"/>
          </a:xfrm>
          <a:prstGeom prst="rect">
            <a:avLst/>
          </a:prstGeom>
          <a:noFill/>
          <a:ln/>
        </p:spPr>
        <p:txBody>
          <a:bodyPr wrap="square" lIns="0" tIns="0" rIns="0" bIns="0" rtlCol="0" anchor="t"/>
          <a:lstStyle/>
          <a:p>
            <a:pPr marL="0" indent="0" algn="l">
              <a:lnSpc>
                <a:spcPts val="3000"/>
              </a:lnSpc>
              <a:buNone/>
            </a:pPr>
            <a:r>
              <a:rPr lang="en-US" sz="1850" dirty="0">
                <a:solidFill>
                  <a:srgbClr val="CAD6DE"/>
                </a:solidFill>
                <a:latin typeface="Cabin" pitchFamily="34" charset="0"/>
                <a:ea typeface="Cabin" pitchFamily="34" charset="-122"/>
                <a:cs typeface="Cabin" pitchFamily="34" charset="-120"/>
              </a:rPr>
              <a:t>Add quiz-based or case study slides to improve interactivity and retention.</a:t>
            </a:r>
            <a:endParaRPr lang="en-US" sz="1850" dirty="0"/>
          </a:p>
        </p:txBody>
      </p:sp>
      <p:pic>
        <p:nvPicPr>
          <p:cNvPr id="15" name="Picture 14">
            <a:extLst>
              <a:ext uri="{FF2B5EF4-FFF2-40B4-BE49-F238E27FC236}">
                <a16:creationId xmlns:a16="http://schemas.microsoft.com/office/drawing/2014/main" id="{87F9295D-19B9-D2AB-8766-BDF0BD9292AE}"/>
              </a:ext>
            </a:extLst>
          </p:cNvPr>
          <p:cNvPicPr>
            <a:picLocks noChangeAspect="1"/>
          </p:cNvPicPr>
          <p:nvPr/>
        </p:nvPicPr>
        <p:blipFill>
          <a:blip r:embed="rId5"/>
          <a:srcRect t="21815" r="73035" b="42544"/>
          <a:stretch/>
        </p:blipFill>
        <p:spPr>
          <a:xfrm>
            <a:off x="642677" y="5016877"/>
            <a:ext cx="868725" cy="1148244"/>
          </a:xfrm>
          <a:prstGeom prst="rect">
            <a:avLst/>
          </a:prstGeom>
        </p:spPr>
      </p:pic>
      <p:pic>
        <p:nvPicPr>
          <p:cNvPr id="17" name="Picture 16">
            <a:extLst>
              <a:ext uri="{FF2B5EF4-FFF2-40B4-BE49-F238E27FC236}">
                <a16:creationId xmlns:a16="http://schemas.microsoft.com/office/drawing/2014/main" id="{F4E2EFD7-A41B-AB7A-69C7-00494A0AB549}"/>
              </a:ext>
            </a:extLst>
          </p:cNvPr>
          <p:cNvPicPr>
            <a:picLocks noChangeAspect="1"/>
          </p:cNvPicPr>
          <p:nvPr/>
        </p:nvPicPr>
        <p:blipFill>
          <a:blip r:embed="rId5"/>
          <a:srcRect l="36314" t="27236" r="39160" b="42543"/>
          <a:stretch/>
        </p:blipFill>
        <p:spPr>
          <a:xfrm>
            <a:off x="5089405" y="5165342"/>
            <a:ext cx="811372" cy="999779"/>
          </a:xfrm>
          <a:prstGeom prst="rect">
            <a:avLst/>
          </a:prstGeom>
        </p:spPr>
      </p:pic>
      <p:pic>
        <p:nvPicPr>
          <p:cNvPr id="19" name="Picture 18">
            <a:extLst>
              <a:ext uri="{FF2B5EF4-FFF2-40B4-BE49-F238E27FC236}">
                <a16:creationId xmlns:a16="http://schemas.microsoft.com/office/drawing/2014/main" id="{FE95CE41-6ECF-C623-AF27-06C1094924E2}"/>
              </a:ext>
            </a:extLst>
          </p:cNvPr>
          <p:cNvPicPr>
            <a:picLocks noChangeAspect="1"/>
          </p:cNvPicPr>
          <p:nvPr/>
        </p:nvPicPr>
        <p:blipFill>
          <a:blip r:embed="rId5"/>
          <a:srcRect l="65780" t="26016" b="42544"/>
          <a:stretch/>
        </p:blipFill>
        <p:spPr>
          <a:xfrm>
            <a:off x="9119258" y="5165342"/>
            <a:ext cx="1249768" cy="114824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750225"/>
          </a:xfrm>
          <a:prstGeom prst="rect">
            <a:avLst/>
          </a:prstGeom>
        </p:spPr>
      </p:pic>
      <p:sp>
        <p:nvSpPr>
          <p:cNvPr id="3" name="Text 0"/>
          <p:cNvSpPr/>
          <p:nvPr/>
        </p:nvSpPr>
        <p:spPr>
          <a:xfrm>
            <a:off x="769977" y="3355181"/>
            <a:ext cx="8050054" cy="647105"/>
          </a:xfrm>
          <a:prstGeom prst="rect">
            <a:avLst/>
          </a:prstGeom>
          <a:noFill/>
          <a:ln/>
        </p:spPr>
        <p:txBody>
          <a:bodyPr wrap="none" lIns="0" tIns="0" rIns="0" bIns="0" rtlCol="0" anchor="t"/>
          <a:lstStyle/>
          <a:p>
            <a:pPr marL="0" indent="0" algn="l">
              <a:lnSpc>
                <a:spcPts val="5050"/>
              </a:lnSpc>
              <a:buNone/>
            </a:pPr>
            <a:r>
              <a:rPr lang="en-US" sz="4050" dirty="0">
                <a:solidFill>
                  <a:srgbClr val="FFFFFF"/>
                </a:solidFill>
                <a:latin typeface="Unbounded" pitchFamily="34" charset="0"/>
                <a:ea typeface="Unbounded" pitchFamily="34" charset="-122"/>
                <a:cs typeface="Unbounded" pitchFamily="34" charset="-120"/>
              </a:rPr>
              <a:t>Next Steps and Questions</a:t>
            </a:r>
            <a:endParaRPr lang="en-US" sz="4050" dirty="0"/>
          </a:p>
        </p:txBody>
      </p:sp>
      <p:pic>
        <p:nvPicPr>
          <p:cNvPr id="4" name="Image 1" descr="preencoded.png"/>
          <p:cNvPicPr>
            <a:picLocks noChangeAspect="1"/>
          </p:cNvPicPr>
          <p:nvPr/>
        </p:nvPicPr>
        <p:blipFill>
          <a:blip r:embed="rId4"/>
          <a:stretch>
            <a:fillRect/>
          </a:stretch>
        </p:blipFill>
        <p:spPr>
          <a:xfrm>
            <a:off x="769977" y="4332208"/>
            <a:ext cx="3272552" cy="879991"/>
          </a:xfrm>
          <a:prstGeom prst="rect">
            <a:avLst/>
          </a:prstGeom>
        </p:spPr>
      </p:pic>
      <p:sp>
        <p:nvSpPr>
          <p:cNvPr id="5" name="Text 1"/>
          <p:cNvSpPr/>
          <p:nvPr/>
        </p:nvSpPr>
        <p:spPr>
          <a:xfrm>
            <a:off x="989886" y="5542121"/>
            <a:ext cx="2588538" cy="323493"/>
          </a:xfrm>
          <a:prstGeom prst="rect">
            <a:avLst/>
          </a:prstGeom>
          <a:noFill/>
          <a:ln/>
        </p:spPr>
        <p:txBody>
          <a:bodyPr wrap="none" lIns="0" tIns="0" rIns="0" bIns="0" rtlCol="0" anchor="t"/>
          <a:lstStyle/>
          <a:p>
            <a:pPr marL="0" indent="0" algn="l">
              <a:lnSpc>
                <a:spcPts val="2500"/>
              </a:lnSpc>
              <a:buNone/>
            </a:pPr>
            <a:r>
              <a:rPr lang="en-US" sz="2000" dirty="0">
                <a:solidFill>
                  <a:srgbClr val="CAD6DE"/>
                </a:solidFill>
                <a:latin typeface="Unbounded" pitchFamily="34" charset="0"/>
                <a:ea typeface="Unbounded" pitchFamily="34" charset="-122"/>
                <a:cs typeface="Unbounded" pitchFamily="34" charset="-120"/>
              </a:rPr>
              <a:t>Review</a:t>
            </a:r>
            <a:endParaRPr lang="en-US" sz="2000" dirty="0"/>
          </a:p>
        </p:txBody>
      </p:sp>
      <p:sp>
        <p:nvSpPr>
          <p:cNvPr id="6" name="Text 2"/>
          <p:cNvSpPr/>
          <p:nvPr/>
        </p:nvSpPr>
        <p:spPr>
          <a:xfrm>
            <a:off x="989886" y="5997535"/>
            <a:ext cx="2832735" cy="1407795"/>
          </a:xfrm>
          <a:prstGeom prst="rect">
            <a:avLst/>
          </a:prstGeom>
          <a:noFill/>
          <a:ln/>
        </p:spPr>
        <p:txBody>
          <a:bodyPr wrap="square" lIns="0" tIns="0" rIns="0" bIns="0" rtlCol="0" anchor="t"/>
          <a:lstStyle/>
          <a:p>
            <a:pPr marL="0" indent="0" algn="l">
              <a:lnSpc>
                <a:spcPts val="2750"/>
              </a:lnSpc>
              <a:buNone/>
            </a:pPr>
            <a:r>
              <a:rPr lang="en-US" sz="1700" dirty="0">
                <a:solidFill>
                  <a:srgbClr val="CAD6DE"/>
                </a:solidFill>
                <a:latin typeface="Cabin" pitchFamily="34" charset="0"/>
                <a:ea typeface="Cabin" pitchFamily="34" charset="-122"/>
                <a:cs typeface="Cabin" pitchFamily="34" charset="-120"/>
              </a:rPr>
              <a:t>Evaluate current GCP organization and IAM configuration for alignment with best practices.</a:t>
            </a:r>
            <a:endParaRPr lang="en-US" sz="1700" dirty="0"/>
          </a:p>
        </p:txBody>
      </p:sp>
      <p:pic>
        <p:nvPicPr>
          <p:cNvPr id="7" name="Image 2" descr="preencoded.png"/>
          <p:cNvPicPr>
            <a:picLocks noChangeAspect="1"/>
          </p:cNvPicPr>
          <p:nvPr/>
        </p:nvPicPr>
        <p:blipFill>
          <a:blip r:embed="rId5"/>
          <a:stretch>
            <a:fillRect/>
          </a:stretch>
        </p:blipFill>
        <p:spPr>
          <a:xfrm>
            <a:off x="4042529" y="4332208"/>
            <a:ext cx="3272671" cy="879991"/>
          </a:xfrm>
          <a:prstGeom prst="rect">
            <a:avLst/>
          </a:prstGeom>
        </p:spPr>
      </p:pic>
      <p:sp>
        <p:nvSpPr>
          <p:cNvPr id="8" name="Text 3"/>
          <p:cNvSpPr/>
          <p:nvPr/>
        </p:nvSpPr>
        <p:spPr>
          <a:xfrm>
            <a:off x="4262438" y="5542121"/>
            <a:ext cx="2588538" cy="323493"/>
          </a:xfrm>
          <a:prstGeom prst="rect">
            <a:avLst/>
          </a:prstGeom>
          <a:noFill/>
          <a:ln/>
        </p:spPr>
        <p:txBody>
          <a:bodyPr wrap="none" lIns="0" tIns="0" rIns="0" bIns="0" rtlCol="0" anchor="t"/>
          <a:lstStyle/>
          <a:p>
            <a:pPr marL="0" indent="0" algn="l">
              <a:lnSpc>
                <a:spcPts val="2500"/>
              </a:lnSpc>
              <a:buNone/>
            </a:pPr>
            <a:r>
              <a:rPr lang="en-US" sz="2000" dirty="0">
                <a:solidFill>
                  <a:srgbClr val="CAD6DE"/>
                </a:solidFill>
                <a:latin typeface="Unbounded" pitchFamily="34" charset="0"/>
                <a:ea typeface="Unbounded" pitchFamily="34" charset="-122"/>
                <a:cs typeface="Unbounded" pitchFamily="34" charset="-120"/>
              </a:rPr>
              <a:t>Design</a:t>
            </a:r>
            <a:endParaRPr lang="en-US" sz="2000" dirty="0"/>
          </a:p>
        </p:txBody>
      </p:sp>
      <p:sp>
        <p:nvSpPr>
          <p:cNvPr id="9" name="Text 4"/>
          <p:cNvSpPr/>
          <p:nvPr/>
        </p:nvSpPr>
        <p:spPr>
          <a:xfrm>
            <a:off x="4262438" y="5997535"/>
            <a:ext cx="2832854" cy="1055846"/>
          </a:xfrm>
          <a:prstGeom prst="rect">
            <a:avLst/>
          </a:prstGeom>
          <a:noFill/>
          <a:ln/>
        </p:spPr>
        <p:txBody>
          <a:bodyPr wrap="square" lIns="0" tIns="0" rIns="0" bIns="0" rtlCol="0" anchor="t"/>
          <a:lstStyle/>
          <a:p>
            <a:pPr marL="0" indent="0" algn="l">
              <a:lnSpc>
                <a:spcPts val="2750"/>
              </a:lnSpc>
              <a:buNone/>
            </a:pPr>
            <a:r>
              <a:rPr lang="en-US" sz="1700" dirty="0">
                <a:solidFill>
                  <a:srgbClr val="CAD6DE"/>
                </a:solidFill>
                <a:latin typeface="Cabin" pitchFamily="34" charset="0"/>
                <a:ea typeface="Cabin" pitchFamily="34" charset="-122"/>
                <a:cs typeface="Cabin" pitchFamily="34" charset="-120"/>
              </a:rPr>
              <a:t>Develop or enhance access policies using hierarchical roles and identities appropriately.</a:t>
            </a:r>
            <a:endParaRPr lang="en-US" sz="1700" dirty="0"/>
          </a:p>
        </p:txBody>
      </p:sp>
      <p:pic>
        <p:nvPicPr>
          <p:cNvPr id="10" name="Image 3" descr="preencoded.png"/>
          <p:cNvPicPr>
            <a:picLocks noChangeAspect="1"/>
          </p:cNvPicPr>
          <p:nvPr/>
        </p:nvPicPr>
        <p:blipFill>
          <a:blip r:embed="rId6"/>
          <a:stretch>
            <a:fillRect/>
          </a:stretch>
        </p:blipFill>
        <p:spPr>
          <a:xfrm>
            <a:off x="7315200" y="4332208"/>
            <a:ext cx="3272552" cy="879991"/>
          </a:xfrm>
          <a:prstGeom prst="rect">
            <a:avLst/>
          </a:prstGeom>
        </p:spPr>
      </p:pic>
      <p:sp>
        <p:nvSpPr>
          <p:cNvPr id="11" name="Text 5"/>
          <p:cNvSpPr/>
          <p:nvPr/>
        </p:nvSpPr>
        <p:spPr>
          <a:xfrm>
            <a:off x="7535108" y="5542121"/>
            <a:ext cx="2588538" cy="323493"/>
          </a:xfrm>
          <a:prstGeom prst="rect">
            <a:avLst/>
          </a:prstGeom>
          <a:noFill/>
          <a:ln/>
        </p:spPr>
        <p:txBody>
          <a:bodyPr wrap="none" lIns="0" tIns="0" rIns="0" bIns="0" rtlCol="0" anchor="t"/>
          <a:lstStyle/>
          <a:p>
            <a:pPr marL="0" indent="0" algn="l">
              <a:lnSpc>
                <a:spcPts val="2500"/>
              </a:lnSpc>
              <a:buNone/>
            </a:pPr>
            <a:r>
              <a:rPr lang="en-US" sz="2000" dirty="0">
                <a:solidFill>
                  <a:srgbClr val="CAD6DE"/>
                </a:solidFill>
                <a:latin typeface="Unbounded" pitchFamily="34" charset="0"/>
                <a:ea typeface="Unbounded" pitchFamily="34" charset="-122"/>
                <a:cs typeface="Unbounded" pitchFamily="34" charset="-120"/>
              </a:rPr>
              <a:t>Implement</a:t>
            </a:r>
            <a:endParaRPr lang="en-US" sz="2000" dirty="0"/>
          </a:p>
        </p:txBody>
      </p:sp>
      <p:sp>
        <p:nvSpPr>
          <p:cNvPr id="12" name="Text 6"/>
          <p:cNvSpPr/>
          <p:nvPr/>
        </p:nvSpPr>
        <p:spPr>
          <a:xfrm>
            <a:off x="7535108" y="5997535"/>
            <a:ext cx="2832735" cy="1407795"/>
          </a:xfrm>
          <a:prstGeom prst="rect">
            <a:avLst/>
          </a:prstGeom>
          <a:noFill/>
          <a:ln/>
        </p:spPr>
        <p:txBody>
          <a:bodyPr wrap="square" lIns="0" tIns="0" rIns="0" bIns="0" rtlCol="0" anchor="t"/>
          <a:lstStyle/>
          <a:p>
            <a:pPr marL="0" indent="0" algn="l">
              <a:lnSpc>
                <a:spcPts val="2750"/>
              </a:lnSpc>
              <a:buNone/>
            </a:pPr>
            <a:r>
              <a:rPr lang="en-US" sz="1700" dirty="0">
                <a:solidFill>
                  <a:srgbClr val="CAD6DE"/>
                </a:solidFill>
                <a:latin typeface="Cabin" pitchFamily="34" charset="0"/>
                <a:ea typeface="Cabin" pitchFamily="34" charset="-122"/>
                <a:cs typeface="Cabin" pitchFamily="34" charset="-120"/>
              </a:rPr>
              <a:t>Apply policies, configure service accounts, and enable audit logging for compliance and security.</a:t>
            </a:r>
            <a:endParaRPr lang="en-US" sz="1700" dirty="0"/>
          </a:p>
        </p:txBody>
      </p:sp>
      <p:pic>
        <p:nvPicPr>
          <p:cNvPr id="13" name="Image 4" descr="preencoded.png"/>
          <p:cNvPicPr>
            <a:picLocks noChangeAspect="1"/>
          </p:cNvPicPr>
          <p:nvPr/>
        </p:nvPicPr>
        <p:blipFill>
          <a:blip r:embed="rId7"/>
          <a:stretch>
            <a:fillRect/>
          </a:stretch>
        </p:blipFill>
        <p:spPr>
          <a:xfrm>
            <a:off x="10587752" y="4332208"/>
            <a:ext cx="3272671" cy="879991"/>
          </a:xfrm>
          <a:prstGeom prst="rect">
            <a:avLst/>
          </a:prstGeom>
        </p:spPr>
      </p:pic>
      <p:sp>
        <p:nvSpPr>
          <p:cNvPr id="14" name="Text 7"/>
          <p:cNvSpPr/>
          <p:nvPr/>
        </p:nvSpPr>
        <p:spPr>
          <a:xfrm>
            <a:off x="10807660" y="5542121"/>
            <a:ext cx="2588538" cy="323493"/>
          </a:xfrm>
          <a:prstGeom prst="rect">
            <a:avLst/>
          </a:prstGeom>
          <a:noFill/>
          <a:ln/>
        </p:spPr>
        <p:txBody>
          <a:bodyPr wrap="none" lIns="0" tIns="0" rIns="0" bIns="0" rtlCol="0" anchor="t"/>
          <a:lstStyle/>
          <a:p>
            <a:pPr marL="0" indent="0" algn="l">
              <a:lnSpc>
                <a:spcPts val="2500"/>
              </a:lnSpc>
              <a:buNone/>
            </a:pPr>
            <a:r>
              <a:rPr lang="en-US" sz="2000" dirty="0">
                <a:solidFill>
                  <a:srgbClr val="CAD6DE"/>
                </a:solidFill>
                <a:latin typeface="Unbounded" pitchFamily="34" charset="0"/>
                <a:ea typeface="Unbounded" pitchFamily="34" charset="-122"/>
                <a:cs typeface="Unbounded" pitchFamily="34" charset="-120"/>
              </a:rPr>
              <a:t>Monitor</a:t>
            </a:r>
            <a:endParaRPr lang="en-US" sz="2000" dirty="0"/>
          </a:p>
        </p:txBody>
      </p:sp>
      <p:sp>
        <p:nvSpPr>
          <p:cNvPr id="15" name="Text 8"/>
          <p:cNvSpPr/>
          <p:nvPr/>
        </p:nvSpPr>
        <p:spPr>
          <a:xfrm>
            <a:off x="10807660" y="5997535"/>
            <a:ext cx="2832854" cy="1407795"/>
          </a:xfrm>
          <a:prstGeom prst="rect">
            <a:avLst/>
          </a:prstGeom>
          <a:noFill/>
          <a:ln/>
        </p:spPr>
        <p:txBody>
          <a:bodyPr wrap="square" lIns="0" tIns="0" rIns="0" bIns="0" rtlCol="0" anchor="t"/>
          <a:lstStyle/>
          <a:p>
            <a:pPr marL="0" indent="0" algn="l">
              <a:lnSpc>
                <a:spcPts val="2750"/>
              </a:lnSpc>
              <a:buNone/>
            </a:pPr>
            <a:r>
              <a:rPr lang="en-US" sz="1700" dirty="0">
                <a:solidFill>
                  <a:srgbClr val="CAD6DE"/>
                </a:solidFill>
                <a:latin typeface="Cabin" pitchFamily="34" charset="0"/>
                <a:ea typeface="Cabin" pitchFamily="34" charset="-122"/>
                <a:cs typeface="Cabin" pitchFamily="34" charset="-120"/>
              </a:rPr>
              <a:t>Continuously monitor IAM policy use and adjust roles based on operational requirements and audits.</a:t>
            </a:r>
            <a:endParaRPr lang="en-US" sz="1700" dirty="0"/>
          </a:p>
        </p:txBody>
      </p:sp>
      <p:pic>
        <p:nvPicPr>
          <p:cNvPr id="16" name="Picture 15">
            <a:extLst>
              <a:ext uri="{FF2B5EF4-FFF2-40B4-BE49-F238E27FC236}">
                <a16:creationId xmlns:a16="http://schemas.microsoft.com/office/drawing/2014/main" id="{8DCB49D1-477F-32DF-C03E-992375D8D117}"/>
              </a:ext>
            </a:extLst>
          </p:cNvPr>
          <p:cNvPicPr>
            <a:picLocks noChangeAspect="1"/>
          </p:cNvPicPr>
          <p:nvPr/>
        </p:nvPicPr>
        <p:blipFill>
          <a:blip r:embed="rId8"/>
          <a:srcRect r="900" b="3768"/>
          <a:stretch/>
        </p:blipFill>
        <p:spPr>
          <a:xfrm>
            <a:off x="253197" y="376557"/>
            <a:ext cx="14377203" cy="785304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727</Words>
  <Application>Microsoft Office PowerPoint</Application>
  <PresentationFormat>Custom</PresentationFormat>
  <Paragraphs>88</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Unbounded</vt:lpstr>
      <vt:lpstr>Cabin</vt:lpstr>
      <vt:lpstr>Cabin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Shiv Sagar</cp:lastModifiedBy>
  <cp:revision>2</cp:revision>
  <dcterms:created xsi:type="dcterms:W3CDTF">2025-05-14T12:24:27Z</dcterms:created>
  <dcterms:modified xsi:type="dcterms:W3CDTF">2025-05-14T12:56:26Z</dcterms:modified>
</cp:coreProperties>
</file>