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748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8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012E14-AF83-D45E-72CF-777DDDD6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5971" y="0"/>
            <a:ext cx="14630400" cy="82296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Storage Components of Google Cloud Platform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Overview of Google Cloud’s Data Storage Services</a:t>
            </a:r>
            <a:endParaRPr lang="en-US" sz="1750" b="1" dirty="0">
              <a:solidFill>
                <a:schemeClr val="bg2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512111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10" y="512873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104209"/>
            <a:ext cx="176641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by </a:t>
            </a:r>
            <a:r>
              <a:rPr lang="en-US" sz="2200" b="1" dirty="0" err="1">
                <a:solidFill>
                  <a:schemeClr val="bg2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Shivsagar</a:t>
            </a:r>
            <a:r>
              <a:rPr lang="en-US" sz="2200" b="1" dirty="0">
                <a:solidFill>
                  <a:schemeClr val="bg2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 N</a:t>
            </a:r>
            <a:endParaRPr lang="en-US" sz="22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1870" y="527804"/>
            <a:ext cx="5268516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GCP Storage Overview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71870" y="141553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1418" y="161508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Object Storage</a:t>
            </a:r>
            <a:endParaRPr lang="en-US" sz="1850" b="1" dirty="0"/>
          </a:p>
        </p:txBody>
      </p:sp>
      <p:sp>
        <p:nvSpPr>
          <p:cNvPr id="6" name="Text 3"/>
          <p:cNvSpPr/>
          <p:nvPr/>
        </p:nvSpPr>
        <p:spPr>
          <a:xfrm>
            <a:off x="871418" y="203001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Designed for unstructured data like images and videos. Supports scalable and durable storage with global reach.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1870" y="3035618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1418" y="3235166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Block Storage</a:t>
            </a:r>
            <a:endParaRPr lang="en-US" sz="1850" b="1" dirty="0"/>
          </a:p>
        </p:txBody>
      </p:sp>
      <p:sp>
        <p:nvSpPr>
          <p:cNvPr id="9" name="Text 6"/>
          <p:cNvSpPr/>
          <p:nvPr/>
        </p:nvSpPr>
        <p:spPr>
          <a:xfrm>
            <a:off x="871418" y="3650099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Persistent storage attached to virtual machines, providing low-latency access for databases and boot disks.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1870" y="4655701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418" y="4855250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File Storage</a:t>
            </a:r>
            <a:endParaRPr lang="en-US" sz="1850" b="1" dirty="0"/>
          </a:p>
        </p:txBody>
      </p:sp>
      <p:sp>
        <p:nvSpPr>
          <p:cNvPr id="12" name="Text 9"/>
          <p:cNvSpPr/>
          <p:nvPr/>
        </p:nvSpPr>
        <p:spPr>
          <a:xfrm>
            <a:off x="871418" y="5270182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Shared file systems using standard protocols, ideal for applications requiring a hierarchical file structure.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1870" y="6275784"/>
            <a:ext cx="7800261" cy="1428155"/>
          </a:xfrm>
          <a:prstGeom prst="roundRect">
            <a:avLst>
              <a:gd name="adj" fmla="val 5646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18" y="6475333"/>
            <a:ext cx="239958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Databases</a:t>
            </a:r>
            <a:endParaRPr lang="en-US" sz="1850" b="1" dirty="0"/>
          </a:p>
        </p:txBody>
      </p:sp>
      <p:sp>
        <p:nvSpPr>
          <p:cNvPr id="15" name="Text 12"/>
          <p:cNvSpPr/>
          <p:nvPr/>
        </p:nvSpPr>
        <p:spPr>
          <a:xfrm>
            <a:off x="871418" y="6890266"/>
            <a:ext cx="740116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Managed relational and NoSQL databases for structured data, optimized for performance and scalability.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23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Google Cloud Storage (GCS) – Object Storage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7301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807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Features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2983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11 9’s durability ensures data resilience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530906" y="374058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Multiple storage classes for diverse needs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1530906" y="418278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Advanced lifecycle management and versioning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30906" y="462498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Fine-grained IAM and signed URLs for secure access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441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519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 Cases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0906" y="600979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Backup and archival of critical business data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530906" y="645199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Storing large media files like images and videos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0906" y="689419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lakes for machine learning datasets and big data</a:t>
            </a:r>
            <a:endParaRPr lang="en-US" sz="1750" dirty="0">
              <a:solidFill>
                <a:schemeClr val="bg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085519-7F80-52D9-6513-FD4AD730D4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16" b="55307"/>
          <a:stretch/>
        </p:blipFill>
        <p:spPr>
          <a:xfrm>
            <a:off x="556572" y="5011936"/>
            <a:ext cx="1023194" cy="9738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D94C26-E17B-2346-4AB3-2A701A09AD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16" b="55307"/>
          <a:stretch/>
        </p:blipFill>
        <p:spPr>
          <a:xfrm>
            <a:off x="556572" y="2290643"/>
            <a:ext cx="1023194" cy="9738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D7C7A91-51BE-91AE-0EA6-A16EDD821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53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301954"/>
            <a:ext cx="87716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Persistent Disks – Block Storage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Disk Types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Standard HDD for cost-effective large capacity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SSD for high IOPS and throughput needs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Balanced SSD offering a middle ground for performance and cost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577709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Features &amp; Use Cases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Attachable to Compute Engine VMs for persistent storage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Snapshots for backup and disaster recovery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resizing without downtime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Optimized for databases and boot disks</a:t>
            </a:r>
            <a:endParaRPr lang="en-US" sz="1750" dirty="0">
              <a:solidFill>
                <a:schemeClr val="bg2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FF95CC-BE84-18DC-1D31-C9467DC03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12751811" y="7322158"/>
            <a:ext cx="1977433" cy="9031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2C496F-9129-C1F5-F5DB-729FF76CB036}"/>
              </a:ext>
            </a:extLst>
          </p:cNvPr>
          <p:cNvSpPr txBox="1"/>
          <p:nvPr/>
        </p:nvSpPr>
        <p:spPr>
          <a:xfrm>
            <a:off x="12890800" y="7743844"/>
            <a:ext cx="190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Persistent Disks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7133D4-2BF6-8D6C-5358-04A5C6CA74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025" t="29810" r="56797" b="35366"/>
          <a:stretch/>
        </p:blipFill>
        <p:spPr>
          <a:xfrm>
            <a:off x="8338300" y="873391"/>
            <a:ext cx="2162497" cy="2415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4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216" y="3377922"/>
            <a:ext cx="5998726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Filestore – File Storage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5216" y="4402217"/>
            <a:ext cx="4212312" cy="3218021"/>
          </a:xfrm>
          <a:prstGeom prst="roundRect">
            <a:avLst>
              <a:gd name="adj" fmla="val 28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4292" y="4631293"/>
            <a:ext cx="3754160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NFS-based</a:t>
            </a:r>
            <a:r>
              <a:rPr lang="en-US" sz="21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Managed Storage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4292" y="5456158"/>
            <a:ext cx="375416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Fully managed Network File System service, simplifying file storage for applications.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8984" y="4402217"/>
            <a:ext cx="4212312" cy="3218021"/>
          </a:xfrm>
          <a:prstGeom prst="roundRect">
            <a:avLst>
              <a:gd name="adj" fmla="val 28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8061" y="463129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Tiers</a:t>
            </a:r>
            <a:endParaRPr lang="en-US" sz="2150" b="1" dirty="0"/>
          </a:p>
        </p:txBody>
      </p:sp>
      <p:sp>
        <p:nvSpPr>
          <p:cNvPr id="9" name="Text 6"/>
          <p:cNvSpPr/>
          <p:nvPr/>
        </p:nvSpPr>
        <p:spPr>
          <a:xfrm>
            <a:off x="5438061" y="5110163"/>
            <a:ext cx="3754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Basic for entry-level performance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38061" y="5542002"/>
            <a:ext cx="3754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Scale for growing workloads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438061" y="5973842"/>
            <a:ext cx="3754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Enterprise for demanding performance and capacity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42753" y="4402217"/>
            <a:ext cx="4212312" cy="3218021"/>
          </a:xfrm>
          <a:prstGeom prst="roundRect">
            <a:avLst>
              <a:gd name="adj" fmla="val 289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1829" y="463129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Typical Use Cases</a:t>
            </a:r>
            <a:endParaRPr lang="en-US" sz="2150" b="1" dirty="0"/>
          </a:p>
        </p:txBody>
      </p:sp>
      <p:sp>
        <p:nvSpPr>
          <p:cNvPr id="14" name="Text 11"/>
          <p:cNvSpPr/>
          <p:nvPr/>
        </p:nvSpPr>
        <p:spPr>
          <a:xfrm>
            <a:off x="9871829" y="5110163"/>
            <a:ext cx="3754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Shared file storage for content management systems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71829" y="5896332"/>
            <a:ext cx="3754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High-performance computing and media workloads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871829" y="6682502"/>
            <a:ext cx="3754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Applications requiring a POSIX-compliant file system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74A50B-C1B8-5B8F-23A3-C2CDDFCF2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2751811" y="7322158"/>
            <a:ext cx="1977433" cy="9031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9847C7-A8E0-3BEA-9CB5-F2358E777EC8}"/>
              </a:ext>
            </a:extLst>
          </p:cNvPr>
          <p:cNvSpPr txBox="1"/>
          <p:nvPr/>
        </p:nvSpPr>
        <p:spPr>
          <a:xfrm>
            <a:off x="13203044" y="7753112"/>
            <a:ext cx="225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Filestore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C99896B-9E91-D0B6-AA49-C15914915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5971" y="256478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8057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Cloud SQL &amp; Cloud Spanner – Structured Storage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790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Cloud SQL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3713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Managed relational database supporting MySQL, PostgreSQL, and SQL Server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764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backups, high availability, and replication features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618681"/>
            <a:ext cx="6244709" cy="72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Ideal for transactional applications and web backends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790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Cloud Spanner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43713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Globally distributed, horizontally scalable SQL database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8135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consistency across continents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525577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Suited for large-scale enterprise applications requiring global availability</a:t>
            </a:r>
            <a:endParaRPr lang="en-US" sz="1750" dirty="0">
              <a:solidFill>
                <a:schemeClr val="bg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99412B-9096-0992-3CF1-DD1AE19B8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1474605" y="7322157"/>
            <a:ext cx="3254639" cy="903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230AC6-42E9-0A8A-15A7-37388D424296}"/>
              </a:ext>
            </a:extLst>
          </p:cNvPr>
          <p:cNvSpPr txBox="1"/>
          <p:nvPr/>
        </p:nvSpPr>
        <p:spPr>
          <a:xfrm>
            <a:off x="11753385" y="7757925"/>
            <a:ext cx="31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Cloud SQL &amp; Cloud spanner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E9C328-82F7-F139-CC94-3DAB04A10D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190" t="29540" r="28726" b="47845"/>
          <a:stretch/>
        </p:blipFill>
        <p:spPr>
          <a:xfrm>
            <a:off x="2359537" y="3223260"/>
            <a:ext cx="1371896" cy="11894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20A154-CD67-E2BB-D436-71F119A3B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362" y="3088274"/>
            <a:ext cx="35147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20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Other Data Storage Services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109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Bigtable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67807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NoSQL wide-column store optimized for large analytical and IoT workloads requiring low latency.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713803" y="3109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Firestore / Datastore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50919" y="3678079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Scalable NoSQL document database with real-time synchronization for mobile and web apps.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5833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BigQuery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0906" y="615160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Serverless, columnar data warehouse designed for fast SQL queries over massive datasets.</a:t>
            </a:r>
            <a:endParaRPr lang="en-US" sz="1750" dirty="0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52FDE3-E6BE-34B3-17E6-470E84A54E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16" b="55307"/>
          <a:stretch/>
        </p:blipFill>
        <p:spPr>
          <a:xfrm>
            <a:off x="556572" y="2680217"/>
            <a:ext cx="1023194" cy="9738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DF5EAB-5894-8915-5F5E-A3B31BBACC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16" b="55307"/>
          <a:stretch/>
        </p:blipFill>
        <p:spPr>
          <a:xfrm>
            <a:off x="556572" y="5143856"/>
            <a:ext cx="1023194" cy="9738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8EB060-DFDD-FC4F-4D07-511A353A0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16" b="55307"/>
          <a:stretch/>
        </p:blipFill>
        <p:spPr>
          <a:xfrm>
            <a:off x="4474315" y="2680217"/>
            <a:ext cx="1023194" cy="9738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E996B8-59B9-87EC-5F1C-E74A64C56E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56" t="13144" r="62195" b="63865"/>
          <a:stretch/>
        </p:blipFill>
        <p:spPr>
          <a:xfrm>
            <a:off x="2632736" y="2695986"/>
            <a:ext cx="1258672" cy="10316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A0802B-04AE-DEFA-045A-23412004F9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154" t="39837" r="65555" b="39460"/>
          <a:stretch/>
        </p:blipFill>
        <p:spPr>
          <a:xfrm>
            <a:off x="2632736" y="5327992"/>
            <a:ext cx="940120" cy="8731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DBA2231-A647-9EB3-6CA6-991F0F5AF9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65" t="60540" r="68303" b="16431"/>
          <a:stretch/>
        </p:blipFill>
        <p:spPr>
          <a:xfrm>
            <a:off x="7972731" y="2589538"/>
            <a:ext cx="838653" cy="1101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8D89AF8-93D4-DE0C-583D-67D9A87A5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5971" y="256478"/>
            <a:ext cx="14630400" cy="8229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32C74C-95D2-252E-2382-9E1507CD2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3173" y="1182026"/>
            <a:ext cx="4246523" cy="7549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24FE66-AF97-CD3A-73D5-798E00E4D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377" y="1182028"/>
            <a:ext cx="4246523" cy="7549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48D965-7D56-E992-83D8-92BA3365D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557" y="1182027"/>
            <a:ext cx="4246523" cy="7549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3EDD78-D4B9-496C-BF0E-73024BD5F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2028"/>
            <a:ext cx="4246523" cy="75493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999893"/>
            <a:ext cx="109716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Security &amp; Management in GCP Storage</a:t>
            </a:r>
            <a:endParaRPr lang="en-US" sz="445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75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Encryption</a:t>
            </a:r>
            <a:endParaRPr lang="en-US" sz="2200" u="sng" dirty="0">
              <a:solidFill>
                <a:schemeClr val="bg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56792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encryption of data at rest and in transit to protect sensitive information.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200406" y="3275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Access Control</a:t>
            </a:r>
            <a:endParaRPr lang="en-US" sz="2200" u="sng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00406" y="3856792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Role-based Identity and Access Management (IAM) to secure data and restrict permissions precisely.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607022" y="3275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Audit &amp; Compliance</a:t>
            </a:r>
            <a:endParaRPr lang="en-US" sz="2200" u="sng" dirty="0">
              <a:solidFill>
                <a:schemeClr val="bg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07022" y="3856792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audit logging to track data access patterns and support regulatory compliance.</a:t>
            </a:r>
            <a:endParaRPr lang="en-US" sz="175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147900" y="3289477"/>
            <a:ext cx="3034531" cy="48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Retention &amp; Versioning</a:t>
            </a:r>
          </a:p>
        </p:txBody>
      </p:sp>
      <p:sp>
        <p:nvSpPr>
          <p:cNvPr id="10" name="Text 8"/>
          <p:cNvSpPr/>
          <p:nvPr/>
        </p:nvSpPr>
        <p:spPr>
          <a:xfrm>
            <a:off x="11060719" y="4050068"/>
            <a:ext cx="2845595" cy="1886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Policies to retain data according to business needs, including object versioning to recover previous states.</a:t>
            </a:r>
            <a:endParaRPr lang="en-US" sz="1750" dirty="0">
              <a:solidFill>
                <a:schemeClr val="bg2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25E2A5-A420-B7B2-9719-5C9670E8B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9946888" y="7322155"/>
            <a:ext cx="4884233" cy="903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7896CA-32C5-5286-2D71-249194C9226B}"/>
              </a:ext>
            </a:extLst>
          </p:cNvPr>
          <p:cNvSpPr txBox="1"/>
          <p:nvPr/>
        </p:nvSpPr>
        <p:spPr>
          <a:xfrm>
            <a:off x="10610112" y="7756632"/>
            <a:ext cx="374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Security &amp; Management GCP Storage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9E37D3-DC18-67F1-F907-9819F44169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720" t="17209" r="69241" b="60197"/>
          <a:stretch/>
        </p:blipFill>
        <p:spPr>
          <a:xfrm>
            <a:off x="2718360" y="3082597"/>
            <a:ext cx="669565" cy="8878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F86B03-F504-6AFC-2214-E51AB676B8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91" t="37458" r="66514" b="43088"/>
          <a:stretch/>
        </p:blipFill>
        <p:spPr>
          <a:xfrm>
            <a:off x="6063912" y="3082597"/>
            <a:ext cx="735809" cy="70877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500398-88E0-4B1D-67B9-F36002CD7E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980" t="58060" r="68428" b="27236"/>
          <a:stretch/>
        </p:blipFill>
        <p:spPr>
          <a:xfrm>
            <a:off x="9896948" y="3125363"/>
            <a:ext cx="738975" cy="654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1B495B6-3C0D-2410-980B-60CD45959C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47" t="74390" r="69783" b="9350"/>
          <a:stretch/>
        </p:blipFill>
        <p:spPr>
          <a:xfrm>
            <a:off x="13163716" y="3293585"/>
            <a:ext cx="563542" cy="563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320EDA89-7B1D-DDAD-12E8-26DB3E80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59" y="-94378"/>
            <a:ext cx="14630400" cy="82296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139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280" y="3278862"/>
            <a:ext cx="8708231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Storage Class Comparison for GCS</a:t>
            </a:r>
            <a:endParaRPr lang="en-US" sz="4000" dirty="0">
              <a:solidFill>
                <a:schemeClr val="bg2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16280" y="4225290"/>
            <a:ext cx="13197840" cy="3283506"/>
          </a:xfrm>
          <a:prstGeom prst="roundRect">
            <a:avLst>
              <a:gd name="adj" fmla="val 261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3900" y="4232910"/>
            <a:ext cx="13182600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28449" y="4363283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227909" y="4363283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 Frequency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523559" y="4363283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Case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819209" y="4363283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Cost</a:t>
            </a:r>
            <a:endParaRPr lang="en-US" sz="1600" b="1" dirty="0">
              <a:solidFill>
                <a:schemeClr val="bg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3900" y="4821079"/>
            <a:ext cx="13182600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28449" y="4951452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Standard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227909" y="4951452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Frequent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23559" y="4951452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Website hosting, applications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819209" y="4951452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Higher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23900" y="5409248"/>
            <a:ext cx="13182600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28449" y="5539621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Nearline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27909" y="5539621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~1/month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523559" y="5539621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Backups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819209" y="5539621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Medium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3900" y="5997416"/>
            <a:ext cx="13182600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28449" y="6127790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Coldline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227909" y="6127790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~1/quarter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7523559" y="6127790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Archival storage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819209" y="6127790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23900" y="6585585"/>
            <a:ext cx="13182600" cy="9155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28449" y="6715958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Archive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4227909" y="6715958"/>
            <a:ext cx="287893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Rare (~1/year)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7523559" y="6715958"/>
            <a:ext cx="287893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Compliance, long-term retention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819209" y="6715958"/>
            <a:ext cx="288274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Very Low</a:t>
            </a:r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CF2F557-D8AF-13D6-4EC4-AF33CEF4E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11140069" y="7326483"/>
            <a:ext cx="3589176" cy="90311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DB9BB1C-DDD2-B755-5222-DFBEF99B982D}"/>
              </a:ext>
            </a:extLst>
          </p:cNvPr>
          <p:cNvSpPr txBox="1"/>
          <p:nvPr/>
        </p:nvSpPr>
        <p:spPr>
          <a:xfrm>
            <a:off x="11692019" y="7755372"/>
            <a:ext cx="325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Storage Class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1BF0942-6349-4DB2-1E67-7915E9AD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70" t="26133"/>
          <a:stretch/>
        </p:blipFill>
        <p:spPr>
          <a:xfrm>
            <a:off x="5441794" y="2394348"/>
            <a:ext cx="10084729" cy="607895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7562" y="669250"/>
            <a:ext cx="7152799" cy="643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Takeaways &amp; Next Steps</a:t>
            </a:r>
            <a:endParaRPr lang="en-US" sz="4050" dirty="0">
              <a:solidFill>
                <a:schemeClr val="bg2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207562" y="1622108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4773" y="1699379"/>
            <a:ext cx="308967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877050" y="1692831"/>
            <a:ext cx="4114919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Comprehensive Storage Portfolio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877050" y="213824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GCP offers object, block, file, and structured storage optimized for diverse workloads.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207562" y="3209687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84774" y="3306305"/>
            <a:ext cx="308967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877050" y="3280410"/>
            <a:ext cx="266854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Scalability &amp; Security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877050" y="372582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Robust scalability with global availability and strong built-in security measures.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07562" y="4797266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84774" y="4893884"/>
            <a:ext cx="308967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77050" y="4867989"/>
            <a:ext cx="3396615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Choose Based on Use Case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77050" y="531340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 storage classes and services that match access patterns, performance, and cost goals.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07562" y="6384846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4774" y="6480224"/>
            <a:ext cx="308967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4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77050" y="6455569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Next Steps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77050" y="690098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Evaluate workloads and design your storage strategy leveraging GCP’s flexible and integrated services.</a:t>
            </a:r>
            <a:endParaRPr lang="en-US" sz="1600" dirty="0">
              <a:solidFill>
                <a:schemeClr val="bg2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2F3F51-DA3B-7E92-938B-874170484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11173523" y="7322157"/>
            <a:ext cx="3555722" cy="9031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38E8D8-8F8A-2B23-744D-C52607C07B55}"/>
              </a:ext>
            </a:extLst>
          </p:cNvPr>
          <p:cNvSpPr txBox="1"/>
          <p:nvPr/>
        </p:nvSpPr>
        <p:spPr>
          <a:xfrm>
            <a:off x="11619571" y="7724571"/>
            <a:ext cx="301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Uses based on Requirement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125283"/>
            <a:ext cx="14630400" cy="5293545"/>
          </a:xfrm>
          <a:custGeom>
            <a:avLst/>
            <a:gdLst/>
            <a:ahLst/>
            <a:cxnLst/>
            <a:rect l="l" t="t" r="r" b="b"/>
            <a:pathLst>
              <a:path w="18288000" h="6616931">
                <a:moveTo>
                  <a:pt x="0" y="0"/>
                </a:moveTo>
                <a:lnTo>
                  <a:pt x="18288000" y="0"/>
                </a:lnTo>
                <a:lnTo>
                  <a:pt x="18288000" y="6616931"/>
                </a:lnTo>
                <a:lnTo>
                  <a:pt x="0" y="6616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63640" y="1"/>
            <a:ext cx="8366760" cy="8288654"/>
          </a:xfrm>
          <a:custGeom>
            <a:avLst/>
            <a:gdLst/>
            <a:ahLst/>
            <a:cxnLst/>
            <a:rect l="l" t="t" r="r" b="b"/>
            <a:pathLst>
              <a:path w="11192886" h="11192886">
                <a:moveTo>
                  <a:pt x="0" y="0"/>
                </a:moveTo>
                <a:lnTo>
                  <a:pt x="11192887" y="0"/>
                </a:lnTo>
                <a:lnTo>
                  <a:pt x="11192887" y="11192886"/>
                </a:lnTo>
                <a:lnTo>
                  <a:pt x="0" y="11192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510162" y="4788448"/>
            <a:ext cx="7120238" cy="3441151"/>
            <a:chOff x="0" y="0"/>
            <a:chExt cx="812800" cy="392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92819"/>
            </a:xfrm>
            <a:custGeom>
              <a:avLst/>
              <a:gdLst/>
              <a:ahLst/>
              <a:cxnLst/>
              <a:rect l="l" t="t" r="r" b="b"/>
              <a:pathLst>
                <a:path w="812800" h="392819">
                  <a:moveTo>
                    <a:pt x="406400" y="0"/>
                  </a:moveTo>
                  <a:lnTo>
                    <a:pt x="812800" y="392819"/>
                  </a:lnTo>
                  <a:lnTo>
                    <a:pt x="0" y="39281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9CD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144280"/>
              <a:ext cx="558800" cy="220480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27"/>
                </a:lnSpc>
              </a:pPr>
              <a:endParaRPr sz="1440"/>
            </a:p>
          </p:txBody>
        </p:sp>
      </p:grpSp>
      <p:sp>
        <p:nvSpPr>
          <p:cNvPr id="10" name="Freeform 10"/>
          <p:cNvSpPr/>
          <p:nvPr/>
        </p:nvSpPr>
        <p:spPr>
          <a:xfrm>
            <a:off x="7863886" y="1086655"/>
            <a:ext cx="5816824" cy="5605964"/>
          </a:xfrm>
          <a:custGeom>
            <a:avLst/>
            <a:gdLst/>
            <a:ahLst/>
            <a:cxnLst/>
            <a:rect l="l" t="t" r="r" b="b"/>
            <a:pathLst>
              <a:path w="7271030" h="7007455">
                <a:moveTo>
                  <a:pt x="0" y="0"/>
                </a:moveTo>
                <a:lnTo>
                  <a:pt x="7271029" y="0"/>
                </a:lnTo>
                <a:lnTo>
                  <a:pt x="7271029" y="7007454"/>
                </a:lnTo>
                <a:lnTo>
                  <a:pt x="0" y="70074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2700000">
            <a:off x="8137378" y="-271210"/>
            <a:ext cx="617582" cy="3342912"/>
            <a:chOff x="0" y="0"/>
            <a:chExt cx="228337" cy="13675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8337" cy="1367536"/>
            </a:xfrm>
            <a:custGeom>
              <a:avLst/>
              <a:gdLst/>
              <a:ahLst/>
              <a:cxnLst/>
              <a:rect l="l" t="t" r="r" b="b"/>
              <a:pathLst>
                <a:path w="228337" h="1367536">
                  <a:moveTo>
                    <a:pt x="0" y="0"/>
                  </a:moveTo>
                  <a:lnTo>
                    <a:pt x="228337" y="0"/>
                  </a:lnTo>
                  <a:lnTo>
                    <a:pt x="228337" y="1367536"/>
                  </a:lnTo>
                  <a:lnTo>
                    <a:pt x="0" y="1367536"/>
                  </a:lnTo>
                  <a:close/>
                </a:path>
              </a:pathLst>
            </a:custGeom>
            <a:gradFill rotWithShape="1">
              <a:gsLst>
                <a:gs pos="0">
                  <a:srgbClr val="004AAC">
                    <a:alpha val="100000"/>
                  </a:srgbClr>
                </a:gs>
                <a:gs pos="100000">
                  <a:srgbClr val="00265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8337" cy="137706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442"/>
                </a:lnSpc>
              </a:pPr>
              <a:endParaRPr sz="144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45645" y="1443179"/>
            <a:ext cx="4786235" cy="478623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0606" r="-10606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5999115" y="5095760"/>
            <a:ext cx="2187198" cy="1721922"/>
          </a:xfrm>
          <a:custGeom>
            <a:avLst/>
            <a:gdLst/>
            <a:ahLst/>
            <a:cxnLst/>
            <a:rect l="l" t="t" r="r" b="b"/>
            <a:pathLst>
              <a:path w="2733998" h="2152402">
                <a:moveTo>
                  <a:pt x="0" y="0"/>
                </a:moveTo>
                <a:lnTo>
                  <a:pt x="2733997" y="0"/>
                </a:lnTo>
                <a:lnTo>
                  <a:pt x="2733997" y="2152402"/>
                </a:lnTo>
                <a:lnTo>
                  <a:pt x="0" y="2152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22960" y="1389839"/>
            <a:ext cx="5836699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07"/>
              </a:lnSpc>
            </a:pPr>
            <a:r>
              <a:rPr lang="en-US" sz="7613" b="1">
                <a:solidFill>
                  <a:srgbClr val="69A3DA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5965093"/>
            <a:ext cx="185157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30"/>
              </a:lnSpc>
              <a:spcBef>
                <a:spcPct val="0"/>
              </a:spcBef>
            </a:pPr>
            <a:r>
              <a:rPr lang="en-US" sz="1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2961" y="6325848"/>
            <a:ext cx="288495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15"/>
              </a:lnSpc>
              <a:spcBef>
                <a:spcPct val="0"/>
              </a:spcBef>
            </a:pPr>
            <a:r>
              <a:rPr lang="en-US" sz="309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Shivsagar 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498160"/>
            <a:ext cx="5836699" cy="228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07"/>
              </a:lnSpc>
            </a:pPr>
            <a:r>
              <a:rPr lang="en-US" sz="761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619</Words>
  <Application>Microsoft Office PowerPoint</Application>
  <PresentationFormat>Custom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Funnel Sans</vt:lpstr>
      <vt:lpstr>Funnel Sans Bold</vt:lpstr>
      <vt:lpstr>Mona Sans Semi Bold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 Sagar</cp:lastModifiedBy>
  <cp:revision>8</cp:revision>
  <dcterms:created xsi:type="dcterms:W3CDTF">2025-05-14T09:33:20Z</dcterms:created>
  <dcterms:modified xsi:type="dcterms:W3CDTF">2025-05-15T12:58:15Z</dcterms:modified>
</cp:coreProperties>
</file>