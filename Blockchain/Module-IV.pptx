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8"/>
  </p:notesMasterIdLst>
  <p:sldIdLst>
    <p:sldId id="297" r:id="rId2"/>
    <p:sldId id="298" r:id="rId3"/>
    <p:sldId id="257" r:id="rId4"/>
    <p:sldId id="299" r:id="rId5"/>
    <p:sldId id="258" r:id="rId6"/>
    <p:sldId id="259" r:id="rId7"/>
    <p:sldId id="300" r:id="rId8"/>
    <p:sldId id="260" r:id="rId9"/>
    <p:sldId id="261" r:id="rId10"/>
    <p:sldId id="262" r:id="rId11"/>
    <p:sldId id="263" r:id="rId12"/>
    <p:sldId id="264" r:id="rId13"/>
    <p:sldId id="265" r:id="rId14"/>
    <p:sldId id="318" r:id="rId15"/>
    <p:sldId id="324" r:id="rId16"/>
    <p:sldId id="319" r:id="rId17"/>
    <p:sldId id="320" r:id="rId18"/>
    <p:sldId id="321" r:id="rId19"/>
    <p:sldId id="322" r:id="rId20"/>
    <p:sldId id="325" r:id="rId21"/>
    <p:sldId id="326" r:id="rId22"/>
    <p:sldId id="327" r:id="rId23"/>
    <p:sldId id="266" r:id="rId24"/>
    <p:sldId id="267" r:id="rId25"/>
    <p:sldId id="268" r:id="rId26"/>
    <p:sldId id="269" r:id="rId27"/>
    <p:sldId id="328" r:id="rId28"/>
    <p:sldId id="323" r:id="rId29"/>
    <p:sldId id="270" r:id="rId30"/>
    <p:sldId id="301" r:id="rId31"/>
    <p:sldId id="302" r:id="rId32"/>
    <p:sldId id="275" r:id="rId33"/>
    <p:sldId id="303" r:id="rId34"/>
    <p:sldId id="304" r:id="rId35"/>
    <p:sldId id="305" r:id="rId36"/>
    <p:sldId id="308" r:id="rId37"/>
    <p:sldId id="276" r:id="rId38"/>
    <p:sldId id="329" r:id="rId39"/>
    <p:sldId id="330" r:id="rId40"/>
    <p:sldId id="279" r:id="rId41"/>
    <p:sldId id="280" r:id="rId42"/>
    <p:sldId id="281" r:id="rId43"/>
    <p:sldId id="282" r:id="rId44"/>
    <p:sldId id="331" r:id="rId45"/>
    <p:sldId id="283" r:id="rId46"/>
    <p:sldId id="332" r:id="rId47"/>
    <p:sldId id="284" r:id="rId48"/>
    <p:sldId id="340" r:id="rId49"/>
    <p:sldId id="333" r:id="rId50"/>
    <p:sldId id="313" r:id="rId51"/>
    <p:sldId id="334" r:id="rId52"/>
    <p:sldId id="287" r:id="rId53"/>
    <p:sldId id="335" r:id="rId54"/>
    <p:sldId id="288" r:id="rId55"/>
    <p:sldId id="336" r:id="rId56"/>
    <p:sldId id="289" r:id="rId57"/>
    <p:sldId id="337" r:id="rId58"/>
    <p:sldId id="290" r:id="rId59"/>
    <p:sldId id="339" r:id="rId60"/>
    <p:sldId id="338" r:id="rId61"/>
    <p:sldId id="341" r:id="rId62"/>
    <p:sldId id="292" r:id="rId63"/>
    <p:sldId id="296" r:id="rId64"/>
    <p:sldId id="353" r:id="rId65"/>
    <p:sldId id="317" r:id="rId66"/>
    <p:sldId id="342" r:id="rId67"/>
    <p:sldId id="354" r:id="rId68"/>
    <p:sldId id="355" r:id="rId69"/>
    <p:sldId id="343" r:id="rId70"/>
    <p:sldId id="356" r:id="rId71"/>
    <p:sldId id="365" r:id="rId72"/>
    <p:sldId id="357" r:id="rId73"/>
    <p:sldId id="358" r:id="rId74"/>
    <p:sldId id="345" r:id="rId75"/>
    <p:sldId id="346" r:id="rId76"/>
    <p:sldId id="347" r:id="rId77"/>
    <p:sldId id="359" r:id="rId78"/>
    <p:sldId id="360" r:id="rId79"/>
    <p:sldId id="361" r:id="rId80"/>
    <p:sldId id="348" r:id="rId81"/>
    <p:sldId id="362" r:id="rId82"/>
    <p:sldId id="363" r:id="rId83"/>
    <p:sldId id="364" r:id="rId84"/>
    <p:sldId id="349" r:id="rId85"/>
    <p:sldId id="366" r:id="rId86"/>
    <p:sldId id="351" r:id="rId8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427" autoAdjust="0"/>
    <p:restoredTop sz="94660"/>
  </p:normalViewPr>
  <p:slideViewPr>
    <p:cSldViewPr snapToGrid="0">
      <p:cViewPr varScale="1">
        <p:scale>
          <a:sx n="90" d="100"/>
          <a:sy n="90" d="100"/>
        </p:scale>
        <p:origin x="47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viewProps" Target="viewProp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notesMaster" Target="notesMasters/notesMaster1.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ableStyles" Target="tableStyle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F0662A-2A7E-4C24-AE59-50A5094C463E}" type="datetimeFigureOut">
              <a:rPr lang="en-IN" smtClean="0"/>
              <a:t>15-06-2025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D6AF8C2-6AC0-4411-B6F7-5142986C453B}" type="slidenum">
              <a:rPr lang="en-IN" smtClean="0"/>
              <a:t>‹#›</a:t>
            </a:fld>
            <a:endParaRPr lang="en-IN"/>
          </a:p>
        </p:txBody>
      </p:sp>
    </p:spTree>
    <p:extLst>
      <p:ext uri="{BB962C8B-B14F-4D97-AF65-F5344CB8AC3E}">
        <p14:creationId xmlns:p14="http://schemas.microsoft.com/office/powerpoint/2010/main" val="10431801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354217B6-1CB5-4F9D-87FA-ED402C564B45}" type="datetimeFigureOut">
              <a:rPr lang="en-IN" smtClean="0"/>
              <a:t>15-06-2025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B606CDA-BCEE-4789-AEC3-AD1E361A6022}" type="slidenum">
              <a:rPr lang="en-IN" smtClean="0"/>
              <a:t>‹#›</a:t>
            </a:fld>
            <a:endParaRPr lang="en-IN"/>
          </a:p>
        </p:txBody>
      </p:sp>
    </p:spTree>
    <p:extLst>
      <p:ext uri="{BB962C8B-B14F-4D97-AF65-F5344CB8AC3E}">
        <p14:creationId xmlns:p14="http://schemas.microsoft.com/office/powerpoint/2010/main" val="11927696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54217B6-1CB5-4F9D-87FA-ED402C564B45}" type="datetimeFigureOut">
              <a:rPr lang="en-IN" smtClean="0"/>
              <a:t>15-06-2025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B606CDA-BCEE-4789-AEC3-AD1E361A6022}" type="slidenum">
              <a:rPr lang="en-IN" smtClean="0"/>
              <a:t>‹#›</a:t>
            </a:fld>
            <a:endParaRPr lang="en-IN"/>
          </a:p>
        </p:txBody>
      </p:sp>
    </p:spTree>
    <p:extLst>
      <p:ext uri="{BB962C8B-B14F-4D97-AF65-F5344CB8AC3E}">
        <p14:creationId xmlns:p14="http://schemas.microsoft.com/office/powerpoint/2010/main" val="4051229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54217B6-1CB5-4F9D-87FA-ED402C564B45}" type="datetimeFigureOut">
              <a:rPr lang="en-IN" smtClean="0"/>
              <a:t>15-06-2025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B606CDA-BCEE-4789-AEC3-AD1E361A6022}" type="slidenum">
              <a:rPr lang="en-IN" smtClean="0"/>
              <a:t>‹#›</a:t>
            </a:fld>
            <a:endParaRPr lang="en-IN"/>
          </a:p>
        </p:txBody>
      </p:sp>
    </p:spTree>
    <p:extLst>
      <p:ext uri="{BB962C8B-B14F-4D97-AF65-F5344CB8AC3E}">
        <p14:creationId xmlns:p14="http://schemas.microsoft.com/office/powerpoint/2010/main" val="30478785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354217B6-1CB5-4F9D-87FA-ED402C564B45}" type="datetimeFigureOut">
              <a:rPr lang="en-IN" smtClean="0"/>
              <a:t>15-06-2025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B606CDA-BCEE-4789-AEC3-AD1E361A6022}" type="slidenum">
              <a:rPr lang="en-IN" smtClean="0"/>
              <a:t>‹#›</a:t>
            </a:fld>
            <a:endParaRPr lang="en-IN"/>
          </a:p>
        </p:txBody>
      </p:sp>
    </p:spTree>
    <p:extLst>
      <p:ext uri="{BB962C8B-B14F-4D97-AF65-F5344CB8AC3E}">
        <p14:creationId xmlns:p14="http://schemas.microsoft.com/office/powerpoint/2010/main" val="17571991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354217B6-1CB5-4F9D-87FA-ED402C564B45}" type="datetimeFigureOut">
              <a:rPr lang="en-IN" smtClean="0"/>
              <a:t>15-06-2025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B606CDA-BCEE-4789-AEC3-AD1E361A6022}" type="slidenum">
              <a:rPr lang="en-IN" smtClean="0"/>
              <a:t>‹#›</a:t>
            </a:fld>
            <a:endParaRPr lang="en-IN"/>
          </a:p>
        </p:txBody>
      </p:sp>
    </p:spTree>
    <p:extLst>
      <p:ext uri="{BB962C8B-B14F-4D97-AF65-F5344CB8AC3E}">
        <p14:creationId xmlns:p14="http://schemas.microsoft.com/office/powerpoint/2010/main" val="26182059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354217B6-1CB5-4F9D-87FA-ED402C564B45}" type="datetimeFigureOut">
              <a:rPr lang="en-IN" smtClean="0"/>
              <a:t>15-06-2025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B606CDA-BCEE-4789-AEC3-AD1E361A6022}" type="slidenum">
              <a:rPr lang="en-IN" smtClean="0"/>
              <a:t>‹#›</a:t>
            </a:fld>
            <a:endParaRPr lang="en-IN"/>
          </a:p>
        </p:txBody>
      </p:sp>
    </p:spTree>
    <p:extLst>
      <p:ext uri="{BB962C8B-B14F-4D97-AF65-F5344CB8AC3E}">
        <p14:creationId xmlns:p14="http://schemas.microsoft.com/office/powerpoint/2010/main" val="6447071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54217B6-1CB5-4F9D-87FA-ED402C564B45}" type="datetimeFigureOut">
              <a:rPr lang="en-IN" smtClean="0"/>
              <a:t>15-06-2025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B606CDA-BCEE-4789-AEC3-AD1E361A6022}" type="slidenum">
              <a:rPr lang="en-IN" smtClean="0"/>
              <a:t>‹#›</a:t>
            </a:fld>
            <a:endParaRPr lang="en-IN"/>
          </a:p>
        </p:txBody>
      </p:sp>
    </p:spTree>
    <p:extLst>
      <p:ext uri="{BB962C8B-B14F-4D97-AF65-F5344CB8AC3E}">
        <p14:creationId xmlns:p14="http://schemas.microsoft.com/office/powerpoint/2010/main" val="35850135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54217B6-1CB5-4F9D-87FA-ED402C564B45}" type="datetimeFigureOut">
              <a:rPr lang="en-IN" smtClean="0"/>
              <a:t>15-06-2025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B606CDA-BCEE-4789-AEC3-AD1E361A6022}" type="slidenum">
              <a:rPr lang="en-IN" smtClean="0"/>
              <a:t>‹#›</a:t>
            </a:fld>
            <a:endParaRPr lang="en-IN"/>
          </a:p>
        </p:txBody>
      </p:sp>
    </p:spTree>
    <p:extLst>
      <p:ext uri="{BB962C8B-B14F-4D97-AF65-F5344CB8AC3E}">
        <p14:creationId xmlns:p14="http://schemas.microsoft.com/office/powerpoint/2010/main" val="1184795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54217B6-1CB5-4F9D-87FA-ED402C564B45}" type="datetimeFigureOut">
              <a:rPr lang="en-IN" smtClean="0"/>
              <a:t>15-06-2025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B606CDA-BCEE-4789-AEC3-AD1E361A6022}" type="slidenum">
              <a:rPr lang="en-IN" smtClean="0"/>
              <a:t>‹#›</a:t>
            </a:fld>
            <a:endParaRPr lang="en-IN"/>
          </a:p>
        </p:txBody>
      </p:sp>
    </p:spTree>
    <p:extLst>
      <p:ext uri="{BB962C8B-B14F-4D97-AF65-F5344CB8AC3E}">
        <p14:creationId xmlns:p14="http://schemas.microsoft.com/office/powerpoint/2010/main" val="11605368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54217B6-1CB5-4F9D-87FA-ED402C564B45}" type="datetimeFigureOut">
              <a:rPr lang="en-IN" smtClean="0"/>
              <a:t>15-06-2025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B606CDA-BCEE-4789-AEC3-AD1E361A6022}" type="slidenum">
              <a:rPr lang="en-IN" smtClean="0"/>
              <a:t>‹#›</a:t>
            </a:fld>
            <a:endParaRPr lang="en-IN"/>
          </a:p>
        </p:txBody>
      </p:sp>
    </p:spTree>
    <p:extLst>
      <p:ext uri="{BB962C8B-B14F-4D97-AF65-F5344CB8AC3E}">
        <p14:creationId xmlns:p14="http://schemas.microsoft.com/office/powerpoint/2010/main" val="27865848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54217B6-1CB5-4F9D-87FA-ED402C564B45}" type="datetimeFigureOut">
              <a:rPr lang="en-IN" smtClean="0"/>
              <a:t>15-06-2025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B606CDA-BCEE-4789-AEC3-AD1E361A6022}" type="slidenum">
              <a:rPr lang="en-IN" smtClean="0"/>
              <a:t>‹#›</a:t>
            </a:fld>
            <a:endParaRPr lang="en-IN"/>
          </a:p>
        </p:txBody>
      </p:sp>
    </p:spTree>
    <p:extLst>
      <p:ext uri="{BB962C8B-B14F-4D97-AF65-F5344CB8AC3E}">
        <p14:creationId xmlns:p14="http://schemas.microsoft.com/office/powerpoint/2010/main" val="40827894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54217B6-1CB5-4F9D-87FA-ED402C564B45}" type="datetimeFigureOut">
              <a:rPr lang="en-IN" smtClean="0"/>
              <a:t>15-06-2025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B606CDA-BCEE-4789-AEC3-AD1E361A6022}" type="slidenum">
              <a:rPr lang="en-IN" smtClean="0"/>
              <a:t>‹#›</a:t>
            </a:fld>
            <a:endParaRPr lang="en-IN"/>
          </a:p>
        </p:txBody>
      </p:sp>
    </p:spTree>
    <p:extLst>
      <p:ext uri="{BB962C8B-B14F-4D97-AF65-F5344CB8AC3E}">
        <p14:creationId xmlns:p14="http://schemas.microsoft.com/office/powerpoint/2010/main" val="6567765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hyperlink" Target="https://vanitygen.net/"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2.sv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9.emf"/><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1.emf"/><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45.emf"/><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6000"/>
              <a:buFont typeface="Calibri"/>
              <a:buNone/>
            </a:pPr>
            <a:r>
              <a:rPr lang="en-IN"/>
              <a:t>Blockchain Technology</a:t>
            </a:r>
            <a:endParaRPr/>
          </a:p>
        </p:txBody>
      </p:sp>
      <p:sp>
        <p:nvSpPr>
          <p:cNvPr id="89" name="Google Shape;89;p1"/>
          <p:cNvSpPr txBox="1">
            <a:spLocks noGrp="1"/>
          </p:cNvSpPr>
          <p:nvPr>
            <p:ph type="subTitle" idx="1"/>
          </p:nvPr>
        </p:nvSpPr>
        <p:spPr>
          <a:xfrm>
            <a:off x="1632858" y="3676162"/>
            <a:ext cx="9144000" cy="1655762"/>
          </a:xfrm>
          <a:prstGeom prst="rect">
            <a:avLst/>
          </a:prstGeom>
          <a:noFill/>
          <a:ln>
            <a:noFill/>
          </a:ln>
        </p:spPr>
        <p:txBody>
          <a:bodyPr spcFirstLastPara="1" wrap="square" lIns="91425" tIns="45700" rIns="91425" bIns="45700" anchor="t" anchorCtr="0">
            <a:normAutofit/>
          </a:bodyPr>
          <a:lstStyle/>
          <a:p>
            <a:pPr marL="0" indent="0">
              <a:spcBef>
                <a:spcPts val="0"/>
              </a:spcBef>
            </a:pPr>
            <a:r>
              <a:rPr lang="en-US" sz="2400" b="1" dirty="0"/>
              <a:t>Module 4- </a:t>
            </a:r>
            <a:r>
              <a:rPr lang="en-GB" b="1" dirty="0"/>
              <a:t>Bitcoin</a:t>
            </a:r>
            <a:endParaRPr lang="en-IN" b="1" dirty="0"/>
          </a:p>
          <a:p>
            <a:pPr marL="0" lvl="0" indent="0" algn="ctr" rtl="0">
              <a:lnSpc>
                <a:spcPct val="90000"/>
              </a:lnSpc>
              <a:spcBef>
                <a:spcPts val="0"/>
              </a:spcBef>
              <a:spcAft>
                <a:spcPts val="0"/>
              </a:spcAft>
              <a:buClr>
                <a:schemeClr val="dk1"/>
              </a:buClr>
              <a:buSzPts val="2400"/>
              <a:buNone/>
            </a:pPr>
            <a:endParaRPr b="1" dirty="0"/>
          </a:p>
        </p:txBody>
      </p:sp>
      <p:pic>
        <p:nvPicPr>
          <p:cNvPr id="90" name="Google Shape;90;p1"/>
          <p:cNvPicPr preferRelativeResize="0"/>
          <p:nvPr/>
        </p:nvPicPr>
        <p:blipFill rotWithShape="1">
          <a:blip r:embed="rId3">
            <a:alphaModFix/>
          </a:blip>
          <a:srcRect/>
          <a:stretch/>
        </p:blipFill>
        <p:spPr>
          <a:xfrm>
            <a:off x="2483094" y="98913"/>
            <a:ext cx="7067550" cy="102344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FE915-52AB-01EB-3D12-B759B853DCF1}"/>
              </a:ext>
            </a:extLst>
          </p:cNvPr>
          <p:cNvSpPr>
            <a:spLocks noGrp="1"/>
          </p:cNvSpPr>
          <p:nvPr>
            <p:ph type="title"/>
          </p:nvPr>
        </p:nvSpPr>
        <p:spPr>
          <a:xfrm>
            <a:off x="189271" y="191729"/>
            <a:ext cx="11565194" cy="870155"/>
          </a:xfrm>
        </p:spPr>
        <p:txBody>
          <a:bodyPr/>
          <a:lstStyle/>
          <a:p>
            <a:r>
              <a:rPr lang="en-US" dirty="0"/>
              <a:t>Topics required…</a:t>
            </a:r>
            <a:endParaRPr lang="en-IN" dirty="0"/>
          </a:p>
        </p:txBody>
      </p:sp>
      <p:sp>
        <p:nvSpPr>
          <p:cNvPr id="3" name="Content Placeholder 2">
            <a:extLst>
              <a:ext uri="{FF2B5EF4-FFF2-40B4-BE49-F238E27FC236}">
                <a16:creationId xmlns:a16="http://schemas.microsoft.com/office/drawing/2014/main" id="{95DB6D5E-3600-0E98-1B83-08E8AF3B034F}"/>
              </a:ext>
            </a:extLst>
          </p:cNvPr>
          <p:cNvSpPr>
            <a:spLocks noGrp="1"/>
          </p:cNvSpPr>
          <p:nvPr>
            <p:ph idx="1"/>
          </p:nvPr>
        </p:nvSpPr>
        <p:spPr>
          <a:xfrm>
            <a:off x="189271" y="1061884"/>
            <a:ext cx="11565194" cy="5604388"/>
          </a:xfrm>
        </p:spPr>
        <p:txBody>
          <a:bodyPr/>
          <a:lstStyle/>
          <a:p>
            <a:pPr marL="67945"/>
            <a:r>
              <a:rPr lang="en-US" sz="2400" dirty="0">
                <a:effectLst/>
                <a:latin typeface="Times New Roman" panose="02020603050405020304" pitchFamily="18" charset="0"/>
                <a:ea typeface="Calibri" panose="020F0502020204030204" pitchFamily="34" charset="0"/>
                <a:cs typeface="Times New Roman" panose="02020603050405020304" pitchFamily="18" charset="0"/>
              </a:rPr>
              <a:t>Bitcoin</a:t>
            </a:r>
            <a:r>
              <a:rPr lang="en-US" sz="2400" spc="3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definition</a:t>
            </a:r>
            <a:endParaRPr lang="en-US" sz="2400" spc="35" dirty="0">
              <a:effectLst/>
              <a:latin typeface="Times New Roman" panose="02020603050405020304" pitchFamily="18" charset="0"/>
              <a:ea typeface="Calibri" panose="020F0502020204030204" pitchFamily="34" charset="0"/>
              <a:cs typeface="Times New Roman" panose="02020603050405020304" pitchFamily="18" charset="0"/>
            </a:endParaRPr>
          </a:p>
          <a:p>
            <a:pPr marL="67945"/>
            <a:r>
              <a:rPr lang="en-US" sz="2400" dirty="0">
                <a:effectLst/>
                <a:latin typeface="Times New Roman" panose="02020603050405020304" pitchFamily="18" charset="0"/>
                <a:ea typeface="Calibri" panose="020F0502020204030204" pitchFamily="34" charset="0"/>
                <a:cs typeface="Times New Roman" panose="02020603050405020304" pitchFamily="18" charset="0"/>
              </a:rPr>
              <a:t>Transactions - life</a:t>
            </a:r>
            <a:r>
              <a:rPr lang="en-US" sz="2400" spc="3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cycle</a:t>
            </a:r>
            <a:endParaRPr lang="en-US" sz="2400" spc="35" dirty="0">
              <a:effectLst/>
              <a:latin typeface="Times New Roman" panose="02020603050405020304" pitchFamily="18" charset="0"/>
              <a:ea typeface="Calibri" panose="020F0502020204030204" pitchFamily="34" charset="0"/>
              <a:cs typeface="Times New Roman" panose="02020603050405020304" pitchFamily="18" charset="0"/>
            </a:endParaRPr>
          </a:p>
          <a:p>
            <a:pPr marL="67945"/>
            <a:r>
              <a:rPr lang="en-US" sz="2400" dirty="0">
                <a:effectLst/>
                <a:latin typeface="Times New Roman" panose="02020603050405020304" pitchFamily="18" charset="0"/>
                <a:ea typeface="Calibri" panose="020F0502020204030204" pitchFamily="34" charset="0"/>
                <a:cs typeface="Times New Roman" panose="02020603050405020304" pitchFamily="18" charset="0"/>
              </a:rPr>
              <a:t>Transactions - structure</a:t>
            </a:r>
          </a:p>
          <a:p>
            <a:pPr marL="67945"/>
            <a:r>
              <a:rPr lang="en-US" sz="2400" dirty="0">
                <a:effectLst/>
                <a:latin typeface="Times New Roman" panose="02020603050405020304" pitchFamily="18" charset="0"/>
                <a:ea typeface="Calibri" panose="020F0502020204030204" pitchFamily="34" charset="0"/>
                <a:cs typeface="Times New Roman" panose="02020603050405020304" pitchFamily="18" charset="0"/>
              </a:rPr>
              <a:t>Blockchain: The structure of block</a:t>
            </a:r>
            <a:r>
              <a:rPr lang="en-US" sz="2400" spc="-10" dirty="0">
                <a:effectLst/>
                <a:latin typeface="Times New Roman" panose="02020603050405020304" pitchFamily="18" charset="0"/>
                <a:ea typeface="Calibri" panose="020F0502020204030204" pitchFamily="34" charset="0"/>
                <a:cs typeface="Times New Roman" panose="02020603050405020304" pitchFamily="18" charset="0"/>
              </a:rPr>
              <a:t> </a:t>
            </a:r>
          </a:p>
          <a:p>
            <a:pPr marL="67945"/>
            <a:r>
              <a:rPr lang="en-US" sz="2400" dirty="0">
                <a:effectLst/>
                <a:latin typeface="Times New Roman" panose="02020603050405020304" pitchFamily="18" charset="0"/>
                <a:ea typeface="Calibri" panose="020F0502020204030204" pitchFamily="34" charset="0"/>
                <a:cs typeface="Times New Roman" panose="02020603050405020304" pitchFamily="18" charset="0"/>
              </a:rPr>
              <a:t>The</a:t>
            </a:r>
            <a:r>
              <a:rPr lang="en-US" sz="2400" spc="-2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structure</a:t>
            </a:r>
            <a:r>
              <a:rPr lang="en-US" sz="2400" spc="-1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of</a:t>
            </a:r>
            <a:r>
              <a:rPr lang="en-US" sz="2400" spc="-1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a</a:t>
            </a:r>
            <a:r>
              <a:rPr lang="en-US" sz="2400" spc="-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block</a:t>
            </a:r>
            <a:r>
              <a:rPr lang="en-US" sz="2400" spc="-1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header</a:t>
            </a:r>
            <a:r>
              <a:rPr lang="en-US" sz="2400" spc="-5" dirty="0">
                <a:effectLst/>
                <a:latin typeface="Times New Roman" panose="02020603050405020304" pitchFamily="18" charset="0"/>
                <a:ea typeface="Calibri" panose="020F0502020204030204" pitchFamily="34" charset="0"/>
                <a:cs typeface="Times New Roman" panose="02020603050405020304" pitchFamily="18" charset="0"/>
              </a:rPr>
              <a:t> </a:t>
            </a:r>
          </a:p>
          <a:p>
            <a:pPr marL="67945"/>
            <a:r>
              <a:rPr lang="en-US" sz="2400" dirty="0">
                <a:effectLst/>
                <a:latin typeface="Times New Roman" panose="02020603050405020304" pitchFamily="18" charset="0"/>
                <a:ea typeface="Calibri" panose="020F0502020204030204" pitchFamily="34" charset="0"/>
                <a:cs typeface="Times New Roman" panose="02020603050405020304" pitchFamily="18" charset="0"/>
              </a:rPr>
              <a:t>Wallets.</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67945"/>
            <a:r>
              <a:rPr lang="en-US" sz="2400" dirty="0">
                <a:effectLst/>
                <a:latin typeface="Times New Roman" panose="02020603050405020304" pitchFamily="18" charset="0"/>
                <a:ea typeface="Calibri" panose="020F0502020204030204" pitchFamily="34" charset="0"/>
                <a:cs typeface="Times New Roman" panose="02020603050405020304" pitchFamily="18" charset="0"/>
              </a:rPr>
              <a:t>Smart</a:t>
            </a:r>
            <a:r>
              <a:rPr lang="en-US" sz="2400" spc="1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Contracts:</a:t>
            </a:r>
            <a:r>
              <a:rPr lang="en-US" sz="2400" spc="1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History</a:t>
            </a:r>
            <a:endParaRPr lang="en-US" sz="2400" spc="10" dirty="0">
              <a:effectLst/>
              <a:latin typeface="Times New Roman" panose="02020603050405020304" pitchFamily="18" charset="0"/>
              <a:ea typeface="Calibri" panose="020F0502020204030204" pitchFamily="34" charset="0"/>
              <a:cs typeface="Times New Roman" panose="02020603050405020304" pitchFamily="18" charset="0"/>
            </a:endParaRPr>
          </a:p>
          <a:p>
            <a:pPr marL="67945"/>
            <a:r>
              <a:rPr lang="en-US" sz="2400" dirty="0">
                <a:effectLst/>
                <a:latin typeface="Times New Roman" panose="02020603050405020304" pitchFamily="18" charset="0"/>
                <a:ea typeface="Calibri" panose="020F0502020204030204" pitchFamily="34" charset="0"/>
                <a:cs typeface="Times New Roman" panose="02020603050405020304" pitchFamily="18" charset="0"/>
              </a:rPr>
              <a:t>Definition</a:t>
            </a:r>
            <a:endParaRPr lang="en-US" sz="2400" spc="10" dirty="0">
              <a:effectLst/>
              <a:latin typeface="Times New Roman" panose="02020603050405020304" pitchFamily="18" charset="0"/>
              <a:ea typeface="Calibri" panose="020F0502020204030204" pitchFamily="34" charset="0"/>
              <a:cs typeface="Times New Roman" panose="02020603050405020304" pitchFamily="18" charset="0"/>
            </a:endParaRPr>
          </a:p>
          <a:p>
            <a:pPr marL="67945"/>
            <a:r>
              <a:rPr lang="en-US" sz="2400" dirty="0">
                <a:effectLst/>
                <a:latin typeface="Times New Roman" panose="02020603050405020304" pitchFamily="18" charset="0"/>
                <a:ea typeface="Calibri" panose="020F0502020204030204" pitchFamily="34" charset="0"/>
                <a:cs typeface="Times New Roman" panose="02020603050405020304" pitchFamily="18" charset="0"/>
              </a:rPr>
              <a:t>Ricardian</a:t>
            </a:r>
            <a:r>
              <a:rPr lang="en-US" sz="2400" spc="1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contracts</a:t>
            </a:r>
            <a:endParaRPr lang="en-IN" sz="24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3460652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7829" y="18256"/>
            <a:ext cx="10515600" cy="1026774"/>
          </a:xfrm>
        </p:spPr>
        <p:txBody>
          <a:bodyPr/>
          <a:lstStyle/>
          <a:p>
            <a:pPr algn="ctr"/>
            <a:r>
              <a:rPr lang="en-IN" dirty="0">
                <a:solidFill>
                  <a:srgbClr val="FF0000"/>
                </a:solidFill>
                <a:latin typeface="Times New Roman" panose="02020603050405020304" pitchFamily="18" charset="0"/>
                <a:cs typeface="Times New Roman" panose="02020603050405020304" pitchFamily="18" charset="0"/>
              </a:rPr>
              <a:t>Bitcoin</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96686" y="1164771"/>
            <a:ext cx="10657114" cy="5012192"/>
          </a:xfrm>
        </p:spPr>
        <p:txBody>
          <a:bodyPr>
            <a:normAutofit/>
          </a:bodyPr>
          <a:lstStyle/>
          <a:p>
            <a:r>
              <a:rPr lang="en-IN" dirty="0">
                <a:solidFill>
                  <a:srgbClr val="FF0000"/>
                </a:solidFill>
                <a:latin typeface="Times New Roman" panose="02020603050405020304" pitchFamily="18" charset="0"/>
                <a:cs typeface="Times New Roman" panose="02020603050405020304" pitchFamily="18" charset="0"/>
              </a:rPr>
              <a:t>Bitcoin</a:t>
            </a:r>
            <a:r>
              <a:rPr lang="en-IN" dirty="0">
                <a:latin typeface="Times New Roman" panose="02020603050405020304" pitchFamily="18" charset="0"/>
                <a:cs typeface="Times New Roman" panose="02020603050405020304" pitchFamily="18" charset="0"/>
              </a:rPr>
              <a:t> is the first application of the blockchain technology.</a:t>
            </a:r>
          </a:p>
          <a:p>
            <a:r>
              <a:rPr lang="en-IN" dirty="0">
                <a:latin typeface="Times New Roman" panose="02020603050405020304" pitchFamily="18" charset="0"/>
                <a:cs typeface="Times New Roman" panose="02020603050405020304" pitchFamily="18" charset="0"/>
              </a:rPr>
              <a:t>Bitcoin has started a revolution with the introduction of the very first fully </a:t>
            </a:r>
            <a:r>
              <a:rPr lang="en-IN" dirty="0">
                <a:solidFill>
                  <a:srgbClr val="FF0000"/>
                </a:solidFill>
                <a:latin typeface="Times New Roman" panose="02020603050405020304" pitchFamily="18" charset="0"/>
                <a:cs typeface="Times New Roman" panose="02020603050405020304" pitchFamily="18" charset="0"/>
              </a:rPr>
              <a:t>decentralized</a:t>
            </a:r>
            <a:r>
              <a:rPr lang="en-IN" dirty="0">
                <a:latin typeface="Times New Roman" panose="02020603050405020304" pitchFamily="18" charset="0"/>
                <a:cs typeface="Times New Roman" panose="02020603050405020304" pitchFamily="18" charset="0"/>
              </a:rPr>
              <a:t> digital currency and one that has proven to be extremely </a:t>
            </a:r>
            <a:r>
              <a:rPr lang="en-IN" dirty="0">
                <a:solidFill>
                  <a:srgbClr val="FF0000"/>
                </a:solidFill>
                <a:latin typeface="Times New Roman" panose="02020603050405020304" pitchFamily="18" charset="0"/>
                <a:cs typeface="Times New Roman" panose="02020603050405020304" pitchFamily="18" charset="0"/>
              </a:rPr>
              <a:t>secure</a:t>
            </a:r>
            <a:r>
              <a:rPr lang="en-IN" dirty="0">
                <a:latin typeface="Times New Roman" panose="02020603050405020304" pitchFamily="18" charset="0"/>
                <a:cs typeface="Times New Roman" panose="02020603050405020304" pitchFamily="18" charset="0"/>
              </a:rPr>
              <a:t> and </a:t>
            </a:r>
            <a:r>
              <a:rPr lang="en-IN" dirty="0">
                <a:solidFill>
                  <a:srgbClr val="FF0000"/>
                </a:solidFill>
                <a:latin typeface="Times New Roman" panose="02020603050405020304" pitchFamily="18" charset="0"/>
                <a:cs typeface="Times New Roman" panose="02020603050405020304" pitchFamily="18" charset="0"/>
              </a:rPr>
              <a:t>stable</a:t>
            </a:r>
            <a:r>
              <a:rPr lang="en-IN" dirty="0">
                <a:latin typeface="Times New Roman" panose="02020603050405020304" pitchFamily="18" charset="0"/>
                <a:cs typeface="Times New Roman" panose="02020603050405020304" pitchFamily="18" charset="0"/>
              </a:rPr>
              <a:t>.</a:t>
            </a:r>
          </a:p>
          <a:p>
            <a:pPr algn="just"/>
            <a:r>
              <a:rPr lang="en-IN" dirty="0">
                <a:latin typeface="Times New Roman" panose="02020603050405020304" pitchFamily="18" charset="0"/>
                <a:cs typeface="Times New Roman" panose="02020603050405020304" pitchFamily="18" charset="0"/>
              </a:rPr>
              <a:t>In 2008, a paper on bitcoin, </a:t>
            </a:r>
            <a:r>
              <a:rPr lang="en-IN" i="1" dirty="0">
                <a:latin typeface="Times New Roman" panose="02020603050405020304" pitchFamily="18" charset="0"/>
                <a:cs typeface="Times New Roman" panose="02020603050405020304" pitchFamily="18" charset="0"/>
              </a:rPr>
              <a:t>Bitcoin: A Peer-to-Peer Electronic Cash System </a:t>
            </a:r>
            <a:r>
              <a:rPr lang="en-IN" dirty="0">
                <a:latin typeface="Times New Roman" panose="02020603050405020304" pitchFamily="18" charset="0"/>
                <a:cs typeface="Times New Roman" panose="02020603050405020304" pitchFamily="18" charset="0"/>
              </a:rPr>
              <a:t>was written by </a:t>
            </a:r>
            <a:r>
              <a:rPr lang="en-IN" i="1" dirty="0">
                <a:latin typeface="Times New Roman" panose="02020603050405020304" pitchFamily="18" charset="0"/>
                <a:cs typeface="Times New Roman" panose="02020603050405020304" pitchFamily="18" charset="0"/>
              </a:rPr>
              <a:t>Satoshi Nakamoto</a:t>
            </a:r>
            <a:r>
              <a:rPr lang="en-IN" dirty="0">
                <a:latin typeface="Times New Roman" panose="02020603050405020304" pitchFamily="18" charset="0"/>
                <a:cs typeface="Times New Roman" panose="02020603050405020304" pitchFamily="18" charset="0"/>
              </a:rPr>
              <a:t>. The first key idea introduced in the paper was that purely peer-to-peer electronic cash that does need an intermediary bank to transfer payments between peers.</a:t>
            </a:r>
          </a:p>
        </p:txBody>
      </p:sp>
    </p:spTree>
    <p:extLst>
      <p:ext uri="{BB962C8B-B14F-4D97-AF65-F5344CB8AC3E}">
        <p14:creationId xmlns:p14="http://schemas.microsoft.com/office/powerpoint/2010/main" val="8656218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848D9A-A187-050C-FDBA-A88322952141}"/>
              </a:ext>
            </a:extLst>
          </p:cNvPr>
          <p:cNvSpPr>
            <a:spLocks noGrp="1"/>
          </p:cNvSpPr>
          <p:nvPr>
            <p:ph idx="1"/>
          </p:nvPr>
        </p:nvSpPr>
        <p:spPr>
          <a:xfrm>
            <a:off x="103239" y="235974"/>
            <a:ext cx="11739716" cy="5940989"/>
          </a:xfrm>
        </p:spPr>
        <p:txBody>
          <a:bodyPr>
            <a:normAutofit/>
          </a:bodyPr>
          <a:lstStyle/>
          <a:p>
            <a:pPr algn="just"/>
            <a:r>
              <a:rPr lang="en-IN" sz="2400" b="0" i="0" u="none" strike="noStrike" baseline="0" dirty="0">
                <a:latin typeface="Times New Roman" panose="02020603050405020304" pitchFamily="18" charset="0"/>
                <a:cs typeface="Times New Roman" panose="02020603050405020304" pitchFamily="18" charset="0"/>
              </a:rPr>
              <a:t>The key issue that has been addressed in bitcoin is an elegant solution to the </a:t>
            </a:r>
            <a:r>
              <a:rPr lang="en-IN" sz="2400" b="1" i="0" u="sng" strike="noStrike" baseline="0" dirty="0">
                <a:latin typeface="Times New Roman" panose="02020603050405020304" pitchFamily="18" charset="0"/>
                <a:cs typeface="Times New Roman" panose="02020603050405020304" pitchFamily="18" charset="0"/>
              </a:rPr>
              <a:t>Byzantine Generals problem</a:t>
            </a:r>
            <a:r>
              <a:rPr lang="en-IN" sz="2400" b="0" i="0" u="none" strike="noStrike" baseline="0" dirty="0">
                <a:latin typeface="Times New Roman" panose="02020603050405020304" pitchFamily="18" charset="0"/>
                <a:cs typeface="Times New Roman" panose="02020603050405020304" pitchFamily="18" charset="0"/>
              </a:rPr>
              <a:t> along with a practical solution of the </a:t>
            </a:r>
            <a:r>
              <a:rPr lang="en-IN" sz="2400" b="1" i="0" u="none" strike="noStrike" baseline="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double-spend problem</a:t>
            </a:r>
            <a:r>
              <a:rPr lang="en-IN" sz="2400" b="0" i="0" u="none" strike="noStrike" baseline="0" dirty="0">
                <a:latin typeface="Times New Roman" panose="02020603050405020304" pitchFamily="18" charset="0"/>
                <a:cs typeface="Times New Roman" panose="02020603050405020304" pitchFamily="18" charset="0"/>
              </a:rPr>
              <a:t>.</a:t>
            </a:r>
          </a:p>
          <a:p>
            <a:pPr algn="just"/>
            <a:r>
              <a:rPr lang="en-IN" sz="2400" dirty="0">
                <a:latin typeface="Times New Roman" panose="02020603050405020304" pitchFamily="18" charset="0"/>
                <a:cs typeface="Times New Roman" panose="02020603050405020304" pitchFamily="18" charset="0"/>
              </a:rPr>
              <a:t>The value of bitcoin has increased significantly since 2011, as shown in the following graph.</a:t>
            </a:r>
          </a:p>
          <a:p>
            <a:pPr algn="just"/>
            <a:endParaRPr lang="en-IN"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9D12C3AE-1C03-E30C-F389-14E31A5783DF}"/>
              </a:ext>
            </a:extLst>
          </p:cNvPr>
          <p:cNvPicPr>
            <a:picLocks noChangeAspect="1"/>
          </p:cNvPicPr>
          <p:nvPr/>
        </p:nvPicPr>
        <p:blipFill>
          <a:blip r:embed="rId2"/>
          <a:stretch>
            <a:fillRect/>
          </a:stretch>
        </p:blipFill>
        <p:spPr>
          <a:xfrm>
            <a:off x="349045" y="1784555"/>
            <a:ext cx="11154697" cy="4584137"/>
          </a:xfrm>
          <a:prstGeom prst="rect">
            <a:avLst/>
          </a:prstGeom>
        </p:spPr>
      </p:pic>
    </p:spTree>
    <p:extLst>
      <p:ext uri="{BB962C8B-B14F-4D97-AF65-F5344CB8AC3E}">
        <p14:creationId xmlns:p14="http://schemas.microsoft.com/office/powerpoint/2010/main" val="11979294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256"/>
            <a:ext cx="10515600" cy="939688"/>
          </a:xfrm>
        </p:spPr>
        <p:txBody>
          <a:bodyPr/>
          <a:lstStyle/>
          <a:p>
            <a:pPr algn="ctr"/>
            <a:r>
              <a:rPr lang="en-IN" b="1" dirty="0">
                <a:solidFill>
                  <a:srgbClr val="FF0000"/>
                </a:solidFill>
                <a:latin typeface="Times New Roman" panose="02020603050405020304" pitchFamily="18" charset="0"/>
                <a:cs typeface="Times New Roman" panose="02020603050405020304" pitchFamily="18" charset="0"/>
              </a:rPr>
              <a:t>Bitcoin definition</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393371"/>
            <a:ext cx="10515600" cy="4783592"/>
          </a:xfrm>
        </p:spPr>
        <p:txBody>
          <a:bodyPr>
            <a:normAutofit/>
          </a:bodyPr>
          <a:lstStyle/>
          <a:p>
            <a:r>
              <a:rPr lang="en-IN" dirty="0"/>
              <a:t>Bitcoin can be defined in various ways; it's a protocol, a digital currency and a platform.</a:t>
            </a:r>
          </a:p>
          <a:p>
            <a:r>
              <a:rPr lang="en-IN" dirty="0"/>
              <a:t> It is a combination of peer-to-peer network, protocols and software that facilitate the creation and usage of the digital currency named bitcoin. </a:t>
            </a:r>
          </a:p>
          <a:p>
            <a:r>
              <a:rPr lang="en-IN" dirty="0"/>
              <a:t>Bitcoin with a capital </a:t>
            </a:r>
            <a:r>
              <a:rPr lang="en-IN" i="1" dirty="0"/>
              <a:t>B </a:t>
            </a:r>
            <a:r>
              <a:rPr lang="en-IN" dirty="0"/>
              <a:t>is used to refer to the Bitcoin protocol, whereas bitcoin with a lowercase </a:t>
            </a:r>
            <a:r>
              <a:rPr lang="en-IN" i="1" dirty="0"/>
              <a:t>b </a:t>
            </a:r>
            <a:r>
              <a:rPr lang="en-IN" dirty="0"/>
              <a:t>is used to refer to bitcoin, the currency.</a:t>
            </a:r>
          </a:p>
        </p:txBody>
      </p:sp>
    </p:spTree>
    <p:extLst>
      <p:ext uri="{BB962C8B-B14F-4D97-AF65-F5344CB8AC3E}">
        <p14:creationId xmlns:p14="http://schemas.microsoft.com/office/powerpoint/2010/main" val="32551026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4657" y="-362745"/>
            <a:ext cx="10515600" cy="1325563"/>
          </a:xfrm>
        </p:spPr>
        <p:txBody>
          <a:bodyPr/>
          <a:lstStyle/>
          <a:p>
            <a:pPr algn="ctr"/>
            <a:r>
              <a:rPr lang="en-IN" b="1" dirty="0">
                <a:solidFill>
                  <a:srgbClr val="FF0000"/>
                </a:solidFill>
                <a:latin typeface="Times New Roman" panose="02020603050405020304" pitchFamily="18" charset="0"/>
                <a:cs typeface="Times New Roman" panose="02020603050405020304" pitchFamily="18" charset="0"/>
              </a:rPr>
              <a:t>Keys and addresses</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31371" y="822434"/>
            <a:ext cx="11266801" cy="5621909"/>
          </a:xfrm>
        </p:spPr>
        <p:txBody>
          <a:bodyPr/>
          <a:lstStyle/>
          <a:p>
            <a:r>
              <a:rPr lang="en-IN" dirty="0"/>
              <a:t>Elliptic curve cryptography is used to generate public and private key pairs in the Bitcoin network.</a:t>
            </a:r>
          </a:p>
          <a:p>
            <a:r>
              <a:rPr lang="en-IN" dirty="0"/>
              <a:t>The bitcoin address is created by taking the corresponding public key of a private key and hashing it twice, first with the SHA256 algorithm and then with RIPEMD160.</a:t>
            </a:r>
          </a:p>
          <a:p>
            <a:r>
              <a:rPr lang="en-IN" dirty="0"/>
              <a:t>The resultant 160-bit hash is then prefixed with a version number and finally encoded with a Base58Check encoding scheme.</a:t>
            </a:r>
          </a:p>
          <a:p>
            <a:pPr algn="just"/>
            <a:r>
              <a:rPr lang="en-IN" sz="2800" b="0" i="0" u="none" strike="noStrike" baseline="0" dirty="0">
                <a:latin typeface="Times New Roman" panose="02020603050405020304" pitchFamily="18" charset="0"/>
                <a:cs typeface="Times New Roman" panose="02020603050405020304" pitchFamily="18" charset="0"/>
              </a:rPr>
              <a:t>The bitcoin addresses are 26-35 characters long and begin with digit 1 or 3. </a:t>
            </a:r>
          </a:p>
          <a:p>
            <a:pPr algn="just"/>
            <a:r>
              <a:rPr lang="en-IN" sz="2800" b="0" i="0" u="none" strike="noStrike" baseline="0" dirty="0">
                <a:latin typeface="Times New Roman" panose="02020603050405020304" pitchFamily="18" charset="0"/>
                <a:cs typeface="Times New Roman" panose="02020603050405020304" pitchFamily="18" charset="0"/>
              </a:rPr>
              <a:t>A typical bitcoin address looks like a string shown here:</a:t>
            </a:r>
          </a:p>
          <a:p>
            <a:pPr marL="0" indent="0" algn="just">
              <a:buNone/>
            </a:pPr>
            <a:r>
              <a:rPr lang="en-IN" sz="2800" b="1" i="0" u="none" strike="noStrike" baseline="0" dirty="0">
                <a:latin typeface="Times New Roman" panose="02020603050405020304" pitchFamily="18" charset="0"/>
                <a:cs typeface="Times New Roman" panose="02020603050405020304" pitchFamily="18" charset="0"/>
              </a:rPr>
              <a:t>	1ANAguGG8bikEv2fYsTBnRUmx7QUcK58wt</a:t>
            </a:r>
            <a:endParaRPr lang="en-IN" sz="2800" b="1" dirty="0">
              <a:latin typeface="Times New Roman" panose="02020603050405020304" pitchFamily="18" charset="0"/>
              <a:cs typeface="Times New Roman" panose="02020603050405020304" pitchFamily="18" charset="0"/>
            </a:endParaRPr>
          </a:p>
          <a:p>
            <a:pPr algn="just"/>
            <a:endParaRPr lang="en-IN" sz="2800" b="0" i="0" u="none" strike="noStrike" baseline="0" dirty="0">
              <a:latin typeface="Times New Roman" panose="02020603050405020304" pitchFamily="18" charset="0"/>
              <a:cs typeface="Times New Roman" panose="02020603050405020304" pitchFamily="18" charset="0"/>
            </a:endParaRPr>
          </a:p>
          <a:p>
            <a:endParaRPr lang="en-IN" dirty="0"/>
          </a:p>
        </p:txBody>
      </p:sp>
      <p:pic>
        <p:nvPicPr>
          <p:cNvPr id="4" name="Picture 3">
            <a:extLst>
              <a:ext uri="{FF2B5EF4-FFF2-40B4-BE49-F238E27FC236}">
                <a16:creationId xmlns:a16="http://schemas.microsoft.com/office/drawing/2014/main" id="{7F168156-C7CC-A2AB-B936-57AD1AF1C8FB}"/>
              </a:ext>
            </a:extLst>
          </p:cNvPr>
          <p:cNvPicPr>
            <a:picLocks noChangeAspect="1"/>
          </p:cNvPicPr>
          <p:nvPr/>
        </p:nvPicPr>
        <p:blipFill>
          <a:blip r:embed="rId2"/>
          <a:stretch>
            <a:fillRect/>
          </a:stretch>
        </p:blipFill>
        <p:spPr>
          <a:xfrm>
            <a:off x="9590313" y="4408714"/>
            <a:ext cx="2307859" cy="1626852"/>
          </a:xfrm>
          <a:prstGeom prst="rect">
            <a:avLst/>
          </a:prstGeom>
        </p:spPr>
      </p:pic>
    </p:spTree>
    <p:extLst>
      <p:ext uri="{BB962C8B-B14F-4D97-AF65-F5344CB8AC3E}">
        <p14:creationId xmlns:p14="http://schemas.microsoft.com/office/powerpoint/2010/main" val="21361679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A diagram of a blockchain">
            <a:extLst>
              <a:ext uri="{FF2B5EF4-FFF2-40B4-BE49-F238E27FC236}">
                <a16:creationId xmlns:a16="http://schemas.microsoft.com/office/drawing/2014/main" id="{A07CCE16-968A-CD10-0524-EDFA706A520F}"/>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tretch>
            <a:fillRect/>
          </a:stretch>
        </p:blipFill>
        <p:spPr bwMode="auto">
          <a:xfrm>
            <a:off x="3569830" y="457200"/>
            <a:ext cx="4812628" cy="5719763"/>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57469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4265" y="472685"/>
            <a:ext cx="10515600" cy="6187867"/>
          </a:xfrm>
        </p:spPr>
        <p:txBody>
          <a:bodyPr/>
          <a:lstStyle/>
          <a:p>
            <a:r>
              <a:rPr lang="en-IN" dirty="0"/>
              <a:t>Currently, there are two types of addresses, the commonly used P2PKH and another P2SH type, starting with 1 and 3, respectively.</a:t>
            </a:r>
          </a:p>
          <a:p>
            <a:r>
              <a:rPr lang="en-GB" dirty="0"/>
              <a:t>P2PKH- pay to publilc key hash.</a:t>
            </a:r>
          </a:p>
          <a:p>
            <a:r>
              <a:rPr lang="en-GB" dirty="0"/>
              <a:t>P2SH- Pay to script hash.</a:t>
            </a:r>
          </a:p>
          <a:p>
            <a:endParaRPr lang="en-GB" dirty="0"/>
          </a:p>
          <a:p>
            <a:endParaRPr lang="en-IN" dirty="0"/>
          </a:p>
        </p:txBody>
      </p:sp>
      <p:pic>
        <p:nvPicPr>
          <p:cNvPr id="4" name="Picture 3"/>
          <p:cNvPicPr>
            <a:picLocks noChangeAspect="1"/>
          </p:cNvPicPr>
          <p:nvPr/>
        </p:nvPicPr>
        <p:blipFill>
          <a:blip r:embed="rId2"/>
          <a:stretch>
            <a:fillRect/>
          </a:stretch>
        </p:blipFill>
        <p:spPr>
          <a:xfrm>
            <a:off x="7302946" y="3704143"/>
            <a:ext cx="4795747" cy="2956410"/>
          </a:xfrm>
          <a:prstGeom prst="rect">
            <a:avLst/>
          </a:prstGeom>
        </p:spPr>
      </p:pic>
      <p:sp>
        <p:nvSpPr>
          <p:cNvPr id="5" name="Rectangle 4"/>
          <p:cNvSpPr/>
          <p:nvPr/>
        </p:nvSpPr>
        <p:spPr>
          <a:xfrm>
            <a:off x="8320289" y="3419937"/>
            <a:ext cx="3587842" cy="215444"/>
          </a:xfrm>
          <a:prstGeom prst="rect">
            <a:avLst/>
          </a:prstGeom>
        </p:spPr>
        <p:txBody>
          <a:bodyPr wrap="none">
            <a:spAutoFit/>
          </a:bodyPr>
          <a:lstStyle/>
          <a:p>
            <a:r>
              <a:rPr lang="en-IN" sz="800" b="1" i="0" u="none" strike="noStrike" baseline="0" dirty="0">
                <a:solidFill>
                  <a:srgbClr val="FF0000"/>
                </a:solidFill>
                <a:latin typeface="FreeSerif"/>
              </a:rPr>
              <a:t>From bitaddress.org private key and bitcoin address in a paper wallet</a:t>
            </a:r>
            <a:endParaRPr lang="en-IN" b="1" dirty="0">
              <a:solidFill>
                <a:srgbClr val="FF0000"/>
              </a:solidFill>
            </a:endParaRPr>
          </a:p>
        </p:txBody>
      </p:sp>
      <p:sp>
        <p:nvSpPr>
          <p:cNvPr id="2" name="Rectangle 2">
            <a:extLst>
              <a:ext uri="{FF2B5EF4-FFF2-40B4-BE49-F238E27FC236}">
                <a16:creationId xmlns:a16="http://schemas.microsoft.com/office/drawing/2014/main" id="{0F4944F2-3B3A-B667-7E7C-6D258C1C0B89}"/>
              </a:ext>
            </a:extLst>
          </p:cNvPr>
          <p:cNvSpPr>
            <a:spLocks noChangeArrowheads="1"/>
          </p:cNvSpPr>
          <p:nvPr/>
        </p:nvSpPr>
        <p:spPr bwMode="auto">
          <a:xfrm>
            <a:off x="614265" y="2612511"/>
            <a:ext cx="6688681"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P2SH Address Example: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3J98t1WpEZ73CNmQviecrnyiWrnqRhWNLy</a:t>
            </a:r>
          </a:p>
        </p:txBody>
      </p:sp>
    </p:spTree>
    <p:extLst>
      <p:ext uri="{BB962C8B-B14F-4D97-AF65-F5344CB8AC3E}">
        <p14:creationId xmlns:p14="http://schemas.microsoft.com/office/powerpoint/2010/main" val="244535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721429" y="197106"/>
            <a:ext cx="6705600" cy="924123"/>
          </a:xfrm>
        </p:spPr>
        <p:txBody>
          <a:bodyPr anchor="b">
            <a:noAutofit/>
          </a:bodyPr>
          <a:lstStyle/>
          <a:p>
            <a:pPr algn="ctr"/>
            <a:r>
              <a:rPr lang="en-IN" b="1" dirty="0">
                <a:solidFill>
                  <a:srgbClr val="FF0000"/>
                </a:solidFill>
                <a:latin typeface="Times New Roman" panose="02020603050405020304" pitchFamily="18" charset="0"/>
                <a:cs typeface="Times New Roman" panose="02020603050405020304" pitchFamily="18" charset="0"/>
              </a:rPr>
              <a:t>Public keys in bitcoin</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001486" y="1850571"/>
            <a:ext cx="5704114" cy="4220315"/>
          </a:xfrm>
        </p:spPr>
        <p:txBody>
          <a:bodyPr anchor="t">
            <a:normAutofit/>
          </a:bodyPr>
          <a:lstStyle/>
          <a:p>
            <a:pPr>
              <a:spcAft>
                <a:spcPts val="800"/>
              </a:spcAft>
              <a:defRPr/>
            </a:pPr>
            <a:r>
              <a:rPr lang="en-IN" sz="1600" kern="100" dirty="0">
                <a:ea typeface="Calibri" panose="020F0502020204030204" pitchFamily="34" charset="0"/>
                <a:cs typeface="Times New Roman" panose="02020603050405020304" pitchFamily="18" charset="0"/>
              </a:rPr>
              <a:t>In public key cryptography, public keys are generated from private keys.</a:t>
            </a:r>
          </a:p>
          <a:p>
            <a:pPr>
              <a:spcAft>
                <a:spcPts val="800"/>
              </a:spcAft>
              <a:defRPr/>
            </a:pPr>
            <a:r>
              <a:rPr lang="en-IN" sz="1600" kern="100" dirty="0">
                <a:ea typeface="Calibri" panose="020F0502020204030204" pitchFamily="34" charset="0"/>
                <a:cs typeface="Times New Roman" panose="02020603050405020304" pitchFamily="18" charset="0"/>
              </a:rPr>
              <a:t> Bitcoin uses ECC (</a:t>
            </a:r>
            <a:r>
              <a:rPr lang="en-IN" sz="1600" dirty="0"/>
              <a:t>Elliptic curve cryptography).</a:t>
            </a:r>
            <a:endParaRPr lang="en-IN" sz="1600" kern="100" dirty="0">
              <a:ea typeface="Calibri" panose="020F0502020204030204" pitchFamily="34" charset="0"/>
              <a:cs typeface="Times New Roman" panose="02020603050405020304" pitchFamily="18" charset="0"/>
            </a:endParaRPr>
          </a:p>
          <a:p>
            <a:pPr>
              <a:spcAft>
                <a:spcPts val="800"/>
              </a:spcAft>
              <a:defRPr/>
            </a:pPr>
            <a:r>
              <a:rPr lang="en-IN" sz="1600" kern="100" dirty="0">
                <a:ea typeface="Calibri" panose="020F0502020204030204" pitchFamily="34" charset="0"/>
                <a:cs typeface="Times New Roman" panose="02020603050405020304" pitchFamily="18" charset="0"/>
              </a:rPr>
              <a:t>A private key is randomly selected and is 256-bit in length. </a:t>
            </a:r>
          </a:p>
          <a:p>
            <a:pPr>
              <a:spcAft>
                <a:spcPts val="800"/>
              </a:spcAft>
              <a:defRPr/>
            </a:pPr>
            <a:r>
              <a:rPr lang="en-IN" sz="1600" kern="100" dirty="0">
                <a:ea typeface="Calibri" panose="020F0502020204030204" pitchFamily="34" charset="0"/>
                <a:cs typeface="Times New Roman" panose="02020603050405020304" pitchFamily="18" charset="0"/>
              </a:rPr>
              <a:t>Public keys can be presented in an uncompressed or compressed format. </a:t>
            </a:r>
          </a:p>
          <a:p>
            <a:pPr>
              <a:spcAft>
                <a:spcPts val="800"/>
              </a:spcAft>
              <a:defRPr/>
            </a:pPr>
            <a:r>
              <a:rPr lang="en-IN" sz="1600" kern="100" dirty="0">
                <a:ea typeface="Calibri" panose="020F0502020204030204" pitchFamily="34" charset="0"/>
                <a:cs typeface="Times New Roman" panose="02020603050405020304" pitchFamily="18" charset="0"/>
              </a:rPr>
              <a:t>Public keys are basically x and y coordinates on an elliptic curve and in an uncompressed format and are presented with a prefix of 04 in a hexadecimal format. </a:t>
            </a:r>
          </a:p>
          <a:p>
            <a:pPr>
              <a:defRPr/>
            </a:pPr>
            <a:r>
              <a:rPr lang="en-IN" sz="1600" dirty="0">
                <a:ea typeface="Calibri" panose="020F0502020204030204" pitchFamily="34" charset="0"/>
                <a:cs typeface="Times New Roman" panose="02020603050405020304" pitchFamily="18" charset="0"/>
              </a:rPr>
              <a:t>X and Y coordinates are both 32- bit in length</a:t>
            </a:r>
            <a:endParaRPr lang="en-IN" sz="1600" dirty="0"/>
          </a:p>
          <a:p>
            <a:endParaRPr lang="en-IN" sz="1600" dirty="0"/>
          </a:p>
        </p:txBody>
      </p:sp>
      <p:pic>
        <p:nvPicPr>
          <p:cNvPr id="7" name="Picture 6" descr="A diagram of a dollar sign&#10;&#10;AI-generated content may be incorrect.">
            <a:extLst>
              <a:ext uri="{FF2B5EF4-FFF2-40B4-BE49-F238E27FC236}">
                <a16:creationId xmlns:a16="http://schemas.microsoft.com/office/drawing/2014/main" id="{282836CE-CF42-14E7-15EA-67D219EA43BA}"/>
              </a:ext>
            </a:extLst>
          </p:cNvPr>
          <p:cNvPicPr>
            <a:picLocks noChangeAspect="1"/>
          </p:cNvPicPr>
          <p:nvPr/>
        </p:nvPicPr>
        <p:blipFill>
          <a:blip r:embed="rId2"/>
          <a:stretch>
            <a:fillRect/>
          </a:stretch>
        </p:blipFill>
        <p:spPr>
          <a:xfrm>
            <a:off x="7041845" y="2533476"/>
            <a:ext cx="4273463" cy="2884586"/>
          </a:xfrm>
          <a:prstGeom prst="rect">
            <a:avLst/>
          </a:prstGeom>
        </p:spPr>
      </p:pic>
      <p:grpSp>
        <p:nvGrpSpPr>
          <p:cNvPr id="12" name="Group 11">
            <a:extLst>
              <a:ext uri="{FF2B5EF4-FFF2-40B4-BE49-F238E27FC236}">
                <a16:creationId xmlns:a16="http://schemas.microsoft.com/office/drawing/2014/main" id="{C54A2A4D-19EF-3552-F383-6AD9587C8AF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2068638" y="0"/>
            <a:ext cx="123362" cy="6858000"/>
            <a:chOff x="12068638" y="0"/>
            <a:chExt cx="123362" cy="6858000"/>
          </a:xfrm>
        </p:grpSpPr>
        <p:sp>
          <p:nvSpPr>
            <p:cNvPr id="13" name="Rectangle 12">
              <a:extLst>
                <a:ext uri="{FF2B5EF4-FFF2-40B4-BE49-F238E27FC236}">
                  <a16:creationId xmlns:a16="http://schemas.microsoft.com/office/drawing/2014/main" id="{A9208F0F-2734-3945-8FD0-EEB19CF41A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62CFF5D9-43B9-9D58-6F3F-25041716D9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1528582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53143" y="566057"/>
            <a:ext cx="10700657" cy="5610906"/>
          </a:xfrm>
        </p:spPr>
        <p:txBody>
          <a:bodyPr>
            <a:normAutofit/>
          </a:bodyPr>
          <a:lstStyle/>
          <a:p>
            <a:pPr marL="0" indent="0">
              <a:buNone/>
            </a:pPr>
            <a:r>
              <a:rPr lang="en-IN" dirty="0">
                <a:solidFill>
                  <a:srgbClr val="FF0000"/>
                </a:solidFill>
              </a:rPr>
              <a:t>Keys are identified by various prefixes, described as follows:</a:t>
            </a:r>
          </a:p>
          <a:p>
            <a:r>
              <a:rPr lang="en-IN" b="1" dirty="0"/>
              <a:t>Uncompressed</a:t>
            </a:r>
            <a:r>
              <a:rPr lang="en-IN" dirty="0"/>
              <a:t> public keys used 0x04 as the prefix.</a:t>
            </a:r>
          </a:p>
          <a:p>
            <a:r>
              <a:rPr lang="en-IN" dirty="0"/>
              <a:t>Compressed public key starts with 0x03 (if the y 32-bit part of the public key is </a:t>
            </a:r>
            <a:r>
              <a:rPr lang="en-IN" b="1" dirty="0"/>
              <a:t>odd).</a:t>
            </a:r>
          </a:p>
          <a:p>
            <a:r>
              <a:rPr lang="en-IN" dirty="0"/>
              <a:t>Compressed public key starts with 0x02 (if the y 32-bit part of the public key is </a:t>
            </a:r>
            <a:r>
              <a:rPr lang="en-IN" b="1" dirty="0"/>
              <a:t>even).</a:t>
            </a:r>
          </a:p>
        </p:txBody>
      </p:sp>
    </p:spTree>
    <p:extLst>
      <p:ext uri="{BB962C8B-B14F-4D97-AF65-F5344CB8AC3E}">
        <p14:creationId xmlns:p14="http://schemas.microsoft.com/office/powerpoint/2010/main" val="33426541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579915" y="-20988"/>
            <a:ext cx="6760028" cy="1185759"/>
          </a:xfrm>
        </p:spPr>
        <p:txBody>
          <a:bodyPr anchor="b">
            <a:noAutofit/>
          </a:bodyPr>
          <a:lstStyle/>
          <a:p>
            <a:pPr algn="ctr"/>
            <a:r>
              <a:rPr lang="en-IN" b="1" dirty="0">
                <a:solidFill>
                  <a:srgbClr val="FF0000"/>
                </a:solidFill>
                <a:latin typeface="Times New Roman" panose="02020603050405020304" pitchFamily="18" charset="0"/>
                <a:cs typeface="Times New Roman" panose="02020603050405020304" pitchFamily="18" charset="0"/>
              </a:rPr>
              <a:t>Private keys in bitcoin</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001486" y="1513114"/>
            <a:ext cx="5094513" cy="4038600"/>
          </a:xfrm>
        </p:spPr>
        <p:txBody>
          <a:bodyPr anchor="t">
            <a:normAutofit/>
          </a:bodyPr>
          <a:lstStyle/>
          <a:p>
            <a:r>
              <a:rPr lang="en-IN" sz="2000" dirty="0"/>
              <a:t>Private keys are basically 256-bit numbers chosen in the range specified by the SECP256K1 ECDSA recommendation.</a:t>
            </a:r>
          </a:p>
          <a:p>
            <a:r>
              <a:rPr lang="en-IN" sz="2000" dirty="0"/>
              <a:t> Any randomly chosen 256-bit number from 0x1 to 0xFFFF FFFF </a:t>
            </a:r>
            <a:r>
              <a:rPr lang="en-IN" sz="2000" dirty="0" err="1"/>
              <a:t>FFFF</a:t>
            </a:r>
            <a:r>
              <a:rPr lang="en-IN" sz="2000" dirty="0"/>
              <a:t> </a:t>
            </a:r>
            <a:r>
              <a:rPr lang="en-IN" sz="2000" dirty="0" err="1"/>
              <a:t>FFFF</a:t>
            </a:r>
            <a:r>
              <a:rPr lang="en-IN" sz="2000" dirty="0"/>
              <a:t> </a:t>
            </a:r>
            <a:r>
              <a:rPr lang="en-IN" sz="2000" dirty="0" err="1"/>
              <a:t>FFFF</a:t>
            </a:r>
            <a:r>
              <a:rPr lang="en-IN" sz="2000" dirty="0"/>
              <a:t> </a:t>
            </a:r>
            <a:r>
              <a:rPr lang="en-IN" sz="2000" dirty="0" err="1"/>
              <a:t>FFFF</a:t>
            </a:r>
            <a:r>
              <a:rPr lang="en-IN" sz="2000" dirty="0"/>
              <a:t> </a:t>
            </a:r>
            <a:r>
              <a:rPr lang="en-IN" sz="2000" dirty="0" err="1"/>
              <a:t>FFFF</a:t>
            </a:r>
            <a:r>
              <a:rPr lang="en-IN" sz="2000" dirty="0"/>
              <a:t> FFFE BAAE DCE6 AF48 A03B BFD2 5E8C D036 4140 is a valid private key.</a:t>
            </a:r>
          </a:p>
          <a:p>
            <a:r>
              <a:rPr lang="en-IN" sz="2000" dirty="0"/>
              <a:t>Private keys are usually encoded using </a:t>
            </a:r>
            <a:r>
              <a:rPr lang="en-IN" sz="2000" b="1" dirty="0"/>
              <a:t>Wallet Import Format </a:t>
            </a:r>
            <a:r>
              <a:rPr lang="en-IN" sz="2000" dirty="0"/>
              <a:t>(</a:t>
            </a:r>
            <a:r>
              <a:rPr lang="en-IN" sz="2000" b="1" dirty="0"/>
              <a:t>WIF</a:t>
            </a:r>
            <a:r>
              <a:rPr lang="en-IN" sz="2000" dirty="0"/>
              <a:t>) in order to make them easier to copy and use.</a:t>
            </a:r>
          </a:p>
        </p:txBody>
      </p:sp>
      <p:pic>
        <p:nvPicPr>
          <p:cNvPr id="5" name="Picture 4">
            <a:extLst>
              <a:ext uri="{FF2B5EF4-FFF2-40B4-BE49-F238E27FC236}">
                <a16:creationId xmlns:a16="http://schemas.microsoft.com/office/drawing/2014/main" id="{06BA5B3D-1A0D-10AB-1F8F-139725135BFB}"/>
              </a:ext>
            </a:extLst>
          </p:cNvPr>
          <p:cNvPicPr>
            <a:picLocks noChangeAspect="1"/>
          </p:cNvPicPr>
          <p:nvPr/>
        </p:nvPicPr>
        <p:blipFill>
          <a:blip r:embed="rId2"/>
          <a:stretch>
            <a:fillRect/>
          </a:stretch>
        </p:blipFill>
        <p:spPr>
          <a:xfrm>
            <a:off x="7008019" y="2056150"/>
            <a:ext cx="4273463" cy="3637079"/>
          </a:xfrm>
          <a:prstGeom prst="rect">
            <a:avLst/>
          </a:prstGeom>
        </p:spPr>
      </p:pic>
      <p:grpSp>
        <p:nvGrpSpPr>
          <p:cNvPr id="10" name="Group 9">
            <a:extLst>
              <a:ext uri="{FF2B5EF4-FFF2-40B4-BE49-F238E27FC236}">
                <a16:creationId xmlns:a16="http://schemas.microsoft.com/office/drawing/2014/main" id="{C54A2A4D-19EF-3552-F383-6AD9587C8AF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2068638" y="0"/>
            <a:ext cx="123362" cy="6858000"/>
            <a:chOff x="12068638" y="0"/>
            <a:chExt cx="123362" cy="6858000"/>
          </a:xfrm>
        </p:grpSpPr>
        <p:sp>
          <p:nvSpPr>
            <p:cNvPr id="11" name="Rectangle 10">
              <a:extLst>
                <a:ext uri="{FF2B5EF4-FFF2-40B4-BE49-F238E27FC236}">
                  <a16:creationId xmlns:a16="http://schemas.microsoft.com/office/drawing/2014/main" id="{A9208F0F-2734-3945-8FD0-EEB19CF41A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2CFF5D9-43B9-9D58-6F3F-25041716D9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1495082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4915" y="0"/>
            <a:ext cx="10515600" cy="1325563"/>
          </a:xfrm>
        </p:spPr>
        <p:txBody>
          <a:bodyPr/>
          <a:lstStyle/>
          <a:p>
            <a:pPr algn="ctr"/>
            <a:r>
              <a:rPr lang="en-IN" b="1" dirty="0">
                <a:solidFill>
                  <a:srgbClr val="FF0000"/>
                </a:solidFill>
                <a:latin typeface="Times New Roman" panose="02020603050405020304" pitchFamily="18" charset="0"/>
                <a:cs typeface="Times New Roman" panose="02020603050405020304" pitchFamily="18" charset="0"/>
              </a:rPr>
              <a:t>Bitcoin currency units</a:t>
            </a:r>
            <a:endParaRPr lang="en-IN" dirty="0">
              <a:solidFill>
                <a:srgbClr val="FF0000"/>
              </a:solidFill>
              <a:latin typeface="Times New Roman" panose="02020603050405020304" pitchFamily="18" charset="0"/>
              <a:cs typeface="Times New Roman" panose="02020603050405020304" pitchFamily="18" charset="0"/>
            </a:endParaRPr>
          </a:p>
        </p:txBody>
      </p:sp>
      <p:pic>
        <p:nvPicPr>
          <p:cNvPr id="4" name="Content Placeholder 3"/>
          <p:cNvPicPr>
            <a:picLocks noGrp="1" noChangeAspect="1"/>
          </p:cNvPicPr>
          <p:nvPr>
            <p:ph idx="1"/>
          </p:nvPr>
        </p:nvPicPr>
        <p:blipFill>
          <a:blip r:embed="rId2"/>
          <a:stretch>
            <a:fillRect/>
          </a:stretch>
        </p:blipFill>
        <p:spPr>
          <a:xfrm>
            <a:off x="2329543" y="1714648"/>
            <a:ext cx="7968343" cy="4810560"/>
          </a:xfrm>
          <a:prstGeom prst="rect">
            <a:avLst/>
          </a:prstGeom>
        </p:spPr>
      </p:pic>
    </p:spTree>
    <p:extLst>
      <p:ext uri="{BB962C8B-B14F-4D97-AF65-F5344CB8AC3E}">
        <p14:creationId xmlns:p14="http://schemas.microsoft.com/office/powerpoint/2010/main" val="33167564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54620"/>
            <a:ext cx="10515600" cy="1325563"/>
          </a:xfrm>
        </p:spPr>
        <p:txBody>
          <a:bodyPr/>
          <a:lstStyle/>
          <a:p>
            <a:pPr algn="ctr"/>
            <a:r>
              <a:rPr lang="en-IN" b="1" dirty="0">
                <a:solidFill>
                  <a:srgbClr val="FF0000"/>
                </a:solidFill>
                <a:latin typeface="Times New Roman" panose="02020603050405020304" pitchFamily="18" charset="0"/>
                <a:cs typeface="Times New Roman" panose="02020603050405020304" pitchFamily="18" charset="0"/>
              </a:rPr>
              <a:t>Base58Check encoding</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121228" y="1698171"/>
            <a:ext cx="10232571" cy="4478792"/>
          </a:xfrm>
        </p:spPr>
        <p:txBody>
          <a:bodyPr/>
          <a:lstStyle/>
          <a:p>
            <a:r>
              <a:rPr lang="en-IN" dirty="0"/>
              <a:t>This encoding is used to limit the confusion between various characters, such as 0OIl as they can look the same in different fonts. </a:t>
            </a:r>
          </a:p>
          <a:p>
            <a:r>
              <a:rPr lang="en-IN" dirty="0"/>
              <a:t>The encoding basically takes the binary byte arrays and converts them into human-readable strings. </a:t>
            </a:r>
          </a:p>
          <a:p>
            <a:r>
              <a:rPr lang="en-IN" dirty="0"/>
              <a:t>This string is composed by utlilizing a set of 58 alphanumeric symbols.</a:t>
            </a:r>
          </a:p>
        </p:txBody>
      </p:sp>
    </p:spTree>
    <p:extLst>
      <p:ext uri="{BB962C8B-B14F-4D97-AF65-F5344CB8AC3E}">
        <p14:creationId xmlns:p14="http://schemas.microsoft.com/office/powerpoint/2010/main" val="40224205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descr="A screenshot of a computer">
            <a:extLst>
              <a:ext uri="{FF2B5EF4-FFF2-40B4-BE49-F238E27FC236}">
                <a16:creationId xmlns:a16="http://schemas.microsoft.com/office/drawing/2014/main" id="{FAAFB121-8EBC-8A5D-C12C-63FBA0916A3A}"/>
              </a:ext>
            </a:extLst>
          </p:cNvPr>
          <p:cNvPicPr>
            <a:picLocks noGrp="1" noChangeAspect="1"/>
          </p:cNvPicPr>
          <p:nvPr>
            <p:ph idx="1"/>
          </p:nvPr>
        </p:nvPicPr>
        <p:blipFill>
          <a:blip r:embed="rId2"/>
          <a:srcRect t="15821" b="8060"/>
          <a:stretch/>
        </p:blipFill>
        <p:spPr>
          <a:xfrm>
            <a:off x="283814" y="653142"/>
            <a:ext cx="11878736" cy="5083629"/>
          </a:xfrm>
        </p:spPr>
      </p:pic>
    </p:spTree>
    <p:extLst>
      <p:ext uri="{BB962C8B-B14F-4D97-AF65-F5344CB8AC3E}">
        <p14:creationId xmlns:p14="http://schemas.microsoft.com/office/powerpoint/2010/main" val="11474520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screenshot of a computer">
            <a:extLst>
              <a:ext uri="{FF2B5EF4-FFF2-40B4-BE49-F238E27FC236}">
                <a16:creationId xmlns:a16="http://schemas.microsoft.com/office/drawing/2014/main" id="{C5B4FDA7-EE9C-FC9F-FD1D-0B2D4ADD674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59971" y="824138"/>
            <a:ext cx="9870937" cy="5043261"/>
          </a:xfrm>
        </p:spPr>
      </p:pic>
    </p:spTree>
    <p:extLst>
      <p:ext uri="{BB962C8B-B14F-4D97-AF65-F5344CB8AC3E}">
        <p14:creationId xmlns:p14="http://schemas.microsoft.com/office/powerpoint/2010/main" val="29087021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91EC2A-5C9E-DE5A-264F-DEEB823A75B6}"/>
              </a:ext>
            </a:extLst>
          </p:cNvPr>
          <p:cNvSpPr>
            <a:spLocks noGrp="1"/>
          </p:cNvSpPr>
          <p:nvPr>
            <p:ph type="title"/>
          </p:nvPr>
        </p:nvSpPr>
        <p:spPr>
          <a:xfrm>
            <a:off x="718457" y="114754"/>
            <a:ext cx="10515600" cy="1325563"/>
          </a:xfrm>
        </p:spPr>
        <p:txBody>
          <a:bodyPr/>
          <a:lstStyle/>
          <a:p>
            <a:pPr algn="ctr"/>
            <a:r>
              <a:rPr lang="en-US" dirty="0">
                <a:solidFill>
                  <a:srgbClr val="FF0000"/>
                </a:solidFill>
                <a:latin typeface="Times New Roman" panose="02020603050405020304" pitchFamily="18" charset="0"/>
                <a:cs typeface="Times New Roman" panose="02020603050405020304" pitchFamily="18" charset="0"/>
              </a:rPr>
              <a:t>Why base58 instead of base64</a:t>
            </a:r>
            <a:endParaRPr lang="en-IN" dirty="0">
              <a:solidFill>
                <a:srgbClr val="FF0000"/>
              </a:solidFill>
              <a:latin typeface="Times New Roman" panose="02020603050405020304" pitchFamily="18" charset="0"/>
              <a:cs typeface="Times New Roman" panose="02020603050405020304" pitchFamily="18" charset="0"/>
            </a:endParaRPr>
          </a:p>
        </p:txBody>
      </p:sp>
      <p:pic>
        <p:nvPicPr>
          <p:cNvPr id="4" name="Content Placeholder 4">
            <a:extLst>
              <a:ext uri="{FF2B5EF4-FFF2-40B4-BE49-F238E27FC236}">
                <a16:creationId xmlns:a16="http://schemas.microsoft.com/office/drawing/2014/main" id="{DB1FD6A6-531E-4DDF-79E4-71317E57E223}"/>
              </a:ext>
            </a:extLst>
          </p:cNvPr>
          <p:cNvPicPr>
            <a:picLocks noGrp="1" noChangeAspect="1"/>
          </p:cNvPicPr>
          <p:nvPr>
            <p:ph idx="1"/>
          </p:nvPr>
        </p:nvPicPr>
        <p:blipFill>
          <a:blip r:embed="rId2"/>
          <a:stretch>
            <a:fillRect/>
          </a:stretch>
        </p:blipFill>
        <p:spPr>
          <a:xfrm>
            <a:off x="1230086" y="1709058"/>
            <a:ext cx="10112827" cy="4299856"/>
          </a:xfrm>
        </p:spPr>
      </p:pic>
    </p:spTree>
    <p:extLst>
      <p:ext uri="{BB962C8B-B14F-4D97-AF65-F5344CB8AC3E}">
        <p14:creationId xmlns:p14="http://schemas.microsoft.com/office/powerpoint/2010/main" val="17484339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descr="A screenshot of a computer">
            <a:extLst>
              <a:ext uri="{FF2B5EF4-FFF2-40B4-BE49-F238E27FC236}">
                <a16:creationId xmlns:a16="http://schemas.microsoft.com/office/drawing/2014/main" id="{46AE96A8-9CF6-FE25-EE01-2CA40C4CF38D}"/>
              </a:ext>
            </a:extLst>
          </p:cNvPr>
          <p:cNvPicPr>
            <a:picLocks noChangeAspect="1"/>
          </p:cNvPicPr>
          <p:nvPr/>
        </p:nvPicPr>
        <p:blipFill>
          <a:blip r:embed="rId2"/>
          <a:srcRect t="17893" b="9798"/>
          <a:stretch/>
        </p:blipFill>
        <p:spPr>
          <a:xfrm>
            <a:off x="476704" y="1083039"/>
            <a:ext cx="11541125" cy="4691922"/>
          </a:xfrm>
          <a:prstGeom prst="rect">
            <a:avLst/>
          </a:prstGeom>
        </p:spPr>
      </p:pic>
    </p:spTree>
    <p:extLst>
      <p:ext uri="{BB962C8B-B14F-4D97-AF65-F5344CB8AC3E}">
        <p14:creationId xmlns:p14="http://schemas.microsoft.com/office/powerpoint/2010/main" val="25888862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5" descr="A screenshot of a computer">
            <a:extLst>
              <a:ext uri="{FF2B5EF4-FFF2-40B4-BE49-F238E27FC236}">
                <a16:creationId xmlns:a16="http://schemas.microsoft.com/office/drawing/2014/main" id="{579AE9BB-D76E-2671-13FE-A0C9FB92BDE5}"/>
              </a:ext>
            </a:extLst>
          </p:cNvPr>
          <p:cNvPicPr>
            <a:picLocks noGrp="1" noChangeAspect="1"/>
          </p:cNvPicPr>
          <p:nvPr>
            <p:ph idx="1"/>
          </p:nvPr>
        </p:nvPicPr>
        <p:blipFill>
          <a:blip r:embed="rId2"/>
          <a:srcRect t="17073" b="10366"/>
          <a:stretch/>
        </p:blipFill>
        <p:spPr>
          <a:xfrm>
            <a:off x="1080654" y="762000"/>
            <a:ext cx="10044545" cy="5486400"/>
          </a:xfrm>
        </p:spPr>
      </p:pic>
    </p:spTree>
    <p:extLst>
      <p:ext uri="{BB962C8B-B14F-4D97-AF65-F5344CB8AC3E}">
        <p14:creationId xmlns:p14="http://schemas.microsoft.com/office/powerpoint/2010/main" val="27699095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descr="A screenshot of a computer">
            <a:extLst>
              <a:ext uri="{FF2B5EF4-FFF2-40B4-BE49-F238E27FC236}">
                <a16:creationId xmlns:a16="http://schemas.microsoft.com/office/drawing/2014/main" id="{B01CCA1F-0C62-AC2E-D1E0-4DB042FA8F35}"/>
              </a:ext>
            </a:extLst>
          </p:cNvPr>
          <p:cNvPicPr>
            <a:picLocks noGrp="1" noChangeAspect="1"/>
          </p:cNvPicPr>
          <p:nvPr>
            <p:ph idx="1"/>
          </p:nvPr>
        </p:nvPicPr>
        <p:blipFill>
          <a:blip r:embed="rId2"/>
          <a:srcRect l="2731" t="17545" r="23762" b="31610"/>
          <a:stretch/>
        </p:blipFill>
        <p:spPr>
          <a:xfrm>
            <a:off x="924443" y="803563"/>
            <a:ext cx="10652959" cy="5051685"/>
          </a:xfrm>
        </p:spPr>
      </p:pic>
    </p:spTree>
    <p:extLst>
      <p:ext uri="{BB962C8B-B14F-4D97-AF65-F5344CB8AC3E}">
        <p14:creationId xmlns:p14="http://schemas.microsoft.com/office/powerpoint/2010/main" val="12090040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screenshot of a computer">
            <a:extLst>
              <a:ext uri="{FF2B5EF4-FFF2-40B4-BE49-F238E27FC236}">
                <a16:creationId xmlns:a16="http://schemas.microsoft.com/office/drawing/2014/main" id="{E2E02B6C-80F2-054F-490F-3A4A817DD20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38811" y="966447"/>
            <a:ext cx="9523374" cy="4925106"/>
          </a:xfrm>
        </p:spPr>
      </p:pic>
    </p:spTree>
    <p:extLst>
      <p:ext uri="{BB962C8B-B14F-4D97-AF65-F5344CB8AC3E}">
        <p14:creationId xmlns:p14="http://schemas.microsoft.com/office/powerpoint/2010/main" val="35033016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screenshot of a graph">
            <a:extLst>
              <a:ext uri="{FF2B5EF4-FFF2-40B4-BE49-F238E27FC236}">
                <a16:creationId xmlns:a16="http://schemas.microsoft.com/office/drawing/2014/main" id="{44BFE063-F719-965F-F049-1984C885B7C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88150" y="609600"/>
            <a:ext cx="10015699" cy="5436734"/>
          </a:xfrm>
        </p:spPr>
      </p:pic>
    </p:spTree>
    <p:extLst>
      <p:ext uri="{BB962C8B-B14F-4D97-AF65-F5344CB8AC3E}">
        <p14:creationId xmlns:p14="http://schemas.microsoft.com/office/powerpoint/2010/main" val="13537436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screenshot of a computer">
            <a:extLst>
              <a:ext uri="{FF2B5EF4-FFF2-40B4-BE49-F238E27FC236}">
                <a16:creationId xmlns:a16="http://schemas.microsoft.com/office/drawing/2014/main" id="{D8041C03-EB29-F698-3010-6815A1D0224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18457" y="1472075"/>
            <a:ext cx="10515600" cy="3403810"/>
          </a:xfrm>
        </p:spPr>
      </p:pic>
    </p:spTree>
    <p:extLst>
      <p:ext uri="{BB962C8B-B14F-4D97-AF65-F5344CB8AC3E}">
        <p14:creationId xmlns:p14="http://schemas.microsoft.com/office/powerpoint/2010/main" val="34354709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6686" y="-33636"/>
            <a:ext cx="10515600" cy="1325563"/>
          </a:xfrm>
        </p:spPr>
        <p:txBody>
          <a:bodyPr/>
          <a:lstStyle/>
          <a:p>
            <a:pPr algn="ctr"/>
            <a:r>
              <a:rPr lang="en-IN" b="1" dirty="0">
                <a:solidFill>
                  <a:srgbClr val="FF0000"/>
                </a:solidFill>
                <a:latin typeface="Times New Roman" panose="02020603050405020304" pitchFamily="18" charset="0"/>
                <a:cs typeface="Times New Roman" panose="02020603050405020304" pitchFamily="18" charset="0"/>
              </a:rPr>
              <a:t>Vanity addresses</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426029"/>
            <a:ext cx="10515600" cy="4750934"/>
          </a:xfrm>
        </p:spPr>
        <p:txBody>
          <a:bodyPr/>
          <a:lstStyle/>
          <a:p>
            <a:r>
              <a:rPr lang="en-IN" dirty="0"/>
              <a:t>As bitcoin addresses are based on base58 encoding, it is possible to generate addresses that contain human-readable messages.</a:t>
            </a:r>
          </a:p>
          <a:p>
            <a:r>
              <a:rPr lang="en-IN" sz="2800" dirty="0">
                <a:latin typeface="Times New Roman" panose="02020603050405020304" pitchFamily="18" charset="0"/>
                <a:cs typeface="Times New Roman" panose="02020603050405020304" pitchFamily="18" charset="0"/>
                <a:hlinkClick r:id="rId2"/>
              </a:rPr>
              <a:t>https://vanitygen.net/</a:t>
            </a:r>
            <a:endParaRPr lang="en-IN" sz="2800" dirty="0">
              <a:latin typeface="Times New Roman" panose="02020603050405020304" pitchFamily="18" charset="0"/>
              <a:cs typeface="Times New Roman" panose="02020603050405020304" pitchFamily="18" charset="0"/>
            </a:endParaRPr>
          </a:p>
          <a:p>
            <a:endParaRPr lang="en-IN" dirty="0"/>
          </a:p>
          <a:p>
            <a:endParaRPr lang="en-GB" dirty="0"/>
          </a:p>
          <a:p>
            <a:endParaRPr lang="en-IN" dirty="0"/>
          </a:p>
        </p:txBody>
      </p:sp>
      <p:pic>
        <p:nvPicPr>
          <p:cNvPr id="4" name="Picture 3"/>
          <p:cNvPicPr>
            <a:picLocks noChangeAspect="1"/>
          </p:cNvPicPr>
          <p:nvPr/>
        </p:nvPicPr>
        <p:blipFill>
          <a:blip r:embed="rId3"/>
          <a:stretch>
            <a:fillRect/>
          </a:stretch>
        </p:blipFill>
        <p:spPr>
          <a:xfrm>
            <a:off x="4847628" y="2820089"/>
            <a:ext cx="2694617" cy="3283942"/>
          </a:xfrm>
          <a:prstGeom prst="rect">
            <a:avLst/>
          </a:prstGeom>
        </p:spPr>
      </p:pic>
      <p:sp>
        <p:nvSpPr>
          <p:cNvPr id="5" name="Rectangle 4"/>
          <p:cNvSpPr/>
          <p:nvPr/>
        </p:nvSpPr>
        <p:spPr>
          <a:xfrm>
            <a:off x="5206835" y="2729343"/>
            <a:ext cx="2335410" cy="261610"/>
          </a:xfrm>
          <a:prstGeom prst="rect">
            <a:avLst/>
          </a:prstGeom>
        </p:spPr>
        <p:txBody>
          <a:bodyPr wrap="square">
            <a:spAutoFit/>
          </a:bodyPr>
          <a:lstStyle/>
          <a:p>
            <a:r>
              <a:rPr lang="en-IN" sz="1100" b="1" dirty="0">
                <a:latin typeface="FreeSerif"/>
              </a:rPr>
              <a:t>Public address encoded in QR</a:t>
            </a:r>
            <a:endParaRPr lang="en-IN" sz="3200" b="1" dirty="0"/>
          </a:p>
        </p:txBody>
      </p:sp>
    </p:spTree>
    <p:extLst>
      <p:ext uri="{BB962C8B-B14F-4D97-AF65-F5344CB8AC3E}">
        <p14:creationId xmlns:p14="http://schemas.microsoft.com/office/powerpoint/2010/main" val="7069464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90600" y="1186543"/>
            <a:ext cx="10363200" cy="4990420"/>
          </a:xfrm>
        </p:spPr>
        <p:txBody>
          <a:bodyPr/>
          <a:lstStyle/>
          <a:p>
            <a:r>
              <a:rPr lang="en-IN" dirty="0"/>
              <a:t>Vanity addresses are generated using a purely brute-force method. An example is shown in the following screenshot:</a:t>
            </a:r>
          </a:p>
        </p:txBody>
      </p:sp>
      <p:pic>
        <p:nvPicPr>
          <p:cNvPr id="4" name="Picture 3"/>
          <p:cNvPicPr>
            <a:picLocks noChangeAspect="1"/>
          </p:cNvPicPr>
          <p:nvPr/>
        </p:nvPicPr>
        <p:blipFill>
          <a:blip r:embed="rId2"/>
          <a:stretch>
            <a:fillRect/>
          </a:stretch>
        </p:blipFill>
        <p:spPr>
          <a:xfrm>
            <a:off x="2323319" y="2424187"/>
            <a:ext cx="7545362" cy="3953998"/>
          </a:xfrm>
          <a:prstGeom prst="rect">
            <a:avLst/>
          </a:prstGeom>
        </p:spPr>
      </p:pic>
    </p:spTree>
    <p:extLst>
      <p:ext uri="{BB962C8B-B14F-4D97-AF65-F5344CB8AC3E}">
        <p14:creationId xmlns:p14="http://schemas.microsoft.com/office/powerpoint/2010/main" val="41112794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4915" y="-222704"/>
            <a:ext cx="10515600" cy="1325563"/>
          </a:xfrm>
        </p:spPr>
        <p:txBody>
          <a:bodyPr/>
          <a:lstStyle/>
          <a:p>
            <a:pPr algn="ctr"/>
            <a:r>
              <a:rPr lang="en-IN" b="1" dirty="0">
                <a:solidFill>
                  <a:srgbClr val="FF0000"/>
                </a:solidFill>
                <a:latin typeface="Times New Roman" panose="02020603050405020304" pitchFamily="18" charset="0"/>
                <a:cs typeface="Times New Roman" panose="02020603050405020304" pitchFamily="18" charset="0"/>
              </a:rPr>
              <a:t>Transactions</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102859"/>
            <a:ext cx="10515600" cy="5074104"/>
          </a:xfrm>
        </p:spPr>
        <p:txBody>
          <a:bodyPr>
            <a:normAutofit/>
          </a:bodyPr>
          <a:lstStyle/>
          <a:p>
            <a:pPr algn="just"/>
            <a:r>
              <a:rPr lang="en-IN" dirty="0">
                <a:latin typeface="Times New Roman" panose="02020603050405020304" pitchFamily="18" charset="0"/>
                <a:cs typeface="Times New Roman" panose="02020603050405020304" pitchFamily="18" charset="0"/>
              </a:rPr>
              <a:t>Transactions are the core of bitcoin ecosystem.</a:t>
            </a:r>
          </a:p>
          <a:p>
            <a:pPr algn="just"/>
            <a:r>
              <a:rPr lang="en-IN" dirty="0">
                <a:latin typeface="Times New Roman" panose="02020603050405020304" pitchFamily="18" charset="0"/>
                <a:cs typeface="Times New Roman" panose="02020603050405020304" pitchFamily="18" charset="0"/>
              </a:rPr>
              <a:t>Each transaction is composed of at least one input and output.</a:t>
            </a:r>
          </a:p>
          <a:p>
            <a:pPr algn="just"/>
            <a:r>
              <a:rPr lang="en-IN" dirty="0">
                <a:latin typeface="Times New Roman" panose="02020603050405020304" pitchFamily="18" charset="0"/>
                <a:cs typeface="Times New Roman" panose="02020603050405020304" pitchFamily="18" charset="0"/>
              </a:rPr>
              <a:t>Inputs can be thought of as coins being spent that have been created in a previous transaction and outputs as coins being created.</a:t>
            </a:r>
          </a:p>
          <a:p>
            <a:pPr algn="just"/>
            <a:r>
              <a:rPr lang="en-IN" dirty="0">
                <a:latin typeface="Times New Roman" panose="02020603050405020304" pitchFamily="18" charset="0"/>
                <a:cs typeface="Times New Roman" panose="02020603050405020304" pitchFamily="18" charset="0"/>
              </a:rPr>
              <a:t>If a transaction is minting new coins, then there is no input and therefore no signature is needed.</a:t>
            </a:r>
          </a:p>
          <a:p>
            <a:pPr algn="just"/>
            <a:r>
              <a:rPr lang="en-IN" dirty="0">
                <a:latin typeface="Times New Roman" panose="02020603050405020304" pitchFamily="18" charset="0"/>
                <a:cs typeface="Times New Roman" panose="02020603050405020304" pitchFamily="18" charset="0"/>
              </a:rPr>
              <a:t>If transaction is to sends coins to some other user (a bitcoin address), then it needs to be signed by the sender with their private key and a reference is also required to the previous transaction in order to show the origin of the coins.</a:t>
            </a:r>
          </a:p>
        </p:txBody>
      </p:sp>
    </p:spTree>
    <p:extLst>
      <p:ext uri="{BB962C8B-B14F-4D97-AF65-F5344CB8AC3E}">
        <p14:creationId xmlns:p14="http://schemas.microsoft.com/office/powerpoint/2010/main" val="27102787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4028" y="-200933"/>
            <a:ext cx="10515600" cy="1325563"/>
          </a:xfrm>
        </p:spPr>
        <p:txBody>
          <a:bodyPr/>
          <a:lstStyle/>
          <a:p>
            <a:pPr algn="ctr"/>
            <a:r>
              <a:rPr lang="en-IN" b="1" dirty="0">
                <a:solidFill>
                  <a:srgbClr val="FF0000"/>
                </a:solidFill>
                <a:latin typeface="Times New Roman" panose="02020603050405020304" pitchFamily="18" charset="0"/>
                <a:cs typeface="Times New Roman" panose="02020603050405020304" pitchFamily="18" charset="0"/>
              </a:rPr>
              <a:t>The transaction life cycle</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124630"/>
            <a:ext cx="10515600" cy="5052333"/>
          </a:xfrm>
        </p:spPr>
        <p:txBody>
          <a:bodyPr>
            <a:noAutofit/>
          </a:bodyPr>
          <a:lstStyle/>
          <a:p>
            <a:pPr marL="342900" indent="-342900" algn="just">
              <a:buAutoNum type="arabicPeriod"/>
            </a:pPr>
            <a:r>
              <a:rPr lang="en-IN" sz="2400" b="0" i="0" u="none" strike="noStrike" baseline="0" dirty="0">
                <a:latin typeface="Times New Roman" panose="02020603050405020304" pitchFamily="18" charset="0"/>
                <a:cs typeface="Times New Roman" panose="02020603050405020304" pitchFamily="18" charset="0"/>
              </a:rPr>
              <a:t>A user/sender sends a transaction using wallet software or some other interface.</a:t>
            </a:r>
          </a:p>
          <a:p>
            <a:pPr marL="0" indent="0" algn="just">
              <a:buNone/>
            </a:pPr>
            <a:r>
              <a:rPr lang="en-IN" sz="2400" b="0" i="0" u="none" strike="noStrike" baseline="0" dirty="0">
                <a:latin typeface="Times New Roman" panose="02020603050405020304" pitchFamily="18" charset="0"/>
                <a:cs typeface="Times New Roman" panose="02020603050405020304" pitchFamily="18" charset="0"/>
              </a:rPr>
              <a:t>2. The wallet software signs the transaction using the sender's private key.</a:t>
            </a:r>
          </a:p>
          <a:p>
            <a:pPr marL="0" indent="0" algn="just">
              <a:buNone/>
            </a:pPr>
            <a:r>
              <a:rPr lang="en-IN" sz="2400" b="0" i="0" u="none" strike="noStrike" baseline="0" dirty="0">
                <a:latin typeface="Times New Roman" panose="02020603050405020304" pitchFamily="18" charset="0"/>
                <a:cs typeface="Times New Roman" panose="02020603050405020304" pitchFamily="18" charset="0"/>
              </a:rPr>
              <a:t>3. The transaction is broadcasted to the Bitcoin network using a flooding algorithm.</a:t>
            </a:r>
          </a:p>
          <a:p>
            <a:pPr marL="0" indent="0" algn="just">
              <a:buNone/>
            </a:pPr>
            <a:r>
              <a:rPr lang="en-IN" sz="2400" b="0" i="0" u="none" strike="noStrike" baseline="0" dirty="0">
                <a:latin typeface="Times New Roman" panose="02020603050405020304" pitchFamily="18" charset="0"/>
                <a:cs typeface="Times New Roman" panose="02020603050405020304" pitchFamily="18" charset="0"/>
              </a:rPr>
              <a:t>4. Mining nodes include this transaction in the next block to be mined.</a:t>
            </a:r>
          </a:p>
          <a:p>
            <a:pPr marL="0" indent="0" algn="just">
              <a:buNone/>
            </a:pPr>
            <a:r>
              <a:rPr lang="en-IN" sz="2400" b="0" i="0" u="none" strike="noStrike" baseline="0" dirty="0">
                <a:latin typeface="Times New Roman" panose="02020603050405020304" pitchFamily="18" charset="0"/>
                <a:cs typeface="Times New Roman" panose="02020603050405020304" pitchFamily="18" charset="0"/>
              </a:rPr>
              <a:t>5. Mining starts once a miner who solves the Proof of Work problem broadcasts the newly mined block to the network. </a:t>
            </a:r>
          </a:p>
          <a:p>
            <a:pPr marL="0" indent="0" algn="just">
              <a:buNone/>
            </a:pPr>
            <a:r>
              <a:rPr lang="en-IN" sz="2400" b="0" i="0" u="none" strike="noStrike" baseline="0" dirty="0">
                <a:latin typeface="Times New Roman" panose="02020603050405020304" pitchFamily="18" charset="0"/>
                <a:cs typeface="Times New Roman" panose="02020603050405020304" pitchFamily="18" charset="0"/>
              </a:rPr>
              <a:t>6. The nodes verify the block and propagate the block further, and confirmation starts to generate.</a:t>
            </a:r>
          </a:p>
          <a:p>
            <a:pPr marL="0" indent="0" algn="just">
              <a:buNone/>
            </a:pPr>
            <a:r>
              <a:rPr lang="en-IN" sz="2400" dirty="0">
                <a:latin typeface="Times New Roman" panose="02020603050405020304" pitchFamily="18" charset="0"/>
                <a:cs typeface="Times New Roman" panose="02020603050405020304" pitchFamily="18" charset="0"/>
              </a:rPr>
              <a:t>7. Finally, the confirmations start to appear in the receiver's wallet and after approximately six confirmations, the transaction is considered finalized and confirmed.</a:t>
            </a:r>
          </a:p>
        </p:txBody>
      </p:sp>
    </p:spTree>
    <p:extLst>
      <p:ext uri="{BB962C8B-B14F-4D97-AF65-F5344CB8AC3E}">
        <p14:creationId xmlns:p14="http://schemas.microsoft.com/office/powerpoint/2010/main" val="27666059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41E9677-7C1A-80EA-324B-9C91EC1580E8}"/>
              </a:ext>
            </a:extLst>
          </p:cNvPr>
          <p:cNvPicPr>
            <a:picLocks noGrp="1" noChangeAspect="1"/>
          </p:cNvPicPr>
          <p:nvPr>
            <p:ph idx="1"/>
          </p:nvPr>
        </p:nvPicPr>
        <p:blipFill>
          <a:blip r:embed="rId2"/>
          <a:stretch>
            <a:fillRect/>
          </a:stretch>
        </p:blipFill>
        <p:spPr>
          <a:xfrm>
            <a:off x="6096000" y="2676486"/>
            <a:ext cx="3606985" cy="2265628"/>
          </a:xfrm>
        </p:spPr>
      </p:pic>
      <p:pic>
        <p:nvPicPr>
          <p:cNvPr id="7" name="Picture 6">
            <a:extLst>
              <a:ext uri="{FF2B5EF4-FFF2-40B4-BE49-F238E27FC236}">
                <a16:creationId xmlns:a16="http://schemas.microsoft.com/office/drawing/2014/main" id="{7E9ECB30-3B54-E761-35D6-9E1597B53595}"/>
              </a:ext>
            </a:extLst>
          </p:cNvPr>
          <p:cNvPicPr>
            <a:picLocks noChangeAspect="1"/>
          </p:cNvPicPr>
          <p:nvPr/>
        </p:nvPicPr>
        <p:blipFill>
          <a:blip r:embed="rId3"/>
          <a:stretch>
            <a:fillRect/>
          </a:stretch>
        </p:blipFill>
        <p:spPr>
          <a:xfrm>
            <a:off x="1845041" y="2520880"/>
            <a:ext cx="3429176" cy="2181749"/>
          </a:xfrm>
          <a:prstGeom prst="rect">
            <a:avLst/>
          </a:prstGeom>
        </p:spPr>
      </p:pic>
    </p:spTree>
    <p:extLst>
      <p:ext uri="{BB962C8B-B14F-4D97-AF65-F5344CB8AC3E}">
        <p14:creationId xmlns:p14="http://schemas.microsoft.com/office/powerpoint/2010/main" val="29873000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diagram of a mining process&#10;&#10;AI-generated content may be incorrect.">
            <a:extLst>
              <a:ext uri="{FF2B5EF4-FFF2-40B4-BE49-F238E27FC236}">
                <a16:creationId xmlns:a16="http://schemas.microsoft.com/office/drawing/2014/main" id="{F9CFBA99-F14C-71AC-C783-6BFA2FC06BD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936171"/>
            <a:ext cx="10515600" cy="4900267"/>
          </a:xfrm>
        </p:spPr>
      </p:pic>
    </p:spTree>
    <p:extLst>
      <p:ext uri="{BB962C8B-B14F-4D97-AF65-F5344CB8AC3E}">
        <p14:creationId xmlns:p14="http://schemas.microsoft.com/office/powerpoint/2010/main" val="28127636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53333"/>
            <a:ext cx="10515600" cy="1325563"/>
          </a:xfrm>
        </p:spPr>
        <p:txBody>
          <a:bodyPr/>
          <a:lstStyle/>
          <a:p>
            <a:pPr algn="ctr"/>
            <a:r>
              <a:rPr lang="en-IN" b="1" dirty="0">
                <a:solidFill>
                  <a:srgbClr val="FF0000"/>
                </a:solidFill>
                <a:latin typeface="Times New Roman" panose="02020603050405020304" pitchFamily="18" charset="0"/>
                <a:cs typeface="Times New Roman" panose="02020603050405020304" pitchFamily="18" charset="0"/>
              </a:rPr>
              <a:t>The transaction structure</a:t>
            </a:r>
            <a:endParaRPr lang="en-IN" dirty="0">
              <a:solidFill>
                <a:srgbClr val="FF0000"/>
              </a:solidFill>
              <a:latin typeface="Times New Roman" panose="02020603050405020304" pitchFamily="18" charset="0"/>
              <a:cs typeface="Times New Roman" panose="02020603050405020304" pitchFamily="18" charset="0"/>
            </a:endParaRPr>
          </a:p>
        </p:txBody>
      </p:sp>
      <p:pic>
        <p:nvPicPr>
          <p:cNvPr id="4" name="Content Placeholder 3"/>
          <p:cNvPicPr>
            <a:picLocks noGrp="1" noChangeAspect="1"/>
          </p:cNvPicPr>
          <p:nvPr>
            <p:ph idx="1"/>
          </p:nvPr>
        </p:nvPicPr>
        <p:blipFill>
          <a:blip r:embed="rId2"/>
          <a:stretch>
            <a:fillRect/>
          </a:stretch>
        </p:blipFill>
        <p:spPr>
          <a:xfrm>
            <a:off x="1153887" y="1665515"/>
            <a:ext cx="9252858" cy="4877594"/>
          </a:xfrm>
          <a:prstGeom prst="rect">
            <a:avLst/>
          </a:prstGeom>
        </p:spPr>
      </p:pic>
      <p:sp>
        <p:nvSpPr>
          <p:cNvPr id="5" name="TextBox 4">
            <a:extLst>
              <a:ext uri="{FF2B5EF4-FFF2-40B4-BE49-F238E27FC236}">
                <a16:creationId xmlns:a16="http://schemas.microsoft.com/office/drawing/2014/main" id="{FD8C52D4-1050-35DB-79F4-048C4B783285}"/>
              </a:ext>
            </a:extLst>
          </p:cNvPr>
          <p:cNvSpPr txBox="1"/>
          <p:nvPr/>
        </p:nvSpPr>
        <p:spPr>
          <a:xfrm>
            <a:off x="1153887" y="972230"/>
            <a:ext cx="9535886" cy="646331"/>
          </a:xfrm>
          <a:prstGeom prst="rect">
            <a:avLst/>
          </a:prstGeom>
          <a:noFill/>
        </p:spPr>
        <p:txBody>
          <a:bodyPr wrap="square">
            <a:spAutoFit/>
          </a:bodyPr>
          <a:lstStyle/>
          <a:p>
            <a:pPr algn="l"/>
            <a:r>
              <a:rPr lang="en-IN" sz="1800" b="0" i="0" u="none" strike="noStrike" baseline="0" dirty="0">
                <a:latin typeface="Times New Roman" panose="02020603050405020304" pitchFamily="18" charset="0"/>
                <a:cs typeface="Times New Roman" panose="02020603050405020304" pitchFamily="18" charset="0"/>
              </a:rPr>
              <a:t>A transaction at a high level contains metadata, inputs</a:t>
            </a:r>
            <a:r>
              <a:rPr lang="en-IN" dirty="0">
                <a:latin typeface="Times New Roman" panose="02020603050405020304" pitchFamily="18" charset="0"/>
                <a:cs typeface="Times New Roman" panose="02020603050405020304" pitchFamily="18" charset="0"/>
              </a:rPr>
              <a:t> </a:t>
            </a:r>
            <a:r>
              <a:rPr lang="en-IN" sz="1800" b="0" i="0" u="none" strike="noStrike" baseline="0" dirty="0">
                <a:latin typeface="Times New Roman" panose="02020603050405020304" pitchFamily="18" charset="0"/>
                <a:cs typeface="Times New Roman" panose="02020603050405020304" pitchFamily="18" charset="0"/>
              </a:rPr>
              <a:t>and outputs. Transactions are combined to create a block. The transaction structure is shown in the following table:</a:t>
            </a:r>
          </a:p>
        </p:txBody>
      </p:sp>
    </p:spTree>
    <p:extLst>
      <p:ext uri="{BB962C8B-B14F-4D97-AF65-F5344CB8AC3E}">
        <p14:creationId xmlns:p14="http://schemas.microsoft.com/office/powerpoint/2010/main" val="13261403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ADD7D6-363C-8D71-7257-38A35D289B93}"/>
              </a:ext>
            </a:extLst>
          </p:cNvPr>
          <p:cNvSpPr>
            <a:spLocks noGrp="1"/>
          </p:cNvSpPr>
          <p:nvPr>
            <p:ph idx="1"/>
          </p:nvPr>
        </p:nvSpPr>
        <p:spPr>
          <a:xfrm>
            <a:off x="838200" y="631370"/>
            <a:ext cx="10515600" cy="5704115"/>
          </a:xfrm>
        </p:spPr>
        <p:txBody>
          <a:bodyPr/>
          <a:lstStyle/>
          <a:p>
            <a:pPr algn="just"/>
            <a:r>
              <a:rPr lang="en-IN" b="1" i="0" u="none" strike="noStrike" baseline="0" dirty="0">
                <a:latin typeface="Times New Roman" panose="02020603050405020304" pitchFamily="18" charset="0"/>
                <a:cs typeface="Times New Roman" panose="02020603050405020304" pitchFamily="18" charset="0"/>
              </a:rPr>
              <a:t>Metadata</a:t>
            </a:r>
            <a:r>
              <a:rPr lang="en-IN" b="0" i="0" u="none" strike="noStrike" baseline="0" dirty="0">
                <a:latin typeface="Times New Roman" panose="02020603050405020304" pitchFamily="18" charset="0"/>
                <a:cs typeface="Times New Roman" panose="02020603050405020304" pitchFamily="18" charset="0"/>
              </a:rPr>
              <a:t>: This part of the transaction contains some values such as the size of the transaction, the number of inputs and outputs, the hash of the transaction and a </a:t>
            </a:r>
            <a:r>
              <a:rPr lang="en-IN" b="0" i="0" u="none" strike="noStrike" baseline="0" dirty="0" err="1">
                <a:latin typeface="Times New Roman" panose="02020603050405020304" pitchFamily="18" charset="0"/>
                <a:cs typeface="Times New Roman" panose="02020603050405020304" pitchFamily="18" charset="0"/>
              </a:rPr>
              <a:t>lock_time</a:t>
            </a:r>
            <a:r>
              <a:rPr lang="en-IN" b="0" i="0" u="none" strike="noStrike" baseline="0" dirty="0">
                <a:latin typeface="Times New Roman" panose="02020603050405020304" pitchFamily="18" charset="0"/>
                <a:cs typeface="Times New Roman" panose="02020603050405020304" pitchFamily="18" charset="0"/>
              </a:rPr>
              <a:t> field. Every transaction has a prefix specifying the version number.</a:t>
            </a:r>
          </a:p>
          <a:p>
            <a:pPr algn="just"/>
            <a:r>
              <a:rPr lang="en-IN" b="1" i="0" u="none" strike="noStrike" baseline="0" dirty="0">
                <a:latin typeface="Times New Roman" panose="02020603050405020304" pitchFamily="18" charset="0"/>
                <a:cs typeface="Times New Roman" panose="02020603050405020304" pitchFamily="18" charset="0"/>
              </a:rPr>
              <a:t>Inputs</a:t>
            </a:r>
            <a:r>
              <a:rPr lang="en-IN" b="0" i="0" u="none" strike="noStrike" baseline="0" dirty="0">
                <a:latin typeface="Times New Roman" panose="02020603050405020304" pitchFamily="18" charset="0"/>
                <a:cs typeface="Times New Roman" panose="02020603050405020304" pitchFamily="18" charset="0"/>
              </a:rPr>
              <a:t>: Generally, each input spends a previous output. Each output is considered an </a:t>
            </a:r>
            <a:r>
              <a:rPr lang="en-IN" b="1" i="0" u="none" strike="noStrike" baseline="0" dirty="0">
                <a:latin typeface="Times New Roman" panose="02020603050405020304" pitchFamily="18" charset="0"/>
                <a:cs typeface="Times New Roman" panose="02020603050405020304" pitchFamily="18" charset="0"/>
              </a:rPr>
              <a:t>Unspent Transaction Output </a:t>
            </a:r>
            <a:r>
              <a:rPr lang="en-IN" b="0" i="0" u="none" strike="noStrike" baseline="0" dirty="0">
                <a:latin typeface="Times New Roman" panose="02020603050405020304" pitchFamily="18" charset="0"/>
                <a:cs typeface="Times New Roman" panose="02020603050405020304" pitchFamily="18" charset="0"/>
              </a:rPr>
              <a:t>(</a:t>
            </a:r>
            <a:r>
              <a:rPr lang="en-IN" b="1" i="0" u="none" strike="noStrike" baseline="0" dirty="0">
                <a:latin typeface="Times New Roman" panose="02020603050405020304" pitchFamily="18" charset="0"/>
                <a:cs typeface="Times New Roman" panose="02020603050405020304" pitchFamily="18" charset="0"/>
              </a:rPr>
              <a:t>UTXO</a:t>
            </a:r>
            <a:r>
              <a:rPr lang="en-IN" b="0" i="0" u="none" strike="noStrike" baseline="0" dirty="0">
                <a:latin typeface="Times New Roman" panose="02020603050405020304" pitchFamily="18" charset="0"/>
                <a:cs typeface="Times New Roman" panose="02020603050405020304" pitchFamily="18" charset="0"/>
              </a:rPr>
              <a:t>) until an input consumes it.</a:t>
            </a:r>
          </a:p>
          <a:p>
            <a:pPr algn="just"/>
            <a:r>
              <a:rPr lang="en-IN" b="1" i="0" u="none" strike="noStrike" baseline="0" dirty="0">
                <a:latin typeface="Times New Roman" panose="02020603050405020304" pitchFamily="18" charset="0"/>
                <a:cs typeface="Times New Roman" panose="02020603050405020304" pitchFamily="18" charset="0"/>
              </a:rPr>
              <a:t>Outputs</a:t>
            </a:r>
            <a:r>
              <a:rPr lang="en-IN" b="0" i="0" u="none" strike="noStrike" baseline="0" dirty="0">
                <a:latin typeface="Times New Roman" panose="02020603050405020304" pitchFamily="18" charset="0"/>
                <a:cs typeface="Times New Roman" panose="02020603050405020304" pitchFamily="18" charset="0"/>
              </a:rPr>
              <a:t>: Outputs have only two fields, and they contain instructions for the sending of bitcoins. The first field contains the amount of </a:t>
            </a:r>
            <a:r>
              <a:rPr lang="en-IN" b="0" i="0" u="none" strike="noStrike" baseline="0" dirty="0" err="1">
                <a:latin typeface="Times New Roman" panose="02020603050405020304" pitchFamily="18" charset="0"/>
                <a:cs typeface="Times New Roman" panose="02020603050405020304" pitchFamily="18" charset="0"/>
              </a:rPr>
              <a:t>Satoshis</a:t>
            </a:r>
            <a:r>
              <a:rPr lang="en-IN" b="0" i="0" u="none" strike="noStrike" baseline="0" dirty="0">
                <a:latin typeface="Times New Roman" panose="02020603050405020304" pitchFamily="18" charset="0"/>
                <a:cs typeface="Times New Roman" panose="02020603050405020304" pitchFamily="18" charset="0"/>
              </a:rPr>
              <a:t>, whereas the second field is a locking script that contains the conditions that need to be met in order for the output to be spent. </a:t>
            </a:r>
          </a:p>
          <a:p>
            <a:pPr algn="just"/>
            <a:r>
              <a:rPr lang="en-IN" b="1" i="0" u="none" strike="noStrike" baseline="0" dirty="0">
                <a:latin typeface="Times New Roman" panose="02020603050405020304" pitchFamily="18" charset="0"/>
                <a:cs typeface="Times New Roman" panose="02020603050405020304" pitchFamily="18" charset="0"/>
              </a:rPr>
              <a:t>Verification: </a:t>
            </a:r>
            <a:r>
              <a:rPr lang="en-IN" b="0" i="0" u="none" strike="noStrike" baseline="0" dirty="0">
                <a:latin typeface="Times New Roman" panose="02020603050405020304" pitchFamily="18" charset="0"/>
                <a:cs typeface="Times New Roman" panose="02020603050405020304" pitchFamily="18" charset="0"/>
              </a:rPr>
              <a:t>Verification is performed using bitcoin's scripting language.</a:t>
            </a:r>
            <a:endParaRPr lang="en-IN"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9830006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descr="A screenshot of a computer">
            <a:extLst>
              <a:ext uri="{FF2B5EF4-FFF2-40B4-BE49-F238E27FC236}">
                <a16:creationId xmlns:a16="http://schemas.microsoft.com/office/drawing/2014/main" id="{8E46EE1B-DD01-74B4-3E12-301DCCAE02D9}"/>
              </a:ext>
            </a:extLst>
          </p:cNvPr>
          <p:cNvPicPr>
            <a:picLocks noGrp="1" noChangeAspect="1"/>
          </p:cNvPicPr>
          <p:nvPr>
            <p:ph idx="1"/>
          </p:nvPr>
        </p:nvPicPr>
        <p:blipFill>
          <a:blip r:embed="rId2"/>
          <a:stretch>
            <a:fillRect/>
          </a:stretch>
        </p:blipFill>
        <p:spPr>
          <a:xfrm>
            <a:off x="1310914" y="707571"/>
            <a:ext cx="9052286" cy="5469392"/>
          </a:xfrm>
          <a:prstGeom prst="rect">
            <a:avLst/>
          </a:prstGeom>
        </p:spPr>
      </p:pic>
    </p:spTree>
    <p:extLst>
      <p:ext uri="{BB962C8B-B14F-4D97-AF65-F5344CB8AC3E}">
        <p14:creationId xmlns:p14="http://schemas.microsoft.com/office/powerpoint/2010/main" val="23374380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9161"/>
            <a:ext cx="10515600" cy="1325563"/>
          </a:xfrm>
        </p:spPr>
        <p:txBody>
          <a:bodyPr/>
          <a:lstStyle/>
          <a:p>
            <a:pPr algn="ctr"/>
            <a:r>
              <a:rPr lang="en-IN" b="1" dirty="0">
                <a:solidFill>
                  <a:srgbClr val="FF0000"/>
                </a:solidFill>
                <a:latin typeface="Times New Roman" panose="02020603050405020304" pitchFamily="18" charset="0"/>
                <a:cs typeface="Times New Roman" panose="02020603050405020304" pitchFamily="18" charset="0"/>
              </a:rPr>
              <a:t>The script language</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00743" y="838200"/>
            <a:ext cx="10853057" cy="5595257"/>
          </a:xfrm>
        </p:spPr>
        <p:txBody>
          <a:bodyPr>
            <a:normAutofit/>
          </a:bodyPr>
          <a:lstStyle/>
          <a:p>
            <a:r>
              <a:rPr lang="en-IN" dirty="0"/>
              <a:t>Bitcoin uses a simple stack-based language called </a:t>
            </a:r>
            <a:r>
              <a:rPr lang="en-IN" i="1" dirty="0"/>
              <a:t>script.</a:t>
            </a:r>
          </a:p>
          <a:p>
            <a:r>
              <a:rPr lang="en-IN" dirty="0"/>
              <a:t>The various categories of the scripting Opcodes are constants, flow control, stack, bitwise logic, splice and arithmetic, cryptography and lock time.</a:t>
            </a:r>
          </a:p>
          <a:p>
            <a:pPr algn="just"/>
            <a:r>
              <a:rPr lang="en-IN" sz="2800" b="0" i="0" u="none" strike="noStrike" baseline="0" dirty="0">
                <a:latin typeface="Times New Roman" panose="02020603050405020304" pitchFamily="18" charset="0"/>
                <a:cs typeface="Times New Roman" panose="02020603050405020304" pitchFamily="18" charset="0"/>
              </a:rPr>
              <a:t>This scripting language is based on a Forth-like syntax and uses a reverse polish notation in which every operand is followed by its operators.</a:t>
            </a:r>
          </a:p>
          <a:p>
            <a:pPr algn="just"/>
            <a:r>
              <a:rPr lang="en-IN" sz="2800" b="0" i="0" u="none" strike="noStrike" baseline="0" dirty="0">
                <a:latin typeface="Times New Roman" panose="02020603050405020304" pitchFamily="18" charset="0"/>
                <a:cs typeface="Times New Roman" panose="02020603050405020304" pitchFamily="18" charset="0"/>
              </a:rPr>
              <a:t> It is evaluated from the left to the right using a </a:t>
            </a:r>
            <a:r>
              <a:rPr lang="en-IN" sz="2800" b="1" i="0" u="none" strike="noStrike" baseline="0" dirty="0">
                <a:latin typeface="Times New Roman" panose="02020603050405020304" pitchFamily="18" charset="0"/>
                <a:cs typeface="Times New Roman" panose="02020603050405020304" pitchFamily="18" charset="0"/>
              </a:rPr>
              <a:t>Last in First Out </a:t>
            </a:r>
            <a:r>
              <a:rPr lang="en-IN" sz="2800" b="0" i="0" u="none" strike="noStrike" baseline="0" dirty="0">
                <a:latin typeface="Times New Roman" panose="02020603050405020304" pitchFamily="18" charset="0"/>
                <a:cs typeface="Times New Roman" panose="02020603050405020304" pitchFamily="18" charset="0"/>
              </a:rPr>
              <a:t>(</a:t>
            </a:r>
            <a:r>
              <a:rPr lang="en-IN" sz="2800" b="1" i="0" u="none" strike="noStrike" baseline="0" dirty="0">
                <a:latin typeface="Times New Roman" panose="02020603050405020304" pitchFamily="18" charset="0"/>
                <a:cs typeface="Times New Roman" panose="02020603050405020304" pitchFamily="18" charset="0"/>
              </a:rPr>
              <a:t>LIFO</a:t>
            </a:r>
            <a:r>
              <a:rPr lang="en-IN" sz="2800" b="0" i="0" u="none" strike="noStrike" baseline="0" dirty="0">
                <a:latin typeface="Times New Roman" panose="02020603050405020304" pitchFamily="18" charset="0"/>
                <a:cs typeface="Times New Roman" panose="02020603050405020304" pitchFamily="18" charset="0"/>
              </a:rPr>
              <a:t>) stack.</a:t>
            </a:r>
          </a:p>
          <a:p>
            <a:pPr algn="just"/>
            <a:r>
              <a:rPr lang="en-IN" sz="2800" b="0" i="0" u="none" strike="noStrike" baseline="0" dirty="0">
                <a:latin typeface="Times New Roman" panose="02020603050405020304" pitchFamily="18" charset="0"/>
                <a:cs typeface="Times New Roman" panose="02020603050405020304" pitchFamily="18" charset="0"/>
              </a:rPr>
              <a:t>Scripts use various Opcodes or instructions to define their operation. </a:t>
            </a:r>
          </a:p>
          <a:p>
            <a:pPr marL="0" indent="0" algn="just">
              <a:buNone/>
            </a:pPr>
            <a:endParaRPr lang="en-IN" sz="28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7719273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9B151-8003-5EAA-CA7B-B27E1920A202}"/>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Example</a:t>
            </a:r>
          </a:p>
        </p:txBody>
      </p:sp>
      <p:pic>
        <p:nvPicPr>
          <p:cNvPr id="5" name="Content Placeholder 4" descr="A diagram of a graph&#10;&#10;Description automatically generated with medium confidence">
            <a:extLst>
              <a:ext uri="{FF2B5EF4-FFF2-40B4-BE49-F238E27FC236}">
                <a16:creationId xmlns:a16="http://schemas.microsoft.com/office/drawing/2014/main" id="{5A6EDEE3-D372-CB5B-8D6A-7DF05D4757EB}"/>
              </a:ext>
            </a:extLst>
          </p:cNvPr>
          <p:cNvPicPr>
            <a:picLocks noGrp="1" noChangeAspect="1"/>
          </p:cNvPicPr>
          <p:nvPr>
            <p:ph idx="1"/>
          </p:nvPr>
        </p:nvPicPr>
        <p:blipFill>
          <a:blip r:embed="rId2"/>
          <a:stretch>
            <a:fillRect/>
          </a:stretch>
        </p:blipFill>
        <p:spPr>
          <a:xfrm>
            <a:off x="709461" y="1727684"/>
            <a:ext cx="10905066" cy="3244256"/>
          </a:xfrm>
          <a:prstGeom prst="rect">
            <a:avLst/>
          </a:prstGeom>
        </p:spPr>
      </p:pic>
    </p:spTree>
    <p:extLst>
      <p:ext uri="{BB962C8B-B14F-4D97-AF65-F5344CB8AC3E}">
        <p14:creationId xmlns:p14="http://schemas.microsoft.com/office/powerpoint/2010/main" val="6371486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screenshot of a computer script&#10;&#10;Description automatically generated">
            <a:extLst>
              <a:ext uri="{FF2B5EF4-FFF2-40B4-BE49-F238E27FC236}">
                <a16:creationId xmlns:a16="http://schemas.microsoft.com/office/drawing/2014/main" id="{F0D503E7-AE92-15C5-E75F-7CE57847A563}"/>
              </a:ext>
            </a:extLst>
          </p:cNvPr>
          <p:cNvPicPr>
            <a:picLocks noGrp="1" noChangeAspect="1"/>
          </p:cNvPicPr>
          <p:nvPr>
            <p:ph idx="1"/>
          </p:nvPr>
        </p:nvPicPr>
        <p:blipFill>
          <a:blip r:embed="rId2"/>
          <a:stretch>
            <a:fillRect/>
          </a:stretch>
        </p:blipFill>
        <p:spPr>
          <a:xfrm>
            <a:off x="643467" y="1125304"/>
            <a:ext cx="10905066" cy="4607391"/>
          </a:xfrm>
          <a:prstGeom prst="rect">
            <a:avLst/>
          </a:prstGeom>
        </p:spPr>
      </p:pic>
    </p:spTree>
    <p:extLst>
      <p:ext uri="{BB962C8B-B14F-4D97-AF65-F5344CB8AC3E}">
        <p14:creationId xmlns:p14="http://schemas.microsoft.com/office/powerpoint/2010/main" val="29866004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B8D2D-2A5E-BB4E-736A-583DFA5718CA}"/>
              </a:ext>
            </a:extLst>
          </p:cNvPr>
          <p:cNvSpPr>
            <a:spLocks noGrp="1"/>
          </p:cNvSpPr>
          <p:nvPr>
            <p:ph type="title"/>
          </p:nvPr>
        </p:nvSpPr>
        <p:spPr>
          <a:xfrm>
            <a:off x="0" y="0"/>
            <a:ext cx="11715750" cy="877888"/>
          </a:xfrm>
        </p:spPr>
        <p:txBody>
          <a:bodyPr>
            <a:normAutofit/>
          </a:bodyPr>
          <a:lstStyle/>
          <a:p>
            <a:pPr algn="ctr"/>
            <a:r>
              <a:rPr lang="en-IN" b="1" i="0" u="none" strike="noStrike" baseline="0" dirty="0">
                <a:solidFill>
                  <a:srgbClr val="FF0000"/>
                </a:solidFill>
                <a:latin typeface="Times New Roman" panose="02020603050405020304" pitchFamily="18" charset="0"/>
                <a:cs typeface="Times New Roman" panose="02020603050405020304" pitchFamily="18" charset="0"/>
              </a:rPr>
              <a:t>Commonly used Opcodes</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FE51ACD-BC97-D5B4-CE83-1D9C78951425}"/>
              </a:ext>
            </a:extLst>
          </p:cNvPr>
          <p:cNvSpPr>
            <a:spLocks noGrp="1"/>
          </p:cNvSpPr>
          <p:nvPr>
            <p:ph idx="1"/>
          </p:nvPr>
        </p:nvSpPr>
        <p:spPr>
          <a:xfrm>
            <a:off x="304800" y="1243014"/>
            <a:ext cx="11049000" cy="4933949"/>
          </a:xfrm>
        </p:spPr>
        <p:txBody>
          <a:bodyPr/>
          <a:lstStyle/>
          <a:p>
            <a:r>
              <a:rPr lang="en-IN" sz="2400" b="0" i="0" u="none" strike="noStrike" baseline="0" dirty="0">
                <a:latin typeface="Times New Roman" panose="02020603050405020304" pitchFamily="18" charset="0"/>
                <a:cs typeface="Times New Roman" panose="02020603050405020304" pitchFamily="18" charset="0"/>
              </a:rPr>
              <a:t>All Opcodes are declared in the script. file in the bitcoin reference client source code</a:t>
            </a:r>
            <a:r>
              <a:rPr lang="en-IN" sz="1800" b="0" i="0" u="none" strike="noStrike" baseline="0" dirty="0">
                <a:latin typeface="PalatinoLinotype-Roman"/>
              </a:rPr>
              <a:t>.</a:t>
            </a:r>
          </a:p>
          <a:p>
            <a:endParaRPr lang="en-IN" dirty="0"/>
          </a:p>
        </p:txBody>
      </p:sp>
      <p:pic>
        <p:nvPicPr>
          <p:cNvPr id="5" name="Picture 4">
            <a:extLst>
              <a:ext uri="{FF2B5EF4-FFF2-40B4-BE49-F238E27FC236}">
                <a16:creationId xmlns:a16="http://schemas.microsoft.com/office/drawing/2014/main" id="{4569E264-F5AA-9E35-C036-AE2459E94653}"/>
              </a:ext>
            </a:extLst>
          </p:cNvPr>
          <p:cNvPicPr>
            <a:picLocks noChangeAspect="1"/>
          </p:cNvPicPr>
          <p:nvPr/>
        </p:nvPicPr>
        <p:blipFill>
          <a:blip r:embed="rId2"/>
          <a:stretch>
            <a:fillRect/>
          </a:stretch>
        </p:blipFill>
        <p:spPr>
          <a:xfrm>
            <a:off x="1306286" y="1624671"/>
            <a:ext cx="10047514" cy="5019018"/>
          </a:xfrm>
          <a:prstGeom prst="rect">
            <a:avLst/>
          </a:prstGeom>
        </p:spPr>
      </p:pic>
    </p:spTree>
    <p:extLst>
      <p:ext uri="{BB962C8B-B14F-4D97-AF65-F5344CB8AC3E}">
        <p14:creationId xmlns:p14="http://schemas.microsoft.com/office/powerpoint/2010/main" val="17967783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screenshot of a computer screen&#10;&#10;Description automatically generated">
            <a:extLst>
              <a:ext uri="{FF2B5EF4-FFF2-40B4-BE49-F238E27FC236}">
                <a16:creationId xmlns:a16="http://schemas.microsoft.com/office/drawing/2014/main" id="{433CF507-B54A-530D-A75F-33FACAEBC178}"/>
              </a:ext>
            </a:extLst>
          </p:cNvPr>
          <p:cNvPicPr>
            <a:picLocks noGrp="1" noChangeAspect="1"/>
          </p:cNvPicPr>
          <p:nvPr>
            <p:ph idx="1"/>
          </p:nvPr>
        </p:nvPicPr>
        <p:blipFill>
          <a:blip r:embed="rId2"/>
          <a:stretch>
            <a:fillRect/>
          </a:stretch>
        </p:blipFill>
        <p:spPr>
          <a:xfrm>
            <a:off x="643467" y="811784"/>
            <a:ext cx="10905066" cy="5234430"/>
          </a:xfrm>
          <a:prstGeom prst="rect">
            <a:avLst/>
          </a:prstGeom>
        </p:spPr>
      </p:pic>
    </p:spTree>
    <p:extLst>
      <p:ext uri="{BB962C8B-B14F-4D97-AF65-F5344CB8AC3E}">
        <p14:creationId xmlns:p14="http://schemas.microsoft.com/office/powerpoint/2010/main" val="254680373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4286" y="79828"/>
            <a:ext cx="10515600" cy="1202418"/>
          </a:xfrm>
        </p:spPr>
        <p:txBody>
          <a:bodyPr/>
          <a:lstStyle/>
          <a:p>
            <a:pPr algn="ctr"/>
            <a:r>
              <a:rPr lang="en-IN" b="1" dirty="0">
                <a:solidFill>
                  <a:srgbClr val="FF0000"/>
                </a:solidFill>
                <a:latin typeface="Times New Roman" panose="02020603050405020304" pitchFamily="18" charset="0"/>
                <a:cs typeface="Times New Roman" panose="02020603050405020304" pitchFamily="18" charset="0"/>
              </a:rPr>
              <a:t>Blockchain</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IN" dirty="0"/>
              <a:t>Blockchain is a public ledger of a timestamped, ordered and immutable list of all transactions on the bitcoin network.</a:t>
            </a:r>
          </a:p>
          <a:p>
            <a:r>
              <a:rPr lang="en-IN" dirty="0"/>
              <a:t>Each block is identified by a hash in the chain and is linked to its previous block by referencing the previous block's hash.</a:t>
            </a:r>
          </a:p>
          <a:p>
            <a:r>
              <a:rPr lang="en-IN" dirty="0"/>
              <a:t>Blockchain is a distributed ledger of transaction.</a:t>
            </a:r>
          </a:p>
          <a:p>
            <a:endParaRPr lang="en-IN" dirty="0"/>
          </a:p>
        </p:txBody>
      </p:sp>
    </p:spTree>
    <p:extLst>
      <p:ext uri="{BB962C8B-B14F-4D97-AF65-F5344CB8AC3E}">
        <p14:creationId xmlns:p14="http://schemas.microsoft.com/office/powerpoint/2010/main" val="37281804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ABF37-5368-1936-D012-07C626BDAC69}"/>
              </a:ext>
            </a:extLst>
          </p:cNvPr>
          <p:cNvSpPr>
            <a:spLocks noGrp="1"/>
          </p:cNvSpPr>
          <p:nvPr>
            <p:ph type="title"/>
          </p:nvPr>
        </p:nvSpPr>
        <p:spPr>
          <a:xfrm>
            <a:off x="768349" y="82096"/>
            <a:ext cx="10515600" cy="875847"/>
          </a:xfrm>
        </p:spPr>
        <p:txBody>
          <a:bodyPr/>
          <a:lstStyle/>
          <a:p>
            <a:pPr algn="ctr"/>
            <a:r>
              <a:rPr lang="en-US" dirty="0">
                <a:solidFill>
                  <a:srgbClr val="FF0000"/>
                </a:solidFill>
                <a:latin typeface="Times New Roman" panose="02020603050405020304" pitchFamily="18" charset="0"/>
                <a:cs typeface="Times New Roman" panose="02020603050405020304" pitchFamily="18" charset="0"/>
              </a:rPr>
              <a:t>Data structure of a Bitcoin block</a:t>
            </a:r>
            <a:endParaRPr lang="en-IN" dirty="0">
              <a:solidFill>
                <a:srgbClr val="FF0000"/>
              </a:solidFill>
              <a:latin typeface="Times New Roman" panose="02020603050405020304" pitchFamily="18" charset="0"/>
              <a:cs typeface="Times New Roman" panose="02020603050405020304" pitchFamily="18" charset="0"/>
            </a:endParaRPr>
          </a:p>
        </p:txBody>
      </p:sp>
      <p:graphicFrame>
        <p:nvGraphicFramePr>
          <p:cNvPr id="4" name="Table 4">
            <a:extLst>
              <a:ext uri="{FF2B5EF4-FFF2-40B4-BE49-F238E27FC236}">
                <a16:creationId xmlns:a16="http://schemas.microsoft.com/office/drawing/2014/main" id="{03F38D45-2E60-F23A-99C5-6D852670AAE8}"/>
              </a:ext>
            </a:extLst>
          </p:cNvPr>
          <p:cNvGraphicFramePr>
            <a:graphicFrameLocks noGrp="1"/>
          </p:cNvGraphicFramePr>
          <p:nvPr>
            <p:ph idx="1"/>
            <p:extLst>
              <p:ext uri="{D42A27DB-BD31-4B8C-83A1-F6EECF244321}">
                <p14:modId xmlns:p14="http://schemas.microsoft.com/office/powerpoint/2010/main" val="1138898055"/>
              </p:ext>
            </p:extLst>
          </p:nvPr>
        </p:nvGraphicFramePr>
        <p:xfrm>
          <a:off x="1055914" y="1197430"/>
          <a:ext cx="10228035" cy="5111931"/>
        </p:xfrm>
        <a:graphic>
          <a:graphicData uri="http://schemas.openxmlformats.org/drawingml/2006/table">
            <a:tbl>
              <a:tblPr firstRow="1" bandRow="1">
                <a:tableStyleId>{F5AB1C69-6EDB-4FF4-983F-18BD219EF322}</a:tableStyleId>
              </a:tblPr>
              <a:tblGrid>
                <a:gridCol w="2819301">
                  <a:extLst>
                    <a:ext uri="{9D8B030D-6E8A-4147-A177-3AD203B41FA5}">
                      <a16:colId xmlns:a16="http://schemas.microsoft.com/office/drawing/2014/main" val="975313270"/>
                    </a:ext>
                  </a:extLst>
                </a:gridCol>
                <a:gridCol w="1536585">
                  <a:extLst>
                    <a:ext uri="{9D8B030D-6E8A-4147-A177-3AD203B41FA5}">
                      <a16:colId xmlns:a16="http://schemas.microsoft.com/office/drawing/2014/main" val="808403728"/>
                    </a:ext>
                  </a:extLst>
                </a:gridCol>
                <a:gridCol w="5872149">
                  <a:extLst>
                    <a:ext uri="{9D8B030D-6E8A-4147-A177-3AD203B41FA5}">
                      <a16:colId xmlns:a16="http://schemas.microsoft.com/office/drawing/2014/main" val="3334537095"/>
                    </a:ext>
                  </a:extLst>
                </a:gridCol>
              </a:tblGrid>
              <a:tr h="710802">
                <a:tc>
                  <a:txBody>
                    <a:bodyPr/>
                    <a:lstStyle/>
                    <a:p>
                      <a:r>
                        <a:rPr lang="en-US" dirty="0"/>
                        <a:t>Field</a:t>
                      </a:r>
                      <a:endParaRPr lang="en-IN" dirty="0"/>
                    </a:p>
                  </a:txBody>
                  <a:tcPr/>
                </a:tc>
                <a:tc>
                  <a:txBody>
                    <a:bodyPr/>
                    <a:lstStyle/>
                    <a:p>
                      <a:r>
                        <a:rPr lang="en-US" dirty="0"/>
                        <a:t>Size</a:t>
                      </a:r>
                      <a:endParaRPr lang="en-IN" dirty="0"/>
                    </a:p>
                  </a:txBody>
                  <a:tcPr/>
                </a:tc>
                <a:tc>
                  <a:txBody>
                    <a:bodyPr/>
                    <a:lstStyle/>
                    <a:p>
                      <a:r>
                        <a:rPr lang="en-US" dirty="0"/>
                        <a:t>Description</a:t>
                      </a:r>
                      <a:endParaRPr lang="en-IN" dirty="0"/>
                    </a:p>
                  </a:txBody>
                  <a:tcPr/>
                </a:tc>
                <a:extLst>
                  <a:ext uri="{0D108BD9-81ED-4DB2-BD59-A6C34878D82A}">
                    <a16:rowId xmlns:a16="http://schemas.microsoft.com/office/drawing/2014/main" val="4109513949"/>
                  </a:ext>
                </a:extLst>
              </a:tr>
              <a:tr h="710802">
                <a:tc>
                  <a:txBody>
                    <a:bodyPr/>
                    <a:lstStyle/>
                    <a:p>
                      <a:r>
                        <a:rPr lang="en-US" dirty="0"/>
                        <a:t>Block size</a:t>
                      </a:r>
                      <a:endParaRPr lang="en-IN" dirty="0"/>
                    </a:p>
                  </a:txBody>
                  <a:tcPr/>
                </a:tc>
                <a:tc>
                  <a:txBody>
                    <a:bodyPr/>
                    <a:lstStyle/>
                    <a:p>
                      <a:r>
                        <a:rPr lang="en-US" dirty="0"/>
                        <a:t>4 bytes</a:t>
                      </a:r>
                      <a:endParaRPr lang="en-IN" dirty="0"/>
                    </a:p>
                  </a:txBody>
                  <a:tcPr/>
                </a:tc>
                <a:tc>
                  <a:txBody>
                    <a:bodyPr/>
                    <a:lstStyle/>
                    <a:p>
                      <a:r>
                        <a:rPr lang="en-US" dirty="0"/>
                        <a:t>The size of the block.</a:t>
                      </a:r>
                      <a:endParaRPr lang="en-IN" dirty="0"/>
                    </a:p>
                  </a:txBody>
                  <a:tcPr/>
                </a:tc>
                <a:extLst>
                  <a:ext uri="{0D108BD9-81ED-4DB2-BD59-A6C34878D82A}">
                    <a16:rowId xmlns:a16="http://schemas.microsoft.com/office/drawing/2014/main" val="2519185565"/>
                  </a:ext>
                </a:extLst>
              </a:tr>
              <a:tr h="1226863">
                <a:tc>
                  <a:txBody>
                    <a:bodyPr/>
                    <a:lstStyle/>
                    <a:p>
                      <a:r>
                        <a:rPr lang="en-US" dirty="0"/>
                        <a:t>Block header</a:t>
                      </a:r>
                      <a:endParaRPr lang="en-IN" dirty="0"/>
                    </a:p>
                  </a:txBody>
                  <a:tcPr/>
                </a:tc>
                <a:tc>
                  <a:txBody>
                    <a:bodyPr/>
                    <a:lstStyle/>
                    <a:p>
                      <a:r>
                        <a:rPr lang="en-US" dirty="0"/>
                        <a:t>80 bytes</a:t>
                      </a:r>
                      <a:endParaRPr lang="en-IN" dirty="0"/>
                    </a:p>
                  </a:txBody>
                  <a:tcPr/>
                </a:tc>
                <a:tc>
                  <a:txBody>
                    <a:bodyPr/>
                    <a:lstStyle/>
                    <a:p>
                      <a:r>
                        <a:rPr lang="en-US" dirty="0"/>
                        <a:t>This includes fields from the block header described in the next section.</a:t>
                      </a:r>
                      <a:endParaRPr lang="en-IN" dirty="0"/>
                    </a:p>
                  </a:txBody>
                  <a:tcPr/>
                </a:tc>
                <a:extLst>
                  <a:ext uri="{0D108BD9-81ED-4DB2-BD59-A6C34878D82A}">
                    <a16:rowId xmlns:a16="http://schemas.microsoft.com/office/drawing/2014/main" val="4204189004"/>
                  </a:ext>
                </a:extLst>
              </a:tr>
              <a:tr h="1752662">
                <a:tc>
                  <a:txBody>
                    <a:bodyPr/>
                    <a:lstStyle/>
                    <a:p>
                      <a:r>
                        <a:rPr lang="en-US" dirty="0"/>
                        <a:t>Transaction counter</a:t>
                      </a:r>
                      <a:endParaRPr lang="en-IN" dirty="0"/>
                    </a:p>
                  </a:txBody>
                  <a:tcPr/>
                </a:tc>
                <a:tc>
                  <a:txBody>
                    <a:bodyPr/>
                    <a:lstStyle/>
                    <a:p>
                      <a:r>
                        <a:rPr lang="en-US" dirty="0"/>
                        <a:t>Variable</a:t>
                      </a:r>
                      <a:endParaRPr lang="en-IN" dirty="0"/>
                    </a:p>
                  </a:txBody>
                  <a:tcPr/>
                </a:tc>
                <a:tc>
                  <a:txBody>
                    <a:bodyPr/>
                    <a:lstStyle/>
                    <a:p>
                      <a:r>
                        <a:rPr lang="en-US" dirty="0"/>
                        <a:t>The field contains the total number of transactions in the block. Size ranges from 1-9 bytes.</a:t>
                      </a:r>
                      <a:endParaRPr lang="en-IN" dirty="0"/>
                    </a:p>
                  </a:txBody>
                  <a:tcPr/>
                </a:tc>
                <a:extLst>
                  <a:ext uri="{0D108BD9-81ED-4DB2-BD59-A6C34878D82A}">
                    <a16:rowId xmlns:a16="http://schemas.microsoft.com/office/drawing/2014/main" val="4198595048"/>
                  </a:ext>
                </a:extLst>
              </a:tr>
              <a:tr h="710802">
                <a:tc>
                  <a:txBody>
                    <a:bodyPr/>
                    <a:lstStyle/>
                    <a:p>
                      <a:r>
                        <a:rPr lang="en-US" dirty="0"/>
                        <a:t>Transactions</a:t>
                      </a:r>
                      <a:endParaRPr lang="en-IN" dirty="0"/>
                    </a:p>
                  </a:txBody>
                  <a:tcPr/>
                </a:tc>
                <a:tc>
                  <a:txBody>
                    <a:bodyPr/>
                    <a:lstStyle/>
                    <a:p>
                      <a:r>
                        <a:rPr lang="en-US" dirty="0"/>
                        <a:t>Variable</a:t>
                      </a:r>
                      <a:endParaRPr lang="en-IN" dirty="0"/>
                    </a:p>
                  </a:txBody>
                  <a:tcPr/>
                </a:tc>
                <a:tc>
                  <a:txBody>
                    <a:bodyPr/>
                    <a:lstStyle/>
                    <a:p>
                      <a:r>
                        <a:rPr lang="en-US" dirty="0"/>
                        <a:t>All transactions in the block.</a:t>
                      </a:r>
                      <a:endParaRPr lang="en-IN" dirty="0"/>
                    </a:p>
                  </a:txBody>
                  <a:tcPr/>
                </a:tc>
                <a:extLst>
                  <a:ext uri="{0D108BD9-81ED-4DB2-BD59-A6C34878D82A}">
                    <a16:rowId xmlns:a16="http://schemas.microsoft.com/office/drawing/2014/main" val="3008308733"/>
                  </a:ext>
                </a:extLst>
              </a:tr>
            </a:tbl>
          </a:graphicData>
        </a:graphic>
      </p:graphicFrame>
    </p:spTree>
    <p:extLst>
      <p:ext uri="{BB962C8B-B14F-4D97-AF65-F5344CB8AC3E}">
        <p14:creationId xmlns:p14="http://schemas.microsoft.com/office/powerpoint/2010/main" val="32233025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7D4B3-5CA4-FF8D-EDBD-2422B2CF525F}"/>
              </a:ext>
            </a:extLst>
          </p:cNvPr>
          <p:cNvSpPr>
            <a:spLocks noGrp="1"/>
          </p:cNvSpPr>
          <p:nvPr>
            <p:ph type="title"/>
          </p:nvPr>
        </p:nvSpPr>
        <p:spPr>
          <a:xfrm>
            <a:off x="613457" y="1"/>
            <a:ext cx="10515600" cy="990600"/>
          </a:xfrm>
        </p:spPr>
        <p:txBody>
          <a:bodyPr/>
          <a:lstStyle/>
          <a:p>
            <a:pPr algn="ctr"/>
            <a:r>
              <a:rPr lang="en-US" dirty="0">
                <a:solidFill>
                  <a:srgbClr val="FF0000"/>
                </a:solidFill>
                <a:latin typeface="Times New Roman" panose="02020603050405020304" pitchFamily="18" charset="0"/>
                <a:cs typeface="Times New Roman" panose="02020603050405020304" pitchFamily="18" charset="0"/>
              </a:rPr>
              <a:t>Data structure of block header</a:t>
            </a:r>
            <a:endParaRPr lang="en-IN" dirty="0">
              <a:solidFill>
                <a:srgbClr val="FF0000"/>
              </a:solidFill>
              <a:latin typeface="Times New Roman" panose="02020603050405020304" pitchFamily="18" charset="0"/>
              <a:cs typeface="Times New Roman" panose="02020603050405020304" pitchFamily="18" charset="0"/>
            </a:endParaRPr>
          </a:p>
        </p:txBody>
      </p:sp>
      <p:graphicFrame>
        <p:nvGraphicFramePr>
          <p:cNvPr id="4" name="Table 4">
            <a:extLst>
              <a:ext uri="{FF2B5EF4-FFF2-40B4-BE49-F238E27FC236}">
                <a16:creationId xmlns:a16="http://schemas.microsoft.com/office/drawing/2014/main" id="{EDEA2B1F-3BA2-4693-94BE-13DF6B64F3A0}"/>
              </a:ext>
            </a:extLst>
          </p:cNvPr>
          <p:cNvGraphicFramePr>
            <a:graphicFrameLocks noGrp="1"/>
          </p:cNvGraphicFramePr>
          <p:nvPr>
            <p:ph idx="1"/>
            <p:extLst>
              <p:ext uri="{D42A27DB-BD31-4B8C-83A1-F6EECF244321}">
                <p14:modId xmlns:p14="http://schemas.microsoft.com/office/powerpoint/2010/main" val="1141369015"/>
              </p:ext>
            </p:extLst>
          </p:nvPr>
        </p:nvGraphicFramePr>
        <p:xfrm>
          <a:off x="613457" y="1504709"/>
          <a:ext cx="10889430" cy="5081623"/>
        </p:xfrm>
        <a:graphic>
          <a:graphicData uri="http://schemas.openxmlformats.org/drawingml/2006/table">
            <a:tbl>
              <a:tblPr firstRow="1" bandRow="1">
                <a:tableStyleId>{5C22544A-7EE6-4342-B048-85BDC9FD1C3A}</a:tableStyleId>
              </a:tblPr>
              <a:tblGrid>
                <a:gridCol w="2693548">
                  <a:extLst>
                    <a:ext uri="{9D8B030D-6E8A-4147-A177-3AD203B41FA5}">
                      <a16:colId xmlns:a16="http://schemas.microsoft.com/office/drawing/2014/main" val="3449066396"/>
                    </a:ext>
                  </a:extLst>
                </a:gridCol>
                <a:gridCol w="1447636">
                  <a:extLst>
                    <a:ext uri="{9D8B030D-6E8A-4147-A177-3AD203B41FA5}">
                      <a16:colId xmlns:a16="http://schemas.microsoft.com/office/drawing/2014/main" val="1612301898"/>
                    </a:ext>
                  </a:extLst>
                </a:gridCol>
                <a:gridCol w="6748246">
                  <a:extLst>
                    <a:ext uri="{9D8B030D-6E8A-4147-A177-3AD203B41FA5}">
                      <a16:colId xmlns:a16="http://schemas.microsoft.com/office/drawing/2014/main" val="1387736837"/>
                    </a:ext>
                  </a:extLst>
                </a:gridCol>
              </a:tblGrid>
              <a:tr h="478039">
                <a:tc>
                  <a:txBody>
                    <a:bodyPr/>
                    <a:lstStyle/>
                    <a:p>
                      <a:r>
                        <a:rPr lang="en-US" dirty="0"/>
                        <a:t>Field</a:t>
                      </a:r>
                      <a:endParaRPr lang="en-IN" dirty="0"/>
                    </a:p>
                  </a:txBody>
                  <a:tcPr/>
                </a:tc>
                <a:tc>
                  <a:txBody>
                    <a:bodyPr/>
                    <a:lstStyle/>
                    <a:p>
                      <a:r>
                        <a:rPr lang="en-US" dirty="0"/>
                        <a:t>Size</a:t>
                      </a:r>
                      <a:endParaRPr lang="en-IN" dirty="0"/>
                    </a:p>
                  </a:txBody>
                  <a:tcPr/>
                </a:tc>
                <a:tc>
                  <a:txBody>
                    <a:bodyPr/>
                    <a:lstStyle/>
                    <a:p>
                      <a:r>
                        <a:rPr lang="en-US" dirty="0"/>
                        <a:t>Description</a:t>
                      </a:r>
                      <a:endParaRPr lang="en-IN" dirty="0"/>
                    </a:p>
                  </a:txBody>
                  <a:tcPr/>
                </a:tc>
                <a:extLst>
                  <a:ext uri="{0D108BD9-81ED-4DB2-BD59-A6C34878D82A}">
                    <a16:rowId xmlns:a16="http://schemas.microsoft.com/office/drawing/2014/main" val="1428878591"/>
                  </a:ext>
                </a:extLst>
              </a:tr>
              <a:tr h="825109">
                <a:tc>
                  <a:txBody>
                    <a:bodyPr/>
                    <a:lstStyle/>
                    <a:p>
                      <a:r>
                        <a:rPr lang="en-US" dirty="0"/>
                        <a:t>Version </a:t>
                      </a:r>
                      <a:endParaRPr lang="en-IN" dirty="0"/>
                    </a:p>
                  </a:txBody>
                  <a:tcPr/>
                </a:tc>
                <a:tc>
                  <a:txBody>
                    <a:bodyPr/>
                    <a:lstStyle/>
                    <a:p>
                      <a:r>
                        <a:rPr lang="en-US" dirty="0"/>
                        <a:t>4 bytes</a:t>
                      </a:r>
                      <a:endParaRPr lang="en-IN" dirty="0"/>
                    </a:p>
                  </a:txBody>
                  <a:tcPr/>
                </a:tc>
                <a:tc>
                  <a:txBody>
                    <a:bodyPr/>
                    <a:lstStyle/>
                    <a:p>
                      <a:r>
                        <a:rPr lang="en-US" dirty="0"/>
                        <a:t>The block version number that dictates the block validation rules follow.</a:t>
                      </a:r>
                      <a:endParaRPr lang="en-IN" dirty="0"/>
                    </a:p>
                  </a:txBody>
                  <a:tcPr/>
                </a:tc>
                <a:extLst>
                  <a:ext uri="{0D108BD9-81ED-4DB2-BD59-A6C34878D82A}">
                    <a16:rowId xmlns:a16="http://schemas.microsoft.com/office/drawing/2014/main" val="2409106005"/>
                  </a:ext>
                </a:extLst>
              </a:tr>
              <a:tr h="825109">
                <a:tc>
                  <a:txBody>
                    <a:bodyPr/>
                    <a:lstStyle/>
                    <a:p>
                      <a:r>
                        <a:rPr lang="en-US" dirty="0"/>
                        <a:t>Previous block header hash</a:t>
                      </a:r>
                      <a:endParaRPr lang="en-IN" dirty="0"/>
                    </a:p>
                  </a:txBody>
                  <a:tcPr/>
                </a:tc>
                <a:tc>
                  <a:txBody>
                    <a:bodyPr/>
                    <a:lstStyle/>
                    <a:p>
                      <a:r>
                        <a:rPr lang="en-US" dirty="0"/>
                        <a:t>32 bytes</a:t>
                      </a:r>
                      <a:endParaRPr lang="en-IN" dirty="0"/>
                    </a:p>
                  </a:txBody>
                  <a:tcPr/>
                </a:tc>
                <a:tc>
                  <a:txBody>
                    <a:bodyPr/>
                    <a:lstStyle/>
                    <a:p>
                      <a:r>
                        <a:rPr lang="en-US" dirty="0"/>
                        <a:t>This is a double SHA256 hash of the previous block's header.</a:t>
                      </a:r>
                      <a:endParaRPr lang="en-IN" dirty="0"/>
                    </a:p>
                  </a:txBody>
                  <a:tcPr/>
                </a:tc>
                <a:extLst>
                  <a:ext uri="{0D108BD9-81ED-4DB2-BD59-A6C34878D82A}">
                    <a16:rowId xmlns:a16="http://schemas.microsoft.com/office/drawing/2014/main" val="4263467961"/>
                  </a:ext>
                </a:extLst>
              </a:tr>
              <a:tr h="825109">
                <a:tc>
                  <a:txBody>
                    <a:bodyPr/>
                    <a:lstStyle/>
                    <a:p>
                      <a:r>
                        <a:rPr lang="en-US" dirty="0"/>
                        <a:t>Merkle root hash</a:t>
                      </a:r>
                      <a:endParaRPr lang="en-IN" dirty="0"/>
                    </a:p>
                  </a:txBody>
                  <a:tcPr/>
                </a:tc>
                <a:tc>
                  <a:txBody>
                    <a:bodyPr/>
                    <a:lstStyle/>
                    <a:p>
                      <a:r>
                        <a:rPr lang="en-US" dirty="0"/>
                        <a:t>32 bytes</a:t>
                      </a:r>
                      <a:endParaRPr lang="en-IN" dirty="0"/>
                    </a:p>
                  </a:txBody>
                  <a:tcPr/>
                </a:tc>
                <a:tc>
                  <a:txBody>
                    <a:bodyPr/>
                    <a:lstStyle/>
                    <a:p>
                      <a:r>
                        <a:rPr lang="en-US" dirty="0"/>
                        <a:t>This is a double SHA256 hash of the Merkle tree of all transactions included in the block.</a:t>
                      </a:r>
                      <a:endParaRPr lang="en-IN" dirty="0"/>
                    </a:p>
                  </a:txBody>
                  <a:tcPr/>
                </a:tc>
                <a:extLst>
                  <a:ext uri="{0D108BD9-81ED-4DB2-BD59-A6C34878D82A}">
                    <a16:rowId xmlns:a16="http://schemas.microsoft.com/office/drawing/2014/main" val="2752342607"/>
                  </a:ext>
                </a:extLst>
              </a:tr>
              <a:tr h="825109">
                <a:tc>
                  <a:txBody>
                    <a:bodyPr/>
                    <a:lstStyle/>
                    <a:p>
                      <a:r>
                        <a:rPr lang="en-US" dirty="0"/>
                        <a:t>Timestamp</a:t>
                      </a:r>
                      <a:endParaRPr lang="en-IN" dirty="0"/>
                    </a:p>
                  </a:txBody>
                  <a:tcPr/>
                </a:tc>
                <a:tc>
                  <a:txBody>
                    <a:bodyPr/>
                    <a:lstStyle/>
                    <a:p>
                      <a:r>
                        <a:rPr lang="en-US" dirty="0"/>
                        <a:t>4 bytes</a:t>
                      </a:r>
                      <a:endParaRPr lang="en-IN" dirty="0"/>
                    </a:p>
                  </a:txBody>
                  <a:tcPr/>
                </a:tc>
                <a:tc>
                  <a:txBody>
                    <a:bodyPr/>
                    <a:lstStyle/>
                    <a:p>
                      <a:r>
                        <a:rPr lang="en-US" dirty="0"/>
                        <a:t>Contains the approximate creation time of the block in Unix-epoch time format.</a:t>
                      </a:r>
                      <a:endParaRPr lang="en-IN" dirty="0"/>
                    </a:p>
                  </a:txBody>
                  <a:tcPr/>
                </a:tc>
                <a:extLst>
                  <a:ext uri="{0D108BD9-81ED-4DB2-BD59-A6C34878D82A}">
                    <a16:rowId xmlns:a16="http://schemas.microsoft.com/office/drawing/2014/main" val="1532096549"/>
                  </a:ext>
                </a:extLst>
              </a:tr>
              <a:tr h="478039">
                <a:tc>
                  <a:txBody>
                    <a:bodyPr/>
                    <a:lstStyle/>
                    <a:p>
                      <a:r>
                        <a:rPr lang="en-US" dirty="0"/>
                        <a:t>Difficulty target</a:t>
                      </a:r>
                      <a:endParaRPr lang="en-IN" dirty="0"/>
                    </a:p>
                  </a:txBody>
                  <a:tcPr/>
                </a:tc>
                <a:tc>
                  <a:txBody>
                    <a:bodyPr/>
                    <a:lstStyle/>
                    <a:p>
                      <a:r>
                        <a:rPr lang="en-US" dirty="0"/>
                        <a:t>4 bytes</a:t>
                      </a:r>
                      <a:endParaRPr lang="en-IN" dirty="0"/>
                    </a:p>
                  </a:txBody>
                  <a:tcPr/>
                </a:tc>
                <a:tc>
                  <a:txBody>
                    <a:bodyPr/>
                    <a:lstStyle/>
                    <a:p>
                      <a:r>
                        <a:rPr lang="en-US" dirty="0"/>
                        <a:t>Current difficulty target of the network</a:t>
                      </a:r>
                      <a:endParaRPr lang="en-IN" dirty="0"/>
                    </a:p>
                  </a:txBody>
                  <a:tcPr/>
                </a:tc>
                <a:extLst>
                  <a:ext uri="{0D108BD9-81ED-4DB2-BD59-A6C34878D82A}">
                    <a16:rowId xmlns:a16="http://schemas.microsoft.com/office/drawing/2014/main" val="1070780454"/>
                  </a:ext>
                </a:extLst>
              </a:tr>
              <a:tr h="825109">
                <a:tc>
                  <a:txBody>
                    <a:bodyPr/>
                    <a:lstStyle/>
                    <a:p>
                      <a:r>
                        <a:rPr lang="en-US" dirty="0"/>
                        <a:t>Nonce</a:t>
                      </a:r>
                      <a:endParaRPr lang="en-IN" dirty="0"/>
                    </a:p>
                  </a:txBody>
                  <a:tcPr/>
                </a:tc>
                <a:tc>
                  <a:txBody>
                    <a:bodyPr/>
                    <a:lstStyle/>
                    <a:p>
                      <a:r>
                        <a:rPr lang="en-US" dirty="0"/>
                        <a:t>4 bytes</a:t>
                      </a:r>
                      <a:endParaRPr lang="en-IN" dirty="0"/>
                    </a:p>
                  </a:txBody>
                  <a:tcPr/>
                </a:tc>
                <a:tc>
                  <a:txBody>
                    <a:bodyPr/>
                    <a:lstStyle/>
                    <a:p>
                      <a:r>
                        <a:rPr lang="en-US" dirty="0"/>
                        <a:t>Arbitrary number that miners change repeatedly to produce a hash that is lower than the difficulty target.</a:t>
                      </a:r>
                      <a:endParaRPr lang="en-IN" dirty="0"/>
                    </a:p>
                  </a:txBody>
                  <a:tcPr/>
                </a:tc>
                <a:extLst>
                  <a:ext uri="{0D108BD9-81ED-4DB2-BD59-A6C34878D82A}">
                    <a16:rowId xmlns:a16="http://schemas.microsoft.com/office/drawing/2014/main" val="2125141350"/>
                  </a:ext>
                </a:extLst>
              </a:tr>
            </a:tbl>
          </a:graphicData>
        </a:graphic>
      </p:graphicFrame>
    </p:spTree>
    <p:extLst>
      <p:ext uri="{BB962C8B-B14F-4D97-AF65-F5344CB8AC3E}">
        <p14:creationId xmlns:p14="http://schemas.microsoft.com/office/powerpoint/2010/main" val="321735310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379306" y="111968"/>
            <a:ext cx="6643396" cy="6652726"/>
          </a:xfrm>
          <a:prstGeom prst="rect">
            <a:avLst/>
          </a:prstGeom>
        </p:spPr>
      </p:pic>
    </p:spTree>
    <p:extLst>
      <p:ext uri="{BB962C8B-B14F-4D97-AF65-F5344CB8AC3E}">
        <p14:creationId xmlns:p14="http://schemas.microsoft.com/office/powerpoint/2010/main" val="30119650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
            <a:ext cx="10515600" cy="1011064"/>
          </a:xfrm>
        </p:spPr>
        <p:txBody>
          <a:bodyPr/>
          <a:lstStyle/>
          <a:p>
            <a:pPr algn="ctr"/>
            <a:r>
              <a:rPr lang="en-IN" b="1" dirty="0">
                <a:solidFill>
                  <a:srgbClr val="FF0000"/>
                </a:solidFill>
                <a:latin typeface="Times New Roman" panose="02020603050405020304" pitchFamily="18" charset="0"/>
                <a:cs typeface="Times New Roman" panose="02020603050405020304" pitchFamily="18" charset="0"/>
              </a:rPr>
              <a:t>Wallets</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90600" y="1132114"/>
            <a:ext cx="7478486" cy="5044849"/>
          </a:xfrm>
        </p:spPr>
        <p:txBody>
          <a:bodyPr>
            <a:normAutofit lnSpcReduction="10000"/>
          </a:bodyPr>
          <a:lstStyle/>
          <a:p>
            <a:r>
              <a:rPr lang="en-IN" dirty="0"/>
              <a:t>The wallet software is used to store </a:t>
            </a:r>
            <a:r>
              <a:rPr lang="en-IN" b="1" dirty="0">
                <a:solidFill>
                  <a:srgbClr val="FF0000"/>
                </a:solidFill>
              </a:rPr>
              <a:t>private</a:t>
            </a:r>
            <a:r>
              <a:rPr lang="en-IN" dirty="0"/>
              <a:t> or </a:t>
            </a:r>
            <a:r>
              <a:rPr lang="en-IN" b="1" dirty="0">
                <a:solidFill>
                  <a:srgbClr val="FF0000"/>
                </a:solidFill>
              </a:rPr>
              <a:t>public</a:t>
            </a:r>
            <a:r>
              <a:rPr lang="en-IN" dirty="0"/>
              <a:t> keys and bitcoin address.</a:t>
            </a:r>
          </a:p>
          <a:p>
            <a:r>
              <a:rPr lang="en-IN" dirty="0"/>
              <a:t>It performs various functions, such as </a:t>
            </a:r>
            <a:r>
              <a:rPr lang="en-IN" b="1" dirty="0">
                <a:solidFill>
                  <a:srgbClr val="FF0000"/>
                </a:solidFill>
              </a:rPr>
              <a:t>receiving</a:t>
            </a:r>
            <a:r>
              <a:rPr lang="en-IN" dirty="0"/>
              <a:t> and </a:t>
            </a:r>
            <a:r>
              <a:rPr lang="en-IN" b="1" dirty="0">
                <a:solidFill>
                  <a:srgbClr val="FF0000"/>
                </a:solidFill>
              </a:rPr>
              <a:t>sending</a:t>
            </a:r>
            <a:r>
              <a:rPr lang="en-IN" dirty="0"/>
              <a:t> bitcoins.</a:t>
            </a:r>
          </a:p>
          <a:p>
            <a:r>
              <a:rPr lang="en-IN" dirty="0"/>
              <a:t>Private keys can be generated in </a:t>
            </a:r>
            <a:r>
              <a:rPr lang="en-IN" b="1" dirty="0">
                <a:solidFill>
                  <a:srgbClr val="FF0000"/>
                </a:solidFill>
              </a:rPr>
              <a:t>different</a:t>
            </a:r>
            <a:r>
              <a:rPr lang="en-IN" dirty="0"/>
              <a:t> ways and are used by different types of wallets.</a:t>
            </a:r>
          </a:p>
          <a:p>
            <a:r>
              <a:rPr lang="en-IN" dirty="0"/>
              <a:t>Wallets do not store any coins and there is no concept of wallets storing balance or coins for a user.</a:t>
            </a:r>
          </a:p>
          <a:p>
            <a:r>
              <a:rPr lang="en-IN" dirty="0"/>
              <a:t>In the bitcoin network, </a:t>
            </a:r>
            <a:r>
              <a:rPr lang="en-IN" i="1" dirty="0"/>
              <a:t>coins </a:t>
            </a:r>
            <a:r>
              <a:rPr lang="en-IN" dirty="0"/>
              <a:t>do not exist; instead, only </a:t>
            </a:r>
            <a:r>
              <a:rPr lang="en-IN" b="1" dirty="0">
                <a:solidFill>
                  <a:srgbClr val="FF0000"/>
                </a:solidFill>
              </a:rPr>
              <a:t>transaction</a:t>
            </a:r>
            <a:r>
              <a:rPr lang="en-IN" dirty="0"/>
              <a:t> information is stored on the blockchain.</a:t>
            </a:r>
          </a:p>
        </p:txBody>
      </p:sp>
      <p:pic>
        <p:nvPicPr>
          <p:cNvPr id="4" name="Picture 3">
            <a:extLst>
              <a:ext uri="{FF2B5EF4-FFF2-40B4-BE49-F238E27FC236}">
                <a16:creationId xmlns:a16="http://schemas.microsoft.com/office/drawing/2014/main" id="{356078C7-CCD8-4627-2146-8D0079EF68D4}"/>
              </a:ext>
            </a:extLst>
          </p:cNvPr>
          <p:cNvPicPr>
            <a:picLocks noChangeAspect="1"/>
          </p:cNvPicPr>
          <p:nvPr/>
        </p:nvPicPr>
        <p:blipFill>
          <a:blip r:embed="rId2"/>
          <a:stretch>
            <a:fillRect/>
          </a:stretch>
        </p:blipFill>
        <p:spPr>
          <a:xfrm>
            <a:off x="8955736" y="1132114"/>
            <a:ext cx="2657978" cy="3157601"/>
          </a:xfrm>
          <a:prstGeom prst="rect">
            <a:avLst/>
          </a:prstGeom>
        </p:spPr>
      </p:pic>
      <p:pic>
        <p:nvPicPr>
          <p:cNvPr id="5" name="Graphic 4" descr="Wallet">
            <a:extLst>
              <a:ext uri="{FF2B5EF4-FFF2-40B4-BE49-F238E27FC236}">
                <a16:creationId xmlns:a16="http://schemas.microsoft.com/office/drawing/2014/main" id="{F501B238-62E1-FACB-647D-7FD217B972F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274800" y="4001294"/>
            <a:ext cx="2338914" cy="2338914"/>
          </a:xfrm>
          <a:prstGeom prst="rect">
            <a:avLst/>
          </a:prstGeom>
        </p:spPr>
      </p:pic>
    </p:spTree>
    <p:extLst>
      <p:ext uri="{BB962C8B-B14F-4D97-AF65-F5344CB8AC3E}">
        <p14:creationId xmlns:p14="http://schemas.microsoft.com/office/powerpoint/2010/main" val="192167725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8457" y="103868"/>
            <a:ext cx="10515600" cy="1017361"/>
          </a:xfrm>
        </p:spPr>
        <p:txBody>
          <a:bodyPr/>
          <a:lstStyle/>
          <a:p>
            <a:pPr algn="ctr"/>
            <a:r>
              <a:rPr lang="en-IN" b="1" dirty="0">
                <a:solidFill>
                  <a:srgbClr val="FF0000"/>
                </a:solidFill>
                <a:latin typeface="Times New Roman" panose="02020603050405020304" pitchFamily="18" charset="0"/>
                <a:cs typeface="Times New Roman" panose="02020603050405020304" pitchFamily="18" charset="0"/>
              </a:rPr>
              <a:t>Wallet Types</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240972"/>
            <a:ext cx="10515600" cy="4935992"/>
          </a:xfrm>
        </p:spPr>
        <p:txBody>
          <a:bodyPr>
            <a:normAutofit lnSpcReduction="10000"/>
          </a:bodyPr>
          <a:lstStyle/>
          <a:p>
            <a:r>
              <a:rPr lang="en-IN" dirty="0"/>
              <a:t>In bitcoin, there are different types of wallets that can be used to store private keys.</a:t>
            </a:r>
          </a:p>
          <a:p>
            <a:r>
              <a:rPr lang="en-IN" b="1" dirty="0"/>
              <a:t>Non-deterministic wallets</a:t>
            </a:r>
          </a:p>
          <a:p>
            <a:r>
              <a:rPr lang="en-IN" b="1" dirty="0"/>
              <a:t>Deterministic wallets</a:t>
            </a:r>
          </a:p>
          <a:p>
            <a:r>
              <a:rPr lang="en-IN" b="1" dirty="0"/>
              <a:t>Hierarchical deterministic wallets</a:t>
            </a:r>
          </a:p>
          <a:p>
            <a:r>
              <a:rPr lang="en-IN" b="1" dirty="0"/>
              <a:t>Brain wallets</a:t>
            </a:r>
          </a:p>
          <a:p>
            <a:r>
              <a:rPr lang="en-IN" b="1" dirty="0"/>
              <a:t>Paper wallets</a:t>
            </a:r>
          </a:p>
          <a:p>
            <a:r>
              <a:rPr lang="en-IN" b="1" dirty="0"/>
              <a:t>Hardware wallets</a:t>
            </a:r>
          </a:p>
          <a:p>
            <a:r>
              <a:rPr lang="en-IN" b="1" dirty="0"/>
              <a:t>Online wallets</a:t>
            </a:r>
          </a:p>
          <a:p>
            <a:r>
              <a:rPr lang="en-IN" b="1" dirty="0"/>
              <a:t>Mobile wallets</a:t>
            </a:r>
            <a:endParaRPr lang="en-IN" dirty="0"/>
          </a:p>
        </p:txBody>
      </p:sp>
    </p:spTree>
    <p:extLst>
      <p:ext uri="{BB962C8B-B14F-4D97-AF65-F5344CB8AC3E}">
        <p14:creationId xmlns:p14="http://schemas.microsoft.com/office/powerpoint/2010/main" val="55306049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0144" y="-10886"/>
            <a:ext cx="10722429" cy="952046"/>
          </a:xfrm>
        </p:spPr>
        <p:txBody>
          <a:bodyPr>
            <a:normAutofit/>
          </a:bodyPr>
          <a:lstStyle/>
          <a:p>
            <a:pPr algn="ctr"/>
            <a:r>
              <a:rPr lang="en-IN" sz="3600" b="1" dirty="0">
                <a:latin typeface="Times New Roman" panose="02020603050405020304" pitchFamily="18" charset="0"/>
                <a:cs typeface="Times New Roman" panose="02020603050405020304" pitchFamily="18" charset="0"/>
              </a:rPr>
              <a:t>Non-deterministic wallets</a:t>
            </a:r>
            <a:endParaRPr lang="en-IN"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31371" y="1186543"/>
            <a:ext cx="10722429" cy="4990420"/>
          </a:xfrm>
        </p:spPr>
        <p:txBody>
          <a:bodyPr/>
          <a:lstStyle/>
          <a:p>
            <a:r>
              <a:rPr lang="en-IN" dirty="0"/>
              <a:t>These wallets contain </a:t>
            </a:r>
            <a:r>
              <a:rPr lang="en-IN" b="1" dirty="0">
                <a:solidFill>
                  <a:srgbClr val="FF0000"/>
                </a:solidFill>
              </a:rPr>
              <a:t>randomly</a:t>
            </a:r>
            <a:r>
              <a:rPr lang="en-IN" dirty="0"/>
              <a:t> generated private keys and are also called “</a:t>
            </a:r>
            <a:r>
              <a:rPr lang="en-IN" b="1" i="1" u="sng" dirty="0"/>
              <a:t>Just a Bunch of Key wallets”</a:t>
            </a:r>
            <a:r>
              <a:rPr lang="en-IN" b="1" u="sng" dirty="0"/>
              <a:t>.</a:t>
            </a:r>
          </a:p>
          <a:p>
            <a:r>
              <a:rPr lang="en-IN" dirty="0"/>
              <a:t>Managing a large number of keys is very </a:t>
            </a:r>
            <a:r>
              <a:rPr lang="en-IN" b="1" dirty="0">
                <a:solidFill>
                  <a:srgbClr val="FF0000"/>
                </a:solidFill>
              </a:rPr>
              <a:t>difficult</a:t>
            </a:r>
            <a:r>
              <a:rPr lang="en-IN" dirty="0"/>
              <a:t>.</a:t>
            </a:r>
          </a:p>
          <a:p>
            <a:r>
              <a:rPr lang="en-IN" dirty="0"/>
              <a:t>There is a need to create regular </a:t>
            </a:r>
            <a:r>
              <a:rPr lang="en-IN" b="1" dirty="0">
                <a:solidFill>
                  <a:srgbClr val="FF0000"/>
                </a:solidFill>
              </a:rPr>
              <a:t>backups</a:t>
            </a:r>
            <a:r>
              <a:rPr lang="en-IN" dirty="0"/>
              <a:t> of the keys and protect them appropriately in order to prevent theft or loss.</a:t>
            </a:r>
          </a:p>
        </p:txBody>
      </p:sp>
      <p:pic>
        <p:nvPicPr>
          <p:cNvPr id="4" name="Picture 2">
            <a:extLst>
              <a:ext uri="{FF2B5EF4-FFF2-40B4-BE49-F238E27FC236}">
                <a16:creationId xmlns:a16="http://schemas.microsoft.com/office/drawing/2014/main" id="{CA62C580-B9AE-19B1-2740-E9FC673138CA}"/>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420545" y="3429000"/>
            <a:ext cx="3933255" cy="27041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95667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3E59B9B-137B-04B3-6548-58C5E7984054}"/>
              </a:ext>
            </a:extLst>
          </p:cNvPr>
          <p:cNvSpPr>
            <a:spLocks noGrp="1"/>
          </p:cNvSpPr>
          <p:nvPr>
            <p:ph idx="1"/>
          </p:nvPr>
        </p:nvSpPr>
        <p:spPr>
          <a:xfrm>
            <a:off x="435429" y="206829"/>
            <a:ext cx="10918371" cy="6455228"/>
          </a:xfrm>
        </p:spPr>
        <p:txBody>
          <a:bodyPr>
            <a:normAutofit lnSpcReduction="10000"/>
          </a:bodyPr>
          <a:lstStyle/>
          <a:p>
            <a:pPr>
              <a:buNone/>
            </a:pPr>
            <a:r>
              <a:rPr lang="en-US" b="1" dirty="0"/>
              <a:t>Features:</a:t>
            </a:r>
          </a:p>
          <a:p>
            <a:pPr>
              <a:buFont typeface="Arial" panose="020B0604020202020204" pitchFamily="34" charset="0"/>
              <a:buChar char="•"/>
            </a:pPr>
            <a:r>
              <a:rPr lang="en-US" dirty="0"/>
              <a:t>Generate each private key independently and randomly.</a:t>
            </a:r>
          </a:p>
          <a:p>
            <a:pPr>
              <a:buFont typeface="Arial" panose="020B0604020202020204" pitchFamily="34" charset="0"/>
              <a:buChar char="•"/>
            </a:pPr>
            <a:r>
              <a:rPr lang="en-US" dirty="0"/>
              <a:t>No relationship between keys.</a:t>
            </a:r>
            <a:endParaRPr lang="en-US" b="1" dirty="0"/>
          </a:p>
          <a:p>
            <a:pPr>
              <a:buFont typeface="Arial" panose="020B0604020202020204" pitchFamily="34" charset="0"/>
              <a:buChar char="•"/>
            </a:pPr>
            <a:r>
              <a:rPr lang="en-US" dirty="0"/>
              <a:t>Each address has a separate private key.</a:t>
            </a:r>
          </a:p>
          <a:p>
            <a:pPr>
              <a:buFont typeface="Arial" panose="020B0604020202020204" pitchFamily="34" charset="0"/>
              <a:buChar char="•"/>
            </a:pPr>
            <a:r>
              <a:rPr lang="en-US" dirty="0"/>
              <a:t>Requires backing up each private key individually.</a:t>
            </a:r>
          </a:p>
          <a:p>
            <a:pPr>
              <a:buNone/>
            </a:pPr>
            <a:r>
              <a:rPr lang="en-US" b="1" dirty="0"/>
              <a:t>Advantages:</a:t>
            </a:r>
          </a:p>
          <a:p>
            <a:pPr>
              <a:buFont typeface="Arial" panose="020B0604020202020204" pitchFamily="34" charset="0"/>
              <a:buChar char="•"/>
            </a:pPr>
            <a:r>
              <a:rPr lang="en-US" dirty="0"/>
              <a:t>Simple design.</a:t>
            </a:r>
          </a:p>
          <a:p>
            <a:pPr>
              <a:buFont typeface="Arial" panose="020B0604020202020204" pitchFamily="34" charset="0"/>
              <a:buChar char="•"/>
            </a:pPr>
            <a:r>
              <a:rPr lang="en-US" dirty="0"/>
              <a:t>Good for one-time or short-term use.</a:t>
            </a:r>
          </a:p>
          <a:p>
            <a:pPr>
              <a:buNone/>
            </a:pPr>
            <a:r>
              <a:rPr lang="en-US" b="1" dirty="0"/>
              <a:t>Disadvantages:</a:t>
            </a:r>
          </a:p>
          <a:p>
            <a:pPr>
              <a:buFont typeface="Arial" panose="020B0604020202020204" pitchFamily="34" charset="0"/>
              <a:buChar char="•"/>
            </a:pPr>
            <a:r>
              <a:rPr lang="en-US" dirty="0"/>
              <a:t>Hard to manage many keys.</a:t>
            </a:r>
          </a:p>
          <a:p>
            <a:pPr>
              <a:buFont typeface="Arial" panose="020B0604020202020204" pitchFamily="34" charset="0"/>
              <a:buChar char="•"/>
            </a:pPr>
            <a:r>
              <a:rPr lang="en-US" dirty="0"/>
              <a:t>Backup is complex and risky.</a:t>
            </a:r>
          </a:p>
          <a:p>
            <a:pPr>
              <a:buNone/>
            </a:pPr>
            <a:r>
              <a:rPr lang="en-US" b="1" dirty="0"/>
              <a:t>Example:</a:t>
            </a:r>
          </a:p>
          <a:p>
            <a:pPr>
              <a:buFont typeface="Arial" panose="020B0604020202020204" pitchFamily="34" charset="0"/>
              <a:buChar char="•"/>
            </a:pPr>
            <a:r>
              <a:rPr lang="en-US" dirty="0"/>
              <a:t>Early Bitcoin Core wallets.</a:t>
            </a:r>
          </a:p>
          <a:p>
            <a:endParaRPr lang="en-IN" dirty="0"/>
          </a:p>
        </p:txBody>
      </p:sp>
    </p:spTree>
    <p:extLst>
      <p:ext uri="{BB962C8B-B14F-4D97-AF65-F5344CB8AC3E}">
        <p14:creationId xmlns:p14="http://schemas.microsoft.com/office/powerpoint/2010/main" val="190201273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681037"/>
          </a:xfrm>
        </p:spPr>
        <p:txBody>
          <a:bodyPr>
            <a:normAutofit/>
          </a:bodyPr>
          <a:lstStyle/>
          <a:p>
            <a:pPr algn="ctr"/>
            <a:r>
              <a:rPr lang="en-IN" sz="3600" b="1" dirty="0">
                <a:latin typeface="Times New Roman" panose="02020603050405020304" pitchFamily="18" charset="0"/>
                <a:cs typeface="Times New Roman" panose="02020603050405020304" pitchFamily="18" charset="0"/>
              </a:rPr>
              <a:t>Deterministic wallets</a:t>
            </a:r>
            <a:endParaRPr lang="en-IN"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110343" y="1110343"/>
            <a:ext cx="10243456" cy="5312228"/>
          </a:xfrm>
        </p:spPr>
        <p:txBody>
          <a:bodyPr/>
          <a:lstStyle/>
          <a:p>
            <a:r>
              <a:rPr lang="en-IN" dirty="0"/>
              <a:t>keys are derived out of a </a:t>
            </a:r>
            <a:r>
              <a:rPr lang="en-IN" b="1" dirty="0">
                <a:solidFill>
                  <a:srgbClr val="FF0000"/>
                </a:solidFill>
              </a:rPr>
              <a:t>seed</a:t>
            </a:r>
            <a:r>
              <a:rPr lang="en-IN" dirty="0"/>
              <a:t> value via hash functions.</a:t>
            </a:r>
          </a:p>
          <a:p>
            <a:r>
              <a:rPr lang="en-IN" dirty="0"/>
              <a:t>This seed number is generated </a:t>
            </a:r>
            <a:r>
              <a:rPr lang="en-IN" b="1" dirty="0">
                <a:solidFill>
                  <a:srgbClr val="FF0000"/>
                </a:solidFill>
              </a:rPr>
              <a:t>randomly</a:t>
            </a:r>
            <a:r>
              <a:rPr lang="en-IN" dirty="0"/>
              <a:t> and commonly represented by human-readable </a:t>
            </a:r>
            <a:r>
              <a:rPr lang="en-IN" b="1" dirty="0"/>
              <a:t>“</a:t>
            </a:r>
            <a:r>
              <a:rPr lang="en-IN" b="1" i="1" u="sng" dirty="0"/>
              <a:t>mnemonic code </a:t>
            </a:r>
            <a:r>
              <a:rPr lang="en-IN" b="1" u="sng" dirty="0"/>
              <a:t>words”</a:t>
            </a:r>
            <a:r>
              <a:rPr lang="en-IN" dirty="0"/>
              <a:t>.</a:t>
            </a:r>
          </a:p>
          <a:p>
            <a:r>
              <a:rPr lang="en-IN" dirty="0"/>
              <a:t>Mnemonic code words are defined in </a:t>
            </a:r>
            <a:r>
              <a:rPr lang="en-IN" b="1" dirty="0">
                <a:solidFill>
                  <a:srgbClr val="FF0000"/>
                </a:solidFill>
              </a:rPr>
              <a:t>BIP39</a:t>
            </a:r>
            <a:r>
              <a:rPr lang="en-IN" dirty="0"/>
              <a:t>.</a:t>
            </a:r>
          </a:p>
          <a:p>
            <a:r>
              <a:rPr lang="en-IN" dirty="0"/>
              <a:t>private key management comparatively </a:t>
            </a:r>
            <a:r>
              <a:rPr lang="en-IN" b="1" dirty="0">
                <a:solidFill>
                  <a:srgbClr val="FF0000"/>
                </a:solidFill>
              </a:rPr>
              <a:t>easier. </a:t>
            </a:r>
          </a:p>
          <a:p>
            <a:pPr marL="0" indent="0">
              <a:buNone/>
            </a:pPr>
            <a:endParaRPr lang="en-IN" b="1" dirty="0">
              <a:solidFill>
                <a:srgbClr val="FF0000"/>
              </a:solidFill>
            </a:endParaRPr>
          </a:p>
        </p:txBody>
      </p:sp>
      <p:pic>
        <p:nvPicPr>
          <p:cNvPr id="4" name="Picture 4">
            <a:extLst>
              <a:ext uri="{FF2B5EF4-FFF2-40B4-BE49-F238E27FC236}">
                <a16:creationId xmlns:a16="http://schemas.microsoft.com/office/drawing/2014/main" id="{A2C1C8A4-E29A-E9C3-8A42-E075D70EBFC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6446" r="2" b="2153"/>
          <a:stretch/>
        </p:blipFill>
        <p:spPr bwMode="auto">
          <a:xfrm>
            <a:off x="6347668" y="3429000"/>
            <a:ext cx="5212959" cy="27479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714660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46A2528-C328-D17E-6F7B-D91F0CAA9B4B}"/>
              </a:ext>
            </a:extLst>
          </p:cNvPr>
          <p:cNvSpPr>
            <a:spLocks noGrp="1"/>
          </p:cNvSpPr>
          <p:nvPr>
            <p:ph idx="1"/>
          </p:nvPr>
        </p:nvSpPr>
        <p:spPr>
          <a:xfrm>
            <a:off x="522514" y="195943"/>
            <a:ext cx="10831286" cy="6379028"/>
          </a:xfrm>
        </p:spPr>
        <p:txBody>
          <a:bodyPr>
            <a:normAutofit/>
          </a:bodyPr>
          <a:lstStyle/>
          <a:p>
            <a:pPr>
              <a:buNone/>
            </a:pPr>
            <a:r>
              <a:rPr lang="en-US" b="1" dirty="0"/>
              <a:t>Features:</a:t>
            </a:r>
          </a:p>
          <a:p>
            <a:r>
              <a:rPr lang="en-US" dirty="0"/>
              <a:t>All keys are derived from a single seed phrase (usually 12 or 24 words).</a:t>
            </a:r>
            <a:endParaRPr lang="en-US" b="1" dirty="0"/>
          </a:p>
          <a:p>
            <a:pPr>
              <a:buFont typeface="Arial" panose="020B0604020202020204" pitchFamily="34" charset="0"/>
              <a:buChar char="•"/>
            </a:pPr>
            <a:r>
              <a:rPr lang="en-US" dirty="0"/>
              <a:t>One seed can regenerate all addresses/keys.</a:t>
            </a:r>
          </a:p>
          <a:p>
            <a:pPr>
              <a:buFont typeface="Arial" panose="020B0604020202020204" pitchFamily="34" charset="0"/>
              <a:buChar char="•"/>
            </a:pPr>
            <a:r>
              <a:rPr lang="en-US" dirty="0"/>
              <a:t>Easier backup and restoration.</a:t>
            </a:r>
          </a:p>
          <a:p>
            <a:pPr>
              <a:buNone/>
            </a:pPr>
            <a:r>
              <a:rPr lang="en-US" b="1" dirty="0"/>
              <a:t>Advantages:</a:t>
            </a:r>
          </a:p>
          <a:p>
            <a:pPr>
              <a:buFont typeface="Arial" panose="020B0604020202020204" pitchFamily="34" charset="0"/>
              <a:buChar char="•"/>
            </a:pPr>
            <a:r>
              <a:rPr lang="en-US" dirty="0"/>
              <a:t>Single backup is enough.</a:t>
            </a:r>
          </a:p>
          <a:p>
            <a:pPr>
              <a:buFont typeface="Arial" panose="020B0604020202020204" pitchFamily="34" charset="0"/>
              <a:buChar char="•"/>
            </a:pPr>
            <a:r>
              <a:rPr lang="en-US" dirty="0"/>
              <a:t>Predictable and organized.</a:t>
            </a:r>
          </a:p>
          <a:p>
            <a:pPr>
              <a:buNone/>
            </a:pPr>
            <a:r>
              <a:rPr lang="en-US" b="1" dirty="0"/>
              <a:t>Disadvantages:</a:t>
            </a:r>
          </a:p>
          <a:p>
            <a:pPr>
              <a:buFont typeface="Arial" panose="020B0604020202020204" pitchFamily="34" charset="0"/>
              <a:buChar char="•"/>
            </a:pPr>
            <a:r>
              <a:rPr lang="en-US" dirty="0"/>
              <a:t>If the seed is lost, all funds are lost.</a:t>
            </a:r>
          </a:p>
          <a:p>
            <a:pPr>
              <a:buFont typeface="Arial" panose="020B0604020202020204" pitchFamily="34" charset="0"/>
              <a:buChar char="•"/>
            </a:pPr>
            <a:r>
              <a:rPr lang="en-US" dirty="0"/>
              <a:t>Less privacy if all addresses are derived visibly from the same seed.</a:t>
            </a:r>
          </a:p>
          <a:p>
            <a:pPr>
              <a:buNone/>
            </a:pPr>
            <a:r>
              <a:rPr lang="en-US" b="1" dirty="0"/>
              <a:t>Example:</a:t>
            </a:r>
          </a:p>
          <a:p>
            <a:pPr>
              <a:buFont typeface="Arial" panose="020B0604020202020204" pitchFamily="34" charset="0"/>
              <a:buChar char="•"/>
            </a:pPr>
            <a:r>
              <a:rPr lang="en-US" dirty="0"/>
              <a:t>Electrum Wallet.</a:t>
            </a:r>
          </a:p>
          <a:p>
            <a:endParaRPr lang="en-IN" dirty="0"/>
          </a:p>
        </p:txBody>
      </p:sp>
    </p:spTree>
    <p:extLst>
      <p:ext uri="{BB962C8B-B14F-4D97-AF65-F5344CB8AC3E}">
        <p14:creationId xmlns:p14="http://schemas.microsoft.com/office/powerpoint/2010/main" val="234446363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1114" y="18255"/>
            <a:ext cx="10515600" cy="907031"/>
          </a:xfrm>
        </p:spPr>
        <p:txBody>
          <a:bodyPr>
            <a:normAutofit/>
          </a:bodyPr>
          <a:lstStyle/>
          <a:p>
            <a:pPr algn="ctr"/>
            <a:r>
              <a:rPr lang="en-IN" sz="3600" b="1" dirty="0">
                <a:latin typeface="Times New Roman" panose="02020603050405020304" pitchFamily="18" charset="0"/>
                <a:cs typeface="Times New Roman" panose="02020603050405020304" pitchFamily="18" charset="0"/>
              </a:rPr>
              <a:t>Hierarchical deterministic wallets</a:t>
            </a:r>
            <a:endParaRPr lang="en-IN"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066800" y="1306286"/>
            <a:ext cx="10287000" cy="4870677"/>
          </a:xfrm>
        </p:spPr>
        <p:txBody>
          <a:bodyPr/>
          <a:lstStyle/>
          <a:p>
            <a:r>
              <a:rPr lang="en-IN" dirty="0"/>
              <a:t>Defined in BIP32 and BIP44, HD wallets store keys in a </a:t>
            </a:r>
            <a:r>
              <a:rPr lang="en-IN" b="1" dirty="0">
                <a:solidFill>
                  <a:srgbClr val="FF0000"/>
                </a:solidFill>
              </a:rPr>
              <a:t>tree structure </a:t>
            </a:r>
            <a:r>
              <a:rPr lang="en-IN" dirty="0"/>
              <a:t>derived from a seed.</a:t>
            </a:r>
          </a:p>
          <a:p>
            <a:r>
              <a:rPr lang="en-IN" dirty="0"/>
              <a:t>The seed generates the parent key (master key), which is used to generate child keys and subsequently grandchild keys.</a:t>
            </a:r>
          </a:p>
          <a:p>
            <a:r>
              <a:rPr lang="en-IN" dirty="0"/>
              <a:t>The complete hierarchy of private keys in an HD wallet is easily </a:t>
            </a:r>
            <a:r>
              <a:rPr lang="en-IN" b="1" dirty="0">
                <a:solidFill>
                  <a:srgbClr val="FF0000"/>
                </a:solidFill>
              </a:rPr>
              <a:t>recoverable</a:t>
            </a:r>
            <a:r>
              <a:rPr lang="en-IN" dirty="0"/>
              <a:t> if the master private key is known.</a:t>
            </a:r>
          </a:p>
          <a:p>
            <a:r>
              <a:rPr lang="en-IN" dirty="0"/>
              <a:t>It is because of this property that HD wallets are very easy to </a:t>
            </a:r>
            <a:r>
              <a:rPr lang="en-IN" b="1" dirty="0">
                <a:solidFill>
                  <a:srgbClr val="FF0000"/>
                </a:solidFill>
              </a:rPr>
              <a:t>maintain</a:t>
            </a:r>
            <a:r>
              <a:rPr lang="en-IN" dirty="0"/>
              <a:t> and are highly </a:t>
            </a:r>
            <a:r>
              <a:rPr lang="en-IN" b="1" dirty="0">
                <a:solidFill>
                  <a:srgbClr val="FF0000"/>
                </a:solidFill>
              </a:rPr>
              <a:t>portable</a:t>
            </a:r>
            <a:r>
              <a:rPr lang="en-IN" dirty="0"/>
              <a:t>.</a:t>
            </a:r>
          </a:p>
        </p:txBody>
      </p:sp>
      <p:pic>
        <p:nvPicPr>
          <p:cNvPr id="4" name="Picture 2" descr="Part 1 : Blockchain Fundamentals – Brax Digital Notepad">
            <a:extLst>
              <a:ext uri="{FF2B5EF4-FFF2-40B4-BE49-F238E27FC236}">
                <a16:creationId xmlns:a16="http://schemas.microsoft.com/office/drawing/2014/main" id="{838B4A23-3119-A930-EBBB-6DA4B1597217}"/>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386771" y="4374836"/>
            <a:ext cx="4097657" cy="21831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845987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AEDCB13-DA6C-DA52-B080-AFE1F0563718}"/>
              </a:ext>
            </a:extLst>
          </p:cNvPr>
          <p:cNvPicPr>
            <a:picLocks noGrp="1" noChangeAspect="1"/>
          </p:cNvPicPr>
          <p:nvPr>
            <p:ph idx="1"/>
          </p:nvPr>
        </p:nvPicPr>
        <p:blipFill>
          <a:blip r:embed="rId2"/>
          <a:stretch>
            <a:fillRect/>
          </a:stretch>
        </p:blipFill>
        <p:spPr>
          <a:xfrm>
            <a:off x="1510758" y="643466"/>
            <a:ext cx="9170484" cy="5571067"/>
          </a:xfrm>
          <a:prstGeom prst="rect">
            <a:avLst/>
          </a:prstGeom>
        </p:spPr>
      </p:pic>
    </p:spTree>
    <p:extLst>
      <p:ext uri="{BB962C8B-B14F-4D97-AF65-F5344CB8AC3E}">
        <p14:creationId xmlns:p14="http://schemas.microsoft.com/office/powerpoint/2010/main" val="89381409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5B9B40A-0751-70A5-A6C5-13B0D81E6E6E}"/>
              </a:ext>
            </a:extLst>
          </p:cNvPr>
          <p:cNvSpPr>
            <a:spLocks noGrp="1"/>
          </p:cNvSpPr>
          <p:nvPr>
            <p:ph idx="1"/>
          </p:nvPr>
        </p:nvSpPr>
        <p:spPr>
          <a:xfrm>
            <a:off x="402771" y="239486"/>
            <a:ext cx="10951029" cy="6357257"/>
          </a:xfrm>
        </p:spPr>
        <p:txBody>
          <a:bodyPr>
            <a:normAutofit fontScale="92500" lnSpcReduction="10000"/>
          </a:bodyPr>
          <a:lstStyle/>
          <a:p>
            <a:pPr>
              <a:buNone/>
            </a:pPr>
            <a:r>
              <a:rPr lang="en-US" b="1" dirty="0"/>
              <a:t>Features:</a:t>
            </a:r>
          </a:p>
          <a:p>
            <a:pPr>
              <a:buFont typeface="Arial" panose="020B0604020202020204" pitchFamily="34" charset="0"/>
              <a:buChar char="•"/>
            </a:pPr>
            <a:r>
              <a:rPr lang="en-US" dirty="0"/>
              <a:t>An advanced form of deterministic wallets.</a:t>
            </a:r>
          </a:p>
          <a:p>
            <a:pPr>
              <a:buFont typeface="Arial" panose="020B0604020202020204" pitchFamily="34" charset="0"/>
              <a:buChar char="•"/>
            </a:pPr>
            <a:r>
              <a:rPr lang="en-US" dirty="0"/>
              <a:t>Keys are generated in a tree-like structure from a master seed.</a:t>
            </a:r>
          </a:p>
          <a:p>
            <a:pPr>
              <a:buFont typeface="Arial" panose="020B0604020202020204" pitchFamily="34" charset="0"/>
              <a:buChar char="•"/>
            </a:pPr>
            <a:r>
              <a:rPr lang="en-US" dirty="0"/>
              <a:t>Allows for multiple accounts</a:t>
            </a:r>
            <a:r>
              <a:rPr lang="en-US"/>
              <a:t>, chains </a:t>
            </a:r>
            <a:r>
              <a:rPr lang="en-US" dirty="0"/>
              <a:t>and addresses from one seed.</a:t>
            </a:r>
          </a:p>
          <a:p>
            <a:pPr>
              <a:buFont typeface="Arial" panose="020B0604020202020204" pitchFamily="34" charset="0"/>
              <a:buChar char="•"/>
            </a:pPr>
            <a:r>
              <a:rPr lang="en-US" dirty="0"/>
              <a:t>Follows BIP32/BIP44 standards.</a:t>
            </a:r>
          </a:p>
          <a:p>
            <a:pPr>
              <a:buNone/>
            </a:pPr>
            <a:r>
              <a:rPr lang="en-US" b="1" dirty="0"/>
              <a:t>Advantages:</a:t>
            </a:r>
          </a:p>
          <a:p>
            <a:pPr>
              <a:buFont typeface="Arial" panose="020B0604020202020204" pitchFamily="34" charset="0"/>
              <a:buChar char="•"/>
            </a:pPr>
            <a:r>
              <a:rPr lang="en-US" dirty="0"/>
              <a:t>Single backup for all accounts.</a:t>
            </a:r>
          </a:p>
          <a:p>
            <a:pPr>
              <a:buFont typeface="Arial" panose="020B0604020202020204" pitchFamily="34" charset="0"/>
              <a:buChar char="•"/>
            </a:pPr>
            <a:r>
              <a:rPr lang="en-US" dirty="0"/>
              <a:t>Great for managing multiple addresses.</a:t>
            </a:r>
          </a:p>
          <a:p>
            <a:pPr>
              <a:buFont typeface="Arial" panose="020B0604020202020204" pitchFamily="34" charset="0"/>
              <a:buChar char="•"/>
            </a:pPr>
            <a:r>
              <a:rPr lang="en-US" dirty="0"/>
              <a:t>Can generate new addresses without internet access.</a:t>
            </a:r>
          </a:p>
          <a:p>
            <a:pPr>
              <a:buNone/>
            </a:pPr>
            <a:r>
              <a:rPr lang="en-US" b="1" dirty="0"/>
              <a:t>Disadvantages:</a:t>
            </a:r>
          </a:p>
          <a:p>
            <a:pPr>
              <a:buFont typeface="Arial" panose="020B0604020202020204" pitchFamily="34" charset="0"/>
              <a:buChar char="•"/>
            </a:pPr>
            <a:r>
              <a:rPr lang="en-US" dirty="0"/>
              <a:t>Slightly more complex for beginners.</a:t>
            </a:r>
          </a:p>
          <a:p>
            <a:pPr>
              <a:buFont typeface="Arial" panose="020B0604020202020204" pitchFamily="34" charset="0"/>
              <a:buChar char="•"/>
            </a:pPr>
            <a:r>
              <a:rPr lang="en-US" dirty="0"/>
              <a:t>Still vulnerable if the seed phrase is exposed.</a:t>
            </a:r>
          </a:p>
          <a:p>
            <a:pPr>
              <a:buNone/>
            </a:pPr>
            <a:r>
              <a:rPr lang="en-US" b="1" dirty="0"/>
              <a:t>Example:</a:t>
            </a:r>
          </a:p>
          <a:p>
            <a:pPr>
              <a:buFont typeface="Arial" panose="020B0604020202020204" pitchFamily="34" charset="0"/>
              <a:buChar char="•"/>
            </a:pPr>
            <a:r>
              <a:rPr lang="en-US" dirty="0"/>
              <a:t>Ledger Nano S/X, </a:t>
            </a:r>
            <a:r>
              <a:rPr lang="en-US" dirty="0" err="1"/>
              <a:t>Trezor</a:t>
            </a:r>
            <a:r>
              <a:rPr lang="en-US" dirty="0"/>
              <a:t>, Exodus.</a:t>
            </a:r>
          </a:p>
          <a:p>
            <a:endParaRPr lang="en-IN" dirty="0"/>
          </a:p>
        </p:txBody>
      </p:sp>
    </p:spTree>
    <p:extLst>
      <p:ext uri="{BB962C8B-B14F-4D97-AF65-F5344CB8AC3E}">
        <p14:creationId xmlns:p14="http://schemas.microsoft.com/office/powerpoint/2010/main" val="56279036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CA6CE-82E8-6F10-FB07-3C1E091A355B}"/>
              </a:ext>
            </a:extLst>
          </p:cNvPr>
          <p:cNvSpPr>
            <a:spLocks noGrp="1"/>
          </p:cNvSpPr>
          <p:nvPr>
            <p:ph type="title"/>
          </p:nvPr>
        </p:nvSpPr>
        <p:spPr>
          <a:xfrm>
            <a:off x="685800" y="1"/>
            <a:ext cx="10515600" cy="772886"/>
          </a:xfrm>
        </p:spPr>
        <p:txBody>
          <a:bodyPr>
            <a:normAutofit/>
          </a:bodyPr>
          <a:lstStyle/>
          <a:p>
            <a:pPr algn="ctr"/>
            <a:r>
              <a:rPr lang="en-IN" sz="3600" b="1" dirty="0">
                <a:latin typeface="Times New Roman" panose="02020603050405020304" pitchFamily="18" charset="0"/>
                <a:cs typeface="Times New Roman" panose="02020603050405020304" pitchFamily="18" charset="0"/>
              </a:rPr>
              <a:t>Brain wallets</a:t>
            </a:r>
            <a:endParaRPr lang="en-IN"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5203F35-828D-BB41-5E06-AD0C33B0111A}"/>
              </a:ext>
            </a:extLst>
          </p:cNvPr>
          <p:cNvSpPr>
            <a:spLocks noGrp="1"/>
          </p:cNvSpPr>
          <p:nvPr>
            <p:ph idx="1"/>
          </p:nvPr>
        </p:nvSpPr>
        <p:spPr>
          <a:xfrm>
            <a:off x="1153886" y="1110343"/>
            <a:ext cx="10199914" cy="5066620"/>
          </a:xfrm>
        </p:spPr>
        <p:txBody>
          <a:bodyPr/>
          <a:lstStyle/>
          <a:p>
            <a:r>
              <a:rPr lang="en-IN" dirty="0"/>
              <a:t>The master private key can also be derived from the hash of passwords that are memorized.</a:t>
            </a:r>
          </a:p>
          <a:p>
            <a:pPr>
              <a:buNone/>
            </a:pPr>
            <a:r>
              <a:rPr lang="en-US" b="1" dirty="0"/>
              <a:t>Features:</a:t>
            </a:r>
          </a:p>
          <a:p>
            <a:pPr>
              <a:buFont typeface="Arial" panose="020B0604020202020204" pitchFamily="34" charset="0"/>
              <a:buChar char="•"/>
            </a:pPr>
            <a:r>
              <a:rPr lang="en-US" dirty="0"/>
              <a:t>A type of wallet where the private key is generated from a memorized passphrase</a:t>
            </a:r>
          </a:p>
          <a:p>
            <a:pPr>
              <a:buFont typeface="Arial" panose="020B0604020202020204" pitchFamily="34" charset="0"/>
              <a:buChar char="•"/>
            </a:pPr>
            <a:r>
              <a:rPr lang="en-US" dirty="0"/>
              <a:t>No physical or digital storage needed.</a:t>
            </a:r>
          </a:p>
          <a:p>
            <a:pPr>
              <a:buFont typeface="Arial" panose="020B0604020202020204" pitchFamily="34" charset="0"/>
              <a:buChar char="•"/>
            </a:pPr>
            <a:r>
              <a:rPr lang="en-US" dirty="0"/>
              <a:t>Only stored in the user's memory.</a:t>
            </a:r>
          </a:p>
          <a:p>
            <a:r>
              <a:rPr lang="en-IN" dirty="0"/>
              <a:t>Brain wallets can be stored as a sequence of 12-24 words (often called a mnemonic).</a:t>
            </a:r>
          </a:p>
          <a:p>
            <a:endParaRPr lang="en-IN" dirty="0"/>
          </a:p>
        </p:txBody>
      </p:sp>
    </p:spTree>
    <p:extLst>
      <p:ext uri="{BB962C8B-B14F-4D97-AF65-F5344CB8AC3E}">
        <p14:creationId xmlns:p14="http://schemas.microsoft.com/office/powerpoint/2010/main" val="268979368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B12B5E-F3D5-E145-D106-3736E7048024}"/>
              </a:ext>
            </a:extLst>
          </p:cNvPr>
          <p:cNvSpPr>
            <a:spLocks noGrp="1"/>
          </p:cNvSpPr>
          <p:nvPr>
            <p:ph idx="1"/>
          </p:nvPr>
        </p:nvSpPr>
        <p:spPr>
          <a:xfrm>
            <a:off x="555171" y="239486"/>
            <a:ext cx="10798629" cy="6346371"/>
          </a:xfrm>
        </p:spPr>
        <p:txBody>
          <a:bodyPr>
            <a:normAutofit/>
          </a:bodyPr>
          <a:lstStyle/>
          <a:p>
            <a:pPr>
              <a:buNone/>
            </a:pPr>
            <a:r>
              <a:rPr lang="en-US" b="1" dirty="0"/>
              <a:t>Advantages:</a:t>
            </a:r>
          </a:p>
          <a:p>
            <a:pPr>
              <a:buFont typeface="Arial" panose="020B0604020202020204" pitchFamily="34" charset="0"/>
              <a:buChar char="•"/>
            </a:pPr>
            <a:r>
              <a:rPr lang="en-US" dirty="0"/>
              <a:t>No risk of physical theft or hardware failure.</a:t>
            </a:r>
          </a:p>
          <a:p>
            <a:pPr>
              <a:buFont typeface="Arial" panose="020B0604020202020204" pitchFamily="34" charset="0"/>
              <a:buChar char="•"/>
            </a:pPr>
            <a:r>
              <a:rPr lang="en-US" dirty="0"/>
              <a:t>Extremely portable.</a:t>
            </a:r>
          </a:p>
          <a:p>
            <a:pPr>
              <a:buNone/>
            </a:pPr>
            <a:r>
              <a:rPr lang="en-US" b="1" dirty="0"/>
              <a:t>Disadvantages:</a:t>
            </a:r>
          </a:p>
          <a:p>
            <a:pPr>
              <a:buFont typeface="Arial" panose="020B0604020202020204" pitchFamily="34" charset="0"/>
              <a:buChar char="•"/>
            </a:pPr>
            <a:r>
              <a:rPr lang="en-US" dirty="0"/>
              <a:t>Vulnerable to weak passphrases and brute-force attacks.</a:t>
            </a:r>
          </a:p>
          <a:p>
            <a:pPr>
              <a:buFont typeface="Arial" panose="020B0604020202020204" pitchFamily="34" charset="0"/>
              <a:buChar char="•"/>
            </a:pPr>
            <a:r>
              <a:rPr lang="en-US" dirty="0"/>
              <a:t>If forgotten, funds are lost forever.</a:t>
            </a:r>
          </a:p>
          <a:p>
            <a:pPr>
              <a:buNone/>
            </a:pPr>
            <a:r>
              <a:rPr lang="en-US" b="1" dirty="0"/>
              <a:t>Example:</a:t>
            </a:r>
          </a:p>
          <a:p>
            <a:pPr>
              <a:buFont typeface="Arial" panose="020B0604020202020204" pitchFamily="34" charset="0"/>
              <a:buChar char="•"/>
            </a:pPr>
            <a:r>
              <a:rPr lang="en-US" dirty="0"/>
              <a:t>A manually created SHA-256 hash of a phrase like “MySecret123!”</a:t>
            </a:r>
          </a:p>
          <a:p>
            <a:endParaRPr lang="en-IN" dirty="0"/>
          </a:p>
        </p:txBody>
      </p:sp>
    </p:spTree>
    <p:extLst>
      <p:ext uri="{BB962C8B-B14F-4D97-AF65-F5344CB8AC3E}">
        <p14:creationId xmlns:p14="http://schemas.microsoft.com/office/powerpoint/2010/main" val="169280326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3598" y="0"/>
            <a:ext cx="10515600" cy="875846"/>
          </a:xfrm>
        </p:spPr>
        <p:txBody>
          <a:bodyPr>
            <a:normAutofit/>
          </a:bodyPr>
          <a:lstStyle/>
          <a:p>
            <a:pPr algn="ctr"/>
            <a:r>
              <a:rPr lang="en-IN" sz="3600" b="1" dirty="0">
                <a:latin typeface="Times New Roman" panose="02020603050405020304" pitchFamily="18" charset="0"/>
                <a:cs typeface="Times New Roman" panose="02020603050405020304" pitchFamily="18" charset="0"/>
              </a:rPr>
              <a:t>Paper wallets</a:t>
            </a:r>
            <a:endParaRPr lang="en-IN"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295400"/>
            <a:ext cx="10515600" cy="4881563"/>
          </a:xfrm>
        </p:spPr>
        <p:txBody>
          <a:bodyPr/>
          <a:lstStyle/>
          <a:p>
            <a:r>
              <a:rPr lang="en-IN" dirty="0"/>
              <a:t>As the name implies, this is a paper-based wallet with the required key material printed on it. </a:t>
            </a:r>
          </a:p>
          <a:p>
            <a:r>
              <a:rPr lang="en-IN" dirty="0"/>
              <a:t>It requires physical security to be stored.</a:t>
            </a:r>
          </a:p>
        </p:txBody>
      </p:sp>
      <p:pic>
        <p:nvPicPr>
          <p:cNvPr id="4" name="Picture 4" descr="Paper wallet - Bitcoin Wiki">
            <a:extLst>
              <a:ext uri="{FF2B5EF4-FFF2-40B4-BE49-F238E27FC236}">
                <a16:creationId xmlns:a16="http://schemas.microsoft.com/office/drawing/2014/main" id="{7BA0F113-A2B7-6ED5-0D96-7346DDBB95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00257" y="3037114"/>
            <a:ext cx="3152627" cy="210052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How to Transfer Bitcoin From a Paper Wallet: A Few Technical Tips for  Beginners">
            <a:extLst>
              <a:ext uri="{FF2B5EF4-FFF2-40B4-BE49-F238E27FC236}">
                <a16:creationId xmlns:a16="http://schemas.microsoft.com/office/drawing/2014/main" id="{9EB5A0AA-85E4-B7AD-D920-502E561DD1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49520" y="3429000"/>
            <a:ext cx="2867025" cy="1590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291204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79BAF7-1085-1EA6-D2FD-291979FE7D1B}"/>
              </a:ext>
            </a:extLst>
          </p:cNvPr>
          <p:cNvSpPr>
            <a:spLocks noGrp="1"/>
          </p:cNvSpPr>
          <p:nvPr>
            <p:ph idx="1"/>
          </p:nvPr>
        </p:nvSpPr>
        <p:spPr>
          <a:xfrm>
            <a:off x="609600" y="163286"/>
            <a:ext cx="10744200" cy="6379028"/>
          </a:xfrm>
        </p:spPr>
        <p:txBody>
          <a:bodyPr>
            <a:normAutofit/>
          </a:bodyPr>
          <a:lstStyle/>
          <a:p>
            <a:pPr>
              <a:buNone/>
            </a:pPr>
            <a:r>
              <a:rPr lang="en-US" b="1" dirty="0"/>
              <a:t>Features:</a:t>
            </a:r>
          </a:p>
          <a:p>
            <a:r>
              <a:rPr lang="en-US" dirty="0"/>
              <a:t>A physical printout of your private key and Bitcoin address, often as QR codes.</a:t>
            </a:r>
          </a:p>
          <a:p>
            <a:r>
              <a:rPr lang="en-US" dirty="0"/>
              <a:t>Offline and not connected to any device.</a:t>
            </a:r>
          </a:p>
          <a:p>
            <a:pPr>
              <a:buNone/>
            </a:pPr>
            <a:r>
              <a:rPr lang="en-US" b="1" dirty="0"/>
              <a:t>Advantages:</a:t>
            </a:r>
          </a:p>
          <a:p>
            <a:pPr>
              <a:buFont typeface="Arial" panose="020B0604020202020204" pitchFamily="34" charset="0"/>
              <a:buChar char="•"/>
            </a:pPr>
            <a:r>
              <a:rPr lang="en-US" dirty="0"/>
              <a:t>Immune to hacking and malware.</a:t>
            </a:r>
          </a:p>
          <a:p>
            <a:pPr>
              <a:buFont typeface="Arial" panose="020B0604020202020204" pitchFamily="34" charset="0"/>
              <a:buChar char="•"/>
            </a:pPr>
            <a:r>
              <a:rPr lang="en-US" dirty="0"/>
              <a:t>Great for cold storage.</a:t>
            </a:r>
          </a:p>
          <a:p>
            <a:pPr>
              <a:buNone/>
            </a:pPr>
            <a:r>
              <a:rPr lang="en-US" b="1" dirty="0"/>
              <a:t>Disadvantages:</a:t>
            </a:r>
          </a:p>
          <a:p>
            <a:pPr>
              <a:buFont typeface="Arial" panose="020B0604020202020204" pitchFamily="34" charset="0"/>
              <a:buChar char="•"/>
            </a:pPr>
            <a:r>
              <a:rPr lang="en-US" dirty="0"/>
              <a:t>Easily damaged or lost.</a:t>
            </a:r>
          </a:p>
          <a:p>
            <a:pPr>
              <a:buFont typeface="Arial" panose="020B0604020202020204" pitchFamily="34" charset="0"/>
              <a:buChar char="•"/>
            </a:pPr>
            <a:r>
              <a:rPr lang="en-US" dirty="0"/>
              <a:t>Must be generated securely offline.</a:t>
            </a:r>
          </a:p>
          <a:p>
            <a:pPr>
              <a:buNone/>
            </a:pPr>
            <a:r>
              <a:rPr lang="en-US" b="1" dirty="0"/>
              <a:t>Example:</a:t>
            </a:r>
          </a:p>
          <a:p>
            <a:pPr>
              <a:buFont typeface="Arial" panose="020B0604020202020204" pitchFamily="34" charset="0"/>
              <a:buChar char="•"/>
            </a:pPr>
            <a:r>
              <a:rPr lang="en-US" dirty="0"/>
              <a:t>Created using tools like bitaddress.org (offline mode).</a:t>
            </a:r>
          </a:p>
          <a:p>
            <a:endParaRPr lang="en-IN" dirty="0"/>
          </a:p>
        </p:txBody>
      </p:sp>
    </p:spTree>
    <p:extLst>
      <p:ext uri="{BB962C8B-B14F-4D97-AF65-F5344CB8AC3E}">
        <p14:creationId xmlns:p14="http://schemas.microsoft.com/office/powerpoint/2010/main" val="66988607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4915" y="75992"/>
            <a:ext cx="10515600" cy="892838"/>
          </a:xfrm>
        </p:spPr>
        <p:txBody>
          <a:bodyPr>
            <a:normAutofit/>
          </a:bodyPr>
          <a:lstStyle/>
          <a:p>
            <a:pPr algn="ctr"/>
            <a:r>
              <a:rPr lang="en-IN" sz="3600" b="1" dirty="0">
                <a:latin typeface="Times New Roman" panose="02020603050405020304" pitchFamily="18" charset="0"/>
                <a:cs typeface="Times New Roman" panose="02020603050405020304" pitchFamily="18" charset="0"/>
              </a:rPr>
              <a:t>Hardware wallets</a:t>
            </a:r>
            <a:endParaRPr lang="en-IN"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349829"/>
            <a:ext cx="10515600" cy="4827134"/>
          </a:xfrm>
        </p:spPr>
        <p:txBody>
          <a:bodyPr/>
          <a:lstStyle/>
          <a:p>
            <a:r>
              <a:rPr lang="en-IN" sz="2800" dirty="0"/>
              <a:t>Another method is to use a tamper-resistant device to store keys.</a:t>
            </a:r>
          </a:p>
          <a:p>
            <a:r>
              <a:rPr lang="en-IN" sz="2800" dirty="0"/>
              <a:t>This tamper-resistant device can be custom-built or with the advent of </a:t>
            </a:r>
            <a:r>
              <a:rPr lang="en-IN" sz="2800" b="1" dirty="0"/>
              <a:t>NFC</a:t>
            </a:r>
            <a:r>
              <a:rPr lang="en-IN" sz="2800" dirty="0"/>
              <a:t>-enabled phones, this can also be a secure element (SE) in NFC phones. </a:t>
            </a:r>
          </a:p>
          <a:p>
            <a:r>
              <a:rPr lang="en-IN" sz="2800" b="1" dirty="0" err="1"/>
              <a:t>Trezor</a:t>
            </a:r>
            <a:r>
              <a:rPr lang="en-IN" sz="2800" dirty="0"/>
              <a:t> and </a:t>
            </a:r>
            <a:r>
              <a:rPr lang="en-IN" sz="2800" b="1" dirty="0"/>
              <a:t>Ledger</a:t>
            </a:r>
            <a:r>
              <a:rPr lang="en-IN" sz="2800" dirty="0"/>
              <a:t> wallets (various types) are the most commonly used bitcoin hardware wallets.</a:t>
            </a:r>
          </a:p>
        </p:txBody>
      </p:sp>
      <p:pic>
        <p:nvPicPr>
          <p:cNvPr id="4" name="Picture 3"/>
          <p:cNvPicPr>
            <a:picLocks noChangeAspect="1"/>
          </p:cNvPicPr>
          <p:nvPr/>
        </p:nvPicPr>
        <p:blipFill>
          <a:blip r:embed="rId2"/>
          <a:stretch>
            <a:fillRect/>
          </a:stretch>
        </p:blipFill>
        <p:spPr>
          <a:xfrm>
            <a:off x="7237285" y="4039113"/>
            <a:ext cx="3517801" cy="1980897"/>
          </a:xfrm>
          <a:prstGeom prst="rect">
            <a:avLst/>
          </a:prstGeom>
        </p:spPr>
      </p:pic>
    </p:spTree>
    <p:extLst>
      <p:ext uri="{BB962C8B-B14F-4D97-AF65-F5344CB8AC3E}">
        <p14:creationId xmlns:p14="http://schemas.microsoft.com/office/powerpoint/2010/main" val="102361262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3E90C2-6936-937F-BF24-ACE1AE1B370E}"/>
              </a:ext>
            </a:extLst>
          </p:cNvPr>
          <p:cNvSpPr>
            <a:spLocks noGrp="1"/>
          </p:cNvSpPr>
          <p:nvPr>
            <p:ph idx="1"/>
          </p:nvPr>
        </p:nvSpPr>
        <p:spPr>
          <a:xfrm>
            <a:off x="348343" y="87086"/>
            <a:ext cx="11005457" cy="6455228"/>
          </a:xfrm>
        </p:spPr>
        <p:txBody>
          <a:bodyPr>
            <a:normAutofit/>
          </a:bodyPr>
          <a:lstStyle/>
          <a:p>
            <a:pPr>
              <a:buNone/>
            </a:pPr>
            <a:r>
              <a:rPr lang="en-US" b="1" dirty="0"/>
              <a:t>Features:</a:t>
            </a:r>
          </a:p>
          <a:p>
            <a:r>
              <a:rPr lang="en-US" dirty="0"/>
              <a:t>Physical devices designed to securely store private keys offline.</a:t>
            </a:r>
          </a:p>
          <a:p>
            <a:pPr>
              <a:buFont typeface="Arial" panose="020B0604020202020204" pitchFamily="34" charset="0"/>
              <a:buChar char="•"/>
            </a:pPr>
            <a:r>
              <a:rPr lang="en-US" dirty="0"/>
              <a:t>Keys are stored in a secure chip.</a:t>
            </a:r>
          </a:p>
          <a:p>
            <a:pPr>
              <a:buFont typeface="Arial" panose="020B0604020202020204" pitchFamily="34" charset="0"/>
              <a:buChar char="•"/>
            </a:pPr>
            <a:r>
              <a:rPr lang="en-US" dirty="0"/>
              <a:t>Connects via USB or Bluetooth.</a:t>
            </a:r>
          </a:p>
          <a:p>
            <a:pPr>
              <a:buNone/>
            </a:pPr>
            <a:r>
              <a:rPr lang="en-US" b="1" dirty="0"/>
              <a:t>Advantages:</a:t>
            </a:r>
          </a:p>
          <a:p>
            <a:pPr>
              <a:buFont typeface="Arial" panose="020B0604020202020204" pitchFamily="34" charset="0"/>
              <a:buChar char="•"/>
            </a:pPr>
            <a:r>
              <a:rPr lang="en-US" dirty="0"/>
              <a:t>Very secure against malware and online attacks.</a:t>
            </a:r>
          </a:p>
          <a:p>
            <a:pPr>
              <a:buFont typeface="Arial" panose="020B0604020202020204" pitchFamily="34" charset="0"/>
              <a:buChar char="•"/>
            </a:pPr>
            <a:r>
              <a:rPr lang="en-US" dirty="0"/>
              <a:t>Ideal for long-term and large holdings.</a:t>
            </a:r>
          </a:p>
          <a:p>
            <a:pPr>
              <a:buNone/>
            </a:pPr>
            <a:r>
              <a:rPr lang="en-US" b="1" dirty="0"/>
              <a:t>Disadvantages:</a:t>
            </a:r>
          </a:p>
          <a:p>
            <a:pPr>
              <a:buFont typeface="Arial" panose="020B0604020202020204" pitchFamily="34" charset="0"/>
              <a:buChar char="•"/>
            </a:pPr>
            <a:r>
              <a:rPr lang="en-US" dirty="0"/>
              <a:t>Costly compared to software wallets.</a:t>
            </a:r>
          </a:p>
          <a:p>
            <a:pPr>
              <a:buFont typeface="Arial" panose="020B0604020202020204" pitchFamily="34" charset="0"/>
              <a:buChar char="•"/>
            </a:pPr>
            <a:r>
              <a:rPr lang="en-US" dirty="0"/>
              <a:t>Can be lost or damaged (though recovery is possible with a seed phrase).</a:t>
            </a:r>
          </a:p>
          <a:p>
            <a:pPr>
              <a:buNone/>
            </a:pPr>
            <a:r>
              <a:rPr lang="en-US" b="1" dirty="0"/>
              <a:t>Example:</a:t>
            </a:r>
          </a:p>
          <a:p>
            <a:pPr>
              <a:buFont typeface="Arial" panose="020B0604020202020204" pitchFamily="34" charset="0"/>
              <a:buChar char="•"/>
            </a:pPr>
            <a:r>
              <a:rPr lang="en-US" dirty="0"/>
              <a:t>Ledger Nano S/X, </a:t>
            </a:r>
            <a:r>
              <a:rPr lang="en-US" dirty="0" err="1"/>
              <a:t>Trezor</a:t>
            </a:r>
            <a:r>
              <a:rPr lang="en-US" dirty="0"/>
              <a:t>, </a:t>
            </a:r>
            <a:r>
              <a:rPr lang="en-US" dirty="0" err="1"/>
              <a:t>Coldcard</a:t>
            </a:r>
            <a:r>
              <a:rPr lang="en-US" dirty="0"/>
              <a:t>.</a:t>
            </a:r>
          </a:p>
          <a:p>
            <a:endParaRPr lang="en-IN" dirty="0"/>
          </a:p>
        </p:txBody>
      </p:sp>
    </p:spTree>
    <p:extLst>
      <p:ext uri="{BB962C8B-B14F-4D97-AF65-F5344CB8AC3E}">
        <p14:creationId xmlns:p14="http://schemas.microsoft.com/office/powerpoint/2010/main" val="206036184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7572" y="18256"/>
            <a:ext cx="10515600" cy="662782"/>
          </a:xfrm>
        </p:spPr>
        <p:txBody>
          <a:bodyPr>
            <a:normAutofit/>
          </a:bodyPr>
          <a:lstStyle/>
          <a:p>
            <a:pPr algn="ctr"/>
            <a:r>
              <a:rPr lang="en-IN" sz="3600" b="1" dirty="0">
                <a:latin typeface="Times New Roman" panose="02020603050405020304" pitchFamily="18" charset="0"/>
                <a:cs typeface="Times New Roman" panose="02020603050405020304" pitchFamily="18" charset="0"/>
              </a:rPr>
              <a:t>Online wallets</a:t>
            </a:r>
            <a:endParaRPr lang="en-IN"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47056" y="881743"/>
            <a:ext cx="10406743" cy="5295220"/>
          </a:xfrm>
        </p:spPr>
        <p:txBody>
          <a:bodyPr/>
          <a:lstStyle/>
          <a:p>
            <a:r>
              <a:rPr lang="en-IN" sz="2800" dirty="0"/>
              <a:t>They are stored entirely in online and are provided as a service usually via cloud. </a:t>
            </a:r>
          </a:p>
          <a:p>
            <a:r>
              <a:rPr lang="en-IN" sz="2800" dirty="0"/>
              <a:t>They provide a web interface to the users to manage their wallets and perform various functions such as making and receiving payments. </a:t>
            </a:r>
          </a:p>
          <a:p>
            <a:r>
              <a:rPr lang="en-IN" sz="2800" dirty="0"/>
              <a:t>Easy to use but imply that the user trust the online wallet service provider.</a:t>
            </a:r>
          </a:p>
        </p:txBody>
      </p:sp>
      <p:pic>
        <p:nvPicPr>
          <p:cNvPr id="4" name="Picture 2" descr="Digital Wallets In India | Go Cashless With These TOP 20 Digital Wallets.">
            <a:extLst>
              <a:ext uri="{FF2B5EF4-FFF2-40B4-BE49-F238E27FC236}">
                <a16:creationId xmlns:a16="http://schemas.microsoft.com/office/drawing/2014/main" id="{C16E0640-D526-3DB2-F856-58586F0E2A7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2498" r="10243" b="1"/>
          <a:stretch/>
        </p:blipFill>
        <p:spPr bwMode="auto">
          <a:xfrm>
            <a:off x="6526969" y="3559629"/>
            <a:ext cx="4601521" cy="2971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612838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DE850E-C186-F720-C278-6D9E34991214}"/>
              </a:ext>
            </a:extLst>
          </p:cNvPr>
          <p:cNvSpPr>
            <a:spLocks noGrp="1"/>
          </p:cNvSpPr>
          <p:nvPr>
            <p:ph idx="1"/>
          </p:nvPr>
        </p:nvSpPr>
        <p:spPr>
          <a:xfrm>
            <a:off x="598714" y="217714"/>
            <a:ext cx="10983686" cy="6259286"/>
          </a:xfrm>
        </p:spPr>
        <p:txBody>
          <a:bodyPr>
            <a:normAutofit/>
          </a:bodyPr>
          <a:lstStyle/>
          <a:p>
            <a:pPr>
              <a:buNone/>
            </a:pPr>
            <a:r>
              <a:rPr lang="en-US" b="1" dirty="0"/>
              <a:t>Features:</a:t>
            </a:r>
          </a:p>
          <a:p>
            <a:r>
              <a:rPr lang="en-US" dirty="0"/>
              <a:t>Wallets hosted on the internet, often by third-party services.</a:t>
            </a:r>
          </a:p>
          <a:p>
            <a:pPr>
              <a:buFont typeface="Arial" panose="020B0604020202020204" pitchFamily="34" charset="0"/>
              <a:buChar char="•"/>
            </a:pPr>
            <a:r>
              <a:rPr lang="en-US" dirty="0"/>
              <a:t>Accessible via browser.</a:t>
            </a:r>
          </a:p>
          <a:p>
            <a:pPr>
              <a:buFont typeface="Arial" panose="020B0604020202020204" pitchFamily="34" charset="0"/>
              <a:buChar char="•"/>
            </a:pPr>
            <a:r>
              <a:rPr lang="en-US" dirty="0"/>
              <a:t>Managed by custodians or user-controlled.</a:t>
            </a:r>
          </a:p>
          <a:p>
            <a:pPr>
              <a:buNone/>
            </a:pPr>
            <a:r>
              <a:rPr lang="en-US" b="1" dirty="0"/>
              <a:t>Advantages:</a:t>
            </a:r>
          </a:p>
          <a:p>
            <a:pPr>
              <a:buFont typeface="Arial" panose="020B0604020202020204" pitchFamily="34" charset="0"/>
              <a:buChar char="•"/>
            </a:pPr>
            <a:r>
              <a:rPr lang="en-US" dirty="0"/>
              <a:t>Easy to use.</a:t>
            </a:r>
          </a:p>
          <a:p>
            <a:pPr>
              <a:buFont typeface="Arial" panose="020B0604020202020204" pitchFamily="34" charset="0"/>
              <a:buChar char="•"/>
            </a:pPr>
            <a:r>
              <a:rPr lang="en-US" dirty="0"/>
              <a:t>Accessible from anywhere.</a:t>
            </a:r>
          </a:p>
          <a:p>
            <a:pPr>
              <a:buNone/>
            </a:pPr>
            <a:r>
              <a:rPr lang="en-US" b="1" dirty="0"/>
              <a:t>Disadvantages:</a:t>
            </a:r>
          </a:p>
          <a:p>
            <a:pPr>
              <a:buFont typeface="Arial" panose="020B0604020202020204" pitchFamily="34" charset="0"/>
              <a:buChar char="•"/>
            </a:pPr>
            <a:r>
              <a:rPr lang="en-US" dirty="0"/>
              <a:t>High risk of hacking and phishing.</a:t>
            </a:r>
          </a:p>
          <a:p>
            <a:pPr>
              <a:buFont typeface="Arial" panose="020B0604020202020204" pitchFamily="34" charset="0"/>
              <a:buChar char="•"/>
            </a:pPr>
            <a:r>
              <a:rPr lang="en-US" dirty="0"/>
              <a:t>Trust required in third parties.</a:t>
            </a:r>
          </a:p>
          <a:p>
            <a:pPr>
              <a:buNone/>
            </a:pPr>
            <a:r>
              <a:rPr lang="en-US" b="1" dirty="0"/>
              <a:t>Example:</a:t>
            </a:r>
          </a:p>
          <a:p>
            <a:pPr>
              <a:buFont typeface="Arial" panose="020B0604020202020204" pitchFamily="34" charset="0"/>
              <a:buChar char="•"/>
            </a:pPr>
            <a:r>
              <a:rPr lang="en-US" dirty="0"/>
              <a:t>Blockchain.com, Coinbase (custodial), MetaMask (for Ethereum).</a:t>
            </a:r>
          </a:p>
          <a:p>
            <a:endParaRPr lang="en-IN" dirty="0"/>
          </a:p>
        </p:txBody>
      </p:sp>
    </p:spTree>
    <p:extLst>
      <p:ext uri="{BB962C8B-B14F-4D97-AF65-F5344CB8AC3E}">
        <p14:creationId xmlns:p14="http://schemas.microsoft.com/office/powerpoint/2010/main" val="421549603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0229" y="133678"/>
            <a:ext cx="10515600" cy="679904"/>
          </a:xfrm>
        </p:spPr>
        <p:txBody>
          <a:bodyPr>
            <a:normAutofit/>
          </a:bodyPr>
          <a:lstStyle/>
          <a:p>
            <a:pPr algn="ctr"/>
            <a:r>
              <a:rPr lang="en-IN" sz="3600" b="1" dirty="0">
                <a:latin typeface="Times New Roman" panose="02020603050405020304" pitchFamily="18" charset="0"/>
                <a:cs typeface="Times New Roman" panose="02020603050405020304" pitchFamily="18" charset="0"/>
              </a:rPr>
              <a:t>Mobile wallets</a:t>
            </a:r>
            <a:endParaRPr lang="en-IN"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36171" y="1284514"/>
            <a:ext cx="9873342" cy="4892449"/>
          </a:xfrm>
        </p:spPr>
        <p:txBody>
          <a:bodyPr/>
          <a:lstStyle/>
          <a:p>
            <a:r>
              <a:rPr lang="en-IN" sz="2800" dirty="0"/>
              <a:t>They are installed on mobile devices. They can provide various methods to make payments.</a:t>
            </a:r>
          </a:p>
          <a:p>
            <a:r>
              <a:rPr lang="en-IN" sz="2800" dirty="0"/>
              <a:t>At most the notable ability to use smart phone cameras to scan QR codes quickly and make payments. </a:t>
            </a:r>
          </a:p>
          <a:p>
            <a:r>
              <a:rPr lang="en-IN" sz="2800" dirty="0"/>
              <a:t>Mobile wallets are available for the Android platform and iOS, for example, </a:t>
            </a:r>
            <a:r>
              <a:rPr lang="en-IN" sz="2800" dirty="0" err="1"/>
              <a:t>breadwallet</a:t>
            </a:r>
            <a:r>
              <a:rPr lang="en-IN" sz="2800" dirty="0"/>
              <a:t>, copay and Jaxx.</a:t>
            </a:r>
          </a:p>
          <a:p>
            <a:pPr marL="0" indent="0" algn="just">
              <a:lnSpc>
                <a:spcPct val="100000"/>
              </a:lnSpc>
              <a:buNone/>
            </a:pPr>
            <a:endParaRPr lang="en-IN" dirty="0"/>
          </a:p>
        </p:txBody>
      </p:sp>
      <p:pic>
        <p:nvPicPr>
          <p:cNvPr id="5" name="Picture 4">
            <a:extLst>
              <a:ext uri="{FF2B5EF4-FFF2-40B4-BE49-F238E27FC236}">
                <a16:creationId xmlns:a16="http://schemas.microsoft.com/office/drawing/2014/main" id="{768ED5B0-44E8-8116-797F-5F57EE0D5A88}"/>
              </a:ext>
            </a:extLst>
          </p:cNvPr>
          <p:cNvPicPr>
            <a:picLocks noChangeAspect="1"/>
          </p:cNvPicPr>
          <p:nvPr/>
        </p:nvPicPr>
        <p:blipFill>
          <a:blip r:embed="rId2"/>
          <a:stretch>
            <a:fillRect/>
          </a:stretch>
        </p:blipFill>
        <p:spPr>
          <a:xfrm>
            <a:off x="7696200" y="3642295"/>
            <a:ext cx="3233057" cy="3005600"/>
          </a:xfrm>
          <a:prstGeom prst="rect">
            <a:avLst/>
          </a:prstGeom>
        </p:spPr>
      </p:pic>
    </p:spTree>
    <p:extLst>
      <p:ext uri="{BB962C8B-B14F-4D97-AF65-F5344CB8AC3E}">
        <p14:creationId xmlns:p14="http://schemas.microsoft.com/office/powerpoint/2010/main" val="113708085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47930A-C4FE-333C-95F0-29CE501D2C85}"/>
              </a:ext>
            </a:extLst>
          </p:cNvPr>
          <p:cNvSpPr>
            <a:spLocks noGrp="1"/>
          </p:cNvSpPr>
          <p:nvPr>
            <p:ph idx="1"/>
          </p:nvPr>
        </p:nvSpPr>
        <p:spPr>
          <a:xfrm>
            <a:off x="718457" y="413656"/>
            <a:ext cx="10635343" cy="6052458"/>
          </a:xfrm>
        </p:spPr>
        <p:txBody>
          <a:bodyPr>
            <a:normAutofit lnSpcReduction="10000"/>
          </a:bodyPr>
          <a:lstStyle/>
          <a:p>
            <a:pPr>
              <a:buNone/>
            </a:pPr>
            <a:r>
              <a:rPr lang="en-US" b="1" dirty="0"/>
              <a:t>Features:</a:t>
            </a:r>
          </a:p>
          <a:p>
            <a:r>
              <a:rPr lang="en-US" dirty="0"/>
              <a:t>Wallets designed for smartphones.</a:t>
            </a:r>
          </a:p>
          <a:p>
            <a:pPr>
              <a:buFont typeface="Arial" panose="020B0604020202020204" pitchFamily="34" charset="0"/>
              <a:buChar char="•"/>
            </a:pPr>
            <a:r>
              <a:rPr lang="en-US" dirty="0"/>
              <a:t>Light clients.</a:t>
            </a:r>
          </a:p>
          <a:p>
            <a:pPr>
              <a:buFont typeface="Arial" panose="020B0604020202020204" pitchFamily="34" charset="0"/>
              <a:buChar char="•"/>
            </a:pPr>
            <a:r>
              <a:rPr lang="en-US" dirty="0"/>
              <a:t>Includes QR scanning, NFC and in-app payments.</a:t>
            </a:r>
          </a:p>
          <a:p>
            <a:pPr>
              <a:buNone/>
            </a:pPr>
            <a:r>
              <a:rPr lang="en-US" b="1" dirty="0"/>
              <a:t>Advantages:</a:t>
            </a:r>
          </a:p>
          <a:p>
            <a:pPr>
              <a:buFont typeface="Arial" panose="020B0604020202020204" pitchFamily="34" charset="0"/>
              <a:buChar char="•"/>
            </a:pPr>
            <a:r>
              <a:rPr lang="en-US" dirty="0"/>
              <a:t>Convenient for everyday transactions.</a:t>
            </a:r>
          </a:p>
          <a:p>
            <a:pPr>
              <a:buFont typeface="Arial" panose="020B0604020202020204" pitchFamily="34" charset="0"/>
              <a:buChar char="•"/>
            </a:pPr>
            <a:r>
              <a:rPr lang="en-US" dirty="0"/>
              <a:t>Portable and easy to use.</a:t>
            </a:r>
          </a:p>
          <a:p>
            <a:pPr>
              <a:buNone/>
            </a:pPr>
            <a:r>
              <a:rPr lang="en-US" b="1" dirty="0"/>
              <a:t>Disadvantages:</a:t>
            </a:r>
          </a:p>
          <a:p>
            <a:pPr>
              <a:buFont typeface="Arial" panose="020B0604020202020204" pitchFamily="34" charset="0"/>
              <a:buChar char="•"/>
            </a:pPr>
            <a:r>
              <a:rPr lang="en-US" dirty="0"/>
              <a:t>Less secure than hardware or paper wallets.</a:t>
            </a:r>
          </a:p>
          <a:p>
            <a:pPr>
              <a:buFont typeface="Arial" panose="020B0604020202020204" pitchFamily="34" charset="0"/>
              <a:buChar char="•"/>
            </a:pPr>
            <a:r>
              <a:rPr lang="en-US" dirty="0"/>
              <a:t>Vulnerable to phone theft and malware.</a:t>
            </a:r>
          </a:p>
          <a:p>
            <a:pPr>
              <a:buNone/>
            </a:pPr>
            <a:r>
              <a:rPr lang="en-US" b="1" dirty="0"/>
              <a:t>Example:</a:t>
            </a:r>
          </a:p>
          <a:p>
            <a:pPr>
              <a:buFont typeface="Arial" panose="020B0604020202020204" pitchFamily="34" charset="0"/>
              <a:buChar char="•"/>
            </a:pPr>
            <a:r>
              <a:rPr lang="en-US" dirty="0"/>
              <a:t>Trust Wallet, Mycelium, </a:t>
            </a:r>
            <a:r>
              <a:rPr lang="en-US" dirty="0" err="1"/>
              <a:t>BlueWallet</a:t>
            </a:r>
            <a:r>
              <a:rPr lang="en-US" dirty="0"/>
              <a:t>.</a:t>
            </a:r>
          </a:p>
          <a:p>
            <a:endParaRPr lang="en-IN" dirty="0"/>
          </a:p>
        </p:txBody>
      </p:sp>
    </p:spTree>
    <p:extLst>
      <p:ext uri="{BB962C8B-B14F-4D97-AF65-F5344CB8AC3E}">
        <p14:creationId xmlns:p14="http://schemas.microsoft.com/office/powerpoint/2010/main" val="25397083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C98E7C9-303B-5F6B-3B80-F342F6C083EF}"/>
              </a:ext>
            </a:extLst>
          </p:cNvPr>
          <p:cNvPicPr>
            <a:picLocks noGrp="1" noChangeAspect="1"/>
          </p:cNvPicPr>
          <p:nvPr>
            <p:ph idx="1"/>
          </p:nvPr>
        </p:nvPicPr>
        <p:blipFill>
          <a:blip r:embed="rId2"/>
          <a:stretch>
            <a:fillRect/>
          </a:stretch>
        </p:blipFill>
        <p:spPr>
          <a:xfrm>
            <a:off x="883467" y="473529"/>
            <a:ext cx="10425065" cy="5910942"/>
          </a:xfrm>
        </p:spPr>
      </p:pic>
    </p:spTree>
    <p:extLst>
      <p:ext uri="{BB962C8B-B14F-4D97-AF65-F5344CB8AC3E}">
        <p14:creationId xmlns:p14="http://schemas.microsoft.com/office/powerpoint/2010/main" val="300210144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E4042E-766F-1FE9-A546-FBEAB309DD77}"/>
              </a:ext>
            </a:extLst>
          </p:cNvPr>
          <p:cNvSpPr>
            <a:spLocks noGrp="1"/>
          </p:cNvSpPr>
          <p:nvPr>
            <p:ph type="title"/>
          </p:nvPr>
        </p:nvSpPr>
        <p:spPr>
          <a:xfrm>
            <a:off x="938790" y="2195166"/>
            <a:ext cx="10515600" cy="1325563"/>
          </a:xfrm>
        </p:spPr>
        <p:txBody>
          <a:bodyPr>
            <a:normAutofit/>
          </a:bodyPr>
          <a:lstStyle/>
          <a:p>
            <a:pPr algn="ctr"/>
            <a:r>
              <a:rPr lang="en-IN" sz="4800" dirty="0">
                <a:solidFill>
                  <a:srgbClr val="FF0000"/>
                </a:solidFill>
                <a:latin typeface="Times New Roman" panose="02020603050405020304" pitchFamily="18" charset="0"/>
                <a:cs typeface="Times New Roman" panose="02020603050405020304" pitchFamily="18" charset="0"/>
              </a:rPr>
              <a:t>Smart Contracts</a:t>
            </a:r>
          </a:p>
        </p:txBody>
      </p:sp>
    </p:spTree>
    <p:extLst>
      <p:ext uri="{BB962C8B-B14F-4D97-AF65-F5344CB8AC3E}">
        <p14:creationId xmlns:p14="http://schemas.microsoft.com/office/powerpoint/2010/main" val="229187113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743" y="158297"/>
            <a:ext cx="10515600" cy="1325563"/>
          </a:xfrm>
        </p:spPr>
        <p:txBody>
          <a:bodyPr/>
          <a:lstStyle/>
          <a:p>
            <a:pPr algn="ctr"/>
            <a:r>
              <a:rPr lang="en-IN" b="1" dirty="0"/>
              <a:t>Smart Contracts Definition</a:t>
            </a:r>
            <a:endParaRPr lang="en-IN" dirty="0"/>
          </a:p>
        </p:txBody>
      </p:sp>
      <p:sp>
        <p:nvSpPr>
          <p:cNvPr id="3" name="Content Placeholder 2"/>
          <p:cNvSpPr>
            <a:spLocks noGrp="1"/>
          </p:cNvSpPr>
          <p:nvPr>
            <p:ph idx="1"/>
          </p:nvPr>
        </p:nvSpPr>
        <p:spPr>
          <a:xfrm>
            <a:off x="1066800" y="1915887"/>
            <a:ext cx="10286999" cy="4261076"/>
          </a:xfrm>
        </p:spPr>
        <p:txBody>
          <a:bodyPr>
            <a:normAutofit/>
          </a:bodyPr>
          <a:lstStyle/>
          <a:p>
            <a:pPr marL="0" indent="0" algn="just">
              <a:buNone/>
            </a:pPr>
            <a:r>
              <a:rPr lang="en-IN" dirty="0">
                <a:solidFill>
                  <a:srgbClr val="FF0000"/>
                </a:solidFill>
              </a:rPr>
              <a:t>“A smart contract is a secure and unstoppable computer program</a:t>
            </a:r>
          </a:p>
          <a:p>
            <a:pPr marL="0" indent="0" algn="just">
              <a:buNone/>
            </a:pPr>
            <a:r>
              <a:rPr lang="en-IN" dirty="0">
                <a:solidFill>
                  <a:srgbClr val="FF0000"/>
                </a:solidFill>
              </a:rPr>
              <a:t>representing an agreement that is automatically executable and</a:t>
            </a:r>
          </a:p>
          <a:p>
            <a:pPr marL="0" indent="0" algn="just">
              <a:buNone/>
            </a:pPr>
            <a:r>
              <a:rPr lang="en-IN" dirty="0">
                <a:solidFill>
                  <a:srgbClr val="FF0000"/>
                </a:solidFill>
              </a:rPr>
              <a:t>enforceable.”</a:t>
            </a:r>
          </a:p>
        </p:txBody>
      </p:sp>
    </p:spTree>
    <p:extLst>
      <p:ext uri="{BB962C8B-B14F-4D97-AF65-F5344CB8AC3E}">
        <p14:creationId xmlns:p14="http://schemas.microsoft.com/office/powerpoint/2010/main" val="84416633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7248"/>
            <a:ext cx="10515600" cy="911905"/>
          </a:xfrm>
        </p:spPr>
        <p:txBody>
          <a:bodyPr/>
          <a:lstStyle/>
          <a:p>
            <a:pPr algn="ctr"/>
            <a:r>
              <a:rPr lang="en-US" b="1" dirty="0">
                <a:latin typeface="Times New Roman" panose="02020603050405020304" pitchFamily="18" charset="0"/>
                <a:cs typeface="Times New Roman" panose="02020603050405020304" pitchFamily="18" charset="0"/>
              </a:rPr>
              <a:t>Smart Contracts</a:t>
            </a:r>
            <a:endParaRPr lang="en-IN" dirty="0"/>
          </a:p>
        </p:txBody>
      </p:sp>
      <p:sp>
        <p:nvSpPr>
          <p:cNvPr id="3" name="Content Placeholder 2"/>
          <p:cNvSpPr>
            <a:spLocks noGrp="1"/>
          </p:cNvSpPr>
          <p:nvPr>
            <p:ph idx="1"/>
          </p:nvPr>
        </p:nvSpPr>
        <p:spPr>
          <a:xfrm>
            <a:off x="457200" y="1066800"/>
            <a:ext cx="11360552" cy="5110163"/>
          </a:xfrm>
        </p:spPr>
        <p:txBody>
          <a:bodyPr>
            <a:normAutofit lnSpcReduction="10000"/>
          </a:bodyPr>
          <a:lstStyle/>
          <a:p>
            <a:pPr algn="just"/>
            <a:r>
              <a:rPr lang="en-IN" sz="2800" b="1" dirty="0">
                <a:latin typeface="Times New Roman" panose="02020603050405020304" pitchFamily="18" charset="0"/>
                <a:cs typeface="Times New Roman" panose="02020603050405020304" pitchFamily="18" charset="0"/>
              </a:rPr>
              <a:t>There is also on-going debate on the question of whether code is acceptable as a contract in a court of law.</a:t>
            </a:r>
          </a:p>
          <a:p>
            <a:pPr algn="just"/>
            <a:r>
              <a:rPr lang="en-IN" sz="2800" dirty="0">
                <a:latin typeface="Times New Roman" panose="02020603050405020304" pitchFamily="18" charset="0"/>
                <a:cs typeface="Times New Roman" panose="02020603050405020304" pitchFamily="18" charset="0"/>
              </a:rPr>
              <a:t>This raises several questions around how a smart contract can be legally binding: </a:t>
            </a:r>
          </a:p>
          <a:p>
            <a:pPr algn="just">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can it be developed in such a way that it is readily acceptable and understandable in a court of law? </a:t>
            </a:r>
          </a:p>
          <a:p>
            <a:pPr algn="just">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How can dispute resolution be implemented within the code, and is it possible?</a:t>
            </a:r>
          </a:p>
          <a:p>
            <a:pPr algn="just"/>
            <a:r>
              <a:rPr lang="en-US" dirty="0">
                <a:latin typeface="Times New Roman" panose="02020603050405020304" pitchFamily="18" charset="0"/>
                <a:cs typeface="Times New Roman" panose="02020603050405020304" pitchFamily="18" charset="0"/>
              </a:rPr>
              <a:t>If smart contract code is written in a way that both humans and machines can understand, it becomes more transparent and trustworthy. This makes it easier to use in legal contexts, as non-programmers (like lawyers or judges) can also interpret its meaning, not just developers.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3885934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379B11D-9FBC-3483-DC6B-81F9DFC009D4}"/>
              </a:ext>
            </a:extLst>
          </p:cNvPr>
          <p:cNvPicPr>
            <a:picLocks noGrp="1" noChangeAspect="1"/>
          </p:cNvPicPr>
          <p:nvPr>
            <p:ph idx="1"/>
          </p:nvPr>
        </p:nvPicPr>
        <p:blipFill>
          <a:blip r:embed="rId2"/>
          <a:stretch>
            <a:fillRect/>
          </a:stretch>
        </p:blipFill>
        <p:spPr>
          <a:xfrm>
            <a:off x="1447800" y="604157"/>
            <a:ext cx="9111343" cy="5649686"/>
          </a:xfrm>
        </p:spPr>
      </p:pic>
    </p:spTree>
    <p:extLst>
      <p:ext uri="{BB962C8B-B14F-4D97-AF65-F5344CB8AC3E}">
        <p14:creationId xmlns:p14="http://schemas.microsoft.com/office/powerpoint/2010/main" val="261502287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6A063B-671A-12FB-90AC-4BC156C606A0}"/>
              </a:ext>
            </a:extLst>
          </p:cNvPr>
          <p:cNvSpPr>
            <a:spLocks noGrp="1"/>
          </p:cNvSpPr>
          <p:nvPr>
            <p:ph idx="1"/>
          </p:nvPr>
        </p:nvSpPr>
        <p:spPr>
          <a:xfrm>
            <a:off x="191729" y="324465"/>
            <a:ext cx="11857703" cy="5852498"/>
          </a:xfrm>
        </p:spPr>
        <p:txBody>
          <a:bodyPr>
            <a:normAutofit/>
          </a:bodyPr>
          <a:lstStyle/>
          <a:p>
            <a:pPr algn="l"/>
            <a:r>
              <a:rPr lang="en-IN" dirty="0">
                <a:latin typeface="Times New Roman" panose="02020603050405020304" pitchFamily="18" charset="0"/>
                <a:cs typeface="Times New Roman" panose="02020603050405020304" pitchFamily="18" charset="0"/>
              </a:rPr>
              <a:t>A</a:t>
            </a:r>
            <a:r>
              <a:rPr lang="en-IN" b="0" i="0" u="none" strike="noStrike" baseline="0" dirty="0">
                <a:latin typeface="Times New Roman" panose="02020603050405020304" pitchFamily="18" charset="0"/>
                <a:cs typeface="Times New Roman" panose="02020603050405020304" pitchFamily="18" charset="0"/>
              </a:rPr>
              <a:t> smart contract has the following four properties:</a:t>
            </a:r>
          </a:p>
          <a:p>
            <a:pPr algn="l">
              <a:buFont typeface="Wingdings" panose="05000000000000000000" pitchFamily="2" charset="2"/>
              <a:buChar char="Ø"/>
            </a:pPr>
            <a:r>
              <a:rPr lang="en-IN" b="0" i="0" u="none" strike="noStrike" baseline="0" dirty="0">
                <a:latin typeface="Times New Roman" panose="02020603050405020304" pitchFamily="18" charset="0"/>
                <a:cs typeface="Times New Roman" panose="02020603050405020304" pitchFamily="18" charset="0"/>
              </a:rPr>
              <a:t>Automatically executable.</a:t>
            </a:r>
          </a:p>
          <a:p>
            <a:pPr algn="l">
              <a:buFont typeface="Wingdings" panose="05000000000000000000" pitchFamily="2" charset="2"/>
              <a:buChar char="Ø"/>
            </a:pPr>
            <a:r>
              <a:rPr lang="en-IN" b="0" i="0" u="none" strike="noStrike" baseline="0" dirty="0">
                <a:latin typeface="Times New Roman" panose="02020603050405020304" pitchFamily="18" charset="0"/>
                <a:cs typeface="Times New Roman" panose="02020603050405020304" pitchFamily="18" charset="0"/>
              </a:rPr>
              <a:t>Enforceable.</a:t>
            </a:r>
            <a:endParaRPr lang="en-IN" dirty="0">
              <a:latin typeface="Times New Roman" panose="02020603050405020304" pitchFamily="18" charset="0"/>
              <a:cs typeface="Times New Roman" panose="02020603050405020304" pitchFamily="18" charset="0"/>
            </a:endParaRPr>
          </a:p>
          <a:p>
            <a:pPr algn="l">
              <a:buFont typeface="Wingdings" panose="05000000000000000000" pitchFamily="2" charset="2"/>
              <a:buChar char="Ø"/>
            </a:pPr>
            <a:r>
              <a:rPr lang="en-IN" b="0" i="0" u="none" strike="noStrike" baseline="0" dirty="0">
                <a:latin typeface="Times New Roman" panose="02020603050405020304" pitchFamily="18" charset="0"/>
                <a:cs typeface="Times New Roman" panose="02020603050405020304" pitchFamily="18" charset="0"/>
              </a:rPr>
              <a:t>Semantically sound.</a:t>
            </a:r>
          </a:p>
          <a:p>
            <a:pPr algn="l">
              <a:buFont typeface="Wingdings" panose="05000000000000000000" pitchFamily="2" charset="2"/>
              <a:buChar char="Ø"/>
            </a:pPr>
            <a:r>
              <a:rPr lang="en-IN" b="0" i="0" u="none" strike="noStrike" baseline="0" dirty="0">
                <a:latin typeface="Times New Roman" panose="02020603050405020304" pitchFamily="18" charset="0"/>
                <a:cs typeface="Times New Roman" panose="02020603050405020304" pitchFamily="18" charset="0"/>
              </a:rPr>
              <a:t>Secure and unstoppable.</a:t>
            </a:r>
          </a:p>
          <a:p>
            <a:pPr algn="just"/>
            <a:r>
              <a:rPr lang="en-IN" b="0" i="0" u="none" strike="noStrike" baseline="0" dirty="0">
                <a:latin typeface="Times New Roman" panose="02020603050405020304" pitchFamily="18" charset="0"/>
                <a:cs typeface="Times New Roman" panose="02020603050405020304" pitchFamily="18" charset="0"/>
              </a:rPr>
              <a:t>The first two properties are required as a minimum, whereas the latter two may not be required or implementable in certain scenarios and can be </a:t>
            </a:r>
            <a:r>
              <a:rPr lang="en-IN" b="0" i="0" u="none" strike="noStrike" baseline="0">
                <a:latin typeface="Times New Roman" panose="02020603050405020304" pitchFamily="18" charset="0"/>
                <a:cs typeface="Times New Roman" panose="02020603050405020304" pitchFamily="18" charset="0"/>
              </a:rPr>
              <a:t>relaxed.</a:t>
            </a:r>
            <a:endParaRPr lang="en-IN">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This issue of interpretation was addressed by Ian Grigg with his invention of </a:t>
            </a:r>
            <a:r>
              <a:rPr lang="en-IN" b="1" dirty="0">
                <a:latin typeface="Times New Roman" panose="02020603050405020304" pitchFamily="18" charset="0"/>
                <a:cs typeface="Times New Roman" panose="02020603050405020304" pitchFamily="18" charset="0"/>
              </a:rPr>
              <a:t>Ricardian contracts.</a:t>
            </a:r>
          </a:p>
        </p:txBody>
      </p:sp>
    </p:spTree>
    <p:extLst>
      <p:ext uri="{BB962C8B-B14F-4D97-AF65-F5344CB8AC3E}">
        <p14:creationId xmlns:p14="http://schemas.microsoft.com/office/powerpoint/2010/main" val="276548343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F4A1C-0F5B-180C-847C-EF2E36BF3211}"/>
              </a:ext>
            </a:extLst>
          </p:cNvPr>
          <p:cNvSpPr>
            <a:spLocks noGrp="1"/>
          </p:cNvSpPr>
          <p:nvPr>
            <p:ph type="title"/>
          </p:nvPr>
        </p:nvSpPr>
        <p:spPr>
          <a:xfrm>
            <a:off x="0" y="117987"/>
            <a:ext cx="11353800" cy="781665"/>
          </a:xfrm>
        </p:spPr>
        <p:txBody>
          <a:bodyPr>
            <a:normAutofit/>
          </a:bodyPr>
          <a:lstStyle/>
          <a:p>
            <a:pPr algn="ctr"/>
            <a:r>
              <a:rPr lang="en-IN" sz="4000" b="1" i="0" u="none" strike="noStrike" baseline="0" dirty="0">
                <a:solidFill>
                  <a:srgbClr val="FF0000"/>
                </a:solidFill>
                <a:latin typeface="Times New Roman" panose="02020603050405020304" pitchFamily="18" charset="0"/>
                <a:cs typeface="Times New Roman" panose="02020603050405020304" pitchFamily="18" charset="0"/>
              </a:rPr>
              <a:t>Ricardian contracts</a:t>
            </a:r>
            <a:endParaRPr lang="en-IN" sz="40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AC1B5E0-967B-4BD8-94FD-00620D1252F2}"/>
              </a:ext>
            </a:extLst>
          </p:cNvPr>
          <p:cNvSpPr>
            <a:spLocks noGrp="1"/>
          </p:cNvSpPr>
          <p:nvPr>
            <p:ph idx="1"/>
          </p:nvPr>
        </p:nvSpPr>
        <p:spPr>
          <a:xfrm>
            <a:off x="631371" y="1175657"/>
            <a:ext cx="10874829" cy="5040086"/>
          </a:xfrm>
        </p:spPr>
        <p:txBody>
          <a:bodyPr>
            <a:normAutofit/>
          </a:bodyPr>
          <a:lstStyle/>
          <a:p>
            <a:pPr algn="just"/>
            <a:r>
              <a:rPr lang="en-IN" sz="2400" b="0" i="0" u="none" strike="noStrike" baseline="0" dirty="0">
                <a:latin typeface="Times New Roman" panose="02020603050405020304" pitchFamily="18" charset="0"/>
                <a:cs typeface="Times New Roman" panose="02020603050405020304" pitchFamily="18" charset="0"/>
              </a:rPr>
              <a:t>Ricardian contracts were originally proposed in the </a:t>
            </a:r>
            <a:r>
              <a:rPr lang="en-IN" sz="2400" b="0" i="1" u="none" strike="noStrike" baseline="0" dirty="0">
                <a:latin typeface="Times New Roman" panose="02020603050405020304" pitchFamily="18" charset="0"/>
                <a:cs typeface="Times New Roman" panose="02020603050405020304" pitchFamily="18" charset="0"/>
              </a:rPr>
              <a:t>Financial Cryptography in 7 Layers </a:t>
            </a:r>
            <a:r>
              <a:rPr lang="en-IN" sz="2400" b="0" i="0" u="none" strike="noStrike" baseline="0" dirty="0">
                <a:latin typeface="Times New Roman" panose="02020603050405020304" pitchFamily="18" charset="0"/>
                <a:cs typeface="Times New Roman" panose="02020603050405020304" pitchFamily="18" charset="0"/>
              </a:rPr>
              <a:t>paper by </a:t>
            </a:r>
            <a:r>
              <a:rPr lang="en-IN" sz="2400" b="0" i="1" u="none" strike="noStrike" baseline="0" dirty="0">
                <a:latin typeface="Times New Roman" panose="02020603050405020304" pitchFamily="18" charset="0"/>
                <a:cs typeface="Times New Roman" panose="02020603050405020304" pitchFamily="18" charset="0"/>
              </a:rPr>
              <a:t>Ian Grigg </a:t>
            </a:r>
            <a:r>
              <a:rPr lang="en-IN" sz="2400" b="0" i="0" u="none" strike="noStrike" baseline="0" dirty="0">
                <a:latin typeface="Times New Roman" panose="02020603050405020304" pitchFamily="18" charset="0"/>
                <a:cs typeface="Times New Roman" panose="02020603050405020304" pitchFamily="18" charset="0"/>
              </a:rPr>
              <a:t>in late 1990s. </a:t>
            </a:r>
          </a:p>
          <a:p>
            <a:pPr algn="just"/>
            <a:r>
              <a:rPr lang="en-IN" sz="2400" b="0" i="0" u="none" strike="noStrike" baseline="0" dirty="0">
                <a:latin typeface="Times New Roman" panose="02020603050405020304" pitchFamily="18" charset="0"/>
                <a:cs typeface="Times New Roman" panose="02020603050405020304" pitchFamily="18" charset="0"/>
              </a:rPr>
              <a:t>These contracts were used initially in a bond trading and payment system called </a:t>
            </a:r>
            <a:r>
              <a:rPr lang="en-IN" sz="2400" b="1" i="0" u="none" strike="noStrike" baseline="0" dirty="0">
                <a:latin typeface="Times New Roman" panose="02020603050405020304" pitchFamily="18" charset="0"/>
                <a:cs typeface="Times New Roman" panose="02020603050405020304" pitchFamily="18" charset="0"/>
              </a:rPr>
              <a:t>Ricardo</a:t>
            </a:r>
            <a:r>
              <a:rPr lang="en-IN" sz="2400" b="0" i="0" u="none" strike="noStrike" baseline="0" dirty="0">
                <a:latin typeface="Times New Roman" panose="02020603050405020304" pitchFamily="18" charset="0"/>
                <a:cs typeface="Times New Roman" panose="02020603050405020304" pitchFamily="18" charset="0"/>
              </a:rPr>
              <a:t>.</a:t>
            </a:r>
          </a:p>
          <a:p>
            <a:pPr algn="just"/>
            <a:r>
              <a:rPr lang="en-IN" sz="2400" b="0" i="0" u="none" strike="noStrike" baseline="0" dirty="0">
                <a:latin typeface="Times New Roman" panose="02020603050405020304" pitchFamily="18" charset="0"/>
                <a:cs typeface="Times New Roman" panose="02020603050405020304" pitchFamily="18" charset="0"/>
              </a:rPr>
              <a:t>The key idea is to write a document which is understandable and acceptable by both a court of law and computer software.</a:t>
            </a:r>
          </a:p>
          <a:p>
            <a:pPr algn="just"/>
            <a:r>
              <a:rPr lang="en-IN" sz="2400" dirty="0">
                <a:latin typeface="Times New Roman" panose="02020603050405020304" pitchFamily="18" charset="0"/>
                <a:cs typeface="Times New Roman" panose="02020603050405020304" pitchFamily="18" charset="0"/>
              </a:rPr>
              <a:t>Ricardian contracts address the challenge of issuance of value over the Internet. </a:t>
            </a:r>
          </a:p>
          <a:p>
            <a:pPr algn="just"/>
            <a:r>
              <a:rPr lang="en-IN" sz="2400" dirty="0">
                <a:latin typeface="Times New Roman" panose="02020603050405020304" pitchFamily="18" charset="0"/>
                <a:cs typeface="Times New Roman" panose="02020603050405020304" pitchFamily="18" charset="0"/>
              </a:rPr>
              <a:t>It identifies the issuer and captures all the terms and clauses of the contract in a document in order to make it acceptable as a legally binding contract.</a:t>
            </a: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6247144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B7338-FF81-0A95-F47D-0312AEE889E9}"/>
              </a:ext>
            </a:extLst>
          </p:cNvPr>
          <p:cNvSpPr>
            <a:spLocks noGrp="1"/>
          </p:cNvSpPr>
          <p:nvPr>
            <p:ph type="title"/>
          </p:nvPr>
        </p:nvSpPr>
        <p:spPr>
          <a:xfrm>
            <a:off x="162232" y="365125"/>
            <a:ext cx="11191568" cy="637765"/>
          </a:xfrm>
        </p:spPr>
        <p:txBody>
          <a:bodyPr>
            <a:normAutofit fontScale="90000"/>
          </a:bodyPr>
          <a:lstStyle/>
          <a:p>
            <a:r>
              <a:rPr lang="en-US" dirty="0"/>
              <a:t>Example:</a:t>
            </a:r>
            <a:endParaRPr lang="en-IN" dirty="0"/>
          </a:p>
        </p:txBody>
      </p:sp>
      <p:sp>
        <p:nvSpPr>
          <p:cNvPr id="3" name="Content Placeholder 2">
            <a:extLst>
              <a:ext uri="{FF2B5EF4-FFF2-40B4-BE49-F238E27FC236}">
                <a16:creationId xmlns:a16="http://schemas.microsoft.com/office/drawing/2014/main" id="{8E1B9F26-7350-621F-9511-4A39C3087F71}"/>
              </a:ext>
            </a:extLst>
          </p:cNvPr>
          <p:cNvSpPr>
            <a:spLocks noGrp="1"/>
          </p:cNvSpPr>
          <p:nvPr>
            <p:ph idx="1"/>
          </p:nvPr>
        </p:nvSpPr>
        <p:spPr>
          <a:xfrm>
            <a:off x="431515" y="1366463"/>
            <a:ext cx="11077143" cy="5008425"/>
          </a:xfrm>
        </p:spPr>
        <p:txBody>
          <a:bodyPr/>
          <a:lstStyle/>
          <a:p>
            <a:pPr algn="just"/>
            <a:r>
              <a:rPr lang="en-IN" sz="2400" dirty="0">
                <a:latin typeface="Times New Roman" panose="02020603050405020304" pitchFamily="18" charset="0"/>
                <a:cs typeface="Times New Roman" panose="02020603050405020304" pitchFamily="18" charset="0"/>
              </a:rPr>
              <a:t>Let’s say Alice wants to purchase digital art from Bob.</a:t>
            </a:r>
          </a:p>
          <a:p>
            <a:pPr marL="0" indent="0" algn="just">
              <a:buNone/>
            </a:pPr>
            <a:endParaRPr lang="en-IN" sz="2400" dirty="0">
              <a:latin typeface="Times New Roman" panose="02020603050405020304" pitchFamily="18" charset="0"/>
              <a:cs typeface="Times New Roman" panose="02020603050405020304" pitchFamily="18" charset="0"/>
            </a:endParaRPr>
          </a:p>
          <a:p>
            <a:pPr marL="514350" indent="-514350" algn="just">
              <a:buAutoNum type="arabicPeriod"/>
            </a:pPr>
            <a:r>
              <a:rPr lang="en-IN" sz="2400" dirty="0">
                <a:latin typeface="Times New Roman" panose="02020603050405020304" pitchFamily="18" charset="0"/>
                <a:cs typeface="Times New Roman" panose="02020603050405020304" pitchFamily="18" charset="0"/>
              </a:rPr>
              <a:t>Human-Readable Legal Text:</a:t>
            </a:r>
          </a:p>
          <a:p>
            <a:pPr marL="0" indent="0" algn="just">
              <a:buNone/>
            </a:pPr>
            <a:r>
              <a:rPr lang="en-IN" sz="2400" b="1" dirty="0">
                <a:latin typeface="Times New Roman" panose="02020603050405020304" pitchFamily="18" charset="0"/>
                <a:cs typeface="Times New Roman" panose="02020603050405020304" pitchFamily="18" charset="0"/>
              </a:rPr>
              <a:t>“This agreement is between Alice (buyer) and Bob (seller) for the purchase of a digital artwork titled “Sunset Dreams.” Alice agrees to pay 1 ETH to Bob. Upon receipt of payment, Bob will transfer ownership of the NFT (token ID: 12345) to Alice. Both parties agree to the terms as outlined here.”</a:t>
            </a:r>
          </a:p>
          <a:p>
            <a:pPr marL="0" indent="0">
              <a:buNone/>
            </a:pPr>
            <a:endParaRPr lang="en-IN" dirty="0"/>
          </a:p>
        </p:txBody>
      </p:sp>
    </p:spTree>
    <p:extLst>
      <p:ext uri="{BB962C8B-B14F-4D97-AF65-F5344CB8AC3E}">
        <p14:creationId xmlns:p14="http://schemas.microsoft.com/office/powerpoint/2010/main" val="396013647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110E6D3-1F3A-171D-448D-75B7B0D3E96C}"/>
              </a:ext>
            </a:extLst>
          </p:cNvPr>
          <p:cNvSpPr>
            <a:spLocks noGrp="1"/>
          </p:cNvSpPr>
          <p:nvPr>
            <p:ph idx="1"/>
          </p:nvPr>
        </p:nvSpPr>
        <p:spPr>
          <a:xfrm>
            <a:off x="221226" y="132735"/>
            <a:ext cx="11132574" cy="6607278"/>
          </a:xfrm>
        </p:spPr>
        <p:txBody>
          <a:bodyPr>
            <a:normAutofit lnSpcReduction="10000"/>
          </a:bodyPr>
          <a:lstStyle/>
          <a:p>
            <a:pPr marL="0" indent="0">
              <a:buNone/>
            </a:pPr>
            <a:r>
              <a:rPr lang="en-IN" sz="2400" dirty="0">
                <a:latin typeface="Times New Roman" panose="02020603050405020304" pitchFamily="18" charset="0"/>
                <a:cs typeface="Times New Roman" panose="02020603050405020304" pitchFamily="18" charset="0"/>
              </a:rPr>
              <a:t>2. Machine-Readable Data (Embedded or Attached):</a:t>
            </a:r>
          </a:p>
          <a:p>
            <a:pPr marL="0" indent="0">
              <a:buNone/>
            </a:pPr>
            <a:r>
              <a:rPr lang="en-IN" sz="2400" b="1" dirty="0">
                <a:latin typeface="Times New Roman" panose="02020603050405020304" pitchFamily="18" charset="0"/>
                <a:cs typeface="Times New Roman" panose="02020603050405020304" pitchFamily="18" charset="0"/>
              </a:rPr>
              <a:t>{</a:t>
            </a:r>
          </a:p>
          <a:p>
            <a:pPr marL="0" indent="0">
              <a:buNone/>
            </a:pPr>
            <a:r>
              <a:rPr lang="en-IN" sz="2400" b="1" dirty="0">
                <a:latin typeface="Times New Roman" panose="02020603050405020304" pitchFamily="18" charset="0"/>
                <a:cs typeface="Times New Roman" panose="02020603050405020304" pitchFamily="18" charset="0"/>
              </a:rPr>
              <a:t>  "buyer": "0xAliceAddress",</a:t>
            </a:r>
          </a:p>
          <a:p>
            <a:pPr marL="0" indent="0">
              <a:buNone/>
            </a:pPr>
            <a:r>
              <a:rPr lang="en-IN" sz="2400" b="1" dirty="0">
                <a:latin typeface="Times New Roman" panose="02020603050405020304" pitchFamily="18" charset="0"/>
                <a:cs typeface="Times New Roman" panose="02020603050405020304" pitchFamily="18" charset="0"/>
              </a:rPr>
              <a:t>  "seller": "0xBobAddress",</a:t>
            </a:r>
          </a:p>
          <a:p>
            <a:pPr marL="0" indent="0">
              <a:buNone/>
            </a:pPr>
            <a:r>
              <a:rPr lang="en-IN" sz="2400" b="1" dirty="0">
                <a:latin typeface="Times New Roman" panose="02020603050405020304" pitchFamily="18" charset="0"/>
                <a:cs typeface="Times New Roman" panose="02020603050405020304" pitchFamily="18" charset="0"/>
              </a:rPr>
              <a:t>  "price": "1 ETH",</a:t>
            </a:r>
          </a:p>
          <a:p>
            <a:pPr marL="0" indent="0">
              <a:buNone/>
            </a:pPr>
            <a:r>
              <a:rPr lang="en-IN" sz="2400" b="1" dirty="0">
                <a:latin typeface="Times New Roman" panose="02020603050405020304" pitchFamily="18" charset="0"/>
                <a:cs typeface="Times New Roman" panose="02020603050405020304" pitchFamily="18" charset="0"/>
              </a:rPr>
              <a:t>  "</a:t>
            </a:r>
            <a:r>
              <a:rPr lang="en-IN" sz="2400" b="1" dirty="0" err="1">
                <a:latin typeface="Times New Roman" panose="02020603050405020304" pitchFamily="18" charset="0"/>
                <a:cs typeface="Times New Roman" panose="02020603050405020304" pitchFamily="18" charset="0"/>
              </a:rPr>
              <a:t>nft_token_id</a:t>
            </a:r>
            <a:r>
              <a:rPr lang="en-IN" sz="2400" b="1" dirty="0">
                <a:latin typeface="Times New Roman" panose="02020603050405020304" pitchFamily="18" charset="0"/>
                <a:cs typeface="Times New Roman" panose="02020603050405020304" pitchFamily="18" charset="0"/>
              </a:rPr>
              <a:t>": 12345,</a:t>
            </a:r>
          </a:p>
          <a:p>
            <a:pPr marL="0" indent="0">
              <a:buNone/>
            </a:pPr>
            <a:r>
              <a:rPr lang="en-IN" sz="2400" b="1" dirty="0">
                <a:latin typeface="Times New Roman" panose="02020603050405020304" pitchFamily="18" charset="0"/>
                <a:cs typeface="Times New Roman" panose="02020603050405020304" pitchFamily="18" charset="0"/>
              </a:rPr>
              <a:t>  "</a:t>
            </a:r>
            <a:r>
              <a:rPr lang="en-IN" sz="2400" b="1" dirty="0" err="1">
                <a:latin typeface="Times New Roman" panose="02020603050405020304" pitchFamily="18" charset="0"/>
                <a:cs typeface="Times New Roman" panose="02020603050405020304" pitchFamily="18" charset="0"/>
              </a:rPr>
              <a:t>nft_contract</a:t>
            </a:r>
            <a:r>
              <a:rPr lang="en-IN" sz="2400" b="1" dirty="0">
                <a:latin typeface="Times New Roman" panose="02020603050405020304" pitchFamily="18" charset="0"/>
                <a:cs typeface="Times New Roman" panose="02020603050405020304" pitchFamily="18" charset="0"/>
              </a:rPr>
              <a:t>": "0xNFTContractAddress",</a:t>
            </a:r>
          </a:p>
          <a:p>
            <a:pPr marL="0" indent="0">
              <a:buNone/>
            </a:pPr>
            <a:r>
              <a:rPr lang="en-IN" sz="2400" b="1" dirty="0">
                <a:latin typeface="Times New Roman" panose="02020603050405020304" pitchFamily="18" charset="0"/>
                <a:cs typeface="Times New Roman" panose="02020603050405020304" pitchFamily="18" charset="0"/>
              </a:rPr>
              <a:t>  "conditions": {</a:t>
            </a:r>
          </a:p>
          <a:p>
            <a:pPr marL="0" indent="0">
              <a:buNone/>
            </a:pPr>
            <a:r>
              <a:rPr lang="en-IN" sz="2400" b="1" dirty="0">
                <a:latin typeface="Times New Roman" panose="02020603050405020304" pitchFamily="18" charset="0"/>
                <a:cs typeface="Times New Roman" panose="02020603050405020304" pitchFamily="18" charset="0"/>
              </a:rPr>
              <a:t>    "</a:t>
            </a:r>
            <a:r>
              <a:rPr lang="en-IN" sz="2400" b="1" dirty="0" err="1">
                <a:latin typeface="Times New Roman" panose="02020603050405020304" pitchFamily="18" charset="0"/>
                <a:cs typeface="Times New Roman" panose="02020603050405020304" pitchFamily="18" charset="0"/>
              </a:rPr>
              <a:t>transfer_upon_payment</a:t>
            </a:r>
            <a:r>
              <a:rPr lang="en-IN" sz="2400" b="1" dirty="0">
                <a:latin typeface="Times New Roman" panose="02020603050405020304" pitchFamily="18" charset="0"/>
                <a:cs typeface="Times New Roman" panose="02020603050405020304" pitchFamily="18" charset="0"/>
              </a:rPr>
              <a:t>": true</a:t>
            </a:r>
          </a:p>
          <a:p>
            <a:pPr marL="0" indent="0">
              <a:buNone/>
            </a:pPr>
            <a:r>
              <a:rPr lang="en-IN" sz="2400" b="1" dirty="0">
                <a:latin typeface="Times New Roman" panose="02020603050405020304" pitchFamily="18" charset="0"/>
                <a:cs typeface="Times New Roman" panose="02020603050405020304" pitchFamily="18" charset="0"/>
              </a:rPr>
              <a:t>  },</a:t>
            </a:r>
          </a:p>
          <a:p>
            <a:pPr marL="0" indent="0">
              <a:buNone/>
            </a:pPr>
            <a:r>
              <a:rPr lang="en-IN" sz="2400" b="1" dirty="0">
                <a:latin typeface="Times New Roman" panose="02020603050405020304" pitchFamily="18" charset="0"/>
                <a:cs typeface="Times New Roman" panose="02020603050405020304" pitchFamily="18" charset="0"/>
              </a:rPr>
              <a:t>  "hash": "0xa3f5c...e91a2"  // Hash of the full human-readable contract</a:t>
            </a:r>
          </a:p>
          <a:p>
            <a:pPr marL="0" indent="0">
              <a:buNone/>
            </a:pPr>
            <a:r>
              <a:rPr lang="en-IN" sz="2400" b="1" dirty="0">
                <a:latin typeface="Times New Roman" panose="02020603050405020304" pitchFamily="18" charset="0"/>
                <a:cs typeface="Times New Roman" panose="02020603050405020304" pitchFamily="18" charset="0"/>
              </a:rPr>
              <a:t>}</a:t>
            </a:r>
          </a:p>
          <a:p>
            <a:pPr marL="0" indent="0">
              <a:buNone/>
            </a:pPr>
            <a:r>
              <a:rPr lang="en-IN" sz="2400" dirty="0">
                <a:latin typeface="Times New Roman" panose="02020603050405020304" pitchFamily="18" charset="0"/>
                <a:cs typeface="Times New Roman" panose="02020603050405020304" pitchFamily="18" charset="0"/>
              </a:rPr>
              <a:t>3. Digitally Signed by Both Parties:</a:t>
            </a:r>
          </a:p>
          <a:p>
            <a:pPr marL="0" indent="0">
              <a:buNone/>
            </a:pPr>
            <a:r>
              <a:rPr lang="en-IN" sz="2400" dirty="0">
                <a:latin typeface="Times New Roman" panose="02020603050405020304" pitchFamily="18" charset="0"/>
                <a:cs typeface="Times New Roman" panose="02020603050405020304" pitchFamily="18" charset="0"/>
              </a:rPr>
              <a:t>Both Alice and Bob cryptographically sign the contract with their private keys, locking in agreement.</a:t>
            </a:r>
          </a:p>
          <a:p>
            <a:pPr marL="0" indent="0">
              <a:buNone/>
            </a:pPr>
            <a:endParaRPr lang="en-IN" sz="2400" dirty="0"/>
          </a:p>
          <a:p>
            <a:pPr marL="0" indent="0">
              <a:buNone/>
            </a:pPr>
            <a:endParaRPr lang="en-IN" dirty="0"/>
          </a:p>
        </p:txBody>
      </p:sp>
    </p:spTree>
    <p:extLst>
      <p:ext uri="{BB962C8B-B14F-4D97-AF65-F5344CB8AC3E}">
        <p14:creationId xmlns:p14="http://schemas.microsoft.com/office/powerpoint/2010/main" val="186939472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3313AD-36B9-1F48-19F5-5A120C5EDCE6}"/>
              </a:ext>
            </a:extLst>
          </p:cNvPr>
          <p:cNvSpPr>
            <a:spLocks noGrp="1"/>
          </p:cNvSpPr>
          <p:nvPr>
            <p:ph idx="1"/>
          </p:nvPr>
        </p:nvSpPr>
        <p:spPr>
          <a:xfrm>
            <a:off x="235974" y="530942"/>
            <a:ext cx="11117826" cy="5646021"/>
          </a:xfrm>
        </p:spPr>
        <p:txBody>
          <a:bodyPr>
            <a:normAutofit/>
          </a:bodyPr>
          <a:lstStyle/>
          <a:p>
            <a:pPr algn="just"/>
            <a:r>
              <a:rPr lang="en-IN" sz="2400" dirty="0">
                <a:latin typeface="Times New Roman" panose="02020603050405020304" pitchFamily="18" charset="0"/>
                <a:cs typeface="Times New Roman" panose="02020603050405020304" pitchFamily="18" charset="0"/>
              </a:rPr>
              <a:t>A</a:t>
            </a:r>
            <a:r>
              <a:rPr lang="en-IN" sz="2400" b="0" i="0" u="none" strike="noStrike" baseline="0" dirty="0">
                <a:latin typeface="Times New Roman" panose="02020603050405020304" pitchFamily="18" charset="0"/>
                <a:cs typeface="Times New Roman" panose="02020603050405020304" pitchFamily="18" charset="0"/>
              </a:rPr>
              <a:t> Ricardian contract is a document that has several of the following properties:</a:t>
            </a:r>
          </a:p>
          <a:p>
            <a:pPr algn="just">
              <a:buFont typeface="Wingdings" panose="05000000000000000000" pitchFamily="2" charset="2"/>
              <a:buChar char="Ø"/>
            </a:pPr>
            <a:r>
              <a:rPr lang="en-IN" sz="2400" b="0" i="0" u="none" strike="noStrike" baseline="0" dirty="0">
                <a:latin typeface="Times New Roman" panose="02020603050405020304" pitchFamily="18" charset="0"/>
                <a:cs typeface="Times New Roman" panose="02020603050405020304" pitchFamily="18" charset="0"/>
              </a:rPr>
              <a:t>A contract offered by an issuer to holders</a:t>
            </a:r>
          </a:p>
          <a:p>
            <a:pPr algn="just">
              <a:buFont typeface="Wingdings" panose="05000000000000000000" pitchFamily="2" charset="2"/>
              <a:buChar char="Ø"/>
            </a:pPr>
            <a:r>
              <a:rPr lang="en-IN" sz="2400" b="0" i="0" u="none" strike="noStrike" baseline="0" dirty="0">
                <a:latin typeface="Times New Roman" panose="02020603050405020304" pitchFamily="18" charset="0"/>
                <a:cs typeface="Times New Roman" panose="02020603050405020304" pitchFamily="18" charset="0"/>
              </a:rPr>
              <a:t>A valuable right held by holders and managed by the issuer</a:t>
            </a:r>
          </a:p>
          <a:p>
            <a:pPr algn="just">
              <a:buFont typeface="Wingdings" panose="05000000000000000000" pitchFamily="2" charset="2"/>
              <a:buChar char="Ø"/>
            </a:pPr>
            <a:r>
              <a:rPr lang="en-IN" sz="2400" b="0" i="0" u="none" strike="noStrike" baseline="0" dirty="0">
                <a:latin typeface="Times New Roman" panose="02020603050405020304" pitchFamily="18" charset="0"/>
                <a:cs typeface="Times New Roman" panose="02020603050405020304" pitchFamily="18" charset="0"/>
              </a:rPr>
              <a:t>Easily readable by people (like a contract on paper)</a:t>
            </a:r>
          </a:p>
          <a:p>
            <a:pPr algn="just">
              <a:buFont typeface="Wingdings" panose="05000000000000000000" pitchFamily="2" charset="2"/>
              <a:buChar char="Ø"/>
            </a:pPr>
            <a:r>
              <a:rPr lang="en-IN" sz="2400" b="0" i="0" u="none" strike="noStrike" baseline="0" dirty="0">
                <a:latin typeface="Times New Roman" panose="02020603050405020304" pitchFamily="18" charset="0"/>
                <a:cs typeface="Times New Roman" panose="02020603050405020304" pitchFamily="18" charset="0"/>
              </a:rPr>
              <a:t>Readable by programs (</a:t>
            </a:r>
            <a:r>
              <a:rPr lang="en-IN" sz="2400" b="0" i="0" u="none" strike="noStrike" baseline="0" dirty="0" err="1">
                <a:latin typeface="Times New Roman" panose="02020603050405020304" pitchFamily="18" charset="0"/>
                <a:cs typeface="Times New Roman" panose="02020603050405020304" pitchFamily="18" charset="0"/>
              </a:rPr>
              <a:t>parseable</a:t>
            </a:r>
            <a:r>
              <a:rPr lang="en-IN" sz="2400" b="0" i="0" u="none" strike="noStrike" baseline="0" dirty="0">
                <a:latin typeface="Times New Roman" panose="02020603050405020304" pitchFamily="18" charset="0"/>
                <a:cs typeface="Times New Roman" panose="02020603050405020304" pitchFamily="18" charset="0"/>
              </a:rPr>
              <a:t>, like a database)</a:t>
            </a:r>
          </a:p>
          <a:p>
            <a:pPr algn="just">
              <a:buFont typeface="Wingdings" panose="05000000000000000000" pitchFamily="2" charset="2"/>
              <a:buChar char="Ø"/>
            </a:pPr>
            <a:r>
              <a:rPr lang="en-IN" sz="2400" b="0" i="0" u="none" strike="noStrike" baseline="0" dirty="0">
                <a:latin typeface="Times New Roman" panose="02020603050405020304" pitchFamily="18" charset="0"/>
                <a:cs typeface="Times New Roman" panose="02020603050405020304" pitchFamily="18" charset="0"/>
              </a:rPr>
              <a:t>Digitally signed</a:t>
            </a:r>
          </a:p>
          <a:p>
            <a:pPr algn="just">
              <a:buFont typeface="Wingdings" panose="05000000000000000000" pitchFamily="2" charset="2"/>
              <a:buChar char="Ø"/>
            </a:pPr>
            <a:r>
              <a:rPr lang="en-IN" sz="2400" b="0" i="0" u="none" strike="noStrike" baseline="0" dirty="0">
                <a:latin typeface="Times New Roman" panose="02020603050405020304" pitchFamily="18" charset="0"/>
                <a:cs typeface="Times New Roman" panose="02020603050405020304" pitchFamily="18" charset="0"/>
              </a:rPr>
              <a:t>Carries the keys and server information</a:t>
            </a:r>
          </a:p>
          <a:p>
            <a:pPr algn="just">
              <a:buFont typeface="Wingdings" panose="05000000000000000000" pitchFamily="2" charset="2"/>
              <a:buChar char="Ø"/>
            </a:pPr>
            <a:r>
              <a:rPr lang="en-IN" sz="2400" b="0" i="0" u="none" strike="noStrike" baseline="0" dirty="0">
                <a:latin typeface="Times New Roman" panose="02020603050405020304" pitchFamily="18" charset="0"/>
                <a:cs typeface="Times New Roman" panose="02020603050405020304" pitchFamily="18" charset="0"/>
              </a:rPr>
              <a:t>Allied with a unique and secure identifier</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395664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26AB0C4-9149-78C8-487D-A3A7B74E8CA5}"/>
              </a:ext>
            </a:extLst>
          </p:cNvPr>
          <p:cNvSpPr>
            <a:spLocks noGrp="1"/>
          </p:cNvSpPr>
          <p:nvPr>
            <p:ph idx="1"/>
          </p:nvPr>
        </p:nvSpPr>
        <p:spPr>
          <a:xfrm>
            <a:off x="379165" y="862051"/>
            <a:ext cx="11266713" cy="5133898"/>
          </a:xfrm>
        </p:spPr>
        <p:txBody>
          <a:bodyPr/>
          <a:lstStyle/>
          <a:p>
            <a:pPr algn="just"/>
            <a:r>
              <a:rPr lang="en-IN" dirty="0">
                <a:latin typeface="Times New Roman" panose="02020603050405020304" pitchFamily="18" charset="0"/>
                <a:cs typeface="Times New Roman" panose="02020603050405020304" pitchFamily="18" charset="0"/>
              </a:rPr>
              <a:t>T</a:t>
            </a:r>
            <a:r>
              <a:rPr lang="en-IN" b="0" i="0" u="none" strike="noStrike" baseline="0" dirty="0">
                <a:latin typeface="Times New Roman" panose="02020603050405020304" pitchFamily="18" charset="0"/>
                <a:cs typeface="Times New Roman" panose="02020603050405020304" pitchFamily="18" charset="0"/>
              </a:rPr>
              <a:t>he contracts are implemented by producing a single document that contains the terms of the contract in legal prose and required machine-readable tags. </a:t>
            </a:r>
          </a:p>
          <a:p>
            <a:pPr algn="just"/>
            <a:r>
              <a:rPr lang="en-IN" b="0" i="0" u="none" strike="noStrike" baseline="0" dirty="0">
                <a:latin typeface="Times New Roman" panose="02020603050405020304" pitchFamily="18" charset="0"/>
                <a:cs typeface="Times New Roman" panose="02020603050405020304" pitchFamily="18" charset="0"/>
              </a:rPr>
              <a:t>This document is digitally signed by the issuer using their private key. </a:t>
            </a:r>
          </a:p>
          <a:p>
            <a:pPr algn="just"/>
            <a:r>
              <a:rPr lang="en-IN" b="0" i="0" u="none" strike="noStrike" baseline="0" dirty="0">
                <a:latin typeface="Times New Roman" panose="02020603050405020304" pitchFamily="18" charset="0"/>
                <a:cs typeface="Times New Roman" panose="02020603050405020304" pitchFamily="18" charset="0"/>
              </a:rPr>
              <a:t>This document is then hashed using a message digest function to produce a hash by which the document can be identified.</a:t>
            </a:r>
          </a:p>
          <a:p>
            <a:pPr algn="just"/>
            <a:r>
              <a:rPr lang="en-IN" b="0" i="0" u="none" strike="noStrike" baseline="0" dirty="0">
                <a:latin typeface="Times New Roman" panose="02020603050405020304" pitchFamily="18" charset="0"/>
                <a:cs typeface="Times New Roman" panose="02020603050405020304" pitchFamily="18" charset="0"/>
              </a:rPr>
              <a:t> This hash is then further used and signed by parties during the performance of the contract in order to link each transaction, with the identifier hash thus serving as evidence of intent.</a:t>
            </a:r>
          </a:p>
          <a:p>
            <a:endParaRPr lang="en-IN" dirty="0"/>
          </a:p>
        </p:txBody>
      </p:sp>
    </p:spTree>
    <p:extLst>
      <p:ext uri="{BB962C8B-B14F-4D97-AF65-F5344CB8AC3E}">
        <p14:creationId xmlns:p14="http://schemas.microsoft.com/office/powerpoint/2010/main" val="31309370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2C4D32C-0A63-D285-5F8B-CBFFB0D47EA9}"/>
              </a:ext>
            </a:extLst>
          </p:cNvPr>
          <p:cNvPicPr>
            <a:picLocks noChangeAspect="1"/>
          </p:cNvPicPr>
          <p:nvPr/>
        </p:nvPicPr>
        <p:blipFill>
          <a:blip r:embed="rId2"/>
          <a:stretch>
            <a:fillRect/>
          </a:stretch>
        </p:blipFill>
        <p:spPr>
          <a:xfrm>
            <a:off x="1086381" y="1109609"/>
            <a:ext cx="10225342" cy="4849401"/>
          </a:xfrm>
          <a:prstGeom prst="rect">
            <a:avLst/>
          </a:prstGeom>
        </p:spPr>
      </p:pic>
    </p:spTree>
    <p:extLst>
      <p:ext uri="{BB962C8B-B14F-4D97-AF65-F5344CB8AC3E}">
        <p14:creationId xmlns:p14="http://schemas.microsoft.com/office/powerpoint/2010/main" val="338183926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CED34B-E3CB-89EA-3F11-1774C62D2801}"/>
              </a:ext>
            </a:extLst>
          </p:cNvPr>
          <p:cNvSpPr>
            <a:spLocks noGrp="1"/>
          </p:cNvSpPr>
          <p:nvPr>
            <p:ph idx="1"/>
          </p:nvPr>
        </p:nvSpPr>
        <p:spPr>
          <a:xfrm>
            <a:off x="280219" y="235974"/>
            <a:ext cx="11503742" cy="6415549"/>
          </a:xfrm>
        </p:spPr>
        <p:txBody>
          <a:bodyPr/>
          <a:lstStyle/>
          <a:p>
            <a:pPr>
              <a:buNone/>
            </a:pPr>
            <a:r>
              <a:rPr lang="en-IN" b="1" dirty="0"/>
              <a:t>World of Law</a:t>
            </a:r>
          </a:p>
          <a:p>
            <a:pPr algn="just">
              <a:buFont typeface="Arial" panose="020B0604020202020204" pitchFamily="34" charset="0"/>
              <a:buChar char="•"/>
            </a:pPr>
            <a:r>
              <a:rPr lang="en-IN" dirty="0"/>
              <a:t>Represents the </a:t>
            </a:r>
            <a:r>
              <a:rPr lang="en-IN" b="1" dirty="0"/>
              <a:t>human-readable</a:t>
            </a:r>
            <a:r>
              <a:rPr lang="en-IN" dirty="0"/>
              <a:t> legal prose.</a:t>
            </a:r>
          </a:p>
          <a:p>
            <a:pPr algn="just">
              <a:buFont typeface="Arial" panose="020B0604020202020204" pitchFamily="34" charset="0"/>
              <a:buChar char="•"/>
            </a:pPr>
            <a:r>
              <a:rPr lang="en-IN" dirty="0"/>
              <a:t>This is a </a:t>
            </a:r>
            <a:r>
              <a:rPr lang="en-IN" b="1" dirty="0"/>
              <a:t>written contract</a:t>
            </a:r>
            <a:r>
              <a:rPr lang="en-IN" dirty="0"/>
              <a:t> (in natural language) that may include </a:t>
            </a:r>
            <a:r>
              <a:rPr lang="en-IN" b="1" dirty="0"/>
              <a:t>machine-readable tags</a:t>
            </a:r>
            <a:r>
              <a:rPr lang="en-IN" dirty="0"/>
              <a:t> (like metadata).</a:t>
            </a:r>
          </a:p>
          <a:p>
            <a:pPr algn="just">
              <a:buFont typeface="Arial" panose="020B0604020202020204" pitchFamily="34" charset="0"/>
              <a:buChar char="•"/>
            </a:pPr>
            <a:r>
              <a:rPr lang="en-IN" dirty="0"/>
              <a:t>It is </a:t>
            </a:r>
            <a:r>
              <a:rPr lang="en-IN" b="1" dirty="0"/>
              <a:t>digitally signed</a:t>
            </a:r>
            <a:r>
              <a:rPr lang="en-IN" dirty="0"/>
              <a:t> to ensure authenticity.</a:t>
            </a:r>
          </a:p>
          <a:p>
            <a:pPr algn="just">
              <a:buFont typeface="Arial" panose="020B0604020202020204" pitchFamily="34" charset="0"/>
              <a:buChar char="•"/>
            </a:pPr>
            <a:r>
              <a:rPr lang="en-IN" dirty="0"/>
              <a:t>This written document is then run through a </a:t>
            </a:r>
            <a:r>
              <a:rPr lang="en-IN" b="1" dirty="0"/>
              <a:t>message digest function</a:t>
            </a:r>
            <a:r>
              <a:rPr lang="en-IN" dirty="0"/>
              <a:t> (like SHA-256) to create a </a:t>
            </a:r>
            <a:r>
              <a:rPr lang="en-IN" b="1" dirty="0"/>
              <a:t>unique hash</a:t>
            </a:r>
            <a:r>
              <a:rPr lang="en-IN" dirty="0"/>
              <a:t>.</a:t>
            </a:r>
          </a:p>
          <a:p>
            <a:pPr algn="just">
              <a:buFont typeface="Arial" panose="020B0604020202020204" pitchFamily="34" charset="0"/>
              <a:buChar char="•"/>
            </a:pPr>
            <a:endParaRPr lang="en-IN" b="1" dirty="0"/>
          </a:p>
          <a:p>
            <a:pPr marL="0" indent="0">
              <a:buNone/>
            </a:pPr>
            <a:r>
              <a:rPr lang="en-IN" b="1" dirty="0"/>
              <a:t>World of Cryptography</a:t>
            </a:r>
          </a:p>
          <a:p>
            <a:pPr algn="just"/>
            <a:r>
              <a:rPr lang="en-IN" b="1" dirty="0"/>
              <a:t> </a:t>
            </a:r>
            <a:r>
              <a:rPr lang="en-IN" dirty="0"/>
              <a:t>The hash acts as a secured identifiers.</a:t>
            </a:r>
          </a:p>
          <a:p>
            <a:pPr algn="just"/>
            <a:r>
              <a:rPr lang="en-IN" dirty="0"/>
              <a:t>The identifiers becomes link between legal document and digital signature.</a:t>
            </a:r>
          </a:p>
          <a:p>
            <a:endParaRPr lang="en-IN" b="1" dirty="0"/>
          </a:p>
          <a:p>
            <a:endParaRPr lang="en-IN" b="1" dirty="0"/>
          </a:p>
        </p:txBody>
      </p:sp>
    </p:spTree>
    <p:extLst>
      <p:ext uri="{BB962C8B-B14F-4D97-AF65-F5344CB8AC3E}">
        <p14:creationId xmlns:p14="http://schemas.microsoft.com/office/powerpoint/2010/main" val="298327437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A48EEE-A7A8-6A3A-9223-78BA8C28DC7A}"/>
              </a:ext>
            </a:extLst>
          </p:cNvPr>
          <p:cNvSpPr>
            <a:spLocks noGrp="1"/>
          </p:cNvSpPr>
          <p:nvPr>
            <p:ph idx="1"/>
          </p:nvPr>
        </p:nvSpPr>
        <p:spPr>
          <a:xfrm>
            <a:off x="280219" y="398206"/>
            <a:ext cx="11073581" cy="5778757"/>
          </a:xfrm>
        </p:spPr>
        <p:txBody>
          <a:bodyPr/>
          <a:lstStyle/>
          <a:p>
            <a:pPr marL="0" indent="0">
              <a:buNone/>
            </a:pPr>
            <a:r>
              <a:rPr lang="en-IN" b="1" dirty="0"/>
              <a:t>World of Accountancy</a:t>
            </a:r>
          </a:p>
          <a:p>
            <a:pPr algn="just"/>
            <a:r>
              <a:rPr lang="en-IN" dirty="0"/>
              <a:t>The identifier (hash) is used in the </a:t>
            </a:r>
            <a:r>
              <a:rPr lang="en-IN" b="1" dirty="0"/>
              <a:t>genesis transaction</a:t>
            </a:r>
            <a:r>
              <a:rPr lang="en-IN" dirty="0"/>
              <a:t>, which initiates activity on a blockchain or ledger.</a:t>
            </a:r>
          </a:p>
          <a:p>
            <a:pPr algn="just"/>
            <a:r>
              <a:rPr lang="en-IN" dirty="0"/>
              <a:t>From this transaction, a whole </a:t>
            </a:r>
            <a:r>
              <a:rPr lang="en-IN" b="1" dirty="0"/>
              <a:t>network of user transactions</a:t>
            </a:r>
            <a:r>
              <a:rPr lang="en-IN" dirty="0"/>
              <a:t> branches out.</a:t>
            </a:r>
          </a:p>
          <a:p>
            <a:pPr algn="just"/>
            <a:r>
              <a:rPr lang="en-IN" dirty="0"/>
              <a:t>These transactions are </a:t>
            </a:r>
            <a:r>
              <a:rPr lang="en-IN" b="1" dirty="0"/>
              <a:t>programmatically tied back</a:t>
            </a:r>
            <a:r>
              <a:rPr lang="en-IN" dirty="0"/>
              <a:t> to the original legal agreement via the secure identifier.</a:t>
            </a:r>
          </a:p>
          <a:p>
            <a:pPr marL="0" indent="0">
              <a:buNone/>
            </a:pPr>
            <a:endParaRPr lang="en-IN" b="1" dirty="0"/>
          </a:p>
        </p:txBody>
      </p:sp>
    </p:spTree>
    <p:extLst>
      <p:ext uri="{BB962C8B-B14F-4D97-AF65-F5344CB8AC3E}">
        <p14:creationId xmlns:p14="http://schemas.microsoft.com/office/powerpoint/2010/main" val="332679152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EF862-C43B-3166-9A3C-FDEA68CAD927}"/>
              </a:ext>
            </a:extLst>
          </p:cNvPr>
          <p:cNvSpPr>
            <a:spLocks noGrp="1"/>
          </p:cNvSpPr>
          <p:nvPr>
            <p:ph type="title"/>
          </p:nvPr>
        </p:nvSpPr>
        <p:spPr>
          <a:xfrm>
            <a:off x="696686" y="0"/>
            <a:ext cx="10515600" cy="1325563"/>
          </a:xfrm>
        </p:spPr>
        <p:txBody>
          <a:bodyPr/>
          <a:lstStyle/>
          <a:p>
            <a:pPr algn="ctr"/>
            <a:r>
              <a:rPr lang="en-US" sz="4400" b="1" dirty="0">
                <a:solidFill>
                  <a:srgbClr val="FF0000"/>
                </a:solidFill>
                <a:latin typeface="Times New Roman" panose="02020603050405020304" pitchFamily="18" charset="0"/>
                <a:cs typeface="Times New Roman" panose="02020603050405020304" pitchFamily="18" charset="0"/>
              </a:rPr>
              <a:t>Ricardian Contracts</a:t>
            </a:r>
            <a:endParaRPr lang="en-IN" dirty="0">
              <a:solidFill>
                <a:srgbClr val="FF0000"/>
              </a:solidFill>
            </a:endParaRPr>
          </a:p>
        </p:txBody>
      </p:sp>
      <p:sp>
        <p:nvSpPr>
          <p:cNvPr id="3" name="Content Placeholder 2">
            <a:extLst>
              <a:ext uri="{FF2B5EF4-FFF2-40B4-BE49-F238E27FC236}">
                <a16:creationId xmlns:a16="http://schemas.microsoft.com/office/drawing/2014/main" id="{4BACB11C-A41C-44E5-0CAB-19D6152164D0}"/>
              </a:ext>
            </a:extLst>
          </p:cNvPr>
          <p:cNvSpPr>
            <a:spLocks noGrp="1"/>
          </p:cNvSpPr>
          <p:nvPr>
            <p:ph idx="1"/>
          </p:nvPr>
        </p:nvSpPr>
        <p:spPr>
          <a:xfrm>
            <a:off x="696686" y="1164772"/>
            <a:ext cx="10657114" cy="5023077"/>
          </a:xfrm>
        </p:spPr>
        <p:txBody>
          <a:bodyPr>
            <a:normAutofit/>
          </a:bodyPr>
          <a:lstStyle/>
          <a:p>
            <a:pPr algn="l"/>
            <a:r>
              <a:rPr lang="en-IN" sz="2800" kern="100" dirty="0">
                <a:latin typeface="Calibri" panose="020F0502020204030204" pitchFamily="34" charset="0"/>
                <a:cs typeface="Times New Roman" panose="02020603050405020304" pitchFamily="18" charset="0"/>
              </a:rPr>
              <a:t>The semantics of a contract can be divided into two types: </a:t>
            </a:r>
          </a:p>
          <a:p>
            <a:pPr marL="0" indent="0" algn="l">
              <a:buNone/>
            </a:pPr>
            <a:r>
              <a:rPr lang="en-IN" sz="2800" kern="100" dirty="0">
                <a:latin typeface="Calibri" panose="020F0502020204030204" pitchFamily="34" charset="0"/>
                <a:cs typeface="Times New Roman" panose="02020603050405020304" pitchFamily="18" charset="0"/>
              </a:rPr>
              <a:t>	operational semantics and denotational semantics.</a:t>
            </a:r>
          </a:p>
          <a:p>
            <a:pPr marL="342900" indent="-342900" algn="just">
              <a:lnSpc>
                <a:spcPct val="107000"/>
              </a:lnSpc>
              <a:spcAft>
                <a:spcPts val="800"/>
              </a:spcAft>
              <a:buFont typeface="Arial" panose="020B0604020202020204" pitchFamily="34" charset="0"/>
              <a:buChar char="•"/>
              <a:defRPr/>
            </a:pPr>
            <a:r>
              <a:rPr lang="en-IN" sz="2800" kern="100" dirty="0">
                <a:latin typeface="Calibri" panose="020F0502020204030204" pitchFamily="34" charset="0"/>
                <a:ea typeface="Calibri" panose="020F0502020204030204" pitchFamily="34" charset="0"/>
                <a:cs typeface="Times New Roman" panose="02020603050405020304" pitchFamily="18" charset="0"/>
              </a:rPr>
              <a:t>Operational Semantics : defines the actual execution, correctness and safety of the contract.</a:t>
            </a:r>
          </a:p>
          <a:p>
            <a:pPr marL="342900" indent="-342900" algn="just">
              <a:lnSpc>
                <a:spcPct val="107000"/>
              </a:lnSpc>
              <a:spcAft>
                <a:spcPts val="800"/>
              </a:spcAft>
              <a:buFont typeface="Arial" panose="020B0604020202020204" pitchFamily="34" charset="0"/>
              <a:buChar char="•"/>
              <a:defRPr/>
            </a:pPr>
            <a:r>
              <a:rPr lang="en-IN" sz="2800" kern="100" dirty="0">
                <a:latin typeface="Calibri" panose="020F0502020204030204" pitchFamily="34" charset="0"/>
                <a:ea typeface="Calibri" panose="020F0502020204030204" pitchFamily="34" charset="0"/>
                <a:cs typeface="Times New Roman" panose="02020603050405020304" pitchFamily="18" charset="0"/>
              </a:rPr>
              <a:t>Denotational Semantics: Encompasses both the denotational and operational semantics of a legal agreement.  Also capable of encoding legal prose and code (business logic) in it.</a:t>
            </a:r>
          </a:p>
          <a:p>
            <a:endParaRPr lang="en-IN" dirty="0"/>
          </a:p>
        </p:txBody>
      </p:sp>
    </p:spTree>
    <p:extLst>
      <p:ext uri="{BB962C8B-B14F-4D97-AF65-F5344CB8AC3E}">
        <p14:creationId xmlns:p14="http://schemas.microsoft.com/office/powerpoint/2010/main" val="108753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361B64-23A8-F282-43AB-D032B797B08A}"/>
              </a:ext>
            </a:extLst>
          </p:cNvPr>
          <p:cNvSpPr>
            <a:spLocks noGrp="1"/>
          </p:cNvSpPr>
          <p:nvPr>
            <p:ph idx="1"/>
          </p:nvPr>
        </p:nvSpPr>
        <p:spPr>
          <a:xfrm>
            <a:off x="653143" y="326571"/>
            <a:ext cx="10700657" cy="5850392"/>
          </a:xfrm>
        </p:spPr>
        <p:txBody>
          <a:bodyPr/>
          <a:lstStyle/>
          <a:p>
            <a:pPr algn="just"/>
            <a:r>
              <a:rPr lang="en-US" dirty="0">
                <a:latin typeface="Times New Roman" panose="02020603050405020304" pitchFamily="18" charset="0"/>
                <a:cs typeface="Times New Roman" panose="02020603050405020304" pitchFamily="18" charset="0"/>
              </a:rPr>
              <a:t>Bitcoin uses simple smart contracts focused only on automatic execution by computers. In contrast, a Ricardian contract is designed to be readable by humans while also including parts that machines can process, bridging the gap between legal documents and code.</a:t>
            </a:r>
            <a:r>
              <a:rPr lang="en-IN" dirty="0">
                <a:latin typeface="Times New Roman" panose="02020603050405020304" pitchFamily="18" charset="0"/>
                <a:cs typeface="Times New Roman" panose="02020603050405020304" pitchFamily="18" charset="0"/>
              </a:rPr>
              <a:t>.</a:t>
            </a:r>
          </a:p>
          <a:p>
            <a:pPr algn="just"/>
            <a:r>
              <a:rPr lang="en-IN" dirty="0">
                <a:latin typeface="Times New Roman" panose="02020603050405020304" pitchFamily="18" charset="0"/>
                <a:cs typeface="Times New Roman" panose="02020603050405020304" pitchFamily="18" charset="0"/>
              </a:rPr>
              <a:t>This can be viewed as legal semantics vs operational performance (semantics vs performance) as shown in the following diagram.</a:t>
            </a:r>
          </a:p>
          <a:p>
            <a:endParaRPr lang="en-IN" dirty="0"/>
          </a:p>
        </p:txBody>
      </p:sp>
      <p:pic>
        <p:nvPicPr>
          <p:cNvPr id="4" name="Picture 3">
            <a:extLst>
              <a:ext uri="{FF2B5EF4-FFF2-40B4-BE49-F238E27FC236}">
                <a16:creationId xmlns:a16="http://schemas.microsoft.com/office/drawing/2014/main" id="{0CBF1188-F75F-1A41-BE31-4AF3C8A9DA8A}"/>
              </a:ext>
            </a:extLst>
          </p:cNvPr>
          <p:cNvPicPr>
            <a:picLocks noChangeAspect="1"/>
          </p:cNvPicPr>
          <p:nvPr/>
        </p:nvPicPr>
        <p:blipFill>
          <a:blip r:embed="rId2"/>
          <a:stretch>
            <a:fillRect/>
          </a:stretch>
        </p:blipFill>
        <p:spPr>
          <a:xfrm>
            <a:off x="7053943" y="2753362"/>
            <a:ext cx="4299857" cy="3778067"/>
          </a:xfrm>
          <a:prstGeom prst="rect">
            <a:avLst/>
          </a:prstGeom>
        </p:spPr>
      </p:pic>
    </p:spTree>
    <p:extLst>
      <p:ext uri="{BB962C8B-B14F-4D97-AF65-F5344CB8AC3E}">
        <p14:creationId xmlns:p14="http://schemas.microsoft.com/office/powerpoint/2010/main" val="347033970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8FD43C-BC7C-06DB-55E9-8973C8E0FE8E}"/>
              </a:ext>
            </a:extLst>
          </p:cNvPr>
          <p:cNvSpPr>
            <a:spLocks noGrp="1"/>
          </p:cNvSpPr>
          <p:nvPr>
            <p:ph idx="1"/>
          </p:nvPr>
        </p:nvSpPr>
        <p:spPr>
          <a:xfrm>
            <a:off x="566057" y="435429"/>
            <a:ext cx="10787743" cy="5741534"/>
          </a:xfrm>
        </p:spPr>
        <p:txBody>
          <a:bodyPr/>
          <a:lstStyle/>
          <a:p>
            <a:pPr algn="just"/>
            <a:r>
              <a:rPr lang="en-IN" sz="3200" b="0" i="0" u="none" strike="noStrike" baseline="0" dirty="0">
                <a:latin typeface="Times New Roman" panose="02020603050405020304" pitchFamily="18" charset="0"/>
                <a:cs typeface="Times New Roman" panose="02020603050405020304" pitchFamily="18" charset="0"/>
              </a:rPr>
              <a:t>A Ricardian contract can be represented as a tuple of three objects, namely </a:t>
            </a:r>
            <a:r>
              <a:rPr lang="en-IN" sz="3200" b="1" u="sng" strike="noStrike" baseline="0" dirty="0">
                <a:latin typeface="Times New Roman" panose="02020603050405020304" pitchFamily="18" charset="0"/>
                <a:cs typeface="Times New Roman" panose="02020603050405020304" pitchFamily="18" charset="0"/>
              </a:rPr>
              <a:t>Prose, parameters and code.</a:t>
            </a:r>
          </a:p>
          <a:p>
            <a:pPr algn="just"/>
            <a:r>
              <a:rPr lang="en-IN" sz="3200" b="0" i="0" u="none" strike="noStrike" baseline="0" dirty="0">
                <a:latin typeface="Times New Roman" panose="02020603050405020304" pitchFamily="18" charset="0"/>
                <a:cs typeface="Times New Roman" panose="02020603050405020304" pitchFamily="18" charset="0"/>
              </a:rPr>
              <a:t>Prose represents the legal contract in regular language.</a:t>
            </a:r>
          </a:p>
          <a:p>
            <a:pPr algn="just"/>
            <a:r>
              <a:rPr lang="en-IN" sz="3200" b="0" i="0" u="none" strike="noStrike" baseline="0" dirty="0">
                <a:latin typeface="Times New Roman" panose="02020603050405020304" pitchFamily="18" charset="0"/>
                <a:cs typeface="Times New Roman" panose="02020603050405020304" pitchFamily="18" charset="0"/>
              </a:rPr>
              <a:t>code represents the program that is a computer-understandable representation of legal prose</a:t>
            </a:r>
            <a:r>
              <a:rPr lang="en-IN" sz="3200" dirty="0">
                <a:latin typeface="Times New Roman" panose="02020603050405020304" pitchFamily="18" charset="0"/>
                <a:cs typeface="Times New Roman" panose="02020603050405020304" pitchFamily="18" charset="0"/>
              </a:rPr>
              <a:t>.</a:t>
            </a:r>
            <a:endParaRPr lang="en-IN" sz="3200" b="0" i="0" u="none" strike="noStrike" baseline="0" dirty="0">
              <a:latin typeface="Times New Roman" panose="02020603050405020304" pitchFamily="18" charset="0"/>
              <a:cs typeface="Times New Roman" panose="02020603050405020304" pitchFamily="18" charset="0"/>
            </a:endParaRPr>
          </a:p>
          <a:p>
            <a:pPr algn="just"/>
            <a:r>
              <a:rPr lang="en-IN" sz="3200" b="0" i="0" u="none" strike="noStrike" baseline="0" dirty="0">
                <a:latin typeface="Times New Roman" panose="02020603050405020304" pitchFamily="18" charset="0"/>
                <a:cs typeface="Times New Roman" panose="02020603050405020304" pitchFamily="18" charset="0"/>
              </a:rPr>
              <a:t>parameters join the appropriate parts of the legal contract to the equivalent code.</a:t>
            </a:r>
          </a:p>
          <a:p>
            <a:pPr algn="just"/>
            <a:r>
              <a:rPr lang="en-IN" sz="3200" b="0" i="0" u="none" strike="noStrike" baseline="0" dirty="0">
                <a:latin typeface="Times New Roman" panose="02020603050405020304" pitchFamily="18" charset="0"/>
                <a:cs typeface="Times New Roman" panose="02020603050405020304" pitchFamily="18" charset="0"/>
              </a:rPr>
              <a:t>Ricardian contracts have been implemented in many systems, such as </a:t>
            </a:r>
            <a:r>
              <a:rPr lang="en-IN" sz="3200" b="0" i="0" u="none" strike="noStrike" baseline="0" dirty="0" err="1">
                <a:latin typeface="Times New Roman" panose="02020603050405020304" pitchFamily="18" charset="0"/>
                <a:cs typeface="Times New Roman" panose="02020603050405020304" pitchFamily="18" charset="0"/>
              </a:rPr>
              <a:t>CommonAccord</a:t>
            </a:r>
            <a:r>
              <a:rPr lang="en-IN" sz="3200" b="0" i="0" u="none" strike="noStrike" baseline="0" dirty="0">
                <a:latin typeface="Times New Roman" panose="02020603050405020304" pitchFamily="18" charset="0"/>
                <a:cs typeface="Times New Roman" panose="02020603050405020304" pitchFamily="18" charset="0"/>
              </a:rPr>
              <a:t>, </a:t>
            </a:r>
            <a:r>
              <a:rPr lang="en-IN" sz="3200" b="0" i="0" u="none" strike="noStrike" baseline="0" dirty="0" err="1">
                <a:latin typeface="Times New Roman" panose="02020603050405020304" pitchFamily="18" charset="0"/>
                <a:cs typeface="Times New Roman" panose="02020603050405020304" pitchFamily="18" charset="0"/>
              </a:rPr>
              <a:t>OpenBazaar</a:t>
            </a:r>
            <a:r>
              <a:rPr lang="en-IN" sz="3200" b="0" i="0" u="none" strike="noStrike" baseline="0" dirty="0">
                <a:latin typeface="Times New Roman" panose="02020603050405020304" pitchFamily="18" charset="0"/>
                <a:cs typeface="Times New Roman" panose="02020603050405020304" pitchFamily="18" charset="0"/>
              </a:rPr>
              <a:t>, </a:t>
            </a:r>
            <a:r>
              <a:rPr lang="en-IN" sz="3200" b="0" i="0" u="none" strike="noStrike" baseline="0" dirty="0" err="1">
                <a:latin typeface="Times New Roman" panose="02020603050405020304" pitchFamily="18" charset="0"/>
                <a:cs typeface="Times New Roman" panose="02020603050405020304" pitchFamily="18" charset="0"/>
              </a:rPr>
              <a:t>OpenAssets</a:t>
            </a:r>
            <a:r>
              <a:rPr lang="en-IN" sz="3200" b="0" i="0" u="none" strike="noStrike" baseline="0" dirty="0">
                <a:latin typeface="Times New Roman" panose="02020603050405020304" pitchFamily="18" charset="0"/>
                <a:cs typeface="Times New Roman" panose="02020603050405020304" pitchFamily="18" charset="0"/>
              </a:rPr>
              <a:t> and </a:t>
            </a:r>
            <a:r>
              <a:rPr lang="en-IN" sz="3200" b="0" i="0" u="none" strike="noStrike" baseline="0" dirty="0" err="1">
                <a:latin typeface="Times New Roman" panose="02020603050405020304" pitchFamily="18" charset="0"/>
                <a:cs typeface="Times New Roman" panose="02020603050405020304" pitchFamily="18" charset="0"/>
              </a:rPr>
              <a:t>Askemos</a:t>
            </a:r>
            <a:r>
              <a:rPr lang="en-IN" sz="3200" b="0" i="0" u="none" strike="noStrike" baseline="0" dirty="0">
                <a:latin typeface="Times New Roman" panose="02020603050405020304" pitchFamily="18" charset="0"/>
                <a:cs typeface="Times New Roman" panose="02020603050405020304" pitchFamily="18" charset="0"/>
              </a:rPr>
              <a:t>.</a:t>
            </a:r>
            <a:endParaRPr lang="en-IN" sz="32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48115680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9B913-0446-B599-96E0-581C71C90B11}"/>
              </a:ext>
            </a:extLst>
          </p:cNvPr>
          <p:cNvSpPr>
            <a:spLocks noGrp="1"/>
          </p:cNvSpPr>
          <p:nvPr>
            <p:ph type="title"/>
          </p:nvPr>
        </p:nvSpPr>
        <p:spPr>
          <a:xfrm>
            <a:off x="117988" y="162233"/>
            <a:ext cx="10987548" cy="973394"/>
          </a:xfrm>
        </p:spPr>
        <p:txBody>
          <a:bodyPr/>
          <a:lstStyle/>
          <a:p>
            <a:r>
              <a:rPr lang="en-US" dirty="0"/>
              <a:t>Example:  </a:t>
            </a:r>
            <a:r>
              <a:rPr lang="en-IN" dirty="0"/>
              <a:t>Ricardian Contract for a Token Sale</a:t>
            </a:r>
          </a:p>
        </p:txBody>
      </p:sp>
      <p:sp>
        <p:nvSpPr>
          <p:cNvPr id="3" name="Content Placeholder 2">
            <a:extLst>
              <a:ext uri="{FF2B5EF4-FFF2-40B4-BE49-F238E27FC236}">
                <a16:creationId xmlns:a16="http://schemas.microsoft.com/office/drawing/2014/main" id="{58B4C230-742F-B523-B9CE-45AC377F4668}"/>
              </a:ext>
            </a:extLst>
          </p:cNvPr>
          <p:cNvSpPr>
            <a:spLocks noGrp="1"/>
          </p:cNvSpPr>
          <p:nvPr>
            <p:ph idx="1"/>
          </p:nvPr>
        </p:nvSpPr>
        <p:spPr>
          <a:xfrm>
            <a:off x="117988" y="929148"/>
            <a:ext cx="11235812" cy="5247815"/>
          </a:xfrm>
        </p:spPr>
        <p:txBody>
          <a:bodyPr/>
          <a:lstStyle/>
          <a:p>
            <a:pPr marL="0" indent="0">
              <a:buNone/>
            </a:pPr>
            <a:r>
              <a:rPr lang="en-IN" b="1" dirty="0" err="1">
                <a:solidFill>
                  <a:srgbClr val="FF0000"/>
                </a:solidFill>
              </a:rPr>
              <a:t>RicardianContract</a:t>
            </a:r>
            <a:r>
              <a:rPr lang="en-IN" b="1" dirty="0">
                <a:solidFill>
                  <a:srgbClr val="FF0000"/>
                </a:solidFill>
              </a:rPr>
              <a:t> = (Prose, Parameters, Code)</a:t>
            </a:r>
          </a:p>
          <a:p>
            <a:pPr marL="0" indent="0">
              <a:buNone/>
            </a:pPr>
            <a:endParaRPr lang="en-IN" b="1" dirty="0">
              <a:solidFill>
                <a:srgbClr val="FF0000"/>
              </a:solidFill>
            </a:endParaRPr>
          </a:p>
          <a:p>
            <a:pPr marL="514350" indent="-514350">
              <a:buAutoNum type="arabicPeriod"/>
            </a:pPr>
            <a:r>
              <a:rPr lang="en-IN" b="1" dirty="0"/>
              <a:t>Prose</a:t>
            </a:r>
            <a:r>
              <a:rPr lang="en-IN" dirty="0"/>
              <a:t> (Human-readable legal text):</a:t>
            </a:r>
          </a:p>
          <a:p>
            <a:pPr marL="0" indent="0">
              <a:buNone/>
            </a:pPr>
            <a:endParaRPr lang="en-IN" dirty="0"/>
          </a:p>
          <a:p>
            <a:pPr marL="0" indent="0" algn="just">
              <a:buNone/>
            </a:pPr>
            <a:r>
              <a:rPr lang="en-IN" b="1" dirty="0"/>
              <a:t>“This Agreement, made on April 20, 2025, is between Alice (the "Seller") and Bob (the "Buyer").  The Seller agrees to sell, and the Buyer agrees to purchase, 1,000 utility tokens (TOK) at a price of 0.05 ETH per token. Payment shall be made via Ethereum, and tokens will be transferred to the Buyer's wallet upon confirmation of payment. This contract is binding and enforceable under applicable law”</a:t>
            </a:r>
          </a:p>
          <a:p>
            <a:pPr marL="0" indent="0">
              <a:buNone/>
            </a:pPr>
            <a:endParaRPr lang="en-IN" dirty="0"/>
          </a:p>
        </p:txBody>
      </p:sp>
    </p:spTree>
    <p:extLst>
      <p:ext uri="{BB962C8B-B14F-4D97-AF65-F5344CB8AC3E}">
        <p14:creationId xmlns:p14="http://schemas.microsoft.com/office/powerpoint/2010/main" val="213894561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801865A-35DE-C527-93B8-0A6A8F5C28C9}"/>
              </a:ext>
            </a:extLst>
          </p:cNvPr>
          <p:cNvSpPr>
            <a:spLocks noGrp="1"/>
          </p:cNvSpPr>
          <p:nvPr>
            <p:ph idx="1"/>
          </p:nvPr>
        </p:nvSpPr>
        <p:spPr>
          <a:xfrm>
            <a:off x="235974" y="280219"/>
            <a:ext cx="11117826" cy="5896744"/>
          </a:xfrm>
        </p:spPr>
        <p:txBody>
          <a:bodyPr/>
          <a:lstStyle/>
          <a:p>
            <a:pPr marL="0" indent="0">
              <a:buNone/>
            </a:pPr>
            <a:r>
              <a:rPr lang="en-IN" dirty="0"/>
              <a:t>2. </a:t>
            </a:r>
            <a:r>
              <a:rPr lang="en-IN" b="1" dirty="0"/>
              <a:t>Parameters</a:t>
            </a:r>
            <a:r>
              <a:rPr lang="en-IN" dirty="0"/>
              <a:t> (Structured data for both human and machine)</a:t>
            </a:r>
          </a:p>
          <a:p>
            <a:pPr marL="0" indent="0">
              <a:buNone/>
            </a:pPr>
            <a:r>
              <a:rPr lang="en-IN" dirty="0"/>
              <a:t>{</a:t>
            </a:r>
          </a:p>
          <a:p>
            <a:pPr marL="0" indent="0">
              <a:buNone/>
            </a:pPr>
            <a:r>
              <a:rPr lang="en-IN" dirty="0"/>
              <a:t>  "seller": "0xABC123...",</a:t>
            </a:r>
          </a:p>
          <a:p>
            <a:pPr marL="0" indent="0">
              <a:buNone/>
            </a:pPr>
            <a:r>
              <a:rPr lang="en-IN" dirty="0"/>
              <a:t>  "buyer": "0xDEF456...",</a:t>
            </a:r>
          </a:p>
          <a:p>
            <a:pPr marL="0" indent="0">
              <a:buNone/>
            </a:pPr>
            <a:r>
              <a:rPr lang="en-IN" dirty="0"/>
              <a:t>  "</a:t>
            </a:r>
            <a:r>
              <a:rPr lang="en-IN" dirty="0" err="1"/>
              <a:t>token_symbol</a:t>
            </a:r>
            <a:r>
              <a:rPr lang="en-IN" dirty="0"/>
              <a:t>": "TOK",</a:t>
            </a:r>
          </a:p>
          <a:p>
            <a:pPr marL="0" indent="0">
              <a:buNone/>
            </a:pPr>
            <a:r>
              <a:rPr lang="en-IN" dirty="0"/>
              <a:t>  "</a:t>
            </a:r>
            <a:r>
              <a:rPr lang="en-IN" dirty="0" err="1"/>
              <a:t>token_amount</a:t>
            </a:r>
            <a:r>
              <a:rPr lang="en-IN" dirty="0"/>
              <a:t>": 1000,</a:t>
            </a:r>
          </a:p>
          <a:p>
            <a:pPr marL="0" indent="0">
              <a:buNone/>
            </a:pPr>
            <a:r>
              <a:rPr lang="en-IN" dirty="0"/>
              <a:t>  "</a:t>
            </a:r>
            <a:r>
              <a:rPr lang="en-IN" dirty="0" err="1"/>
              <a:t>price_per_token_eth</a:t>
            </a:r>
            <a:r>
              <a:rPr lang="en-IN" dirty="0"/>
              <a:t>": 0.05,</a:t>
            </a:r>
          </a:p>
          <a:p>
            <a:pPr marL="0" indent="0">
              <a:buNone/>
            </a:pPr>
            <a:r>
              <a:rPr lang="en-IN" dirty="0"/>
              <a:t>  "</a:t>
            </a:r>
            <a:r>
              <a:rPr lang="en-IN" dirty="0" err="1"/>
              <a:t>payment_currency</a:t>
            </a:r>
            <a:r>
              <a:rPr lang="en-IN" dirty="0"/>
              <a:t>": "ETH",</a:t>
            </a:r>
          </a:p>
          <a:p>
            <a:pPr marL="0" indent="0">
              <a:buNone/>
            </a:pPr>
            <a:r>
              <a:rPr lang="en-IN" dirty="0"/>
              <a:t>  "</a:t>
            </a:r>
            <a:r>
              <a:rPr lang="en-IN" dirty="0" err="1"/>
              <a:t>contract_date</a:t>
            </a:r>
            <a:r>
              <a:rPr lang="en-IN" dirty="0"/>
              <a:t>": "2025-04-20"</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2540593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F488BD-A7BB-DCFB-F30F-71430D273902}"/>
              </a:ext>
            </a:extLst>
          </p:cNvPr>
          <p:cNvSpPr>
            <a:spLocks noGrp="1"/>
          </p:cNvSpPr>
          <p:nvPr>
            <p:ph idx="1"/>
          </p:nvPr>
        </p:nvSpPr>
        <p:spPr>
          <a:xfrm>
            <a:off x="324465" y="309716"/>
            <a:ext cx="11029335" cy="5867247"/>
          </a:xfrm>
        </p:spPr>
        <p:txBody>
          <a:bodyPr/>
          <a:lstStyle/>
          <a:p>
            <a:pPr marL="0" indent="0">
              <a:buNone/>
            </a:pPr>
            <a:r>
              <a:rPr lang="en-IN" dirty="0"/>
              <a:t>3. </a:t>
            </a:r>
            <a:r>
              <a:rPr lang="en-IN" b="1" dirty="0"/>
              <a:t>Code</a:t>
            </a:r>
            <a:r>
              <a:rPr lang="en-IN" dirty="0"/>
              <a:t> (Smart contract or executable logic)</a:t>
            </a:r>
          </a:p>
          <a:p>
            <a:pPr marL="0" indent="0">
              <a:buNone/>
            </a:pPr>
            <a:r>
              <a:rPr lang="en-IN" dirty="0"/>
              <a:t>// Simplified ERC20 token sale logic</a:t>
            </a:r>
          </a:p>
          <a:p>
            <a:pPr marL="0" indent="0">
              <a:buNone/>
            </a:pPr>
            <a:r>
              <a:rPr lang="en-IN" dirty="0"/>
              <a:t>function </a:t>
            </a:r>
            <a:r>
              <a:rPr lang="en-IN" dirty="0" err="1"/>
              <a:t>buyTokens</a:t>
            </a:r>
            <a:r>
              <a:rPr lang="en-IN" dirty="0"/>
              <a:t>() public payable {</a:t>
            </a:r>
          </a:p>
          <a:p>
            <a:pPr marL="0" indent="0">
              <a:buNone/>
            </a:pPr>
            <a:r>
              <a:rPr lang="en-IN" dirty="0"/>
              <a:t>    require(</a:t>
            </a:r>
            <a:r>
              <a:rPr lang="en-IN" dirty="0" err="1"/>
              <a:t>msg.value</a:t>
            </a:r>
            <a:r>
              <a:rPr lang="en-IN" dirty="0"/>
              <a:t> == </a:t>
            </a:r>
            <a:r>
              <a:rPr lang="en-IN" dirty="0" err="1"/>
              <a:t>tokenAmount</a:t>
            </a:r>
            <a:r>
              <a:rPr lang="en-IN" dirty="0"/>
              <a:t> * </a:t>
            </a:r>
            <a:r>
              <a:rPr lang="en-IN" dirty="0" err="1"/>
              <a:t>pricePerToken</a:t>
            </a:r>
            <a:r>
              <a:rPr lang="en-IN" dirty="0"/>
              <a:t>);</a:t>
            </a:r>
          </a:p>
          <a:p>
            <a:pPr marL="0" indent="0">
              <a:buNone/>
            </a:pPr>
            <a:r>
              <a:rPr lang="en-IN" dirty="0"/>
              <a:t>    </a:t>
            </a:r>
            <a:r>
              <a:rPr lang="en-IN" dirty="0" err="1"/>
              <a:t>token.transfer</a:t>
            </a:r>
            <a:r>
              <a:rPr lang="en-IN" dirty="0"/>
              <a:t>(</a:t>
            </a:r>
            <a:r>
              <a:rPr lang="en-IN" dirty="0" err="1"/>
              <a:t>msg.sender</a:t>
            </a:r>
            <a:r>
              <a:rPr lang="en-IN" dirty="0"/>
              <a:t>, </a:t>
            </a:r>
            <a:r>
              <a:rPr lang="en-IN" dirty="0" err="1"/>
              <a:t>tokenAmount</a:t>
            </a:r>
            <a:r>
              <a:rPr lang="en-IN" dirty="0"/>
              <a:t>);</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246389490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6099D-FD3B-7595-5099-1B23CEF4D05C}"/>
              </a:ext>
            </a:extLst>
          </p:cNvPr>
          <p:cNvSpPr>
            <a:spLocks noGrp="1"/>
          </p:cNvSpPr>
          <p:nvPr>
            <p:ph type="title"/>
          </p:nvPr>
        </p:nvSpPr>
        <p:spPr>
          <a:xfrm>
            <a:off x="707572" y="0"/>
            <a:ext cx="10515600" cy="1325563"/>
          </a:xfrm>
        </p:spPr>
        <p:txBody>
          <a:bodyPr/>
          <a:lstStyle/>
          <a:p>
            <a:pPr algn="ctr"/>
            <a:r>
              <a:rPr lang="en-IN" b="1" i="0" u="none" strike="noStrike" baseline="0" dirty="0">
                <a:solidFill>
                  <a:srgbClr val="FF0000"/>
                </a:solidFill>
                <a:latin typeface="Calibri" panose="020F0502020204030204" pitchFamily="34" charset="0"/>
                <a:cs typeface="Calibri" panose="020F0502020204030204" pitchFamily="34" charset="0"/>
              </a:rPr>
              <a:t>Smart contract templates</a:t>
            </a:r>
            <a:endParaRPr lang="en-IN" dirty="0">
              <a:solidFill>
                <a:srgbClr val="FF0000"/>
              </a:solidFill>
            </a:endParaRPr>
          </a:p>
        </p:txBody>
      </p:sp>
      <p:sp>
        <p:nvSpPr>
          <p:cNvPr id="3" name="Content Placeholder 2">
            <a:extLst>
              <a:ext uri="{FF2B5EF4-FFF2-40B4-BE49-F238E27FC236}">
                <a16:creationId xmlns:a16="http://schemas.microsoft.com/office/drawing/2014/main" id="{263B7180-3787-D45D-D701-59E377EC5F75}"/>
              </a:ext>
            </a:extLst>
          </p:cNvPr>
          <p:cNvSpPr>
            <a:spLocks noGrp="1"/>
          </p:cNvSpPr>
          <p:nvPr>
            <p:ph idx="1"/>
          </p:nvPr>
        </p:nvSpPr>
        <p:spPr>
          <a:xfrm>
            <a:off x="838200" y="1510301"/>
            <a:ext cx="10515600" cy="4666662"/>
          </a:xfrm>
        </p:spPr>
        <p:txBody>
          <a:bodyPr>
            <a:normAutofit/>
          </a:bodyPr>
          <a:lstStyle/>
          <a:p>
            <a:pPr algn="just"/>
            <a:r>
              <a:rPr lang="en-IN" sz="2800" b="0" i="0" u="none" strike="noStrike" baseline="0" dirty="0">
                <a:latin typeface="Calibri" panose="020F0502020204030204" pitchFamily="34" charset="0"/>
                <a:cs typeface="Calibri" panose="020F0502020204030204" pitchFamily="34" charset="0"/>
              </a:rPr>
              <a:t>Smart contracts can be implemented for any industry where required but most current use cases are related to the financial industry.</a:t>
            </a:r>
          </a:p>
          <a:p>
            <a:pPr algn="just"/>
            <a:r>
              <a:rPr lang="en-IN" sz="2800" b="0" i="0" u="none" strike="noStrike" baseline="0" dirty="0">
                <a:latin typeface="Calibri" panose="020F0502020204030204" pitchFamily="34" charset="0"/>
                <a:cs typeface="Calibri" panose="020F0502020204030204" pitchFamily="34" charset="0"/>
              </a:rPr>
              <a:t> Recent work in smart contract specific to the financial industry has proposed the idea of smart contract templates. </a:t>
            </a:r>
          </a:p>
          <a:p>
            <a:pPr algn="just"/>
            <a:r>
              <a:rPr lang="en-IN" sz="2800" b="0" i="0" u="none" strike="noStrike" baseline="0" dirty="0">
                <a:latin typeface="Calibri" panose="020F0502020204030204" pitchFamily="34" charset="0"/>
                <a:cs typeface="Calibri" panose="020F0502020204030204" pitchFamily="34" charset="0"/>
              </a:rPr>
              <a:t>The idea is to build standard templates that provide a framework to support legal agreements for financial instruments. </a:t>
            </a:r>
          </a:p>
          <a:p>
            <a:pPr algn="just"/>
            <a:r>
              <a:rPr lang="en-IN" dirty="0">
                <a:latin typeface="Calibri" panose="020F0502020204030204" pitchFamily="34" charset="0"/>
                <a:cs typeface="Calibri" panose="020F0502020204030204" pitchFamily="34" charset="0"/>
              </a:rPr>
              <a:t>This was proposed by Clack et al in their paper named Smart Contract Templates: Foundations, design landscape and research directions. </a:t>
            </a:r>
          </a:p>
          <a:p>
            <a:endParaRPr lang="en-IN" dirty="0"/>
          </a:p>
        </p:txBody>
      </p:sp>
    </p:spTree>
    <p:extLst>
      <p:ext uri="{BB962C8B-B14F-4D97-AF65-F5344CB8AC3E}">
        <p14:creationId xmlns:p14="http://schemas.microsoft.com/office/powerpoint/2010/main" val="3164929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EB54B3-37D1-04EC-BD72-0E12D712FC13}"/>
              </a:ext>
            </a:extLst>
          </p:cNvPr>
          <p:cNvSpPr>
            <a:spLocks noGrp="1"/>
          </p:cNvSpPr>
          <p:nvPr>
            <p:ph idx="1"/>
          </p:nvPr>
        </p:nvSpPr>
        <p:spPr>
          <a:xfrm>
            <a:off x="468086" y="359229"/>
            <a:ext cx="10885714" cy="5817734"/>
          </a:xfrm>
        </p:spPr>
        <p:txBody>
          <a:bodyPr/>
          <a:lstStyle/>
          <a:p>
            <a:pPr algn="just"/>
            <a:r>
              <a:rPr lang="en-IN" sz="2800" b="0" i="0" u="none" strike="noStrike" baseline="0" dirty="0">
                <a:latin typeface="Calibri" panose="020F0502020204030204" pitchFamily="34" charset="0"/>
                <a:cs typeface="Calibri" panose="020F0502020204030204" pitchFamily="34" charset="0"/>
              </a:rPr>
              <a:t>The paper also proposed that domain specific</a:t>
            </a:r>
            <a:r>
              <a:rPr lang="en-IN" sz="2800" dirty="0">
                <a:latin typeface="Calibri" panose="020F0502020204030204" pitchFamily="34" charset="0"/>
                <a:cs typeface="Calibri" panose="020F0502020204030204" pitchFamily="34" charset="0"/>
              </a:rPr>
              <a:t> </a:t>
            </a:r>
            <a:r>
              <a:rPr lang="en-IN" sz="2800" b="0" i="0" u="none" strike="noStrike" baseline="0" dirty="0">
                <a:latin typeface="Calibri" panose="020F0502020204030204" pitchFamily="34" charset="0"/>
                <a:cs typeface="Calibri" panose="020F0502020204030204" pitchFamily="34" charset="0"/>
              </a:rPr>
              <a:t>languages should be built in order to support design and implementation of smart contract templates.</a:t>
            </a:r>
          </a:p>
          <a:p>
            <a:pPr algn="just"/>
            <a:r>
              <a:rPr lang="en-IN" sz="2800" b="0" i="0" u="none" strike="noStrike" baseline="0" dirty="0">
                <a:latin typeface="Calibri" panose="020F0502020204030204" pitchFamily="34" charset="0"/>
                <a:cs typeface="Calibri" panose="020F0502020204030204" pitchFamily="34" charset="0"/>
              </a:rPr>
              <a:t> A language named </a:t>
            </a:r>
            <a:r>
              <a:rPr lang="en-IN" sz="2800" b="0" i="1" u="none" strike="noStrike" baseline="0" dirty="0">
                <a:latin typeface="Calibri" panose="020F0502020204030204" pitchFamily="34" charset="0"/>
                <a:cs typeface="Calibri" panose="020F0502020204030204" pitchFamily="34" charset="0"/>
              </a:rPr>
              <a:t>CLACK</a:t>
            </a:r>
            <a:r>
              <a:rPr lang="en-IN" sz="2800" b="0" i="0" u="none" strike="noStrike" baseline="0" dirty="0">
                <a:latin typeface="Calibri" panose="020F0502020204030204" pitchFamily="34" charset="0"/>
                <a:cs typeface="Calibri" panose="020F0502020204030204" pitchFamily="34" charset="0"/>
              </a:rPr>
              <a:t>, a </a:t>
            </a:r>
            <a:r>
              <a:rPr lang="en-IN" sz="2800" b="0" i="0" u="none" strike="noStrike" baseline="0" dirty="0">
                <a:highlight>
                  <a:srgbClr val="FFFF00"/>
                </a:highlight>
                <a:latin typeface="Calibri" panose="020F0502020204030204" pitchFamily="34" charset="0"/>
                <a:cs typeface="Calibri" panose="020F0502020204030204" pitchFamily="34" charset="0"/>
              </a:rPr>
              <a:t>common language for augmented contract knowledge </a:t>
            </a:r>
            <a:r>
              <a:rPr lang="en-IN" sz="2800" b="0" i="0" u="none" strike="noStrike" baseline="0" dirty="0">
                <a:latin typeface="Calibri" panose="020F0502020204030204" pitchFamily="34" charset="0"/>
                <a:cs typeface="Calibri" panose="020F0502020204030204" pitchFamily="34" charset="0"/>
              </a:rPr>
              <a:t>has been proposed and research has begun to develop the language. </a:t>
            </a:r>
          </a:p>
          <a:p>
            <a:pPr algn="just"/>
            <a:r>
              <a:rPr lang="en-IN" sz="2800" b="0" i="0" u="none" strike="noStrike" baseline="0" dirty="0">
                <a:latin typeface="Calibri" panose="020F0502020204030204" pitchFamily="34" charset="0"/>
                <a:cs typeface="Calibri" panose="020F0502020204030204" pitchFamily="34" charset="0"/>
              </a:rPr>
              <a:t>This language is intended to be very rich and provide a large variety of functions ranging from supporting legal prose to the ability to be executed on multiple platforms and cryptographic functions.</a:t>
            </a:r>
            <a:endParaRPr lang="en-IN" sz="2800" dirty="0">
              <a:latin typeface="Calibri" panose="020F0502020204030204" pitchFamily="34" charset="0"/>
              <a:cs typeface="Calibri" panose="020F0502020204030204" pitchFamily="34" charset="0"/>
            </a:endParaRPr>
          </a:p>
          <a:p>
            <a:endParaRPr lang="en-IN" dirty="0"/>
          </a:p>
        </p:txBody>
      </p:sp>
    </p:spTree>
    <p:extLst>
      <p:ext uri="{BB962C8B-B14F-4D97-AF65-F5344CB8AC3E}">
        <p14:creationId xmlns:p14="http://schemas.microsoft.com/office/powerpoint/2010/main" val="394372757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A38142-FD8D-3514-7AC4-B7944578E33C}"/>
              </a:ext>
            </a:extLst>
          </p:cNvPr>
          <p:cNvSpPr>
            <a:spLocks noGrp="1"/>
          </p:cNvSpPr>
          <p:nvPr>
            <p:ph idx="1"/>
          </p:nvPr>
        </p:nvSpPr>
        <p:spPr>
          <a:xfrm>
            <a:off x="478971" y="326571"/>
            <a:ext cx="10874829" cy="5850392"/>
          </a:xfrm>
        </p:spPr>
        <p:txBody>
          <a:bodyPr/>
          <a:lstStyle/>
          <a:p>
            <a:pPr algn="just">
              <a:buNone/>
            </a:pPr>
            <a:r>
              <a:rPr lang="en-IN" dirty="0"/>
              <a:t>	Smart contracts run on blockchains, which are </a:t>
            </a:r>
            <a:r>
              <a:rPr lang="en-IN" b="1" dirty="0"/>
              <a:t>deterministic and isolated environments</a:t>
            </a:r>
            <a:r>
              <a:rPr lang="en-IN" dirty="0"/>
              <a:t>. This ensures security and consistency — but it also means that </a:t>
            </a:r>
            <a:r>
              <a:rPr lang="en-IN" b="1" dirty="0"/>
              <a:t>smart contracts cannot natively access off-chain (external) data</a:t>
            </a:r>
            <a:r>
              <a:rPr lang="en-IN" dirty="0"/>
              <a:t>, such as:</a:t>
            </a:r>
          </a:p>
          <a:p>
            <a:pPr>
              <a:buFont typeface="Arial" panose="020B0604020202020204" pitchFamily="34" charset="0"/>
              <a:buChar char="•"/>
            </a:pPr>
            <a:r>
              <a:rPr lang="en-IN" dirty="0"/>
              <a:t>Asset prices (e.g., ETH/USD)</a:t>
            </a:r>
          </a:p>
          <a:p>
            <a:pPr>
              <a:buFont typeface="Arial" panose="020B0604020202020204" pitchFamily="34" charset="0"/>
              <a:buChar char="•"/>
            </a:pPr>
            <a:r>
              <a:rPr lang="en-IN" dirty="0"/>
              <a:t>Weather data</a:t>
            </a:r>
          </a:p>
          <a:p>
            <a:pPr>
              <a:buFont typeface="Arial" panose="020B0604020202020204" pitchFamily="34" charset="0"/>
              <a:buChar char="•"/>
            </a:pPr>
            <a:r>
              <a:rPr lang="en-IN" dirty="0"/>
              <a:t>Sports scores</a:t>
            </a:r>
          </a:p>
          <a:p>
            <a:pPr>
              <a:buFont typeface="Arial" panose="020B0604020202020204" pitchFamily="34" charset="0"/>
              <a:buChar char="•"/>
            </a:pPr>
            <a:r>
              <a:rPr lang="en-IN" dirty="0"/>
              <a:t>IoT sensor readings</a:t>
            </a:r>
          </a:p>
          <a:p>
            <a:pPr>
              <a:buFont typeface="Arial" panose="020B0604020202020204" pitchFamily="34" charset="0"/>
              <a:buChar char="•"/>
            </a:pPr>
            <a:r>
              <a:rPr lang="en-IN" dirty="0"/>
              <a:t>KYC/AML information</a:t>
            </a:r>
          </a:p>
          <a:p>
            <a:pPr>
              <a:buFont typeface="Arial" panose="020B0604020202020204" pitchFamily="34" charset="0"/>
              <a:buChar char="•"/>
            </a:pPr>
            <a:r>
              <a:rPr lang="en-IN" dirty="0"/>
              <a:t>Legal rulings or news events</a:t>
            </a:r>
          </a:p>
          <a:p>
            <a:r>
              <a:rPr lang="en-IN" dirty="0"/>
              <a:t>Yet, many business use cases — especially in </a:t>
            </a:r>
            <a:r>
              <a:rPr lang="en-IN" b="1" dirty="0"/>
              <a:t>finance</a:t>
            </a:r>
            <a:r>
              <a:rPr lang="en-IN" dirty="0"/>
              <a:t>, </a:t>
            </a:r>
            <a:r>
              <a:rPr lang="en-IN" b="1" dirty="0"/>
              <a:t>insurance</a:t>
            </a:r>
            <a:r>
              <a:rPr lang="en-IN" dirty="0"/>
              <a:t>, </a:t>
            </a:r>
            <a:r>
              <a:rPr lang="en-IN" b="1" dirty="0"/>
              <a:t>supply chain</a:t>
            </a:r>
            <a:r>
              <a:rPr lang="en-IN" dirty="0"/>
              <a:t>, etc. — depend on </a:t>
            </a:r>
            <a:r>
              <a:rPr lang="en-IN" b="1" dirty="0"/>
              <a:t>real-world data</a:t>
            </a:r>
            <a:r>
              <a:rPr lang="en-IN" dirty="0"/>
              <a:t>.</a:t>
            </a:r>
          </a:p>
          <a:p>
            <a:endParaRPr lang="en-IN" dirty="0"/>
          </a:p>
        </p:txBody>
      </p:sp>
    </p:spTree>
    <p:extLst>
      <p:ext uri="{BB962C8B-B14F-4D97-AF65-F5344CB8AC3E}">
        <p14:creationId xmlns:p14="http://schemas.microsoft.com/office/powerpoint/2010/main" val="180221472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316E1A-7A8B-89CD-1441-4A2EC8594D26}"/>
              </a:ext>
            </a:extLst>
          </p:cNvPr>
          <p:cNvSpPr>
            <a:spLocks noGrp="1"/>
          </p:cNvSpPr>
          <p:nvPr>
            <p:ph type="title"/>
          </p:nvPr>
        </p:nvSpPr>
        <p:spPr>
          <a:xfrm>
            <a:off x="729343" y="365125"/>
            <a:ext cx="10515600" cy="1325563"/>
          </a:xfrm>
        </p:spPr>
        <p:txBody>
          <a:bodyPr/>
          <a:lstStyle/>
          <a:p>
            <a:pPr algn="ctr"/>
            <a:r>
              <a:rPr lang="en-IN" dirty="0">
                <a:solidFill>
                  <a:srgbClr val="FF0000"/>
                </a:solidFill>
              </a:rPr>
              <a:t>What is an Oracle?</a:t>
            </a:r>
          </a:p>
        </p:txBody>
      </p:sp>
      <p:sp>
        <p:nvSpPr>
          <p:cNvPr id="3" name="Content Placeholder 2">
            <a:extLst>
              <a:ext uri="{FF2B5EF4-FFF2-40B4-BE49-F238E27FC236}">
                <a16:creationId xmlns:a16="http://schemas.microsoft.com/office/drawing/2014/main" id="{742142F4-802C-310D-DC27-A2E1C925849E}"/>
              </a:ext>
            </a:extLst>
          </p:cNvPr>
          <p:cNvSpPr>
            <a:spLocks noGrp="1"/>
          </p:cNvSpPr>
          <p:nvPr>
            <p:ph idx="1"/>
          </p:nvPr>
        </p:nvSpPr>
        <p:spPr>
          <a:xfrm>
            <a:off x="1037690" y="2455523"/>
            <a:ext cx="10316110" cy="3721439"/>
          </a:xfrm>
        </p:spPr>
        <p:txBody>
          <a:bodyPr/>
          <a:lstStyle/>
          <a:p>
            <a:pPr algn="just"/>
            <a:r>
              <a:rPr lang="en-IN" dirty="0"/>
              <a:t>An </a:t>
            </a:r>
            <a:r>
              <a:rPr lang="en-IN" b="1" dirty="0"/>
              <a:t>oracle</a:t>
            </a:r>
            <a:r>
              <a:rPr lang="en-IN" dirty="0"/>
              <a:t> is a trusted third-party service that </a:t>
            </a:r>
            <a:r>
              <a:rPr lang="en-IN" b="1" dirty="0"/>
              <a:t>fetches, verifies and feeds external data</a:t>
            </a:r>
            <a:r>
              <a:rPr lang="en-IN" dirty="0"/>
              <a:t> into the blockchain so that smart contracts can use it.</a:t>
            </a:r>
          </a:p>
        </p:txBody>
      </p:sp>
    </p:spTree>
    <p:extLst>
      <p:ext uri="{BB962C8B-B14F-4D97-AF65-F5344CB8AC3E}">
        <p14:creationId xmlns:p14="http://schemas.microsoft.com/office/powerpoint/2010/main" val="327840443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4053F-276C-E085-B8E7-96341A6D330A}"/>
              </a:ext>
            </a:extLst>
          </p:cNvPr>
          <p:cNvSpPr>
            <a:spLocks noGrp="1"/>
          </p:cNvSpPr>
          <p:nvPr>
            <p:ph type="title"/>
          </p:nvPr>
        </p:nvSpPr>
        <p:spPr>
          <a:xfrm>
            <a:off x="206477" y="0"/>
            <a:ext cx="11147323" cy="1037689"/>
          </a:xfrm>
        </p:spPr>
        <p:txBody>
          <a:bodyPr>
            <a:normAutofit/>
          </a:bodyPr>
          <a:lstStyle/>
          <a:p>
            <a:pPr algn="ctr"/>
            <a:r>
              <a:rPr lang="en-IN" sz="4000" b="1" i="0" u="none" strike="noStrike" baseline="0" dirty="0">
                <a:solidFill>
                  <a:srgbClr val="FF0000"/>
                </a:solidFill>
                <a:latin typeface="Calibri" panose="020F0502020204030204" pitchFamily="34" charset="0"/>
                <a:cs typeface="Calibri" panose="020F0502020204030204" pitchFamily="34" charset="0"/>
              </a:rPr>
              <a:t>Oracles</a:t>
            </a:r>
            <a:endParaRPr lang="en-IN" sz="4000" dirty="0">
              <a:solidFill>
                <a:srgbClr val="FF0000"/>
              </a:solidFill>
              <a:latin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93D42519-3A75-B917-83D6-84671BFA17A1}"/>
              </a:ext>
            </a:extLst>
          </p:cNvPr>
          <p:cNvSpPr>
            <a:spLocks noGrp="1"/>
          </p:cNvSpPr>
          <p:nvPr>
            <p:ph idx="1"/>
          </p:nvPr>
        </p:nvSpPr>
        <p:spPr>
          <a:xfrm>
            <a:off x="606313" y="1037689"/>
            <a:ext cx="11147323" cy="5568594"/>
          </a:xfrm>
        </p:spPr>
        <p:txBody>
          <a:bodyPr>
            <a:normAutofit/>
          </a:bodyPr>
          <a:lstStyle/>
          <a:p>
            <a:pPr algn="just"/>
            <a:r>
              <a:rPr lang="en-IN" sz="2400" b="0" i="0" u="none" strike="noStrike" baseline="0" dirty="0">
                <a:latin typeface="Times New Roman" panose="02020603050405020304" pitchFamily="18" charset="0"/>
                <a:cs typeface="Times New Roman" panose="02020603050405020304" pitchFamily="18" charset="0"/>
              </a:rPr>
              <a:t>Oracles are an important component of the smart contract ecosystem. </a:t>
            </a:r>
          </a:p>
          <a:p>
            <a:pPr algn="just"/>
            <a:r>
              <a:rPr lang="en-IN" sz="2400" b="0" i="0" u="none" strike="noStrike" baseline="0" dirty="0">
                <a:latin typeface="Times New Roman" panose="02020603050405020304" pitchFamily="18" charset="0"/>
                <a:cs typeface="Times New Roman" panose="02020603050405020304" pitchFamily="18" charset="0"/>
              </a:rPr>
              <a:t>Oracles can be used to provide external data to smart contracts. </a:t>
            </a:r>
          </a:p>
          <a:p>
            <a:pPr algn="just"/>
            <a:r>
              <a:rPr lang="en-IN" sz="2400" b="0" i="0" u="none" strike="noStrike" baseline="0" dirty="0">
                <a:latin typeface="Times New Roman" panose="02020603050405020304" pitchFamily="18" charset="0"/>
                <a:cs typeface="Times New Roman" panose="02020603050405020304" pitchFamily="18" charset="0"/>
              </a:rPr>
              <a:t>Depending on the industry and requirements, Oracles can deliver different types of data ranging from weather reports, real-world news, and corporate actions to data coming from </a:t>
            </a:r>
            <a:r>
              <a:rPr lang="en-IN" sz="2400" b="1" i="0" u="none" strike="noStrike" baseline="0" dirty="0">
                <a:latin typeface="Times New Roman" panose="02020603050405020304" pitchFamily="18" charset="0"/>
                <a:cs typeface="Times New Roman" panose="02020603050405020304" pitchFamily="18" charset="0"/>
              </a:rPr>
              <a:t>Internet of Things </a:t>
            </a:r>
            <a:r>
              <a:rPr lang="en-IN" sz="2400" b="0" i="0" u="none" strike="noStrike" baseline="0" dirty="0">
                <a:latin typeface="Times New Roman" panose="02020603050405020304" pitchFamily="18" charset="0"/>
                <a:cs typeface="Times New Roman" panose="02020603050405020304" pitchFamily="18" charset="0"/>
              </a:rPr>
              <a:t>(</a:t>
            </a:r>
            <a:r>
              <a:rPr lang="en-IN" sz="2400" b="1" i="0" u="none" strike="noStrike" baseline="0" dirty="0">
                <a:latin typeface="Times New Roman" panose="02020603050405020304" pitchFamily="18" charset="0"/>
                <a:cs typeface="Times New Roman" panose="02020603050405020304" pitchFamily="18" charset="0"/>
              </a:rPr>
              <a:t>IoT</a:t>
            </a:r>
            <a:r>
              <a:rPr lang="en-IN" sz="2400" b="0" i="0" u="none" strike="noStrike" baseline="0" dirty="0">
                <a:latin typeface="Times New Roman" panose="02020603050405020304" pitchFamily="18" charset="0"/>
                <a:cs typeface="Times New Roman" panose="02020603050405020304" pitchFamily="18" charset="0"/>
              </a:rPr>
              <a:t>) devices. </a:t>
            </a:r>
          </a:p>
          <a:p>
            <a:pPr algn="just"/>
            <a:r>
              <a:rPr lang="en-IN" sz="2400" dirty="0">
                <a:latin typeface="Times New Roman" panose="02020603050405020304" pitchFamily="18" charset="0"/>
                <a:cs typeface="Times New Roman" panose="02020603050405020304" pitchFamily="18" charset="0"/>
              </a:rPr>
              <a:t>Oracles are also capable of digitally signing the data proving that the source of the data is authentic. </a:t>
            </a:r>
          </a:p>
          <a:p>
            <a:pPr algn="just"/>
            <a:r>
              <a:rPr lang="en-IN" sz="2400" dirty="0">
                <a:latin typeface="Times New Roman" panose="02020603050405020304" pitchFamily="18" charset="0"/>
                <a:cs typeface="Times New Roman" panose="02020603050405020304" pitchFamily="18" charset="0"/>
              </a:rPr>
              <a:t>Smart contracts can then subscribe to the Oracles, and the smart contracts can either pull the data, or Oracles can push the data to the smart contracts.</a:t>
            </a:r>
          </a:p>
          <a:p>
            <a:pPr algn="just"/>
            <a:endParaRPr lang="en-IN" sz="2400" b="0" i="0" u="none" strike="noStrike" baseline="0" dirty="0">
              <a:latin typeface="Times New Roman" panose="02020603050405020304" pitchFamily="18" charset="0"/>
              <a:cs typeface="Times New Roman" panose="02020603050405020304" pitchFamily="18" charset="0"/>
            </a:endParaRPr>
          </a:p>
          <a:p>
            <a:pPr algn="just"/>
            <a:endParaRPr lang="en-IN" sz="2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9296587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5D23FF-D05E-D301-1F45-2AA3E70D09E0}"/>
              </a:ext>
            </a:extLst>
          </p:cNvPr>
          <p:cNvSpPr>
            <a:spLocks noGrp="1"/>
          </p:cNvSpPr>
          <p:nvPr>
            <p:ph idx="1"/>
          </p:nvPr>
        </p:nvSpPr>
        <p:spPr>
          <a:xfrm>
            <a:off x="576943" y="664029"/>
            <a:ext cx="10776857" cy="5512934"/>
          </a:xfrm>
        </p:spPr>
        <p:txBody>
          <a:bodyPr>
            <a:normAutofit fontScale="92500"/>
          </a:bodyPr>
          <a:lstStyle/>
          <a:p>
            <a:pPr algn="just"/>
            <a:r>
              <a:rPr lang="en-IN" sz="2600" dirty="0">
                <a:latin typeface="Times New Roman" panose="02020603050405020304" pitchFamily="18" charset="0"/>
                <a:cs typeface="Times New Roman" panose="02020603050405020304" pitchFamily="18" charset="0"/>
              </a:rPr>
              <a:t>Oracles should not be able to manipulate the data they provide and must be able to provide authentic data. </a:t>
            </a:r>
          </a:p>
          <a:p>
            <a:pPr algn="just"/>
            <a:r>
              <a:rPr lang="en-IN" sz="2600" dirty="0">
                <a:latin typeface="Times New Roman" panose="02020603050405020304" pitchFamily="18" charset="0"/>
                <a:cs typeface="Times New Roman" panose="02020603050405020304" pitchFamily="18" charset="0"/>
              </a:rPr>
              <a:t>Even though Oracles are trusted, it may still be possible in some cases that the data is incorrect due to manipulation. </a:t>
            </a:r>
          </a:p>
          <a:p>
            <a:pPr algn="just"/>
            <a:r>
              <a:rPr lang="en-IN" sz="2600" dirty="0">
                <a:latin typeface="Times New Roman" panose="02020603050405020304" pitchFamily="18" charset="0"/>
                <a:cs typeface="Times New Roman" panose="02020603050405020304" pitchFamily="18" charset="0"/>
              </a:rPr>
              <a:t>Therefore, it is necessary that Oracles are unable to change the data.</a:t>
            </a:r>
          </a:p>
          <a:p>
            <a:pPr algn="just"/>
            <a:r>
              <a:rPr lang="en-IN" sz="2600" dirty="0">
                <a:latin typeface="Times New Roman" panose="02020603050405020304" pitchFamily="18" charset="0"/>
                <a:cs typeface="Times New Roman" panose="02020603050405020304" pitchFamily="18" charset="0"/>
              </a:rPr>
              <a:t>It might be acceptable for a smart contract designer to accept data for an oracle that is provided by a large reputable trusted third party, but the issue of centralization still  remains. These types of Oracles can be called standard or simple Oracles.</a:t>
            </a:r>
          </a:p>
          <a:p>
            <a:pPr algn="just"/>
            <a:r>
              <a:rPr lang="en-IN" sz="2600" dirty="0">
                <a:latin typeface="Times New Roman" panose="02020603050405020304" pitchFamily="18" charset="0"/>
                <a:cs typeface="Times New Roman" panose="02020603050405020304" pitchFamily="18" charset="0"/>
              </a:rPr>
              <a:t>Another type of Oracle, which essentially emerged due to the decentralization requirements, can be called decentralized Oracles.</a:t>
            </a:r>
          </a:p>
          <a:p>
            <a:pPr algn="just"/>
            <a:r>
              <a:rPr lang="en-IN" sz="2600" dirty="0">
                <a:latin typeface="Times New Roman" panose="02020603050405020304" pitchFamily="18" charset="0"/>
                <a:cs typeface="Times New Roman" panose="02020603050405020304" pitchFamily="18" charset="0"/>
              </a:rPr>
              <a:t>These types of Oracles can be built based on some distributed mechanism.</a:t>
            </a:r>
          </a:p>
          <a:p>
            <a:pPr algn="just"/>
            <a:r>
              <a:rPr lang="en-IN" sz="2600" dirty="0">
                <a:latin typeface="Times New Roman" panose="02020603050405020304" pitchFamily="18" charset="0"/>
                <a:cs typeface="Times New Roman" panose="02020603050405020304" pitchFamily="18" charset="0"/>
              </a:rPr>
              <a:t> It can also be envisaged that the Oracles can themselves source data from another blockchain which is driven by distributed consensus, thus ensuring the authenticity of data.</a:t>
            </a:r>
          </a:p>
          <a:p>
            <a:endParaRPr lang="en-IN" dirty="0"/>
          </a:p>
        </p:txBody>
      </p:sp>
    </p:spTree>
    <p:extLst>
      <p:ext uri="{BB962C8B-B14F-4D97-AF65-F5344CB8AC3E}">
        <p14:creationId xmlns:p14="http://schemas.microsoft.com/office/powerpoint/2010/main" val="318126342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6D64C2-642B-3009-9943-607FDDCEA1C8}"/>
              </a:ext>
            </a:extLst>
          </p:cNvPr>
          <p:cNvSpPr>
            <a:spLocks noGrp="1"/>
          </p:cNvSpPr>
          <p:nvPr>
            <p:ph idx="1"/>
          </p:nvPr>
        </p:nvSpPr>
        <p:spPr>
          <a:xfrm>
            <a:off x="147484" y="294968"/>
            <a:ext cx="11206316" cy="5881995"/>
          </a:xfrm>
        </p:spPr>
        <p:txBody>
          <a:bodyPr>
            <a:normAutofit/>
          </a:bodyPr>
          <a:lstStyle/>
          <a:p>
            <a:pPr algn="just"/>
            <a:r>
              <a:rPr lang="en-IN" sz="2400" dirty="0">
                <a:latin typeface="Calibri" panose="020F0502020204030204" pitchFamily="34" charset="0"/>
                <a:cs typeface="Calibri" panose="020F0502020204030204" pitchFamily="34" charset="0"/>
              </a:rPr>
              <a:t>For example, one institution running their own private blockchain can publish their data feed via an Oracle that can then be consumed by other blockchains.</a:t>
            </a:r>
          </a:p>
          <a:p>
            <a:pPr algn="just"/>
            <a:r>
              <a:rPr lang="en-IN" sz="2400" b="0" i="0" u="none" strike="noStrike" baseline="0" dirty="0">
                <a:latin typeface="Calibri" panose="020F0502020204030204" pitchFamily="34" charset="0"/>
                <a:cs typeface="Calibri" panose="020F0502020204030204" pitchFamily="34" charset="0"/>
              </a:rPr>
              <a:t>For example, this can be used in telemetry and IoT. However, this approach however requires a mechanism in which hardware devices cannot be tampered with. </a:t>
            </a:r>
          </a:p>
          <a:p>
            <a:pPr algn="just"/>
            <a:r>
              <a:rPr lang="en-IN" sz="2400" b="0" i="0" u="none" strike="noStrike" baseline="0" dirty="0">
                <a:latin typeface="Calibri" panose="020F0502020204030204" pitchFamily="34" charset="0"/>
                <a:cs typeface="Calibri" panose="020F0502020204030204" pitchFamily="34" charset="0"/>
              </a:rPr>
              <a:t>This can be achieved by using tamper-proof devices.</a:t>
            </a:r>
          </a:p>
          <a:p>
            <a:pPr algn="just"/>
            <a:endParaRPr lang="en-IN" sz="2400" dirty="0">
              <a:latin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9054B417-F800-63F5-3522-818B619FD6BF}"/>
              </a:ext>
            </a:extLst>
          </p:cNvPr>
          <p:cNvPicPr>
            <a:picLocks noChangeAspect="1"/>
          </p:cNvPicPr>
          <p:nvPr/>
        </p:nvPicPr>
        <p:blipFill>
          <a:blip r:embed="rId2"/>
          <a:stretch>
            <a:fillRect/>
          </a:stretch>
        </p:blipFill>
        <p:spPr>
          <a:xfrm>
            <a:off x="643620" y="2642729"/>
            <a:ext cx="10710180" cy="3920303"/>
          </a:xfrm>
          <a:prstGeom prst="rect">
            <a:avLst/>
          </a:prstGeom>
        </p:spPr>
      </p:pic>
    </p:spTree>
    <p:extLst>
      <p:ext uri="{BB962C8B-B14F-4D97-AF65-F5344CB8AC3E}">
        <p14:creationId xmlns:p14="http://schemas.microsoft.com/office/powerpoint/2010/main" val="11362333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4980</TotalTime>
  <Words>4486</Words>
  <Application>Microsoft Office PowerPoint</Application>
  <PresentationFormat>Widescreen</PresentationFormat>
  <Paragraphs>415</Paragraphs>
  <Slides>86</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86</vt:i4>
      </vt:variant>
    </vt:vector>
  </HeadingPairs>
  <TitlesOfParts>
    <vt:vector size="95" baseType="lpstr">
      <vt:lpstr>Aptos</vt:lpstr>
      <vt:lpstr>Arial</vt:lpstr>
      <vt:lpstr>Calibri</vt:lpstr>
      <vt:lpstr>Calibri Light</vt:lpstr>
      <vt:lpstr>FreeSerif</vt:lpstr>
      <vt:lpstr>PalatinoLinotype-Roman</vt:lpstr>
      <vt:lpstr>Times New Roman</vt:lpstr>
      <vt:lpstr>Wingdings</vt:lpstr>
      <vt:lpstr>Office Theme</vt:lpstr>
      <vt:lpstr>Blockchain Technology</vt:lpstr>
      <vt:lpstr>Topics required…</vt:lpstr>
      <vt:lpstr>Bitcoin</vt:lpstr>
      <vt:lpstr>PowerPoint Presentation</vt:lpstr>
      <vt:lpstr>Bitcoin definition</vt:lpstr>
      <vt:lpstr>Keys and addresses</vt:lpstr>
      <vt:lpstr>PowerPoint Presentation</vt:lpstr>
      <vt:lpstr>PowerPoint Presentation</vt:lpstr>
      <vt:lpstr>Public keys in bitcoin</vt:lpstr>
      <vt:lpstr>PowerPoint Presentation</vt:lpstr>
      <vt:lpstr>Private keys in bitcoin</vt:lpstr>
      <vt:lpstr>Bitcoin currency units</vt:lpstr>
      <vt:lpstr>Base58Check encoding</vt:lpstr>
      <vt:lpstr>PowerPoint Presentation</vt:lpstr>
      <vt:lpstr>PowerPoint Presentation</vt:lpstr>
      <vt:lpstr>Why base58 instead of base64</vt:lpstr>
      <vt:lpstr>PowerPoint Presentation</vt:lpstr>
      <vt:lpstr>PowerPoint Presentation</vt:lpstr>
      <vt:lpstr>PowerPoint Presentation</vt:lpstr>
      <vt:lpstr>PowerPoint Presentation</vt:lpstr>
      <vt:lpstr>PowerPoint Presentation</vt:lpstr>
      <vt:lpstr>PowerPoint Presentation</vt:lpstr>
      <vt:lpstr>Vanity addresses</vt:lpstr>
      <vt:lpstr>PowerPoint Presentation</vt:lpstr>
      <vt:lpstr>Transactions</vt:lpstr>
      <vt:lpstr>The transaction life cycle</vt:lpstr>
      <vt:lpstr>PowerPoint Presentation</vt:lpstr>
      <vt:lpstr>PowerPoint Presentation</vt:lpstr>
      <vt:lpstr>The transaction structure</vt:lpstr>
      <vt:lpstr>PowerPoint Presentation</vt:lpstr>
      <vt:lpstr>PowerPoint Presentation</vt:lpstr>
      <vt:lpstr>The script language</vt:lpstr>
      <vt:lpstr>Example</vt:lpstr>
      <vt:lpstr>PowerPoint Presentation</vt:lpstr>
      <vt:lpstr>Commonly used Opcodes</vt:lpstr>
      <vt:lpstr>PowerPoint Presentation</vt:lpstr>
      <vt:lpstr>Blockchain</vt:lpstr>
      <vt:lpstr>Data structure of a Bitcoin block</vt:lpstr>
      <vt:lpstr>Data structure of block header</vt:lpstr>
      <vt:lpstr>PowerPoint Presentation</vt:lpstr>
      <vt:lpstr>Wallets</vt:lpstr>
      <vt:lpstr>Wallet Types</vt:lpstr>
      <vt:lpstr>Non-deterministic wallets</vt:lpstr>
      <vt:lpstr>PowerPoint Presentation</vt:lpstr>
      <vt:lpstr>Deterministic wallets</vt:lpstr>
      <vt:lpstr>PowerPoint Presentation</vt:lpstr>
      <vt:lpstr>Hierarchical deterministic wallets</vt:lpstr>
      <vt:lpstr>PowerPoint Presentation</vt:lpstr>
      <vt:lpstr>PowerPoint Presentation</vt:lpstr>
      <vt:lpstr>Brain wallets</vt:lpstr>
      <vt:lpstr>PowerPoint Presentation</vt:lpstr>
      <vt:lpstr>Paper wallets</vt:lpstr>
      <vt:lpstr>PowerPoint Presentation</vt:lpstr>
      <vt:lpstr>Hardware wallets</vt:lpstr>
      <vt:lpstr>PowerPoint Presentation</vt:lpstr>
      <vt:lpstr>Online wallets</vt:lpstr>
      <vt:lpstr>PowerPoint Presentation</vt:lpstr>
      <vt:lpstr>Mobile wallets</vt:lpstr>
      <vt:lpstr>PowerPoint Presentation</vt:lpstr>
      <vt:lpstr>PowerPoint Presentation</vt:lpstr>
      <vt:lpstr>Smart Contracts</vt:lpstr>
      <vt:lpstr>Smart Contracts Definition</vt:lpstr>
      <vt:lpstr>Smart Contracts</vt:lpstr>
      <vt:lpstr>PowerPoint Presentation</vt:lpstr>
      <vt:lpstr>PowerPoint Presentation</vt:lpstr>
      <vt:lpstr>Ricardian contracts</vt:lpstr>
      <vt:lpstr>Example:</vt:lpstr>
      <vt:lpstr>PowerPoint Presentation</vt:lpstr>
      <vt:lpstr>PowerPoint Presentation</vt:lpstr>
      <vt:lpstr>PowerPoint Presentation</vt:lpstr>
      <vt:lpstr>PowerPoint Presentation</vt:lpstr>
      <vt:lpstr>PowerPoint Presentation</vt:lpstr>
      <vt:lpstr>PowerPoint Presentation</vt:lpstr>
      <vt:lpstr>Ricardian Contracts</vt:lpstr>
      <vt:lpstr>PowerPoint Presentation</vt:lpstr>
      <vt:lpstr>PowerPoint Presentation</vt:lpstr>
      <vt:lpstr>Example:  Ricardian Contract for a Token Sale</vt:lpstr>
      <vt:lpstr>PowerPoint Presentation</vt:lpstr>
      <vt:lpstr>PowerPoint Presentation</vt:lpstr>
      <vt:lpstr>Smart contract templates</vt:lpstr>
      <vt:lpstr>PowerPoint Presentation</vt:lpstr>
      <vt:lpstr>PowerPoint Presentation</vt:lpstr>
      <vt:lpstr>What is an Oracle?</vt:lpstr>
      <vt:lpstr>Oracles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Bitcoin</dc:title>
  <dc:creator>Anil Kumar</dc:creator>
  <cp:lastModifiedBy>Yashwanth S</cp:lastModifiedBy>
  <cp:revision>152</cp:revision>
  <dcterms:created xsi:type="dcterms:W3CDTF">2023-05-22T01:23:01Z</dcterms:created>
  <dcterms:modified xsi:type="dcterms:W3CDTF">2025-06-15T08:51:07Z</dcterms:modified>
</cp:coreProperties>
</file>