
<file path=[Content_Types].xml><?xml version="1.0" encoding="utf-8"?>
<Types xmlns="http://schemas.openxmlformats.org/package/2006/content-types">
  <Default ContentType="image/png" Extension="tmp"/>
  <Default ContentType="application/xml" Extension="xml"/>
  <Default ContentType="image/png" Extension="png"/>
  <Default ContentType="image/jpeg" Extension="jpeg"/>
  <Default ContentType="application/vnd.openxmlformats-package.relationships+xml" Extension="rels"/>
  <Default ContentType="image/x-emf" Extension="emf"/>
  <Override ContentType="application/vnd.openxmlformats-officedocument.presentationml.slideMaster+xml" PartName="/ppt/slideMasters/slideMaster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2.xml"/>
  <Override ContentType="application/vnd.openxmlformats-officedocument.presentationml.slideLayout+xml" PartName="/ppt/slideLayouts/slideLayout10.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1.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Lst>
  <p:sldSz cy="6858000" cx="12192000"/>
  <p:notesSz cx="6858000" cy="9144000"/>
  <p:defaultTextStyle>
    <a:defPPr lvl="0">
      <a:defRPr lang="en-US"/>
    </a:defPPr>
    <a:lvl1pPr defTabSz="914400" eaLnBrk="1" hangingPunct="1" latinLnBrk="0" lvl="0" marL="0" rtl="0" algn="l">
      <a:defRPr kern="1200" sz="1800">
        <a:solidFill>
          <a:schemeClr val="tx1"/>
        </a:solidFill>
        <a:latin typeface="+mn-lt"/>
        <a:ea typeface="+mn-ea"/>
        <a:cs typeface="+mn-cs"/>
      </a:defRPr>
    </a:lvl1pPr>
    <a:lvl2pPr defTabSz="914400" eaLnBrk="1" hangingPunct="1" latinLnBrk="0" lvl="1" marL="457200" rtl="0" algn="l">
      <a:defRPr kern="1200" sz="1800">
        <a:solidFill>
          <a:schemeClr val="tx1"/>
        </a:solidFill>
        <a:latin typeface="+mn-lt"/>
        <a:ea typeface="+mn-ea"/>
        <a:cs typeface="+mn-cs"/>
      </a:defRPr>
    </a:lvl2pPr>
    <a:lvl3pPr defTabSz="914400" eaLnBrk="1" hangingPunct="1" latinLnBrk="0" lvl="2" marL="914400" rtl="0" algn="l">
      <a:defRPr kern="1200" sz="1800">
        <a:solidFill>
          <a:schemeClr val="tx1"/>
        </a:solidFill>
        <a:latin typeface="+mn-lt"/>
        <a:ea typeface="+mn-ea"/>
        <a:cs typeface="+mn-cs"/>
      </a:defRPr>
    </a:lvl3pPr>
    <a:lvl4pPr defTabSz="914400" eaLnBrk="1" hangingPunct="1" latinLnBrk="0" lvl="3" marL="1371600" rtl="0" algn="l">
      <a:defRPr kern="1200" sz="1800">
        <a:solidFill>
          <a:schemeClr val="tx1"/>
        </a:solidFill>
        <a:latin typeface="+mn-lt"/>
        <a:ea typeface="+mn-ea"/>
        <a:cs typeface="+mn-cs"/>
      </a:defRPr>
    </a:lvl4pPr>
    <a:lvl5pPr defTabSz="914400" eaLnBrk="1" hangingPunct="1" latinLnBrk="0" lvl="4" marL="1828800" rtl="0" algn="l">
      <a:defRPr kern="1200" sz="1800">
        <a:solidFill>
          <a:schemeClr val="tx1"/>
        </a:solidFill>
        <a:latin typeface="+mn-lt"/>
        <a:ea typeface="+mn-ea"/>
        <a:cs typeface="+mn-cs"/>
      </a:defRPr>
    </a:lvl5pPr>
    <a:lvl6pPr defTabSz="914400" eaLnBrk="1" hangingPunct="1" latinLnBrk="0" lvl="5" marL="2286000" rtl="0" algn="l">
      <a:defRPr kern="1200" sz="1800">
        <a:solidFill>
          <a:schemeClr val="tx1"/>
        </a:solidFill>
        <a:latin typeface="+mn-lt"/>
        <a:ea typeface="+mn-ea"/>
        <a:cs typeface="+mn-cs"/>
      </a:defRPr>
    </a:lvl6pPr>
    <a:lvl7pPr defTabSz="914400" eaLnBrk="1" hangingPunct="1" latinLnBrk="0" lvl="6" marL="2743200" rtl="0" algn="l">
      <a:defRPr kern="1200" sz="1800">
        <a:solidFill>
          <a:schemeClr val="tx1"/>
        </a:solidFill>
        <a:latin typeface="+mn-lt"/>
        <a:ea typeface="+mn-ea"/>
        <a:cs typeface="+mn-cs"/>
      </a:defRPr>
    </a:lvl7pPr>
    <a:lvl8pPr defTabSz="914400" eaLnBrk="1" hangingPunct="1" latinLnBrk="0" lvl="7" marL="3200400" rtl="0" algn="l">
      <a:defRPr kern="1200" sz="1800">
        <a:solidFill>
          <a:schemeClr val="tx1"/>
        </a:solidFill>
        <a:latin typeface="+mn-lt"/>
        <a:ea typeface="+mn-ea"/>
        <a:cs typeface="+mn-cs"/>
      </a:defRPr>
    </a:lvl8pPr>
    <a:lvl9pPr defTabSz="914400" eaLnBrk="1" hangingPunct="1" latinLnBrk="0" lvl="8" marL="3657600" rtl="0" algn="l">
      <a:defRPr kern="1200" sz="1800">
        <a:solidFill>
          <a:schemeClr val="tx1"/>
        </a:solidFill>
        <a:latin typeface="+mn-lt"/>
        <a:ea typeface="+mn-ea"/>
        <a:cs typeface="+mn-cs"/>
      </a:defRPr>
    </a:lvl9pPr>
  </p:defaultTextStyle>
</p:presentation>
</file>

<file path=ppt/presProps1.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1.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E6BDB3-D688-405C-9DDC-AE2515146C32}" type="datetimeFigureOut">
              <a:rPr lang="en-IN" smtClean="0"/>
              <a:t>17-02-2025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ABH</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1DFCB4-85C7-4B94-973A-576DD330C1E8}" type="slidenum">
              <a:rPr lang="en-IN" smtClean="0"/>
              <a:t>‹#›</a:t>
            </a:fld>
            <a:endParaRPr lang="en-IN"/>
          </a:p>
        </p:txBody>
      </p:sp>
    </p:spTree>
    <p:extLst>
      <p:ext uri="{BB962C8B-B14F-4D97-AF65-F5344CB8AC3E}">
        <p14:creationId xmlns:p14="http://schemas.microsoft.com/office/powerpoint/2010/main" val="275805002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3887613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415465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713394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97F2913-A93B-4DA8-9126-5BF51621ED1C}"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2429082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A97F2913-A93B-4DA8-9126-5BF51621ED1C}" type="datetimeFigureOut">
              <a:rPr lang="en-IN" smtClean="0"/>
              <a:t>17-02-2025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3855937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A97F2913-A93B-4DA8-9126-5BF51621ED1C}" type="datetimeFigureOut">
              <a:rPr lang="en-IN" smtClean="0"/>
              <a:t>17-02-2025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696685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7F2913-A93B-4DA8-9126-5BF51621ED1C}" type="datetimeFigureOut">
              <a:rPr lang="en-IN" smtClean="0"/>
              <a:t>17-02-2025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8494188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7F2913-A93B-4DA8-9126-5BF51621ED1C}"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0351423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7F2913-A93B-4DA8-9126-5BF51621ED1C}" type="datetimeFigureOut">
              <a:rPr lang="en-IN" smtClean="0"/>
              <a:t>17-02-2025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425986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173286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A97F2913-A93B-4DA8-9126-5BF51621ED1C}" type="datetimeFigureOut">
              <a:rPr lang="en-IN" smtClean="0"/>
              <a:t>17-02-2025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79ACD20-56C8-4FB2-A4C1-CEAF78CAA2E1}" type="slidenum">
              <a:rPr lang="en-IN" smtClean="0"/>
              <a:t>‹#›</a:t>
            </a:fld>
            <a:endParaRPr lang="en-IN"/>
          </a:p>
        </p:txBody>
      </p:sp>
    </p:spTree>
    <p:extLst>
      <p:ext uri="{BB962C8B-B14F-4D97-AF65-F5344CB8AC3E}">
        <p14:creationId xmlns:p14="http://schemas.microsoft.com/office/powerpoint/2010/main" val="1791764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accent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7F2913-A93B-4DA8-9126-5BF51621ED1C}" type="datetimeFigureOut">
              <a:rPr lang="en-IN" smtClean="0"/>
              <a:t>17-02-2025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9ACD20-56C8-4FB2-A4C1-CEAF78CAA2E1}" type="slidenum">
              <a:rPr lang="en-IN" smtClean="0"/>
              <a:t>‹#›</a:t>
            </a:fld>
            <a:endParaRPr lang="en-IN"/>
          </a:p>
        </p:txBody>
      </p:sp>
    </p:spTree>
    <p:extLst>
      <p:ext uri="{BB962C8B-B14F-4D97-AF65-F5344CB8AC3E}">
        <p14:creationId xmlns:p14="http://schemas.microsoft.com/office/powerpoint/2010/main" val="1286701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hyperlink" Target="https://www.geeksforgeeks.org/what-is-a-cryptocurrency/"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latin typeface="+mn-lt"/>
              </a:rPr>
              <a:t>Blockchain Technology</a:t>
            </a:r>
            <a:endParaRPr lang="en-IN" dirty="0">
              <a:latin typeface="+mn-lt"/>
            </a:endParaRPr>
          </a:p>
        </p:txBody>
      </p:sp>
      <p:sp>
        <p:nvSpPr>
          <p:cNvPr id="3" name="Subtitle 2"/>
          <p:cNvSpPr>
            <a:spLocks noGrp="1"/>
          </p:cNvSpPr>
          <p:nvPr>
            <p:ph type="subTitle" idx="1"/>
          </p:nvPr>
        </p:nvSpPr>
        <p:spPr/>
        <p:txBody>
          <a:bodyPr/>
          <a:lstStyle/>
          <a:p>
            <a:r>
              <a:rPr lang="en-IN" sz="1800" b="0" i="0" u="none" strike="noStrike" dirty="0">
                <a:solidFill>
                  <a:srgbClr val="000000"/>
                </a:solidFill>
                <a:effectLst/>
                <a:latin typeface="Calibri" panose="020F0502020204030204" pitchFamily="34" charset="0"/>
              </a:rPr>
              <a:t>BCSBT603</a:t>
            </a:r>
            <a:r>
              <a:rPr lang="en-IN" dirty="0"/>
              <a:t> </a:t>
            </a:r>
          </a:p>
        </p:txBody>
      </p:sp>
      <p:pic>
        <p:nvPicPr>
          <p:cNvPr id="4" name="Picture 3"/>
          <p:cNvPicPr>
            <a:picLocks noChangeAspect="1"/>
          </p:cNvPicPr>
          <p:nvPr/>
        </p:nvPicPr>
        <p:blipFill>
          <a:blip r:embed="rId2"/>
          <a:stretch>
            <a:fillRect/>
          </a:stretch>
        </p:blipFill>
        <p:spPr>
          <a:xfrm>
            <a:off x="2483094" y="0"/>
            <a:ext cx="7067550" cy="956164"/>
          </a:xfrm>
          <a:prstGeom prst="rect">
            <a:avLst/>
          </a:prstGeom>
        </p:spPr>
      </p:pic>
    </p:spTree>
    <p:extLst>
      <p:ext uri="{BB962C8B-B14F-4D97-AF65-F5344CB8AC3E}">
        <p14:creationId xmlns:p14="http://schemas.microsoft.com/office/powerpoint/2010/main" val="19679228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256F1A-A32F-DAB9-D3A7-CF00A2490A51}"/>
              </a:ext>
            </a:extLst>
          </p:cNvPr>
          <p:cNvSpPr>
            <a:spLocks noGrp="1"/>
          </p:cNvSpPr>
          <p:nvPr>
            <p:ph type="title"/>
          </p:nvPr>
        </p:nvSpPr>
        <p:spPr>
          <a:xfrm>
            <a:off x="706120" y="0"/>
            <a:ext cx="10515600" cy="1270000"/>
          </a:xfrm>
        </p:spPr>
        <p:txBody>
          <a:bodyPr>
            <a:normAutofit fontScale="90000"/>
          </a:bodyPr>
          <a:lstStyle/>
          <a:p>
            <a:pPr algn="ctr"/>
            <a:r>
              <a:rPr lang="en-US" dirty="0">
                <a:latin typeface="+mn-lt"/>
              </a:rPr>
              <a:t>Module 1: Blockchain</a:t>
            </a:r>
            <a:br>
              <a:rPr lang="en-US" dirty="0">
                <a:latin typeface="+mn-lt"/>
              </a:rPr>
            </a:br>
            <a:r>
              <a:rPr lang="en-US" dirty="0">
                <a:latin typeface="+mn-lt"/>
              </a:rPr>
              <a:t>Topics to be covered ….</a:t>
            </a:r>
            <a:endParaRPr lang="en-IN" dirty="0">
              <a:latin typeface="+mn-lt"/>
            </a:endParaRPr>
          </a:p>
        </p:txBody>
      </p:sp>
      <p:sp>
        <p:nvSpPr>
          <p:cNvPr id="3" name="Content Placeholder 2">
            <a:extLst>
              <a:ext uri="{FF2B5EF4-FFF2-40B4-BE49-F238E27FC236}">
                <a16:creationId xmlns:a16="http://schemas.microsoft.com/office/drawing/2014/main" id="{B9051D9E-8D03-058C-9B1D-7203B00595E6}"/>
              </a:ext>
            </a:extLst>
          </p:cNvPr>
          <p:cNvSpPr>
            <a:spLocks noGrp="1"/>
          </p:cNvSpPr>
          <p:nvPr>
            <p:ph idx="1"/>
          </p:nvPr>
        </p:nvSpPr>
        <p:spPr>
          <a:xfrm>
            <a:off x="706120" y="1270000"/>
            <a:ext cx="10647680" cy="5405119"/>
          </a:xfrm>
        </p:spPr>
        <p:txBody>
          <a:bodyPr>
            <a:normAutofit fontScale="92500" lnSpcReduction="10000"/>
          </a:bodyPr>
          <a:lstStyle/>
          <a:p>
            <a:pPr>
              <a:buFont typeface="Wingdings" panose="05000000000000000000" pitchFamily="2" charset="2"/>
              <a:buChar char="Ø"/>
            </a:pPr>
            <a:r>
              <a:rPr lang="en-US" dirty="0"/>
              <a:t> Distributed System</a:t>
            </a:r>
          </a:p>
          <a:p>
            <a:pPr>
              <a:buFont typeface="Wingdings" panose="05000000000000000000" pitchFamily="2" charset="2"/>
              <a:buChar char="Ø"/>
            </a:pPr>
            <a:r>
              <a:rPr lang="en-US" dirty="0"/>
              <a:t> CAP Theorem</a:t>
            </a:r>
          </a:p>
          <a:p>
            <a:pPr>
              <a:buFont typeface="Wingdings" panose="05000000000000000000" pitchFamily="2" charset="2"/>
              <a:buChar char="Ø"/>
            </a:pPr>
            <a:r>
              <a:rPr lang="en-US" dirty="0"/>
              <a:t> Byzantine Generals Problems</a:t>
            </a:r>
          </a:p>
          <a:p>
            <a:pPr>
              <a:buFont typeface="Wingdings" panose="05000000000000000000" pitchFamily="2" charset="2"/>
              <a:buChar char="Ø"/>
            </a:pPr>
            <a:r>
              <a:rPr lang="en-US" dirty="0"/>
              <a:t> Introduction to blockchain</a:t>
            </a:r>
          </a:p>
          <a:p>
            <a:pPr>
              <a:buFont typeface="Wingdings" panose="05000000000000000000" pitchFamily="2" charset="2"/>
              <a:buChar char="Ø"/>
            </a:pPr>
            <a:r>
              <a:rPr lang="en-US" dirty="0"/>
              <a:t> Various technical definitions of blockchains</a:t>
            </a:r>
          </a:p>
          <a:p>
            <a:pPr>
              <a:buFont typeface="Wingdings" panose="05000000000000000000" pitchFamily="2" charset="2"/>
              <a:buChar char="Ø"/>
            </a:pPr>
            <a:r>
              <a:rPr lang="en-US" dirty="0"/>
              <a:t> General elements of blockchain</a:t>
            </a:r>
          </a:p>
          <a:p>
            <a:pPr>
              <a:buFont typeface="Wingdings" panose="05000000000000000000" pitchFamily="2" charset="2"/>
              <a:buChar char="Ø"/>
            </a:pPr>
            <a:r>
              <a:rPr lang="en-US" dirty="0"/>
              <a:t> Features of blockchain</a:t>
            </a:r>
          </a:p>
          <a:p>
            <a:pPr>
              <a:buFont typeface="Wingdings" panose="05000000000000000000" pitchFamily="2" charset="2"/>
              <a:buChar char="Ø"/>
            </a:pPr>
            <a:r>
              <a:rPr lang="en-US" dirty="0"/>
              <a:t> Applications of blockchain</a:t>
            </a:r>
          </a:p>
          <a:p>
            <a:pPr>
              <a:buFont typeface="Wingdings" panose="05000000000000000000" pitchFamily="2" charset="2"/>
              <a:buChar char="Ø"/>
            </a:pPr>
            <a:r>
              <a:rPr lang="en-US" dirty="0"/>
              <a:t> Tiers of blockchain</a:t>
            </a:r>
          </a:p>
          <a:p>
            <a:pPr>
              <a:buFont typeface="Wingdings" panose="05000000000000000000" pitchFamily="2" charset="2"/>
              <a:buChar char="Ø"/>
            </a:pPr>
            <a:r>
              <a:rPr lang="en-US" dirty="0"/>
              <a:t> Benefits and limitations of Blockchain </a:t>
            </a:r>
          </a:p>
          <a:p>
            <a:pPr>
              <a:buFont typeface="Wingdings" panose="05000000000000000000" pitchFamily="2" charset="2"/>
              <a:buChar char="Ø"/>
            </a:pPr>
            <a:r>
              <a:rPr lang="en-US" dirty="0"/>
              <a:t> Consensus</a:t>
            </a:r>
          </a:p>
          <a:p>
            <a:pPr>
              <a:buFont typeface="Wingdings" panose="05000000000000000000" pitchFamily="2" charset="2"/>
              <a:buChar char="Ø"/>
            </a:pPr>
            <a:r>
              <a:rPr lang="en-US" dirty="0"/>
              <a:t>Types of Blockchain</a:t>
            </a:r>
          </a:p>
          <a:p>
            <a:pPr>
              <a:buFont typeface="Wingdings" panose="05000000000000000000" pitchFamily="2" charset="2"/>
              <a:buChar char="Ø"/>
            </a:pPr>
            <a:endParaRPr lang="en-IN" dirty="0"/>
          </a:p>
          <a:p>
            <a:endParaRPr lang="en-IN" dirty="0"/>
          </a:p>
        </p:txBody>
      </p:sp>
    </p:spTree>
    <p:extLst>
      <p:ext uri="{BB962C8B-B14F-4D97-AF65-F5344CB8AC3E}">
        <p14:creationId xmlns:p14="http://schemas.microsoft.com/office/powerpoint/2010/main" val="1050447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7504"/>
            <a:ext cx="10515600" cy="900113"/>
          </a:xfrm>
        </p:spPr>
        <p:txBody>
          <a:bodyPr/>
          <a:lstStyle/>
          <a:p>
            <a:pPr algn="ctr"/>
            <a:r>
              <a:rPr lang="en-US" b="1" dirty="0">
                <a:latin typeface="+mn-lt"/>
              </a:rPr>
              <a:t>Distributed systems</a:t>
            </a:r>
            <a:endParaRPr lang="en-IN" b="1" dirty="0">
              <a:latin typeface="+mn-lt"/>
            </a:endParaRPr>
          </a:p>
        </p:txBody>
      </p:sp>
      <p:sp>
        <p:nvSpPr>
          <p:cNvPr id="3" name="Content Placeholder 2"/>
          <p:cNvSpPr>
            <a:spLocks noGrp="1"/>
          </p:cNvSpPr>
          <p:nvPr>
            <p:ph idx="1"/>
          </p:nvPr>
        </p:nvSpPr>
        <p:spPr>
          <a:xfrm>
            <a:off x="701040" y="1047617"/>
            <a:ext cx="10652760" cy="5662879"/>
          </a:xfrm>
        </p:spPr>
        <p:txBody>
          <a:bodyPr/>
          <a:lstStyle/>
          <a:p>
            <a:r>
              <a:rPr lang="en-IN" sz="2000" dirty="0">
                <a:latin typeface="Times New Roman" panose="02020603050405020304" pitchFamily="18" charset="0"/>
                <a:cs typeface="Times New Roman" panose="02020603050405020304" pitchFamily="18" charset="0"/>
              </a:rPr>
              <a:t>Two or more nodes work with each other in a coordinated fashion in order to achieve a common outcome.</a:t>
            </a:r>
          </a:p>
          <a:p>
            <a:endParaRPr lang="en-IN" sz="2000" dirty="0">
              <a:latin typeface="Times New Roman" panose="02020603050405020304" pitchFamily="18" charset="0"/>
              <a:cs typeface="Times New Roman" panose="02020603050405020304" pitchFamily="18" charset="0"/>
            </a:endParaRPr>
          </a:p>
          <a:p>
            <a:pPr lvl="1">
              <a:buFont typeface="Wingdings" panose="05000000000000000000" pitchFamily="2" charset="2"/>
              <a:buChar char="Ø"/>
            </a:pPr>
            <a:endParaRPr lang="en-GB" dirty="0"/>
          </a:p>
        </p:txBody>
      </p:sp>
      <p:pic>
        <p:nvPicPr>
          <p:cNvPr id="4" name="Content Placeholder 4" descr="Diagram&#10;&#10;Description automatically generated">
            <a:extLst>
              <a:ext uri="{FF2B5EF4-FFF2-40B4-BE49-F238E27FC236}">
                <a16:creationId xmlns:a16="http://schemas.microsoft.com/office/drawing/2014/main" id="{9355C7AF-2527-4510-8F02-FC0229B6BB61}"/>
              </a:ext>
            </a:extLst>
          </p:cNvPr>
          <p:cNvPicPr>
            <a:picLocks noChangeAspect="1"/>
          </p:cNvPicPr>
          <p:nvPr/>
        </p:nvPicPr>
        <p:blipFill rotWithShape="1">
          <a:blip r:embed="rId2">
            <a:extLst>
              <a:ext uri="{28A0092B-C50C-407E-A947-70E740481C1C}">
                <a14:useLocalDpi xmlns:a14="http://schemas.microsoft.com/office/drawing/2010/main" val="0"/>
              </a:ext>
            </a:extLst>
          </a:blip>
          <a:srcRect l="2422" t="15721" r="13451" b="19067"/>
          <a:stretch/>
        </p:blipFill>
        <p:spPr>
          <a:xfrm>
            <a:off x="475530" y="1686560"/>
            <a:ext cx="10817963" cy="4187486"/>
          </a:xfrm>
          <a:prstGeom prst="rect">
            <a:avLst/>
          </a:prstGeom>
        </p:spPr>
      </p:pic>
    </p:spTree>
    <p:extLst>
      <p:ext uri="{BB962C8B-B14F-4D97-AF65-F5344CB8AC3E}">
        <p14:creationId xmlns:p14="http://schemas.microsoft.com/office/powerpoint/2010/main" val="3106918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51840" y="680720"/>
            <a:ext cx="10962640" cy="8217634"/>
          </a:xfrm>
          <a:prstGeom prst="rect">
            <a:avLst/>
          </a:prstGeom>
        </p:spPr>
        <p:txBody>
          <a:bodyPr wrap="square">
            <a:spAutoFit/>
          </a:bodyPr>
          <a:lstStyle/>
          <a:p>
            <a:r>
              <a:rPr lang="en-GB" sz="2000" dirty="0">
                <a:latin typeface="Times New Roman" panose="02020603050405020304" pitchFamily="18" charset="0"/>
                <a:cs typeface="Times New Roman" panose="02020603050405020304" pitchFamily="18" charset="0"/>
              </a:rPr>
              <a:t>Node can be:</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individual player</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sending and receiving messages</a:t>
            </a:r>
          </a:p>
          <a:p>
            <a:pPr lvl="1">
              <a:lnSpc>
                <a:spcPct val="200000"/>
              </a:lnSpc>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honest,faulty</a:t>
            </a:r>
            <a:r>
              <a:rPr lang="en-IN" sz="2000" dirty="0">
                <a:latin typeface="Times New Roman" panose="02020603050405020304" pitchFamily="18" charset="0"/>
                <a:cs typeface="Times New Roman" panose="02020603050405020304" pitchFamily="18" charset="0"/>
              </a:rPr>
              <a:t>, or malicious</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Memory and processor </a:t>
            </a:r>
          </a:p>
          <a:p>
            <a:pPr lvl="1">
              <a:lnSpc>
                <a:spcPct val="20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Exhibit arbitrary </a:t>
            </a:r>
            <a:r>
              <a:rPr lang="en-IN" sz="2000" dirty="0" err="1">
                <a:latin typeface="Times New Roman" panose="02020603050405020304" pitchFamily="18" charset="0"/>
                <a:cs typeface="Times New Roman" panose="02020603050405020304" pitchFamily="18" charset="0"/>
              </a:rPr>
              <a:t>behavior</a:t>
            </a:r>
            <a:r>
              <a:rPr lang="en-IN" sz="2000" dirty="0">
                <a:latin typeface="Times New Roman" panose="02020603050405020304" pitchFamily="18" charset="0"/>
                <a:cs typeface="Times New Roman" panose="02020603050405020304" pitchFamily="18" charset="0"/>
              </a:rPr>
              <a:t> - Byzantine node.</a:t>
            </a:r>
            <a:endParaRPr lang="en-IN" sz="2000" b="1" dirty="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Challenge in distributed system</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Coordination</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Fault tolerance</a:t>
            </a:r>
          </a:p>
          <a:p>
            <a:pPr marL="285750" indent="-285750">
              <a:lnSpc>
                <a:spcPct val="20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Desired result</a:t>
            </a:r>
            <a:endParaRPr lang="en-IN" sz="2000" b="0" i="0" u="none" strike="noStrike" baseline="0" dirty="0">
              <a:latin typeface="Times New Roman" panose="02020603050405020304" pitchFamily="18" charset="0"/>
              <a:cs typeface="Times New Roman" panose="02020603050405020304" pitchFamily="18" charset="0"/>
            </a:endParaRPr>
          </a:p>
          <a:p>
            <a:endParaRPr lang="en-GB" sz="1400" dirty="0">
              <a:latin typeface="Times New Roman" panose="02020603050405020304" pitchFamily="18" charset="0"/>
              <a:cs typeface="Times New Roman" panose="02020603050405020304" pitchFamily="18" charset="0"/>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GB" sz="800" dirty="0">
              <a:latin typeface="FreeSerif"/>
            </a:endParaRPr>
          </a:p>
          <a:p>
            <a:endParaRPr lang="en-IN" dirty="0"/>
          </a:p>
        </p:txBody>
      </p:sp>
    </p:spTree>
    <p:extLst>
      <p:ext uri="{BB962C8B-B14F-4D97-AF65-F5344CB8AC3E}">
        <p14:creationId xmlns:p14="http://schemas.microsoft.com/office/powerpoint/2010/main" val="30387952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5985EB8-864D-22AD-FE0A-D06D1F5ABBC2}"/>
              </a:ext>
            </a:extLst>
          </p:cNvPr>
          <p:cNvPicPr>
            <a:picLocks noChangeAspect="1"/>
          </p:cNvPicPr>
          <p:nvPr/>
        </p:nvPicPr>
        <p:blipFill>
          <a:blip r:embed="rId2"/>
          <a:stretch>
            <a:fillRect/>
          </a:stretch>
        </p:blipFill>
        <p:spPr>
          <a:xfrm>
            <a:off x="513492" y="822960"/>
            <a:ext cx="10825067" cy="5577523"/>
          </a:xfrm>
          <a:prstGeom prst="rect">
            <a:avLst/>
          </a:prstGeom>
        </p:spPr>
      </p:pic>
    </p:spTree>
    <p:extLst>
      <p:ext uri="{BB962C8B-B14F-4D97-AF65-F5344CB8AC3E}">
        <p14:creationId xmlns:p14="http://schemas.microsoft.com/office/powerpoint/2010/main" val="356700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36880" y="946004"/>
            <a:ext cx="10916920" cy="5220799"/>
          </a:xfrm>
        </p:spPr>
        <p:txBody>
          <a:bodyPr>
            <a:normAutofit/>
          </a:bodyPr>
          <a:lstStyle/>
          <a:p>
            <a:pPr>
              <a:lnSpc>
                <a:spcPct val="150000"/>
              </a:lnSpc>
            </a:pPr>
            <a:r>
              <a:rPr lang="en-GB" sz="2500" dirty="0"/>
              <a:t>Examples for Distributed systems</a:t>
            </a:r>
          </a:p>
          <a:p>
            <a:pPr>
              <a:lnSpc>
                <a:spcPct val="150000"/>
              </a:lnSpc>
              <a:buFont typeface="Wingdings" panose="05000000000000000000" pitchFamily="2" charset="2"/>
              <a:buChar char="Ø"/>
            </a:pPr>
            <a:r>
              <a:rPr lang="en-GB" sz="2500" dirty="0"/>
              <a:t>Telephone and Cellular systems</a:t>
            </a:r>
          </a:p>
          <a:p>
            <a:pPr>
              <a:lnSpc>
                <a:spcPct val="150000"/>
              </a:lnSpc>
              <a:buFont typeface="Wingdings" panose="05000000000000000000" pitchFamily="2" charset="2"/>
              <a:buChar char="Ø"/>
            </a:pPr>
            <a:r>
              <a:rPr lang="en-GB" sz="2500" dirty="0"/>
              <a:t>Wireless sensor networks</a:t>
            </a:r>
          </a:p>
          <a:p>
            <a:pPr>
              <a:lnSpc>
                <a:spcPct val="150000"/>
              </a:lnSpc>
              <a:buFont typeface="Wingdings" panose="05000000000000000000" pitchFamily="2" charset="2"/>
              <a:buChar char="Ø"/>
            </a:pPr>
            <a:r>
              <a:rPr lang="en-GB" sz="2500" dirty="0"/>
              <a:t>Routing algorithm</a:t>
            </a:r>
          </a:p>
          <a:p>
            <a:pPr>
              <a:lnSpc>
                <a:spcPct val="150000"/>
              </a:lnSpc>
              <a:buFont typeface="Wingdings" panose="05000000000000000000" pitchFamily="2" charset="2"/>
              <a:buChar char="Ø"/>
            </a:pPr>
            <a:r>
              <a:rPr lang="en-GB" sz="2500" dirty="0"/>
              <a:t>Peer to peer networks</a:t>
            </a:r>
          </a:p>
          <a:p>
            <a:pPr>
              <a:lnSpc>
                <a:spcPct val="150000"/>
              </a:lnSpc>
              <a:buFont typeface="Wingdings" panose="05000000000000000000" pitchFamily="2" charset="2"/>
              <a:buChar char="Ø"/>
            </a:pPr>
            <a:r>
              <a:rPr lang="en-GB" sz="2500" dirty="0"/>
              <a:t>Multiplayer online games</a:t>
            </a:r>
          </a:p>
          <a:p>
            <a:pPr>
              <a:lnSpc>
                <a:spcPct val="150000"/>
              </a:lnSpc>
              <a:buFont typeface="Wingdings" panose="05000000000000000000" pitchFamily="2" charset="2"/>
              <a:buChar char="Ø"/>
            </a:pPr>
            <a:r>
              <a:rPr lang="en-GB" sz="2500" dirty="0"/>
              <a:t>Virtual reality communities</a:t>
            </a:r>
            <a:endParaRPr lang="en-IN" sz="2500" dirty="0"/>
          </a:p>
        </p:txBody>
      </p:sp>
    </p:spTree>
    <p:extLst>
      <p:ext uri="{BB962C8B-B14F-4D97-AF65-F5344CB8AC3E}">
        <p14:creationId xmlns:p14="http://schemas.microsoft.com/office/powerpoint/2010/main" val="35261954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5020" y="0"/>
            <a:ext cx="10515600" cy="966788"/>
          </a:xfrm>
        </p:spPr>
        <p:txBody>
          <a:bodyPr/>
          <a:lstStyle/>
          <a:p>
            <a:pPr algn="ctr"/>
            <a:r>
              <a:rPr lang="en-IN" b="1" dirty="0">
                <a:latin typeface="+mn-lt"/>
              </a:rPr>
              <a:t>CAP theorem</a:t>
            </a:r>
            <a:endParaRPr lang="en-IN" dirty="0">
              <a:latin typeface="+mn-lt"/>
            </a:endParaRPr>
          </a:p>
        </p:txBody>
      </p:sp>
      <p:sp>
        <p:nvSpPr>
          <p:cNvPr id="3" name="Content Placeholder 2"/>
          <p:cNvSpPr>
            <a:spLocks noGrp="1"/>
          </p:cNvSpPr>
          <p:nvPr>
            <p:ph idx="1"/>
          </p:nvPr>
        </p:nvSpPr>
        <p:spPr>
          <a:xfrm>
            <a:off x="795020" y="843280"/>
            <a:ext cx="10558780" cy="5801359"/>
          </a:xfrm>
        </p:spPr>
        <p:txBody>
          <a:bodyPr>
            <a:normAutofit fontScale="92500" lnSpcReduction="20000"/>
          </a:bodyPr>
          <a:lstStyle/>
          <a:p>
            <a:r>
              <a:rPr lang="en-IN" dirty="0"/>
              <a:t>The theorem states that any distributed system cannot have Consistency, Availability, and Partition tolerance simultaneously.</a:t>
            </a:r>
          </a:p>
          <a:p>
            <a:pPr algn="just">
              <a:lnSpc>
                <a:spcPct val="120000"/>
              </a:lnSpc>
            </a:pPr>
            <a:r>
              <a:rPr lang="en-US" dirty="0"/>
              <a:t>This is also known as </a:t>
            </a:r>
            <a:r>
              <a:rPr lang="en-US" b="1" u="sng" dirty="0"/>
              <a:t>Brewer's theorem.</a:t>
            </a:r>
          </a:p>
          <a:p>
            <a:pPr algn="just">
              <a:lnSpc>
                <a:spcPct val="120000"/>
              </a:lnSpc>
            </a:pPr>
            <a:r>
              <a:rPr lang="en-US" dirty="0"/>
              <a:t>Distributed systems are so challenging to design so that all the features cannot be fulfilled simultaneously.</a:t>
            </a:r>
          </a:p>
          <a:p>
            <a:endParaRPr lang="en-IN" dirty="0"/>
          </a:p>
          <a:p>
            <a:pPr>
              <a:buFont typeface="Wingdings" panose="05000000000000000000" pitchFamily="2" charset="2"/>
              <a:buChar char="Ø"/>
            </a:pPr>
            <a:r>
              <a:rPr lang="en-IN" b="1" dirty="0">
                <a:solidFill>
                  <a:srgbClr val="FF0000"/>
                </a:solidFill>
              </a:rPr>
              <a:t>C</a:t>
            </a:r>
            <a:r>
              <a:rPr lang="en-IN" b="1" dirty="0"/>
              <a:t>onsistency </a:t>
            </a:r>
            <a:r>
              <a:rPr lang="en-IN" b="1" dirty="0">
                <a:sym typeface="Wingdings" panose="05000000000000000000" pitchFamily="2" charset="2"/>
              </a:rPr>
              <a:t> Same data everywhere .</a:t>
            </a:r>
          </a:p>
          <a:p>
            <a:pPr marL="457200" lvl="1" indent="0">
              <a:buNone/>
            </a:pPr>
            <a:r>
              <a:rPr lang="en-IN" b="1" dirty="0">
                <a:sym typeface="Wingdings" panose="05000000000000000000" pitchFamily="2" charset="2"/>
              </a:rPr>
              <a:t>                               Immediate Replication.</a:t>
            </a:r>
          </a:p>
          <a:p>
            <a:pPr marL="457200" lvl="1" indent="0">
              <a:buNone/>
            </a:pPr>
            <a:r>
              <a:rPr lang="en-IN" b="1" dirty="0">
                <a:sym typeface="Wingdings" panose="05000000000000000000" pitchFamily="2" charset="2"/>
              </a:rPr>
              <a:t>                               Broadcast to all nodes.</a:t>
            </a:r>
            <a:endParaRPr lang="en-IN" dirty="0"/>
          </a:p>
          <a:p>
            <a:pPr>
              <a:buFont typeface="Wingdings" panose="05000000000000000000" pitchFamily="2" charset="2"/>
              <a:buChar char="Ø"/>
            </a:pPr>
            <a:r>
              <a:rPr lang="en-IN" b="1" dirty="0">
                <a:solidFill>
                  <a:srgbClr val="FF0000"/>
                </a:solidFill>
              </a:rPr>
              <a:t>A</a:t>
            </a:r>
            <a:r>
              <a:rPr lang="en-IN" b="1" dirty="0"/>
              <a:t>vailability </a:t>
            </a:r>
            <a:r>
              <a:rPr lang="en-IN" b="1" dirty="0">
                <a:sym typeface="Wingdings" panose="05000000000000000000" pitchFamily="2" charset="2"/>
              </a:rPr>
              <a:t>Always accessible,</a:t>
            </a:r>
          </a:p>
          <a:p>
            <a:pPr marL="0" indent="0">
              <a:buNone/>
            </a:pPr>
            <a:r>
              <a:rPr lang="en-IN" b="1" dirty="0">
                <a:sym typeface="Wingdings" panose="05000000000000000000" pitchFamily="2" charset="2"/>
              </a:rPr>
              <a:t>                             Responsive node.</a:t>
            </a:r>
          </a:p>
          <a:p>
            <a:pPr marL="0" indent="0">
              <a:buNone/>
            </a:pPr>
            <a:r>
              <a:rPr lang="en-IN" b="1" dirty="0">
                <a:sym typeface="Wingdings" panose="05000000000000000000" pitchFamily="2" charset="2"/>
              </a:rPr>
              <a:t>                             Working nodes</a:t>
            </a:r>
            <a:r>
              <a:rPr lang="en-IN" dirty="0"/>
              <a:t>.</a:t>
            </a:r>
          </a:p>
          <a:p>
            <a:pPr>
              <a:buFont typeface="Wingdings" panose="05000000000000000000" pitchFamily="2" charset="2"/>
              <a:buChar char="Ø"/>
            </a:pPr>
            <a:r>
              <a:rPr lang="en-IN" b="1" dirty="0">
                <a:solidFill>
                  <a:srgbClr val="FF0000"/>
                </a:solidFill>
              </a:rPr>
              <a:t>P</a:t>
            </a:r>
            <a:r>
              <a:rPr lang="en-IN" b="1" dirty="0"/>
              <a:t>artition tolerance</a:t>
            </a:r>
            <a:r>
              <a:rPr lang="en-IN" b="1" dirty="0">
                <a:sym typeface="Wingdings" panose="05000000000000000000" pitchFamily="2" charset="2"/>
              </a:rPr>
              <a:t> Regardless of the breakdown in the communication between the nodes it continues the functional.</a:t>
            </a:r>
            <a:endParaRPr lang="en-IN" dirty="0"/>
          </a:p>
        </p:txBody>
      </p:sp>
    </p:spTree>
    <p:extLst>
      <p:ext uri="{BB962C8B-B14F-4D97-AF65-F5344CB8AC3E}">
        <p14:creationId xmlns:p14="http://schemas.microsoft.com/office/powerpoint/2010/main" val="3515636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diagram&#10;&#10;Description automatically generated">
            <a:extLst>
              <a:ext uri="{FF2B5EF4-FFF2-40B4-BE49-F238E27FC236}">
                <a16:creationId xmlns:a16="http://schemas.microsoft.com/office/drawing/2014/main" id="{EBDF719A-44B2-84D7-A151-D143AC3307F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5298" y="924560"/>
            <a:ext cx="11224222" cy="5252403"/>
          </a:xfrm>
        </p:spPr>
      </p:pic>
    </p:spTree>
    <p:extLst>
      <p:ext uri="{BB962C8B-B14F-4D97-AF65-F5344CB8AC3E}">
        <p14:creationId xmlns:p14="http://schemas.microsoft.com/office/powerpoint/2010/main" val="1254994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13F56-F28E-13EE-509E-A315A9664F8F}"/>
              </a:ext>
            </a:extLst>
          </p:cNvPr>
          <p:cNvSpPr>
            <a:spLocks noGrp="1"/>
          </p:cNvSpPr>
          <p:nvPr>
            <p:ph type="title"/>
          </p:nvPr>
        </p:nvSpPr>
        <p:spPr>
          <a:xfrm>
            <a:off x="1102360" y="18255"/>
            <a:ext cx="10515600" cy="1325563"/>
          </a:xfrm>
        </p:spPr>
        <p:txBody>
          <a:bodyPr/>
          <a:lstStyle/>
          <a:p>
            <a:pPr algn="ctr"/>
            <a:r>
              <a:rPr lang="en-IN" b="1" dirty="0">
                <a:latin typeface="+mn-lt"/>
              </a:rPr>
              <a:t>Byzantine Generals problem</a:t>
            </a:r>
            <a:endParaRPr lang="en-IN" dirty="0">
              <a:latin typeface="+mn-lt"/>
            </a:endParaRPr>
          </a:p>
        </p:txBody>
      </p:sp>
      <p:sp>
        <p:nvSpPr>
          <p:cNvPr id="3" name="Content Placeholder 2">
            <a:extLst>
              <a:ext uri="{FF2B5EF4-FFF2-40B4-BE49-F238E27FC236}">
                <a16:creationId xmlns:a16="http://schemas.microsoft.com/office/drawing/2014/main" id="{36CA1290-C593-71D4-3C0A-DF31812C496C}"/>
              </a:ext>
            </a:extLst>
          </p:cNvPr>
          <p:cNvSpPr>
            <a:spLocks noGrp="1"/>
          </p:cNvSpPr>
          <p:nvPr>
            <p:ph idx="1"/>
          </p:nvPr>
        </p:nvSpPr>
        <p:spPr>
          <a:xfrm>
            <a:off x="838200" y="1343819"/>
            <a:ext cx="10779760" cy="4528662"/>
          </a:xfrm>
        </p:spPr>
        <p:txBody>
          <a:bodyPr>
            <a:normAutofit/>
          </a:bodyPr>
          <a:lstStyle/>
          <a:p>
            <a:pPr algn="just">
              <a:buFont typeface="Wingdings" panose="05000000000000000000" pitchFamily="2" charset="2"/>
              <a:buChar char="Ø"/>
            </a:pPr>
            <a:r>
              <a:rPr lang="en-IN" dirty="0"/>
              <a:t>Compared to the distributed system where the traitor is compared to Byzantine node, Generals to nodes and messenger to the communication	channel. </a:t>
            </a:r>
          </a:p>
          <a:p>
            <a:pPr algn="just">
              <a:buFont typeface="Wingdings" panose="05000000000000000000" pitchFamily="2" charset="2"/>
              <a:buChar char="Ø"/>
            </a:pPr>
            <a:r>
              <a:rPr lang="en-IN" dirty="0"/>
              <a:t>Basically, in a distributed system it is difficult to rely on the single truth as the identity of a person cannot be verified.</a:t>
            </a:r>
          </a:p>
          <a:p>
            <a:pPr algn="just">
              <a:buFont typeface="Wingdings" panose="05000000000000000000" pitchFamily="2" charset="2"/>
              <a:buChar char="Ø"/>
            </a:pPr>
            <a:r>
              <a:rPr lang="en-IN" dirty="0"/>
              <a:t>This problem was solved with the implementation of Proof Of Work(POW) algorithm to achieve consensus.</a:t>
            </a:r>
          </a:p>
          <a:p>
            <a:endParaRPr lang="en-IN" dirty="0"/>
          </a:p>
        </p:txBody>
      </p:sp>
    </p:spTree>
    <p:extLst>
      <p:ext uri="{BB962C8B-B14F-4D97-AF65-F5344CB8AC3E}">
        <p14:creationId xmlns:p14="http://schemas.microsoft.com/office/powerpoint/2010/main" val="1174381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660" y="138905"/>
            <a:ext cx="10515600" cy="881063"/>
          </a:xfrm>
        </p:spPr>
        <p:txBody>
          <a:bodyPr/>
          <a:lstStyle/>
          <a:p>
            <a:pPr algn="ctr"/>
            <a:r>
              <a:rPr lang="en-IN" b="1" dirty="0"/>
              <a:t>Byzantine Generals problem</a:t>
            </a:r>
            <a:endParaRPr lang="en-IN" dirty="0"/>
          </a:p>
        </p:txBody>
      </p:sp>
      <p:sp>
        <p:nvSpPr>
          <p:cNvPr id="3" name="Content Placeholder 2"/>
          <p:cNvSpPr>
            <a:spLocks noGrp="1"/>
          </p:cNvSpPr>
          <p:nvPr>
            <p:ph idx="1"/>
          </p:nvPr>
        </p:nvSpPr>
        <p:spPr>
          <a:xfrm>
            <a:off x="713740" y="1166568"/>
            <a:ext cx="10764520" cy="5111995"/>
          </a:xfrm>
        </p:spPr>
        <p:txBody>
          <a:bodyPr/>
          <a:lstStyle/>
          <a:p>
            <a:endParaRPr lang="en-US" dirty="0"/>
          </a:p>
          <a:p>
            <a:r>
              <a:rPr lang="en-US" dirty="0"/>
              <a:t>Byzantine generals were about to attack the city.</a:t>
            </a:r>
            <a:endParaRPr lang="en-IN" dirty="0"/>
          </a:p>
          <a:p>
            <a:endParaRPr lang="en-IN" dirty="0"/>
          </a:p>
        </p:txBody>
      </p:sp>
      <p:pic>
        <p:nvPicPr>
          <p:cNvPr id="4" name="Picture 3"/>
          <p:cNvPicPr>
            <a:picLocks noChangeAspect="1"/>
          </p:cNvPicPr>
          <p:nvPr/>
        </p:nvPicPr>
        <p:blipFill>
          <a:blip r:embed="rId2"/>
          <a:stretch>
            <a:fillRect/>
          </a:stretch>
        </p:blipFill>
        <p:spPr>
          <a:xfrm>
            <a:off x="1016977" y="3127864"/>
            <a:ext cx="2842846" cy="2665168"/>
          </a:xfrm>
          <a:prstGeom prst="rect">
            <a:avLst/>
          </a:prstGeom>
        </p:spPr>
      </p:pic>
      <p:pic>
        <p:nvPicPr>
          <p:cNvPr id="5" name="Picture 4"/>
          <p:cNvPicPr>
            <a:picLocks noChangeAspect="1"/>
          </p:cNvPicPr>
          <p:nvPr/>
        </p:nvPicPr>
        <p:blipFill>
          <a:blip r:embed="rId3"/>
          <a:stretch>
            <a:fillRect/>
          </a:stretch>
        </p:blipFill>
        <p:spPr>
          <a:xfrm>
            <a:off x="4038600" y="3127864"/>
            <a:ext cx="3039940" cy="2770360"/>
          </a:xfrm>
          <a:prstGeom prst="rect">
            <a:avLst/>
          </a:prstGeom>
        </p:spPr>
      </p:pic>
      <p:pic>
        <p:nvPicPr>
          <p:cNvPr id="6" name="Picture 5"/>
          <p:cNvPicPr>
            <a:picLocks noChangeAspect="1"/>
          </p:cNvPicPr>
          <p:nvPr/>
        </p:nvPicPr>
        <p:blipFill>
          <a:blip r:embed="rId4"/>
          <a:stretch>
            <a:fillRect/>
          </a:stretch>
        </p:blipFill>
        <p:spPr>
          <a:xfrm>
            <a:off x="7574206" y="2921890"/>
            <a:ext cx="3283927" cy="3077115"/>
          </a:xfrm>
          <a:prstGeom prst="rect">
            <a:avLst/>
          </a:prstGeom>
        </p:spPr>
      </p:pic>
    </p:spTree>
    <p:extLst>
      <p:ext uri="{BB962C8B-B14F-4D97-AF65-F5344CB8AC3E}">
        <p14:creationId xmlns:p14="http://schemas.microsoft.com/office/powerpoint/2010/main" val="18335653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440" y="457199"/>
            <a:ext cx="10515600" cy="1088009"/>
          </a:xfrm>
        </p:spPr>
        <p:txBody>
          <a:bodyPr>
            <a:normAutofit fontScale="90000"/>
          </a:bodyPr>
          <a:lstStyle/>
          <a:p>
            <a:pPr algn="ctr"/>
            <a:r>
              <a:rPr lang="en-IN" b="1" dirty="0"/>
              <a:t>Byzantine Generals problem</a:t>
            </a:r>
            <a:br>
              <a:rPr lang="en-IN" b="1" dirty="0"/>
            </a:br>
            <a:r>
              <a:rPr lang="en-IN" dirty="0"/>
              <a:t> </a:t>
            </a:r>
          </a:p>
        </p:txBody>
      </p:sp>
      <p:pic>
        <p:nvPicPr>
          <p:cNvPr id="4" name="Picture 3"/>
          <p:cNvPicPr>
            <a:picLocks noChangeAspect="1"/>
          </p:cNvPicPr>
          <p:nvPr/>
        </p:nvPicPr>
        <p:blipFill>
          <a:blip r:embed="rId2"/>
          <a:stretch>
            <a:fillRect/>
          </a:stretch>
        </p:blipFill>
        <p:spPr>
          <a:xfrm>
            <a:off x="592381" y="2445838"/>
            <a:ext cx="3161092" cy="2903294"/>
          </a:xfrm>
          <a:prstGeom prst="rect">
            <a:avLst/>
          </a:prstGeom>
        </p:spPr>
      </p:pic>
      <p:pic>
        <p:nvPicPr>
          <p:cNvPr id="5" name="Picture 4"/>
          <p:cNvPicPr>
            <a:picLocks noChangeAspect="1"/>
          </p:cNvPicPr>
          <p:nvPr/>
        </p:nvPicPr>
        <p:blipFill>
          <a:blip r:embed="rId3"/>
          <a:stretch>
            <a:fillRect/>
          </a:stretch>
        </p:blipFill>
        <p:spPr>
          <a:xfrm>
            <a:off x="4408359" y="2482178"/>
            <a:ext cx="3100754" cy="2830613"/>
          </a:xfrm>
          <a:prstGeom prst="rect">
            <a:avLst/>
          </a:prstGeom>
        </p:spPr>
      </p:pic>
      <p:pic>
        <p:nvPicPr>
          <p:cNvPr id="6" name="Picture 5"/>
          <p:cNvPicPr>
            <a:picLocks noChangeAspect="1"/>
          </p:cNvPicPr>
          <p:nvPr/>
        </p:nvPicPr>
        <p:blipFill>
          <a:blip r:embed="rId4"/>
          <a:stretch>
            <a:fillRect/>
          </a:stretch>
        </p:blipFill>
        <p:spPr>
          <a:xfrm>
            <a:off x="8210889" y="2482178"/>
            <a:ext cx="3142911" cy="2824568"/>
          </a:xfrm>
          <a:prstGeom prst="rect">
            <a:avLst/>
          </a:prstGeom>
        </p:spPr>
      </p:pic>
    </p:spTree>
    <p:extLst>
      <p:ext uri="{BB962C8B-B14F-4D97-AF65-F5344CB8AC3E}">
        <p14:creationId xmlns:p14="http://schemas.microsoft.com/office/powerpoint/2010/main" val="28208472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140" y="-193040"/>
            <a:ext cx="10515600" cy="1325563"/>
          </a:xfrm>
        </p:spPr>
        <p:txBody>
          <a:bodyPr/>
          <a:lstStyle/>
          <a:p>
            <a:pPr algn="ctr"/>
            <a:r>
              <a:rPr lang="en-IN" b="1" dirty="0"/>
              <a:t>Byzantine Generals problem</a:t>
            </a:r>
            <a:endParaRPr lang="en-IN" dirty="0"/>
          </a:p>
        </p:txBody>
      </p:sp>
      <p:pic>
        <p:nvPicPr>
          <p:cNvPr id="5" name="Picture 4"/>
          <p:cNvPicPr>
            <a:picLocks noChangeAspect="1"/>
          </p:cNvPicPr>
          <p:nvPr/>
        </p:nvPicPr>
        <p:blipFill>
          <a:blip r:embed="rId2"/>
          <a:stretch>
            <a:fillRect/>
          </a:stretch>
        </p:blipFill>
        <p:spPr>
          <a:xfrm>
            <a:off x="555506" y="1432560"/>
            <a:ext cx="11067534" cy="3968364"/>
          </a:xfrm>
          <a:prstGeom prst="rect">
            <a:avLst/>
          </a:prstGeom>
        </p:spPr>
      </p:pic>
      <p:sp>
        <p:nvSpPr>
          <p:cNvPr id="6" name="Rectangle 5"/>
          <p:cNvSpPr/>
          <p:nvPr/>
        </p:nvSpPr>
        <p:spPr>
          <a:xfrm>
            <a:off x="914400" y="5612448"/>
            <a:ext cx="8321040" cy="465320"/>
          </a:xfrm>
          <a:prstGeom prst="rect">
            <a:avLst/>
          </a:prstGeom>
        </p:spPr>
        <p:txBody>
          <a:bodyPr wrap="square">
            <a:spAutoFit/>
          </a:bodyPr>
          <a:lstStyle/>
          <a:p>
            <a:pPr algn="just">
              <a:lnSpc>
                <a:spcPct val="150000"/>
              </a:lnSpc>
            </a:pPr>
            <a:r>
              <a:rPr lang="en-IN" b="1" dirty="0">
                <a:latin typeface="PalatinoLinotype-Bold"/>
              </a:rPr>
              <a:t>Over come BGP : Byzantine Fault Tolerance </a:t>
            </a:r>
            <a:r>
              <a:rPr lang="en-IN" dirty="0">
                <a:latin typeface="PalatinoLinotype-Roman"/>
              </a:rPr>
              <a:t>(</a:t>
            </a:r>
            <a:r>
              <a:rPr lang="en-IN" b="1" dirty="0">
                <a:latin typeface="PalatinoLinotype-Bold"/>
              </a:rPr>
              <a:t>PBFT</a:t>
            </a:r>
            <a:r>
              <a:rPr lang="en-IN" dirty="0">
                <a:latin typeface="PalatinoLinotype-Roman"/>
              </a:rPr>
              <a:t>) </a:t>
            </a:r>
            <a:endParaRPr lang="en-IN" dirty="0"/>
          </a:p>
        </p:txBody>
      </p:sp>
    </p:spTree>
    <p:extLst>
      <p:ext uri="{BB962C8B-B14F-4D97-AF65-F5344CB8AC3E}">
        <p14:creationId xmlns:p14="http://schemas.microsoft.com/office/powerpoint/2010/main" val="6279968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226" y="30480"/>
            <a:ext cx="10515600" cy="1107968"/>
          </a:xfrm>
        </p:spPr>
        <p:txBody>
          <a:bodyPr>
            <a:normAutofit/>
          </a:bodyPr>
          <a:lstStyle/>
          <a:p>
            <a:pPr algn="ctr"/>
            <a:r>
              <a:rPr lang="en-IN" b="1" dirty="0">
                <a:latin typeface="+mn-lt"/>
              </a:rPr>
              <a:t>Introduction to blockchain</a:t>
            </a:r>
            <a:endParaRPr lang="en-IN" sz="3200" dirty="0">
              <a:latin typeface="+mn-lt"/>
            </a:endParaRPr>
          </a:p>
        </p:txBody>
      </p:sp>
      <p:pic>
        <p:nvPicPr>
          <p:cNvPr id="5" name="Picture 4"/>
          <p:cNvPicPr>
            <a:picLocks noChangeAspect="1"/>
          </p:cNvPicPr>
          <p:nvPr/>
        </p:nvPicPr>
        <p:blipFill>
          <a:blip r:embed="rId2"/>
          <a:stretch>
            <a:fillRect/>
          </a:stretch>
        </p:blipFill>
        <p:spPr>
          <a:xfrm>
            <a:off x="409619" y="1138448"/>
            <a:ext cx="10796862" cy="5405120"/>
          </a:xfrm>
          <a:prstGeom prst="rect">
            <a:avLst/>
          </a:prstGeom>
        </p:spPr>
      </p:pic>
      <p:sp>
        <p:nvSpPr>
          <p:cNvPr id="6" name="Rectangle 5"/>
          <p:cNvSpPr/>
          <p:nvPr/>
        </p:nvSpPr>
        <p:spPr>
          <a:xfrm>
            <a:off x="4693158" y="6573604"/>
            <a:ext cx="2229784" cy="253916"/>
          </a:xfrm>
          <a:prstGeom prst="rect">
            <a:avLst/>
          </a:prstGeom>
        </p:spPr>
        <p:txBody>
          <a:bodyPr wrap="square">
            <a:spAutoFit/>
          </a:bodyPr>
          <a:lstStyle/>
          <a:p>
            <a:pPr algn="r"/>
            <a:r>
              <a:rPr lang="en-IN" sz="1050" b="1" dirty="0">
                <a:latin typeface="FreeSerif"/>
              </a:rPr>
              <a:t>The network view of a blockchain</a:t>
            </a:r>
            <a:endParaRPr lang="en-IN" sz="2800" b="1" dirty="0"/>
          </a:p>
        </p:txBody>
      </p:sp>
    </p:spTree>
    <p:extLst>
      <p:ext uri="{BB962C8B-B14F-4D97-AF65-F5344CB8AC3E}">
        <p14:creationId xmlns:p14="http://schemas.microsoft.com/office/powerpoint/2010/main" val="268375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AF91EF-5621-E846-6107-652B1D455311}"/>
              </a:ext>
            </a:extLst>
          </p:cNvPr>
          <p:cNvSpPr>
            <a:spLocks noGrp="1"/>
          </p:cNvSpPr>
          <p:nvPr>
            <p:ph idx="1"/>
          </p:nvPr>
        </p:nvSpPr>
        <p:spPr>
          <a:xfrm>
            <a:off x="853440" y="782320"/>
            <a:ext cx="10500360" cy="5394643"/>
          </a:xfrm>
        </p:spPr>
        <p:txBody>
          <a:bodyPr>
            <a:normAutofit/>
          </a:bodyPr>
          <a:lstStyle/>
          <a:p>
            <a:r>
              <a:rPr lang="en-US" dirty="0"/>
              <a:t>Blockchain technology is an advanced database mechanism that allows transparent information sharing within a business network. A blockchain database stores data in blocks that are linked together in a chain.</a:t>
            </a:r>
          </a:p>
          <a:p>
            <a:pPr algn="just"/>
            <a:r>
              <a:rPr lang="en-IN" sz="4000" b="1" u="sng" dirty="0"/>
              <a:t>Blockchain at its core is a peer-to-peer distributed </a:t>
            </a:r>
            <a:r>
              <a:rPr lang="en-IN" sz="4000" b="1" u="sng" dirty="0">
                <a:solidFill>
                  <a:srgbClr val="FF0000"/>
                </a:solidFill>
              </a:rPr>
              <a:t>ledger</a:t>
            </a:r>
            <a:r>
              <a:rPr lang="en-IN" sz="4000" b="1" u="sng" dirty="0"/>
              <a:t> that is cryptographically </a:t>
            </a:r>
            <a:r>
              <a:rPr lang="en-IN" sz="4000" b="1" u="sng" dirty="0">
                <a:solidFill>
                  <a:srgbClr val="FF0000"/>
                </a:solidFill>
              </a:rPr>
              <a:t>secure</a:t>
            </a:r>
            <a:r>
              <a:rPr lang="en-IN" sz="4000" b="1" u="sng" dirty="0"/>
              <a:t>, </a:t>
            </a:r>
            <a:r>
              <a:rPr lang="en-IN" sz="4000" b="1" u="sng" dirty="0">
                <a:solidFill>
                  <a:srgbClr val="FF0000"/>
                </a:solidFill>
              </a:rPr>
              <a:t>append-only</a:t>
            </a:r>
            <a:r>
              <a:rPr lang="en-IN" sz="4000" b="1" u="sng" dirty="0"/>
              <a:t>, </a:t>
            </a:r>
            <a:r>
              <a:rPr lang="en-IN" sz="4000" b="1" u="sng" dirty="0">
                <a:solidFill>
                  <a:srgbClr val="FF0000"/>
                </a:solidFill>
              </a:rPr>
              <a:t>immutable</a:t>
            </a:r>
            <a:r>
              <a:rPr lang="en-IN" sz="4000" b="1" u="sng" dirty="0"/>
              <a:t> (extremely hard to change) and </a:t>
            </a:r>
            <a:r>
              <a:rPr lang="en-IN" sz="4000" b="1" u="sng" dirty="0">
                <a:solidFill>
                  <a:srgbClr val="FF0000"/>
                </a:solidFill>
              </a:rPr>
              <a:t>updateable</a:t>
            </a:r>
            <a:r>
              <a:rPr lang="en-IN" sz="4000" b="1" u="sng" dirty="0"/>
              <a:t> only via consensus or agreement among peers.</a:t>
            </a:r>
          </a:p>
          <a:p>
            <a:pPr algn="just"/>
            <a:endParaRPr lang="en-IN" dirty="0"/>
          </a:p>
          <a:p>
            <a:endParaRPr lang="en-US" sz="2800" b="0" i="0" dirty="0">
              <a:effectLst/>
              <a:latin typeface="+mj-lt"/>
            </a:endParaRPr>
          </a:p>
          <a:p>
            <a:endParaRPr lang="en-IN" dirty="0"/>
          </a:p>
        </p:txBody>
      </p:sp>
    </p:spTree>
    <p:extLst>
      <p:ext uri="{BB962C8B-B14F-4D97-AF65-F5344CB8AC3E}">
        <p14:creationId xmlns:p14="http://schemas.microsoft.com/office/powerpoint/2010/main" val="4030665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18BC9-9637-8929-8D14-75799D2755F4}"/>
              </a:ext>
            </a:extLst>
          </p:cNvPr>
          <p:cNvSpPr>
            <a:spLocks noGrp="1"/>
          </p:cNvSpPr>
          <p:nvPr>
            <p:ph type="title"/>
          </p:nvPr>
        </p:nvSpPr>
        <p:spPr>
          <a:xfrm>
            <a:off x="685800" y="0"/>
            <a:ext cx="10515600" cy="1325563"/>
          </a:xfrm>
        </p:spPr>
        <p:txBody>
          <a:bodyPr/>
          <a:lstStyle/>
          <a:p>
            <a:pPr algn="ctr"/>
            <a:r>
              <a:rPr lang="en-US" sz="4400" b="1" dirty="0">
                <a:latin typeface="+mn-lt"/>
              </a:rPr>
              <a:t>STRUCTURE</a:t>
            </a:r>
            <a:r>
              <a:rPr lang="en-US" b="1" dirty="0">
                <a:latin typeface="+mn-lt"/>
              </a:rPr>
              <a:t> of </a:t>
            </a:r>
            <a:r>
              <a:rPr lang="en-US" sz="4400" b="1" dirty="0">
                <a:latin typeface="+mn-lt"/>
              </a:rPr>
              <a:t>BLOCK</a:t>
            </a:r>
            <a:r>
              <a:rPr lang="en-US" b="1" dirty="0">
                <a:latin typeface="+mn-lt"/>
              </a:rPr>
              <a:t> </a:t>
            </a:r>
            <a:endParaRPr lang="en-IN" b="1" dirty="0">
              <a:latin typeface="+mn-lt"/>
            </a:endParaRPr>
          </a:p>
        </p:txBody>
      </p:sp>
      <p:pic>
        <p:nvPicPr>
          <p:cNvPr id="4" name="Content Placeholder 3" descr="Graphical user interface, application&#10;&#10;Description automatically generated">
            <a:extLst>
              <a:ext uri="{FF2B5EF4-FFF2-40B4-BE49-F238E27FC236}">
                <a16:creationId xmlns:a16="http://schemas.microsoft.com/office/drawing/2014/main" id="{17CE50EE-6FB3-3CC2-3FFD-3FD9861D2690}"/>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0515" t="32864" r="29012" b="23968"/>
          <a:stretch/>
        </p:blipFill>
        <p:spPr>
          <a:xfrm>
            <a:off x="2913098" y="1920240"/>
            <a:ext cx="6088662" cy="4519071"/>
          </a:xfrm>
          <a:prstGeom prst="rect">
            <a:avLst/>
          </a:prstGeom>
        </p:spPr>
      </p:pic>
    </p:spTree>
    <p:extLst>
      <p:ext uri="{BB962C8B-B14F-4D97-AF65-F5344CB8AC3E}">
        <p14:creationId xmlns:p14="http://schemas.microsoft.com/office/powerpoint/2010/main" val="34214451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324D1D-646B-8DE2-BF65-CE9AB138963B}"/>
              </a:ext>
            </a:extLst>
          </p:cNvPr>
          <p:cNvSpPr>
            <a:spLocks noGrp="1"/>
          </p:cNvSpPr>
          <p:nvPr>
            <p:ph type="title"/>
          </p:nvPr>
        </p:nvSpPr>
        <p:spPr>
          <a:xfrm>
            <a:off x="838200" y="18255"/>
            <a:ext cx="10515600" cy="1325563"/>
          </a:xfrm>
        </p:spPr>
        <p:txBody>
          <a:bodyPr/>
          <a:lstStyle/>
          <a:p>
            <a:pPr algn="ctr"/>
            <a:r>
              <a:rPr lang="en-US" sz="4400" b="1" dirty="0">
                <a:latin typeface="+mn-lt"/>
              </a:rPr>
              <a:t>STRUCTURE OF THE GENESIS BLOCK</a:t>
            </a:r>
            <a:endParaRPr lang="en-IN" b="1" dirty="0">
              <a:latin typeface="+mn-lt"/>
            </a:endParaRPr>
          </a:p>
        </p:txBody>
      </p:sp>
      <p:pic>
        <p:nvPicPr>
          <p:cNvPr id="4" name="Content Placeholder 6">
            <a:extLst>
              <a:ext uri="{FF2B5EF4-FFF2-40B4-BE49-F238E27FC236}">
                <a16:creationId xmlns:a16="http://schemas.microsoft.com/office/drawing/2014/main" id="{4AD5C019-F6F2-70E3-4AB8-2DDAD806058B}"/>
              </a:ext>
            </a:extLst>
          </p:cNvPr>
          <p:cNvPicPr>
            <a:picLocks noGrp="1" noChangeAspect="1"/>
          </p:cNvPicPr>
          <p:nvPr>
            <p:ph idx="1"/>
          </p:nvPr>
        </p:nvPicPr>
        <p:blipFill>
          <a:blip r:embed="rId2"/>
          <a:stretch>
            <a:fillRect/>
          </a:stretch>
        </p:blipFill>
        <p:spPr>
          <a:xfrm>
            <a:off x="691901" y="1343818"/>
            <a:ext cx="10515601" cy="4853782"/>
          </a:xfrm>
        </p:spPr>
      </p:pic>
    </p:spTree>
    <p:extLst>
      <p:ext uri="{BB962C8B-B14F-4D97-AF65-F5344CB8AC3E}">
        <p14:creationId xmlns:p14="http://schemas.microsoft.com/office/powerpoint/2010/main" val="38890409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5FE63C-B5DC-8CF3-D419-8D23EDB36AD7}"/>
              </a:ext>
            </a:extLst>
          </p:cNvPr>
          <p:cNvSpPr>
            <a:spLocks noGrp="1"/>
          </p:cNvSpPr>
          <p:nvPr>
            <p:ph idx="1"/>
          </p:nvPr>
        </p:nvSpPr>
        <p:spPr>
          <a:xfrm>
            <a:off x="538480" y="355600"/>
            <a:ext cx="10815320" cy="5821363"/>
          </a:xfrm>
        </p:spPr>
        <p:txBody>
          <a:bodyPr/>
          <a:lstStyle/>
          <a:p>
            <a:pPr algn="just"/>
            <a:r>
              <a:rPr lang="en-US" sz="3200" b="1" dirty="0"/>
              <a:t>Nonce: </a:t>
            </a:r>
            <a:r>
              <a:rPr lang="en-IN" sz="3200" b="1" dirty="0"/>
              <a:t>Number only used once </a:t>
            </a:r>
            <a:r>
              <a:rPr lang="en-US" sz="3200" dirty="0"/>
              <a:t>is a unique, random or semi-random number that is used only once in cryptographic communications.</a:t>
            </a:r>
          </a:p>
          <a:p>
            <a:r>
              <a:rPr lang="en-US" sz="3200" b="1" dirty="0"/>
              <a:t>Transaction</a:t>
            </a:r>
            <a:r>
              <a:rPr lang="en-US" sz="3200" dirty="0"/>
              <a:t> refers to the transfer of information or value between participants on the network. </a:t>
            </a:r>
          </a:p>
          <a:p>
            <a:r>
              <a:rPr lang="en-US" sz="3200" b="1" dirty="0"/>
              <a:t>Hash</a:t>
            </a:r>
            <a:r>
              <a:rPr lang="en-US" sz="3200" dirty="0"/>
              <a:t> : Unique code will be generated.</a:t>
            </a:r>
          </a:p>
          <a:p>
            <a:endParaRPr lang="en-US" dirty="0"/>
          </a:p>
          <a:p>
            <a:endParaRPr lang="en-IN" dirty="0"/>
          </a:p>
          <a:p>
            <a:endParaRPr lang="en-IN" dirty="0"/>
          </a:p>
        </p:txBody>
      </p:sp>
    </p:spTree>
    <p:extLst>
      <p:ext uri="{BB962C8B-B14F-4D97-AF65-F5344CB8AC3E}">
        <p14:creationId xmlns:p14="http://schemas.microsoft.com/office/powerpoint/2010/main" val="23490579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0BF1DD4-7A69-7310-D62C-F947A8B718AF}"/>
              </a:ext>
            </a:extLst>
          </p:cNvPr>
          <p:cNvPicPr>
            <a:picLocks noGrp="1" noChangeAspect="1"/>
          </p:cNvPicPr>
          <p:nvPr>
            <p:ph idx="1"/>
          </p:nvPr>
        </p:nvPicPr>
        <p:blipFill>
          <a:blip r:embed="rId2"/>
          <a:stretch>
            <a:fillRect/>
          </a:stretch>
        </p:blipFill>
        <p:spPr>
          <a:xfrm>
            <a:off x="282677" y="497840"/>
            <a:ext cx="11365279" cy="5414963"/>
          </a:xfrm>
        </p:spPr>
      </p:pic>
    </p:spTree>
    <p:extLst>
      <p:ext uri="{BB962C8B-B14F-4D97-AF65-F5344CB8AC3E}">
        <p14:creationId xmlns:p14="http://schemas.microsoft.com/office/powerpoint/2010/main" val="3625463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675456-2D0C-A28D-B0AE-D16D00BB99F2}"/>
              </a:ext>
            </a:extLst>
          </p:cNvPr>
          <p:cNvSpPr>
            <a:spLocks noGrp="1"/>
          </p:cNvSpPr>
          <p:nvPr>
            <p:ph idx="1"/>
          </p:nvPr>
        </p:nvSpPr>
        <p:spPr>
          <a:xfrm>
            <a:off x="436880" y="335280"/>
            <a:ext cx="10916920" cy="5841683"/>
          </a:xfrm>
        </p:spPr>
        <p:txBody>
          <a:bodyPr/>
          <a:lstStyle/>
          <a:p>
            <a:endParaRPr lang="en-IN" dirty="0"/>
          </a:p>
        </p:txBody>
      </p:sp>
      <p:pic>
        <p:nvPicPr>
          <p:cNvPr id="5" name="Picture 4">
            <a:extLst>
              <a:ext uri="{FF2B5EF4-FFF2-40B4-BE49-F238E27FC236}">
                <a16:creationId xmlns:a16="http://schemas.microsoft.com/office/drawing/2014/main" id="{851CD023-06E2-4A67-79E6-0F5D46E370D0}"/>
              </a:ext>
            </a:extLst>
          </p:cNvPr>
          <p:cNvPicPr>
            <a:picLocks noChangeAspect="1"/>
          </p:cNvPicPr>
          <p:nvPr/>
        </p:nvPicPr>
        <p:blipFill>
          <a:blip r:embed="rId2"/>
          <a:stretch>
            <a:fillRect/>
          </a:stretch>
        </p:blipFill>
        <p:spPr>
          <a:xfrm>
            <a:off x="436880" y="113837"/>
            <a:ext cx="11555438" cy="6630325"/>
          </a:xfrm>
          <a:prstGeom prst="rect">
            <a:avLst/>
          </a:prstGeom>
        </p:spPr>
      </p:pic>
    </p:spTree>
    <p:extLst>
      <p:ext uri="{BB962C8B-B14F-4D97-AF65-F5344CB8AC3E}">
        <p14:creationId xmlns:p14="http://schemas.microsoft.com/office/powerpoint/2010/main" val="14747897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group of people with different shapes&#10;&#10;AI-generated content may be incorrect.">
            <a:extLst>
              <a:ext uri="{FF2B5EF4-FFF2-40B4-BE49-F238E27FC236}">
                <a16:creationId xmlns:a16="http://schemas.microsoft.com/office/drawing/2014/main" id="{96B1FA49-C243-3AF6-C807-D3750955BD63}"/>
              </a:ext>
            </a:extLst>
          </p:cNvPr>
          <p:cNvPicPr>
            <a:picLocks noGrp="1" noChangeAspect="1"/>
          </p:cNvPicPr>
          <p:nvPr>
            <p:ph idx="1"/>
          </p:nvPr>
        </p:nvPicPr>
        <p:blipFill>
          <a:blip r:embed="rId2"/>
          <a:srcRect l="8938" r="15356" b="-2"/>
          <a:stretch/>
        </p:blipFill>
        <p:spPr>
          <a:xfrm>
            <a:off x="241610" y="0"/>
            <a:ext cx="5803323" cy="3890357"/>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7" name="Picture 6" descr="A close-up of a questionnaire&#10;&#10;AI-generated content may be incorrect.">
            <a:extLst>
              <a:ext uri="{FF2B5EF4-FFF2-40B4-BE49-F238E27FC236}">
                <a16:creationId xmlns:a16="http://schemas.microsoft.com/office/drawing/2014/main" id="{818A46E1-CAB5-D52E-923F-D689C2B18093}"/>
              </a:ext>
            </a:extLst>
          </p:cNvPr>
          <p:cNvPicPr>
            <a:picLocks noChangeAspect="1"/>
          </p:cNvPicPr>
          <p:nvPr/>
        </p:nvPicPr>
        <p:blipFill>
          <a:blip r:embed="rId3"/>
          <a:srcRect l="9033" r="8176" b="-1"/>
          <a:stretch/>
        </p:blipFill>
        <p:spPr>
          <a:xfrm>
            <a:off x="6215280" y="2451087"/>
            <a:ext cx="5803323" cy="3890357"/>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711574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90261-0DE3-6849-F6B0-9C5863CD36AD}"/>
              </a:ext>
            </a:extLst>
          </p:cNvPr>
          <p:cNvSpPr>
            <a:spLocks noGrp="1"/>
          </p:cNvSpPr>
          <p:nvPr>
            <p:ph type="title"/>
          </p:nvPr>
        </p:nvSpPr>
        <p:spPr>
          <a:xfrm>
            <a:off x="838200" y="18255"/>
            <a:ext cx="10515600" cy="1325563"/>
          </a:xfrm>
        </p:spPr>
        <p:txBody>
          <a:bodyPr>
            <a:normAutofit/>
          </a:bodyPr>
          <a:lstStyle/>
          <a:p>
            <a:pPr algn="ctr"/>
            <a:r>
              <a:rPr lang="en-US" b="1" i="0" u="none" strike="noStrike" baseline="0" dirty="0">
                <a:latin typeface="+mn-lt"/>
              </a:rPr>
              <a:t>Various technical definitions of blockchains</a:t>
            </a:r>
            <a:endParaRPr lang="en-IN" b="1" dirty="0">
              <a:latin typeface="+mn-lt"/>
            </a:endParaRPr>
          </a:p>
        </p:txBody>
      </p:sp>
      <p:sp>
        <p:nvSpPr>
          <p:cNvPr id="3" name="Content Placeholder 2">
            <a:extLst>
              <a:ext uri="{FF2B5EF4-FFF2-40B4-BE49-F238E27FC236}">
                <a16:creationId xmlns:a16="http://schemas.microsoft.com/office/drawing/2014/main" id="{07DC2E5F-516A-50C1-07E8-1E6D1AB78CB8}"/>
              </a:ext>
            </a:extLst>
          </p:cNvPr>
          <p:cNvSpPr>
            <a:spLocks noGrp="1"/>
          </p:cNvSpPr>
          <p:nvPr>
            <p:ph idx="1"/>
          </p:nvPr>
        </p:nvSpPr>
        <p:spPr>
          <a:xfrm>
            <a:off x="838200" y="1524000"/>
            <a:ext cx="10515600" cy="4652963"/>
          </a:xfrm>
        </p:spPr>
        <p:txBody>
          <a:bodyPr/>
          <a:lstStyle/>
          <a:p>
            <a:r>
              <a:rPr lang="en-US" sz="1800" b="0" i="0" u="none" strike="noStrike" baseline="0" dirty="0">
                <a:latin typeface="PalatinoLinotype-Roman"/>
              </a:rPr>
              <a:t>Blockchain is a </a:t>
            </a:r>
            <a:r>
              <a:rPr lang="en-US" sz="1800" b="1" i="0" u="none" strike="noStrike" baseline="0" dirty="0">
                <a:solidFill>
                  <a:srgbClr val="FF0000"/>
                </a:solidFill>
                <a:latin typeface="PalatinoLinotype-Roman"/>
              </a:rPr>
              <a:t>decentralized</a:t>
            </a:r>
            <a:r>
              <a:rPr lang="en-US" sz="1800" b="0" i="0" u="none" strike="noStrike" baseline="0" dirty="0">
                <a:latin typeface="PalatinoLinotype-Roman"/>
              </a:rPr>
              <a:t> consensus mechanism.</a:t>
            </a:r>
          </a:p>
          <a:p>
            <a:pPr lvl="1"/>
            <a:r>
              <a:rPr lang="en-US" sz="1600" dirty="0"/>
              <a:t>eventually come to an agreement regarding the state of a transaction.</a:t>
            </a:r>
            <a:endParaRPr lang="en-US" sz="1400" b="0" i="0" u="none" strike="noStrike" baseline="0" dirty="0">
              <a:latin typeface="PalatinoLinotype-Roman"/>
            </a:endParaRPr>
          </a:p>
          <a:p>
            <a:r>
              <a:rPr lang="en-US" sz="1800" b="0" i="0" u="none" strike="noStrike" baseline="0" dirty="0">
                <a:latin typeface="PalatinoLinotype-Roman"/>
              </a:rPr>
              <a:t>Blockchain is a </a:t>
            </a:r>
            <a:r>
              <a:rPr lang="en-US" sz="1800" b="1" i="0" u="none" strike="noStrike" baseline="0" dirty="0">
                <a:solidFill>
                  <a:srgbClr val="FF0000"/>
                </a:solidFill>
                <a:latin typeface="PalatinoLinotype-Roman"/>
              </a:rPr>
              <a:t>distributed</a:t>
            </a:r>
            <a:r>
              <a:rPr lang="en-US" sz="1800" b="0" i="0" u="none" strike="noStrike" baseline="0" dirty="0">
                <a:latin typeface="PalatinoLinotype-Roman"/>
              </a:rPr>
              <a:t> shared ledger.</a:t>
            </a:r>
          </a:p>
          <a:p>
            <a:pPr lvl="1"/>
            <a:r>
              <a:rPr lang="en-US" sz="1600" dirty="0"/>
              <a:t>Blockchain can be considered a shared ledger of transactions. The transaction are ordered and grouped into blocks. </a:t>
            </a:r>
          </a:p>
          <a:p>
            <a:pPr lvl="1"/>
            <a:endParaRPr lang="en-US" sz="1400" dirty="0">
              <a:latin typeface="PalatinoLinotype-Roman"/>
            </a:endParaRPr>
          </a:p>
          <a:p>
            <a:pPr algn="l"/>
            <a:r>
              <a:rPr lang="en-US" sz="1800" b="0" i="0" u="none" strike="noStrike" baseline="0" dirty="0">
                <a:latin typeface="PalatinoLinotype-Roman"/>
              </a:rPr>
              <a:t>Blockchain is a </a:t>
            </a:r>
            <a:r>
              <a:rPr lang="en-US" sz="1800" b="1" i="0" u="none" strike="noStrike" baseline="0" dirty="0">
                <a:solidFill>
                  <a:srgbClr val="FF0000"/>
                </a:solidFill>
                <a:latin typeface="PalatinoLinotype-Roman"/>
              </a:rPr>
              <a:t>data structure</a:t>
            </a:r>
            <a:r>
              <a:rPr lang="en-US" sz="1800" b="0" i="0" u="none" strike="noStrike" baseline="0" dirty="0">
                <a:latin typeface="PalatinoLinotype-Roman"/>
              </a:rPr>
              <a:t>; it is basically a linked list that uses hash pointers</a:t>
            </a:r>
          </a:p>
          <a:p>
            <a:pPr marL="0" indent="0" algn="l">
              <a:buNone/>
            </a:pPr>
            <a:r>
              <a:rPr lang="en-IN" sz="1800" b="0" i="0" u="none" strike="noStrike" baseline="0" dirty="0">
                <a:latin typeface="PalatinoLinotype-Roman"/>
              </a:rPr>
              <a:t>    instead of normal pointers.</a:t>
            </a:r>
          </a:p>
          <a:p>
            <a:pPr marL="0" indent="0" algn="l">
              <a:buNone/>
            </a:pPr>
            <a:r>
              <a:rPr lang="en-IN" sz="1800" dirty="0">
                <a:latin typeface="PalatinoLinotype-Roman"/>
              </a:rPr>
              <a:t>	</a:t>
            </a:r>
          </a:p>
          <a:p>
            <a:pPr marL="0" indent="0" algn="l">
              <a:buNone/>
            </a:pPr>
            <a:endParaRPr lang="en-IN" dirty="0"/>
          </a:p>
        </p:txBody>
      </p:sp>
    </p:spTree>
    <p:extLst>
      <p:ext uri="{BB962C8B-B14F-4D97-AF65-F5344CB8AC3E}">
        <p14:creationId xmlns:p14="http://schemas.microsoft.com/office/powerpoint/2010/main" val="1409487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3546BB-2348-B3D8-CA95-C766B555025C}"/>
              </a:ext>
            </a:extLst>
          </p:cNvPr>
          <p:cNvSpPr>
            <a:spLocks noGrp="1"/>
          </p:cNvSpPr>
          <p:nvPr>
            <p:ph type="title"/>
          </p:nvPr>
        </p:nvSpPr>
        <p:spPr>
          <a:xfrm>
            <a:off x="1000760" y="18255"/>
            <a:ext cx="10515600" cy="1325563"/>
          </a:xfrm>
        </p:spPr>
        <p:txBody>
          <a:bodyPr/>
          <a:lstStyle/>
          <a:p>
            <a:pPr algn="ctr"/>
            <a:r>
              <a:rPr lang="en-IN" b="1" dirty="0">
                <a:latin typeface="+mn-lt"/>
              </a:rPr>
              <a:t>Applications of blockchain technology</a:t>
            </a:r>
            <a:endParaRPr lang="en-IN" dirty="0">
              <a:latin typeface="+mn-lt"/>
            </a:endParaRPr>
          </a:p>
        </p:txBody>
      </p:sp>
      <p:sp>
        <p:nvSpPr>
          <p:cNvPr id="3" name="Content Placeholder 2">
            <a:extLst>
              <a:ext uri="{FF2B5EF4-FFF2-40B4-BE49-F238E27FC236}">
                <a16:creationId xmlns:a16="http://schemas.microsoft.com/office/drawing/2014/main" id="{936A9B98-2DE9-05B3-8EF8-916628DC75AD}"/>
              </a:ext>
            </a:extLst>
          </p:cNvPr>
          <p:cNvSpPr>
            <a:spLocks noGrp="1"/>
          </p:cNvSpPr>
          <p:nvPr>
            <p:ph idx="1"/>
          </p:nvPr>
        </p:nvSpPr>
        <p:spPr>
          <a:xfrm>
            <a:off x="914400" y="1473200"/>
            <a:ext cx="10439400" cy="4713923"/>
          </a:xfrm>
        </p:spPr>
        <p:txBody>
          <a:bodyPr/>
          <a:lstStyle/>
          <a:p>
            <a:r>
              <a:rPr lang="en-GB" dirty="0"/>
              <a:t>Money transfers</a:t>
            </a:r>
          </a:p>
          <a:p>
            <a:r>
              <a:rPr lang="en-GB" dirty="0"/>
              <a:t>Insurance</a:t>
            </a:r>
          </a:p>
          <a:p>
            <a:r>
              <a:rPr lang="en-GB" dirty="0"/>
              <a:t>Real estate</a:t>
            </a:r>
          </a:p>
          <a:p>
            <a:r>
              <a:rPr lang="en-GB" dirty="0"/>
              <a:t>Secure personal information</a:t>
            </a:r>
          </a:p>
          <a:p>
            <a:r>
              <a:rPr lang="en-GB" dirty="0"/>
              <a:t>Voting</a:t>
            </a:r>
          </a:p>
          <a:p>
            <a:r>
              <a:rPr lang="en-GB" dirty="0"/>
              <a:t>Government benefits</a:t>
            </a:r>
          </a:p>
          <a:p>
            <a:r>
              <a:rPr lang="en-GB" dirty="0"/>
              <a:t>Securely share medical information</a:t>
            </a:r>
          </a:p>
          <a:p>
            <a:r>
              <a:rPr lang="en-GB" dirty="0"/>
              <a:t>Logistics and supply chain tracking</a:t>
            </a:r>
            <a:endParaRPr lang="en-IN" dirty="0"/>
          </a:p>
        </p:txBody>
      </p:sp>
    </p:spTree>
    <p:extLst>
      <p:ext uri="{BB962C8B-B14F-4D97-AF65-F5344CB8AC3E}">
        <p14:creationId xmlns:p14="http://schemas.microsoft.com/office/powerpoint/2010/main" val="15518576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2200" y="18255"/>
            <a:ext cx="10515600" cy="1325563"/>
          </a:xfrm>
        </p:spPr>
        <p:txBody>
          <a:bodyPr/>
          <a:lstStyle/>
          <a:p>
            <a:pPr algn="ctr"/>
            <a:r>
              <a:rPr lang="en-IN" b="1" dirty="0">
                <a:latin typeface="+mn-lt"/>
              </a:rPr>
              <a:t>Tiers of blockchain technology</a:t>
            </a:r>
            <a:endParaRPr lang="en-IN" dirty="0">
              <a:latin typeface="+mn-lt"/>
            </a:endParaRPr>
          </a:p>
        </p:txBody>
      </p:sp>
      <p:sp>
        <p:nvSpPr>
          <p:cNvPr id="3" name="Content Placeholder 2"/>
          <p:cNvSpPr>
            <a:spLocks noGrp="1"/>
          </p:cNvSpPr>
          <p:nvPr>
            <p:ph idx="1"/>
          </p:nvPr>
        </p:nvSpPr>
        <p:spPr/>
        <p:txBody>
          <a:bodyPr/>
          <a:lstStyle/>
          <a:p>
            <a:r>
              <a:rPr lang="en-IN" b="1" dirty="0"/>
              <a:t>Blockchain 1.0 </a:t>
            </a:r>
            <a:r>
              <a:rPr lang="en-IN" dirty="0"/>
              <a:t>: cryptocurrencies, core applications such as payments.</a:t>
            </a:r>
          </a:p>
          <a:p>
            <a:r>
              <a:rPr lang="en-IN" b="1" dirty="0"/>
              <a:t>Blockchain 2.0 : </a:t>
            </a:r>
            <a:r>
              <a:rPr lang="en-IN" dirty="0"/>
              <a:t>financial services and contracts are introduced.</a:t>
            </a:r>
          </a:p>
          <a:p>
            <a:r>
              <a:rPr lang="en-IN" b="1" dirty="0"/>
              <a:t>Blockchain 3.0 : </a:t>
            </a:r>
            <a:r>
              <a:rPr lang="en-IN" dirty="0"/>
              <a:t>more general-purpose industries such as government, health,media, the arts, and justice.</a:t>
            </a:r>
          </a:p>
          <a:p>
            <a:r>
              <a:rPr lang="en-IN" b="1" dirty="0"/>
              <a:t>Generation X : </a:t>
            </a:r>
            <a:r>
              <a:rPr lang="en-IN" dirty="0"/>
              <a:t>one day we will have a public blockchain service available that anyone can use just like the Google search engine</a:t>
            </a:r>
          </a:p>
          <a:p>
            <a:endParaRPr lang="en-IN" b="1" dirty="0"/>
          </a:p>
        </p:txBody>
      </p:sp>
    </p:spTree>
    <p:extLst>
      <p:ext uri="{BB962C8B-B14F-4D97-AF65-F5344CB8AC3E}">
        <p14:creationId xmlns:p14="http://schemas.microsoft.com/office/powerpoint/2010/main" val="730990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6B627-2B88-16F1-96D9-81F2AAB68229}"/>
              </a:ext>
            </a:extLst>
          </p:cNvPr>
          <p:cNvSpPr>
            <a:spLocks noGrp="1"/>
          </p:cNvSpPr>
          <p:nvPr>
            <p:ph type="title"/>
          </p:nvPr>
        </p:nvSpPr>
        <p:spPr>
          <a:xfrm>
            <a:off x="838200" y="-279083"/>
            <a:ext cx="10515600" cy="1325563"/>
          </a:xfrm>
        </p:spPr>
        <p:txBody>
          <a:bodyPr>
            <a:normAutofit/>
          </a:bodyPr>
          <a:lstStyle/>
          <a:p>
            <a:pPr algn="ctr"/>
            <a:r>
              <a:rPr lang="en-US" b="1" i="0" u="none" strike="noStrike" baseline="0" dirty="0">
                <a:latin typeface="+mn-lt"/>
              </a:rPr>
              <a:t>Generic elements of a blockchain</a:t>
            </a:r>
            <a:endParaRPr lang="en-IN" dirty="0">
              <a:latin typeface="+mn-lt"/>
            </a:endParaRPr>
          </a:p>
        </p:txBody>
      </p:sp>
      <p:sp>
        <p:nvSpPr>
          <p:cNvPr id="3" name="Content Placeholder 2">
            <a:extLst>
              <a:ext uri="{FF2B5EF4-FFF2-40B4-BE49-F238E27FC236}">
                <a16:creationId xmlns:a16="http://schemas.microsoft.com/office/drawing/2014/main" id="{F555F8AD-F59B-07ED-6A56-023955965FCD}"/>
              </a:ext>
            </a:extLst>
          </p:cNvPr>
          <p:cNvSpPr>
            <a:spLocks noGrp="1"/>
          </p:cNvSpPr>
          <p:nvPr>
            <p:ph idx="1"/>
          </p:nvPr>
        </p:nvSpPr>
        <p:spPr>
          <a:xfrm>
            <a:off x="741680" y="731520"/>
            <a:ext cx="11150600" cy="5852160"/>
          </a:xfrm>
        </p:spPr>
        <p:txBody>
          <a:bodyPr>
            <a:noAutofit/>
          </a:bodyPr>
          <a:lstStyle/>
          <a:p>
            <a:pPr marL="0" indent="0" algn="just">
              <a:buNone/>
            </a:pPr>
            <a:r>
              <a:rPr lang="en-US" dirty="0"/>
              <a:t>1.</a:t>
            </a:r>
            <a:r>
              <a:rPr lang="en-US" b="1" dirty="0"/>
              <a:t>Addresses: </a:t>
            </a:r>
          </a:p>
          <a:p>
            <a:pPr algn="just">
              <a:buFont typeface="Wingdings" panose="05000000000000000000" pitchFamily="2" charset="2"/>
              <a:buChar char="Ø"/>
            </a:pPr>
            <a:r>
              <a:rPr lang="en-US" dirty="0"/>
              <a:t>unique identifier</a:t>
            </a:r>
            <a:r>
              <a:rPr lang="en-US" dirty="0">
                <a:sym typeface="Wingdings" panose="05000000000000000000" pitchFamily="2" charset="2"/>
              </a:rPr>
              <a:t></a:t>
            </a:r>
            <a:r>
              <a:rPr lang="en-US" dirty="0"/>
              <a:t>identifies the sender and recipients.</a:t>
            </a:r>
          </a:p>
          <a:p>
            <a:pPr algn="just">
              <a:buFont typeface="Wingdings" panose="05000000000000000000" pitchFamily="2" charset="2"/>
              <a:buChar char="Ø"/>
            </a:pPr>
            <a:r>
              <a:rPr lang="en-US" dirty="0"/>
              <a:t>It is a public key and it is unique.</a:t>
            </a:r>
          </a:p>
          <a:p>
            <a:pPr algn="just">
              <a:buFont typeface="Wingdings" panose="05000000000000000000" pitchFamily="2" charset="2"/>
              <a:buChar char="Ø"/>
            </a:pPr>
            <a:r>
              <a:rPr lang="en-US" dirty="0"/>
              <a:t>Users generate a new address for each transaction.</a:t>
            </a:r>
          </a:p>
          <a:p>
            <a:pPr marL="0" indent="0" algn="just">
              <a:buNone/>
            </a:pPr>
            <a:r>
              <a:rPr lang="en-US" dirty="0"/>
              <a:t>2. </a:t>
            </a:r>
            <a:r>
              <a:rPr lang="en-US" b="1" dirty="0"/>
              <a:t>Transaction:</a:t>
            </a:r>
          </a:p>
          <a:p>
            <a:pPr algn="just">
              <a:buFont typeface="Wingdings" panose="05000000000000000000" pitchFamily="2" charset="2"/>
              <a:buChar char="Ø"/>
            </a:pPr>
            <a:r>
              <a:rPr lang="en-IN" dirty="0"/>
              <a:t>It is the fundamental unit of blockchain.</a:t>
            </a:r>
          </a:p>
          <a:p>
            <a:pPr algn="just">
              <a:buFont typeface="Wingdings" panose="05000000000000000000" pitchFamily="2" charset="2"/>
              <a:buChar char="Ø"/>
            </a:pPr>
            <a:r>
              <a:rPr lang="en-US" dirty="0"/>
              <a:t>It is a unique identifier that represents a destination where cryptocurrency or data can be sent and received.</a:t>
            </a:r>
            <a:endParaRPr lang="en-IN" dirty="0"/>
          </a:p>
          <a:p>
            <a:pPr algn="just">
              <a:buFont typeface="Wingdings" panose="05000000000000000000" pitchFamily="2" charset="2"/>
              <a:buChar char="Ø"/>
            </a:pPr>
            <a:r>
              <a:rPr lang="en-IN" dirty="0"/>
              <a:t>It represents the transfer of value from one address to another.</a:t>
            </a:r>
          </a:p>
          <a:p>
            <a:pPr algn="l"/>
            <a:endParaRPr lang="en-IN" sz="2000" dirty="0">
              <a:latin typeface="Verdana" panose="020B0604030504040204" pitchFamily="34" charset="0"/>
              <a:ea typeface="Verdana" panose="020B0604030504040204" pitchFamily="34" charset="0"/>
            </a:endParaRPr>
          </a:p>
        </p:txBody>
      </p:sp>
    </p:spTree>
    <p:extLst>
      <p:ext uri="{BB962C8B-B14F-4D97-AF65-F5344CB8AC3E}">
        <p14:creationId xmlns:p14="http://schemas.microsoft.com/office/powerpoint/2010/main" val="22531740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047C14-BB12-3F1F-3CF0-706F6492275D}"/>
              </a:ext>
            </a:extLst>
          </p:cNvPr>
          <p:cNvSpPr>
            <a:spLocks noGrp="1"/>
          </p:cNvSpPr>
          <p:nvPr>
            <p:ph idx="1"/>
          </p:nvPr>
        </p:nvSpPr>
        <p:spPr>
          <a:xfrm>
            <a:off x="528320" y="233680"/>
            <a:ext cx="10825480" cy="5943283"/>
          </a:xfrm>
        </p:spPr>
        <p:txBody>
          <a:bodyPr/>
          <a:lstStyle/>
          <a:p>
            <a:pPr marL="0" indent="0">
              <a:buNone/>
            </a:pPr>
            <a:r>
              <a:rPr lang="en-US" dirty="0"/>
              <a:t>3.</a:t>
            </a:r>
            <a:r>
              <a:rPr lang="en-US" b="1" dirty="0"/>
              <a:t>Block:</a:t>
            </a:r>
          </a:p>
          <a:p>
            <a:pPr>
              <a:buFont typeface="Wingdings" panose="05000000000000000000" pitchFamily="2" charset="2"/>
              <a:buChar char="Ø"/>
            </a:pPr>
            <a:r>
              <a:rPr lang="en-US" sz="2800" dirty="0"/>
              <a:t>A block is composed of multiple transactions and some other elements such as the previous block hash (hash pointer), timestamp, and nonce.</a:t>
            </a:r>
          </a:p>
          <a:p>
            <a:pPr>
              <a:buFont typeface="Wingdings" panose="05000000000000000000" pitchFamily="2" charset="2"/>
              <a:buChar char="Ø"/>
            </a:pPr>
            <a:endParaRPr lang="en-US" sz="2800" dirty="0">
              <a:highlight>
                <a:srgbClr val="FFFF00"/>
              </a:highlight>
            </a:endParaRPr>
          </a:p>
          <a:p>
            <a:pPr marL="0" indent="0">
              <a:buNone/>
            </a:pPr>
            <a:r>
              <a:rPr lang="en-US" sz="2800" dirty="0"/>
              <a:t>4.</a:t>
            </a:r>
            <a:r>
              <a:rPr lang="en-US" sz="2800" b="1" dirty="0"/>
              <a:t>Peer-to-Peer network:</a:t>
            </a:r>
          </a:p>
          <a:p>
            <a:pPr>
              <a:buFont typeface="Wingdings" panose="05000000000000000000" pitchFamily="2" charset="2"/>
              <a:buChar char="Ø"/>
            </a:pPr>
            <a:r>
              <a:rPr lang="en-US" sz="2800" dirty="0"/>
              <a:t>As the name implies, this is a network topology whereby all peers can communicate with each other and send and receive messages.</a:t>
            </a:r>
          </a:p>
          <a:p>
            <a:pPr marL="0" indent="0">
              <a:buNone/>
            </a:pPr>
            <a:endParaRPr lang="en-US" sz="2800" dirty="0">
              <a:highlight>
                <a:srgbClr val="FFFF00"/>
              </a:highlight>
            </a:endParaRPr>
          </a:p>
          <a:p>
            <a:pPr marL="0" indent="0">
              <a:buNone/>
            </a:pPr>
            <a:r>
              <a:rPr lang="en-US" sz="2800" dirty="0"/>
              <a:t>5.</a:t>
            </a:r>
            <a:r>
              <a:rPr lang="en-US" sz="2800" b="1" dirty="0"/>
              <a:t>Scripting or Programming Language</a:t>
            </a:r>
            <a:r>
              <a:rPr lang="en-US" sz="2800" dirty="0"/>
              <a:t>:</a:t>
            </a:r>
          </a:p>
          <a:p>
            <a:pPr>
              <a:buFont typeface="Wingdings" panose="05000000000000000000" pitchFamily="2" charset="2"/>
              <a:buChar char="Ø"/>
            </a:pPr>
            <a:r>
              <a:rPr lang="en-US" sz="2800" dirty="0"/>
              <a:t>Transaction scripts are predefined sets of commands for nodes to transfer tokens from one address to another and perform various other functions.</a:t>
            </a:r>
            <a:endParaRPr lang="en-IN" sz="2800" dirty="0">
              <a:highlight>
                <a:srgbClr val="FFFF00"/>
              </a:highlight>
            </a:endParaRPr>
          </a:p>
          <a:p>
            <a:endParaRPr lang="en-IN" dirty="0"/>
          </a:p>
        </p:txBody>
      </p:sp>
    </p:spTree>
    <p:extLst>
      <p:ext uri="{BB962C8B-B14F-4D97-AF65-F5344CB8AC3E}">
        <p14:creationId xmlns:p14="http://schemas.microsoft.com/office/powerpoint/2010/main" val="2971447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F3BB8B8-BFFD-D913-9B51-67F18ED04433}"/>
              </a:ext>
            </a:extLst>
          </p:cNvPr>
          <p:cNvSpPr>
            <a:spLocks noGrp="1"/>
          </p:cNvSpPr>
          <p:nvPr>
            <p:ph idx="1"/>
          </p:nvPr>
        </p:nvSpPr>
        <p:spPr>
          <a:xfrm>
            <a:off x="548640" y="335280"/>
            <a:ext cx="10805160" cy="5841683"/>
          </a:xfrm>
        </p:spPr>
        <p:txBody>
          <a:bodyPr/>
          <a:lstStyle/>
          <a:p>
            <a:pPr marL="0" indent="0" algn="just">
              <a:buNone/>
            </a:pPr>
            <a:r>
              <a:rPr lang="en-US" dirty="0"/>
              <a:t>6.</a:t>
            </a:r>
            <a:r>
              <a:rPr lang="en-US" b="1" dirty="0"/>
              <a:t>Virtual Machines:</a:t>
            </a:r>
          </a:p>
          <a:p>
            <a:pPr algn="just">
              <a:buFont typeface="Wingdings" panose="05000000000000000000" pitchFamily="2" charset="2"/>
              <a:buChar char="Ø"/>
            </a:pPr>
            <a:r>
              <a:rPr lang="en-US" dirty="0">
                <a:solidFill>
                  <a:srgbClr val="202124"/>
                </a:solidFill>
                <a:latin typeface="Google Sans"/>
              </a:rPr>
              <a:t>I</a:t>
            </a:r>
            <a:r>
              <a:rPr lang="en-US" b="0" i="0" dirty="0">
                <a:solidFill>
                  <a:srgbClr val="202124"/>
                </a:solidFill>
                <a:effectLst/>
                <a:latin typeface="Google Sans"/>
              </a:rPr>
              <a:t>t is </a:t>
            </a:r>
            <a:r>
              <a:rPr lang="en-US" b="0" i="0" dirty="0">
                <a:solidFill>
                  <a:srgbClr val="040C28"/>
                </a:solidFill>
                <a:effectLst/>
                <a:latin typeface="Google Sans"/>
              </a:rPr>
              <a:t>a software platform; which is more like a virtual computer that is used by developers in order to create decentralized applications.</a:t>
            </a:r>
          </a:p>
          <a:p>
            <a:pPr marL="0" indent="0" algn="just">
              <a:buNone/>
            </a:pPr>
            <a:r>
              <a:rPr lang="en-US" dirty="0">
                <a:solidFill>
                  <a:srgbClr val="040C28"/>
                </a:solidFill>
                <a:latin typeface="Google Sans"/>
              </a:rPr>
              <a:t>    </a:t>
            </a:r>
            <a:r>
              <a:rPr lang="en-US" dirty="0" err="1">
                <a:solidFill>
                  <a:srgbClr val="040C28"/>
                </a:solidFill>
                <a:latin typeface="Google Sans"/>
              </a:rPr>
              <a:t>Eg</a:t>
            </a:r>
            <a:r>
              <a:rPr lang="en-US" dirty="0">
                <a:solidFill>
                  <a:srgbClr val="040C28"/>
                </a:solidFill>
                <a:latin typeface="Google Sans"/>
              </a:rPr>
              <a:t>: Ethereum VM, Chain VM</a:t>
            </a:r>
          </a:p>
          <a:p>
            <a:pPr marL="0" indent="0" algn="just">
              <a:buNone/>
            </a:pPr>
            <a:endParaRPr lang="en-US" dirty="0">
              <a:solidFill>
                <a:srgbClr val="040C28"/>
              </a:solidFill>
              <a:latin typeface="Google Sans"/>
            </a:endParaRPr>
          </a:p>
          <a:p>
            <a:pPr marL="0" indent="0" algn="just">
              <a:buNone/>
            </a:pPr>
            <a:endParaRPr lang="en-US" dirty="0">
              <a:solidFill>
                <a:srgbClr val="040C28"/>
              </a:solidFill>
              <a:latin typeface="Google Sans"/>
            </a:endParaRPr>
          </a:p>
          <a:p>
            <a:pPr marL="0" indent="0" algn="just">
              <a:buNone/>
            </a:pPr>
            <a:r>
              <a:rPr lang="en-US" dirty="0">
                <a:solidFill>
                  <a:srgbClr val="040C28"/>
                </a:solidFill>
                <a:latin typeface="Google Sans"/>
              </a:rPr>
              <a:t>7.</a:t>
            </a:r>
            <a:r>
              <a:rPr lang="en-US" b="1" dirty="0">
                <a:solidFill>
                  <a:srgbClr val="040C28"/>
                </a:solidFill>
                <a:latin typeface="Google Sans"/>
              </a:rPr>
              <a:t>State machine</a:t>
            </a:r>
            <a:r>
              <a:rPr lang="en-US" dirty="0">
                <a:solidFill>
                  <a:srgbClr val="040C28"/>
                </a:solidFill>
                <a:latin typeface="Google Sans"/>
              </a:rPr>
              <a:t>:</a:t>
            </a:r>
          </a:p>
          <a:p>
            <a:pPr algn="just">
              <a:buFont typeface="Wingdings" panose="05000000000000000000" pitchFamily="2" charset="2"/>
              <a:buChar char="Ø"/>
            </a:pPr>
            <a:r>
              <a:rPr lang="en-US" dirty="0"/>
              <a:t>A blockchain can be viewed as a </a:t>
            </a:r>
            <a:r>
              <a:rPr lang="en-US" u="sng" dirty="0"/>
              <a:t>state transition mechanism </a:t>
            </a:r>
            <a:r>
              <a:rPr lang="en-US" dirty="0"/>
              <a:t>whereby a state is modified from its initial form to the next and eventually to a final form as a result of a transaction execution and validation process by nodes</a:t>
            </a:r>
            <a:endParaRPr lang="en-IN" dirty="0">
              <a:highlight>
                <a:srgbClr val="FFFF00"/>
              </a:highlight>
            </a:endParaRPr>
          </a:p>
          <a:p>
            <a:endParaRPr lang="en-IN" dirty="0"/>
          </a:p>
        </p:txBody>
      </p:sp>
    </p:spTree>
    <p:extLst>
      <p:ext uri="{BB962C8B-B14F-4D97-AF65-F5344CB8AC3E}">
        <p14:creationId xmlns:p14="http://schemas.microsoft.com/office/powerpoint/2010/main" val="2102162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F34A687-44C9-D92F-39D2-7FAED5C8152C}"/>
              </a:ext>
            </a:extLst>
          </p:cNvPr>
          <p:cNvSpPr>
            <a:spLocks noGrp="1"/>
          </p:cNvSpPr>
          <p:nvPr>
            <p:ph idx="1"/>
          </p:nvPr>
        </p:nvSpPr>
        <p:spPr>
          <a:xfrm>
            <a:off x="568960" y="365760"/>
            <a:ext cx="10784840" cy="5811203"/>
          </a:xfrm>
        </p:spPr>
        <p:txBody>
          <a:bodyPr>
            <a:normAutofit fontScale="92500" lnSpcReduction="10000"/>
          </a:bodyPr>
          <a:lstStyle/>
          <a:p>
            <a:pPr marL="0" indent="0">
              <a:buNone/>
            </a:pPr>
            <a:r>
              <a:rPr lang="en-US" dirty="0"/>
              <a:t>8.</a:t>
            </a:r>
            <a:r>
              <a:rPr lang="en-US" b="1" dirty="0"/>
              <a:t>Nodes</a:t>
            </a:r>
            <a:r>
              <a:rPr lang="en-US" dirty="0"/>
              <a:t>:</a:t>
            </a:r>
          </a:p>
          <a:p>
            <a:pPr>
              <a:buFont typeface="Wingdings" panose="05000000000000000000" pitchFamily="2" charset="2"/>
              <a:buChar char="Ø"/>
            </a:pPr>
            <a:r>
              <a:rPr lang="en-US" dirty="0"/>
              <a:t>A node in a blockchain network performs various functions depending on the role it takes. </a:t>
            </a:r>
          </a:p>
          <a:p>
            <a:pPr>
              <a:buFont typeface="Wingdings" panose="05000000000000000000" pitchFamily="2" charset="2"/>
              <a:buChar char="Ø"/>
            </a:pPr>
            <a:r>
              <a:rPr lang="en-US" dirty="0"/>
              <a:t>A node can propose and validate transactions and perform mining to facilitate consensus and secure the blockchain.</a:t>
            </a:r>
          </a:p>
          <a:p>
            <a:pPr marL="0" indent="0">
              <a:buNone/>
            </a:pPr>
            <a:endParaRPr lang="en-US" dirty="0">
              <a:highlight>
                <a:srgbClr val="FFFF00"/>
              </a:highlight>
            </a:endParaRPr>
          </a:p>
          <a:p>
            <a:pPr marL="0" indent="0">
              <a:buNone/>
            </a:pPr>
            <a:r>
              <a:rPr lang="en-US" dirty="0"/>
              <a:t>9.</a:t>
            </a:r>
            <a:r>
              <a:rPr lang="en-US" b="1" dirty="0"/>
              <a:t>Uniqueness</a:t>
            </a:r>
            <a:r>
              <a:rPr lang="en-US" dirty="0"/>
              <a:t>:</a:t>
            </a:r>
          </a:p>
          <a:p>
            <a:pPr>
              <a:buFont typeface="Wingdings" panose="05000000000000000000" pitchFamily="2" charset="2"/>
              <a:buChar char="Ø"/>
            </a:pPr>
            <a:r>
              <a:rPr lang="en-US" dirty="0"/>
              <a:t>This feature of blockchain ensures that every transaction is unique and has not been spent already.</a:t>
            </a:r>
            <a:endParaRPr lang="en-US" dirty="0">
              <a:highlight>
                <a:srgbClr val="FFFF00"/>
              </a:highlight>
            </a:endParaRPr>
          </a:p>
          <a:p>
            <a:pPr marL="0" indent="0">
              <a:buNone/>
            </a:pPr>
            <a:endParaRPr lang="en-US" dirty="0">
              <a:highlight>
                <a:srgbClr val="FFFF00"/>
              </a:highlight>
            </a:endParaRPr>
          </a:p>
          <a:p>
            <a:pPr marL="0" indent="0">
              <a:buNone/>
            </a:pPr>
            <a:r>
              <a:rPr lang="en-US" dirty="0"/>
              <a:t>10.</a:t>
            </a:r>
            <a:r>
              <a:rPr lang="en-US" b="1" dirty="0"/>
              <a:t>Smart Contracts:</a:t>
            </a:r>
          </a:p>
          <a:p>
            <a:pPr>
              <a:buFont typeface="Wingdings" panose="05000000000000000000" pitchFamily="2" charset="2"/>
              <a:buChar char="Ø"/>
            </a:pPr>
            <a:r>
              <a:rPr lang="en-US" dirty="0"/>
              <a:t> It is the guidelines between the peers.</a:t>
            </a:r>
          </a:p>
          <a:p>
            <a:pPr>
              <a:buFont typeface="Wingdings" panose="05000000000000000000" pitchFamily="2" charset="2"/>
              <a:buChar char="Ø"/>
            </a:pPr>
            <a:r>
              <a:rPr lang="en-US" dirty="0"/>
              <a:t> It is executed between the peers once  the transaction is initiated.</a:t>
            </a:r>
          </a:p>
        </p:txBody>
      </p:sp>
    </p:spTree>
    <p:extLst>
      <p:ext uri="{BB962C8B-B14F-4D97-AF65-F5344CB8AC3E}">
        <p14:creationId xmlns:p14="http://schemas.microsoft.com/office/powerpoint/2010/main" val="19679207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C9353-067C-FA2C-939B-C9EFD1815DFA}"/>
              </a:ext>
            </a:extLst>
          </p:cNvPr>
          <p:cNvSpPr>
            <a:spLocks noGrp="1"/>
          </p:cNvSpPr>
          <p:nvPr>
            <p:ph type="title"/>
          </p:nvPr>
        </p:nvSpPr>
        <p:spPr>
          <a:xfrm>
            <a:off x="1203960" y="0"/>
            <a:ext cx="10515600" cy="1325563"/>
          </a:xfrm>
        </p:spPr>
        <p:txBody>
          <a:bodyPr>
            <a:normAutofit/>
          </a:bodyPr>
          <a:lstStyle/>
          <a:p>
            <a:pPr algn="ctr"/>
            <a:r>
              <a:rPr lang="en-IN" b="1" i="0" u="none" strike="noStrike" baseline="0" dirty="0">
                <a:latin typeface="+mn-lt"/>
                <a:cs typeface="Times New Roman" panose="02020603050405020304" pitchFamily="18" charset="0"/>
              </a:rPr>
              <a:t>Features of a blockchain</a:t>
            </a:r>
            <a:endParaRPr lang="en-IN" dirty="0">
              <a:latin typeface="+mn-lt"/>
              <a:cs typeface="Times New Roman" panose="02020603050405020304" pitchFamily="18" charset="0"/>
            </a:endParaRPr>
          </a:p>
        </p:txBody>
      </p:sp>
      <p:sp>
        <p:nvSpPr>
          <p:cNvPr id="3" name="Content Placeholder 2">
            <a:extLst>
              <a:ext uri="{FF2B5EF4-FFF2-40B4-BE49-F238E27FC236}">
                <a16:creationId xmlns:a16="http://schemas.microsoft.com/office/drawing/2014/main" id="{573D03B7-CE22-E551-ACCB-C6D747CD59CA}"/>
              </a:ext>
            </a:extLst>
          </p:cNvPr>
          <p:cNvSpPr>
            <a:spLocks noGrp="1"/>
          </p:cNvSpPr>
          <p:nvPr>
            <p:ph idx="1"/>
          </p:nvPr>
        </p:nvSpPr>
        <p:spPr>
          <a:xfrm>
            <a:off x="1036320" y="1335723"/>
            <a:ext cx="10317480" cy="4851400"/>
          </a:xfrm>
        </p:spPr>
        <p:txBody>
          <a:bodyPr/>
          <a:lstStyle/>
          <a:p>
            <a:pPr algn="l"/>
            <a:r>
              <a:rPr lang="en-IN" sz="1800" b="1" i="0" u="none" strike="noStrike" baseline="0" dirty="0">
                <a:latin typeface="Arial-BoldMT"/>
              </a:rPr>
              <a:t>Distributed consensus : </a:t>
            </a:r>
            <a:r>
              <a:rPr lang="en-IN" sz="1800" b="0" i="0" u="none" strike="noStrike" baseline="0" dirty="0">
                <a:latin typeface="PalatinoLinotype-Roman"/>
              </a:rPr>
              <a:t>This enables a blockchain </a:t>
            </a:r>
            <a:r>
              <a:rPr lang="en-US" sz="1800" b="0" i="0" u="none" strike="noStrike" baseline="0" dirty="0">
                <a:latin typeface="PalatinoLinotype-Roman"/>
              </a:rPr>
              <a:t>to present a single version of truth that is agreed upon by all parties without the requirement of a central authority.</a:t>
            </a:r>
          </a:p>
          <a:p>
            <a:pPr algn="l"/>
            <a:r>
              <a:rPr lang="en-IN" sz="1800" b="1" i="0" u="none" strike="noStrike" baseline="0" dirty="0">
                <a:latin typeface="Arial-BoldMT"/>
              </a:rPr>
              <a:t>Transaction verification</a:t>
            </a:r>
            <a:r>
              <a:rPr lang="en-US" sz="1800" dirty="0">
                <a:latin typeface="PalatinoLinotype-Roman"/>
              </a:rPr>
              <a:t> : </a:t>
            </a:r>
            <a:r>
              <a:rPr lang="en-US" sz="1800" b="0" i="0" u="none" strike="noStrike" baseline="0" dirty="0">
                <a:latin typeface="PalatinoLinotype-Roman"/>
              </a:rPr>
              <a:t>Any transactions posted from nodes on the blockchain are verified based on a predetermined set of rules and only valid transactions are selected for inclusion in a block.</a:t>
            </a:r>
          </a:p>
          <a:p>
            <a:pPr algn="l"/>
            <a:r>
              <a:rPr lang="en-IN" sz="1800" b="1" i="0" u="none" strike="noStrike" baseline="0" dirty="0">
                <a:latin typeface="Arial-BoldMT"/>
              </a:rPr>
              <a:t>Platforms for smart contracts</a:t>
            </a:r>
            <a:r>
              <a:rPr lang="en-US" sz="1800" dirty="0">
                <a:latin typeface="PalatinoLinotype-Roman"/>
              </a:rPr>
              <a:t> : </a:t>
            </a:r>
            <a:r>
              <a:rPr lang="en-US" sz="1800" b="0" i="0" u="none" strike="noStrike" baseline="0" dirty="0">
                <a:latin typeface="PalatinoLinotype-Roman"/>
              </a:rPr>
              <a:t>A blockchain is a platform where programs can run that execute business logic on behalf of </a:t>
            </a:r>
            <a:r>
              <a:rPr lang="en-IN" sz="1800" b="0" i="0" u="none" strike="noStrike" baseline="0" dirty="0">
                <a:latin typeface="PalatinoLinotype-Roman"/>
              </a:rPr>
              <a:t>the users.</a:t>
            </a:r>
          </a:p>
          <a:p>
            <a:pPr algn="l"/>
            <a:r>
              <a:rPr lang="en-IN" sz="1800" b="1" i="0" u="none" strike="noStrike" baseline="0" dirty="0">
                <a:latin typeface="Arial-BoldMT"/>
              </a:rPr>
              <a:t>Transferring value between peers</a:t>
            </a:r>
            <a:r>
              <a:rPr lang="en-IN" sz="1800" dirty="0">
                <a:latin typeface="PalatinoLinotype-Roman"/>
              </a:rPr>
              <a:t> : </a:t>
            </a:r>
            <a:r>
              <a:rPr lang="en-US" sz="1800" b="0" i="0" u="none" strike="noStrike" baseline="0" dirty="0">
                <a:latin typeface="PalatinoLinotype-Roman"/>
              </a:rPr>
              <a:t>Blockchain enables the transfer of value between its users via tokens. Tokens can be thought of as a carrier of value.</a:t>
            </a:r>
          </a:p>
          <a:p>
            <a:pPr algn="l"/>
            <a:r>
              <a:rPr lang="en-IN" sz="1800" b="1" i="0" u="none" strike="noStrike" baseline="0" dirty="0">
                <a:latin typeface="Arial-BoldMT"/>
              </a:rPr>
              <a:t>Generating cryptocurrency</a:t>
            </a:r>
            <a:r>
              <a:rPr lang="en-US" sz="1800" dirty="0">
                <a:latin typeface="PalatinoLinotype-Roman"/>
              </a:rPr>
              <a:t> : </a:t>
            </a:r>
            <a:r>
              <a:rPr lang="en-IN" sz="1800" b="0" i="0" u="none" strike="noStrike" baseline="0" dirty="0">
                <a:latin typeface="PalatinoLinotype-Roman"/>
              </a:rPr>
              <a:t>A blockchain can </a:t>
            </a:r>
            <a:r>
              <a:rPr lang="en-US" sz="1800" b="0" i="0" u="none" strike="noStrike" baseline="0" dirty="0">
                <a:latin typeface="PalatinoLinotype-Roman"/>
              </a:rPr>
              <a:t>generate cryptocurrency as an to its miners who validate the transactions.</a:t>
            </a:r>
          </a:p>
          <a:p>
            <a:pPr algn="l"/>
            <a:r>
              <a:rPr lang="en-IN" sz="1800" b="1" i="0" u="none" strike="noStrike" baseline="0" dirty="0">
                <a:latin typeface="Arial-BoldMT"/>
              </a:rPr>
              <a:t>Smart property : </a:t>
            </a:r>
            <a:r>
              <a:rPr lang="en-US" sz="1800" b="0" i="0" u="none" strike="noStrike" baseline="0" dirty="0">
                <a:latin typeface="PalatinoLinotype-Roman"/>
              </a:rPr>
              <a:t>you are in full control of your asset and it cannot be double spent or double owned. </a:t>
            </a:r>
            <a:r>
              <a:rPr lang="en-IN" sz="1800" b="0" i="0" u="none" strike="noStrike" baseline="0" dirty="0">
                <a:latin typeface="PalatinoLinotype-Roman"/>
              </a:rPr>
              <a:t>The double </a:t>
            </a:r>
            <a:r>
              <a:rPr lang="en-US" sz="1800" b="0" i="0" u="none" strike="noStrike" baseline="0" dirty="0">
                <a:latin typeface="PalatinoLinotype-Roman"/>
              </a:rPr>
              <a:t>spend problem was first solved in bitcoin.</a:t>
            </a:r>
            <a:endParaRPr lang="en-IN" dirty="0"/>
          </a:p>
        </p:txBody>
      </p:sp>
    </p:spTree>
    <p:extLst>
      <p:ext uri="{BB962C8B-B14F-4D97-AF65-F5344CB8AC3E}">
        <p14:creationId xmlns:p14="http://schemas.microsoft.com/office/powerpoint/2010/main" val="17539696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25AE-E5B4-6A14-2197-E4A8F23D287E}"/>
              </a:ext>
            </a:extLst>
          </p:cNvPr>
          <p:cNvSpPr>
            <a:spLocks noGrp="1"/>
          </p:cNvSpPr>
          <p:nvPr>
            <p:ph type="title"/>
          </p:nvPr>
        </p:nvSpPr>
        <p:spPr>
          <a:xfrm>
            <a:off x="1092200" y="18255"/>
            <a:ext cx="10515600" cy="1325563"/>
          </a:xfrm>
        </p:spPr>
        <p:txBody>
          <a:bodyPr/>
          <a:lstStyle/>
          <a:p>
            <a:pPr algn="ctr"/>
            <a:r>
              <a:rPr lang="en-IN" sz="4400" b="1" i="0" u="none" strike="noStrike" baseline="0" dirty="0">
                <a:latin typeface="+mn-lt"/>
                <a:cs typeface="Times New Roman" panose="02020603050405020304" pitchFamily="18" charset="0"/>
              </a:rPr>
              <a:t>Features of a blockchain</a:t>
            </a:r>
            <a:endParaRPr lang="en-IN" dirty="0">
              <a:latin typeface="+mn-lt"/>
            </a:endParaRPr>
          </a:p>
        </p:txBody>
      </p:sp>
      <p:sp>
        <p:nvSpPr>
          <p:cNvPr id="3" name="Content Placeholder 2">
            <a:extLst>
              <a:ext uri="{FF2B5EF4-FFF2-40B4-BE49-F238E27FC236}">
                <a16:creationId xmlns:a16="http://schemas.microsoft.com/office/drawing/2014/main" id="{FC0B4C70-2067-8054-C96B-68149C21AA3A}"/>
              </a:ext>
            </a:extLst>
          </p:cNvPr>
          <p:cNvSpPr>
            <a:spLocks noGrp="1"/>
          </p:cNvSpPr>
          <p:nvPr>
            <p:ph idx="1"/>
          </p:nvPr>
        </p:nvSpPr>
        <p:spPr/>
        <p:txBody>
          <a:bodyPr/>
          <a:lstStyle/>
          <a:p>
            <a:pPr algn="l"/>
            <a:r>
              <a:rPr lang="en-IN" sz="1800" b="1" i="0" u="none" strike="noStrike" baseline="0" dirty="0">
                <a:latin typeface="Arial-BoldMT"/>
              </a:rPr>
              <a:t>Provider of security : </a:t>
            </a:r>
            <a:r>
              <a:rPr lang="en-US" sz="1800" b="0" i="0" u="none" strike="noStrike" baseline="0" dirty="0">
                <a:latin typeface="PalatinoLinotype-Roman"/>
              </a:rPr>
              <a:t>Blockchain is based on proven cryptographic technology that ensures the integrity and </a:t>
            </a:r>
            <a:r>
              <a:rPr lang="en-IN" sz="1800" b="0" i="0" u="none" strike="noStrike" baseline="0" dirty="0">
                <a:latin typeface="PalatinoLinotype-Roman"/>
              </a:rPr>
              <a:t>availability of data.</a:t>
            </a:r>
          </a:p>
          <a:p>
            <a:pPr algn="l"/>
            <a:r>
              <a:rPr lang="en-IN" sz="1800" b="1" i="0" u="none" strike="noStrike" baseline="0" dirty="0">
                <a:latin typeface="Arial-BoldMT"/>
              </a:rPr>
              <a:t>Immutability</a:t>
            </a:r>
            <a:r>
              <a:rPr lang="en-IN" sz="1800" dirty="0">
                <a:latin typeface="PalatinoLinotype-Roman"/>
              </a:rPr>
              <a:t> : </a:t>
            </a:r>
            <a:r>
              <a:rPr lang="en-US" sz="1800" b="0" i="0" u="none" strike="noStrike" baseline="0" dirty="0">
                <a:latin typeface="PalatinoLinotype-Roman"/>
              </a:rPr>
              <a:t>This is another key feature of blockchain: records once added onto the blockchain are </a:t>
            </a:r>
            <a:r>
              <a:rPr lang="en-IN" sz="1800" b="0" i="0" u="none" strike="noStrike" baseline="0" dirty="0">
                <a:latin typeface="PalatinoLinotype-Roman"/>
              </a:rPr>
              <a:t>immutable.</a:t>
            </a:r>
          </a:p>
          <a:p>
            <a:pPr algn="l"/>
            <a:r>
              <a:rPr lang="en-IN" sz="1800" b="1" i="0" u="none" strike="noStrike" baseline="0" dirty="0">
                <a:latin typeface="Arial-BoldMT"/>
              </a:rPr>
              <a:t>Uniqueness</a:t>
            </a:r>
            <a:r>
              <a:rPr lang="en-IN" sz="1800" dirty="0">
                <a:latin typeface="PalatinoLinotype-Roman"/>
              </a:rPr>
              <a:t> : </a:t>
            </a:r>
            <a:r>
              <a:rPr lang="en-US" sz="1800" b="0" i="0" u="none" strike="noStrike" baseline="0" dirty="0">
                <a:latin typeface="PalatinoLinotype-Roman"/>
              </a:rPr>
              <a:t>This feature of blockchain ensures that every transaction is unique and has not been spent </a:t>
            </a:r>
            <a:r>
              <a:rPr lang="en-IN" sz="1800" b="0" i="0" u="none" strike="noStrike" baseline="0" dirty="0">
                <a:latin typeface="PalatinoLinotype-Roman"/>
              </a:rPr>
              <a:t>already.</a:t>
            </a:r>
          </a:p>
          <a:p>
            <a:pPr algn="l"/>
            <a:r>
              <a:rPr lang="en-IN" sz="1800" b="1" i="0" u="none" strike="noStrike" baseline="0" dirty="0">
                <a:latin typeface="Arial-BoldMT"/>
              </a:rPr>
              <a:t>Smart contracts</a:t>
            </a:r>
            <a:r>
              <a:rPr lang="en-IN" sz="1800" dirty="0">
                <a:latin typeface="PalatinoLinotype-Roman"/>
              </a:rPr>
              <a:t> : </a:t>
            </a:r>
            <a:r>
              <a:rPr lang="en-IN" sz="1800" b="0" i="0" u="none" strike="noStrike" baseline="0" dirty="0">
                <a:latin typeface="PalatinoLinotype-Roman"/>
              </a:rPr>
              <a:t>These are automated autonomous </a:t>
            </a:r>
            <a:r>
              <a:rPr lang="en-US" sz="1800" b="0" i="0" u="none" strike="noStrike" baseline="0" dirty="0">
                <a:latin typeface="PalatinoLinotype-Roman"/>
              </a:rPr>
              <a:t>programs that reside on the blockchain and encapsulate business logic and code in order to execute a required function when certain conditions are met.</a:t>
            </a:r>
            <a:endParaRPr lang="en-IN" dirty="0"/>
          </a:p>
        </p:txBody>
      </p:sp>
    </p:spTree>
    <p:extLst>
      <p:ext uri="{BB962C8B-B14F-4D97-AF65-F5344CB8AC3E}">
        <p14:creationId xmlns:p14="http://schemas.microsoft.com/office/powerpoint/2010/main" val="10059253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00B050"/>
                </a:solidFill>
              </a:rPr>
              <a:t>Benefits</a:t>
            </a:r>
            <a:r>
              <a:rPr lang="en-IN" b="1" dirty="0"/>
              <a:t> and limitations of blockchain</a:t>
            </a:r>
            <a:endParaRPr lang="en-IN" dirty="0"/>
          </a:p>
        </p:txBody>
      </p:sp>
      <p:sp>
        <p:nvSpPr>
          <p:cNvPr id="3" name="Content Placeholder 2"/>
          <p:cNvSpPr>
            <a:spLocks noGrp="1"/>
          </p:cNvSpPr>
          <p:nvPr>
            <p:ph idx="1"/>
          </p:nvPr>
        </p:nvSpPr>
        <p:spPr/>
        <p:txBody>
          <a:bodyPr/>
          <a:lstStyle/>
          <a:p>
            <a:r>
              <a:rPr lang="en-IN" b="1" dirty="0"/>
              <a:t>Decentralization</a:t>
            </a:r>
          </a:p>
          <a:p>
            <a:r>
              <a:rPr lang="en-IN" b="1" dirty="0"/>
              <a:t>Transparency and trust</a:t>
            </a:r>
          </a:p>
          <a:p>
            <a:r>
              <a:rPr lang="en-IN" b="1" dirty="0"/>
              <a:t>Immutability</a:t>
            </a:r>
          </a:p>
          <a:p>
            <a:r>
              <a:rPr lang="en-IN" b="1" dirty="0"/>
              <a:t>High availability</a:t>
            </a:r>
          </a:p>
          <a:p>
            <a:r>
              <a:rPr lang="en-IN" b="1" dirty="0"/>
              <a:t>Highly secure</a:t>
            </a:r>
          </a:p>
          <a:p>
            <a:r>
              <a:rPr lang="en-IN" b="1" dirty="0"/>
              <a:t>Simplification of current paradigms</a:t>
            </a:r>
          </a:p>
          <a:p>
            <a:r>
              <a:rPr lang="en-IN" b="1" dirty="0"/>
              <a:t>Faster dealings</a:t>
            </a:r>
          </a:p>
          <a:p>
            <a:r>
              <a:rPr lang="en-IN" b="1" dirty="0"/>
              <a:t>Cost saving</a:t>
            </a:r>
            <a:endParaRPr lang="en-IN" dirty="0"/>
          </a:p>
        </p:txBody>
      </p:sp>
    </p:spTree>
    <p:extLst>
      <p:ext uri="{BB962C8B-B14F-4D97-AF65-F5344CB8AC3E}">
        <p14:creationId xmlns:p14="http://schemas.microsoft.com/office/powerpoint/2010/main" val="29717619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Benefits and </a:t>
            </a:r>
            <a:r>
              <a:rPr lang="en-IN" b="1" dirty="0">
                <a:solidFill>
                  <a:srgbClr val="00B050"/>
                </a:solidFill>
              </a:rPr>
              <a:t>limitations</a:t>
            </a:r>
            <a:r>
              <a:rPr lang="en-IN" b="1" dirty="0"/>
              <a:t> of blockchain</a:t>
            </a:r>
            <a:endParaRPr lang="en-IN" dirty="0"/>
          </a:p>
        </p:txBody>
      </p:sp>
      <p:sp>
        <p:nvSpPr>
          <p:cNvPr id="3" name="Content Placeholder 2"/>
          <p:cNvSpPr>
            <a:spLocks noGrp="1"/>
          </p:cNvSpPr>
          <p:nvPr>
            <p:ph idx="1"/>
          </p:nvPr>
        </p:nvSpPr>
        <p:spPr>
          <a:xfrm>
            <a:off x="838200" y="1513840"/>
            <a:ext cx="10515600" cy="4663123"/>
          </a:xfrm>
        </p:spPr>
        <p:txBody>
          <a:bodyPr>
            <a:normAutofit fontScale="77500" lnSpcReduction="20000"/>
          </a:bodyPr>
          <a:lstStyle/>
          <a:p>
            <a:pPr marL="0" indent="0" algn="just">
              <a:buNone/>
            </a:pPr>
            <a:r>
              <a:rPr lang="en-US" dirty="0">
                <a:highlight>
                  <a:srgbClr val="FFFF00"/>
                </a:highlight>
                <a:latin typeface="Arial" panose="020B0604020202020204" pitchFamily="34" charset="0"/>
                <a:cs typeface="Arial" panose="020B0604020202020204" pitchFamily="34" charset="0"/>
              </a:rPr>
              <a:t>1.Scalability</a:t>
            </a:r>
            <a:r>
              <a:rPr lang="en-US" dirty="0">
                <a:latin typeface="Arial" panose="020B0604020202020204" pitchFamily="34" charset="0"/>
                <a:cs typeface="Arial" panose="020B0604020202020204" pitchFamily="34" charset="0"/>
              </a:rPr>
              <a:t>:Limiting the number of transactions happening over the network. </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2.Adaptability</a:t>
            </a:r>
            <a:r>
              <a:rPr lang="en-US" dirty="0">
                <a:latin typeface="Arial" panose="020B0604020202020204" pitchFamily="34" charset="0"/>
                <a:cs typeface="Arial" panose="020B0604020202020204" pitchFamily="34" charset="0"/>
              </a:rPr>
              <a:t>:Adapting to the technological advancements and new use cases.</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3. Regulation</a:t>
            </a:r>
            <a:r>
              <a:rPr lang="en-US" dirty="0">
                <a:latin typeface="Arial" panose="020B0604020202020204" pitchFamily="34" charset="0"/>
                <a:cs typeface="Arial" panose="020B0604020202020204" pitchFamily="34" charset="0"/>
              </a:rPr>
              <a:t>: </a:t>
            </a:r>
            <a:r>
              <a:rPr lang="en-US" b="0" i="0" dirty="0">
                <a:effectLst/>
                <a:latin typeface="Arial" panose="020B0604020202020204" pitchFamily="34" charset="0"/>
                <a:cs typeface="Arial" panose="020B0604020202020204" pitchFamily="34" charset="0"/>
              </a:rPr>
              <a:t>Regulations can limit the ability of blockchain-based businesses to innovate and experiment with new ideas. </a:t>
            </a:r>
          </a:p>
          <a:p>
            <a:pPr marL="0" indent="0" algn="just">
              <a:buNone/>
            </a:pPr>
            <a:endParaRPr lang="en-US" dirty="0">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4. Relatively immature technology :</a:t>
            </a:r>
            <a:r>
              <a:rPr lang="en-US" b="0" i="0" dirty="0">
                <a:effectLst/>
                <a:latin typeface="Arial" panose="020B0604020202020204" pitchFamily="34" charset="0"/>
                <a:cs typeface="Arial" panose="020B0604020202020204" pitchFamily="34" charset="0"/>
              </a:rPr>
              <a:t>Blockchain technology is still considered a relatively new and immature technology, as it has only been around for about a decade. </a:t>
            </a:r>
          </a:p>
          <a:p>
            <a:pPr marL="0" indent="0" algn="just">
              <a:buNone/>
            </a:pPr>
            <a:endParaRPr lang="en-US" dirty="0">
              <a:highlight>
                <a:srgbClr val="FFFF00"/>
              </a:highlight>
              <a:latin typeface="Arial" panose="020B0604020202020204" pitchFamily="34" charset="0"/>
              <a:cs typeface="Arial" panose="020B0604020202020204" pitchFamily="34" charset="0"/>
            </a:endParaRPr>
          </a:p>
          <a:p>
            <a:pPr marL="0" indent="0" algn="just">
              <a:buNone/>
            </a:pPr>
            <a:r>
              <a:rPr lang="en-US" dirty="0">
                <a:highlight>
                  <a:srgbClr val="FFFF00"/>
                </a:highlight>
                <a:latin typeface="Arial" panose="020B0604020202020204" pitchFamily="34" charset="0"/>
                <a:cs typeface="Arial" panose="020B0604020202020204" pitchFamily="34" charset="0"/>
              </a:rPr>
              <a:t>5.Privacy:</a:t>
            </a:r>
            <a:r>
              <a:rPr lang="en-US" b="0" i="0" dirty="0">
                <a:effectLst/>
                <a:latin typeface="Arial" panose="020B0604020202020204" pitchFamily="34" charset="0"/>
                <a:cs typeface="Arial" panose="020B0604020202020204" pitchFamily="34" charset="0"/>
              </a:rPr>
              <a:t>The lack of privacy on public blockchains can limit adoption, as some businesses or individuals may be hesitant to use .</a:t>
            </a:r>
            <a:endParaRPr lang="en-IN"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44166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9C2AA-F77B-4987-A0EC-F66E3E4CC6DF}"/>
              </a:ext>
            </a:extLst>
          </p:cNvPr>
          <p:cNvSpPr>
            <a:spLocks noGrp="1"/>
          </p:cNvSpPr>
          <p:nvPr>
            <p:ph type="title"/>
          </p:nvPr>
        </p:nvSpPr>
        <p:spPr/>
        <p:txBody>
          <a:bodyPr/>
          <a:lstStyle/>
          <a:p>
            <a:r>
              <a:rPr lang="en-US" b="1" dirty="0"/>
              <a:t>                TYPES OF BLOCKCHAIN</a:t>
            </a:r>
            <a:endParaRPr lang="en-IN" b="1" dirty="0"/>
          </a:p>
        </p:txBody>
      </p:sp>
      <p:sp>
        <p:nvSpPr>
          <p:cNvPr id="3" name="Content Placeholder 2">
            <a:extLst>
              <a:ext uri="{FF2B5EF4-FFF2-40B4-BE49-F238E27FC236}">
                <a16:creationId xmlns:a16="http://schemas.microsoft.com/office/drawing/2014/main" id="{4F0B23F2-D0FA-2419-4812-3729D60FDAD1}"/>
              </a:ext>
            </a:extLst>
          </p:cNvPr>
          <p:cNvSpPr>
            <a:spLocks noGrp="1"/>
          </p:cNvSpPr>
          <p:nvPr>
            <p:ph idx="1"/>
          </p:nvPr>
        </p:nvSpPr>
        <p:spPr/>
        <p:txBody>
          <a:bodyPr>
            <a:normAutofit fontScale="92500" lnSpcReduction="20000"/>
          </a:bodyPr>
          <a:lstStyle/>
          <a:p>
            <a:pPr marL="0" indent="0">
              <a:buNone/>
            </a:pPr>
            <a:r>
              <a:rPr lang="en-US" dirty="0"/>
              <a:t>1.Public Blockchain</a:t>
            </a:r>
          </a:p>
          <a:p>
            <a:pPr marL="0" indent="0">
              <a:buNone/>
            </a:pPr>
            <a:r>
              <a:rPr lang="en-US" dirty="0"/>
              <a:t>2.Private Blockchain</a:t>
            </a:r>
          </a:p>
          <a:p>
            <a:pPr marL="0" indent="0">
              <a:buNone/>
            </a:pPr>
            <a:r>
              <a:rPr lang="en-US" dirty="0"/>
              <a:t>3.Semi private Blockchain</a:t>
            </a:r>
          </a:p>
          <a:p>
            <a:pPr marL="0" indent="0">
              <a:buNone/>
            </a:pPr>
            <a:r>
              <a:rPr lang="en-US" dirty="0"/>
              <a:t>4.Sidechain</a:t>
            </a:r>
          </a:p>
          <a:p>
            <a:pPr marL="0" indent="0">
              <a:buNone/>
            </a:pPr>
            <a:r>
              <a:rPr lang="en-US" dirty="0"/>
              <a:t>5.Permissioned Ledger</a:t>
            </a:r>
          </a:p>
          <a:p>
            <a:pPr marL="0" indent="0">
              <a:buNone/>
            </a:pPr>
            <a:r>
              <a:rPr lang="en-US" dirty="0"/>
              <a:t>6.Distributed Ledger</a:t>
            </a:r>
          </a:p>
          <a:p>
            <a:pPr marL="0" indent="0">
              <a:buNone/>
            </a:pPr>
            <a:r>
              <a:rPr lang="en-US" dirty="0"/>
              <a:t>7.Shared Ledger</a:t>
            </a:r>
          </a:p>
          <a:p>
            <a:pPr marL="0" indent="0">
              <a:buNone/>
            </a:pPr>
            <a:r>
              <a:rPr lang="en-US" dirty="0"/>
              <a:t>8. Fully private and proprietary blockchains</a:t>
            </a:r>
          </a:p>
          <a:p>
            <a:pPr marL="0" indent="0">
              <a:buNone/>
            </a:pPr>
            <a:r>
              <a:rPr lang="en-US" dirty="0"/>
              <a:t>9.</a:t>
            </a:r>
            <a:r>
              <a:rPr lang="en-IN" dirty="0"/>
              <a:t> Tokenized blockchains </a:t>
            </a:r>
          </a:p>
          <a:p>
            <a:pPr marL="0" indent="0">
              <a:buNone/>
            </a:pPr>
            <a:r>
              <a:rPr lang="en-IN" dirty="0"/>
              <a:t>10.Tokenless blockchains</a:t>
            </a:r>
          </a:p>
        </p:txBody>
      </p:sp>
    </p:spTree>
    <p:extLst>
      <p:ext uri="{BB962C8B-B14F-4D97-AF65-F5344CB8AC3E}">
        <p14:creationId xmlns:p14="http://schemas.microsoft.com/office/powerpoint/2010/main" val="11253229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9480" y="18255"/>
            <a:ext cx="10515600" cy="1325563"/>
          </a:xfrm>
        </p:spPr>
        <p:txBody>
          <a:bodyPr/>
          <a:lstStyle/>
          <a:p>
            <a:pPr algn="ctr"/>
            <a:r>
              <a:rPr lang="en-IN" b="1" dirty="0">
                <a:latin typeface="+mn-lt"/>
              </a:rPr>
              <a:t>Types of blockchain</a:t>
            </a:r>
            <a:endParaRPr lang="en-IN" dirty="0">
              <a:latin typeface="+mn-lt"/>
            </a:endParaRPr>
          </a:p>
        </p:txBody>
      </p:sp>
      <p:sp>
        <p:nvSpPr>
          <p:cNvPr id="3" name="Content Placeholder 2"/>
          <p:cNvSpPr>
            <a:spLocks noGrp="1"/>
          </p:cNvSpPr>
          <p:nvPr>
            <p:ph idx="1"/>
          </p:nvPr>
        </p:nvSpPr>
        <p:spPr>
          <a:xfrm>
            <a:off x="919480" y="1127760"/>
            <a:ext cx="10434320" cy="5049203"/>
          </a:xfrm>
        </p:spPr>
        <p:txBody>
          <a:bodyPr>
            <a:normAutofit/>
          </a:bodyPr>
          <a:lstStyle/>
          <a:p>
            <a:pPr marL="0" indent="0">
              <a:buNone/>
            </a:pPr>
            <a:r>
              <a:rPr lang="en-IN" b="1" dirty="0"/>
              <a:t>1) Public blockchains : </a:t>
            </a:r>
          </a:p>
          <a:p>
            <a:pPr lvl="1"/>
            <a:r>
              <a:rPr lang="en-IN" dirty="0"/>
              <a:t>Most of the time we use public blockchain.</a:t>
            </a:r>
          </a:p>
          <a:p>
            <a:pPr lvl="1"/>
            <a:r>
              <a:rPr lang="en-IN" dirty="0"/>
              <a:t>open to the public and anyone can participate.</a:t>
            </a:r>
          </a:p>
          <a:p>
            <a:pPr lvl="1"/>
            <a:r>
              <a:rPr lang="en-IN" dirty="0"/>
              <a:t>It is also called as permissionless blockchain.</a:t>
            </a:r>
          </a:p>
          <a:p>
            <a:pPr lvl="1"/>
            <a:r>
              <a:rPr lang="en-IN" dirty="0"/>
              <a:t>Any node which is part of blockchains should verify and validate.</a:t>
            </a:r>
          </a:p>
          <a:p>
            <a:pPr marL="0" indent="0">
              <a:buNone/>
            </a:pPr>
            <a:r>
              <a:rPr lang="en-IN" b="1" dirty="0"/>
              <a:t>2) Private blockchains :</a:t>
            </a:r>
          </a:p>
          <a:p>
            <a:pPr lvl="1"/>
            <a:r>
              <a:rPr lang="en-IN" dirty="0"/>
              <a:t>It is also called as permission blockchain/Managed blockchain.</a:t>
            </a:r>
          </a:p>
          <a:p>
            <a:pPr lvl="1"/>
            <a:r>
              <a:rPr lang="en-IN" dirty="0"/>
              <a:t>Its controlled by a single organization.</a:t>
            </a:r>
          </a:p>
          <a:p>
            <a:pPr lvl="1"/>
            <a:r>
              <a:rPr lang="en-IN" dirty="0"/>
              <a:t>Centralized node determination.</a:t>
            </a:r>
          </a:p>
          <a:p>
            <a:pPr lvl="1"/>
            <a:r>
              <a:rPr lang="en-IN" dirty="0"/>
              <a:t>open only to group of individuals or organizations ,</a:t>
            </a:r>
            <a:r>
              <a:rPr lang="en-US" dirty="0"/>
              <a:t>that has decided to share ledger among themselves.</a:t>
            </a:r>
          </a:p>
          <a:p>
            <a:pPr lvl="1"/>
            <a:r>
              <a:rPr lang="en-IN" dirty="0"/>
              <a:t>Partial Decentralization.</a:t>
            </a:r>
          </a:p>
        </p:txBody>
      </p:sp>
    </p:spTree>
    <p:extLst>
      <p:ext uri="{BB962C8B-B14F-4D97-AF65-F5344CB8AC3E}">
        <p14:creationId xmlns:p14="http://schemas.microsoft.com/office/powerpoint/2010/main" val="17071352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1D675A-D3A1-33CD-E2E5-D03807C271B6}"/>
              </a:ext>
            </a:extLst>
          </p:cNvPr>
          <p:cNvSpPr>
            <a:spLocks noGrp="1"/>
          </p:cNvSpPr>
          <p:nvPr>
            <p:ph idx="1"/>
          </p:nvPr>
        </p:nvSpPr>
        <p:spPr>
          <a:xfrm>
            <a:off x="762000" y="975360"/>
            <a:ext cx="10591800" cy="5201603"/>
          </a:xfrm>
        </p:spPr>
        <p:txBody>
          <a:bodyPr>
            <a:normAutofit fontScale="92500" lnSpcReduction="10000"/>
          </a:bodyPr>
          <a:lstStyle/>
          <a:p>
            <a:pPr marL="0" indent="0">
              <a:buNone/>
            </a:pPr>
            <a:r>
              <a:rPr lang="en-IN" b="1" dirty="0"/>
              <a:t>3) Semi-private blockchains : </a:t>
            </a:r>
          </a:p>
          <a:p>
            <a:pPr lvl="1"/>
            <a:r>
              <a:rPr lang="en-US" dirty="0"/>
              <a:t>Part of the blockchain is private and part of it is public. </a:t>
            </a:r>
          </a:p>
          <a:p>
            <a:pPr lvl="1"/>
            <a:r>
              <a:rPr lang="en-US" dirty="0"/>
              <a:t>The private part is controlled by a group of individuals .</a:t>
            </a:r>
          </a:p>
          <a:p>
            <a:pPr lvl="1"/>
            <a:r>
              <a:rPr lang="en-US" dirty="0"/>
              <a:t>whereas the public part is open for participation by anyone. </a:t>
            </a:r>
            <a:endParaRPr lang="en-IN" dirty="0"/>
          </a:p>
          <a:p>
            <a:pPr marL="0" indent="0">
              <a:buNone/>
            </a:pPr>
            <a:r>
              <a:rPr lang="en-IN" b="1" dirty="0"/>
              <a:t>4) Sidechains : </a:t>
            </a:r>
          </a:p>
          <a:p>
            <a:r>
              <a:rPr lang="en-US" b="0" i="0" dirty="0">
                <a:effectLst/>
                <a:latin typeface="Söhne"/>
              </a:rPr>
              <a:t>The basic idea of sidechains is to create a new blockchain network that is connected to an existing blockchain, usually through a </a:t>
            </a:r>
            <a:r>
              <a:rPr lang="en-US" b="1" i="0" dirty="0">
                <a:effectLst/>
                <a:latin typeface="Söhne"/>
              </a:rPr>
              <a:t>two-way peg mechanism. </a:t>
            </a:r>
          </a:p>
          <a:p>
            <a:r>
              <a:rPr lang="en-US" b="0" i="0" dirty="0">
                <a:effectLst/>
                <a:latin typeface="Söhne"/>
              </a:rPr>
              <a:t>This enables assets to be transferred between the main blockchain and the sidechain allowing for greater flexibility and interoperability.</a:t>
            </a:r>
          </a:p>
          <a:p>
            <a:r>
              <a:rPr lang="en-IN" b="1" dirty="0"/>
              <a:t>They are 2 types :</a:t>
            </a:r>
          </a:p>
          <a:p>
            <a:pPr marL="0" indent="0">
              <a:buNone/>
            </a:pPr>
            <a:r>
              <a:rPr lang="en-IN" dirty="0">
                <a:solidFill>
                  <a:srgbClr val="C00000"/>
                </a:solidFill>
              </a:rPr>
              <a:t>One way pegged sidechain:</a:t>
            </a:r>
          </a:p>
          <a:p>
            <a:pPr marL="0" indent="0">
              <a:buNone/>
            </a:pPr>
            <a:r>
              <a:rPr lang="en-US" dirty="0">
                <a:solidFill>
                  <a:srgbClr val="C00000"/>
                </a:solidFill>
                <a:latin typeface="Söhne"/>
              </a:rPr>
              <a:t>Two way pegged Sidechain:</a:t>
            </a:r>
          </a:p>
          <a:p>
            <a:pPr marL="0" indent="0">
              <a:buNone/>
            </a:pPr>
            <a:endParaRPr lang="en-IN" b="1" dirty="0"/>
          </a:p>
          <a:p>
            <a:endParaRPr lang="en-IN" dirty="0"/>
          </a:p>
        </p:txBody>
      </p:sp>
    </p:spTree>
    <p:extLst>
      <p:ext uri="{BB962C8B-B14F-4D97-AF65-F5344CB8AC3E}">
        <p14:creationId xmlns:p14="http://schemas.microsoft.com/office/powerpoint/2010/main" val="625617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04B730-2AD4-B63F-6A3A-89BF91F14056}"/>
              </a:ext>
            </a:extLst>
          </p:cNvPr>
          <p:cNvSpPr>
            <a:spLocks noGrp="1"/>
          </p:cNvSpPr>
          <p:nvPr>
            <p:ph idx="1"/>
          </p:nvPr>
        </p:nvSpPr>
        <p:spPr>
          <a:xfrm>
            <a:off x="680720" y="457200"/>
            <a:ext cx="10673080" cy="5719763"/>
          </a:xfrm>
        </p:spPr>
        <p:txBody>
          <a:bodyPr/>
          <a:lstStyle/>
          <a:p>
            <a:pPr marL="0" indent="0">
              <a:buNone/>
            </a:pPr>
            <a:r>
              <a:rPr lang="en-IN" b="1" dirty="0"/>
              <a:t>5) Permissioned ledger :  </a:t>
            </a:r>
          </a:p>
          <a:p>
            <a:pPr lvl="1"/>
            <a:r>
              <a:rPr lang="en-IN" dirty="0"/>
              <a:t>participants of the network are known and already trusted. </a:t>
            </a:r>
          </a:p>
          <a:p>
            <a:pPr lvl="1"/>
            <a:r>
              <a:rPr lang="en-IN" dirty="0"/>
              <a:t>Permissioned ledgers do not need to use a distributed consensus mechanism, instead an agreement protocol can be used.</a:t>
            </a:r>
          </a:p>
          <a:p>
            <a:pPr lvl="1"/>
            <a:r>
              <a:rPr lang="en-IN" dirty="0"/>
              <a:t>No requirement for permissioned Blockchain to be private , it can be public but with regulated access control.</a:t>
            </a:r>
          </a:p>
          <a:p>
            <a:pPr lvl="1"/>
            <a:r>
              <a:rPr lang="en-IN" dirty="0"/>
              <a:t>Provide greater privacy compared to public.</a:t>
            </a:r>
          </a:p>
          <a:p>
            <a:pPr marL="0" lvl="1" indent="0">
              <a:spcBef>
                <a:spcPts val="1000"/>
              </a:spcBef>
              <a:buNone/>
            </a:pPr>
            <a:r>
              <a:rPr lang="en-IN" sz="2800" b="1" dirty="0"/>
              <a:t>6) Distributed ledger : </a:t>
            </a:r>
          </a:p>
          <a:p>
            <a:pPr lvl="1"/>
            <a:r>
              <a:rPr lang="en-IN" dirty="0"/>
              <a:t>ledger is distributed among its participants and spread across multiple sites or organizations.</a:t>
            </a:r>
          </a:p>
          <a:p>
            <a:pPr lvl="1"/>
            <a:r>
              <a:rPr lang="en-US" b="0" i="0" dirty="0">
                <a:effectLst/>
                <a:latin typeface="Söhne"/>
              </a:rPr>
              <a:t>Each computer in the network (known as a node) has a copy of the ledger, which is updated in real-time as new transactions are added.</a:t>
            </a:r>
          </a:p>
          <a:p>
            <a:pPr lvl="1"/>
            <a:r>
              <a:rPr lang="en-US" dirty="0"/>
              <a:t>This type can either be private or public.</a:t>
            </a:r>
            <a:endParaRPr lang="en-US" dirty="0">
              <a:latin typeface="Söhne"/>
            </a:endParaRPr>
          </a:p>
          <a:p>
            <a:pPr lvl="1"/>
            <a:endParaRPr lang="en-US" b="0" i="0" dirty="0">
              <a:effectLst/>
              <a:latin typeface="Söhne"/>
            </a:endParaRPr>
          </a:p>
          <a:p>
            <a:pPr lvl="1"/>
            <a:endParaRPr lang="en-IN" dirty="0"/>
          </a:p>
          <a:p>
            <a:pPr lvl="1"/>
            <a:endParaRPr lang="en-IN" dirty="0"/>
          </a:p>
          <a:p>
            <a:pPr marL="457200" lvl="1" indent="0">
              <a:buNone/>
            </a:pPr>
            <a:endParaRPr lang="en-IN" dirty="0"/>
          </a:p>
          <a:p>
            <a:endParaRPr lang="en-IN" dirty="0"/>
          </a:p>
        </p:txBody>
      </p:sp>
    </p:spTree>
    <p:extLst>
      <p:ext uri="{BB962C8B-B14F-4D97-AF65-F5344CB8AC3E}">
        <p14:creationId xmlns:p14="http://schemas.microsoft.com/office/powerpoint/2010/main" val="26878479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1840" y="711200"/>
            <a:ext cx="10601960" cy="5465763"/>
          </a:xfrm>
        </p:spPr>
        <p:txBody>
          <a:bodyPr>
            <a:normAutofit/>
          </a:bodyPr>
          <a:lstStyle/>
          <a:p>
            <a:pPr marL="0" indent="0">
              <a:buNone/>
            </a:pPr>
            <a:r>
              <a:rPr lang="en-IN" dirty="0"/>
              <a:t>7) </a:t>
            </a:r>
            <a:r>
              <a:rPr lang="en-IN" b="1" dirty="0"/>
              <a:t>Shared ledger : </a:t>
            </a:r>
          </a:p>
          <a:p>
            <a:pPr lvl="1"/>
            <a:r>
              <a:rPr lang="en-US" dirty="0">
                <a:latin typeface="Söhne"/>
              </a:rPr>
              <a:t>E</a:t>
            </a:r>
            <a:r>
              <a:rPr lang="en-US" b="0" i="0" dirty="0">
                <a:effectLst/>
                <a:latin typeface="Söhne"/>
              </a:rPr>
              <a:t>ach participant in the network has access to the same copy of the ledger.</a:t>
            </a:r>
            <a:endParaRPr lang="en-IN" b="1" dirty="0"/>
          </a:p>
          <a:p>
            <a:pPr lvl="1"/>
            <a:r>
              <a:rPr lang="en-IN" dirty="0"/>
              <a:t>Any application or database that is shared by the public.</a:t>
            </a:r>
          </a:p>
          <a:p>
            <a:pPr lvl="1"/>
            <a:r>
              <a:rPr lang="en-US" b="0" i="0" dirty="0">
                <a:effectLst/>
                <a:latin typeface="Söhne"/>
              </a:rPr>
              <a:t>Shared ledgers are often used in business-to-business transactions, where multiple parties need to track the movement of goods, payments, or other assets</a:t>
            </a:r>
            <a:endParaRPr lang="en-IN" dirty="0"/>
          </a:p>
          <a:p>
            <a:pPr marL="0" indent="0">
              <a:buNone/>
            </a:pPr>
            <a:r>
              <a:rPr lang="en-IN" b="1" dirty="0"/>
              <a:t>8) Fully private and proprietary blockchains : </a:t>
            </a:r>
          </a:p>
          <a:p>
            <a:pPr lvl="1"/>
            <a:r>
              <a:rPr lang="en-IN" dirty="0"/>
              <a:t>Blockchains have no mainstream application as they deviate from the core idea of decentralization in blockchain technology.</a:t>
            </a:r>
          </a:p>
          <a:p>
            <a:pPr lvl="1"/>
            <a:r>
              <a:rPr lang="en-US" dirty="0"/>
              <a:t>For example, for collaboration and sharing data between various government departments.</a:t>
            </a:r>
            <a:endParaRPr lang="en-IN" dirty="0"/>
          </a:p>
          <a:p>
            <a:endParaRPr lang="en-IN" dirty="0"/>
          </a:p>
        </p:txBody>
      </p:sp>
    </p:spTree>
    <p:extLst>
      <p:ext uri="{BB962C8B-B14F-4D97-AF65-F5344CB8AC3E}">
        <p14:creationId xmlns:p14="http://schemas.microsoft.com/office/powerpoint/2010/main" val="2023402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6FCADD-8BC9-77AE-C5B6-C00DCF5CA0B2}"/>
              </a:ext>
            </a:extLst>
          </p:cNvPr>
          <p:cNvSpPr>
            <a:spLocks noGrp="1"/>
          </p:cNvSpPr>
          <p:nvPr>
            <p:ph idx="1"/>
          </p:nvPr>
        </p:nvSpPr>
        <p:spPr>
          <a:xfrm>
            <a:off x="914400" y="589280"/>
            <a:ext cx="10439400" cy="5587683"/>
          </a:xfrm>
        </p:spPr>
        <p:txBody>
          <a:bodyPr/>
          <a:lstStyle/>
          <a:p>
            <a:pPr marL="0" indent="0">
              <a:buNone/>
            </a:pPr>
            <a:r>
              <a:rPr lang="en-IN" b="1" dirty="0"/>
              <a:t>9) Tokenized blockchains : </a:t>
            </a:r>
          </a:p>
          <a:p>
            <a:r>
              <a:rPr lang="en-IN" dirty="0"/>
              <a:t>Blockchains are standard blockchains that generate cryptocurrency as a result of a consensus process via mining.</a:t>
            </a:r>
          </a:p>
          <a:p>
            <a:endParaRPr lang="en-IN" dirty="0"/>
          </a:p>
          <a:p>
            <a:pPr marL="0" indent="0">
              <a:buNone/>
            </a:pPr>
            <a:r>
              <a:rPr lang="en-IN" b="1" dirty="0"/>
              <a:t>10) </a:t>
            </a:r>
            <a:r>
              <a:rPr lang="en-IN" b="1" dirty="0" err="1"/>
              <a:t>Tokenless</a:t>
            </a:r>
            <a:r>
              <a:rPr lang="en-IN" b="1" dirty="0"/>
              <a:t> blockchains : </a:t>
            </a:r>
          </a:p>
          <a:p>
            <a:r>
              <a:rPr lang="en-US" dirty="0"/>
              <a:t>Probably not real blockchains.</a:t>
            </a:r>
            <a:endParaRPr lang="en-IN" dirty="0"/>
          </a:p>
          <a:p>
            <a:r>
              <a:rPr lang="en-IN" dirty="0"/>
              <a:t>lack in basic unit of transfer of value but are still valuable in situations.</a:t>
            </a:r>
          </a:p>
          <a:p>
            <a:r>
              <a:rPr lang="en-US" dirty="0"/>
              <a:t>They are still valuable in situations where there is no need to transfer value between nodes and only sharing some data among various already trusted parties is required.</a:t>
            </a:r>
          </a:p>
          <a:p>
            <a:endParaRPr lang="en-IN" dirty="0"/>
          </a:p>
          <a:p>
            <a:endParaRPr lang="en-IN" dirty="0"/>
          </a:p>
        </p:txBody>
      </p:sp>
    </p:spTree>
    <p:extLst>
      <p:ext uri="{BB962C8B-B14F-4D97-AF65-F5344CB8AC3E}">
        <p14:creationId xmlns:p14="http://schemas.microsoft.com/office/powerpoint/2010/main" val="3004337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AA4D5-387F-0262-05B2-1006A8A9B818}"/>
              </a:ext>
            </a:extLst>
          </p:cNvPr>
          <p:cNvSpPr>
            <a:spLocks noGrp="1"/>
          </p:cNvSpPr>
          <p:nvPr>
            <p:ph type="title"/>
          </p:nvPr>
        </p:nvSpPr>
        <p:spPr>
          <a:xfrm>
            <a:off x="594360" y="-398305"/>
            <a:ext cx="10515600" cy="1325563"/>
          </a:xfrm>
        </p:spPr>
        <p:txBody>
          <a:bodyPr/>
          <a:lstStyle/>
          <a:p>
            <a:pPr algn="ctr"/>
            <a:r>
              <a:rPr lang="en-US" b="1" dirty="0"/>
              <a:t>CONSENSUS</a:t>
            </a:r>
            <a:endParaRPr lang="en-IN" dirty="0"/>
          </a:p>
        </p:txBody>
      </p:sp>
      <p:sp>
        <p:nvSpPr>
          <p:cNvPr id="3" name="Content Placeholder 2">
            <a:extLst>
              <a:ext uri="{FF2B5EF4-FFF2-40B4-BE49-F238E27FC236}">
                <a16:creationId xmlns:a16="http://schemas.microsoft.com/office/drawing/2014/main" id="{D9DF97CD-A3C4-F97C-A3B5-7AC0AD75FF2C}"/>
              </a:ext>
            </a:extLst>
          </p:cNvPr>
          <p:cNvSpPr>
            <a:spLocks noGrp="1"/>
          </p:cNvSpPr>
          <p:nvPr>
            <p:ph idx="1"/>
          </p:nvPr>
        </p:nvSpPr>
        <p:spPr>
          <a:xfrm>
            <a:off x="680720" y="927258"/>
            <a:ext cx="10673080" cy="5554822"/>
          </a:xfrm>
        </p:spPr>
        <p:txBody>
          <a:bodyPr>
            <a:normAutofit/>
          </a:bodyPr>
          <a:lstStyle/>
          <a:p>
            <a:pPr algn="just">
              <a:buFont typeface="Wingdings" panose="05000000000000000000" pitchFamily="2" charset="2"/>
              <a:buChar char="Ø"/>
            </a:pPr>
            <a:r>
              <a:rPr lang="en-US" dirty="0"/>
              <a:t>Consensus is the agreement between two nodes in a network.</a:t>
            </a:r>
          </a:p>
          <a:p>
            <a:pPr algn="just">
              <a:buFont typeface="Wingdings" panose="05000000000000000000" pitchFamily="2" charset="2"/>
              <a:buChar char="Ø"/>
            </a:pPr>
            <a:r>
              <a:rPr lang="en-IN" dirty="0"/>
              <a:t>Following are the requirements for achieving consensus in the DS.</a:t>
            </a:r>
          </a:p>
          <a:p>
            <a:pPr lvl="1" algn="just">
              <a:buFont typeface="Wingdings" panose="05000000000000000000" pitchFamily="2" charset="2"/>
              <a:buChar char="Ø"/>
            </a:pPr>
            <a:r>
              <a:rPr lang="en-IN" sz="2800" b="1" dirty="0">
                <a:highlight>
                  <a:srgbClr val="FFFF00"/>
                </a:highlight>
              </a:rPr>
              <a:t>Agreement: </a:t>
            </a:r>
            <a:r>
              <a:rPr lang="en-IN" sz="2800" dirty="0"/>
              <a:t>All the nodes agree upon the same value.</a:t>
            </a:r>
            <a:endParaRPr lang="en-IN" sz="2800" b="1" dirty="0">
              <a:highlight>
                <a:srgbClr val="FFFF00"/>
              </a:highlight>
            </a:endParaRPr>
          </a:p>
          <a:p>
            <a:pPr lvl="1" algn="just">
              <a:buFont typeface="Wingdings" panose="05000000000000000000" pitchFamily="2" charset="2"/>
              <a:buChar char="Ø"/>
            </a:pPr>
            <a:r>
              <a:rPr lang="en-IN" sz="2800" b="1" dirty="0">
                <a:highlight>
                  <a:srgbClr val="FFFF00"/>
                </a:highlight>
              </a:rPr>
              <a:t>Termination</a:t>
            </a:r>
            <a:r>
              <a:rPr lang="en-IN" sz="2800" dirty="0">
                <a:highlight>
                  <a:srgbClr val="FFFF00"/>
                </a:highlight>
              </a:rPr>
              <a:t>:</a:t>
            </a:r>
            <a:r>
              <a:rPr lang="en-US" sz="2800" dirty="0"/>
              <a:t>All honest nodes terminate execution of the consensus process and eventually reach a decision.</a:t>
            </a:r>
            <a:endParaRPr lang="en-IN" sz="2800" dirty="0"/>
          </a:p>
          <a:p>
            <a:pPr lvl="1" algn="just">
              <a:buFont typeface="Wingdings" panose="05000000000000000000" pitchFamily="2" charset="2"/>
              <a:buChar char="Ø"/>
            </a:pPr>
            <a:r>
              <a:rPr lang="en-US" sz="2800" b="1" dirty="0">
                <a:highlight>
                  <a:srgbClr val="FFFF00"/>
                </a:highlight>
              </a:rPr>
              <a:t>Validity</a:t>
            </a:r>
            <a:r>
              <a:rPr lang="en-US" sz="2800" dirty="0">
                <a:highlight>
                  <a:srgbClr val="FFFF00"/>
                </a:highlight>
              </a:rPr>
              <a:t>: </a:t>
            </a:r>
            <a:r>
              <a:rPr lang="en-US" sz="2800" dirty="0"/>
              <a:t>The value agreed upon by all honest nodes must be the same as the initial value proposed by at least one honest node.</a:t>
            </a:r>
          </a:p>
          <a:p>
            <a:pPr lvl="1">
              <a:buFont typeface="Wingdings" panose="05000000000000000000" pitchFamily="2" charset="2"/>
              <a:buChar char="Ø"/>
            </a:pPr>
            <a:r>
              <a:rPr lang="en-US" sz="2800" b="1" dirty="0">
                <a:highlight>
                  <a:srgbClr val="FFFF00"/>
                </a:highlight>
              </a:rPr>
              <a:t>Fault tolerant</a:t>
            </a:r>
            <a:r>
              <a:rPr lang="en-US" sz="2800" dirty="0">
                <a:highlight>
                  <a:srgbClr val="FFFF00"/>
                </a:highlight>
              </a:rPr>
              <a:t>: </a:t>
            </a:r>
            <a:r>
              <a:rPr lang="en-US" sz="2800" dirty="0"/>
              <a:t>The consensus algorithm should be able to run in the presence of faulty or malicious nodes (Byzantine nodes).</a:t>
            </a:r>
          </a:p>
          <a:p>
            <a:pPr lvl="1">
              <a:buFont typeface="Wingdings" panose="05000000000000000000" pitchFamily="2" charset="2"/>
              <a:buChar char="Ø"/>
            </a:pPr>
            <a:r>
              <a:rPr lang="en-US" sz="2800" b="1" dirty="0">
                <a:highlight>
                  <a:srgbClr val="FFFF00"/>
                </a:highlight>
              </a:rPr>
              <a:t>Integrity</a:t>
            </a:r>
            <a:r>
              <a:rPr lang="en-US" sz="2800" dirty="0">
                <a:highlight>
                  <a:srgbClr val="FFFF00"/>
                </a:highlight>
              </a:rPr>
              <a:t>: </a:t>
            </a:r>
            <a:r>
              <a:rPr lang="en-US" sz="2800" dirty="0"/>
              <a:t>This is a requirement whereby no node makes the decision more than once. The nodes make decisions only once in a single consensus cycle.</a:t>
            </a:r>
            <a:endParaRPr lang="en-IN" sz="2800" dirty="0"/>
          </a:p>
          <a:p>
            <a:pPr algn="just">
              <a:buFont typeface="Wingdings" panose="05000000000000000000" pitchFamily="2" charset="2"/>
              <a:buChar char="Ø"/>
            </a:pPr>
            <a:endParaRPr lang="en-IN" dirty="0"/>
          </a:p>
          <a:p>
            <a:pPr algn="just">
              <a:buFont typeface="Wingdings" panose="05000000000000000000" pitchFamily="2" charset="2"/>
              <a:buChar char="Ø"/>
            </a:pPr>
            <a:endParaRPr lang="en-US" dirty="0"/>
          </a:p>
          <a:p>
            <a:pPr marL="0" indent="0" algn="just">
              <a:buNone/>
            </a:pPr>
            <a:endParaRPr lang="en-US" b="1" dirty="0"/>
          </a:p>
          <a:p>
            <a:endParaRPr lang="en-IN" dirty="0"/>
          </a:p>
        </p:txBody>
      </p:sp>
    </p:spTree>
    <p:extLst>
      <p:ext uri="{BB962C8B-B14F-4D97-AF65-F5344CB8AC3E}">
        <p14:creationId xmlns:p14="http://schemas.microsoft.com/office/powerpoint/2010/main" val="2660457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B7875D-A0FB-9FBC-375B-F26F33C00C51}"/>
              </a:ext>
            </a:extLst>
          </p:cNvPr>
          <p:cNvSpPr>
            <a:spLocks noGrp="1"/>
          </p:cNvSpPr>
          <p:nvPr>
            <p:ph idx="1"/>
          </p:nvPr>
        </p:nvSpPr>
        <p:spPr>
          <a:xfrm>
            <a:off x="426720" y="335280"/>
            <a:ext cx="10927080" cy="5841683"/>
          </a:xfrm>
        </p:spPr>
        <p:txBody>
          <a:bodyPr/>
          <a:lstStyle/>
          <a:p>
            <a:pPr>
              <a:buFont typeface="Wingdings" panose="05000000000000000000" pitchFamily="2" charset="2"/>
              <a:buChar char="Ø"/>
            </a:pPr>
            <a:r>
              <a:rPr lang="en-US" b="1" dirty="0">
                <a:solidFill>
                  <a:srgbClr val="FF0000"/>
                </a:solidFill>
              </a:rPr>
              <a:t>The following are the consensus algorithms</a:t>
            </a:r>
          </a:p>
          <a:p>
            <a:pPr marL="0" indent="0">
              <a:buNone/>
            </a:pPr>
            <a:r>
              <a:rPr lang="en-US" dirty="0"/>
              <a:t>1.Proof of work(PoW)</a:t>
            </a:r>
          </a:p>
          <a:p>
            <a:pPr marL="0" indent="0">
              <a:buNone/>
            </a:pPr>
            <a:r>
              <a:rPr lang="en-US" dirty="0"/>
              <a:t>2.Proof of Stake(Pos)</a:t>
            </a:r>
          </a:p>
          <a:p>
            <a:pPr marL="0" indent="0">
              <a:buNone/>
            </a:pPr>
            <a:r>
              <a:rPr lang="en-US" dirty="0"/>
              <a:t>3.</a:t>
            </a:r>
            <a:r>
              <a:rPr lang="en-IN" dirty="0"/>
              <a:t> Delegated Proof of Stake.</a:t>
            </a:r>
          </a:p>
          <a:p>
            <a:pPr marL="0" indent="0">
              <a:buNone/>
            </a:pPr>
            <a:r>
              <a:rPr lang="en-IN" dirty="0"/>
              <a:t>4. Proof of Elapsed Time.</a:t>
            </a:r>
          </a:p>
          <a:p>
            <a:pPr marL="0" indent="0">
              <a:buNone/>
            </a:pPr>
            <a:r>
              <a:rPr lang="en-IN" dirty="0"/>
              <a:t>5. Deposit-based consensus</a:t>
            </a:r>
          </a:p>
          <a:p>
            <a:pPr marL="0" indent="0">
              <a:buNone/>
            </a:pPr>
            <a:r>
              <a:rPr lang="en-IN" dirty="0"/>
              <a:t>6. Proof of importance</a:t>
            </a:r>
          </a:p>
          <a:p>
            <a:pPr marL="0" indent="0">
              <a:buNone/>
            </a:pPr>
            <a:r>
              <a:rPr lang="en-IN" dirty="0"/>
              <a:t>7.</a:t>
            </a:r>
            <a:r>
              <a:rPr lang="en-US" dirty="0"/>
              <a:t> Federated consensus or federated Byzantine consensus.</a:t>
            </a:r>
          </a:p>
          <a:p>
            <a:pPr marL="0" indent="0">
              <a:buNone/>
            </a:pPr>
            <a:r>
              <a:rPr lang="en-US" dirty="0"/>
              <a:t>8.</a:t>
            </a:r>
            <a:r>
              <a:rPr lang="en-IN" dirty="0"/>
              <a:t> Reputation-based mechanisms.</a:t>
            </a:r>
          </a:p>
          <a:p>
            <a:pPr marL="0" indent="0">
              <a:buNone/>
            </a:pPr>
            <a:r>
              <a:rPr lang="en-IN" dirty="0"/>
              <a:t>9. Practical Byzantine Fault Tolerance.</a:t>
            </a:r>
          </a:p>
          <a:p>
            <a:pPr marL="0" indent="0">
              <a:buNone/>
            </a:pPr>
            <a:endParaRPr lang="en-IN" dirty="0"/>
          </a:p>
        </p:txBody>
      </p:sp>
    </p:spTree>
    <p:extLst>
      <p:ext uri="{BB962C8B-B14F-4D97-AF65-F5344CB8AC3E}">
        <p14:creationId xmlns:p14="http://schemas.microsoft.com/office/powerpoint/2010/main" val="3170012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047882-4F61-1111-8B9A-23C10C40FF47}"/>
              </a:ext>
            </a:extLst>
          </p:cNvPr>
          <p:cNvSpPr>
            <a:spLocks noGrp="1"/>
          </p:cNvSpPr>
          <p:nvPr>
            <p:ph idx="1"/>
          </p:nvPr>
        </p:nvSpPr>
        <p:spPr>
          <a:xfrm>
            <a:off x="650240" y="396240"/>
            <a:ext cx="10703560" cy="5872479"/>
          </a:xfrm>
        </p:spPr>
        <p:txBody>
          <a:bodyPr>
            <a:normAutofit fontScale="92500" lnSpcReduction="10000"/>
          </a:bodyPr>
          <a:lstStyle/>
          <a:p>
            <a:pPr marL="0" indent="0">
              <a:buNone/>
            </a:pPr>
            <a:r>
              <a:rPr lang="en-US" dirty="0">
                <a:solidFill>
                  <a:schemeClr val="accent1">
                    <a:lumMod val="75000"/>
                  </a:schemeClr>
                </a:solidFill>
              </a:rPr>
              <a:t>1) Proof of work(PoW):</a:t>
            </a:r>
          </a:p>
          <a:p>
            <a:r>
              <a:rPr lang="en-US" b="1" dirty="0"/>
              <a:t>Concept</a:t>
            </a:r>
          </a:p>
          <a:p>
            <a:pPr lvl="1"/>
            <a:r>
              <a:rPr lang="en-US" dirty="0"/>
              <a:t>Introduced by </a:t>
            </a:r>
            <a:r>
              <a:rPr lang="en-US" b="1" dirty="0"/>
              <a:t>Bitcoin</a:t>
            </a:r>
            <a:r>
              <a:rPr lang="en-US" dirty="0"/>
              <a:t> (Satoshi Nakamoto).</a:t>
            </a:r>
          </a:p>
          <a:p>
            <a:pPr lvl="1"/>
            <a:r>
              <a:rPr lang="en-US" b="1" dirty="0"/>
              <a:t>Miners</a:t>
            </a:r>
            <a:r>
              <a:rPr lang="en-US" dirty="0"/>
              <a:t> compete to solve complex mathematical problems (cryptographic puzzles).</a:t>
            </a:r>
          </a:p>
          <a:p>
            <a:pPr lvl="1"/>
            <a:r>
              <a:rPr lang="en-US" dirty="0"/>
              <a:t>The first miner to solve the puzzle gets to add a new block to the blockchain and is rewarded with cryptocurrency.</a:t>
            </a:r>
          </a:p>
          <a:p>
            <a:r>
              <a:rPr lang="en-US" b="1" dirty="0"/>
              <a:t>How It Works</a:t>
            </a:r>
          </a:p>
          <a:p>
            <a:pPr>
              <a:buFont typeface="+mj-lt"/>
              <a:buAutoNum type="arabicPeriod"/>
            </a:pPr>
            <a:r>
              <a:rPr lang="en-US" b="1" dirty="0"/>
              <a:t>Transaction Validation</a:t>
            </a:r>
            <a:r>
              <a:rPr lang="en-US" dirty="0"/>
              <a:t> – Transactions are collected and broadcasted to the network.</a:t>
            </a:r>
          </a:p>
          <a:p>
            <a:pPr>
              <a:buFont typeface="+mj-lt"/>
              <a:buAutoNum type="arabicPeriod"/>
            </a:pPr>
            <a:r>
              <a:rPr lang="en-US" b="1" dirty="0"/>
              <a:t>Mining Competition</a:t>
            </a:r>
            <a:r>
              <a:rPr lang="en-US" dirty="0"/>
              <a:t> – Miners use computational power to solve a cryptographic hash function (SHA-256 for Bitcoin).</a:t>
            </a:r>
          </a:p>
          <a:p>
            <a:pPr>
              <a:buFont typeface="+mj-lt"/>
              <a:buAutoNum type="arabicPeriod"/>
            </a:pPr>
            <a:r>
              <a:rPr lang="en-US" b="1" dirty="0"/>
              <a:t>Block Addition</a:t>
            </a:r>
            <a:r>
              <a:rPr lang="en-US" dirty="0"/>
              <a:t> – The first miner to solve the puzzle adds a block to the blockchain.</a:t>
            </a:r>
          </a:p>
          <a:p>
            <a:pPr>
              <a:buFont typeface="+mj-lt"/>
              <a:buAutoNum type="arabicPeriod"/>
            </a:pPr>
            <a:r>
              <a:rPr lang="en-US" b="1" dirty="0"/>
              <a:t>Network Agreement</a:t>
            </a:r>
            <a:r>
              <a:rPr lang="en-US" dirty="0"/>
              <a:t> – Other nodes verify the solution, and if valid, the block is permanently recorded.</a:t>
            </a:r>
          </a:p>
          <a:p>
            <a:endParaRPr lang="en-IN" dirty="0"/>
          </a:p>
        </p:txBody>
      </p:sp>
    </p:spTree>
    <p:extLst>
      <p:ext uri="{BB962C8B-B14F-4D97-AF65-F5344CB8AC3E}">
        <p14:creationId xmlns:p14="http://schemas.microsoft.com/office/powerpoint/2010/main" val="40206075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C9EF68-8668-5AB5-D0C1-2CD078F33BE2}"/>
              </a:ext>
            </a:extLst>
          </p:cNvPr>
          <p:cNvSpPr>
            <a:spLocks noGrp="1"/>
          </p:cNvSpPr>
          <p:nvPr>
            <p:ph idx="1"/>
          </p:nvPr>
        </p:nvSpPr>
        <p:spPr>
          <a:xfrm>
            <a:off x="558800" y="243840"/>
            <a:ext cx="10795000" cy="5933123"/>
          </a:xfrm>
        </p:spPr>
        <p:txBody>
          <a:bodyPr>
            <a:normAutofit fontScale="92500" lnSpcReduction="20000"/>
          </a:bodyPr>
          <a:lstStyle/>
          <a:p>
            <a:r>
              <a:rPr lang="en-US" sz="2600" b="1" dirty="0"/>
              <a:t>Advantages</a:t>
            </a:r>
          </a:p>
          <a:p>
            <a:pPr marL="0" indent="0">
              <a:buNone/>
            </a:pPr>
            <a:endParaRPr lang="en-US" sz="2600" b="1" dirty="0"/>
          </a:p>
          <a:p>
            <a:pPr marL="0" indent="0">
              <a:buNone/>
            </a:pPr>
            <a:r>
              <a:rPr lang="en-US" sz="2600" dirty="0"/>
              <a:t>✔️ Highly </a:t>
            </a:r>
            <a:r>
              <a:rPr lang="en-US" sz="2600" b="1" dirty="0"/>
              <a:t>secure</a:t>
            </a:r>
            <a:r>
              <a:rPr lang="en-US" sz="2600" dirty="0"/>
              <a:t> against attacks (e.g., 51% attack is extremely costly).</a:t>
            </a:r>
            <a:br>
              <a:rPr lang="en-US" sz="2600" dirty="0"/>
            </a:br>
            <a:r>
              <a:rPr lang="en-US" sz="2600" dirty="0"/>
              <a:t>✔️ Fully </a:t>
            </a:r>
            <a:r>
              <a:rPr lang="en-US" sz="2600" b="1" dirty="0"/>
              <a:t>decentralized</a:t>
            </a:r>
            <a:r>
              <a:rPr lang="en-US" sz="2600" dirty="0"/>
              <a:t> – no need for a trusted authority.</a:t>
            </a:r>
          </a:p>
          <a:p>
            <a:pPr marL="0" indent="0">
              <a:buNone/>
            </a:pPr>
            <a:endParaRPr lang="en-US" sz="2600" dirty="0"/>
          </a:p>
          <a:p>
            <a:r>
              <a:rPr lang="en-IN" sz="2600" b="1" dirty="0"/>
              <a:t>Disadvantages</a:t>
            </a:r>
          </a:p>
          <a:p>
            <a:endParaRPr lang="en-IN" sz="2600" b="1" dirty="0"/>
          </a:p>
          <a:p>
            <a:pPr marL="0" indent="0">
              <a:buNone/>
            </a:pPr>
            <a:r>
              <a:rPr lang="en-IN" sz="2600" dirty="0"/>
              <a:t>❌ </a:t>
            </a:r>
            <a:r>
              <a:rPr lang="en-IN" sz="2600" b="1" dirty="0"/>
              <a:t>Energy-intensive</a:t>
            </a:r>
            <a:r>
              <a:rPr lang="en-IN" sz="2600" dirty="0"/>
              <a:t> – requires a vast amount of electricity.</a:t>
            </a:r>
            <a:br>
              <a:rPr lang="en-IN" sz="2600" dirty="0"/>
            </a:br>
            <a:r>
              <a:rPr lang="en-IN" sz="2600" dirty="0"/>
              <a:t>❌ </a:t>
            </a:r>
            <a:r>
              <a:rPr lang="en-IN" sz="2600" b="1" dirty="0"/>
              <a:t>Slow transactions</a:t>
            </a:r>
            <a:r>
              <a:rPr lang="en-IN" sz="2600" dirty="0"/>
              <a:t> </a:t>
            </a:r>
          </a:p>
          <a:p>
            <a:pPr marL="0" indent="0">
              <a:buNone/>
            </a:pPr>
            <a:r>
              <a:rPr lang="en-IN" sz="2600" dirty="0"/>
              <a:t>❌ </a:t>
            </a:r>
            <a:r>
              <a:rPr lang="en-IN" sz="2600" b="1" dirty="0"/>
              <a:t>Mining centralization risk</a:t>
            </a:r>
            <a:r>
              <a:rPr lang="en-IN" sz="2600" dirty="0"/>
              <a:t> – Large mining pools dominate the network.</a:t>
            </a:r>
          </a:p>
          <a:p>
            <a:pPr marL="0" indent="0">
              <a:buNone/>
            </a:pPr>
            <a:endParaRPr lang="en-IN" sz="2600" dirty="0"/>
          </a:p>
          <a:p>
            <a:r>
              <a:rPr lang="en-IN" sz="2600" b="1" dirty="0"/>
              <a:t>Examples</a:t>
            </a:r>
          </a:p>
          <a:p>
            <a:endParaRPr lang="en-IN" sz="2600" b="1" dirty="0"/>
          </a:p>
          <a:p>
            <a:pPr marL="0" indent="0">
              <a:buNone/>
            </a:pPr>
            <a:r>
              <a:rPr lang="en-IN" sz="2600" dirty="0"/>
              <a:t>🔹 </a:t>
            </a:r>
            <a:r>
              <a:rPr lang="en-IN" sz="2600" b="1" dirty="0"/>
              <a:t>Bitcoin (BTC)</a:t>
            </a:r>
            <a:br>
              <a:rPr lang="en-IN" sz="2600" dirty="0"/>
            </a:br>
            <a:r>
              <a:rPr lang="en-IN" sz="2600" dirty="0"/>
              <a:t>🔹 </a:t>
            </a:r>
            <a:r>
              <a:rPr lang="en-IN" sz="2600" b="1" dirty="0"/>
              <a:t>Litecoin (LTC)</a:t>
            </a:r>
            <a:br>
              <a:rPr lang="en-IN" sz="2600" dirty="0"/>
            </a:br>
            <a:r>
              <a:rPr lang="en-IN" sz="2600" dirty="0"/>
              <a:t>🔹 </a:t>
            </a:r>
            <a:r>
              <a:rPr lang="en-IN" sz="2600" b="1" dirty="0"/>
              <a:t>Ethereum (before ETH 2.0 update)</a:t>
            </a:r>
            <a:endParaRPr lang="en-IN" sz="2600" dirty="0"/>
          </a:p>
          <a:p>
            <a:pPr marL="0" indent="0">
              <a:buNone/>
            </a:pPr>
            <a:endParaRPr lang="en-IN" dirty="0"/>
          </a:p>
          <a:p>
            <a:pPr marL="0" indent="0">
              <a:buNone/>
            </a:pPr>
            <a:endParaRPr lang="en-US" dirty="0"/>
          </a:p>
          <a:p>
            <a:endParaRPr lang="en-IN" dirty="0"/>
          </a:p>
        </p:txBody>
      </p:sp>
    </p:spTree>
    <p:extLst>
      <p:ext uri="{BB962C8B-B14F-4D97-AF65-F5344CB8AC3E}">
        <p14:creationId xmlns:p14="http://schemas.microsoft.com/office/powerpoint/2010/main" val="21105633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B54DE6-EA37-7C2C-7FB4-65CA19DD53C2}"/>
              </a:ext>
            </a:extLst>
          </p:cNvPr>
          <p:cNvSpPr>
            <a:spLocks noGrp="1"/>
          </p:cNvSpPr>
          <p:nvPr>
            <p:ph idx="1"/>
          </p:nvPr>
        </p:nvSpPr>
        <p:spPr>
          <a:xfrm>
            <a:off x="579120" y="426720"/>
            <a:ext cx="10774680" cy="5750243"/>
          </a:xfrm>
        </p:spPr>
        <p:txBody>
          <a:bodyPr/>
          <a:lstStyle/>
          <a:p>
            <a:pPr marL="0" indent="0">
              <a:buNone/>
            </a:pPr>
            <a:r>
              <a:rPr lang="en-US" dirty="0">
                <a:solidFill>
                  <a:schemeClr val="accent1">
                    <a:lumMod val="75000"/>
                  </a:schemeClr>
                </a:solidFill>
              </a:rPr>
              <a:t>2) Proof of Stake(Pos):</a:t>
            </a:r>
          </a:p>
          <a:p>
            <a:r>
              <a:rPr lang="en-US" b="1" dirty="0"/>
              <a:t>Concept</a:t>
            </a:r>
          </a:p>
          <a:p>
            <a:pPr lvl="1"/>
            <a:r>
              <a:rPr lang="en-US" dirty="0"/>
              <a:t>Instead of using computational power, </a:t>
            </a:r>
            <a:r>
              <a:rPr lang="en-US" b="1" dirty="0"/>
              <a:t>validators</a:t>
            </a:r>
            <a:r>
              <a:rPr lang="en-US" dirty="0"/>
              <a:t> are chosen based on the number of coins they "stake".</a:t>
            </a:r>
          </a:p>
          <a:p>
            <a:pPr lvl="1"/>
            <a:r>
              <a:rPr lang="en-US" dirty="0"/>
              <a:t>More staked coins = higher chances of being selected to validate transactions.</a:t>
            </a:r>
          </a:p>
          <a:p>
            <a:pPr marL="457200" lvl="1" indent="0">
              <a:buNone/>
            </a:pPr>
            <a:endParaRPr lang="en-US" dirty="0"/>
          </a:p>
          <a:p>
            <a:r>
              <a:rPr lang="en-US" b="1" dirty="0"/>
              <a:t>How It Works</a:t>
            </a:r>
          </a:p>
          <a:p>
            <a:pPr>
              <a:buFont typeface="+mj-lt"/>
              <a:buAutoNum type="arabicPeriod"/>
            </a:pPr>
            <a:r>
              <a:rPr lang="en-US" b="1" dirty="0"/>
              <a:t>Users stake coins</a:t>
            </a:r>
            <a:r>
              <a:rPr lang="en-US" dirty="0"/>
              <a:t> in a special smart contract.</a:t>
            </a:r>
          </a:p>
          <a:p>
            <a:pPr>
              <a:buFont typeface="+mj-lt"/>
              <a:buAutoNum type="arabicPeriod"/>
            </a:pPr>
            <a:r>
              <a:rPr lang="en-US" b="1" dirty="0"/>
              <a:t>A validator is randomly selected</a:t>
            </a:r>
            <a:r>
              <a:rPr lang="en-US" dirty="0"/>
              <a:t> based on stake size and other factors.</a:t>
            </a:r>
          </a:p>
          <a:p>
            <a:pPr>
              <a:buFont typeface="+mj-lt"/>
              <a:buAutoNum type="arabicPeriod"/>
            </a:pPr>
            <a:r>
              <a:rPr lang="en-US" b="1" dirty="0"/>
              <a:t>Validator confirms transactions</a:t>
            </a:r>
            <a:r>
              <a:rPr lang="en-US" dirty="0"/>
              <a:t> and adds a new block.</a:t>
            </a:r>
          </a:p>
          <a:p>
            <a:pPr>
              <a:buFont typeface="+mj-lt"/>
              <a:buAutoNum type="arabicPeriod"/>
            </a:pPr>
            <a:r>
              <a:rPr lang="en-US" b="1" dirty="0"/>
              <a:t>Rewards are given</a:t>
            </a:r>
            <a:r>
              <a:rPr lang="en-US" dirty="0"/>
              <a:t> in the form of transaction fees or new coins.</a:t>
            </a:r>
          </a:p>
          <a:p>
            <a:endParaRPr lang="en-IN" dirty="0"/>
          </a:p>
        </p:txBody>
      </p:sp>
    </p:spTree>
    <p:extLst>
      <p:ext uri="{BB962C8B-B14F-4D97-AF65-F5344CB8AC3E}">
        <p14:creationId xmlns:p14="http://schemas.microsoft.com/office/powerpoint/2010/main" val="3766174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EC828C-50CB-CA72-8E0C-6858D4BB09A2}"/>
              </a:ext>
            </a:extLst>
          </p:cNvPr>
          <p:cNvSpPr>
            <a:spLocks noGrp="1"/>
          </p:cNvSpPr>
          <p:nvPr>
            <p:ph idx="1"/>
          </p:nvPr>
        </p:nvSpPr>
        <p:spPr>
          <a:xfrm>
            <a:off x="599440" y="447040"/>
            <a:ext cx="10754360" cy="5729923"/>
          </a:xfrm>
        </p:spPr>
        <p:txBody>
          <a:bodyPr>
            <a:normAutofit lnSpcReduction="10000"/>
          </a:bodyPr>
          <a:lstStyle/>
          <a:p>
            <a:r>
              <a:rPr lang="en-US" b="1" dirty="0"/>
              <a:t>Advantages</a:t>
            </a:r>
          </a:p>
          <a:p>
            <a:pPr marL="0" indent="0">
              <a:buNone/>
            </a:pPr>
            <a:r>
              <a:rPr lang="en-US" dirty="0"/>
              <a:t>✔️ </a:t>
            </a:r>
            <a:r>
              <a:rPr lang="en-US" b="1" dirty="0"/>
              <a:t>Energy-efficient</a:t>
            </a:r>
            <a:r>
              <a:rPr lang="en-US" dirty="0"/>
              <a:t> – no mining hardware required.</a:t>
            </a:r>
            <a:br>
              <a:rPr lang="en-US" dirty="0"/>
            </a:br>
            <a:r>
              <a:rPr lang="en-US" dirty="0"/>
              <a:t>✔️ </a:t>
            </a:r>
            <a:r>
              <a:rPr lang="en-US" b="1" dirty="0"/>
              <a:t>Faster transactions</a:t>
            </a:r>
            <a:r>
              <a:rPr lang="en-US" dirty="0"/>
              <a:t> than PoW.</a:t>
            </a:r>
            <a:br>
              <a:rPr lang="en-US" dirty="0"/>
            </a:br>
            <a:r>
              <a:rPr lang="en-US" dirty="0"/>
              <a:t>✔️ </a:t>
            </a:r>
            <a:r>
              <a:rPr lang="en-US" b="1" dirty="0"/>
              <a:t>Encourages long-term holding</a:t>
            </a:r>
            <a:r>
              <a:rPr lang="en-US" dirty="0"/>
              <a:t> – reduces volatility.</a:t>
            </a:r>
          </a:p>
          <a:p>
            <a:pPr marL="0" indent="0">
              <a:buNone/>
            </a:pPr>
            <a:endParaRPr lang="en-US" dirty="0"/>
          </a:p>
          <a:p>
            <a:r>
              <a:rPr lang="en-US" b="1" dirty="0"/>
              <a:t>Disadvantages</a:t>
            </a:r>
          </a:p>
          <a:p>
            <a:r>
              <a:rPr lang="en-US" dirty="0"/>
              <a:t>❌ </a:t>
            </a:r>
            <a:r>
              <a:rPr lang="en-US" b="1" dirty="0"/>
              <a:t>Wealth-based</a:t>
            </a:r>
            <a:r>
              <a:rPr lang="en-US" dirty="0"/>
              <a:t> – the rich (who stake more) get richer.</a:t>
            </a:r>
            <a:br>
              <a:rPr lang="en-US" dirty="0"/>
            </a:br>
            <a:r>
              <a:rPr lang="en-US" dirty="0"/>
              <a:t>❌ </a:t>
            </a:r>
            <a:r>
              <a:rPr lang="en-US" b="1" dirty="0"/>
              <a:t>Potential for centralization</a:t>
            </a:r>
            <a:r>
              <a:rPr lang="en-US" dirty="0"/>
              <a:t> – fewer validators control the network.</a:t>
            </a:r>
          </a:p>
          <a:p>
            <a:endParaRPr lang="en-US" dirty="0"/>
          </a:p>
          <a:p>
            <a:r>
              <a:rPr lang="en-IN" b="1" dirty="0"/>
              <a:t>Examples</a:t>
            </a:r>
          </a:p>
          <a:p>
            <a:pPr marL="0" indent="0">
              <a:buNone/>
            </a:pPr>
            <a:r>
              <a:rPr lang="en-IN" dirty="0"/>
              <a:t>🔹 </a:t>
            </a:r>
            <a:r>
              <a:rPr lang="en-IN" b="1" dirty="0"/>
              <a:t>Ethereum 2.0 (ETH)</a:t>
            </a:r>
            <a:br>
              <a:rPr lang="en-IN" dirty="0"/>
            </a:br>
            <a:r>
              <a:rPr lang="en-IN" dirty="0"/>
              <a:t>🔹 </a:t>
            </a:r>
            <a:r>
              <a:rPr lang="en-IN" b="1" dirty="0"/>
              <a:t>Cardano (ADA)</a:t>
            </a:r>
            <a:br>
              <a:rPr lang="en-IN" dirty="0"/>
            </a:br>
            <a:r>
              <a:rPr lang="en-IN" dirty="0"/>
              <a:t>🔹 </a:t>
            </a:r>
            <a:r>
              <a:rPr lang="en-IN" b="1" dirty="0" err="1"/>
              <a:t>Polkadot</a:t>
            </a:r>
            <a:r>
              <a:rPr lang="en-IN" b="1" dirty="0"/>
              <a:t> (DOT)</a:t>
            </a:r>
            <a:endParaRPr lang="en-IN" dirty="0"/>
          </a:p>
          <a:p>
            <a:pPr marL="0" indent="0">
              <a:buNone/>
            </a:pPr>
            <a:endParaRPr lang="en-US" dirty="0"/>
          </a:p>
          <a:p>
            <a:endParaRPr lang="en-IN" dirty="0"/>
          </a:p>
        </p:txBody>
      </p:sp>
    </p:spTree>
    <p:extLst>
      <p:ext uri="{BB962C8B-B14F-4D97-AF65-F5344CB8AC3E}">
        <p14:creationId xmlns:p14="http://schemas.microsoft.com/office/powerpoint/2010/main" val="1579344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F21D9-A40E-1611-9FF1-1EB0F9F3A425}"/>
              </a:ext>
            </a:extLst>
          </p:cNvPr>
          <p:cNvSpPr>
            <a:spLocks noGrp="1"/>
          </p:cNvSpPr>
          <p:nvPr>
            <p:ph idx="1"/>
          </p:nvPr>
        </p:nvSpPr>
        <p:spPr>
          <a:xfrm>
            <a:off x="660400" y="386080"/>
            <a:ext cx="10693400" cy="5790883"/>
          </a:xfrm>
        </p:spPr>
        <p:txBody>
          <a:bodyPr>
            <a:normAutofit/>
          </a:bodyPr>
          <a:lstStyle/>
          <a:p>
            <a:pPr marL="0" indent="0">
              <a:buNone/>
            </a:pPr>
            <a:r>
              <a:rPr lang="en-US" b="1" dirty="0">
                <a:solidFill>
                  <a:schemeClr val="accent1">
                    <a:lumMod val="75000"/>
                  </a:schemeClr>
                </a:solidFill>
                <a:latin typeface="Söhne"/>
              </a:rPr>
              <a:t>3) </a:t>
            </a:r>
            <a:r>
              <a:rPr lang="en-IN" b="1" dirty="0">
                <a:solidFill>
                  <a:schemeClr val="accent1">
                    <a:lumMod val="75000"/>
                  </a:schemeClr>
                </a:solidFill>
              </a:rPr>
              <a:t>Delegated Proof of Stake</a:t>
            </a:r>
            <a:r>
              <a:rPr lang="en-IN" b="1" dirty="0"/>
              <a:t>:</a:t>
            </a:r>
          </a:p>
          <a:p>
            <a:r>
              <a:rPr lang="en-US" b="1" dirty="0"/>
              <a:t>Concept</a:t>
            </a:r>
          </a:p>
          <a:p>
            <a:pPr lvl="1"/>
            <a:r>
              <a:rPr lang="en-US" b="0" i="0" dirty="0">
                <a:effectLst/>
                <a:latin typeface="Söhne"/>
              </a:rPr>
              <a:t>In </a:t>
            </a:r>
            <a:r>
              <a:rPr lang="en-US" b="0" i="0" dirty="0" err="1">
                <a:effectLst/>
                <a:latin typeface="Söhne"/>
              </a:rPr>
              <a:t>DPoS</a:t>
            </a:r>
            <a:r>
              <a:rPr lang="en-US" b="0" i="0" dirty="0">
                <a:effectLst/>
                <a:latin typeface="Söhne"/>
              </a:rPr>
              <a:t>, token holders (or stakeholders) in the network can delegate their voting power to a select group of validators (or delegates) to validate transactions and create new blocks on their behalf.</a:t>
            </a:r>
          </a:p>
          <a:p>
            <a:pPr marL="0" indent="0">
              <a:buNone/>
            </a:pPr>
            <a:endParaRPr lang="en-US" dirty="0"/>
          </a:p>
          <a:p>
            <a:r>
              <a:rPr lang="en-US" b="1" dirty="0"/>
              <a:t>How It Works</a:t>
            </a:r>
          </a:p>
          <a:p>
            <a:pPr>
              <a:buFont typeface="+mj-lt"/>
              <a:buAutoNum type="arabicPeriod"/>
            </a:pPr>
            <a:r>
              <a:rPr lang="en-US" b="1" dirty="0"/>
              <a:t>Users stake tokens</a:t>
            </a:r>
            <a:r>
              <a:rPr lang="en-US" dirty="0"/>
              <a:t> and vote for trusted delegates.</a:t>
            </a:r>
          </a:p>
          <a:p>
            <a:pPr>
              <a:buFont typeface="+mj-lt"/>
              <a:buAutoNum type="arabicPeriod"/>
            </a:pPr>
            <a:r>
              <a:rPr lang="en-US" b="1" dirty="0"/>
              <a:t>Elected delegates validate transactions</a:t>
            </a:r>
            <a:r>
              <a:rPr lang="en-US" dirty="0"/>
              <a:t> and create new blocks.</a:t>
            </a:r>
          </a:p>
          <a:p>
            <a:pPr>
              <a:buFont typeface="+mj-lt"/>
              <a:buAutoNum type="arabicPeriod"/>
            </a:pPr>
            <a:r>
              <a:rPr lang="en-US" b="1" dirty="0"/>
              <a:t>Block rewards are shared</a:t>
            </a:r>
            <a:r>
              <a:rPr lang="en-US" dirty="0"/>
              <a:t> between validators and voters.</a:t>
            </a:r>
          </a:p>
          <a:p>
            <a:endParaRPr lang="en-IN" dirty="0"/>
          </a:p>
        </p:txBody>
      </p:sp>
    </p:spTree>
    <p:extLst>
      <p:ext uri="{BB962C8B-B14F-4D97-AF65-F5344CB8AC3E}">
        <p14:creationId xmlns:p14="http://schemas.microsoft.com/office/powerpoint/2010/main" val="27731364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86A3DE-049B-6E9D-20A3-056EC85E8627}"/>
              </a:ext>
            </a:extLst>
          </p:cNvPr>
          <p:cNvSpPr>
            <a:spLocks noGrp="1"/>
          </p:cNvSpPr>
          <p:nvPr>
            <p:ph idx="1"/>
          </p:nvPr>
        </p:nvSpPr>
        <p:spPr>
          <a:xfrm>
            <a:off x="660400" y="325120"/>
            <a:ext cx="10693400" cy="5851843"/>
          </a:xfrm>
        </p:spPr>
        <p:txBody>
          <a:bodyPr>
            <a:normAutofit lnSpcReduction="10000"/>
          </a:bodyPr>
          <a:lstStyle/>
          <a:p>
            <a:r>
              <a:rPr lang="en-US" b="1" dirty="0"/>
              <a:t>Advantages</a:t>
            </a:r>
          </a:p>
          <a:p>
            <a:pPr marL="0" indent="0">
              <a:buNone/>
            </a:pPr>
            <a:r>
              <a:rPr lang="en-US" dirty="0"/>
              <a:t>✔️ </a:t>
            </a:r>
            <a:r>
              <a:rPr lang="en-US" b="1" dirty="0"/>
              <a:t>Very fast</a:t>
            </a:r>
            <a:r>
              <a:rPr lang="en-US" dirty="0"/>
              <a:t> transaction speeds.</a:t>
            </a:r>
            <a:br>
              <a:rPr lang="en-US" dirty="0"/>
            </a:br>
            <a:r>
              <a:rPr lang="en-US" dirty="0"/>
              <a:t>✔️ </a:t>
            </a:r>
            <a:r>
              <a:rPr lang="en-US" b="1" dirty="0"/>
              <a:t>More democratic</a:t>
            </a:r>
            <a:r>
              <a:rPr lang="en-US" dirty="0"/>
              <a:t> than standard </a:t>
            </a:r>
            <a:r>
              <a:rPr lang="en-US" dirty="0" err="1"/>
              <a:t>PoS</a:t>
            </a:r>
            <a:r>
              <a:rPr lang="en-US" dirty="0"/>
              <a:t> (users can vote).</a:t>
            </a:r>
            <a:br>
              <a:rPr lang="en-US" dirty="0"/>
            </a:br>
            <a:r>
              <a:rPr lang="en-US" dirty="0"/>
              <a:t>✔️ </a:t>
            </a:r>
            <a:r>
              <a:rPr lang="en-US" b="1" dirty="0"/>
              <a:t>Energy-efficient</a:t>
            </a:r>
            <a:r>
              <a:rPr lang="en-US" dirty="0"/>
              <a:t> like </a:t>
            </a:r>
            <a:r>
              <a:rPr lang="en-US" dirty="0" err="1"/>
              <a:t>PoS.</a:t>
            </a:r>
            <a:endParaRPr lang="en-US" dirty="0"/>
          </a:p>
          <a:p>
            <a:pPr marL="0" indent="0">
              <a:buNone/>
            </a:pPr>
            <a:endParaRPr lang="en-US" dirty="0"/>
          </a:p>
          <a:p>
            <a:r>
              <a:rPr lang="en-US" b="1" dirty="0"/>
              <a:t>Disadvantages</a:t>
            </a:r>
          </a:p>
          <a:p>
            <a:pPr marL="0" indent="0">
              <a:buNone/>
            </a:pPr>
            <a:r>
              <a:rPr lang="en-US" dirty="0"/>
              <a:t>❌ </a:t>
            </a:r>
            <a:r>
              <a:rPr lang="en-US" b="1" dirty="0"/>
              <a:t>Risk of cartel formation</a:t>
            </a:r>
            <a:r>
              <a:rPr lang="en-US" dirty="0"/>
              <a:t> – a small group of delegates can gain control.</a:t>
            </a:r>
            <a:br>
              <a:rPr lang="en-US" dirty="0"/>
            </a:br>
            <a:r>
              <a:rPr lang="en-US" dirty="0"/>
              <a:t>❌ </a:t>
            </a:r>
            <a:r>
              <a:rPr lang="en-US" b="1" dirty="0"/>
              <a:t>Less decentralized</a:t>
            </a:r>
            <a:r>
              <a:rPr lang="en-US" dirty="0"/>
              <a:t> than PoW.</a:t>
            </a:r>
          </a:p>
          <a:p>
            <a:pPr marL="0" indent="0">
              <a:buNone/>
            </a:pPr>
            <a:endParaRPr lang="en-US" dirty="0"/>
          </a:p>
          <a:p>
            <a:r>
              <a:rPr lang="en-IN" b="1" dirty="0"/>
              <a:t>Examples</a:t>
            </a:r>
          </a:p>
          <a:p>
            <a:pPr marL="0" indent="0">
              <a:buNone/>
            </a:pPr>
            <a:r>
              <a:rPr lang="en-IN" dirty="0"/>
              <a:t>🔹 </a:t>
            </a:r>
            <a:r>
              <a:rPr lang="en-IN" b="1" dirty="0"/>
              <a:t>EOS</a:t>
            </a:r>
            <a:br>
              <a:rPr lang="en-IN" dirty="0"/>
            </a:br>
            <a:r>
              <a:rPr lang="en-IN" dirty="0"/>
              <a:t>🔹 </a:t>
            </a:r>
            <a:r>
              <a:rPr lang="en-IN" b="1" dirty="0"/>
              <a:t>TRON (TRX)</a:t>
            </a:r>
            <a:br>
              <a:rPr lang="en-IN" dirty="0"/>
            </a:br>
            <a:r>
              <a:rPr lang="en-IN" dirty="0"/>
              <a:t>🔹 </a:t>
            </a:r>
            <a:r>
              <a:rPr lang="en-IN" b="1" dirty="0" err="1"/>
              <a:t>Steem</a:t>
            </a:r>
            <a:endParaRPr lang="en-IN" dirty="0"/>
          </a:p>
          <a:p>
            <a:pPr marL="0" indent="0">
              <a:buNone/>
            </a:pPr>
            <a:endParaRPr lang="en-US" dirty="0"/>
          </a:p>
        </p:txBody>
      </p:sp>
    </p:spTree>
    <p:extLst>
      <p:ext uri="{BB962C8B-B14F-4D97-AF65-F5344CB8AC3E}">
        <p14:creationId xmlns:p14="http://schemas.microsoft.com/office/powerpoint/2010/main" val="385283199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81ED4F-3C72-5508-EB55-F551D98F0494}"/>
              </a:ext>
            </a:extLst>
          </p:cNvPr>
          <p:cNvSpPr>
            <a:spLocks noGrp="1"/>
          </p:cNvSpPr>
          <p:nvPr>
            <p:ph idx="1"/>
          </p:nvPr>
        </p:nvSpPr>
        <p:spPr>
          <a:xfrm>
            <a:off x="619760" y="518318"/>
            <a:ext cx="10683240" cy="5821363"/>
          </a:xfrm>
        </p:spPr>
        <p:txBody>
          <a:bodyPr/>
          <a:lstStyle/>
          <a:p>
            <a:pPr marL="0" indent="0">
              <a:buNone/>
            </a:pPr>
            <a:r>
              <a:rPr lang="en-IN" dirty="0">
                <a:solidFill>
                  <a:schemeClr val="accent1">
                    <a:lumMod val="75000"/>
                  </a:schemeClr>
                </a:solidFill>
              </a:rPr>
              <a:t>4) Proof of Elapsed Time:</a:t>
            </a:r>
          </a:p>
          <a:p>
            <a:r>
              <a:rPr lang="en-US" b="1" dirty="0"/>
              <a:t>Concept</a:t>
            </a:r>
          </a:p>
          <a:p>
            <a:pPr lvl="1"/>
            <a:r>
              <a:rPr lang="en-US" b="0" i="0" dirty="0">
                <a:effectLst/>
                <a:latin typeface="Söhne"/>
              </a:rPr>
              <a:t>In </a:t>
            </a:r>
            <a:r>
              <a:rPr lang="en-US" b="0" i="0" dirty="0" err="1">
                <a:effectLst/>
                <a:latin typeface="Söhne"/>
              </a:rPr>
              <a:t>PoET</a:t>
            </a:r>
            <a:r>
              <a:rPr lang="en-US" b="0" i="0" dirty="0">
                <a:effectLst/>
                <a:latin typeface="Söhne"/>
              </a:rPr>
              <a:t>, each node in the network generates a random wait time and competes with other nodes to complete the wait time.</a:t>
            </a:r>
          </a:p>
          <a:p>
            <a:pPr lvl="1"/>
            <a:r>
              <a:rPr lang="en-US" b="0" i="0" dirty="0">
                <a:effectLst/>
                <a:latin typeface="Söhne"/>
              </a:rPr>
              <a:t>The node that completes the wait time first is granted the right to create a new block on the blockchain.</a:t>
            </a:r>
          </a:p>
          <a:p>
            <a:pPr>
              <a:buFont typeface="Arial" panose="020B0604020202020204" pitchFamily="34" charset="0"/>
              <a:buChar char="•"/>
            </a:pPr>
            <a:endParaRPr lang="en-US" b="0" i="0" dirty="0">
              <a:effectLst/>
              <a:latin typeface="Söhne"/>
            </a:endParaRPr>
          </a:p>
          <a:p>
            <a:r>
              <a:rPr lang="en-US" b="1" dirty="0"/>
              <a:t>How It Works</a:t>
            </a:r>
          </a:p>
          <a:p>
            <a:pPr>
              <a:buFont typeface="+mj-lt"/>
              <a:buAutoNum type="arabicPeriod"/>
            </a:pPr>
            <a:r>
              <a:rPr lang="en-US" b="1" dirty="0"/>
              <a:t>Each participant gets a randomized wait time</a:t>
            </a:r>
            <a:r>
              <a:rPr lang="en-US" dirty="0"/>
              <a:t>.</a:t>
            </a:r>
          </a:p>
          <a:p>
            <a:pPr>
              <a:buFont typeface="+mj-lt"/>
              <a:buAutoNum type="arabicPeriod"/>
            </a:pPr>
            <a:r>
              <a:rPr lang="en-US" b="1" dirty="0"/>
              <a:t>The first to complete the wait time gets to add a block</a:t>
            </a:r>
            <a:r>
              <a:rPr lang="en-US" dirty="0"/>
              <a:t>.</a:t>
            </a:r>
          </a:p>
          <a:p>
            <a:pPr>
              <a:buFont typeface="+mj-lt"/>
              <a:buAutoNum type="arabicPeriod"/>
            </a:pPr>
            <a:r>
              <a:rPr lang="en-US" b="1" dirty="0"/>
              <a:t>Prevents monopolization of validation rights</a:t>
            </a:r>
            <a:r>
              <a:rPr lang="en-US" dirty="0"/>
              <a:t>.</a:t>
            </a:r>
          </a:p>
          <a:p>
            <a:pPr>
              <a:buFont typeface="Arial" panose="020B0604020202020204" pitchFamily="34" charset="0"/>
              <a:buChar char="•"/>
            </a:pPr>
            <a:endParaRPr lang="en-US" b="0" i="0" dirty="0">
              <a:effectLst/>
              <a:latin typeface="Söhne"/>
            </a:endParaRPr>
          </a:p>
          <a:p>
            <a:pPr>
              <a:buFont typeface="Arial" panose="020B0604020202020204" pitchFamily="34" charset="0"/>
              <a:buChar char="•"/>
            </a:pPr>
            <a:endParaRPr lang="en-US" dirty="0"/>
          </a:p>
          <a:p>
            <a:pPr marL="0" indent="0">
              <a:buNone/>
            </a:pPr>
            <a:endParaRPr lang="en-IN" dirty="0">
              <a:solidFill>
                <a:schemeClr val="accent1">
                  <a:lumMod val="75000"/>
                </a:schemeClr>
              </a:solidFill>
            </a:endParaRPr>
          </a:p>
          <a:p>
            <a:endParaRPr lang="en-IN" dirty="0"/>
          </a:p>
        </p:txBody>
      </p:sp>
    </p:spTree>
    <p:extLst>
      <p:ext uri="{BB962C8B-B14F-4D97-AF65-F5344CB8AC3E}">
        <p14:creationId xmlns:p14="http://schemas.microsoft.com/office/powerpoint/2010/main" val="23971093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8F20E4-E4AC-1FD9-1147-0723C961F918}"/>
              </a:ext>
            </a:extLst>
          </p:cNvPr>
          <p:cNvSpPr>
            <a:spLocks noGrp="1"/>
          </p:cNvSpPr>
          <p:nvPr>
            <p:ph idx="1"/>
          </p:nvPr>
        </p:nvSpPr>
        <p:spPr>
          <a:xfrm>
            <a:off x="619760" y="386080"/>
            <a:ext cx="10734040" cy="5790883"/>
          </a:xfrm>
        </p:spPr>
        <p:txBody>
          <a:bodyPr/>
          <a:lstStyle/>
          <a:p>
            <a:r>
              <a:rPr lang="en-IN" b="1" dirty="0"/>
              <a:t>Advantages</a:t>
            </a:r>
          </a:p>
          <a:p>
            <a:pPr marL="0" indent="0">
              <a:buNone/>
            </a:pPr>
            <a:r>
              <a:rPr lang="en-IN" dirty="0"/>
              <a:t>	✔️ </a:t>
            </a:r>
            <a:r>
              <a:rPr lang="en-IN" b="1" dirty="0"/>
              <a:t>Efficient and fair</a:t>
            </a:r>
            <a:r>
              <a:rPr lang="en-IN" dirty="0"/>
              <a:t> – random selection avoids manipulation.</a:t>
            </a:r>
            <a:br>
              <a:rPr lang="en-IN" dirty="0"/>
            </a:br>
            <a:r>
              <a:rPr lang="en-IN" dirty="0"/>
              <a:t>	✔️ </a:t>
            </a:r>
            <a:r>
              <a:rPr lang="en-IN" b="1" dirty="0"/>
              <a:t>Ideal for enterprise use cases</a:t>
            </a:r>
            <a:r>
              <a:rPr lang="en-IN" dirty="0"/>
              <a:t>.</a:t>
            </a:r>
          </a:p>
          <a:p>
            <a:pPr marL="0" indent="0">
              <a:buNone/>
            </a:pPr>
            <a:endParaRPr lang="en-IN" dirty="0"/>
          </a:p>
          <a:p>
            <a:r>
              <a:rPr lang="en-IN" b="1" dirty="0"/>
              <a:t>Disadvantages</a:t>
            </a:r>
          </a:p>
          <a:p>
            <a:pPr marL="0" indent="0">
              <a:buNone/>
            </a:pPr>
            <a:r>
              <a:rPr lang="en-IN" dirty="0"/>
              <a:t>	❌ </a:t>
            </a:r>
            <a:r>
              <a:rPr lang="en-IN" b="1" dirty="0"/>
              <a:t>Requires specialized hardware</a:t>
            </a:r>
            <a:r>
              <a:rPr lang="en-IN" dirty="0"/>
              <a:t> (Intel SGX).</a:t>
            </a:r>
            <a:br>
              <a:rPr lang="en-IN" dirty="0"/>
            </a:br>
            <a:r>
              <a:rPr lang="en-IN" dirty="0"/>
              <a:t>	❌ </a:t>
            </a:r>
            <a:r>
              <a:rPr lang="en-IN" b="1" dirty="0"/>
              <a:t>Not used for public blockchains</a:t>
            </a:r>
            <a:r>
              <a:rPr lang="en-IN" dirty="0"/>
              <a:t>.</a:t>
            </a:r>
          </a:p>
          <a:p>
            <a:pPr marL="0" indent="0">
              <a:buNone/>
            </a:pPr>
            <a:endParaRPr lang="en-IN" dirty="0"/>
          </a:p>
          <a:p>
            <a:r>
              <a:rPr lang="en-IN" b="1" dirty="0"/>
              <a:t>Examples</a:t>
            </a:r>
          </a:p>
          <a:p>
            <a:pPr marL="0" indent="0">
              <a:buNone/>
            </a:pPr>
            <a:r>
              <a:rPr lang="en-IN" dirty="0"/>
              <a:t>🔹 </a:t>
            </a:r>
            <a:r>
              <a:rPr lang="en-IN" b="1" dirty="0"/>
              <a:t>Hyperledger Sawtooth</a:t>
            </a:r>
            <a:endParaRPr lang="en-IN" dirty="0"/>
          </a:p>
          <a:p>
            <a:endParaRPr lang="en-IN" dirty="0"/>
          </a:p>
        </p:txBody>
      </p:sp>
    </p:spTree>
    <p:extLst>
      <p:ext uri="{BB962C8B-B14F-4D97-AF65-F5344CB8AC3E}">
        <p14:creationId xmlns:p14="http://schemas.microsoft.com/office/powerpoint/2010/main" val="16543349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CC7C84-4BE1-65B2-5293-F2E2C515B1B9}"/>
              </a:ext>
            </a:extLst>
          </p:cNvPr>
          <p:cNvSpPr>
            <a:spLocks noGrp="1"/>
          </p:cNvSpPr>
          <p:nvPr>
            <p:ph idx="1"/>
          </p:nvPr>
        </p:nvSpPr>
        <p:spPr>
          <a:xfrm>
            <a:off x="629920" y="548640"/>
            <a:ext cx="10723880" cy="5628323"/>
          </a:xfrm>
        </p:spPr>
        <p:txBody>
          <a:bodyPr/>
          <a:lstStyle/>
          <a:p>
            <a:pPr marL="0" indent="0">
              <a:buNone/>
            </a:pPr>
            <a:r>
              <a:rPr lang="en-IN" b="1" dirty="0">
                <a:solidFill>
                  <a:schemeClr val="accent1">
                    <a:lumMod val="75000"/>
                  </a:schemeClr>
                </a:solidFill>
              </a:rPr>
              <a:t>5) Deposit-based consensus:</a:t>
            </a:r>
          </a:p>
          <a:p>
            <a:r>
              <a:rPr lang="en-US" b="1" dirty="0"/>
              <a:t>Concept</a:t>
            </a:r>
          </a:p>
          <a:p>
            <a:pPr>
              <a:buFont typeface="Arial" panose="020B0604020202020204" pitchFamily="34" charset="0"/>
              <a:buChar char="•"/>
            </a:pPr>
            <a:r>
              <a:rPr lang="en-US" b="0" i="0" dirty="0">
                <a:effectLst/>
                <a:latin typeface="Söhne"/>
              </a:rPr>
              <a:t>In this consensus algorithm, participants are required to deposit a certain amount of cryptocurrency as collateral to participate in the network.</a:t>
            </a:r>
          </a:p>
          <a:p>
            <a:pPr>
              <a:buFont typeface="Arial" panose="020B0604020202020204" pitchFamily="34" charset="0"/>
              <a:buChar char="•"/>
            </a:pPr>
            <a:r>
              <a:rPr lang="en-US" b="0" i="0" dirty="0">
                <a:effectLst/>
                <a:latin typeface="Söhne"/>
              </a:rPr>
              <a:t>If a participant acts maliciously or attempts to manipulate the network, their deposit can be taken away or "slashed" as a penalty.</a:t>
            </a:r>
            <a:endParaRPr lang="en-IN" dirty="0">
              <a:highlight>
                <a:srgbClr val="FFFF00"/>
              </a:highlight>
            </a:endParaRPr>
          </a:p>
          <a:p>
            <a:pPr marL="0" indent="0">
              <a:buNone/>
            </a:pPr>
            <a:endParaRPr lang="en-IN" b="1" dirty="0">
              <a:solidFill>
                <a:schemeClr val="accent1">
                  <a:lumMod val="75000"/>
                </a:schemeClr>
              </a:solidFill>
            </a:endParaRPr>
          </a:p>
          <a:p>
            <a:endParaRPr lang="en-IN" dirty="0"/>
          </a:p>
        </p:txBody>
      </p:sp>
    </p:spTree>
    <p:extLst>
      <p:ext uri="{BB962C8B-B14F-4D97-AF65-F5344CB8AC3E}">
        <p14:creationId xmlns:p14="http://schemas.microsoft.com/office/powerpoint/2010/main" val="19549888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34720" y="548640"/>
            <a:ext cx="10419080" cy="5628323"/>
          </a:xfrm>
        </p:spPr>
        <p:txBody>
          <a:bodyPr>
            <a:normAutofit/>
          </a:bodyPr>
          <a:lstStyle/>
          <a:p>
            <a:pPr marL="0" indent="0" algn="just">
              <a:buNone/>
            </a:pPr>
            <a:r>
              <a:rPr lang="en-IN" b="1" dirty="0">
                <a:solidFill>
                  <a:schemeClr val="accent1">
                    <a:lumMod val="75000"/>
                  </a:schemeClr>
                </a:solidFill>
              </a:rPr>
              <a:t>6) Proof of importance:</a:t>
            </a:r>
          </a:p>
          <a:p>
            <a:r>
              <a:rPr lang="en-US" b="1" dirty="0"/>
              <a:t>Concept</a:t>
            </a:r>
          </a:p>
          <a:p>
            <a:pPr>
              <a:buFont typeface="Arial" panose="020B0604020202020204" pitchFamily="34" charset="0"/>
              <a:buChar char="•"/>
            </a:pPr>
            <a:r>
              <a:rPr lang="en-US" b="0" i="0" dirty="0">
                <a:effectLst/>
                <a:latin typeface="Söhne"/>
              </a:rPr>
              <a:t>In </a:t>
            </a:r>
            <a:r>
              <a:rPr lang="en-US" b="0" i="0" dirty="0" err="1">
                <a:effectLst/>
                <a:latin typeface="Söhne"/>
              </a:rPr>
              <a:t>PoI</a:t>
            </a:r>
            <a:r>
              <a:rPr lang="en-US" b="0" i="0" dirty="0">
                <a:effectLst/>
                <a:latin typeface="Söhne"/>
              </a:rPr>
              <a:t>, participants are assigned a "importance score" based on their activity on the network.</a:t>
            </a:r>
          </a:p>
          <a:p>
            <a:pPr>
              <a:buFont typeface="Arial" panose="020B0604020202020204" pitchFamily="34" charset="0"/>
              <a:buChar char="•"/>
            </a:pPr>
            <a:r>
              <a:rPr lang="en-US" b="0" i="0" dirty="0">
                <a:effectLst/>
                <a:latin typeface="Söhne"/>
              </a:rPr>
              <a:t> such as the number of transactions they have made and the amount of cryptocurrency they hold.</a:t>
            </a:r>
          </a:p>
          <a:p>
            <a:pPr>
              <a:buFont typeface="Arial" panose="020B0604020202020204" pitchFamily="34" charset="0"/>
              <a:buChar char="•"/>
            </a:pPr>
            <a:r>
              <a:rPr lang="en-US" dirty="0">
                <a:latin typeface="Söhne"/>
              </a:rPr>
              <a:t>Also</a:t>
            </a:r>
            <a:r>
              <a:rPr lang="en-US" b="0" i="0" dirty="0">
                <a:effectLst/>
                <a:latin typeface="Söhne"/>
              </a:rPr>
              <a:t> the number of other users they have brought into the network. </a:t>
            </a:r>
          </a:p>
          <a:p>
            <a:pPr>
              <a:buFont typeface="Arial" panose="020B0604020202020204" pitchFamily="34" charset="0"/>
              <a:buChar char="•"/>
            </a:pPr>
            <a:r>
              <a:rPr lang="en-US" b="0" i="0" dirty="0">
                <a:effectLst/>
                <a:latin typeface="Söhne"/>
              </a:rPr>
              <a:t>Validators are then selected based on their importance score to validate transactions and create new blocks on the blockchain.</a:t>
            </a:r>
          </a:p>
          <a:p>
            <a:endParaRPr lang="en-IN" dirty="0"/>
          </a:p>
        </p:txBody>
      </p:sp>
    </p:spTree>
    <p:extLst>
      <p:ext uri="{BB962C8B-B14F-4D97-AF65-F5344CB8AC3E}">
        <p14:creationId xmlns:p14="http://schemas.microsoft.com/office/powerpoint/2010/main" val="9648094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63600" y="345440"/>
            <a:ext cx="10490200" cy="5831523"/>
          </a:xfrm>
        </p:spPr>
        <p:txBody>
          <a:bodyPr>
            <a:normAutofit/>
          </a:bodyPr>
          <a:lstStyle/>
          <a:p>
            <a:pPr marL="0" indent="0" algn="just">
              <a:buNone/>
            </a:pPr>
            <a:r>
              <a:rPr lang="en-IN" b="1" dirty="0">
                <a:solidFill>
                  <a:schemeClr val="accent1">
                    <a:lumMod val="75000"/>
                  </a:schemeClr>
                </a:solidFill>
              </a:rPr>
              <a:t>7)</a:t>
            </a:r>
            <a:r>
              <a:rPr lang="en-US" b="1" dirty="0">
                <a:solidFill>
                  <a:schemeClr val="accent1">
                    <a:lumMod val="75000"/>
                  </a:schemeClr>
                </a:solidFill>
              </a:rPr>
              <a:t> Federated consensus or federated Byzantine consensus:</a:t>
            </a:r>
          </a:p>
          <a:p>
            <a:r>
              <a:rPr lang="en-US" b="1" dirty="0"/>
              <a:t>Concept</a:t>
            </a:r>
          </a:p>
          <a:p>
            <a:pPr>
              <a:buFont typeface="Arial" panose="020B0604020202020204" pitchFamily="34" charset="0"/>
              <a:buChar char="•"/>
            </a:pPr>
            <a:r>
              <a:rPr lang="en-US" b="0" i="0" dirty="0">
                <a:effectLst/>
                <a:latin typeface="Söhne"/>
              </a:rPr>
              <a:t>In FBC, a group of pre-selected nodes or organizations are designated as validators and are responsible for maintaining the network's security and reaching consensus on transactions and new blocks.</a:t>
            </a:r>
          </a:p>
          <a:p>
            <a:pPr>
              <a:buFont typeface="Arial" panose="020B0604020202020204" pitchFamily="34" charset="0"/>
              <a:buChar char="•"/>
            </a:pPr>
            <a:r>
              <a:rPr lang="en-US" b="0" i="0" dirty="0">
                <a:effectLst/>
                <a:latin typeface="Söhne"/>
              </a:rPr>
              <a:t> These validators are required to communicate with each other and reach a consensus on the validity of each transaction and block before it is added to the blockchain.</a:t>
            </a:r>
          </a:p>
          <a:p>
            <a:pPr marL="0" indent="0">
              <a:buNone/>
            </a:pPr>
            <a:endParaRPr lang="en-IN" dirty="0"/>
          </a:p>
        </p:txBody>
      </p:sp>
    </p:spTree>
    <p:extLst>
      <p:ext uri="{BB962C8B-B14F-4D97-AF65-F5344CB8AC3E}">
        <p14:creationId xmlns:p14="http://schemas.microsoft.com/office/powerpoint/2010/main" val="2376923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36320" y="701040"/>
            <a:ext cx="10317480" cy="5475923"/>
          </a:xfrm>
        </p:spPr>
        <p:txBody>
          <a:bodyPr>
            <a:normAutofit/>
          </a:bodyPr>
          <a:lstStyle/>
          <a:p>
            <a:pPr marL="0" indent="0" algn="just">
              <a:buNone/>
            </a:pPr>
            <a:r>
              <a:rPr lang="en-US" b="1" dirty="0">
                <a:solidFill>
                  <a:schemeClr val="accent1">
                    <a:lumMod val="75000"/>
                  </a:schemeClr>
                </a:solidFill>
              </a:rPr>
              <a:t>8) </a:t>
            </a:r>
            <a:r>
              <a:rPr lang="en-IN" b="1" dirty="0">
                <a:solidFill>
                  <a:schemeClr val="accent1">
                    <a:lumMod val="75000"/>
                  </a:schemeClr>
                </a:solidFill>
              </a:rPr>
              <a:t>Reputation-based mechanisms:</a:t>
            </a:r>
          </a:p>
          <a:p>
            <a:r>
              <a:rPr lang="en-US" b="1" dirty="0"/>
              <a:t>Concept</a:t>
            </a:r>
          </a:p>
          <a:p>
            <a:pPr>
              <a:buFont typeface="Arial" panose="020B0604020202020204" pitchFamily="34" charset="0"/>
              <a:buChar char="•"/>
            </a:pPr>
            <a:r>
              <a:rPr lang="en-US" b="0" i="0" dirty="0">
                <a:effectLst/>
                <a:latin typeface="Söhne"/>
              </a:rPr>
              <a:t>In a reputation-based consensus algorithm, participants are assigned a reputation score based on their activity and behavior on the network. </a:t>
            </a:r>
          </a:p>
          <a:p>
            <a:pPr>
              <a:buFont typeface="Arial" panose="020B0604020202020204" pitchFamily="34" charset="0"/>
              <a:buChar char="•"/>
            </a:pPr>
            <a:r>
              <a:rPr lang="en-US" b="0" i="0" dirty="0">
                <a:effectLst/>
                <a:latin typeface="Söhne"/>
              </a:rPr>
              <a:t>This score is calculated based on various factors, such as the number of transactions they have made, the amount of cryptocurrency they hold, and their overall behavior and reputation within the network.</a:t>
            </a:r>
          </a:p>
          <a:p>
            <a:pPr>
              <a:buFont typeface="Arial" panose="020B0604020202020204" pitchFamily="34" charset="0"/>
              <a:buChar char="•"/>
            </a:pPr>
            <a:r>
              <a:rPr lang="en-US" b="0" i="0" dirty="0">
                <a:effectLst/>
                <a:latin typeface="Söhne"/>
              </a:rPr>
              <a:t>Validators are then selected based on their reputation score to validate transactions and create new blocks on the blockchain.</a:t>
            </a:r>
          </a:p>
          <a:p>
            <a:endParaRPr lang="en-IN" dirty="0"/>
          </a:p>
        </p:txBody>
      </p:sp>
    </p:spTree>
    <p:extLst>
      <p:ext uri="{BB962C8B-B14F-4D97-AF65-F5344CB8AC3E}">
        <p14:creationId xmlns:p14="http://schemas.microsoft.com/office/powerpoint/2010/main" val="21356911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71D4D-5B2F-3FAB-B7C1-72EB470494F8}"/>
              </a:ext>
            </a:extLst>
          </p:cNvPr>
          <p:cNvSpPr>
            <a:spLocks noGrp="1"/>
          </p:cNvSpPr>
          <p:nvPr>
            <p:ph idx="1"/>
          </p:nvPr>
        </p:nvSpPr>
        <p:spPr>
          <a:xfrm>
            <a:off x="782320" y="345440"/>
            <a:ext cx="10571480" cy="5831523"/>
          </a:xfrm>
        </p:spPr>
        <p:txBody>
          <a:bodyPr>
            <a:normAutofit/>
          </a:bodyPr>
          <a:lstStyle/>
          <a:p>
            <a:pPr marL="0" indent="0" algn="just">
              <a:buNone/>
            </a:pPr>
            <a:r>
              <a:rPr lang="en-IN" b="1" dirty="0">
                <a:solidFill>
                  <a:schemeClr val="accent1">
                    <a:lumMod val="75000"/>
                  </a:schemeClr>
                </a:solidFill>
              </a:rPr>
              <a:t>9) Practical Byzantine Fault Tolerance:</a:t>
            </a:r>
          </a:p>
          <a:p>
            <a:r>
              <a:rPr lang="en-US" b="1" dirty="0"/>
              <a:t>Concept</a:t>
            </a:r>
          </a:p>
          <a:p>
            <a:pPr>
              <a:buFont typeface="Arial" panose="020B0604020202020204" pitchFamily="34" charset="0"/>
              <a:buChar char="•"/>
            </a:pPr>
            <a:r>
              <a:rPr lang="en-US" b="0" i="0" dirty="0">
                <a:effectLst/>
                <a:latin typeface="Söhne"/>
              </a:rPr>
              <a:t>Practical Byzantine Fault Tolerance (PBFT) is a consensus algorithm used in some distributed systems to tolerate failures and ensure that a distributed network can reach consensus despite the presence of malicious nodes. </a:t>
            </a:r>
          </a:p>
          <a:p>
            <a:pPr>
              <a:buFont typeface="Arial" panose="020B0604020202020204" pitchFamily="34" charset="0"/>
              <a:buChar char="•"/>
            </a:pPr>
            <a:r>
              <a:rPr lang="en-US" b="0" i="0" dirty="0">
                <a:effectLst/>
                <a:latin typeface="Söhne"/>
              </a:rPr>
              <a:t>a group of pre-selected nodes, known as replicas, are responsible for validating transactions and creating new blocks on the blockchain</a:t>
            </a:r>
            <a:r>
              <a:rPr lang="en-US" b="0" i="0" dirty="0">
                <a:solidFill>
                  <a:srgbClr val="374151"/>
                </a:solidFill>
                <a:effectLst/>
                <a:latin typeface="Söhne"/>
              </a:rPr>
              <a:t>.</a:t>
            </a:r>
          </a:p>
          <a:p>
            <a:pPr>
              <a:buFont typeface="Arial" panose="020B0604020202020204" pitchFamily="34" charset="0"/>
              <a:buChar char="•"/>
            </a:pPr>
            <a:r>
              <a:rPr lang="en-US" b="0" i="0" dirty="0">
                <a:effectLst/>
                <a:latin typeface="Söhne"/>
              </a:rPr>
              <a:t>PBFT is a powerful consensus algorithm because it allows the network to reach consensus even in the presence of a significant number of faulty or malicious nodes. </a:t>
            </a:r>
            <a:endParaRPr lang="en-IN" dirty="0"/>
          </a:p>
          <a:p>
            <a:endParaRPr lang="en-IN" dirty="0"/>
          </a:p>
        </p:txBody>
      </p:sp>
    </p:spTree>
    <p:extLst>
      <p:ext uri="{BB962C8B-B14F-4D97-AF65-F5344CB8AC3E}">
        <p14:creationId xmlns:p14="http://schemas.microsoft.com/office/powerpoint/2010/main" val="29206544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B4D82BE-F830-5DDA-3616-85B0AEB6FC3C}"/>
              </a:ext>
            </a:extLst>
          </p:cNvPr>
          <p:cNvGraphicFramePr>
            <a:graphicFrameLocks noGrp="1"/>
          </p:cNvGraphicFramePr>
          <p:nvPr>
            <p:ph idx="1"/>
          </p:nvPr>
        </p:nvGraphicFramePr>
        <p:xfrm>
          <a:off x="643467" y="652491"/>
          <a:ext cx="10905068" cy="5553020"/>
        </p:xfrm>
        <a:graphic>
          <a:graphicData uri="http://schemas.openxmlformats.org/drawingml/2006/table">
            <a:tbl>
              <a:tblPr firstRow="1" bandRow="1">
                <a:solidFill>
                  <a:schemeClr val="tx1">
                    <a:lumMod val="65000"/>
                    <a:lumOff val="35000"/>
                  </a:schemeClr>
                </a:solidFill>
              </a:tblPr>
              <a:tblGrid>
                <a:gridCol w="2720805">
                  <a:extLst>
                    <a:ext uri="{9D8B030D-6E8A-4147-A177-3AD203B41FA5}">
                      <a16:colId xmlns:a16="http://schemas.microsoft.com/office/drawing/2014/main" val="2614188440"/>
                    </a:ext>
                  </a:extLst>
                </a:gridCol>
                <a:gridCol w="3745813">
                  <a:extLst>
                    <a:ext uri="{9D8B030D-6E8A-4147-A177-3AD203B41FA5}">
                      <a16:colId xmlns:a16="http://schemas.microsoft.com/office/drawing/2014/main" val="1753114435"/>
                    </a:ext>
                  </a:extLst>
                </a:gridCol>
                <a:gridCol w="4438450">
                  <a:extLst>
                    <a:ext uri="{9D8B030D-6E8A-4147-A177-3AD203B41FA5}">
                      <a16:colId xmlns:a16="http://schemas.microsoft.com/office/drawing/2014/main" val="2245122475"/>
                    </a:ext>
                  </a:extLst>
                </a:gridCol>
              </a:tblGrid>
              <a:tr h="563180">
                <a:tc>
                  <a:txBody>
                    <a:bodyPr/>
                    <a:lstStyle/>
                    <a:p>
                      <a:pPr algn="ctr" fontAlgn="base"/>
                      <a:r>
                        <a:rPr lang="en-IN" sz="1400" b="1" cap="all" spc="60" dirty="0" err="1">
                          <a:solidFill>
                            <a:schemeClr val="bg1"/>
                          </a:solidFill>
                          <a:effectLst/>
                        </a:rPr>
                        <a:t>S.No</a:t>
                      </a:r>
                      <a:r>
                        <a:rPr lang="en-IN" sz="1400" b="1" cap="all" spc="60" dirty="0">
                          <a:solidFill>
                            <a:schemeClr val="bg1"/>
                          </a:solidFill>
                          <a:effectLst/>
                        </a:rPr>
                        <a:t>.</a:t>
                      </a:r>
                    </a:p>
                  </a:txBody>
                  <a:tcPr marL="156439" marR="156439" marT="156439" marB="156439" anchor="ctr">
                    <a:lnL w="12700" cmpd="sng">
                      <a:noFill/>
                    </a:lnL>
                    <a:lnR w="12700" cmpd="sng">
                      <a:noFill/>
                    </a:lnR>
                    <a:lnT w="12700" cmpd="sng">
                      <a:noFill/>
                    </a:lnT>
                    <a:lnB w="38100" cmpd="sng">
                      <a:noFill/>
                    </a:lnB>
                    <a:noFill/>
                  </a:tcPr>
                </a:tc>
                <a:tc>
                  <a:txBody>
                    <a:bodyPr/>
                    <a:lstStyle/>
                    <a:p>
                      <a:pPr algn="ctr" fontAlgn="base"/>
                      <a:r>
                        <a:rPr lang="en-IN" sz="1400" b="1" cap="all" spc="60" dirty="0">
                          <a:solidFill>
                            <a:schemeClr val="bg1"/>
                          </a:solidFill>
                          <a:effectLst/>
                        </a:rPr>
                        <a:t>Proof of Work (PoW)</a:t>
                      </a:r>
                    </a:p>
                  </a:txBody>
                  <a:tcPr marL="156439" marR="156439" marT="156439" marB="156439" anchor="ctr">
                    <a:lnL w="12700" cmpd="sng">
                      <a:noFill/>
                    </a:lnL>
                    <a:lnR w="12700" cmpd="sng">
                      <a:noFill/>
                    </a:lnR>
                    <a:lnT w="12700" cmpd="sng">
                      <a:noFill/>
                    </a:lnT>
                    <a:lnB w="38100" cmpd="sng">
                      <a:noFill/>
                    </a:lnB>
                    <a:noFill/>
                  </a:tcPr>
                </a:tc>
                <a:tc>
                  <a:txBody>
                    <a:bodyPr/>
                    <a:lstStyle/>
                    <a:p>
                      <a:pPr algn="ctr" fontAlgn="base"/>
                      <a:r>
                        <a:rPr lang="en-IN" sz="1400" b="1" cap="all" spc="60" dirty="0">
                          <a:solidFill>
                            <a:schemeClr val="bg1"/>
                          </a:solidFill>
                          <a:effectLst/>
                        </a:rPr>
                        <a:t>Proof of Stake (</a:t>
                      </a:r>
                      <a:r>
                        <a:rPr lang="en-IN" sz="1400" b="1" cap="all" spc="60" dirty="0" err="1">
                          <a:solidFill>
                            <a:schemeClr val="bg1"/>
                          </a:solidFill>
                          <a:effectLst/>
                        </a:rPr>
                        <a:t>PoS</a:t>
                      </a:r>
                      <a:r>
                        <a:rPr lang="en-IN" sz="1400" b="1" cap="all" spc="60" dirty="0">
                          <a:solidFill>
                            <a:schemeClr val="bg1"/>
                          </a:solidFill>
                          <a:effectLst/>
                        </a:rPr>
                        <a:t>)</a:t>
                      </a:r>
                    </a:p>
                  </a:txBody>
                  <a:tcPr marL="156439" marR="156439" marT="156439" marB="156439" anchor="ctr">
                    <a:lnL w="12700" cmpd="sng">
                      <a:noFill/>
                    </a:lnL>
                    <a:lnR w="12700" cmpd="sng">
                      <a:noFill/>
                    </a:lnR>
                    <a:lnT w="12700" cmpd="sng">
                      <a:noFill/>
                    </a:lnT>
                    <a:lnB w="38100" cmpd="sng">
                      <a:noFill/>
                    </a:lnB>
                    <a:noFill/>
                  </a:tcPr>
                </a:tc>
                <a:extLst>
                  <a:ext uri="{0D108BD9-81ED-4DB2-BD59-A6C34878D82A}">
                    <a16:rowId xmlns:a16="http://schemas.microsoft.com/office/drawing/2014/main" val="4084638020"/>
                  </a:ext>
                </a:extLst>
              </a:tr>
              <a:tr h="1386517">
                <a:tc>
                  <a:txBody>
                    <a:bodyPr/>
                    <a:lstStyle/>
                    <a:p>
                      <a:pPr algn="ctr" fontAlgn="ctr"/>
                      <a:r>
                        <a:rPr lang="en-IN" sz="1800" b="0" cap="none" spc="0" dirty="0">
                          <a:solidFill>
                            <a:schemeClr val="bg1"/>
                          </a:solidFill>
                          <a:effectLst/>
                        </a:rPr>
                        <a:t>1.</a:t>
                      </a:r>
                    </a:p>
                  </a:txBody>
                  <a:tcPr marL="91466" marR="91466" marT="128053" marB="104293"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ctr" fontAlgn="ctr"/>
                      <a:r>
                        <a:rPr lang="en-US" sz="1800" b="0" cap="none" spc="0" dirty="0">
                          <a:solidFill>
                            <a:schemeClr val="bg1"/>
                          </a:solidFill>
                          <a:effectLst/>
                        </a:rPr>
                        <a:t>The probability of mining a block is determined by how much computational work is done by miner.</a:t>
                      </a:r>
                    </a:p>
                  </a:txBody>
                  <a:tcPr marL="91466" marR="91466" marT="128053" marB="104293"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tc>
                  <a:txBody>
                    <a:bodyPr/>
                    <a:lstStyle/>
                    <a:p>
                      <a:pPr algn="ctr" fontAlgn="ctr"/>
                      <a:r>
                        <a:rPr lang="en-US" sz="1800" b="0" cap="none" spc="0" dirty="0">
                          <a:solidFill>
                            <a:schemeClr val="bg1"/>
                          </a:solidFill>
                          <a:effectLst/>
                        </a:rPr>
                        <a:t>The probability of validating a new block is determined by how large of a stake a person holds (how many coins they possess).</a:t>
                      </a:r>
                    </a:p>
                  </a:txBody>
                  <a:tcPr marL="91466" marR="91466" marT="128053" marB="104293" anchor="ctr">
                    <a:lnL w="12700" cmpd="sng">
                      <a:noFill/>
                      <a:prstDash val="solid"/>
                    </a:lnL>
                    <a:lnR w="12700" cmpd="sng">
                      <a:noFill/>
                      <a:prstDash val="solid"/>
                    </a:lnR>
                    <a:lnT w="38100" cmpd="sng">
                      <a:noFill/>
                    </a:lnT>
                    <a:lnB w="12700" cmpd="sng">
                      <a:noFill/>
                      <a:prstDash val="solid"/>
                    </a:lnB>
                    <a:solidFill>
                      <a:schemeClr val="tx1">
                        <a:lumMod val="65000"/>
                        <a:lumOff val="35000"/>
                      </a:schemeClr>
                    </a:solidFill>
                  </a:tcPr>
                </a:tc>
                <a:extLst>
                  <a:ext uri="{0D108BD9-81ED-4DB2-BD59-A6C34878D82A}">
                    <a16:rowId xmlns:a16="http://schemas.microsoft.com/office/drawing/2014/main" val="2641105709"/>
                  </a:ext>
                </a:extLst>
              </a:tr>
              <a:tr h="1108403">
                <a:tc>
                  <a:txBody>
                    <a:bodyPr/>
                    <a:lstStyle/>
                    <a:p>
                      <a:pPr algn="ctr" fontAlgn="ctr"/>
                      <a:r>
                        <a:rPr lang="en-IN" sz="1800" b="0" cap="none" spc="0">
                          <a:solidFill>
                            <a:schemeClr val="bg1"/>
                          </a:solidFill>
                          <a:effectLst/>
                        </a:rPr>
                        <a:t>2.</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a:solidFill>
                            <a:schemeClr val="bg1"/>
                          </a:solidFill>
                          <a:effectLst/>
                        </a:rPr>
                        <a:t>A reward is given to first miner to solve cryptographic puzzle of each block.</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dirty="0">
                          <a:solidFill>
                            <a:schemeClr val="bg1"/>
                          </a:solidFill>
                          <a:effectLst/>
                        </a:rPr>
                        <a:t>The validator </a:t>
                      </a:r>
                      <a:r>
                        <a:rPr lang="en-US" sz="1800" b="0" cap="none" spc="0" dirty="0" err="1">
                          <a:solidFill>
                            <a:schemeClr val="bg1"/>
                          </a:solidFill>
                          <a:effectLst/>
                        </a:rPr>
                        <a:t>donot</a:t>
                      </a:r>
                      <a:r>
                        <a:rPr lang="en-US" sz="1800" b="0" cap="none" spc="0" dirty="0">
                          <a:solidFill>
                            <a:schemeClr val="bg1"/>
                          </a:solidFill>
                          <a:effectLst/>
                        </a:rPr>
                        <a:t> receive a block reward instead they collect network fee as their reward.</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3708022801"/>
                  </a:ext>
                </a:extLst>
              </a:tr>
              <a:tr h="1386517">
                <a:tc>
                  <a:txBody>
                    <a:bodyPr/>
                    <a:lstStyle/>
                    <a:p>
                      <a:pPr algn="ctr" fontAlgn="ctr"/>
                      <a:r>
                        <a:rPr lang="en-IN" sz="1800" b="0" cap="none" spc="0">
                          <a:solidFill>
                            <a:schemeClr val="bg1"/>
                          </a:solidFill>
                          <a:effectLst/>
                        </a:rPr>
                        <a:t>3.</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fontAlgn="ctr"/>
                      <a:r>
                        <a:rPr lang="en-US" sz="1800" b="0" cap="none" spc="0">
                          <a:solidFill>
                            <a:schemeClr val="bg1"/>
                          </a:solidFill>
                          <a:effectLst/>
                        </a:rPr>
                        <a:t>To add each block to chain, miners must compete to solve difficult puzzles using their computer process power</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tc>
                  <a:txBody>
                    <a:bodyPr/>
                    <a:lstStyle/>
                    <a:p>
                      <a:pPr algn="ctr" fontAlgn="ctr"/>
                      <a:r>
                        <a:rPr lang="en-US" sz="1800" b="0" cap="none" spc="0" dirty="0">
                          <a:solidFill>
                            <a:schemeClr val="bg1"/>
                          </a:solidFill>
                          <a:effectLst/>
                        </a:rPr>
                        <a:t>There is no competition as block creator is chosen by an algorithm based on user stake.</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chemeClr val="tx1">
                        <a:lumMod val="65000"/>
                        <a:lumOff val="35000"/>
                      </a:schemeClr>
                    </a:solidFill>
                  </a:tcPr>
                </a:tc>
                <a:extLst>
                  <a:ext uri="{0D108BD9-81ED-4DB2-BD59-A6C34878D82A}">
                    <a16:rowId xmlns:a16="http://schemas.microsoft.com/office/drawing/2014/main" val="3284420491"/>
                  </a:ext>
                </a:extLst>
              </a:tr>
              <a:tr h="1108403">
                <a:tc>
                  <a:txBody>
                    <a:bodyPr/>
                    <a:lstStyle/>
                    <a:p>
                      <a:pPr algn="ctr" fontAlgn="ctr"/>
                      <a:r>
                        <a:rPr lang="en-IN" sz="1800" b="0" cap="none" spc="0">
                          <a:solidFill>
                            <a:schemeClr val="bg1"/>
                          </a:solidFill>
                          <a:effectLst/>
                        </a:rPr>
                        <a:t>4.</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a:solidFill>
                            <a:schemeClr val="bg1"/>
                          </a:solidFill>
                          <a:effectLst/>
                        </a:rPr>
                        <a:t>Hackers would need to have 51% of computation power to add malicious block.</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tc>
                  <a:txBody>
                    <a:bodyPr/>
                    <a:lstStyle/>
                    <a:p>
                      <a:pPr algn="ctr" fontAlgn="ctr"/>
                      <a:r>
                        <a:rPr lang="en-US" sz="1800" b="0" cap="none" spc="0" dirty="0">
                          <a:solidFill>
                            <a:schemeClr val="bg1"/>
                          </a:solidFill>
                          <a:effectLst/>
                        </a:rPr>
                        <a:t>Hackers would need to own 51% of all </a:t>
                      </a:r>
                      <a:r>
                        <a:rPr lang="en-US" sz="1800" b="0" u="sng" cap="none" spc="0" dirty="0">
                          <a:solidFill>
                            <a:schemeClr val="bg1"/>
                          </a:solidFill>
                          <a:effectLst/>
                          <a:hlinkClick r:id="rId2">
                            <a:extLst>
                              <a:ext uri="{A12FA001-AC4F-418D-AE19-62706E023703}">
                                <ahyp:hlinkClr xmlns:ahyp="http://schemas.microsoft.com/office/drawing/2018/hyperlinkcolor" val="tx"/>
                              </a:ext>
                            </a:extLst>
                          </a:hlinkClick>
                        </a:rPr>
                        <a:t>cryptocurrency</a:t>
                      </a:r>
                      <a:r>
                        <a:rPr lang="en-US" sz="1800" b="0" cap="none" spc="0" dirty="0">
                          <a:solidFill>
                            <a:schemeClr val="bg1"/>
                          </a:solidFill>
                          <a:effectLst/>
                        </a:rPr>
                        <a:t> on network, which is practically impossible.</a:t>
                      </a:r>
                    </a:p>
                  </a:txBody>
                  <a:tcPr marL="91466" marR="91466" marT="128053" marB="104293" anchor="ctr">
                    <a:lnL w="12700" cmpd="sng">
                      <a:noFill/>
                      <a:prstDash val="solid"/>
                    </a:lnL>
                    <a:lnR w="12700" cmpd="sng">
                      <a:noFill/>
                      <a:prstDash val="solid"/>
                    </a:lnR>
                    <a:lnT w="12700" cmpd="sng">
                      <a:noFill/>
                      <a:prstDash val="solid"/>
                    </a:lnT>
                    <a:lnB w="12700" cmpd="sng">
                      <a:noFill/>
                      <a:prstDash val="solid"/>
                    </a:lnB>
                    <a:solidFill>
                      <a:srgbClr val="262626"/>
                    </a:solidFill>
                  </a:tcPr>
                </a:tc>
                <a:extLst>
                  <a:ext uri="{0D108BD9-81ED-4DB2-BD59-A6C34878D82A}">
                    <a16:rowId xmlns:a16="http://schemas.microsoft.com/office/drawing/2014/main" val="66320951"/>
                  </a:ext>
                </a:extLst>
              </a:tr>
            </a:tbl>
          </a:graphicData>
        </a:graphic>
      </p:graphicFrame>
    </p:spTree>
    <p:extLst>
      <p:ext uri="{BB962C8B-B14F-4D97-AF65-F5344CB8AC3E}">
        <p14:creationId xmlns:p14="http://schemas.microsoft.com/office/powerpoint/2010/main" val="889064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