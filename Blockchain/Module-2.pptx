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1" r:id="rId2"/>
    <p:sldId id="400" r:id="rId3"/>
    <p:sldId id="405" r:id="rId4"/>
    <p:sldId id="257" r:id="rId5"/>
    <p:sldId id="258" r:id="rId6"/>
    <p:sldId id="408" r:id="rId7"/>
    <p:sldId id="401" r:id="rId8"/>
    <p:sldId id="406" r:id="rId9"/>
    <p:sldId id="403" r:id="rId10"/>
    <p:sldId id="402" r:id="rId11"/>
    <p:sldId id="373" r:id="rId12"/>
    <p:sldId id="284" r:id="rId13"/>
    <p:sldId id="409" r:id="rId14"/>
    <p:sldId id="286" r:id="rId15"/>
    <p:sldId id="410" r:id="rId16"/>
    <p:sldId id="413" r:id="rId17"/>
    <p:sldId id="412" r:id="rId18"/>
    <p:sldId id="411" r:id="rId19"/>
    <p:sldId id="375" r:id="rId20"/>
    <p:sldId id="380" r:id="rId21"/>
    <p:sldId id="376" r:id="rId22"/>
    <p:sldId id="289" r:id="rId23"/>
    <p:sldId id="418" r:id="rId24"/>
    <p:sldId id="434" r:id="rId25"/>
    <p:sldId id="414" r:id="rId26"/>
    <p:sldId id="303" r:id="rId27"/>
    <p:sldId id="304" r:id="rId28"/>
    <p:sldId id="415" r:id="rId29"/>
    <p:sldId id="416" r:id="rId30"/>
    <p:sldId id="417" r:id="rId31"/>
    <p:sldId id="419" r:id="rId32"/>
    <p:sldId id="420" r:id="rId33"/>
    <p:sldId id="421" r:id="rId34"/>
    <p:sldId id="422" r:id="rId35"/>
    <p:sldId id="424" r:id="rId36"/>
    <p:sldId id="428" r:id="rId37"/>
    <p:sldId id="425" r:id="rId38"/>
    <p:sldId id="314" r:id="rId39"/>
    <p:sldId id="429" r:id="rId40"/>
    <p:sldId id="430" r:id="rId41"/>
    <p:sldId id="431" r:id="rId42"/>
    <p:sldId id="432" r:id="rId43"/>
    <p:sldId id="448" r:id="rId44"/>
    <p:sldId id="327" r:id="rId45"/>
    <p:sldId id="433" r:id="rId46"/>
    <p:sldId id="435" r:id="rId47"/>
    <p:sldId id="436" r:id="rId48"/>
    <p:sldId id="438" r:id="rId49"/>
    <p:sldId id="440" r:id="rId50"/>
    <p:sldId id="338" r:id="rId51"/>
    <p:sldId id="339" r:id="rId52"/>
    <p:sldId id="442" r:id="rId53"/>
    <p:sldId id="443" r:id="rId54"/>
    <p:sldId id="282" r:id="rId55"/>
    <p:sldId id="449" r:id="rId56"/>
    <p:sldId id="313" r:id="rId57"/>
    <p:sldId id="444" r:id="rId58"/>
    <p:sldId id="315" r:id="rId59"/>
    <p:sldId id="316" r:id="rId60"/>
    <p:sldId id="317" r:id="rId61"/>
    <p:sldId id="446" r:id="rId62"/>
    <p:sldId id="445" r:id="rId63"/>
    <p:sldId id="450" r:id="rId64"/>
    <p:sldId id="451" r:id="rId65"/>
    <p:sldId id="362" r:id="rId66"/>
    <p:sldId id="389" r:id="rId67"/>
    <p:sldId id="361" r:id="rId68"/>
    <p:sldId id="452" r:id="rId69"/>
    <p:sldId id="453" r:id="rId70"/>
    <p:sldId id="390" r:id="rId71"/>
    <p:sldId id="454" r:id="rId72"/>
    <p:sldId id="455" r:id="rId73"/>
    <p:sldId id="456" r:id="rId74"/>
    <p:sldId id="457" r:id="rId75"/>
    <p:sldId id="458" r:id="rId76"/>
    <p:sldId id="460" r:id="rId77"/>
    <p:sldId id="459" r:id="rId78"/>
    <p:sldId id="397"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50" autoAdjust="0"/>
    <p:restoredTop sz="94660"/>
  </p:normalViewPr>
  <p:slideViewPr>
    <p:cSldViewPr snapToGrid="0">
      <p:cViewPr varScale="1">
        <p:scale>
          <a:sx n="63" d="100"/>
          <a:sy n="63" d="100"/>
        </p:scale>
        <p:origin x="85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7D7C0-BAF6-444A-01BC-E8E347037C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EFE0F1-FA42-0325-F97A-33A9232F12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D70308C-33AF-D172-31A2-BA26FBF73B1B}"/>
              </a:ext>
            </a:extLst>
          </p:cNvPr>
          <p:cNvSpPr>
            <a:spLocks noGrp="1"/>
          </p:cNvSpPr>
          <p:nvPr>
            <p:ph type="dt" sz="half" idx="10"/>
          </p:nvPr>
        </p:nvSpPr>
        <p:spPr/>
        <p:txBody>
          <a:bodyPr/>
          <a:lstStyle/>
          <a:p>
            <a:fld id="{ED91F1CC-EE7C-4080-A006-F3E7707CB9C7}" type="datetimeFigureOut">
              <a:rPr lang="en-IN" smtClean="0"/>
              <a:t>14-03-2025</a:t>
            </a:fld>
            <a:endParaRPr lang="en-IN" dirty="0"/>
          </a:p>
        </p:txBody>
      </p:sp>
      <p:sp>
        <p:nvSpPr>
          <p:cNvPr id="5" name="Footer Placeholder 4">
            <a:extLst>
              <a:ext uri="{FF2B5EF4-FFF2-40B4-BE49-F238E27FC236}">
                <a16:creationId xmlns:a16="http://schemas.microsoft.com/office/drawing/2014/main" id="{C7F29DC7-E9D5-751F-E3EE-3070BB70FF8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5C79E80-A70D-3030-59FA-EDE6870774D7}"/>
              </a:ext>
            </a:extLst>
          </p:cNvPr>
          <p:cNvSpPr>
            <a:spLocks noGrp="1"/>
          </p:cNvSpPr>
          <p:nvPr>
            <p:ph type="sldNum" sz="quarter" idx="12"/>
          </p:nvPr>
        </p:nvSpPr>
        <p:spPr/>
        <p:txBody>
          <a:bodyPr/>
          <a:lstStyle/>
          <a:p>
            <a:fld id="{152FB7FA-8DF2-4239-BB63-876978DCC1AD}" type="slidenum">
              <a:rPr lang="en-IN" smtClean="0"/>
              <a:t>‹#›</a:t>
            </a:fld>
            <a:endParaRPr lang="en-IN" dirty="0"/>
          </a:p>
        </p:txBody>
      </p:sp>
    </p:spTree>
    <p:extLst>
      <p:ext uri="{BB962C8B-B14F-4D97-AF65-F5344CB8AC3E}">
        <p14:creationId xmlns:p14="http://schemas.microsoft.com/office/powerpoint/2010/main" val="482033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1C775-CE38-2EBB-7D35-23108EFFFB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74FBEA-D1A3-0B6A-2BF0-E34B30559F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4DF254-DE88-A404-5F81-08905309D0A4}"/>
              </a:ext>
            </a:extLst>
          </p:cNvPr>
          <p:cNvSpPr>
            <a:spLocks noGrp="1"/>
          </p:cNvSpPr>
          <p:nvPr>
            <p:ph type="dt" sz="half" idx="10"/>
          </p:nvPr>
        </p:nvSpPr>
        <p:spPr/>
        <p:txBody>
          <a:bodyPr/>
          <a:lstStyle/>
          <a:p>
            <a:fld id="{ED91F1CC-EE7C-4080-A006-F3E7707CB9C7}" type="datetimeFigureOut">
              <a:rPr lang="en-IN" smtClean="0"/>
              <a:t>14-03-2025</a:t>
            </a:fld>
            <a:endParaRPr lang="en-IN" dirty="0"/>
          </a:p>
        </p:txBody>
      </p:sp>
      <p:sp>
        <p:nvSpPr>
          <p:cNvPr id="5" name="Footer Placeholder 4">
            <a:extLst>
              <a:ext uri="{FF2B5EF4-FFF2-40B4-BE49-F238E27FC236}">
                <a16:creationId xmlns:a16="http://schemas.microsoft.com/office/drawing/2014/main" id="{4847EF9F-5A59-9D97-FD0A-D929B7C4A70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ED4A570-B362-4085-8532-2528DA3D06E8}"/>
              </a:ext>
            </a:extLst>
          </p:cNvPr>
          <p:cNvSpPr>
            <a:spLocks noGrp="1"/>
          </p:cNvSpPr>
          <p:nvPr>
            <p:ph type="sldNum" sz="quarter" idx="12"/>
          </p:nvPr>
        </p:nvSpPr>
        <p:spPr/>
        <p:txBody>
          <a:bodyPr/>
          <a:lstStyle/>
          <a:p>
            <a:fld id="{152FB7FA-8DF2-4239-BB63-876978DCC1AD}" type="slidenum">
              <a:rPr lang="en-IN" smtClean="0"/>
              <a:t>‹#›</a:t>
            </a:fld>
            <a:endParaRPr lang="en-IN" dirty="0"/>
          </a:p>
        </p:txBody>
      </p:sp>
    </p:spTree>
    <p:extLst>
      <p:ext uri="{BB962C8B-B14F-4D97-AF65-F5344CB8AC3E}">
        <p14:creationId xmlns:p14="http://schemas.microsoft.com/office/powerpoint/2010/main" val="3329027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AA61-A4F4-6BCD-AD90-56D320E044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7871ED5-6DF4-FF0C-40F9-B501E271E6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E566FC-1BDB-1BCD-B604-28A792173EFE}"/>
              </a:ext>
            </a:extLst>
          </p:cNvPr>
          <p:cNvSpPr>
            <a:spLocks noGrp="1"/>
          </p:cNvSpPr>
          <p:nvPr>
            <p:ph type="dt" sz="half" idx="10"/>
          </p:nvPr>
        </p:nvSpPr>
        <p:spPr/>
        <p:txBody>
          <a:bodyPr/>
          <a:lstStyle/>
          <a:p>
            <a:fld id="{ED91F1CC-EE7C-4080-A006-F3E7707CB9C7}" type="datetimeFigureOut">
              <a:rPr lang="en-IN" smtClean="0"/>
              <a:t>14-03-2025</a:t>
            </a:fld>
            <a:endParaRPr lang="en-IN" dirty="0"/>
          </a:p>
        </p:txBody>
      </p:sp>
      <p:sp>
        <p:nvSpPr>
          <p:cNvPr id="5" name="Footer Placeholder 4">
            <a:extLst>
              <a:ext uri="{FF2B5EF4-FFF2-40B4-BE49-F238E27FC236}">
                <a16:creationId xmlns:a16="http://schemas.microsoft.com/office/drawing/2014/main" id="{D1C008A6-3533-C482-D588-22A881C023E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20CCA4D-CE56-5087-29B1-EAB005B7B4C2}"/>
              </a:ext>
            </a:extLst>
          </p:cNvPr>
          <p:cNvSpPr>
            <a:spLocks noGrp="1"/>
          </p:cNvSpPr>
          <p:nvPr>
            <p:ph type="sldNum" sz="quarter" idx="12"/>
          </p:nvPr>
        </p:nvSpPr>
        <p:spPr/>
        <p:txBody>
          <a:bodyPr/>
          <a:lstStyle/>
          <a:p>
            <a:fld id="{152FB7FA-8DF2-4239-BB63-876978DCC1AD}" type="slidenum">
              <a:rPr lang="en-IN" smtClean="0"/>
              <a:t>‹#›</a:t>
            </a:fld>
            <a:endParaRPr lang="en-IN" dirty="0"/>
          </a:p>
        </p:txBody>
      </p:sp>
    </p:spTree>
    <p:extLst>
      <p:ext uri="{BB962C8B-B14F-4D97-AF65-F5344CB8AC3E}">
        <p14:creationId xmlns:p14="http://schemas.microsoft.com/office/powerpoint/2010/main" val="2180476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D1DD1-DE40-83C5-1BC2-BE6DFAA420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D27608-8480-53BE-0795-9B1738C122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D12213-1BD9-73A8-322D-45627EBEC6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A4CB2BC-5483-83E4-F6E1-967B4DA0A222}"/>
              </a:ext>
            </a:extLst>
          </p:cNvPr>
          <p:cNvSpPr>
            <a:spLocks noGrp="1"/>
          </p:cNvSpPr>
          <p:nvPr>
            <p:ph type="dt" sz="half" idx="10"/>
          </p:nvPr>
        </p:nvSpPr>
        <p:spPr/>
        <p:txBody>
          <a:bodyPr/>
          <a:lstStyle/>
          <a:p>
            <a:fld id="{ED91F1CC-EE7C-4080-A006-F3E7707CB9C7}" type="datetimeFigureOut">
              <a:rPr lang="en-IN" smtClean="0"/>
              <a:t>14-03-2025</a:t>
            </a:fld>
            <a:endParaRPr lang="en-IN" dirty="0"/>
          </a:p>
        </p:txBody>
      </p:sp>
      <p:sp>
        <p:nvSpPr>
          <p:cNvPr id="6" name="Footer Placeholder 5">
            <a:extLst>
              <a:ext uri="{FF2B5EF4-FFF2-40B4-BE49-F238E27FC236}">
                <a16:creationId xmlns:a16="http://schemas.microsoft.com/office/drawing/2014/main" id="{AFDF6559-8D9F-56CF-C7F4-142111277016}"/>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28AF4F6-ACCC-E456-9701-514765E677D3}"/>
              </a:ext>
            </a:extLst>
          </p:cNvPr>
          <p:cNvSpPr>
            <a:spLocks noGrp="1"/>
          </p:cNvSpPr>
          <p:nvPr>
            <p:ph type="sldNum" sz="quarter" idx="12"/>
          </p:nvPr>
        </p:nvSpPr>
        <p:spPr/>
        <p:txBody>
          <a:bodyPr/>
          <a:lstStyle/>
          <a:p>
            <a:fld id="{152FB7FA-8DF2-4239-BB63-876978DCC1AD}" type="slidenum">
              <a:rPr lang="en-IN" smtClean="0"/>
              <a:t>‹#›</a:t>
            </a:fld>
            <a:endParaRPr lang="en-IN" dirty="0"/>
          </a:p>
        </p:txBody>
      </p:sp>
    </p:spTree>
    <p:extLst>
      <p:ext uri="{BB962C8B-B14F-4D97-AF65-F5344CB8AC3E}">
        <p14:creationId xmlns:p14="http://schemas.microsoft.com/office/powerpoint/2010/main" val="2373719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578BF-1586-FEDE-5070-66605749B7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0912D0-C732-CD82-C926-DE768DC2C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D6D8D1-2FFA-D789-3083-148ECA1044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37B01AD-2F42-FE13-BC92-6B765B9241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D07796-01A9-B70C-ADB7-A01D2179DC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22E2096-AD39-D414-B8BF-7AED9776658E}"/>
              </a:ext>
            </a:extLst>
          </p:cNvPr>
          <p:cNvSpPr>
            <a:spLocks noGrp="1"/>
          </p:cNvSpPr>
          <p:nvPr>
            <p:ph type="dt" sz="half" idx="10"/>
          </p:nvPr>
        </p:nvSpPr>
        <p:spPr/>
        <p:txBody>
          <a:bodyPr/>
          <a:lstStyle/>
          <a:p>
            <a:fld id="{ED91F1CC-EE7C-4080-A006-F3E7707CB9C7}" type="datetimeFigureOut">
              <a:rPr lang="en-IN" smtClean="0"/>
              <a:t>14-03-2025</a:t>
            </a:fld>
            <a:endParaRPr lang="en-IN" dirty="0"/>
          </a:p>
        </p:txBody>
      </p:sp>
      <p:sp>
        <p:nvSpPr>
          <p:cNvPr id="8" name="Footer Placeholder 7">
            <a:extLst>
              <a:ext uri="{FF2B5EF4-FFF2-40B4-BE49-F238E27FC236}">
                <a16:creationId xmlns:a16="http://schemas.microsoft.com/office/drawing/2014/main" id="{60BBA6D7-A0AF-70F9-FF49-ED403414CBE5}"/>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192B535B-606D-25C1-F491-CDEEAA805DAE}"/>
              </a:ext>
            </a:extLst>
          </p:cNvPr>
          <p:cNvSpPr>
            <a:spLocks noGrp="1"/>
          </p:cNvSpPr>
          <p:nvPr>
            <p:ph type="sldNum" sz="quarter" idx="12"/>
          </p:nvPr>
        </p:nvSpPr>
        <p:spPr/>
        <p:txBody>
          <a:bodyPr/>
          <a:lstStyle/>
          <a:p>
            <a:fld id="{152FB7FA-8DF2-4239-BB63-876978DCC1AD}" type="slidenum">
              <a:rPr lang="en-IN" smtClean="0"/>
              <a:t>‹#›</a:t>
            </a:fld>
            <a:endParaRPr lang="en-IN" dirty="0"/>
          </a:p>
        </p:txBody>
      </p:sp>
    </p:spTree>
    <p:extLst>
      <p:ext uri="{BB962C8B-B14F-4D97-AF65-F5344CB8AC3E}">
        <p14:creationId xmlns:p14="http://schemas.microsoft.com/office/powerpoint/2010/main" val="2155919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00BF0-210E-0470-5D9C-74761F00C85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AF838D-EF74-50C7-127B-D7455DA55249}"/>
              </a:ext>
            </a:extLst>
          </p:cNvPr>
          <p:cNvSpPr>
            <a:spLocks noGrp="1"/>
          </p:cNvSpPr>
          <p:nvPr>
            <p:ph type="dt" sz="half" idx="10"/>
          </p:nvPr>
        </p:nvSpPr>
        <p:spPr/>
        <p:txBody>
          <a:bodyPr/>
          <a:lstStyle/>
          <a:p>
            <a:fld id="{ED91F1CC-EE7C-4080-A006-F3E7707CB9C7}" type="datetimeFigureOut">
              <a:rPr lang="en-IN" smtClean="0"/>
              <a:t>14-03-2025</a:t>
            </a:fld>
            <a:endParaRPr lang="en-IN" dirty="0"/>
          </a:p>
        </p:txBody>
      </p:sp>
      <p:sp>
        <p:nvSpPr>
          <p:cNvPr id="4" name="Footer Placeholder 3">
            <a:extLst>
              <a:ext uri="{FF2B5EF4-FFF2-40B4-BE49-F238E27FC236}">
                <a16:creationId xmlns:a16="http://schemas.microsoft.com/office/drawing/2014/main" id="{2E6E7BBE-029F-8877-3E09-7967FF4A8849}"/>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2B3352F6-60E1-5062-E763-BD0668A75E99}"/>
              </a:ext>
            </a:extLst>
          </p:cNvPr>
          <p:cNvSpPr>
            <a:spLocks noGrp="1"/>
          </p:cNvSpPr>
          <p:nvPr>
            <p:ph type="sldNum" sz="quarter" idx="12"/>
          </p:nvPr>
        </p:nvSpPr>
        <p:spPr/>
        <p:txBody>
          <a:bodyPr/>
          <a:lstStyle/>
          <a:p>
            <a:fld id="{152FB7FA-8DF2-4239-BB63-876978DCC1AD}" type="slidenum">
              <a:rPr lang="en-IN" smtClean="0"/>
              <a:t>‹#›</a:t>
            </a:fld>
            <a:endParaRPr lang="en-IN" dirty="0"/>
          </a:p>
        </p:txBody>
      </p:sp>
    </p:spTree>
    <p:extLst>
      <p:ext uri="{BB962C8B-B14F-4D97-AF65-F5344CB8AC3E}">
        <p14:creationId xmlns:p14="http://schemas.microsoft.com/office/powerpoint/2010/main" val="232259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B776BE-BAE7-45EF-3DD6-549AE89FB695}"/>
              </a:ext>
            </a:extLst>
          </p:cNvPr>
          <p:cNvSpPr>
            <a:spLocks noGrp="1"/>
          </p:cNvSpPr>
          <p:nvPr>
            <p:ph type="dt" sz="half" idx="10"/>
          </p:nvPr>
        </p:nvSpPr>
        <p:spPr/>
        <p:txBody>
          <a:bodyPr/>
          <a:lstStyle/>
          <a:p>
            <a:fld id="{ED91F1CC-EE7C-4080-A006-F3E7707CB9C7}" type="datetimeFigureOut">
              <a:rPr lang="en-IN" smtClean="0"/>
              <a:t>14-03-2025</a:t>
            </a:fld>
            <a:endParaRPr lang="en-IN" dirty="0"/>
          </a:p>
        </p:txBody>
      </p:sp>
      <p:sp>
        <p:nvSpPr>
          <p:cNvPr id="3" name="Footer Placeholder 2">
            <a:extLst>
              <a:ext uri="{FF2B5EF4-FFF2-40B4-BE49-F238E27FC236}">
                <a16:creationId xmlns:a16="http://schemas.microsoft.com/office/drawing/2014/main" id="{4125B1BC-AF55-11EE-5DD7-32F366E02C68}"/>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EEF64404-3750-9E8D-3BC1-D4E4F199B0B5}"/>
              </a:ext>
            </a:extLst>
          </p:cNvPr>
          <p:cNvSpPr>
            <a:spLocks noGrp="1"/>
          </p:cNvSpPr>
          <p:nvPr>
            <p:ph type="sldNum" sz="quarter" idx="12"/>
          </p:nvPr>
        </p:nvSpPr>
        <p:spPr/>
        <p:txBody>
          <a:bodyPr/>
          <a:lstStyle/>
          <a:p>
            <a:fld id="{152FB7FA-8DF2-4239-BB63-876978DCC1AD}" type="slidenum">
              <a:rPr lang="en-IN" smtClean="0"/>
              <a:t>‹#›</a:t>
            </a:fld>
            <a:endParaRPr lang="en-IN" dirty="0"/>
          </a:p>
        </p:txBody>
      </p:sp>
    </p:spTree>
    <p:extLst>
      <p:ext uri="{BB962C8B-B14F-4D97-AF65-F5344CB8AC3E}">
        <p14:creationId xmlns:p14="http://schemas.microsoft.com/office/powerpoint/2010/main" val="199353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1B6F3-B7A3-CE63-6A9E-5DE1F1D122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B1D83E-AD1F-FF4F-F050-99A19F7149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9963EE0-770E-3A92-8C7D-9C3360AABA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7CF091-ECAF-2961-AB2C-20D9DB449111}"/>
              </a:ext>
            </a:extLst>
          </p:cNvPr>
          <p:cNvSpPr>
            <a:spLocks noGrp="1"/>
          </p:cNvSpPr>
          <p:nvPr>
            <p:ph type="dt" sz="half" idx="10"/>
          </p:nvPr>
        </p:nvSpPr>
        <p:spPr/>
        <p:txBody>
          <a:bodyPr/>
          <a:lstStyle/>
          <a:p>
            <a:fld id="{ED91F1CC-EE7C-4080-A006-F3E7707CB9C7}" type="datetimeFigureOut">
              <a:rPr lang="en-IN" smtClean="0"/>
              <a:t>14-03-2025</a:t>
            </a:fld>
            <a:endParaRPr lang="en-IN" dirty="0"/>
          </a:p>
        </p:txBody>
      </p:sp>
      <p:sp>
        <p:nvSpPr>
          <p:cNvPr id="6" name="Footer Placeholder 5">
            <a:extLst>
              <a:ext uri="{FF2B5EF4-FFF2-40B4-BE49-F238E27FC236}">
                <a16:creationId xmlns:a16="http://schemas.microsoft.com/office/drawing/2014/main" id="{FD469036-E38A-FC44-CE05-6AA842386BA2}"/>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60DDD1E-2AB3-2447-F9B1-64601FE2BAA8}"/>
              </a:ext>
            </a:extLst>
          </p:cNvPr>
          <p:cNvSpPr>
            <a:spLocks noGrp="1"/>
          </p:cNvSpPr>
          <p:nvPr>
            <p:ph type="sldNum" sz="quarter" idx="12"/>
          </p:nvPr>
        </p:nvSpPr>
        <p:spPr/>
        <p:txBody>
          <a:bodyPr/>
          <a:lstStyle/>
          <a:p>
            <a:fld id="{152FB7FA-8DF2-4239-BB63-876978DCC1AD}" type="slidenum">
              <a:rPr lang="en-IN" smtClean="0"/>
              <a:t>‹#›</a:t>
            </a:fld>
            <a:endParaRPr lang="en-IN" dirty="0"/>
          </a:p>
        </p:txBody>
      </p:sp>
    </p:spTree>
    <p:extLst>
      <p:ext uri="{BB962C8B-B14F-4D97-AF65-F5344CB8AC3E}">
        <p14:creationId xmlns:p14="http://schemas.microsoft.com/office/powerpoint/2010/main" val="2181372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154E0-7F84-0994-19C7-3E81E720D6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2F207AE-92BB-6C51-67FC-69CA4D0734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CB982002-F500-4299-6ADB-B8A74FF752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5766F-8197-E7FB-DE79-AC7EFB189213}"/>
              </a:ext>
            </a:extLst>
          </p:cNvPr>
          <p:cNvSpPr>
            <a:spLocks noGrp="1"/>
          </p:cNvSpPr>
          <p:nvPr>
            <p:ph type="dt" sz="half" idx="10"/>
          </p:nvPr>
        </p:nvSpPr>
        <p:spPr/>
        <p:txBody>
          <a:bodyPr/>
          <a:lstStyle/>
          <a:p>
            <a:fld id="{ED91F1CC-EE7C-4080-A006-F3E7707CB9C7}" type="datetimeFigureOut">
              <a:rPr lang="en-IN" smtClean="0"/>
              <a:t>14-03-2025</a:t>
            </a:fld>
            <a:endParaRPr lang="en-IN" dirty="0"/>
          </a:p>
        </p:txBody>
      </p:sp>
      <p:sp>
        <p:nvSpPr>
          <p:cNvPr id="6" name="Footer Placeholder 5">
            <a:extLst>
              <a:ext uri="{FF2B5EF4-FFF2-40B4-BE49-F238E27FC236}">
                <a16:creationId xmlns:a16="http://schemas.microsoft.com/office/drawing/2014/main" id="{988F3E63-B7D7-239A-60EC-2ED4AB55908A}"/>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41734FD-3AA1-CA11-52F5-546980189000}"/>
              </a:ext>
            </a:extLst>
          </p:cNvPr>
          <p:cNvSpPr>
            <a:spLocks noGrp="1"/>
          </p:cNvSpPr>
          <p:nvPr>
            <p:ph type="sldNum" sz="quarter" idx="12"/>
          </p:nvPr>
        </p:nvSpPr>
        <p:spPr/>
        <p:txBody>
          <a:bodyPr/>
          <a:lstStyle/>
          <a:p>
            <a:fld id="{152FB7FA-8DF2-4239-BB63-876978DCC1AD}" type="slidenum">
              <a:rPr lang="en-IN" smtClean="0"/>
              <a:t>‹#›</a:t>
            </a:fld>
            <a:endParaRPr lang="en-IN" dirty="0"/>
          </a:p>
        </p:txBody>
      </p:sp>
    </p:spTree>
    <p:extLst>
      <p:ext uri="{BB962C8B-B14F-4D97-AF65-F5344CB8AC3E}">
        <p14:creationId xmlns:p14="http://schemas.microsoft.com/office/powerpoint/2010/main" val="4183104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ED6EB-7586-8580-650A-5FA26E736E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01E9AB-B425-B79B-74E9-9C73755949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AEA026-C08D-8B4B-752E-B6F65D60B626}"/>
              </a:ext>
            </a:extLst>
          </p:cNvPr>
          <p:cNvSpPr>
            <a:spLocks noGrp="1"/>
          </p:cNvSpPr>
          <p:nvPr>
            <p:ph type="dt" sz="half" idx="10"/>
          </p:nvPr>
        </p:nvSpPr>
        <p:spPr/>
        <p:txBody>
          <a:bodyPr/>
          <a:lstStyle/>
          <a:p>
            <a:fld id="{ED91F1CC-EE7C-4080-A006-F3E7707CB9C7}" type="datetimeFigureOut">
              <a:rPr lang="en-IN" smtClean="0"/>
              <a:t>14-03-2025</a:t>
            </a:fld>
            <a:endParaRPr lang="en-IN" dirty="0"/>
          </a:p>
        </p:txBody>
      </p:sp>
      <p:sp>
        <p:nvSpPr>
          <p:cNvPr id="5" name="Footer Placeholder 4">
            <a:extLst>
              <a:ext uri="{FF2B5EF4-FFF2-40B4-BE49-F238E27FC236}">
                <a16:creationId xmlns:a16="http://schemas.microsoft.com/office/drawing/2014/main" id="{D7C6A81C-B054-E086-6FCE-50D4233A8D2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7C97515-4EE7-87E7-3A7B-E1D972F5E4C6}"/>
              </a:ext>
            </a:extLst>
          </p:cNvPr>
          <p:cNvSpPr>
            <a:spLocks noGrp="1"/>
          </p:cNvSpPr>
          <p:nvPr>
            <p:ph type="sldNum" sz="quarter" idx="12"/>
          </p:nvPr>
        </p:nvSpPr>
        <p:spPr/>
        <p:txBody>
          <a:bodyPr/>
          <a:lstStyle/>
          <a:p>
            <a:fld id="{152FB7FA-8DF2-4239-BB63-876978DCC1AD}" type="slidenum">
              <a:rPr lang="en-IN" smtClean="0"/>
              <a:t>‹#›</a:t>
            </a:fld>
            <a:endParaRPr lang="en-IN" dirty="0"/>
          </a:p>
        </p:txBody>
      </p:sp>
    </p:spTree>
    <p:extLst>
      <p:ext uri="{BB962C8B-B14F-4D97-AF65-F5344CB8AC3E}">
        <p14:creationId xmlns:p14="http://schemas.microsoft.com/office/powerpoint/2010/main" val="2265816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689CEA-0498-5A02-1476-09331E3FE9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C02C46-CEA1-203C-1819-6A36F9CD26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54B158-3384-29E2-4607-9AEDFC0A6742}"/>
              </a:ext>
            </a:extLst>
          </p:cNvPr>
          <p:cNvSpPr>
            <a:spLocks noGrp="1"/>
          </p:cNvSpPr>
          <p:nvPr>
            <p:ph type="dt" sz="half" idx="10"/>
          </p:nvPr>
        </p:nvSpPr>
        <p:spPr/>
        <p:txBody>
          <a:bodyPr/>
          <a:lstStyle/>
          <a:p>
            <a:fld id="{ED91F1CC-EE7C-4080-A006-F3E7707CB9C7}" type="datetimeFigureOut">
              <a:rPr lang="en-IN" smtClean="0"/>
              <a:t>14-03-2025</a:t>
            </a:fld>
            <a:endParaRPr lang="en-IN" dirty="0"/>
          </a:p>
        </p:txBody>
      </p:sp>
      <p:sp>
        <p:nvSpPr>
          <p:cNvPr id="5" name="Footer Placeholder 4">
            <a:extLst>
              <a:ext uri="{FF2B5EF4-FFF2-40B4-BE49-F238E27FC236}">
                <a16:creationId xmlns:a16="http://schemas.microsoft.com/office/drawing/2014/main" id="{BD4810F1-0EA0-7787-C196-C146101E017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4912E36-71E4-40C2-5417-540FE3578D89}"/>
              </a:ext>
            </a:extLst>
          </p:cNvPr>
          <p:cNvSpPr>
            <a:spLocks noGrp="1"/>
          </p:cNvSpPr>
          <p:nvPr>
            <p:ph type="sldNum" sz="quarter" idx="12"/>
          </p:nvPr>
        </p:nvSpPr>
        <p:spPr/>
        <p:txBody>
          <a:bodyPr/>
          <a:lstStyle/>
          <a:p>
            <a:fld id="{152FB7FA-8DF2-4239-BB63-876978DCC1AD}" type="slidenum">
              <a:rPr lang="en-IN" smtClean="0"/>
              <a:t>‹#›</a:t>
            </a:fld>
            <a:endParaRPr lang="en-IN" dirty="0"/>
          </a:p>
        </p:txBody>
      </p:sp>
    </p:spTree>
    <p:extLst>
      <p:ext uri="{BB962C8B-B14F-4D97-AF65-F5344CB8AC3E}">
        <p14:creationId xmlns:p14="http://schemas.microsoft.com/office/powerpoint/2010/main" val="3825261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1BEDFE-D8EE-DC1D-B3E3-D0381D2EF5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1599C2-57BF-F0F5-6F51-42056E1F75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5BA069-F963-D9A3-3DD9-8E54EF51A4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91F1CC-EE7C-4080-A006-F3E7707CB9C7}" type="datetimeFigureOut">
              <a:rPr lang="en-IN" smtClean="0"/>
              <a:t>14-03-2025</a:t>
            </a:fld>
            <a:endParaRPr lang="en-IN" dirty="0"/>
          </a:p>
        </p:txBody>
      </p:sp>
      <p:sp>
        <p:nvSpPr>
          <p:cNvPr id="5" name="Footer Placeholder 4">
            <a:extLst>
              <a:ext uri="{FF2B5EF4-FFF2-40B4-BE49-F238E27FC236}">
                <a16:creationId xmlns:a16="http://schemas.microsoft.com/office/drawing/2014/main" id="{10D79B66-CF6B-B9B6-DF90-E598BF3675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F53A8CBD-5DAD-6245-CC0F-5031BD93B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2FB7FA-8DF2-4239-BB63-876978DCC1AD}" type="slidenum">
              <a:rPr lang="en-IN" smtClean="0"/>
              <a:t>‹#›</a:t>
            </a:fld>
            <a:endParaRPr lang="en-IN" dirty="0"/>
          </a:p>
        </p:txBody>
      </p:sp>
    </p:spTree>
    <p:extLst>
      <p:ext uri="{BB962C8B-B14F-4D97-AF65-F5344CB8AC3E}">
        <p14:creationId xmlns:p14="http://schemas.microsoft.com/office/powerpoint/2010/main" val="481431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07335CB-D611-9235-11B5-71A2EE0D097C}"/>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latin typeface="Book Antiqua" panose="02040602050305030304" pitchFamily="18" charset="0"/>
              </a:rPr>
              <a:t>Blockchain Technology</a:t>
            </a:r>
            <a:endParaRPr lang="en-IN" sz="4000" b="1" dirty="0">
              <a:solidFill>
                <a:srgbClr val="FFFFFF"/>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3487D7F4-CADB-C9BD-1B3C-5DC7879B24E5}"/>
              </a:ext>
            </a:extLst>
          </p:cNvPr>
          <p:cNvSpPr>
            <a:spLocks noGrp="1"/>
          </p:cNvSpPr>
          <p:nvPr>
            <p:ph idx="1"/>
          </p:nvPr>
        </p:nvSpPr>
        <p:spPr>
          <a:xfrm>
            <a:off x="1371599" y="2318197"/>
            <a:ext cx="9724031" cy="3683358"/>
          </a:xfrm>
        </p:spPr>
        <p:txBody>
          <a:bodyPr anchor="ctr">
            <a:normAutofit/>
          </a:bodyPr>
          <a:lstStyle/>
          <a:p>
            <a:pPr marL="0" indent="0" algn="ctr">
              <a:buNone/>
            </a:pPr>
            <a:r>
              <a:rPr lang="en-US" sz="4000" b="1" dirty="0">
                <a:solidFill>
                  <a:srgbClr val="C00000"/>
                </a:solidFill>
                <a:latin typeface="Book Antiqua" panose="02040602050305030304" pitchFamily="18" charset="0"/>
              </a:rPr>
              <a:t>Module 2</a:t>
            </a:r>
          </a:p>
          <a:p>
            <a:pPr marL="0" indent="0" algn="ctr">
              <a:buNone/>
            </a:pPr>
            <a:r>
              <a:rPr lang="en-US" sz="4000" b="1" dirty="0">
                <a:effectLst/>
                <a:latin typeface="Book Antiqua" panose="02040602050305030304" pitchFamily="18" charset="0"/>
                <a:ea typeface="Calibri" panose="020F0502020204030204" pitchFamily="34" charset="0"/>
              </a:rPr>
              <a:t>Decentralization</a:t>
            </a:r>
            <a:r>
              <a:rPr lang="en-US" sz="4000" b="1" dirty="0">
                <a:latin typeface="Book Antiqua" panose="02040602050305030304" pitchFamily="18" charset="0"/>
                <a:ea typeface="Calibri" panose="020F0502020204030204" pitchFamily="34" charset="0"/>
              </a:rPr>
              <a:t>,</a:t>
            </a:r>
            <a:r>
              <a:rPr lang="en-US" sz="4000" b="1" dirty="0">
                <a:effectLst/>
                <a:latin typeface="Book Antiqua" panose="02040602050305030304" pitchFamily="18" charset="0"/>
                <a:ea typeface="Calibri" panose="020F0502020204030204" pitchFamily="34" charset="0"/>
              </a:rPr>
              <a:t> Cryptography</a:t>
            </a:r>
            <a:r>
              <a:rPr lang="en-US" sz="4000" b="1" spc="175" dirty="0">
                <a:effectLst/>
                <a:latin typeface="Book Antiqua" panose="02040602050305030304" pitchFamily="18" charset="0"/>
                <a:ea typeface="Calibri" panose="020F0502020204030204" pitchFamily="34" charset="0"/>
              </a:rPr>
              <a:t> </a:t>
            </a:r>
            <a:r>
              <a:rPr lang="en-US" sz="4000" b="1" dirty="0">
                <a:effectLst/>
                <a:latin typeface="Book Antiqua" panose="02040602050305030304" pitchFamily="18" charset="0"/>
                <a:ea typeface="Calibri" panose="020F0502020204030204" pitchFamily="34" charset="0"/>
              </a:rPr>
              <a:t>and</a:t>
            </a:r>
            <a:r>
              <a:rPr lang="en-US" sz="4000" b="1" spc="170" dirty="0">
                <a:effectLst/>
                <a:latin typeface="Book Antiqua" panose="02040602050305030304" pitchFamily="18" charset="0"/>
                <a:ea typeface="Calibri" panose="020F0502020204030204" pitchFamily="34" charset="0"/>
              </a:rPr>
              <a:t> </a:t>
            </a:r>
            <a:r>
              <a:rPr lang="en-US" sz="4000" b="1" dirty="0">
                <a:effectLst/>
                <a:latin typeface="Book Antiqua" panose="02040602050305030304" pitchFamily="18" charset="0"/>
                <a:ea typeface="Calibri" panose="020F0502020204030204" pitchFamily="34" charset="0"/>
              </a:rPr>
              <a:t>Technical</a:t>
            </a:r>
            <a:r>
              <a:rPr lang="en-US" sz="4000" b="1" spc="170" dirty="0">
                <a:effectLst/>
                <a:latin typeface="Book Antiqua" panose="02040602050305030304" pitchFamily="18" charset="0"/>
                <a:ea typeface="Calibri" panose="020F0502020204030204" pitchFamily="34" charset="0"/>
              </a:rPr>
              <a:t> </a:t>
            </a:r>
            <a:r>
              <a:rPr lang="en-US" sz="4000" b="1" dirty="0">
                <a:effectLst/>
                <a:latin typeface="Book Antiqua" panose="02040602050305030304" pitchFamily="18" charset="0"/>
                <a:ea typeface="Calibri" panose="020F0502020204030204" pitchFamily="34" charset="0"/>
              </a:rPr>
              <a:t>Foundations</a:t>
            </a:r>
            <a:endParaRPr lang="en-IN" sz="4000" b="1" dirty="0">
              <a:latin typeface="Book Antiqua" panose="02040602050305030304" pitchFamily="18" charset="0"/>
            </a:endParaRPr>
          </a:p>
        </p:txBody>
      </p:sp>
    </p:spTree>
    <p:extLst>
      <p:ext uri="{BB962C8B-B14F-4D97-AF65-F5344CB8AC3E}">
        <p14:creationId xmlns:p14="http://schemas.microsoft.com/office/powerpoint/2010/main" val="4058150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2B89C-D98F-CA18-F599-A2849C9B020A}"/>
              </a:ext>
            </a:extLst>
          </p:cNvPr>
          <p:cNvSpPr>
            <a:spLocks noGrp="1"/>
          </p:cNvSpPr>
          <p:nvPr>
            <p:ph type="title"/>
          </p:nvPr>
        </p:nvSpPr>
        <p:spPr>
          <a:xfrm>
            <a:off x="838200" y="-30480"/>
            <a:ext cx="10515600" cy="1325563"/>
          </a:xfrm>
        </p:spPr>
        <p:txBody>
          <a:bodyPr/>
          <a:lstStyle/>
          <a:p>
            <a:r>
              <a:rPr lang="en-US" dirty="0">
                <a:latin typeface="+mn-lt"/>
              </a:rPr>
              <a:t>Topics to be covered ….</a:t>
            </a:r>
            <a:endParaRPr lang="en-IN" dirty="0"/>
          </a:p>
        </p:txBody>
      </p:sp>
      <p:sp>
        <p:nvSpPr>
          <p:cNvPr id="3" name="Content Placeholder 2">
            <a:extLst>
              <a:ext uri="{FF2B5EF4-FFF2-40B4-BE49-F238E27FC236}">
                <a16:creationId xmlns:a16="http://schemas.microsoft.com/office/drawing/2014/main" id="{848982C2-A5EB-91B6-3CEC-F18AC2F037BC}"/>
              </a:ext>
            </a:extLst>
          </p:cNvPr>
          <p:cNvSpPr>
            <a:spLocks noGrp="1"/>
          </p:cNvSpPr>
          <p:nvPr>
            <p:ph idx="1"/>
          </p:nvPr>
        </p:nvSpPr>
        <p:spPr>
          <a:xfrm>
            <a:off x="579120" y="1026160"/>
            <a:ext cx="10774680" cy="5435600"/>
          </a:xfrm>
        </p:spPr>
        <p:txBody>
          <a:bodyPr>
            <a:normAutofit/>
          </a:bodyPr>
          <a:lstStyle/>
          <a:p>
            <a:pPr>
              <a:buFont typeface="Wingdings" panose="05000000000000000000" pitchFamily="2" charset="2"/>
              <a:buChar char="§"/>
            </a:pPr>
            <a:r>
              <a:rPr lang="en-US" dirty="0"/>
              <a:t> Decentralization</a:t>
            </a:r>
          </a:p>
          <a:p>
            <a:pPr>
              <a:buFont typeface="Wingdings" panose="05000000000000000000" pitchFamily="2" charset="2"/>
              <a:buChar char="v"/>
            </a:pPr>
            <a:r>
              <a:rPr lang="en-US" dirty="0"/>
              <a:t> Decentralization using Blockchain.</a:t>
            </a:r>
          </a:p>
          <a:p>
            <a:pPr>
              <a:buFont typeface="Wingdings" panose="05000000000000000000" pitchFamily="2" charset="2"/>
              <a:buChar char="v"/>
            </a:pPr>
            <a:r>
              <a:rPr lang="en-US" dirty="0"/>
              <a:t> Blockchain and full ecosystem decentralization.</a:t>
            </a:r>
          </a:p>
          <a:p>
            <a:pPr>
              <a:buFont typeface="Wingdings" panose="05000000000000000000" pitchFamily="2" charset="2"/>
              <a:buChar char="v"/>
            </a:pPr>
            <a:r>
              <a:rPr lang="en-US" dirty="0"/>
              <a:t> Decentralization </a:t>
            </a:r>
          </a:p>
          <a:p>
            <a:pPr>
              <a:buFont typeface="Wingdings" panose="05000000000000000000" pitchFamily="2" charset="2"/>
              <a:buChar char="v"/>
            </a:pPr>
            <a:r>
              <a:rPr lang="en-US" dirty="0"/>
              <a:t> Smart contract</a:t>
            </a:r>
          </a:p>
          <a:p>
            <a:pPr>
              <a:buFont typeface="Wingdings" panose="05000000000000000000" pitchFamily="2" charset="2"/>
              <a:buChar char="v"/>
            </a:pPr>
            <a:r>
              <a:rPr lang="en-US" dirty="0"/>
              <a:t> Decentralization organizations.</a:t>
            </a:r>
          </a:p>
          <a:p>
            <a:pPr>
              <a:buFont typeface="Wingdings" panose="05000000000000000000" pitchFamily="2" charset="2"/>
              <a:buChar char="v"/>
            </a:pPr>
            <a:r>
              <a:rPr lang="en-US" dirty="0"/>
              <a:t> Decentralization autonomous organizations</a:t>
            </a:r>
          </a:p>
          <a:p>
            <a:pPr>
              <a:buFont typeface="Wingdings" panose="05000000000000000000" pitchFamily="2" charset="2"/>
              <a:buChar char="v"/>
            </a:pPr>
            <a:r>
              <a:rPr lang="en-US" dirty="0"/>
              <a:t> Decentralization autonomous Corporation</a:t>
            </a:r>
          </a:p>
          <a:p>
            <a:pPr>
              <a:buFont typeface="Wingdings" panose="05000000000000000000" pitchFamily="2" charset="2"/>
              <a:buChar char="v"/>
            </a:pPr>
            <a:r>
              <a:rPr lang="en-US" dirty="0"/>
              <a:t> Decentralization autonomous societies</a:t>
            </a:r>
          </a:p>
          <a:p>
            <a:pPr>
              <a:buFont typeface="Wingdings" panose="05000000000000000000" pitchFamily="2" charset="2"/>
              <a:buChar char="v"/>
            </a:pPr>
            <a:r>
              <a:rPr lang="en-US" dirty="0"/>
              <a:t> Decentralization platform</a:t>
            </a:r>
            <a:endParaRPr lang="en-IN" dirty="0"/>
          </a:p>
          <a:p>
            <a:endParaRPr lang="en-IN" b="1" dirty="0"/>
          </a:p>
        </p:txBody>
      </p:sp>
    </p:spTree>
    <p:extLst>
      <p:ext uri="{BB962C8B-B14F-4D97-AF65-F5344CB8AC3E}">
        <p14:creationId xmlns:p14="http://schemas.microsoft.com/office/powerpoint/2010/main" val="3332855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CD80C3-F080-DA17-C74C-61F1488E8C01}"/>
              </a:ext>
            </a:extLst>
          </p:cNvPr>
          <p:cNvSpPr>
            <a:spLocks noGrp="1"/>
          </p:cNvSpPr>
          <p:nvPr>
            <p:ph idx="1"/>
          </p:nvPr>
        </p:nvSpPr>
        <p:spPr>
          <a:xfrm>
            <a:off x="589280" y="558800"/>
            <a:ext cx="10764520" cy="5618163"/>
          </a:xfrm>
        </p:spPr>
        <p:txBody>
          <a:bodyPr/>
          <a:lstStyle/>
          <a:p>
            <a:pPr>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Cryptography and Technical Foundation: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Mathematics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Cryptography</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Cryptographic primitives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Symmetric Cryptography</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DES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AES</a:t>
            </a: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71251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80705-62F7-0087-ECE5-957B1672C973}"/>
              </a:ext>
            </a:extLst>
          </p:cNvPr>
          <p:cNvSpPr>
            <a:spLocks noGrp="1"/>
          </p:cNvSpPr>
          <p:nvPr>
            <p:ph type="title"/>
          </p:nvPr>
        </p:nvSpPr>
        <p:spPr>
          <a:xfrm>
            <a:off x="838200" y="0"/>
            <a:ext cx="10515600" cy="685753"/>
          </a:xfrm>
        </p:spPr>
        <p:txBody>
          <a:bodyPr>
            <a:normAutofit/>
          </a:bodyPr>
          <a:lstStyle/>
          <a:p>
            <a:r>
              <a:rPr lang="en-US" sz="3200" b="1" dirty="0">
                <a:solidFill>
                  <a:srgbClr val="C00000"/>
                </a:solidFill>
              </a:rPr>
              <a:t>                                   CENTRALIZED SYSTEM</a:t>
            </a:r>
            <a:endParaRPr lang="en-IN" sz="3200" b="1" dirty="0">
              <a:solidFill>
                <a:srgbClr val="C00000"/>
              </a:solidFill>
            </a:endParaRPr>
          </a:p>
        </p:txBody>
      </p:sp>
      <p:sp>
        <p:nvSpPr>
          <p:cNvPr id="3" name="Content Placeholder 2">
            <a:extLst>
              <a:ext uri="{FF2B5EF4-FFF2-40B4-BE49-F238E27FC236}">
                <a16:creationId xmlns:a16="http://schemas.microsoft.com/office/drawing/2014/main" id="{E9A9D44F-82E7-9758-4BC5-5B68E3711C64}"/>
              </a:ext>
            </a:extLst>
          </p:cNvPr>
          <p:cNvSpPr>
            <a:spLocks noGrp="1"/>
          </p:cNvSpPr>
          <p:nvPr>
            <p:ph idx="1"/>
          </p:nvPr>
        </p:nvSpPr>
        <p:spPr>
          <a:xfrm>
            <a:off x="447041" y="883920"/>
            <a:ext cx="11030726" cy="5421345"/>
          </a:xfrm>
        </p:spPr>
        <p:txBody>
          <a:bodyPr>
            <a:normAutofit/>
          </a:bodyPr>
          <a:lstStyle/>
          <a:p>
            <a:pPr algn="just">
              <a:buFont typeface="Wingdings" panose="05000000000000000000" pitchFamily="2" charset="2"/>
              <a:buChar char="Ø"/>
            </a:pPr>
            <a:r>
              <a:rPr lang="en-US" dirty="0"/>
              <a:t> centralized system is controlled by central authority </a:t>
            </a:r>
            <a:r>
              <a:rPr lang="en-US" dirty="0">
                <a:sym typeface="Wingdings" panose="05000000000000000000" pitchFamily="2" charset="2"/>
              </a:rPr>
              <a:t></a:t>
            </a:r>
            <a:r>
              <a:rPr lang="en-US" dirty="0"/>
              <a:t>meaning all planning, policies and controls are managed by a single entity.</a:t>
            </a:r>
          </a:p>
          <a:p>
            <a:pPr algn="just">
              <a:buFont typeface="Wingdings" panose="05000000000000000000" pitchFamily="2" charset="2"/>
              <a:buChar char="Ø"/>
            </a:pPr>
            <a:r>
              <a:rPr lang="en-US" dirty="0"/>
              <a:t>Examples : Instagram, YouTube and online shopping platforms.</a:t>
            </a:r>
            <a:endParaRPr lang="en-IN" dirty="0"/>
          </a:p>
          <a:p>
            <a:pPr algn="just">
              <a:buFont typeface="Wingdings" panose="05000000000000000000" pitchFamily="2" charset="2"/>
              <a:buChar char="Ø"/>
            </a:pPr>
            <a:r>
              <a:rPr lang="en-IN" dirty="0"/>
              <a:t>Disadvantages of Centralized Systems:</a:t>
            </a:r>
          </a:p>
          <a:p>
            <a:pPr lvl="1" algn="just">
              <a:buFont typeface="Wingdings" panose="05000000000000000000" pitchFamily="2" charset="2"/>
              <a:buChar char="Ø"/>
            </a:pPr>
            <a:r>
              <a:rPr lang="en-IN" sz="2800" dirty="0"/>
              <a:t>Single Point of Authority</a:t>
            </a:r>
          </a:p>
          <a:p>
            <a:pPr lvl="1" algn="just">
              <a:buFont typeface="Wingdings" panose="05000000000000000000" pitchFamily="2" charset="2"/>
              <a:buChar char="Ø"/>
            </a:pPr>
            <a:r>
              <a:rPr lang="en-IN" sz="2800" dirty="0"/>
              <a:t>Single Point of Failure</a:t>
            </a:r>
          </a:p>
          <a:p>
            <a:pPr lvl="1" algn="just">
              <a:buFont typeface="Wingdings" panose="05000000000000000000" pitchFamily="2" charset="2"/>
              <a:buChar char="Ø"/>
            </a:pPr>
            <a:r>
              <a:rPr lang="en-IN" sz="2800" dirty="0"/>
              <a:t>Scalability Issues</a:t>
            </a:r>
          </a:p>
          <a:p>
            <a:pPr lvl="1" algn="just">
              <a:buFont typeface="Wingdings" panose="05000000000000000000" pitchFamily="2" charset="2"/>
              <a:buChar char="Ø"/>
            </a:pPr>
            <a:r>
              <a:rPr lang="en-IN" sz="2800" dirty="0"/>
              <a:t>Security Risks</a:t>
            </a:r>
          </a:p>
          <a:p>
            <a:pPr lvl="1" algn="just">
              <a:buFont typeface="Wingdings" panose="05000000000000000000" pitchFamily="2" charset="2"/>
              <a:buChar char="Ø"/>
            </a:pPr>
            <a:r>
              <a:rPr lang="en-IN" sz="2800" dirty="0"/>
              <a:t>Privacy Concerns</a:t>
            </a:r>
          </a:p>
        </p:txBody>
      </p:sp>
      <p:pic>
        <p:nvPicPr>
          <p:cNvPr id="5" name="Picture 4">
            <a:extLst>
              <a:ext uri="{FF2B5EF4-FFF2-40B4-BE49-F238E27FC236}">
                <a16:creationId xmlns:a16="http://schemas.microsoft.com/office/drawing/2014/main" id="{91AF7B3D-5C7D-82ED-5D63-4569643C6A77}"/>
              </a:ext>
            </a:extLst>
          </p:cNvPr>
          <p:cNvPicPr>
            <a:picLocks noChangeAspect="1"/>
          </p:cNvPicPr>
          <p:nvPr/>
        </p:nvPicPr>
        <p:blipFill>
          <a:blip r:embed="rId2"/>
          <a:stretch>
            <a:fillRect/>
          </a:stretch>
        </p:blipFill>
        <p:spPr>
          <a:xfrm>
            <a:off x="7641487" y="2572309"/>
            <a:ext cx="4000706" cy="2952902"/>
          </a:xfrm>
          <a:prstGeom prst="rect">
            <a:avLst/>
          </a:prstGeom>
        </p:spPr>
      </p:pic>
    </p:spTree>
    <p:extLst>
      <p:ext uri="{BB962C8B-B14F-4D97-AF65-F5344CB8AC3E}">
        <p14:creationId xmlns:p14="http://schemas.microsoft.com/office/powerpoint/2010/main" val="1810287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F543D-B31D-4627-BFF1-8E8D2AF3B35D}"/>
              </a:ext>
            </a:extLst>
          </p:cNvPr>
          <p:cNvSpPr>
            <a:spLocks noGrp="1"/>
          </p:cNvSpPr>
          <p:nvPr>
            <p:ph type="title"/>
          </p:nvPr>
        </p:nvSpPr>
        <p:spPr>
          <a:xfrm>
            <a:off x="726440" y="-416560"/>
            <a:ext cx="10515600" cy="1325563"/>
          </a:xfrm>
        </p:spPr>
        <p:txBody>
          <a:bodyPr>
            <a:normAutofit/>
          </a:bodyPr>
          <a:lstStyle/>
          <a:p>
            <a:pPr algn="ctr"/>
            <a:r>
              <a:rPr lang="en-IN" sz="3200" b="1" dirty="0">
                <a:solidFill>
                  <a:srgbClr val="FF0000"/>
                </a:solidFill>
              </a:rPr>
              <a:t>DECENTRALIZED SYSTEM</a:t>
            </a:r>
          </a:p>
        </p:txBody>
      </p:sp>
      <p:sp>
        <p:nvSpPr>
          <p:cNvPr id="3" name="Content Placeholder 2">
            <a:extLst>
              <a:ext uri="{FF2B5EF4-FFF2-40B4-BE49-F238E27FC236}">
                <a16:creationId xmlns:a16="http://schemas.microsoft.com/office/drawing/2014/main" id="{0410E61C-1DAC-1B22-D219-7AD5EB7F6DF1}"/>
              </a:ext>
            </a:extLst>
          </p:cNvPr>
          <p:cNvSpPr>
            <a:spLocks noGrp="1"/>
          </p:cNvSpPr>
          <p:nvPr>
            <p:ph idx="1"/>
          </p:nvPr>
        </p:nvSpPr>
        <p:spPr>
          <a:xfrm>
            <a:off x="838200" y="812800"/>
            <a:ext cx="10515600" cy="5364163"/>
          </a:xfrm>
        </p:spPr>
        <p:txBody>
          <a:bodyPr>
            <a:normAutofit/>
          </a:bodyPr>
          <a:lstStyle/>
          <a:p>
            <a:pPr>
              <a:buFont typeface="Wingdings" panose="05000000000000000000" pitchFamily="2" charset="2"/>
              <a:buChar char="Ø"/>
            </a:pPr>
            <a:r>
              <a:rPr lang="en-US" dirty="0"/>
              <a:t>In a decentralized system, control and authority are distributed across multiple nodes instead of being centralized. </a:t>
            </a:r>
          </a:p>
          <a:p>
            <a:pPr>
              <a:buFont typeface="Wingdings" panose="05000000000000000000" pitchFamily="2" charset="2"/>
              <a:buChar char="Ø"/>
            </a:pPr>
            <a:r>
              <a:rPr lang="en-US" dirty="0"/>
              <a:t>This improves efficiency, decision-making speed, motivation and reduces the burden on top management</a:t>
            </a:r>
          </a:p>
          <a:p>
            <a:pPr>
              <a:buFont typeface="Wingdings" panose="05000000000000000000" pitchFamily="2" charset="2"/>
              <a:buChar char="Ø"/>
            </a:pPr>
            <a:r>
              <a:rPr lang="en-US" b="1" dirty="0"/>
              <a:t>Advantages of Decentralized Systems:</a:t>
            </a:r>
            <a:endParaRPr lang="en-US" dirty="0"/>
          </a:p>
          <a:p>
            <a:pPr lvl="1">
              <a:buFont typeface="Wingdings" panose="05000000000000000000" pitchFamily="2" charset="2"/>
              <a:buChar char="Ø"/>
            </a:pPr>
            <a:r>
              <a:rPr lang="en-US" sz="2800" b="1" dirty="0"/>
              <a:t>No Single Point of Failure</a:t>
            </a:r>
            <a:endParaRPr lang="en-US" sz="2800" dirty="0"/>
          </a:p>
          <a:p>
            <a:pPr lvl="1">
              <a:buFont typeface="Wingdings" panose="05000000000000000000" pitchFamily="2" charset="2"/>
              <a:buChar char="Ø"/>
            </a:pPr>
            <a:r>
              <a:rPr lang="en-US" sz="2800" b="1" dirty="0"/>
              <a:t>Equal Responsibility</a:t>
            </a:r>
          </a:p>
          <a:p>
            <a:pPr lvl="1">
              <a:buFont typeface="Wingdings" panose="05000000000000000000" pitchFamily="2" charset="2"/>
              <a:buChar char="Ø"/>
            </a:pPr>
            <a:r>
              <a:rPr lang="en-US" sz="2800" b="1" dirty="0"/>
              <a:t>Security &amp; Privacy</a:t>
            </a:r>
          </a:p>
          <a:p>
            <a:pPr lvl="1">
              <a:buFont typeface="Wingdings" panose="05000000000000000000" pitchFamily="2" charset="2"/>
              <a:buChar char="Ø"/>
            </a:pPr>
            <a:r>
              <a:rPr lang="en-US" sz="2800" b="1" dirty="0"/>
              <a:t>Real-time Updates</a:t>
            </a:r>
          </a:p>
          <a:p>
            <a:pPr marL="0" indent="0">
              <a:buNone/>
            </a:pPr>
            <a:endParaRPr lang="en-IN" dirty="0"/>
          </a:p>
        </p:txBody>
      </p:sp>
      <p:pic>
        <p:nvPicPr>
          <p:cNvPr id="5" name="Picture 4">
            <a:extLst>
              <a:ext uri="{FF2B5EF4-FFF2-40B4-BE49-F238E27FC236}">
                <a16:creationId xmlns:a16="http://schemas.microsoft.com/office/drawing/2014/main" id="{593CB222-4CB0-6902-C34D-BE22EBF948E2}"/>
              </a:ext>
            </a:extLst>
          </p:cNvPr>
          <p:cNvPicPr>
            <a:picLocks noChangeAspect="1"/>
          </p:cNvPicPr>
          <p:nvPr/>
        </p:nvPicPr>
        <p:blipFill>
          <a:blip r:embed="rId2"/>
          <a:stretch>
            <a:fillRect/>
          </a:stretch>
        </p:blipFill>
        <p:spPr>
          <a:xfrm>
            <a:off x="7501801" y="2238486"/>
            <a:ext cx="3467278" cy="4019757"/>
          </a:xfrm>
          <a:prstGeom prst="rect">
            <a:avLst/>
          </a:prstGeom>
        </p:spPr>
      </p:pic>
    </p:spTree>
    <p:extLst>
      <p:ext uri="{BB962C8B-B14F-4D97-AF65-F5344CB8AC3E}">
        <p14:creationId xmlns:p14="http://schemas.microsoft.com/office/powerpoint/2010/main" val="3617710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74F852-2240-9E04-9E48-BE957BA7B9EF}"/>
              </a:ext>
            </a:extLst>
          </p:cNvPr>
          <p:cNvSpPr>
            <a:spLocks noGrp="1"/>
          </p:cNvSpPr>
          <p:nvPr>
            <p:ph idx="1"/>
          </p:nvPr>
        </p:nvSpPr>
        <p:spPr>
          <a:xfrm>
            <a:off x="792480" y="335280"/>
            <a:ext cx="10561320" cy="5841683"/>
          </a:xfrm>
        </p:spPr>
        <p:txBody>
          <a:bodyPr>
            <a:normAutofit/>
          </a:bodyPr>
          <a:lstStyle/>
          <a:p>
            <a:pPr marL="0" marR="870585" lvl="1" indent="0" algn="just">
              <a:spcBef>
                <a:spcPts val="1000"/>
              </a:spcBef>
              <a:spcAft>
                <a:spcPts val="600"/>
              </a:spcAft>
              <a:buSzPts val="1200"/>
              <a:buNone/>
              <a:tabLst>
                <a:tab pos="990600" algn="l"/>
                <a:tab pos="991235" algn="l"/>
              </a:tabLst>
              <a:defRPr/>
            </a:pPr>
            <a:endParaRPr lang="en-US" sz="2800" dirty="0">
              <a:latin typeface="Calibri" panose="020F0502020204030204" pitchFamily="34" charset="0"/>
              <a:cs typeface="Calibri" panose="020F0502020204030204" pitchFamily="34" charset="0"/>
            </a:endParaRPr>
          </a:p>
          <a:p>
            <a:pPr marL="457200" marR="870585" lvl="1" indent="-457200" algn="just">
              <a:spcBef>
                <a:spcPts val="1000"/>
              </a:spcBef>
              <a:spcAft>
                <a:spcPts val="600"/>
              </a:spcAft>
              <a:buSzPts val="1200"/>
              <a:buFont typeface="Wingdings" panose="05000000000000000000" pitchFamily="2" charset="2"/>
              <a:buChar char="Ø"/>
              <a:tabLst>
                <a:tab pos="990600" algn="l"/>
                <a:tab pos="991235" algn="l"/>
              </a:tabLst>
              <a:defRPr/>
            </a:pPr>
            <a:r>
              <a:rPr lang="en-US" sz="2800" dirty="0">
                <a:latin typeface="Calibri (Body)"/>
                <a:cs typeface="Calibri" panose="020F0502020204030204" pitchFamily="34" charset="0"/>
              </a:rPr>
              <a:t>The code runs on a peer-to-peer network of nodes and no single node has control over the </a:t>
            </a:r>
            <a:r>
              <a:rPr lang="en-US" sz="2800" dirty="0" err="1">
                <a:latin typeface="Calibri (Body)"/>
                <a:cs typeface="Calibri" panose="020F0502020204030204" pitchFamily="34" charset="0"/>
              </a:rPr>
              <a:t>dApp</a:t>
            </a:r>
            <a:r>
              <a:rPr lang="en-US" sz="2800" dirty="0">
                <a:latin typeface="Calibri (Body)"/>
                <a:cs typeface="Calibri" panose="020F0502020204030204" pitchFamily="34" charset="0"/>
              </a:rPr>
              <a:t>.</a:t>
            </a:r>
            <a:endParaRPr lang="en-IN" sz="2800" dirty="0">
              <a:latin typeface="Calibri (Body)"/>
              <a:cs typeface="Calibri" panose="020F0502020204030204" pitchFamily="34" charset="0"/>
            </a:endParaRPr>
          </a:p>
          <a:p>
            <a:pPr marL="457200" lvl="1" indent="-457200" algn="just">
              <a:spcBef>
                <a:spcPts val="1000"/>
              </a:spcBef>
              <a:spcAft>
                <a:spcPts val="600"/>
              </a:spcAft>
              <a:buSzPts val="1200"/>
              <a:buFont typeface="Wingdings" panose="05000000000000000000" pitchFamily="2" charset="2"/>
              <a:buChar char="Ø"/>
              <a:tabLst>
                <a:tab pos="990600" algn="l"/>
                <a:tab pos="991235" algn="l"/>
              </a:tabLst>
              <a:defRPr/>
            </a:pPr>
            <a:r>
              <a:rPr lang="en-US" sz="2800" dirty="0">
                <a:latin typeface="Calibri (Body)"/>
                <a:cs typeface="Calibri" panose="020F0502020204030204" pitchFamily="34" charset="0"/>
              </a:rPr>
              <a:t>Bitcoin uses a blockchain decentralized ledger of transactions.</a:t>
            </a:r>
            <a:endParaRPr lang="en-IN" sz="2800" dirty="0">
              <a:latin typeface="Calibri (Body)"/>
              <a:cs typeface="Calibri" panose="020F0502020204030204" pitchFamily="34" charset="0"/>
            </a:endParaRPr>
          </a:p>
          <a:p>
            <a:pPr marL="457200" lvl="1" indent="-457200" algn="just">
              <a:spcBef>
                <a:spcPts val="1000"/>
              </a:spcBef>
              <a:spcAft>
                <a:spcPts val="600"/>
              </a:spcAft>
              <a:buSzPts val="1200"/>
              <a:buFont typeface="Wingdings" panose="05000000000000000000" pitchFamily="2" charset="2"/>
              <a:buChar char="Ø"/>
              <a:tabLst>
                <a:tab pos="990600" algn="l"/>
                <a:tab pos="991235" algn="l"/>
              </a:tabLst>
              <a:defRPr/>
            </a:pPr>
            <a:r>
              <a:rPr lang="en-US" sz="2800" dirty="0">
                <a:latin typeface="Calibri (Body)"/>
                <a:cs typeface="Calibri" panose="020F0502020204030204" pitchFamily="34" charset="0"/>
              </a:rPr>
              <a:t>This enables a user to agree on some  consensus algorithm without the need for a central trusted third party, intermediary, or service provider</a:t>
            </a:r>
          </a:p>
          <a:p>
            <a:pPr marL="457200" lvl="1" indent="-457200" algn="just">
              <a:spcBef>
                <a:spcPts val="1000"/>
              </a:spcBef>
              <a:spcAft>
                <a:spcPts val="600"/>
              </a:spcAft>
              <a:buSzPts val="1200"/>
              <a:buFont typeface="Wingdings" panose="05000000000000000000" pitchFamily="2" charset="2"/>
              <a:buChar char="Ø"/>
              <a:tabLst>
                <a:tab pos="990600" algn="l"/>
                <a:tab pos="991235" algn="l"/>
              </a:tabLst>
              <a:defRPr/>
            </a:pPr>
            <a:r>
              <a:rPr lang="en-IN" sz="2800" b="1" dirty="0">
                <a:latin typeface="Calibri (Body)"/>
                <a:cs typeface="Calibri" panose="020F0502020204030204" pitchFamily="34" charset="0"/>
              </a:rPr>
              <a:t>Decentralized System: Mastodon</a:t>
            </a:r>
          </a:p>
          <a:p>
            <a:pPr marL="914400" lvl="2" indent="-457200" algn="just">
              <a:spcBef>
                <a:spcPts val="1000"/>
              </a:spcBef>
              <a:spcAft>
                <a:spcPts val="600"/>
              </a:spcAft>
              <a:buSzPts val="1200"/>
              <a:buFont typeface="Wingdings" panose="05000000000000000000" pitchFamily="2" charset="2"/>
              <a:buChar char="Ø"/>
              <a:tabLst>
                <a:tab pos="990600" algn="l"/>
                <a:tab pos="991235" algn="l"/>
              </a:tabLst>
              <a:defRPr/>
            </a:pPr>
            <a:r>
              <a:rPr lang="en-IN" sz="2800" dirty="0">
                <a:latin typeface="Calibri (Body)"/>
                <a:cs typeface="Calibri" panose="020F0502020204030204" pitchFamily="34" charset="0"/>
              </a:rPr>
              <a:t>Mastodon is a decentralized social media platform where different servers (called instances) operate independently.</a:t>
            </a:r>
          </a:p>
          <a:p>
            <a:pPr marL="0" indent="0">
              <a:buNone/>
            </a:pPr>
            <a:endParaRPr lang="en-IN" dirty="0"/>
          </a:p>
        </p:txBody>
      </p:sp>
    </p:spTree>
    <p:extLst>
      <p:ext uri="{BB962C8B-B14F-4D97-AF65-F5344CB8AC3E}">
        <p14:creationId xmlns:p14="http://schemas.microsoft.com/office/powerpoint/2010/main" val="2524896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0B8D-951A-32CF-2B91-096EBE22C356}"/>
              </a:ext>
            </a:extLst>
          </p:cNvPr>
          <p:cNvSpPr>
            <a:spLocks noGrp="1"/>
          </p:cNvSpPr>
          <p:nvPr>
            <p:ph type="title"/>
          </p:nvPr>
        </p:nvSpPr>
        <p:spPr>
          <a:xfrm>
            <a:off x="675640" y="-152399"/>
            <a:ext cx="10515600" cy="873760"/>
          </a:xfrm>
        </p:spPr>
        <p:txBody>
          <a:bodyPr>
            <a:normAutofit/>
          </a:bodyPr>
          <a:lstStyle/>
          <a:p>
            <a:pPr algn="ctr"/>
            <a:r>
              <a:rPr lang="en-IN" sz="3200" dirty="0">
                <a:solidFill>
                  <a:srgbClr val="FF0000"/>
                </a:solidFill>
              </a:rPr>
              <a:t>Decentralization Using Blockchain</a:t>
            </a:r>
          </a:p>
        </p:txBody>
      </p:sp>
      <p:sp>
        <p:nvSpPr>
          <p:cNvPr id="3" name="Content Placeholder 2">
            <a:extLst>
              <a:ext uri="{FF2B5EF4-FFF2-40B4-BE49-F238E27FC236}">
                <a16:creationId xmlns:a16="http://schemas.microsoft.com/office/drawing/2014/main" id="{89EFFBD7-69BF-3612-17B0-48B125312E20}"/>
              </a:ext>
            </a:extLst>
          </p:cNvPr>
          <p:cNvSpPr>
            <a:spLocks noGrp="1"/>
          </p:cNvSpPr>
          <p:nvPr>
            <p:ph idx="1"/>
          </p:nvPr>
        </p:nvSpPr>
        <p:spPr>
          <a:xfrm>
            <a:off x="675640" y="894081"/>
            <a:ext cx="10759440" cy="6035040"/>
          </a:xfrm>
        </p:spPr>
        <p:txBody>
          <a:bodyPr>
            <a:normAutofit/>
          </a:bodyPr>
          <a:lstStyle/>
          <a:p>
            <a:pPr>
              <a:buFont typeface="Wingdings" panose="05000000000000000000" pitchFamily="2" charset="2"/>
              <a:buChar char="Ø"/>
            </a:pPr>
            <a:r>
              <a:rPr lang="en-US" sz="2400" dirty="0"/>
              <a:t>Blockchain is a technology that enables decentralization without intermediaries. It operates through a </a:t>
            </a:r>
            <a:r>
              <a:rPr lang="en-US" sz="2400" b="1" dirty="0"/>
              <a:t>consensus mechanism</a:t>
            </a:r>
            <a:r>
              <a:rPr lang="en-US" sz="2400" dirty="0"/>
              <a:t> like </a:t>
            </a:r>
            <a:r>
              <a:rPr lang="en-US" sz="2400" b="1" dirty="0"/>
              <a:t>Proof of Work (PoW)</a:t>
            </a:r>
            <a:r>
              <a:rPr lang="en-US" sz="2400" dirty="0"/>
              <a:t> to determine decision-making authority. </a:t>
            </a:r>
          </a:p>
          <a:p>
            <a:pPr>
              <a:buFont typeface="Wingdings" panose="05000000000000000000" pitchFamily="2" charset="2"/>
              <a:buChar char="Ø"/>
            </a:pPr>
            <a:r>
              <a:rPr lang="en-US" sz="2400" dirty="0"/>
              <a:t>Blockchain applications (e.g., Bitcoin) function autonomously or with minimal human intervention.</a:t>
            </a:r>
          </a:p>
          <a:p>
            <a:pPr marL="0" indent="0">
              <a:buNone/>
            </a:pPr>
            <a:endParaRPr lang="en-US" sz="2400" dirty="0"/>
          </a:p>
          <a:p>
            <a:pPr>
              <a:buFont typeface="Wingdings" panose="05000000000000000000" pitchFamily="2" charset="2"/>
              <a:buChar char="Ø"/>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IN" dirty="0"/>
          </a:p>
        </p:txBody>
      </p:sp>
      <p:pic>
        <p:nvPicPr>
          <p:cNvPr id="5" name="Picture 4">
            <a:extLst>
              <a:ext uri="{FF2B5EF4-FFF2-40B4-BE49-F238E27FC236}">
                <a16:creationId xmlns:a16="http://schemas.microsoft.com/office/drawing/2014/main" id="{24A04D30-0AEF-498D-6BEA-7AB4827304EA}"/>
              </a:ext>
            </a:extLst>
          </p:cNvPr>
          <p:cNvPicPr>
            <a:picLocks noChangeAspect="1"/>
          </p:cNvPicPr>
          <p:nvPr/>
        </p:nvPicPr>
        <p:blipFill>
          <a:blip r:embed="rId2"/>
          <a:stretch>
            <a:fillRect/>
          </a:stretch>
        </p:blipFill>
        <p:spPr>
          <a:xfrm>
            <a:off x="4417548" y="3429000"/>
            <a:ext cx="6687331" cy="3073401"/>
          </a:xfrm>
          <a:prstGeom prst="rect">
            <a:avLst/>
          </a:prstGeom>
        </p:spPr>
      </p:pic>
    </p:spTree>
    <p:extLst>
      <p:ext uri="{BB962C8B-B14F-4D97-AF65-F5344CB8AC3E}">
        <p14:creationId xmlns:p14="http://schemas.microsoft.com/office/powerpoint/2010/main" val="415614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9F1E-B146-0888-83A3-8A48706E19C3}"/>
              </a:ext>
            </a:extLst>
          </p:cNvPr>
          <p:cNvSpPr>
            <a:spLocks noGrp="1"/>
          </p:cNvSpPr>
          <p:nvPr>
            <p:ph type="title"/>
          </p:nvPr>
        </p:nvSpPr>
        <p:spPr>
          <a:xfrm>
            <a:off x="645160" y="-256065"/>
            <a:ext cx="10515600" cy="1325563"/>
          </a:xfrm>
        </p:spPr>
        <p:txBody>
          <a:bodyPr>
            <a:normAutofit/>
          </a:bodyPr>
          <a:lstStyle/>
          <a:p>
            <a:pPr algn="ctr"/>
            <a:r>
              <a:rPr lang="en-IN" sz="3200" dirty="0">
                <a:solidFill>
                  <a:srgbClr val="FF0000"/>
                </a:solidFill>
              </a:rPr>
              <a:t>Distributed System</a:t>
            </a:r>
            <a:endParaRPr lang="en-IN" sz="3200" dirty="0"/>
          </a:p>
        </p:txBody>
      </p:sp>
      <p:sp>
        <p:nvSpPr>
          <p:cNvPr id="3" name="Content Placeholder 2">
            <a:extLst>
              <a:ext uri="{FF2B5EF4-FFF2-40B4-BE49-F238E27FC236}">
                <a16:creationId xmlns:a16="http://schemas.microsoft.com/office/drawing/2014/main" id="{7F9773D4-96D9-FD37-1F0A-C0A37B6B2194}"/>
              </a:ext>
            </a:extLst>
          </p:cNvPr>
          <p:cNvSpPr>
            <a:spLocks noGrp="1"/>
          </p:cNvSpPr>
          <p:nvPr>
            <p:ph idx="1"/>
          </p:nvPr>
        </p:nvSpPr>
        <p:spPr>
          <a:xfrm>
            <a:off x="838200" y="853440"/>
            <a:ext cx="10515600" cy="5323523"/>
          </a:xfrm>
        </p:spPr>
        <p:txBody>
          <a:bodyPr/>
          <a:lstStyle/>
          <a:p>
            <a:pPr>
              <a:buFont typeface="Wingdings" panose="05000000000000000000" pitchFamily="2" charset="2"/>
              <a:buChar char="Ø"/>
            </a:pPr>
            <a:r>
              <a:rPr lang="en-US" sz="2800" dirty="0">
                <a:latin typeface="Calibri (Body)"/>
              </a:rPr>
              <a:t>A distributed system consists of independent nodes communicating over a network to achieve a common goal. </a:t>
            </a:r>
          </a:p>
          <a:p>
            <a:pPr>
              <a:buFont typeface="Wingdings" panose="05000000000000000000" pitchFamily="2" charset="2"/>
              <a:buChar char="Ø"/>
            </a:pPr>
            <a:r>
              <a:rPr lang="en-US" sz="2800" dirty="0">
                <a:latin typeface="Calibri (Body)"/>
              </a:rPr>
              <a:t>Unlike decentralized systems, distributed systems may still have a central authority overseeing operations.</a:t>
            </a:r>
          </a:p>
          <a:p>
            <a:pPr>
              <a:buFont typeface="Wingdings" panose="05000000000000000000" pitchFamily="2" charset="2"/>
              <a:buChar char="Ø"/>
            </a:pPr>
            <a:r>
              <a:rPr lang="en-US" altLang="en-US" b="1" dirty="0">
                <a:latin typeface="Calibri (Body)"/>
                <a:cs typeface="Times New Roman" panose="02020603050405020304" pitchFamily="18" charset="0"/>
              </a:rPr>
              <a:t>General Examples :</a:t>
            </a:r>
            <a:r>
              <a:rPr lang="en-US" altLang="en-US" dirty="0">
                <a:latin typeface="Calibri (Body)"/>
                <a:cs typeface="Times New Roman" panose="02020603050405020304" pitchFamily="18" charset="0"/>
              </a:rPr>
              <a:t>Telephone and Cellular system, Wireless sensor networks, Routing algorithm, Peer to peer networks.</a:t>
            </a:r>
          </a:p>
          <a:p>
            <a:pPr>
              <a:buFont typeface="Wingdings" panose="05000000000000000000" pitchFamily="2" charset="2"/>
              <a:buChar char="Ø"/>
            </a:pPr>
            <a:r>
              <a:rPr lang="en-IN" b="1" dirty="0">
                <a:latin typeface="Calibri (Body)"/>
              </a:rPr>
              <a:t>Blockchain-Based Social Media (e.g., </a:t>
            </a:r>
            <a:r>
              <a:rPr lang="en-IN" b="1" dirty="0" err="1">
                <a:latin typeface="Calibri (Body)"/>
              </a:rPr>
              <a:t>Steemit</a:t>
            </a:r>
            <a:r>
              <a:rPr lang="en-IN" b="1" dirty="0">
                <a:latin typeface="Calibri (Body)"/>
              </a:rPr>
              <a:t>)</a:t>
            </a:r>
          </a:p>
          <a:p>
            <a:pPr marL="0" indent="0">
              <a:buNone/>
            </a:pPr>
            <a:endParaRPr lang="en-US" sz="2800" dirty="0"/>
          </a:p>
          <a:p>
            <a:endParaRPr lang="en-IN" dirty="0"/>
          </a:p>
        </p:txBody>
      </p:sp>
      <p:pic>
        <p:nvPicPr>
          <p:cNvPr id="5" name="Picture 4" descr="A diagram of a gear with text&#10;&#10;AI-generated content may be incorrect.">
            <a:extLst>
              <a:ext uri="{FF2B5EF4-FFF2-40B4-BE49-F238E27FC236}">
                <a16:creationId xmlns:a16="http://schemas.microsoft.com/office/drawing/2014/main" id="{A8C0002D-E620-5632-72F6-BAF47AA96E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1040" y="3977477"/>
            <a:ext cx="4974272" cy="2856710"/>
          </a:xfrm>
          <a:prstGeom prst="rect">
            <a:avLst/>
          </a:prstGeom>
        </p:spPr>
      </p:pic>
    </p:spTree>
    <p:extLst>
      <p:ext uri="{BB962C8B-B14F-4D97-AF65-F5344CB8AC3E}">
        <p14:creationId xmlns:p14="http://schemas.microsoft.com/office/powerpoint/2010/main" val="2910955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FEC6B-FD07-18A3-BF0E-EC75E91EA99E}"/>
              </a:ext>
            </a:extLst>
          </p:cNvPr>
          <p:cNvSpPr>
            <a:spLocks noGrp="1"/>
          </p:cNvSpPr>
          <p:nvPr>
            <p:ph type="title"/>
          </p:nvPr>
        </p:nvSpPr>
        <p:spPr>
          <a:xfrm>
            <a:off x="838200" y="-296705"/>
            <a:ext cx="10515600" cy="1325563"/>
          </a:xfrm>
        </p:spPr>
        <p:txBody>
          <a:bodyPr>
            <a:normAutofit/>
          </a:bodyPr>
          <a:lstStyle/>
          <a:p>
            <a:pPr algn="ctr"/>
            <a:r>
              <a:rPr lang="en-US" sz="3200" b="1" dirty="0">
                <a:solidFill>
                  <a:srgbClr val="C00000"/>
                </a:solidFill>
              </a:rPr>
              <a:t>Different types of network/system</a:t>
            </a:r>
            <a:endParaRPr lang="en-IN" sz="3200" dirty="0"/>
          </a:p>
        </p:txBody>
      </p:sp>
      <p:pic>
        <p:nvPicPr>
          <p:cNvPr id="4" name="Content Placeholder 11">
            <a:extLst>
              <a:ext uri="{FF2B5EF4-FFF2-40B4-BE49-F238E27FC236}">
                <a16:creationId xmlns:a16="http://schemas.microsoft.com/office/drawing/2014/main" id="{933E2429-C423-DA35-3DB2-1ED252318BE0}"/>
              </a:ext>
            </a:extLst>
          </p:cNvPr>
          <p:cNvPicPr>
            <a:picLocks noGrp="1" noChangeAspect="1"/>
          </p:cNvPicPr>
          <p:nvPr>
            <p:ph idx="1"/>
          </p:nvPr>
        </p:nvPicPr>
        <p:blipFill>
          <a:blip r:embed="rId2"/>
          <a:stretch>
            <a:fillRect/>
          </a:stretch>
        </p:blipFill>
        <p:spPr>
          <a:xfrm>
            <a:off x="2021840" y="1067090"/>
            <a:ext cx="8046720" cy="5160990"/>
          </a:xfrm>
        </p:spPr>
      </p:pic>
    </p:spTree>
    <p:extLst>
      <p:ext uri="{BB962C8B-B14F-4D97-AF65-F5344CB8AC3E}">
        <p14:creationId xmlns:p14="http://schemas.microsoft.com/office/powerpoint/2010/main" val="1945757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698A20-1FC0-33CF-7374-183BFC44B5DB}"/>
              </a:ext>
            </a:extLst>
          </p:cNvPr>
          <p:cNvPicPr>
            <a:picLocks noGrp="1" noChangeAspect="1"/>
          </p:cNvPicPr>
          <p:nvPr>
            <p:ph idx="1"/>
          </p:nvPr>
        </p:nvPicPr>
        <p:blipFill>
          <a:blip r:embed="rId2"/>
          <a:stretch>
            <a:fillRect/>
          </a:stretch>
        </p:blipFill>
        <p:spPr>
          <a:xfrm>
            <a:off x="339437" y="1188721"/>
            <a:ext cx="11523995" cy="3119119"/>
          </a:xfrm>
        </p:spPr>
      </p:pic>
    </p:spTree>
    <p:extLst>
      <p:ext uri="{BB962C8B-B14F-4D97-AF65-F5344CB8AC3E}">
        <p14:creationId xmlns:p14="http://schemas.microsoft.com/office/powerpoint/2010/main" val="51872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C31A3D-6F53-B206-B9A3-3ECB634934A8}"/>
              </a:ext>
            </a:extLst>
          </p:cNvPr>
          <p:cNvSpPr>
            <a:spLocks noGrp="1"/>
          </p:cNvSpPr>
          <p:nvPr>
            <p:ph idx="1"/>
          </p:nvPr>
        </p:nvSpPr>
        <p:spPr/>
        <p:txBody>
          <a:bodyPr>
            <a:normAutofit/>
          </a:bodyPr>
          <a:lstStyle/>
          <a:p>
            <a:pPr marL="0" indent="0">
              <a:buNone/>
            </a:pPr>
            <a:endParaRPr lang="en-US" sz="4000" b="1" dirty="0">
              <a:solidFill>
                <a:srgbClr val="C00000"/>
              </a:solidFill>
            </a:endParaRPr>
          </a:p>
          <a:p>
            <a:pPr marL="0" indent="0">
              <a:buNone/>
            </a:pPr>
            <a:r>
              <a:rPr lang="en-US" sz="4000" b="1" dirty="0">
                <a:solidFill>
                  <a:srgbClr val="C00000"/>
                </a:solidFill>
              </a:rPr>
              <a:t>		How to achieve Decentralization?</a:t>
            </a:r>
            <a:endParaRPr lang="en-IN" sz="4000" b="1" dirty="0">
              <a:solidFill>
                <a:srgbClr val="C00000"/>
              </a:solidFill>
            </a:endParaRPr>
          </a:p>
        </p:txBody>
      </p:sp>
    </p:spTree>
    <p:extLst>
      <p:ext uri="{BB962C8B-B14F-4D97-AF65-F5344CB8AC3E}">
        <p14:creationId xmlns:p14="http://schemas.microsoft.com/office/powerpoint/2010/main" val="3278078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22F35-8DF9-1E07-34D5-8D73677C35D7}"/>
              </a:ext>
            </a:extLst>
          </p:cNvPr>
          <p:cNvSpPr>
            <a:spLocks noGrp="1"/>
          </p:cNvSpPr>
          <p:nvPr>
            <p:ph type="title"/>
          </p:nvPr>
        </p:nvSpPr>
        <p:spPr>
          <a:xfrm>
            <a:off x="340360" y="0"/>
            <a:ext cx="10515600" cy="1325563"/>
          </a:xfrm>
        </p:spPr>
        <p:txBody>
          <a:bodyPr/>
          <a:lstStyle/>
          <a:p>
            <a:pPr algn="ctr"/>
            <a:r>
              <a:rPr lang="en-IN" b="1" dirty="0"/>
              <a:t>              </a:t>
            </a:r>
            <a:r>
              <a:rPr lang="en-IN" sz="3200" b="1" dirty="0">
                <a:solidFill>
                  <a:srgbClr val="C00000"/>
                </a:solidFill>
              </a:rPr>
              <a:t>Methods of decentralization</a:t>
            </a:r>
          </a:p>
        </p:txBody>
      </p:sp>
      <p:sp>
        <p:nvSpPr>
          <p:cNvPr id="3" name="Content Placeholder 2">
            <a:extLst>
              <a:ext uri="{FF2B5EF4-FFF2-40B4-BE49-F238E27FC236}">
                <a16:creationId xmlns:a16="http://schemas.microsoft.com/office/drawing/2014/main" id="{63E22FA3-9C43-12B8-2B01-9D6647D95368}"/>
              </a:ext>
            </a:extLst>
          </p:cNvPr>
          <p:cNvSpPr>
            <a:spLocks noGrp="1"/>
          </p:cNvSpPr>
          <p:nvPr>
            <p:ph idx="1"/>
          </p:nvPr>
        </p:nvSpPr>
        <p:spPr>
          <a:xfrm>
            <a:off x="609600" y="1452880"/>
            <a:ext cx="10744200" cy="4724083"/>
          </a:xfrm>
        </p:spPr>
        <p:txBody>
          <a:bodyPr/>
          <a:lstStyle/>
          <a:p>
            <a:pPr algn="just">
              <a:buFont typeface="Wingdings" panose="05000000000000000000" pitchFamily="2" charset="2"/>
              <a:buChar char="Ø"/>
            </a:pPr>
            <a:r>
              <a:rPr lang="en-US" dirty="0"/>
              <a:t> There are </a:t>
            </a:r>
            <a:r>
              <a:rPr lang="en-US" dirty="0">
                <a:solidFill>
                  <a:srgbClr val="FF0000"/>
                </a:solidFill>
              </a:rPr>
              <a:t>two methods </a:t>
            </a:r>
            <a:r>
              <a:rPr lang="en-US" dirty="0"/>
              <a:t>that can be used to achieve decentralization.</a:t>
            </a:r>
          </a:p>
          <a:p>
            <a:pPr marL="514350" indent="-514350" algn="just">
              <a:buAutoNum type="arabicPeriod"/>
            </a:pPr>
            <a:r>
              <a:rPr lang="en-IN" dirty="0"/>
              <a:t>Disintermediation.</a:t>
            </a:r>
          </a:p>
          <a:p>
            <a:pPr marL="514350" indent="-514350" algn="just">
              <a:buAutoNum type="arabicPeriod"/>
            </a:pPr>
            <a:r>
              <a:rPr lang="en-IN" dirty="0"/>
              <a:t>Through competition.</a:t>
            </a:r>
          </a:p>
          <a:p>
            <a:pPr marL="0" indent="0" algn="just">
              <a:buNone/>
            </a:pPr>
            <a:endParaRPr lang="en-IN" dirty="0"/>
          </a:p>
          <a:p>
            <a:pPr marL="0" indent="0" algn="just">
              <a:buNone/>
            </a:pPr>
            <a:endParaRPr lang="en-US" dirty="0">
              <a:highlight>
                <a:srgbClr val="FF0000"/>
              </a:highlight>
              <a:latin typeface="Söhne"/>
            </a:endParaRPr>
          </a:p>
          <a:p>
            <a:pPr algn="just">
              <a:buFont typeface="Wingdings" panose="05000000000000000000" pitchFamily="2" charset="2"/>
              <a:buChar char="Ø"/>
            </a:pPr>
            <a:endParaRPr lang="en-IN" dirty="0">
              <a:highlight>
                <a:srgbClr val="FF0000"/>
              </a:highlight>
            </a:endParaRPr>
          </a:p>
          <a:p>
            <a:pPr marL="0" indent="0" algn="just">
              <a:buNone/>
            </a:pPr>
            <a:endParaRPr lang="en-IN" dirty="0"/>
          </a:p>
        </p:txBody>
      </p:sp>
    </p:spTree>
    <p:extLst>
      <p:ext uri="{BB962C8B-B14F-4D97-AF65-F5344CB8AC3E}">
        <p14:creationId xmlns:p14="http://schemas.microsoft.com/office/powerpoint/2010/main" val="2917284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5189DF-BC79-7567-8F76-06B08AFB482C}"/>
              </a:ext>
            </a:extLst>
          </p:cNvPr>
          <p:cNvSpPr>
            <a:spLocks noGrp="1"/>
          </p:cNvSpPr>
          <p:nvPr>
            <p:ph idx="1"/>
          </p:nvPr>
        </p:nvSpPr>
        <p:spPr>
          <a:xfrm>
            <a:off x="467360" y="294640"/>
            <a:ext cx="10886440" cy="5892483"/>
          </a:xfrm>
        </p:spPr>
        <p:txBody>
          <a:bodyPr>
            <a:normAutofit lnSpcReduction="10000"/>
          </a:bodyPr>
          <a:lstStyle/>
          <a:p>
            <a:pPr marL="514350" indent="-514350" algn="just">
              <a:buAutoNum type="arabicPeriod"/>
            </a:pPr>
            <a:r>
              <a:rPr lang="en-IN" b="1" dirty="0"/>
              <a:t>Disintermediation:</a:t>
            </a:r>
          </a:p>
          <a:p>
            <a:pPr algn="just">
              <a:buFont typeface="Wingdings" panose="05000000000000000000" pitchFamily="2" charset="2"/>
              <a:buChar char="Ø"/>
            </a:pPr>
            <a:r>
              <a:rPr lang="en-US" b="0" i="0" dirty="0">
                <a:effectLst/>
                <a:latin typeface="Söhne"/>
              </a:rPr>
              <a:t>It refers to the removal of intermediaries or middlemen in a transaction or process, which is made possible by the use of a decentralized and trustless network.</a:t>
            </a:r>
          </a:p>
          <a:p>
            <a:pPr algn="just">
              <a:buFont typeface="Wingdings" panose="05000000000000000000" pitchFamily="2" charset="2"/>
              <a:buChar char="Ø"/>
            </a:pPr>
            <a:endParaRPr lang="en-US" b="0" i="0" dirty="0">
              <a:effectLst/>
              <a:latin typeface="Söhne"/>
            </a:endParaRPr>
          </a:p>
          <a:p>
            <a:pPr algn="just">
              <a:buFont typeface="Wingdings" panose="05000000000000000000" pitchFamily="2" charset="2"/>
              <a:buChar char="Ø"/>
            </a:pPr>
            <a:endParaRPr lang="en-US" dirty="0">
              <a:latin typeface="Söhne"/>
            </a:endParaRPr>
          </a:p>
          <a:p>
            <a:pPr marL="0" indent="0" algn="just">
              <a:buNone/>
            </a:pPr>
            <a:endParaRPr lang="en-US" b="0" i="0" dirty="0">
              <a:effectLst/>
              <a:latin typeface="Söhne"/>
            </a:endParaRPr>
          </a:p>
          <a:p>
            <a:pPr marL="0" indent="0" algn="just">
              <a:buNone/>
            </a:pPr>
            <a:endParaRPr lang="en-US" b="0" i="0" dirty="0">
              <a:effectLst/>
              <a:latin typeface="Söhne"/>
            </a:endParaRPr>
          </a:p>
          <a:p>
            <a:pPr>
              <a:buFont typeface="Wingdings" panose="05000000000000000000" pitchFamily="2" charset="2"/>
              <a:buChar char="Ø"/>
            </a:pPr>
            <a:r>
              <a:rPr lang="en-US" dirty="0"/>
              <a:t>Traditional Money Transfer:</a:t>
            </a:r>
          </a:p>
          <a:p>
            <a:pPr lvl="1">
              <a:buFont typeface="Wingdings" panose="05000000000000000000" pitchFamily="2" charset="2"/>
              <a:buChar char="Ø"/>
            </a:pPr>
            <a:r>
              <a:rPr lang="en-US" dirty="0"/>
              <a:t>You send money → Bank processes transaction → Friend receives money.</a:t>
            </a:r>
          </a:p>
          <a:p>
            <a:pPr>
              <a:buFont typeface="Wingdings" panose="05000000000000000000" pitchFamily="2" charset="2"/>
              <a:buChar char="Ø"/>
            </a:pPr>
            <a:r>
              <a:rPr lang="en-US" dirty="0"/>
              <a:t>Decentralized Transfer with Blockchain:</a:t>
            </a:r>
          </a:p>
          <a:p>
            <a:pPr lvl="1">
              <a:buFont typeface="Wingdings" panose="05000000000000000000" pitchFamily="2" charset="2"/>
              <a:buChar char="Ø"/>
            </a:pPr>
            <a:r>
              <a:rPr lang="en-US" dirty="0"/>
              <a:t>You send money → Blockchain processes transaction → Friend receives money (without a bank).{</a:t>
            </a:r>
            <a:r>
              <a:rPr lang="en-US" b="0" dirty="0">
                <a:latin typeface="Times New Roman" panose="02020603050405020304" pitchFamily="18" charset="0"/>
                <a:cs typeface="Times New Roman" panose="02020603050405020304" pitchFamily="18" charset="0"/>
              </a:rPr>
              <a:t>All you need is the address of your friend on the blockchain.}</a:t>
            </a:r>
          </a:p>
          <a:p>
            <a:pPr>
              <a:buFont typeface="Wingdings" panose="05000000000000000000" pitchFamily="2" charset="2"/>
              <a:buChar char="Ø"/>
            </a:pPr>
            <a:endParaRPr lang="en-US" dirty="0"/>
          </a:p>
          <a:p>
            <a:endParaRPr lang="en-IN" dirty="0"/>
          </a:p>
        </p:txBody>
      </p:sp>
      <p:pic>
        <p:nvPicPr>
          <p:cNvPr id="4" name="Content Placeholder 4">
            <a:extLst>
              <a:ext uri="{FF2B5EF4-FFF2-40B4-BE49-F238E27FC236}">
                <a16:creationId xmlns:a16="http://schemas.microsoft.com/office/drawing/2014/main" id="{F747D2F3-B1E2-FFE5-DB13-136853473433}"/>
              </a:ext>
            </a:extLst>
          </p:cNvPr>
          <p:cNvPicPr>
            <a:picLocks noChangeAspect="1"/>
          </p:cNvPicPr>
          <p:nvPr/>
        </p:nvPicPr>
        <p:blipFill>
          <a:blip r:embed="rId2"/>
          <a:stretch>
            <a:fillRect/>
          </a:stretch>
        </p:blipFill>
        <p:spPr>
          <a:xfrm>
            <a:off x="6708668" y="1615757"/>
            <a:ext cx="4538452" cy="2235002"/>
          </a:xfrm>
          <a:prstGeom prst="rect">
            <a:avLst/>
          </a:prstGeom>
        </p:spPr>
      </p:pic>
    </p:spTree>
    <p:extLst>
      <p:ext uri="{BB962C8B-B14F-4D97-AF65-F5344CB8AC3E}">
        <p14:creationId xmlns:p14="http://schemas.microsoft.com/office/powerpoint/2010/main" val="1349637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B06A9-7B4F-3D70-7D22-F77FE569E395}"/>
              </a:ext>
            </a:extLst>
          </p:cNvPr>
          <p:cNvSpPr>
            <a:spLocks noGrp="1"/>
          </p:cNvSpPr>
          <p:nvPr>
            <p:ph idx="1"/>
          </p:nvPr>
        </p:nvSpPr>
        <p:spPr>
          <a:xfrm>
            <a:off x="838200" y="614149"/>
            <a:ext cx="10515600" cy="5959371"/>
          </a:xfrm>
        </p:spPr>
        <p:txBody>
          <a:bodyPr>
            <a:normAutofit/>
          </a:bodyPr>
          <a:lstStyle/>
          <a:p>
            <a:pPr marL="0" indent="0" algn="just">
              <a:buNone/>
            </a:pPr>
            <a:r>
              <a:rPr lang="en-US" b="1" dirty="0"/>
              <a:t>2.</a:t>
            </a:r>
            <a:r>
              <a:rPr lang="en-IN" b="1" dirty="0"/>
              <a:t> Through competition(Contest-Driven Decentralisation):</a:t>
            </a:r>
          </a:p>
          <a:p>
            <a:pPr algn="just">
              <a:buFont typeface="Wingdings" panose="05000000000000000000" pitchFamily="2" charset="2"/>
              <a:buChar char="Ø"/>
            </a:pPr>
            <a:r>
              <a:rPr lang="en-US" dirty="0"/>
              <a:t>In this method, a group of service providers compete with each other in order to be selected for the provision of services by the system.</a:t>
            </a:r>
          </a:p>
          <a:p>
            <a:pPr marL="0" indent="0" algn="just">
              <a:buNone/>
            </a:pPr>
            <a:endParaRPr lang="en-IN" dirty="0">
              <a:highlight>
                <a:srgbClr val="FF0000"/>
              </a:highlight>
            </a:endParaRPr>
          </a:p>
          <a:p>
            <a:pPr algn="just">
              <a:buFont typeface="Wingdings" panose="05000000000000000000" pitchFamily="2" charset="2"/>
              <a:buChar char="Ø"/>
            </a:pPr>
            <a:r>
              <a:rPr lang="en-US" dirty="0"/>
              <a:t>In the context of blockchain technology, a system can be envisioned in which smart contracts can choose an external data provider from a large number of providers based on their </a:t>
            </a:r>
            <a:r>
              <a:rPr lang="en-US" dirty="0">
                <a:solidFill>
                  <a:srgbClr val="FF0000"/>
                </a:solidFill>
              </a:rPr>
              <a:t>reputation, previous score, reviews and quality of service</a:t>
            </a:r>
            <a:r>
              <a:rPr lang="en-US" dirty="0"/>
              <a:t>.</a:t>
            </a:r>
          </a:p>
          <a:p>
            <a:pPr marL="0" indent="0" algn="just">
              <a:buNone/>
            </a:pPr>
            <a:endParaRPr lang="en-US" dirty="0"/>
          </a:p>
          <a:p>
            <a:pPr algn="just">
              <a:buFont typeface="Wingdings" panose="05000000000000000000" pitchFamily="2" charset="2"/>
              <a:buChar char="Ø"/>
            </a:pPr>
            <a:endParaRPr lang="en-US" dirty="0"/>
          </a:p>
        </p:txBody>
      </p:sp>
      <p:pic>
        <p:nvPicPr>
          <p:cNvPr id="4" name="Picture 3" descr="A sign post with colorful arrows">
            <a:extLst>
              <a:ext uri="{FF2B5EF4-FFF2-40B4-BE49-F238E27FC236}">
                <a16:creationId xmlns:a16="http://schemas.microsoft.com/office/drawing/2014/main" id="{56A4CF30-DB94-7D3B-7132-7FCDB9873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2480" y="3769359"/>
            <a:ext cx="3192784" cy="2885441"/>
          </a:xfrm>
          <a:prstGeom prst="rect">
            <a:avLst/>
          </a:prstGeom>
        </p:spPr>
      </p:pic>
    </p:spTree>
    <p:extLst>
      <p:ext uri="{BB962C8B-B14F-4D97-AF65-F5344CB8AC3E}">
        <p14:creationId xmlns:p14="http://schemas.microsoft.com/office/powerpoint/2010/main" val="2718640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582CD-274C-BCDB-4CEB-DC89AA5813F7}"/>
              </a:ext>
            </a:extLst>
          </p:cNvPr>
          <p:cNvSpPr>
            <a:spLocks noGrp="1"/>
          </p:cNvSpPr>
          <p:nvPr>
            <p:ph type="title"/>
          </p:nvPr>
        </p:nvSpPr>
        <p:spPr>
          <a:xfrm>
            <a:off x="838200" y="18255"/>
            <a:ext cx="10515600" cy="1325563"/>
          </a:xfrm>
        </p:spPr>
        <p:txBody>
          <a:bodyPr/>
          <a:lstStyle/>
          <a:p>
            <a:pPr algn="ctr"/>
            <a:r>
              <a:rPr lang="en-US" dirty="0"/>
              <a:t> </a:t>
            </a:r>
            <a:r>
              <a:rPr lang="en-US" dirty="0">
                <a:latin typeface="+mn-lt"/>
              </a:rPr>
              <a:t>Scale of decentralization </a:t>
            </a:r>
            <a:br>
              <a:rPr lang="en-US" dirty="0"/>
            </a:br>
            <a:endParaRPr lang="en-IN" dirty="0"/>
          </a:p>
        </p:txBody>
      </p:sp>
      <p:pic>
        <p:nvPicPr>
          <p:cNvPr id="4" name="Content Placeholder 3">
            <a:extLst>
              <a:ext uri="{FF2B5EF4-FFF2-40B4-BE49-F238E27FC236}">
                <a16:creationId xmlns:a16="http://schemas.microsoft.com/office/drawing/2014/main" id="{9F5AF485-5C40-0BDC-934D-416DC503BAB2}"/>
              </a:ext>
            </a:extLst>
          </p:cNvPr>
          <p:cNvPicPr>
            <a:picLocks noGrp="1" noChangeAspect="1"/>
          </p:cNvPicPr>
          <p:nvPr>
            <p:ph idx="1"/>
          </p:nvPr>
        </p:nvPicPr>
        <p:blipFill>
          <a:blip r:embed="rId2"/>
          <a:stretch>
            <a:fillRect/>
          </a:stretch>
        </p:blipFill>
        <p:spPr>
          <a:xfrm>
            <a:off x="1883058" y="1690578"/>
            <a:ext cx="8967822" cy="4115704"/>
          </a:xfrm>
          <a:prstGeom prst="rect">
            <a:avLst/>
          </a:prstGeom>
        </p:spPr>
      </p:pic>
    </p:spTree>
    <p:extLst>
      <p:ext uri="{BB962C8B-B14F-4D97-AF65-F5344CB8AC3E}">
        <p14:creationId xmlns:p14="http://schemas.microsoft.com/office/powerpoint/2010/main" val="3670644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B2B82F-9DCA-181F-5F2C-781B727743E8}"/>
              </a:ext>
            </a:extLst>
          </p:cNvPr>
          <p:cNvSpPr>
            <a:spLocks noGrp="1"/>
          </p:cNvSpPr>
          <p:nvPr>
            <p:ph idx="1"/>
          </p:nvPr>
        </p:nvSpPr>
        <p:spPr>
          <a:xfrm>
            <a:off x="548640" y="426720"/>
            <a:ext cx="10805160" cy="5750243"/>
          </a:xfrm>
        </p:spPr>
        <p:txBody>
          <a:bodyPr/>
          <a:lstStyle/>
          <a:p>
            <a:pPr marL="0" indent="0">
              <a:buNone/>
            </a:pPr>
            <a:r>
              <a:rPr lang="en-IN" b="1" dirty="0"/>
              <a:t>1</a:t>
            </a:r>
            <a:r>
              <a:rPr lang="en-IN" b="1" dirty="0">
                <a:latin typeface="Calibri" panose="020F0502020204030204" pitchFamily="34" charset="0"/>
                <a:cs typeface="Calibri" panose="020F0502020204030204" pitchFamily="34" charset="0"/>
              </a:rPr>
              <a:t>. Central Intermediary (Fully Centralized)</a:t>
            </a:r>
          </a:p>
          <a:p>
            <a:pPr>
              <a:buFont typeface="Arial" panose="020B0604020202020204" pitchFamily="34" charset="0"/>
              <a:buChar char="•"/>
            </a:pPr>
            <a:r>
              <a:rPr lang="en-IN" dirty="0">
                <a:latin typeface="Calibri" panose="020F0502020204030204" pitchFamily="34" charset="0"/>
                <a:cs typeface="Calibri" panose="020F0502020204030204" pitchFamily="34" charset="0"/>
              </a:rPr>
              <a:t>A single entity acts as the middleman, controlling all transactions, communications or processes.</a:t>
            </a:r>
          </a:p>
          <a:p>
            <a:pPr>
              <a:buFont typeface="Arial" panose="020B0604020202020204" pitchFamily="34" charset="0"/>
              <a:buChar char="•"/>
            </a:pPr>
            <a:r>
              <a:rPr lang="en-IN" dirty="0">
                <a:latin typeface="Calibri" panose="020F0502020204030204" pitchFamily="34" charset="0"/>
                <a:cs typeface="Calibri" panose="020F0502020204030204" pitchFamily="34" charset="0"/>
              </a:rPr>
              <a:t>Users must trust this central authority for access and decision-making.</a:t>
            </a:r>
          </a:p>
          <a:p>
            <a:pPr>
              <a:buFont typeface="Arial" panose="020B0604020202020204" pitchFamily="34" charset="0"/>
              <a:buChar char="•"/>
            </a:pPr>
            <a:r>
              <a:rPr lang="en-IN" b="1" dirty="0">
                <a:latin typeface="Calibri" panose="020F0502020204030204" pitchFamily="34" charset="0"/>
                <a:cs typeface="Calibri" panose="020F0502020204030204" pitchFamily="34" charset="0"/>
              </a:rPr>
              <a:t>Example:</a:t>
            </a:r>
            <a:endParaRPr lang="en-IN"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sz="2800" dirty="0">
                <a:latin typeface="Calibri" panose="020F0502020204030204" pitchFamily="34" charset="0"/>
                <a:cs typeface="Calibri" panose="020F0502020204030204" pitchFamily="34" charset="0"/>
              </a:rPr>
              <a:t>Banks controlling financial transactions.</a:t>
            </a:r>
          </a:p>
          <a:p>
            <a:pPr marL="742950" lvl="1" indent="-285750">
              <a:buFont typeface="Arial" panose="020B0604020202020204" pitchFamily="34" charset="0"/>
              <a:buChar char="•"/>
            </a:pPr>
            <a:r>
              <a:rPr lang="en-IN" sz="2800" dirty="0">
                <a:latin typeface="Calibri" panose="020F0502020204030204" pitchFamily="34" charset="0"/>
                <a:cs typeface="Calibri" panose="020F0502020204030204" pitchFamily="34" charset="0"/>
              </a:rPr>
              <a:t>Facebook controlling social media interactions.</a:t>
            </a:r>
          </a:p>
          <a:p>
            <a:pPr marL="742950" lvl="1" indent="-285750">
              <a:buFont typeface="Arial" panose="020B0604020202020204" pitchFamily="34" charset="0"/>
              <a:buChar char="•"/>
            </a:pPr>
            <a:r>
              <a:rPr lang="en-IN" sz="2800" dirty="0">
                <a:latin typeface="Calibri" panose="020F0502020204030204" pitchFamily="34" charset="0"/>
                <a:cs typeface="Calibri" panose="020F0502020204030204" pitchFamily="34" charset="0"/>
              </a:rPr>
              <a:t>Centralized cloud providers like Google Drive or Dropbox.</a:t>
            </a:r>
          </a:p>
          <a:p>
            <a:pPr marL="0" indent="0">
              <a:buNone/>
            </a:pPr>
            <a:endParaRPr lang="en-IN" dirty="0"/>
          </a:p>
        </p:txBody>
      </p:sp>
    </p:spTree>
    <p:extLst>
      <p:ext uri="{BB962C8B-B14F-4D97-AF65-F5344CB8AC3E}">
        <p14:creationId xmlns:p14="http://schemas.microsoft.com/office/powerpoint/2010/main" val="1684252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281D62-D5D7-0C6D-57D5-EAA195233532}"/>
              </a:ext>
            </a:extLst>
          </p:cNvPr>
          <p:cNvSpPr>
            <a:spLocks noGrp="1"/>
          </p:cNvSpPr>
          <p:nvPr>
            <p:ph idx="1"/>
          </p:nvPr>
        </p:nvSpPr>
        <p:spPr>
          <a:xfrm>
            <a:off x="518160" y="284480"/>
            <a:ext cx="10835640" cy="5892483"/>
          </a:xfrm>
        </p:spPr>
        <p:txBody>
          <a:bodyPr/>
          <a:lstStyle/>
          <a:p>
            <a:pPr marL="0" indent="0">
              <a:buNone/>
            </a:pPr>
            <a:r>
              <a:rPr lang="en-IN" b="1" dirty="0">
                <a:latin typeface="Calibri" panose="020F0502020204030204" pitchFamily="34" charset="0"/>
                <a:cs typeface="Calibri" panose="020F0502020204030204" pitchFamily="34" charset="0"/>
              </a:rPr>
              <a:t>2. Competing Intermediaries (Partially Decentralized)</a:t>
            </a:r>
          </a:p>
          <a:p>
            <a:r>
              <a:rPr lang="en-IN" dirty="0">
                <a:latin typeface="Calibri" panose="020F0502020204030204" pitchFamily="34" charset="0"/>
                <a:cs typeface="Calibri" panose="020F0502020204030204" pitchFamily="34" charset="0"/>
              </a:rPr>
              <a:t>Multiple intermediaries exist, allowing users to choose between different providers.</a:t>
            </a:r>
          </a:p>
          <a:p>
            <a:r>
              <a:rPr lang="en-IN" dirty="0">
                <a:latin typeface="Calibri" panose="020F0502020204030204" pitchFamily="34" charset="0"/>
                <a:cs typeface="Calibri" panose="020F0502020204030204" pitchFamily="34" charset="0"/>
              </a:rPr>
              <a:t>Each intermediary still has control over its own network, but users have alternatives.</a:t>
            </a:r>
          </a:p>
          <a:p>
            <a:r>
              <a:rPr lang="en-IN" dirty="0">
                <a:latin typeface="Calibri" panose="020F0502020204030204" pitchFamily="34" charset="0"/>
                <a:cs typeface="Calibri" panose="020F0502020204030204" pitchFamily="34" charset="0"/>
              </a:rPr>
              <a:t>Some level of competition and redundancy reduces risks but doesn’t eliminate intermediaries.</a:t>
            </a:r>
          </a:p>
          <a:p>
            <a:r>
              <a:rPr lang="en-IN" b="1" dirty="0">
                <a:latin typeface="Calibri" panose="020F0502020204030204" pitchFamily="34" charset="0"/>
                <a:cs typeface="Calibri" panose="020F0502020204030204" pitchFamily="34" charset="0"/>
              </a:rPr>
              <a:t>Example:</a:t>
            </a:r>
            <a:endParaRPr lang="en-IN" dirty="0">
              <a:latin typeface="Calibri" panose="020F0502020204030204" pitchFamily="34" charset="0"/>
              <a:cs typeface="Calibri" panose="020F0502020204030204" pitchFamily="34" charset="0"/>
            </a:endParaRPr>
          </a:p>
          <a:p>
            <a:pPr lvl="1"/>
            <a:r>
              <a:rPr lang="en-IN" sz="2800" dirty="0">
                <a:latin typeface="Calibri" panose="020F0502020204030204" pitchFamily="34" charset="0"/>
                <a:cs typeface="Calibri" panose="020F0502020204030204" pitchFamily="34" charset="0"/>
              </a:rPr>
              <a:t>Multiple banks offering financial services (Visa, Mastercard, PayPal).</a:t>
            </a:r>
          </a:p>
          <a:p>
            <a:pPr lvl="1"/>
            <a:r>
              <a:rPr lang="en-IN" sz="2800" dirty="0">
                <a:latin typeface="Calibri" panose="020F0502020204030204" pitchFamily="34" charset="0"/>
                <a:cs typeface="Calibri" panose="020F0502020204030204" pitchFamily="34" charset="0"/>
              </a:rPr>
              <a:t>Different cloud service providers (AWS, Google Cloud, Microsoft Azure).</a:t>
            </a:r>
          </a:p>
          <a:p>
            <a:pPr lvl="1"/>
            <a:r>
              <a:rPr lang="en-IN" sz="2800" dirty="0">
                <a:latin typeface="Calibri" panose="020F0502020204030204" pitchFamily="34" charset="0"/>
                <a:cs typeface="Calibri" panose="020F0502020204030204" pitchFamily="34" charset="0"/>
              </a:rPr>
              <a:t>Federated systems like Mastodon, where different servers (instances) operate independently.</a:t>
            </a:r>
          </a:p>
          <a:p>
            <a:endParaRPr lang="en-IN" dirty="0"/>
          </a:p>
        </p:txBody>
      </p:sp>
    </p:spTree>
    <p:extLst>
      <p:ext uri="{BB962C8B-B14F-4D97-AF65-F5344CB8AC3E}">
        <p14:creationId xmlns:p14="http://schemas.microsoft.com/office/powerpoint/2010/main" val="1717761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CC7F79-39D7-EFCA-2F1E-0CA2CB5D1DA0}"/>
              </a:ext>
            </a:extLst>
          </p:cNvPr>
          <p:cNvSpPr>
            <a:spLocks noGrp="1"/>
          </p:cNvSpPr>
          <p:nvPr>
            <p:ph idx="1"/>
          </p:nvPr>
        </p:nvSpPr>
        <p:spPr>
          <a:xfrm>
            <a:off x="609600" y="345440"/>
            <a:ext cx="10744200" cy="5831523"/>
          </a:xfrm>
        </p:spPr>
        <p:txBody>
          <a:bodyPr/>
          <a:lstStyle/>
          <a:p>
            <a:pPr marL="0" indent="0">
              <a:buNone/>
            </a:pPr>
            <a:r>
              <a:rPr lang="en-IN" b="1" dirty="0">
                <a:latin typeface="Calibri" panose="020F0502020204030204" pitchFamily="34" charset="0"/>
                <a:cs typeface="Calibri" panose="020F0502020204030204" pitchFamily="34" charset="0"/>
              </a:rPr>
              <a:t>3. No Intermediary (Fully Decentralized or Distributed)</a:t>
            </a:r>
          </a:p>
          <a:p>
            <a:pPr>
              <a:buFont typeface="Arial" panose="020B0604020202020204" pitchFamily="34" charset="0"/>
              <a:buChar char="•"/>
            </a:pPr>
            <a:r>
              <a:rPr lang="en-IN" dirty="0">
                <a:latin typeface="Calibri" panose="020F0502020204030204" pitchFamily="34" charset="0"/>
                <a:cs typeface="Calibri" panose="020F0502020204030204" pitchFamily="34" charset="0"/>
              </a:rPr>
              <a:t>No middleman—users interact directly with each other.</a:t>
            </a:r>
          </a:p>
          <a:p>
            <a:pPr>
              <a:buFont typeface="Arial" panose="020B0604020202020204" pitchFamily="34" charset="0"/>
              <a:buChar char="•"/>
            </a:pPr>
            <a:r>
              <a:rPr lang="en-IN" dirty="0">
                <a:latin typeface="Calibri" panose="020F0502020204030204" pitchFamily="34" charset="0"/>
                <a:cs typeface="Calibri" panose="020F0502020204030204" pitchFamily="34" charset="0"/>
              </a:rPr>
              <a:t>Trust is established through cryptographic mechanisms or consensus algorithms.</a:t>
            </a:r>
          </a:p>
          <a:p>
            <a:pPr>
              <a:buFont typeface="Arial" panose="020B0604020202020204" pitchFamily="34" charset="0"/>
              <a:buChar char="•"/>
            </a:pPr>
            <a:r>
              <a:rPr lang="en-IN" b="1" dirty="0">
                <a:latin typeface="Calibri" panose="020F0502020204030204" pitchFamily="34" charset="0"/>
                <a:cs typeface="Calibri" panose="020F0502020204030204" pitchFamily="34" charset="0"/>
              </a:rPr>
              <a:t>Example:</a:t>
            </a:r>
            <a:endParaRPr lang="en-IN"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sz="2800" dirty="0">
                <a:latin typeface="Calibri" panose="020F0502020204030204" pitchFamily="34" charset="0"/>
                <a:cs typeface="Calibri" panose="020F0502020204030204" pitchFamily="34" charset="0"/>
              </a:rPr>
              <a:t>Bitcoin and blockchain networks (users transact directly via peer-to-peer mechanisms).</a:t>
            </a:r>
          </a:p>
          <a:p>
            <a:pPr marL="742950" lvl="1" indent="-285750">
              <a:buFont typeface="Arial" panose="020B0604020202020204" pitchFamily="34" charset="0"/>
              <a:buChar char="•"/>
            </a:pPr>
            <a:r>
              <a:rPr lang="en-IN" sz="2800" dirty="0">
                <a:latin typeface="Calibri" panose="020F0502020204030204" pitchFamily="34" charset="0"/>
                <a:cs typeface="Calibri" panose="020F0502020204030204" pitchFamily="34" charset="0"/>
              </a:rPr>
              <a:t>IPFS (</a:t>
            </a:r>
            <a:r>
              <a:rPr lang="en-IN" sz="2800" dirty="0" err="1">
                <a:latin typeface="Calibri" panose="020F0502020204030204" pitchFamily="34" charset="0"/>
                <a:cs typeface="Calibri" panose="020F0502020204030204" pitchFamily="34" charset="0"/>
              </a:rPr>
              <a:t>InterPlanetary</a:t>
            </a:r>
            <a:r>
              <a:rPr lang="en-IN" sz="2800" dirty="0">
                <a:latin typeface="Calibri" panose="020F0502020204030204" pitchFamily="34" charset="0"/>
                <a:cs typeface="Calibri" panose="020F0502020204030204" pitchFamily="34" charset="0"/>
              </a:rPr>
              <a:t> File System) for decentralized file storage.</a:t>
            </a:r>
          </a:p>
          <a:p>
            <a:pPr marL="742950" lvl="1" indent="-285750">
              <a:buFont typeface="Arial" panose="020B0604020202020204" pitchFamily="34" charset="0"/>
              <a:buChar char="•"/>
            </a:pPr>
            <a:r>
              <a:rPr lang="en-IN" sz="2800" dirty="0">
                <a:latin typeface="Calibri" panose="020F0502020204030204" pitchFamily="34" charset="0"/>
                <a:cs typeface="Calibri" panose="020F0502020204030204" pitchFamily="34" charset="0"/>
              </a:rPr>
              <a:t>DAOs (Decentralized Autonomous Organizations), where governance is handled by smart contracts.</a:t>
            </a:r>
          </a:p>
          <a:p>
            <a:endParaRPr lang="en-IN" dirty="0"/>
          </a:p>
        </p:txBody>
      </p:sp>
    </p:spTree>
    <p:extLst>
      <p:ext uri="{BB962C8B-B14F-4D97-AF65-F5344CB8AC3E}">
        <p14:creationId xmlns:p14="http://schemas.microsoft.com/office/powerpoint/2010/main" val="1780576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7D5F3-24A3-927F-4943-BF52536D7237}"/>
              </a:ext>
            </a:extLst>
          </p:cNvPr>
          <p:cNvSpPr>
            <a:spLocks noGrp="1"/>
          </p:cNvSpPr>
          <p:nvPr>
            <p:ph type="title"/>
          </p:nvPr>
        </p:nvSpPr>
        <p:spPr>
          <a:xfrm>
            <a:off x="838200" y="365125"/>
            <a:ext cx="10515600" cy="672105"/>
          </a:xfrm>
        </p:spPr>
        <p:txBody>
          <a:bodyPr>
            <a:normAutofit fontScale="90000"/>
          </a:bodyPr>
          <a:lstStyle/>
          <a:p>
            <a:pPr algn="ctr"/>
            <a:r>
              <a:rPr lang="en-US" b="1" dirty="0">
                <a:solidFill>
                  <a:srgbClr val="C00000"/>
                </a:solidFill>
              </a:rPr>
              <a:t>How to decentralize?</a:t>
            </a:r>
            <a:endParaRPr lang="en-IN" b="1" dirty="0">
              <a:solidFill>
                <a:srgbClr val="C00000"/>
              </a:solidFill>
            </a:endParaRPr>
          </a:p>
        </p:txBody>
      </p:sp>
      <p:sp>
        <p:nvSpPr>
          <p:cNvPr id="3" name="Content Placeholder 2">
            <a:extLst>
              <a:ext uri="{FF2B5EF4-FFF2-40B4-BE49-F238E27FC236}">
                <a16:creationId xmlns:a16="http://schemas.microsoft.com/office/drawing/2014/main" id="{82860BF7-D283-17C9-D717-6F8C328463A7}"/>
              </a:ext>
            </a:extLst>
          </p:cNvPr>
          <p:cNvSpPr>
            <a:spLocks noGrp="1"/>
          </p:cNvSpPr>
          <p:nvPr>
            <p:ph idx="1"/>
          </p:nvPr>
        </p:nvSpPr>
        <p:spPr>
          <a:xfrm>
            <a:off x="975359" y="1432561"/>
            <a:ext cx="10119361" cy="4561840"/>
          </a:xfrm>
        </p:spPr>
        <p:txBody>
          <a:bodyPr>
            <a:normAutofit/>
          </a:bodyPr>
          <a:lstStyle/>
          <a:p>
            <a:pPr marL="514350" indent="-514350" algn="just">
              <a:buAutoNum type="arabicPeriod"/>
            </a:pPr>
            <a:r>
              <a:rPr lang="en-US" dirty="0"/>
              <a:t>What is being decentralized? </a:t>
            </a:r>
          </a:p>
          <a:p>
            <a:pPr marL="514350" indent="-514350" algn="just">
              <a:buAutoNum type="arabicPeriod"/>
            </a:pPr>
            <a:r>
              <a:rPr lang="en-US" dirty="0"/>
              <a:t>What level of decentralization is required? </a:t>
            </a:r>
          </a:p>
          <a:p>
            <a:pPr marL="514350" indent="-514350" algn="just">
              <a:buAutoNum type="arabicPeriod"/>
            </a:pPr>
            <a:r>
              <a:rPr lang="en-US" dirty="0"/>
              <a:t>What blockchain is used? </a:t>
            </a:r>
          </a:p>
          <a:p>
            <a:pPr marL="514350" indent="-514350" algn="just">
              <a:buAutoNum type="arabicPeriod"/>
            </a:pPr>
            <a:r>
              <a:rPr lang="en-US" dirty="0"/>
              <a:t>What security mechanism is used?</a:t>
            </a:r>
            <a:endParaRPr lang="en-IN" dirty="0"/>
          </a:p>
        </p:txBody>
      </p:sp>
    </p:spTree>
    <p:extLst>
      <p:ext uri="{BB962C8B-B14F-4D97-AF65-F5344CB8AC3E}">
        <p14:creationId xmlns:p14="http://schemas.microsoft.com/office/powerpoint/2010/main" val="3282212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EED72-C0E0-CCA4-CB51-D38C776F15F9}"/>
              </a:ext>
            </a:extLst>
          </p:cNvPr>
          <p:cNvSpPr>
            <a:spLocks noGrp="1"/>
          </p:cNvSpPr>
          <p:nvPr>
            <p:ph type="title"/>
          </p:nvPr>
        </p:nvSpPr>
        <p:spPr>
          <a:xfrm>
            <a:off x="716280" y="447041"/>
            <a:ext cx="10515600" cy="965200"/>
          </a:xfrm>
        </p:spPr>
        <p:txBody>
          <a:bodyPr>
            <a:normAutofit fontScale="90000"/>
          </a:bodyPr>
          <a:lstStyle/>
          <a:p>
            <a:br>
              <a:rPr lang="en-US" dirty="0"/>
            </a:br>
            <a:r>
              <a:rPr lang="en-US" dirty="0"/>
              <a:t>Use case : Money transfer</a:t>
            </a:r>
            <a:br>
              <a:rPr lang="en-IN" b="1" dirty="0"/>
            </a:br>
            <a:endParaRPr lang="en-IN" b="1" dirty="0"/>
          </a:p>
        </p:txBody>
      </p:sp>
      <p:sp>
        <p:nvSpPr>
          <p:cNvPr id="3" name="Content Placeholder 2">
            <a:extLst>
              <a:ext uri="{FF2B5EF4-FFF2-40B4-BE49-F238E27FC236}">
                <a16:creationId xmlns:a16="http://schemas.microsoft.com/office/drawing/2014/main" id="{9FCD1FC4-ED6F-20C8-085D-EC832E8738B3}"/>
              </a:ext>
            </a:extLst>
          </p:cNvPr>
          <p:cNvSpPr>
            <a:spLocks noGrp="1"/>
          </p:cNvSpPr>
          <p:nvPr>
            <p:ph idx="1"/>
          </p:nvPr>
        </p:nvSpPr>
        <p:spPr/>
        <p:txBody>
          <a:bodyPr/>
          <a:lstStyle/>
          <a:p>
            <a:pPr marL="514350" indent="-514350">
              <a:buAutoNum type="arabicPeriod"/>
            </a:pPr>
            <a:r>
              <a:rPr lang="en-US" dirty="0"/>
              <a:t>Answer 1 : Money transfer system</a:t>
            </a:r>
          </a:p>
          <a:p>
            <a:pPr marL="514350" indent="-514350">
              <a:buAutoNum type="arabicPeriod"/>
            </a:pPr>
            <a:r>
              <a:rPr lang="en-US" dirty="0"/>
              <a:t>Answer 2: Disintermediation.</a:t>
            </a:r>
          </a:p>
          <a:p>
            <a:pPr marL="514350" indent="-514350">
              <a:buAutoNum type="arabicPeriod"/>
            </a:pPr>
            <a:r>
              <a:rPr lang="en-US" dirty="0"/>
              <a:t>Answer 3: Bitcoin.</a:t>
            </a:r>
          </a:p>
          <a:p>
            <a:pPr marL="514350" indent="-514350">
              <a:buAutoNum type="arabicPeriod"/>
            </a:pPr>
            <a:r>
              <a:rPr lang="en-US" dirty="0"/>
              <a:t>Answer 4: Atomicity.</a:t>
            </a:r>
            <a:endParaRPr lang="en-IN" dirty="0"/>
          </a:p>
          <a:p>
            <a:pPr algn="just"/>
            <a:endParaRPr lang="en-IN" dirty="0"/>
          </a:p>
        </p:txBody>
      </p:sp>
    </p:spTree>
    <p:extLst>
      <p:ext uri="{BB962C8B-B14F-4D97-AF65-F5344CB8AC3E}">
        <p14:creationId xmlns:p14="http://schemas.microsoft.com/office/powerpoint/2010/main" val="3338507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F7D5F3-24A3-927F-4943-BF52536D7237}"/>
              </a:ext>
            </a:extLst>
          </p:cNvPr>
          <p:cNvSpPr>
            <a:spLocks noGrp="1"/>
          </p:cNvSpPr>
          <p:nvPr>
            <p:ph type="title"/>
          </p:nvPr>
        </p:nvSpPr>
        <p:spPr>
          <a:xfrm>
            <a:off x="838200" y="0"/>
            <a:ext cx="10515600" cy="1306443"/>
          </a:xfrm>
        </p:spPr>
        <p:txBody>
          <a:bodyPr>
            <a:normAutofit/>
          </a:bodyPr>
          <a:lstStyle/>
          <a:p>
            <a:pPr algn="ctr"/>
            <a:r>
              <a:rPr lang="en-US" sz="4000" b="1" dirty="0">
                <a:solidFill>
                  <a:srgbClr val="FF0000"/>
                </a:solidFill>
              </a:rPr>
              <a:t>Blockchain and full ecosystem decentralization</a:t>
            </a:r>
            <a:endParaRPr lang="en-IN" sz="4000" b="1" dirty="0">
              <a:solidFill>
                <a:srgbClr val="FF0000"/>
              </a:solidFill>
            </a:endParaRPr>
          </a:p>
        </p:txBody>
      </p:sp>
      <p:sp>
        <p:nvSpPr>
          <p:cNvPr id="3" name="Content Placeholder 2">
            <a:extLst>
              <a:ext uri="{FF2B5EF4-FFF2-40B4-BE49-F238E27FC236}">
                <a16:creationId xmlns:a16="http://schemas.microsoft.com/office/drawing/2014/main" id="{82860BF7-D283-17C9-D717-6F8C328463A7}"/>
              </a:ext>
            </a:extLst>
          </p:cNvPr>
          <p:cNvSpPr>
            <a:spLocks noGrp="1"/>
          </p:cNvSpPr>
          <p:nvPr>
            <p:ph idx="1"/>
          </p:nvPr>
        </p:nvSpPr>
        <p:spPr>
          <a:xfrm>
            <a:off x="838200" y="1825625"/>
            <a:ext cx="4152774" cy="4303464"/>
          </a:xfrm>
        </p:spPr>
        <p:txBody>
          <a:bodyPr>
            <a:normAutofit/>
          </a:bodyPr>
          <a:lstStyle/>
          <a:p>
            <a:pPr>
              <a:buFont typeface="Wingdings" panose="05000000000000000000" pitchFamily="2" charset="2"/>
              <a:buChar char="Ø"/>
            </a:pPr>
            <a:r>
              <a:rPr lang="en-US" sz="2000"/>
              <a:t>In order to achieve complete decentralization, it is necessary that the environment around the blockchain is also decentralized.</a:t>
            </a:r>
          </a:p>
          <a:p>
            <a:pPr>
              <a:buFont typeface="Wingdings" panose="05000000000000000000" pitchFamily="2" charset="2"/>
              <a:buChar char="Ø"/>
            </a:pPr>
            <a:endParaRPr lang="en-US" sz="2000"/>
          </a:p>
          <a:p>
            <a:pPr>
              <a:buFont typeface="Wingdings" panose="05000000000000000000" pitchFamily="2" charset="2"/>
              <a:buChar char="Ø"/>
            </a:pPr>
            <a:r>
              <a:rPr lang="en-US" sz="2000"/>
              <a:t>These elements include </a:t>
            </a:r>
          </a:p>
          <a:p>
            <a:pPr marL="0" indent="0">
              <a:buNone/>
            </a:pPr>
            <a:r>
              <a:rPr lang="en-US" sz="2000"/>
              <a:t>1.storage</a:t>
            </a:r>
          </a:p>
          <a:p>
            <a:pPr marL="0" indent="0">
              <a:buNone/>
            </a:pPr>
            <a:r>
              <a:rPr lang="en-US" sz="2000"/>
              <a:t>2.communication </a:t>
            </a:r>
          </a:p>
          <a:p>
            <a:pPr marL="0" indent="0">
              <a:buNone/>
            </a:pPr>
            <a:r>
              <a:rPr lang="en-US" sz="2000"/>
              <a:t>3.computation. </a:t>
            </a:r>
          </a:p>
          <a:p>
            <a:pPr marL="0" indent="0">
              <a:buNone/>
            </a:pPr>
            <a:endParaRPr lang="en-US" sz="2000"/>
          </a:p>
        </p:txBody>
      </p:sp>
      <p:pic>
        <p:nvPicPr>
          <p:cNvPr id="4" name="Picture 3" descr="A screenshot of a computer&#10;&#10;AI-generated content may be incorrect.">
            <a:extLst>
              <a:ext uri="{FF2B5EF4-FFF2-40B4-BE49-F238E27FC236}">
                <a16:creationId xmlns:a16="http://schemas.microsoft.com/office/drawing/2014/main" id="{6E301352-672B-DCDD-A931-BDDB09129C67}"/>
              </a:ext>
            </a:extLst>
          </p:cNvPr>
          <p:cNvPicPr>
            <a:picLocks noChangeAspect="1"/>
          </p:cNvPicPr>
          <p:nvPr/>
        </p:nvPicPr>
        <p:blipFill>
          <a:blip r:embed="rId2"/>
          <a:srcRect l="1718" r="1889"/>
          <a:stretch/>
        </p:blipFill>
        <p:spPr>
          <a:xfrm>
            <a:off x="5183500" y="1894122"/>
            <a:ext cx="6170299" cy="4224808"/>
          </a:xfrm>
          <a:prstGeom prst="rect">
            <a:avLst/>
          </a:prstGeom>
        </p:spPr>
      </p:pic>
    </p:spTree>
    <p:extLst>
      <p:ext uri="{BB962C8B-B14F-4D97-AF65-F5344CB8AC3E}">
        <p14:creationId xmlns:p14="http://schemas.microsoft.com/office/powerpoint/2010/main" val="2555271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9A1115-2D1A-2DB3-69EE-0283959DB124}"/>
              </a:ext>
            </a:extLst>
          </p:cNvPr>
          <p:cNvSpPr>
            <a:spLocks noGrp="1"/>
          </p:cNvSpPr>
          <p:nvPr>
            <p:ph idx="1"/>
          </p:nvPr>
        </p:nvSpPr>
        <p:spPr>
          <a:xfrm>
            <a:off x="558800" y="172720"/>
            <a:ext cx="10795000" cy="6004243"/>
          </a:xfrm>
        </p:spPr>
        <p:txBody>
          <a:bodyPr>
            <a:normAutofit/>
          </a:bodyPr>
          <a:lstStyle/>
          <a:p>
            <a:pPr marL="0" indent="0" algn="just">
              <a:spcBef>
                <a:spcPts val="600"/>
              </a:spcBef>
              <a:spcAft>
                <a:spcPts val="600"/>
              </a:spcAft>
              <a:buNone/>
              <a:defRPr/>
            </a:pPr>
            <a:r>
              <a:rPr lang="en-US" b="1" dirty="0">
                <a:solidFill>
                  <a:srgbClr val="C00000"/>
                </a:solidFill>
              </a:rPr>
              <a:t>1) Storage</a:t>
            </a:r>
            <a:endParaRPr lang="en-US" sz="2800" b="0" dirty="0">
              <a:latin typeface="Times New Roman" panose="02020603050405020304" pitchFamily="18" charset="0"/>
              <a:cs typeface="Times New Roman" panose="02020603050405020304" pitchFamily="18" charset="0"/>
            </a:endParaRPr>
          </a:p>
          <a:p>
            <a:pPr algn="just">
              <a:spcBef>
                <a:spcPts val="600"/>
              </a:spcBef>
              <a:spcAft>
                <a:spcPts val="600"/>
              </a:spcAft>
              <a:buFont typeface="Wingdings" panose="05000000000000000000" pitchFamily="2" charset="2"/>
              <a:buChar char="Ø"/>
              <a:defRPr/>
            </a:pPr>
            <a:r>
              <a:rPr lang="en-US" sz="2800" b="0" dirty="0">
                <a:latin typeface="Times New Roman" panose="02020603050405020304" pitchFamily="18" charset="0"/>
                <a:cs typeface="Times New Roman" panose="02020603050405020304" pitchFamily="18" charset="0"/>
              </a:rPr>
              <a:t>Data can be stored directly in a blockchain.</a:t>
            </a:r>
          </a:p>
          <a:p>
            <a:pPr algn="just">
              <a:spcBef>
                <a:spcPts val="600"/>
              </a:spcBef>
              <a:spcAft>
                <a:spcPts val="600"/>
              </a:spcAft>
              <a:buFont typeface="Wingdings" panose="05000000000000000000" pitchFamily="2" charset="2"/>
              <a:buChar char="Ø"/>
              <a:defRPr/>
            </a:pPr>
            <a:r>
              <a:rPr lang="en-US" sz="2800" b="0" dirty="0">
                <a:latin typeface="Times New Roman" panose="02020603050405020304" pitchFamily="18" charset="0"/>
                <a:cs typeface="Times New Roman" panose="02020603050405020304" pitchFamily="18" charset="0"/>
              </a:rPr>
              <a:t> It does achieve decentralization.</a:t>
            </a:r>
          </a:p>
          <a:p>
            <a:pPr algn="just">
              <a:spcBef>
                <a:spcPts val="600"/>
              </a:spcBef>
              <a:spcAft>
                <a:spcPts val="600"/>
              </a:spcAft>
              <a:buFont typeface="Wingdings" panose="05000000000000000000" pitchFamily="2" charset="2"/>
              <a:buChar char="Ø"/>
              <a:defRPr/>
            </a:pPr>
            <a:r>
              <a:rPr lang="en-US" sz="2800" b="1" dirty="0">
                <a:latin typeface="Times New Roman" panose="02020603050405020304" pitchFamily="18" charset="0"/>
                <a:cs typeface="Times New Roman" panose="02020603050405020304" pitchFamily="18" charset="0"/>
              </a:rPr>
              <a:t>Major disadvantage: </a:t>
            </a:r>
            <a:r>
              <a:rPr lang="en-US" sz="2800" b="0" dirty="0">
                <a:latin typeface="Times New Roman" panose="02020603050405020304" pitchFamily="18" charset="0"/>
                <a:cs typeface="Times New Roman" panose="02020603050405020304" pitchFamily="18" charset="0"/>
              </a:rPr>
              <a:t>not suitable for storing large amounts of data by design.</a:t>
            </a:r>
          </a:p>
          <a:p>
            <a:pPr algn="just">
              <a:spcBef>
                <a:spcPts val="600"/>
              </a:spcBef>
              <a:spcAft>
                <a:spcPts val="600"/>
              </a:spcAft>
              <a:buFont typeface="Wingdings" panose="05000000000000000000" pitchFamily="2" charset="2"/>
              <a:buChar char="Ø"/>
              <a:defRPr/>
            </a:pPr>
            <a:r>
              <a:rPr lang="en-US" sz="2800" b="0" dirty="0">
                <a:latin typeface="Times New Roman" panose="02020603050405020304" pitchFamily="18" charset="0"/>
                <a:cs typeface="Times New Roman" panose="02020603050405020304" pitchFamily="18" charset="0"/>
              </a:rPr>
              <a:t>A better alternative is to use distributed hash tables (DHTs). </a:t>
            </a:r>
          </a:p>
          <a:p>
            <a:pPr algn="just">
              <a:spcBef>
                <a:spcPts val="600"/>
              </a:spcBef>
              <a:spcAft>
                <a:spcPts val="600"/>
              </a:spcAft>
              <a:buFont typeface="Wingdings" panose="05000000000000000000" pitchFamily="2" charset="2"/>
              <a:buChar char="Ø"/>
              <a:defRPr/>
            </a:pPr>
            <a:r>
              <a:rPr lang="en-US" sz="2800" b="0" dirty="0">
                <a:latin typeface="Times New Roman" panose="02020603050405020304" pitchFamily="18" charset="0"/>
                <a:cs typeface="Times New Roman" panose="02020603050405020304" pitchFamily="18" charset="0"/>
              </a:rPr>
              <a:t>DHTs were originally used in peer-to-peer file sharing software, such as BitTorrent, Napster, </a:t>
            </a:r>
            <a:r>
              <a:rPr lang="en-US" sz="2800" b="0" dirty="0" err="1">
                <a:latin typeface="Times New Roman" panose="02020603050405020304" pitchFamily="18" charset="0"/>
                <a:cs typeface="Times New Roman" panose="02020603050405020304" pitchFamily="18" charset="0"/>
              </a:rPr>
              <a:t>Kazaa</a:t>
            </a:r>
            <a:r>
              <a:rPr lang="en-US" sz="2800" b="0" dirty="0">
                <a:latin typeface="Times New Roman" panose="02020603050405020304" pitchFamily="18" charset="0"/>
                <a:cs typeface="Times New Roman" panose="02020603050405020304" pitchFamily="18" charset="0"/>
              </a:rPr>
              <a:t> and Gnutella.</a:t>
            </a:r>
          </a:p>
        </p:txBody>
      </p:sp>
    </p:spTree>
    <p:extLst>
      <p:ext uri="{BB962C8B-B14F-4D97-AF65-F5344CB8AC3E}">
        <p14:creationId xmlns:p14="http://schemas.microsoft.com/office/powerpoint/2010/main" val="299033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271416-8CE0-A9A8-BD46-0B2A7E1286B0}"/>
              </a:ext>
            </a:extLst>
          </p:cNvPr>
          <p:cNvSpPr>
            <a:spLocks noGrp="1"/>
          </p:cNvSpPr>
          <p:nvPr>
            <p:ph idx="1"/>
          </p:nvPr>
        </p:nvSpPr>
        <p:spPr>
          <a:xfrm>
            <a:off x="558800" y="406400"/>
            <a:ext cx="10795000" cy="5770563"/>
          </a:xfrm>
        </p:spPr>
        <p:txBody>
          <a:bodyPr/>
          <a:lstStyle/>
          <a:p>
            <a:pPr algn="just">
              <a:spcBef>
                <a:spcPts val="600"/>
              </a:spcBef>
              <a:spcAft>
                <a:spcPts val="600"/>
              </a:spcAft>
              <a:buFont typeface="Wingdings" panose="05000000000000000000" pitchFamily="2" charset="2"/>
              <a:buChar char="Ø"/>
              <a:defRPr/>
            </a:pPr>
            <a:r>
              <a:rPr lang="en-US" sz="2800" b="1" dirty="0">
                <a:latin typeface="Times New Roman" panose="02020603050405020304" pitchFamily="18" charset="0"/>
                <a:cs typeface="Times New Roman" panose="02020603050405020304" pitchFamily="18" charset="0"/>
              </a:rPr>
              <a:t>Two main requirements: </a:t>
            </a:r>
          </a:p>
          <a:p>
            <a:pPr marL="285750" indent="-285750" algn="just">
              <a:spcBef>
                <a:spcPts val="600"/>
              </a:spcBef>
              <a:spcAft>
                <a:spcPts val="600"/>
              </a:spcAf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H</a:t>
            </a:r>
            <a:r>
              <a:rPr lang="en-US" sz="2800" b="0" dirty="0">
                <a:latin typeface="Times New Roman" panose="02020603050405020304" pitchFamily="18" charset="0"/>
                <a:cs typeface="Times New Roman" panose="02020603050405020304" pitchFamily="18" charset="0"/>
              </a:rPr>
              <a:t>igh availability and link stability, which means data should be available when required and network links should also always be accessible.</a:t>
            </a:r>
          </a:p>
          <a:p>
            <a:pPr marL="285750" indent="-285750" algn="just">
              <a:spcBef>
                <a:spcPts val="600"/>
              </a:spcBef>
              <a:spcAft>
                <a:spcPts val="600"/>
              </a:spcAft>
              <a:buFont typeface="Arial" panose="020B0604020202020204" pitchFamily="34" charset="0"/>
              <a:buChar char="•"/>
              <a:defRPr/>
            </a:pPr>
            <a:r>
              <a:rPr lang="en-US" sz="2800" dirty="0">
                <a:latin typeface="Times New Roman" panose="02020603050405020304" pitchFamily="18" charset="0"/>
                <a:cs typeface="Times New Roman" panose="02020603050405020304" pitchFamily="18" charset="0"/>
              </a:rPr>
              <a:t>Inter Planetary File System (IPFS) possesses both of these properties.</a:t>
            </a:r>
            <a:r>
              <a:rPr lang="en-US" dirty="0">
                <a:latin typeface="Times New Roman" panose="02020603050405020304" pitchFamily="18" charset="0"/>
                <a:cs typeface="Times New Roman" panose="02020603050405020304" pitchFamily="18" charset="0"/>
              </a:rPr>
              <a:t> (decentralized ,p2p protocol for storing data, files and websites)</a:t>
            </a:r>
            <a:endParaRPr lang="en-US" sz="2800" dirty="0">
              <a:latin typeface="Times New Roman" panose="02020603050405020304" pitchFamily="18" charset="0"/>
              <a:cs typeface="Times New Roman" panose="02020603050405020304" pitchFamily="18" charset="0"/>
            </a:endParaRPr>
          </a:p>
          <a:p>
            <a:endParaRPr lang="en-IN" dirty="0"/>
          </a:p>
        </p:txBody>
      </p:sp>
      <p:pic>
        <p:nvPicPr>
          <p:cNvPr id="7" name="Picture 6" descr="A diagram of data storage">
            <a:extLst>
              <a:ext uri="{FF2B5EF4-FFF2-40B4-BE49-F238E27FC236}">
                <a16:creationId xmlns:a16="http://schemas.microsoft.com/office/drawing/2014/main" id="{3E98A6B2-09B0-E533-6713-D8B75ED325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1022" y="3429000"/>
            <a:ext cx="6592778" cy="3303418"/>
          </a:xfrm>
          <a:prstGeom prst="rect">
            <a:avLst/>
          </a:prstGeom>
        </p:spPr>
      </p:pic>
    </p:spTree>
    <p:extLst>
      <p:ext uri="{BB962C8B-B14F-4D97-AF65-F5344CB8AC3E}">
        <p14:creationId xmlns:p14="http://schemas.microsoft.com/office/powerpoint/2010/main" val="22570205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70AE0F-C536-7862-F9EB-D7D1C454EFFD}"/>
              </a:ext>
            </a:extLst>
          </p:cNvPr>
          <p:cNvSpPr>
            <a:spLocks noGrp="1"/>
          </p:cNvSpPr>
          <p:nvPr>
            <p:ph idx="1"/>
          </p:nvPr>
        </p:nvSpPr>
        <p:spPr>
          <a:xfrm>
            <a:off x="589280" y="812800"/>
            <a:ext cx="10764520" cy="5364163"/>
          </a:xfrm>
        </p:spPr>
        <p:txBody>
          <a:bodyPr/>
          <a:lstStyle/>
          <a:p>
            <a:r>
              <a:rPr lang="en-US" dirty="0" err="1">
                <a:latin typeface="Times New Roman" panose="02020603050405020304" pitchFamily="18" charset="0"/>
                <a:cs typeface="Times New Roman" panose="02020603050405020304" pitchFamily="18" charset="0"/>
              </a:rPr>
              <a:t>BigChainDB</a:t>
            </a:r>
            <a:r>
              <a:rPr lang="en-US" dirty="0">
                <a:latin typeface="Times New Roman" panose="02020603050405020304" pitchFamily="18" charset="0"/>
                <a:cs typeface="Times New Roman" panose="02020603050405020304" pitchFamily="18" charset="0"/>
              </a:rPr>
              <a:t> is another storage layer decentralization project aimed at providing a scalable, fast and linearly scalable decentralized database as opposed to a traditional filesystem. </a:t>
            </a:r>
          </a:p>
          <a:p>
            <a:r>
              <a:rPr lang="en-US" dirty="0" err="1">
                <a:latin typeface="Times New Roman" panose="02020603050405020304" pitchFamily="18" charset="0"/>
                <a:cs typeface="Times New Roman" panose="02020603050405020304" pitchFamily="18" charset="0"/>
              </a:rPr>
              <a:t>BigChainDB</a:t>
            </a:r>
            <a:r>
              <a:rPr lang="en-US" dirty="0">
                <a:latin typeface="Times New Roman" panose="02020603050405020304" pitchFamily="18" charset="0"/>
                <a:cs typeface="Times New Roman" panose="02020603050405020304" pitchFamily="18" charset="0"/>
              </a:rPr>
              <a:t> complements decentralized processing platforms and file systems such as Ethereum and IPFS.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0457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C5E01D-96A3-3D84-575C-ED07C20075F0}"/>
              </a:ext>
            </a:extLst>
          </p:cNvPr>
          <p:cNvSpPr>
            <a:spLocks noGrp="1"/>
          </p:cNvSpPr>
          <p:nvPr>
            <p:ph idx="1"/>
          </p:nvPr>
        </p:nvSpPr>
        <p:spPr>
          <a:xfrm>
            <a:off x="660400" y="629920"/>
            <a:ext cx="10693400" cy="5547043"/>
          </a:xfrm>
        </p:spPr>
        <p:txBody>
          <a:bodyPr>
            <a:normAutofit/>
          </a:bodyPr>
          <a:lstStyle/>
          <a:p>
            <a:pPr marL="0" indent="0" algn="just">
              <a:spcBef>
                <a:spcPts val="600"/>
              </a:spcBef>
              <a:spcAft>
                <a:spcPts val="600"/>
              </a:spcAft>
              <a:buNone/>
              <a:defRPr/>
            </a:pPr>
            <a:r>
              <a:rPr lang="en-US" b="1" dirty="0">
                <a:solidFill>
                  <a:srgbClr val="FF0000"/>
                </a:solidFill>
                <a:cs typeface="Times New Roman" panose="02020603050405020304" pitchFamily="18" charset="0"/>
              </a:rPr>
              <a:t>2) Communication</a:t>
            </a:r>
          </a:p>
          <a:p>
            <a:pPr>
              <a:buFont typeface="Wingdings" panose="05000000000000000000" pitchFamily="2" charset="2"/>
              <a:buChar char="Ø"/>
            </a:pPr>
            <a:r>
              <a:rPr lang="en-GB" dirty="0"/>
              <a:t>Communication media – Internet</a:t>
            </a:r>
          </a:p>
          <a:p>
            <a:pPr>
              <a:buFont typeface="Wingdings" panose="05000000000000000000" pitchFamily="2" charset="2"/>
              <a:buChar char="Ø"/>
            </a:pPr>
            <a:r>
              <a:rPr lang="en-GB" dirty="0"/>
              <a:t>Currently trusted on third party.</a:t>
            </a:r>
          </a:p>
          <a:p>
            <a:pPr>
              <a:buFont typeface="Wingdings" panose="05000000000000000000" pitchFamily="2" charset="2"/>
              <a:buChar char="Ø"/>
            </a:pPr>
            <a:r>
              <a:rPr lang="en-GB" dirty="0"/>
              <a:t>Internet is based on ISP-Internet Service Provider.</a:t>
            </a:r>
          </a:p>
          <a:p>
            <a:pPr>
              <a:buFont typeface="Wingdings" panose="05000000000000000000" pitchFamily="2" charset="2"/>
              <a:buChar char="Ø"/>
            </a:pPr>
            <a:r>
              <a:rPr lang="en-GB" dirty="0"/>
              <a:t>Using mesh network, we can talk directly to each other.</a:t>
            </a:r>
          </a:p>
          <a:p>
            <a:pPr marL="0" indent="0">
              <a:buNone/>
            </a:pPr>
            <a:endParaRPr lang="en-US" sz="2800" dirty="0">
              <a:latin typeface="Times New Roman" panose="02020603050405020304" pitchFamily="18" charset="0"/>
              <a:cs typeface="Times New Roman" panose="02020603050405020304" pitchFamily="18" charset="0"/>
            </a:endParaRPr>
          </a:p>
          <a:p>
            <a:pPr marL="0" indent="0" algn="just">
              <a:lnSpc>
                <a:spcPct val="100000"/>
              </a:lnSpc>
              <a:spcBef>
                <a:spcPts val="600"/>
              </a:spcBef>
              <a:spcAft>
                <a:spcPts val="600"/>
              </a:spcAft>
              <a:buNone/>
              <a:defRPr/>
            </a:pPr>
            <a:r>
              <a:rPr lang="en-US" sz="2800" dirty="0">
                <a:solidFill>
                  <a:srgbClr val="FF0000"/>
                </a:solidFill>
                <a:cs typeface="Times New Roman" panose="02020603050405020304" pitchFamily="18" charset="0"/>
              </a:rPr>
              <a:t>3) </a:t>
            </a:r>
            <a:r>
              <a:rPr lang="en-US" b="1" dirty="0">
                <a:solidFill>
                  <a:srgbClr val="FF0000"/>
                </a:solidFill>
                <a:cs typeface="Times New Roman" panose="02020603050405020304" pitchFamily="18" charset="0"/>
              </a:rPr>
              <a:t>Computation </a:t>
            </a:r>
          </a:p>
          <a:p>
            <a:pPr>
              <a:buFont typeface="Wingdings" panose="05000000000000000000" pitchFamily="2" charset="2"/>
              <a:buChar char="Ø"/>
            </a:pPr>
            <a:r>
              <a:rPr lang="en-IN" dirty="0"/>
              <a:t>processing is achieved by a blockchain technology such as Ethereum.</a:t>
            </a:r>
          </a:p>
          <a:p>
            <a:pPr>
              <a:buFont typeface="Wingdings" panose="05000000000000000000" pitchFamily="2" charset="2"/>
              <a:buChar char="Ø"/>
            </a:pPr>
            <a:r>
              <a:rPr lang="en-GB" dirty="0"/>
              <a:t>Where smart contracts run on the network.</a:t>
            </a:r>
          </a:p>
          <a:p>
            <a:endParaRPr lang="en-IN" dirty="0"/>
          </a:p>
        </p:txBody>
      </p:sp>
    </p:spTree>
    <p:extLst>
      <p:ext uri="{BB962C8B-B14F-4D97-AF65-F5344CB8AC3E}">
        <p14:creationId xmlns:p14="http://schemas.microsoft.com/office/powerpoint/2010/main" val="12022569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DBBB3-33CE-3AAA-00B5-05F62C1E69C1}"/>
              </a:ext>
            </a:extLst>
          </p:cNvPr>
          <p:cNvSpPr>
            <a:spLocks noGrp="1"/>
          </p:cNvSpPr>
          <p:nvPr>
            <p:ph type="title"/>
          </p:nvPr>
        </p:nvSpPr>
        <p:spPr>
          <a:xfrm>
            <a:off x="767080" y="0"/>
            <a:ext cx="10515600" cy="1325563"/>
          </a:xfrm>
        </p:spPr>
        <p:txBody>
          <a:bodyPr/>
          <a:lstStyle/>
          <a:p>
            <a:r>
              <a:rPr lang="en-US" b="1" dirty="0"/>
              <a:t>                         </a:t>
            </a:r>
            <a:r>
              <a:rPr lang="en-US" b="1" dirty="0">
                <a:solidFill>
                  <a:srgbClr val="FF0000"/>
                </a:solidFill>
              </a:rPr>
              <a:t>SMART CONTRACTS</a:t>
            </a:r>
            <a:endParaRPr lang="en-IN" b="1" dirty="0">
              <a:solidFill>
                <a:srgbClr val="FF0000"/>
              </a:solidFill>
            </a:endParaRPr>
          </a:p>
        </p:txBody>
      </p:sp>
      <p:pic>
        <p:nvPicPr>
          <p:cNvPr id="5" name="Content Placeholder 4">
            <a:extLst>
              <a:ext uri="{FF2B5EF4-FFF2-40B4-BE49-F238E27FC236}">
                <a16:creationId xmlns:a16="http://schemas.microsoft.com/office/drawing/2014/main" id="{467BFE2A-3F68-AC1C-189C-88CA2EC57392}"/>
              </a:ext>
            </a:extLst>
          </p:cNvPr>
          <p:cNvPicPr>
            <a:picLocks noGrp="1" noChangeAspect="1"/>
          </p:cNvPicPr>
          <p:nvPr>
            <p:ph idx="1"/>
          </p:nvPr>
        </p:nvPicPr>
        <p:blipFill>
          <a:blip r:embed="rId2"/>
          <a:stretch>
            <a:fillRect/>
          </a:stretch>
        </p:blipFill>
        <p:spPr>
          <a:xfrm>
            <a:off x="2075638" y="1572699"/>
            <a:ext cx="8304551" cy="4773793"/>
          </a:xfrm>
        </p:spPr>
      </p:pic>
    </p:spTree>
    <p:extLst>
      <p:ext uri="{BB962C8B-B14F-4D97-AF65-F5344CB8AC3E}">
        <p14:creationId xmlns:p14="http://schemas.microsoft.com/office/powerpoint/2010/main" val="2410616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BDC11C-D5B0-5961-8E25-9B654DEAB7DB}"/>
              </a:ext>
            </a:extLst>
          </p:cNvPr>
          <p:cNvSpPr>
            <a:spLocks noGrp="1"/>
          </p:cNvSpPr>
          <p:nvPr>
            <p:ph idx="1"/>
          </p:nvPr>
        </p:nvSpPr>
        <p:spPr>
          <a:xfrm>
            <a:off x="838200" y="655093"/>
            <a:ext cx="10515600" cy="5521870"/>
          </a:xfrm>
        </p:spPr>
        <p:txBody>
          <a:bodyPr>
            <a:normAutofit/>
          </a:bodyPr>
          <a:lstStyle/>
          <a:p>
            <a:pPr algn="just">
              <a:buFont typeface="Wingdings" panose="05000000000000000000" pitchFamily="2" charset="2"/>
              <a:buChar char="Ø"/>
            </a:pPr>
            <a:r>
              <a:rPr lang="en-US" dirty="0"/>
              <a:t>Smart contracts are generally run on a blockchain due to the security benefits it provide.</a:t>
            </a:r>
          </a:p>
          <a:p>
            <a:pPr marL="0" indent="0" algn="just">
              <a:buNone/>
            </a:pPr>
            <a:endParaRPr lang="en-US" dirty="0"/>
          </a:p>
          <a:p>
            <a:pPr algn="just">
              <a:buFont typeface="Wingdings" panose="05000000000000000000" pitchFamily="2" charset="2"/>
              <a:buChar char="Ø"/>
            </a:pPr>
            <a:r>
              <a:rPr lang="en-US" dirty="0"/>
              <a:t>A smart contract usually contains some business logic and a limited amount of data.</a:t>
            </a:r>
          </a:p>
          <a:p>
            <a:pPr algn="just">
              <a:buFont typeface="Wingdings" panose="05000000000000000000" pitchFamily="2" charset="2"/>
              <a:buChar char="Ø"/>
            </a:pPr>
            <a:endParaRPr lang="en-US" dirty="0"/>
          </a:p>
          <a:p>
            <a:pPr algn="just">
              <a:buFont typeface="Wingdings" panose="05000000000000000000" pitchFamily="2" charset="2"/>
              <a:buChar char="Ø"/>
            </a:pPr>
            <a:r>
              <a:rPr lang="en-US" dirty="0"/>
              <a:t> Actors or participants in the blockchain use these smart contracts or they run autonomously on behalf of the network participants.</a:t>
            </a:r>
          </a:p>
          <a:p>
            <a:pPr marL="0" indent="0" algn="just">
              <a:buNone/>
            </a:pPr>
            <a:endParaRPr lang="en-IN" dirty="0"/>
          </a:p>
        </p:txBody>
      </p:sp>
    </p:spTree>
    <p:extLst>
      <p:ext uri="{BB962C8B-B14F-4D97-AF65-F5344CB8AC3E}">
        <p14:creationId xmlns:p14="http://schemas.microsoft.com/office/powerpoint/2010/main" val="4292561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8607C-A9E6-A90C-A906-80E96152B993}"/>
              </a:ext>
            </a:extLst>
          </p:cNvPr>
          <p:cNvSpPr>
            <a:spLocks noGrp="1"/>
          </p:cNvSpPr>
          <p:nvPr>
            <p:ph type="title"/>
          </p:nvPr>
        </p:nvSpPr>
        <p:spPr>
          <a:xfrm>
            <a:off x="726440" y="18255"/>
            <a:ext cx="10515600" cy="1325563"/>
          </a:xfrm>
        </p:spPr>
        <p:txBody>
          <a:bodyPr/>
          <a:lstStyle/>
          <a:p>
            <a:pPr algn="ctr"/>
            <a:r>
              <a:rPr lang="en-GB" dirty="0">
                <a:solidFill>
                  <a:srgbClr val="FF0000"/>
                </a:solidFill>
              </a:rPr>
              <a:t>Decentralized organizations</a:t>
            </a:r>
            <a:endParaRPr lang="en-IN" dirty="0">
              <a:solidFill>
                <a:srgbClr val="FF0000"/>
              </a:solidFill>
            </a:endParaRPr>
          </a:p>
        </p:txBody>
      </p:sp>
      <p:sp>
        <p:nvSpPr>
          <p:cNvPr id="3" name="Content Placeholder 2">
            <a:extLst>
              <a:ext uri="{FF2B5EF4-FFF2-40B4-BE49-F238E27FC236}">
                <a16:creationId xmlns:a16="http://schemas.microsoft.com/office/drawing/2014/main" id="{EE7F0042-5AF0-9826-924D-15D595A77B09}"/>
              </a:ext>
            </a:extLst>
          </p:cNvPr>
          <p:cNvSpPr>
            <a:spLocks noGrp="1"/>
          </p:cNvSpPr>
          <p:nvPr>
            <p:ph idx="1"/>
          </p:nvPr>
        </p:nvSpPr>
        <p:spPr/>
        <p:txBody>
          <a:bodyPr/>
          <a:lstStyle/>
          <a:p>
            <a:r>
              <a:rPr lang="en-IN" b="1" dirty="0"/>
              <a:t>Decentralized organization </a:t>
            </a:r>
            <a:r>
              <a:rPr lang="en-IN" dirty="0"/>
              <a:t>(</a:t>
            </a:r>
            <a:r>
              <a:rPr lang="en-IN" b="1" dirty="0"/>
              <a:t>DOs</a:t>
            </a:r>
            <a:r>
              <a:rPr lang="en-IN" dirty="0"/>
              <a:t>) are software programs that run on a blockchain and are based on the idea of real human organizations with people and protocols.</a:t>
            </a:r>
          </a:p>
          <a:p>
            <a:pPr marL="0" indent="0">
              <a:buNone/>
            </a:pPr>
            <a:r>
              <a:rPr lang="en-GB" dirty="0"/>
              <a:t>	Types:</a:t>
            </a:r>
          </a:p>
          <a:p>
            <a:r>
              <a:rPr lang="en-IN" b="1" dirty="0"/>
              <a:t>Decentralized autonomous </a:t>
            </a:r>
            <a:r>
              <a:rPr lang="en-IN" b="1" dirty="0">
                <a:solidFill>
                  <a:srgbClr val="FF0000"/>
                </a:solidFill>
              </a:rPr>
              <a:t>organizations </a:t>
            </a:r>
            <a:r>
              <a:rPr lang="en-US" sz="2800" dirty="0">
                <a:latin typeface="+mn-lt"/>
              </a:rPr>
              <a:t>(DAOs) - Fully Automated .</a:t>
            </a:r>
            <a:endParaRPr lang="en-IN" b="1" dirty="0">
              <a:solidFill>
                <a:srgbClr val="FF0000"/>
              </a:solidFill>
            </a:endParaRPr>
          </a:p>
          <a:p>
            <a:r>
              <a:rPr lang="en-IN" b="1" dirty="0"/>
              <a:t>Decentralized autonomous </a:t>
            </a:r>
            <a:r>
              <a:rPr lang="en-IN" b="1" dirty="0">
                <a:solidFill>
                  <a:srgbClr val="00B0F0"/>
                </a:solidFill>
              </a:rPr>
              <a:t>corporations </a:t>
            </a:r>
            <a:r>
              <a:rPr lang="en-US" sz="2800" dirty="0">
                <a:latin typeface="+mn-lt"/>
              </a:rPr>
              <a:t>(DACs) – subset of DAO.</a:t>
            </a:r>
            <a:endParaRPr lang="en-IN" b="1" dirty="0">
              <a:solidFill>
                <a:srgbClr val="00B0F0"/>
              </a:solidFill>
            </a:endParaRPr>
          </a:p>
          <a:p>
            <a:r>
              <a:rPr lang="en-IN" b="1" dirty="0"/>
              <a:t>Decentralized autonomous </a:t>
            </a:r>
            <a:r>
              <a:rPr lang="en-IN" b="1" dirty="0">
                <a:solidFill>
                  <a:srgbClr val="7030A0"/>
                </a:solidFill>
              </a:rPr>
              <a:t>societies </a:t>
            </a:r>
            <a:r>
              <a:rPr lang="en-US" sz="2800" dirty="0">
                <a:latin typeface="+mn-lt"/>
              </a:rPr>
              <a:t>(DASs) – Societies .</a:t>
            </a:r>
            <a:endParaRPr lang="en-GB" dirty="0">
              <a:solidFill>
                <a:srgbClr val="7030A0"/>
              </a:solidFill>
            </a:endParaRPr>
          </a:p>
          <a:p>
            <a:endParaRPr lang="en-IN" dirty="0"/>
          </a:p>
        </p:txBody>
      </p:sp>
    </p:spTree>
    <p:extLst>
      <p:ext uri="{BB962C8B-B14F-4D97-AF65-F5344CB8AC3E}">
        <p14:creationId xmlns:p14="http://schemas.microsoft.com/office/powerpoint/2010/main" val="2268645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42540-2F2A-4BCC-7308-F87947B688EF}"/>
              </a:ext>
            </a:extLst>
          </p:cNvPr>
          <p:cNvSpPr>
            <a:spLocks noGrp="1"/>
          </p:cNvSpPr>
          <p:nvPr>
            <p:ph type="title"/>
          </p:nvPr>
        </p:nvSpPr>
        <p:spPr/>
        <p:txBody>
          <a:bodyPr/>
          <a:lstStyle/>
          <a:p>
            <a:r>
              <a:rPr lang="en-IN" sz="4400" b="1" i="0" u="none" strike="noStrike" baseline="0" dirty="0">
                <a:latin typeface="Times New Roman" panose="02020603050405020304" pitchFamily="18" charset="0"/>
                <a:cs typeface="Times New Roman" panose="02020603050405020304" pitchFamily="18" charset="0"/>
              </a:rPr>
              <a:t>Decentralized organizations</a:t>
            </a:r>
            <a:endParaRPr lang="en-IN" dirty="0"/>
          </a:p>
        </p:txBody>
      </p:sp>
      <p:sp>
        <p:nvSpPr>
          <p:cNvPr id="3" name="Content Placeholder 2">
            <a:extLst>
              <a:ext uri="{FF2B5EF4-FFF2-40B4-BE49-F238E27FC236}">
                <a16:creationId xmlns:a16="http://schemas.microsoft.com/office/drawing/2014/main" id="{9A24B13C-4ECA-9E41-AB44-F7E8231EDE2C}"/>
              </a:ext>
            </a:extLst>
          </p:cNvPr>
          <p:cNvSpPr>
            <a:spLocks noGrp="1"/>
          </p:cNvSpPr>
          <p:nvPr>
            <p:ph idx="1"/>
          </p:nvPr>
        </p:nvSpPr>
        <p:spPr/>
        <p:txBody>
          <a:bodyPr>
            <a:normAutofit/>
          </a:bodyPr>
          <a:lstStyle/>
          <a:p>
            <a:pPr algn="just"/>
            <a:r>
              <a:rPr lang="en-IN" sz="2800" b="1" i="0" u="none" strike="noStrike" baseline="0" dirty="0">
                <a:latin typeface="Times New Roman" panose="02020603050405020304" pitchFamily="18" charset="0"/>
                <a:cs typeface="Times New Roman" panose="02020603050405020304" pitchFamily="18" charset="0"/>
              </a:rPr>
              <a:t>Decentralized organization </a:t>
            </a:r>
            <a:r>
              <a:rPr lang="en-IN" sz="2800" b="0" i="0" u="none" strike="noStrike" baseline="0" dirty="0">
                <a:latin typeface="Times New Roman" panose="02020603050405020304" pitchFamily="18" charset="0"/>
                <a:cs typeface="Times New Roman" panose="02020603050405020304" pitchFamily="18" charset="0"/>
              </a:rPr>
              <a:t>(</a:t>
            </a:r>
            <a:r>
              <a:rPr lang="en-IN" sz="2800" b="1" i="0" u="none" strike="noStrike" baseline="0" dirty="0">
                <a:latin typeface="Times New Roman" panose="02020603050405020304" pitchFamily="18" charset="0"/>
                <a:cs typeface="Times New Roman" panose="02020603050405020304" pitchFamily="18" charset="0"/>
              </a:rPr>
              <a:t>DOs</a:t>
            </a:r>
            <a:r>
              <a:rPr lang="en-IN" sz="2800" b="0" i="0" u="none" strike="noStrike" baseline="0" dirty="0">
                <a:latin typeface="Times New Roman" panose="02020603050405020304" pitchFamily="18" charset="0"/>
                <a:cs typeface="Times New Roman" panose="02020603050405020304" pitchFamily="18" charset="0"/>
              </a:rPr>
              <a:t>) are software programs that run on a blockchain and are based on the idea of real human organizations with people and protocols. </a:t>
            </a:r>
          </a:p>
          <a:p>
            <a:pPr marL="0" indent="0" algn="just">
              <a:buNone/>
            </a:pPr>
            <a:r>
              <a:rPr lang="en-IN" sz="2800" b="1" dirty="0">
                <a:latin typeface="Times New Roman" panose="02020603050405020304" pitchFamily="18" charset="0"/>
                <a:cs typeface="Times New Roman" panose="02020603050405020304" pitchFamily="18" charset="0"/>
              </a:rPr>
              <a:t>Example: GitHub Open-Source Projects</a:t>
            </a:r>
          </a:p>
          <a:p>
            <a:pPr algn="just"/>
            <a:r>
              <a:rPr lang="en-IN" sz="2800" dirty="0">
                <a:latin typeface="Times New Roman" panose="02020603050405020304" pitchFamily="18" charset="0"/>
                <a:cs typeface="Times New Roman" panose="02020603050405020304" pitchFamily="18" charset="0"/>
              </a:rPr>
              <a:t>Many open-source projects on GitHub function as decentralized organizations. Developers from around the world collaborate, contribute code</a:t>
            </a:r>
            <a:r>
              <a:rPr lang="en-IN"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and make decisions collectively, often without a formal hierarchy. </a:t>
            </a:r>
            <a:endParaRPr lang="en-IN" dirty="0"/>
          </a:p>
        </p:txBody>
      </p:sp>
    </p:spTree>
    <p:extLst>
      <p:ext uri="{BB962C8B-B14F-4D97-AF65-F5344CB8AC3E}">
        <p14:creationId xmlns:p14="http://schemas.microsoft.com/office/powerpoint/2010/main" val="3409017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94D58F76-104F-BDC9-BBC3-01D0B021C7E2}"/>
              </a:ext>
            </a:extLst>
          </p:cNvPr>
          <p:cNvPicPr>
            <a:picLocks noGrp="1" noChangeAspect="1"/>
          </p:cNvPicPr>
          <p:nvPr>
            <p:ph idx="1"/>
          </p:nvPr>
        </p:nvPicPr>
        <p:blipFill>
          <a:blip r:embed="rId2"/>
          <a:stretch>
            <a:fillRect/>
          </a:stretch>
        </p:blipFill>
        <p:spPr>
          <a:xfrm>
            <a:off x="2062480" y="477412"/>
            <a:ext cx="8554720" cy="5957038"/>
          </a:xfrm>
        </p:spPr>
      </p:pic>
    </p:spTree>
    <p:extLst>
      <p:ext uri="{BB962C8B-B14F-4D97-AF65-F5344CB8AC3E}">
        <p14:creationId xmlns:p14="http://schemas.microsoft.com/office/powerpoint/2010/main" val="351800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77D7B-01D2-EB95-A5A7-D444A25A5951}"/>
              </a:ext>
            </a:extLst>
          </p:cNvPr>
          <p:cNvSpPr>
            <a:spLocks noGrp="1"/>
          </p:cNvSpPr>
          <p:nvPr>
            <p:ph type="title"/>
          </p:nvPr>
        </p:nvSpPr>
        <p:spPr/>
        <p:txBody>
          <a:bodyPr/>
          <a:lstStyle/>
          <a:p>
            <a:r>
              <a:rPr lang="en-IN" sz="4400" b="1" i="0" u="none" strike="noStrike" baseline="0" dirty="0">
                <a:latin typeface="Times New Roman" panose="02020603050405020304" pitchFamily="18" charset="0"/>
                <a:cs typeface="Times New Roman" panose="02020603050405020304" pitchFamily="18" charset="0"/>
              </a:rPr>
              <a:t>Decentralized autonomous organizations</a:t>
            </a:r>
            <a:endParaRPr lang="en-IN" dirty="0"/>
          </a:p>
        </p:txBody>
      </p:sp>
      <p:sp>
        <p:nvSpPr>
          <p:cNvPr id="3" name="Content Placeholder 2">
            <a:extLst>
              <a:ext uri="{FF2B5EF4-FFF2-40B4-BE49-F238E27FC236}">
                <a16:creationId xmlns:a16="http://schemas.microsoft.com/office/drawing/2014/main" id="{53AD97FC-3265-08A3-E626-C4E0922565E4}"/>
              </a:ext>
            </a:extLst>
          </p:cNvPr>
          <p:cNvSpPr>
            <a:spLocks noGrp="1"/>
          </p:cNvSpPr>
          <p:nvPr>
            <p:ph idx="1"/>
          </p:nvPr>
        </p:nvSpPr>
        <p:spPr/>
        <p:txBody>
          <a:bodyPr/>
          <a:lstStyle/>
          <a:p>
            <a:pPr algn="just"/>
            <a:r>
              <a:rPr lang="en-IN" b="0" i="0" u="none" strike="noStrike" baseline="0" dirty="0">
                <a:latin typeface="Times New Roman" panose="02020603050405020304" pitchFamily="18" charset="0"/>
                <a:cs typeface="Times New Roman" panose="02020603050405020304" pitchFamily="18" charset="0"/>
              </a:rPr>
              <a:t>DAO and DO are basically the same thing, but the main difference is that DAOs are autonomous, which means that they are fully automated and contain artificially intelligent logic, whereas DOs lack this feature and rely on human input in order to execute business logic.</a:t>
            </a:r>
          </a:p>
          <a:p>
            <a:endParaRPr lang="en-IN" dirty="0"/>
          </a:p>
        </p:txBody>
      </p:sp>
    </p:spTree>
    <p:extLst>
      <p:ext uri="{BB962C8B-B14F-4D97-AF65-F5344CB8AC3E}">
        <p14:creationId xmlns:p14="http://schemas.microsoft.com/office/powerpoint/2010/main" val="9063778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5" descr="A drawing of a robot and a vending machine&#10;&#10;AI-generated content may be incorrect.">
            <a:extLst>
              <a:ext uri="{FF2B5EF4-FFF2-40B4-BE49-F238E27FC236}">
                <a16:creationId xmlns:a16="http://schemas.microsoft.com/office/drawing/2014/main" id="{6F6D9C3A-C3B2-A8D8-919E-3DB7BEBF6568}"/>
              </a:ext>
            </a:extLst>
          </p:cNvPr>
          <p:cNvPicPr>
            <a:picLocks noGrp="1" noChangeAspect="1"/>
          </p:cNvPicPr>
          <p:nvPr>
            <p:ph idx="1"/>
          </p:nvPr>
        </p:nvPicPr>
        <p:blipFill>
          <a:blip r:embed="rId2"/>
          <a:srcRect b="3035"/>
          <a:stretch/>
        </p:blipFill>
        <p:spPr>
          <a:xfrm>
            <a:off x="1075948" y="772161"/>
            <a:ext cx="9835892" cy="5520272"/>
          </a:xfrm>
          <a:prstGeom prst="rect">
            <a:avLst/>
          </a:prstGeom>
        </p:spPr>
      </p:pic>
    </p:spTree>
    <p:extLst>
      <p:ext uri="{BB962C8B-B14F-4D97-AF65-F5344CB8AC3E}">
        <p14:creationId xmlns:p14="http://schemas.microsoft.com/office/powerpoint/2010/main" val="22535812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064A9-FF7D-3F19-5757-433F28A6FCC8}"/>
              </a:ext>
            </a:extLst>
          </p:cNvPr>
          <p:cNvSpPr>
            <a:spLocks noGrp="1"/>
          </p:cNvSpPr>
          <p:nvPr>
            <p:ph type="title"/>
          </p:nvPr>
        </p:nvSpPr>
        <p:spPr/>
        <p:txBody>
          <a:bodyPr/>
          <a:lstStyle/>
          <a:p>
            <a:r>
              <a:rPr lang="en-IN" sz="4400" b="1" i="0" u="none" strike="noStrike" baseline="0" dirty="0">
                <a:latin typeface="Times New Roman" panose="02020603050405020304" pitchFamily="18" charset="0"/>
                <a:cs typeface="Times New Roman" panose="02020603050405020304" pitchFamily="18" charset="0"/>
              </a:rPr>
              <a:t>Decentralized autonomous corporations</a:t>
            </a:r>
            <a:endParaRPr lang="en-IN" dirty="0"/>
          </a:p>
        </p:txBody>
      </p:sp>
      <p:sp>
        <p:nvSpPr>
          <p:cNvPr id="3" name="Content Placeholder 2">
            <a:extLst>
              <a:ext uri="{FF2B5EF4-FFF2-40B4-BE49-F238E27FC236}">
                <a16:creationId xmlns:a16="http://schemas.microsoft.com/office/drawing/2014/main" id="{48C880C7-2F3A-1E87-6867-882BABC51F15}"/>
              </a:ext>
            </a:extLst>
          </p:cNvPr>
          <p:cNvSpPr>
            <a:spLocks noGrp="1"/>
          </p:cNvSpPr>
          <p:nvPr>
            <p:ph idx="1"/>
          </p:nvPr>
        </p:nvSpPr>
        <p:spPr/>
        <p:txBody>
          <a:bodyPr>
            <a:normAutofit/>
          </a:bodyPr>
          <a:lstStyle/>
          <a:p>
            <a:r>
              <a:rPr lang="en-GB" dirty="0"/>
              <a:t>It is same as DAO</a:t>
            </a:r>
          </a:p>
          <a:p>
            <a:r>
              <a:rPr lang="en-GB" dirty="0"/>
              <a:t>It is smaller subset of DAOs.</a:t>
            </a:r>
          </a:p>
          <a:p>
            <a:r>
              <a:rPr lang="en-GB" dirty="0"/>
              <a:t>Difference DAO-nonprofit, DACs make money via shares offered to the participants and paying dividends.</a:t>
            </a:r>
          </a:p>
          <a:p>
            <a:r>
              <a:rPr lang="en-GB" dirty="0"/>
              <a:t>Runs a business automatically without human intervention.</a:t>
            </a:r>
          </a:p>
          <a:p>
            <a:pPr algn="just"/>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59978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58FD7-1D9C-E3DB-4BE3-86DD6009EE2B}"/>
              </a:ext>
            </a:extLst>
          </p:cNvPr>
          <p:cNvSpPr>
            <a:spLocks noGrp="1"/>
          </p:cNvSpPr>
          <p:nvPr>
            <p:ph type="title"/>
          </p:nvPr>
        </p:nvSpPr>
        <p:spPr/>
        <p:txBody>
          <a:bodyPr/>
          <a:lstStyle/>
          <a:p>
            <a:r>
              <a:rPr lang="en-IN" sz="4400" b="1" i="0" u="none" strike="noStrike" baseline="0" dirty="0">
                <a:latin typeface="Times New Roman" panose="02020603050405020304" pitchFamily="18" charset="0"/>
                <a:cs typeface="Times New Roman" panose="02020603050405020304" pitchFamily="18" charset="0"/>
              </a:rPr>
              <a:t>Decentralized autonomous societies</a:t>
            </a:r>
            <a:endParaRPr lang="en-IN" dirty="0"/>
          </a:p>
        </p:txBody>
      </p:sp>
      <p:sp>
        <p:nvSpPr>
          <p:cNvPr id="3" name="Content Placeholder 2">
            <a:extLst>
              <a:ext uri="{FF2B5EF4-FFF2-40B4-BE49-F238E27FC236}">
                <a16:creationId xmlns:a16="http://schemas.microsoft.com/office/drawing/2014/main" id="{9A08AEDF-1D0B-B675-7EDC-53DA64A94904}"/>
              </a:ext>
            </a:extLst>
          </p:cNvPr>
          <p:cNvSpPr>
            <a:spLocks noGrp="1"/>
          </p:cNvSpPr>
          <p:nvPr>
            <p:ph idx="1"/>
          </p:nvPr>
        </p:nvSpPr>
        <p:spPr/>
        <p:txBody>
          <a:bodyPr/>
          <a:lstStyle/>
          <a:p>
            <a:pPr algn="just"/>
            <a:r>
              <a:rPr lang="en-IN" b="1" dirty="0">
                <a:latin typeface="Times New Roman" panose="02020603050405020304" pitchFamily="18" charset="0"/>
                <a:cs typeface="Times New Roman" panose="02020603050405020304" pitchFamily="18" charset="0"/>
              </a:rPr>
              <a:t>Decentralized Autonomous Society (DAS) </a:t>
            </a:r>
            <a:r>
              <a:rPr lang="en-IN" dirty="0">
                <a:latin typeface="Times New Roman" panose="02020603050405020304" pitchFamily="18" charset="0"/>
                <a:cs typeface="Times New Roman" panose="02020603050405020304" pitchFamily="18" charset="0"/>
              </a:rPr>
              <a:t>is an advanced concept where entire communities or societies operate on decentralized, blockchain-based governance principles.</a:t>
            </a:r>
          </a:p>
          <a:p>
            <a:pPr algn="just"/>
            <a:r>
              <a:rPr lang="en-IN" dirty="0">
                <a:latin typeface="Times New Roman" panose="02020603050405020304" pitchFamily="18" charset="0"/>
                <a:cs typeface="Times New Roman" panose="02020603050405020304" pitchFamily="18" charset="0"/>
              </a:rPr>
              <a:t>Many services that a government offers can </a:t>
            </a:r>
            <a:r>
              <a:rPr lang="en-IN" b="0" i="0" u="none" strike="noStrike" baseline="0" dirty="0">
                <a:latin typeface="Times New Roman" panose="02020603050405020304" pitchFamily="18" charset="0"/>
                <a:cs typeface="Times New Roman" panose="02020603050405020304" pitchFamily="18" charset="0"/>
              </a:rPr>
              <a:t>be delivered via blockchain, such as Government Identity Card systems, passport issuance, records of deeds, marriages and births.</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76134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4D06E5-CAC6-98C0-D053-FF8FE69F8C01}"/>
              </a:ext>
            </a:extLst>
          </p:cNvPr>
          <p:cNvSpPr>
            <a:spLocks noGrp="1"/>
          </p:cNvSpPr>
          <p:nvPr>
            <p:ph idx="1"/>
          </p:nvPr>
        </p:nvSpPr>
        <p:spPr>
          <a:xfrm>
            <a:off x="579120" y="375920"/>
            <a:ext cx="10774680" cy="5801043"/>
          </a:xfrm>
        </p:spPr>
        <p:txBody>
          <a:bodyPr>
            <a:normAutofit fontScale="92500" lnSpcReduction="10000"/>
          </a:bodyPr>
          <a:lstStyle/>
          <a:p>
            <a:pPr marL="0" indent="0" algn="just">
              <a:spcBef>
                <a:spcPts val="600"/>
              </a:spcBef>
              <a:spcAft>
                <a:spcPts val="600"/>
              </a:spcAft>
              <a:buNone/>
              <a:defRPr/>
            </a:pPr>
            <a:r>
              <a:rPr lang="en-US" sz="3200" b="1" dirty="0">
                <a:latin typeface="Calibri" panose="020F0502020204030204" pitchFamily="34" charset="0"/>
                <a:cs typeface="Calibri" panose="020F0502020204030204" pitchFamily="34" charset="0"/>
              </a:rPr>
              <a:t>	Requirements of a </a:t>
            </a:r>
            <a:r>
              <a:rPr lang="en-IN" sz="3200" b="1" dirty="0">
                <a:latin typeface="Calibri" panose="020F0502020204030204" pitchFamily="34" charset="0"/>
                <a:cs typeface="Calibri" panose="020F0502020204030204" pitchFamily="34" charset="0"/>
              </a:rPr>
              <a:t>Decentralized applications (DAPPs)</a:t>
            </a:r>
          </a:p>
          <a:p>
            <a:pPr marL="342900" indent="-342900" algn="just">
              <a:spcBef>
                <a:spcPts val="600"/>
              </a:spcBef>
              <a:spcAft>
                <a:spcPts val="600"/>
              </a:spcAft>
              <a:buFont typeface="+mj-lt"/>
              <a:buAutoNum type="arabicPeriod"/>
              <a:defRPr/>
            </a:pPr>
            <a:r>
              <a:rPr lang="en-US" sz="2800" dirty="0"/>
              <a:t>The DAPP should be fully open source and autonomous and no single entity should be in control of a majority of its tokens. All changes to the application must be consensus-driven based on the feedback given by the community. </a:t>
            </a:r>
          </a:p>
          <a:p>
            <a:pPr marL="342900" indent="-342900" algn="just">
              <a:spcBef>
                <a:spcPts val="600"/>
              </a:spcBef>
              <a:spcAft>
                <a:spcPts val="600"/>
              </a:spcAft>
              <a:buFont typeface="+mj-lt"/>
              <a:buAutoNum type="arabicPeriod"/>
              <a:defRPr/>
            </a:pPr>
            <a:r>
              <a:rPr lang="en-US" sz="2800" dirty="0"/>
              <a:t>Data and records of operations of the application must be cryptographically secured and stored on a public, decentralized blockchain in order to avoid any central points of failure.</a:t>
            </a:r>
          </a:p>
          <a:p>
            <a:pPr marL="342900" indent="-342900" algn="just">
              <a:spcBef>
                <a:spcPts val="600"/>
              </a:spcBef>
              <a:spcAft>
                <a:spcPts val="600"/>
              </a:spcAft>
              <a:buFont typeface="+mj-lt"/>
              <a:buAutoNum type="arabicPeriod"/>
              <a:defRPr/>
            </a:pPr>
            <a:r>
              <a:rPr lang="en-US" sz="2800" dirty="0"/>
              <a:t>A cryptographic token must be used by the application in order to provide access and rewards to those who contribute value to the applications, for example, miners in bitcoin.</a:t>
            </a:r>
          </a:p>
          <a:p>
            <a:pPr marL="342900" indent="-342900" algn="just">
              <a:spcBef>
                <a:spcPts val="600"/>
              </a:spcBef>
              <a:spcAft>
                <a:spcPts val="600"/>
              </a:spcAft>
              <a:buFont typeface="+mj-lt"/>
              <a:buAutoNum type="arabicPeriod"/>
              <a:defRPr/>
            </a:pPr>
            <a:r>
              <a:rPr lang="en-US" sz="2800" dirty="0"/>
              <a:t>The tokens must be generated by the decentralized application according to a standard cryptographic algorithm. This generation of tokens acts as a proof of the value to contributors (for example, miners).</a:t>
            </a:r>
            <a:endParaRPr lang="en-IN" sz="2800" dirty="0">
              <a:latin typeface="+mn-lt"/>
            </a:endParaRPr>
          </a:p>
          <a:p>
            <a:pPr marL="0" indent="0">
              <a:buNone/>
            </a:pPr>
            <a:endParaRPr lang="en-IN" dirty="0"/>
          </a:p>
        </p:txBody>
      </p:sp>
    </p:spTree>
    <p:extLst>
      <p:ext uri="{BB962C8B-B14F-4D97-AF65-F5344CB8AC3E}">
        <p14:creationId xmlns:p14="http://schemas.microsoft.com/office/powerpoint/2010/main" val="29764062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diagram">
            <a:extLst>
              <a:ext uri="{FF2B5EF4-FFF2-40B4-BE49-F238E27FC236}">
                <a16:creationId xmlns:a16="http://schemas.microsoft.com/office/drawing/2014/main" id="{807A6E08-B04A-E92F-74B7-EB0F35EF77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13279" y="803275"/>
            <a:ext cx="7955753" cy="5373688"/>
          </a:xfrm>
        </p:spPr>
      </p:pic>
    </p:spTree>
    <p:extLst>
      <p:ext uri="{BB962C8B-B14F-4D97-AF65-F5344CB8AC3E}">
        <p14:creationId xmlns:p14="http://schemas.microsoft.com/office/powerpoint/2010/main" val="7182150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F0E150-4517-DE6C-B338-3FA8B2CD8C47}"/>
              </a:ext>
            </a:extLst>
          </p:cNvPr>
          <p:cNvSpPr>
            <a:spLocks noGrp="1"/>
          </p:cNvSpPr>
          <p:nvPr>
            <p:ph idx="1"/>
          </p:nvPr>
        </p:nvSpPr>
        <p:spPr>
          <a:xfrm>
            <a:off x="406400" y="375920"/>
            <a:ext cx="10947400" cy="5801043"/>
          </a:xfrm>
        </p:spPr>
        <p:txBody>
          <a:bodyPr/>
          <a:lstStyle/>
          <a:p>
            <a:pPr marL="0" indent="0" algn="just">
              <a:spcBef>
                <a:spcPts val="600"/>
              </a:spcBef>
              <a:spcAft>
                <a:spcPts val="600"/>
              </a:spcAft>
              <a:buNone/>
              <a:defRPr/>
            </a:pPr>
            <a:r>
              <a:rPr lang="en-US" sz="3200" b="1" dirty="0">
                <a:latin typeface="Calibri" panose="020F0502020204030204" pitchFamily="34" charset="0"/>
                <a:cs typeface="Calibri" panose="020F0502020204030204" pitchFamily="34" charset="0"/>
              </a:rPr>
              <a:t>				Operations of a DAPP </a:t>
            </a:r>
          </a:p>
          <a:p>
            <a:pPr marL="285750" indent="-285750" algn="just">
              <a:spcBef>
                <a:spcPts val="600"/>
              </a:spcBef>
              <a:spcAft>
                <a:spcPts val="600"/>
              </a:spcAft>
              <a:buFont typeface="Arial" panose="020B0604020202020204" pitchFamily="34" charset="0"/>
              <a:buChar char="•"/>
              <a:defRPr/>
            </a:pPr>
            <a:r>
              <a:rPr lang="en-US" dirty="0">
                <a:latin typeface="Calibri" panose="020F0502020204030204" pitchFamily="34" charset="0"/>
                <a:cs typeface="Calibri" panose="020F0502020204030204" pitchFamily="34" charset="0"/>
              </a:rPr>
              <a:t>Proof of Work and Proof of Stake can be used to establishment the DAPP</a:t>
            </a:r>
          </a:p>
          <a:p>
            <a:pPr marL="285750" indent="-285750" algn="just">
              <a:spcBef>
                <a:spcPts val="600"/>
              </a:spcBef>
              <a:spcAft>
                <a:spcPts val="600"/>
              </a:spcAft>
              <a:buFont typeface="Arial" panose="020B0604020202020204" pitchFamily="34" charset="0"/>
              <a:buChar char="•"/>
              <a:defRPr/>
            </a:pPr>
            <a:r>
              <a:rPr lang="en-US" dirty="0">
                <a:latin typeface="Calibri" panose="020F0502020204030204" pitchFamily="34" charset="0"/>
                <a:cs typeface="Calibri" panose="020F0502020204030204" pitchFamily="34" charset="0"/>
              </a:rPr>
              <a:t>DAPP can distribute tokens (coins) via </a:t>
            </a:r>
            <a:r>
              <a:rPr lang="en-US" dirty="0">
                <a:solidFill>
                  <a:srgbClr val="FF0000"/>
                </a:solidFill>
                <a:latin typeface="Calibri" panose="020F0502020204030204" pitchFamily="34" charset="0"/>
                <a:cs typeface="Calibri" panose="020F0502020204030204" pitchFamily="34" charset="0"/>
              </a:rPr>
              <a:t>mining, fundraising and development.</a:t>
            </a:r>
          </a:p>
          <a:p>
            <a:pPr algn="just">
              <a:spcBef>
                <a:spcPts val="600"/>
              </a:spcBef>
              <a:spcAft>
                <a:spcPts val="600"/>
              </a:spcAft>
              <a:defRPr/>
            </a:pPr>
            <a:r>
              <a:rPr lang="en-US" dirty="0">
                <a:latin typeface="Calibri" panose="020F0502020204030204" pitchFamily="34" charset="0"/>
                <a:cs typeface="Calibri" panose="020F0502020204030204" pitchFamily="34" charset="0"/>
              </a:rPr>
              <a:t>DAPP - Examples </a:t>
            </a:r>
          </a:p>
          <a:p>
            <a:pPr algn="just">
              <a:spcBef>
                <a:spcPts val="600"/>
              </a:spcBef>
              <a:spcAft>
                <a:spcPts val="600"/>
              </a:spcAft>
              <a:defRPr/>
            </a:pPr>
            <a:r>
              <a:rPr lang="en-IN" dirty="0">
                <a:solidFill>
                  <a:srgbClr val="6666FF"/>
                </a:solidFill>
                <a:latin typeface="Calibri" panose="020F0502020204030204" pitchFamily="34" charset="0"/>
                <a:cs typeface="Calibri" panose="020F0502020204030204" pitchFamily="34" charset="0"/>
              </a:rPr>
              <a:t>KYC-Chain</a:t>
            </a:r>
            <a:r>
              <a:rPr lang="en-IN" dirty="0">
                <a:latin typeface="Calibri" panose="020F0502020204030204" pitchFamily="34" charset="0"/>
                <a:cs typeface="Calibri" panose="020F0502020204030204" pitchFamily="34" charset="0"/>
              </a:rPr>
              <a:t> - </a:t>
            </a:r>
            <a:r>
              <a:rPr lang="en-US" dirty="0">
                <a:latin typeface="Calibri" panose="020F0502020204030204" pitchFamily="34" charset="0"/>
                <a:cs typeface="Calibri" panose="020F0502020204030204" pitchFamily="34" charset="0"/>
              </a:rPr>
              <a:t>manage Know Your Customer (KYC) data in a </a:t>
            </a:r>
            <a:r>
              <a:rPr lang="en-US" dirty="0">
                <a:solidFill>
                  <a:srgbClr val="FF0000"/>
                </a:solidFill>
                <a:latin typeface="Calibri" panose="020F0502020204030204" pitchFamily="34" charset="0"/>
                <a:cs typeface="Calibri" panose="020F0502020204030204" pitchFamily="34" charset="0"/>
              </a:rPr>
              <a:t>secure and convenient</a:t>
            </a:r>
            <a:r>
              <a:rPr lang="en-US" dirty="0">
                <a:latin typeface="Calibri" panose="020F0502020204030204" pitchFamily="34" charset="0"/>
                <a:cs typeface="Calibri" panose="020F0502020204030204" pitchFamily="34" charset="0"/>
              </a:rPr>
              <a:t>  based on smart contracts.</a:t>
            </a:r>
            <a:endParaRPr lang="en-IN" dirty="0">
              <a:latin typeface="Calibri" panose="020F0502020204030204" pitchFamily="34" charset="0"/>
              <a:cs typeface="Calibri" panose="020F0502020204030204" pitchFamily="34" charset="0"/>
            </a:endParaRPr>
          </a:p>
          <a:p>
            <a:pPr algn="just">
              <a:spcBef>
                <a:spcPts val="600"/>
              </a:spcBef>
              <a:spcAft>
                <a:spcPts val="600"/>
              </a:spcAft>
              <a:defRPr/>
            </a:pPr>
            <a:r>
              <a:rPr lang="en-IN" dirty="0" err="1">
                <a:solidFill>
                  <a:srgbClr val="6666FF"/>
                </a:solidFill>
                <a:latin typeface="Calibri" panose="020F0502020204030204" pitchFamily="34" charset="0"/>
                <a:cs typeface="Calibri" panose="020F0502020204030204" pitchFamily="34" charset="0"/>
              </a:rPr>
              <a:t>OpenBazaar</a:t>
            </a:r>
            <a:r>
              <a:rPr lang="en-IN" dirty="0">
                <a:latin typeface="Calibri" panose="020F0502020204030204" pitchFamily="34" charset="0"/>
                <a:cs typeface="Calibri" panose="020F0502020204030204" pitchFamily="34" charset="0"/>
              </a:rPr>
              <a:t> - </a:t>
            </a:r>
            <a:r>
              <a:rPr lang="en-US" dirty="0">
                <a:latin typeface="Calibri" panose="020F0502020204030204" pitchFamily="34" charset="0"/>
                <a:cs typeface="Calibri" panose="020F0502020204030204" pitchFamily="34" charset="0"/>
              </a:rPr>
              <a:t>commercial activities b/w </a:t>
            </a:r>
            <a:r>
              <a:rPr lang="en-US" dirty="0">
                <a:solidFill>
                  <a:srgbClr val="FF0000"/>
                </a:solidFill>
                <a:latin typeface="Calibri" panose="020F0502020204030204" pitchFamily="34" charset="0"/>
                <a:cs typeface="Calibri" panose="020F0502020204030204" pitchFamily="34" charset="0"/>
              </a:rPr>
              <a:t>buyer and seller </a:t>
            </a:r>
            <a:r>
              <a:rPr lang="en-US" dirty="0">
                <a:latin typeface="Calibri" panose="020F0502020204030204" pitchFamily="34" charset="0"/>
                <a:cs typeface="Calibri" panose="020F0502020204030204" pitchFamily="34" charset="0"/>
              </a:rPr>
              <a:t>using </a:t>
            </a:r>
            <a:r>
              <a:rPr lang="en-US" dirty="0">
                <a:solidFill>
                  <a:srgbClr val="FF0000"/>
                </a:solidFill>
                <a:latin typeface="Calibri" panose="020F0502020204030204" pitchFamily="34" charset="0"/>
                <a:cs typeface="Calibri" panose="020F0502020204030204" pitchFamily="34" charset="0"/>
              </a:rPr>
              <a:t>peer-peer</a:t>
            </a:r>
            <a:r>
              <a:rPr lang="en-US" dirty="0">
                <a:latin typeface="Calibri" panose="020F0502020204030204" pitchFamily="34" charset="0"/>
                <a:cs typeface="Calibri" panose="020F0502020204030204" pitchFamily="34" charset="0"/>
              </a:rPr>
              <a:t>, uses </a:t>
            </a:r>
            <a:r>
              <a:rPr lang="en-US" dirty="0">
                <a:solidFill>
                  <a:srgbClr val="FF0000"/>
                </a:solidFill>
                <a:latin typeface="Calibri" panose="020F0502020204030204" pitchFamily="34" charset="0"/>
                <a:cs typeface="Calibri" panose="020F0502020204030204" pitchFamily="34" charset="0"/>
              </a:rPr>
              <a:t>DHTs</a:t>
            </a:r>
            <a:r>
              <a:rPr lang="en-US" dirty="0">
                <a:latin typeface="Calibri" panose="020F0502020204030204" pitchFamily="34" charset="0"/>
                <a:cs typeface="Calibri" panose="020F0502020204030204" pitchFamily="34" charset="0"/>
              </a:rPr>
              <a:t>, It makes use of bitcoin as a payment network </a:t>
            </a:r>
            <a:endParaRPr lang="en-IN" dirty="0">
              <a:latin typeface="Calibri" panose="020F0502020204030204" pitchFamily="34" charset="0"/>
              <a:cs typeface="Calibri" panose="020F0502020204030204" pitchFamily="34" charset="0"/>
            </a:endParaRPr>
          </a:p>
          <a:p>
            <a:pPr algn="just">
              <a:spcBef>
                <a:spcPts val="600"/>
              </a:spcBef>
              <a:spcAft>
                <a:spcPts val="600"/>
              </a:spcAft>
              <a:defRPr/>
            </a:pPr>
            <a:r>
              <a:rPr lang="en-US" dirty="0" err="1">
                <a:solidFill>
                  <a:srgbClr val="6666FF"/>
                </a:solidFill>
                <a:latin typeface="Calibri" panose="020F0502020204030204" pitchFamily="34" charset="0"/>
                <a:cs typeface="Calibri" panose="020F0502020204030204" pitchFamily="34" charset="0"/>
              </a:rPr>
              <a:t>Lazooz</a:t>
            </a:r>
            <a:r>
              <a:rPr lang="en-US" dirty="0">
                <a:solidFill>
                  <a:srgbClr val="6666FF"/>
                </a:solidFill>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  smart transportation; It allows peer-to-peer ride sharing and users can be incentivized by proof of movement</a:t>
            </a:r>
            <a:endParaRPr lang="en-US" dirty="0">
              <a:solidFill>
                <a:srgbClr val="FF0000"/>
              </a:solidFill>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805864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E8BBB-E3D3-4B4D-A254-22ADF744FADD}"/>
              </a:ext>
            </a:extLst>
          </p:cNvPr>
          <p:cNvSpPr>
            <a:spLocks noGrp="1"/>
          </p:cNvSpPr>
          <p:nvPr>
            <p:ph type="title"/>
          </p:nvPr>
        </p:nvSpPr>
        <p:spPr>
          <a:xfrm>
            <a:off x="838200" y="365125"/>
            <a:ext cx="10515600" cy="576571"/>
          </a:xfrm>
        </p:spPr>
        <p:txBody>
          <a:bodyPr>
            <a:normAutofit fontScale="90000"/>
          </a:bodyPr>
          <a:lstStyle/>
          <a:p>
            <a:r>
              <a:rPr lang="en-US" dirty="0"/>
              <a:t>     </a:t>
            </a:r>
            <a:r>
              <a:rPr lang="en-US" b="1" dirty="0"/>
              <a:t>PLATFORMS FOR DECENTRALIZATION</a:t>
            </a:r>
            <a:endParaRPr lang="en-IN" b="1" dirty="0"/>
          </a:p>
        </p:txBody>
      </p:sp>
      <p:sp>
        <p:nvSpPr>
          <p:cNvPr id="3" name="Content Placeholder 2">
            <a:extLst>
              <a:ext uri="{FF2B5EF4-FFF2-40B4-BE49-F238E27FC236}">
                <a16:creationId xmlns:a16="http://schemas.microsoft.com/office/drawing/2014/main" id="{2456EFBE-15BF-5C52-D37B-1510D3A93ED8}"/>
              </a:ext>
            </a:extLst>
          </p:cNvPr>
          <p:cNvSpPr>
            <a:spLocks noGrp="1"/>
          </p:cNvSpPr>
          <p:nvPr>
            <p:ph idx="1"/>
          </p:nvPr>
        </p:nvSpPr>
        <p:spPr>
          <a:xfrm>
            <a:off x="286604" y="1103204"/>
            <a:ext cx="11217322" cy="5754795"/>
          </a:xfrm>
        </p:spPr>
        <p:txBody>
          <a:bodyPr>
            <a:noAutofit/>
          </a:bodyPr>
          <a:lstStyle/>
          <a:p>
            <a:pPr algn="just">
              <a:buFont typeface="Wingdings" panose="05000000000000000000" pitchFamily="2" charset="2"/>
              <a:buChar char="Ø"/>
            </a:pPr>
            <a:r>
              <a:rPr lang="en-US" sz="2400" dirty="0"/>
              <a:t> There are many platforms available for decentralization now.</a:t>
            </a:r>
          </a:p>
          <a:p>
            <a:pPr algn="just">
              <a:buFont typeface="Wingdings" panose="05000000000000000000" pitchFamily="2" charset="2"/>
              <a:buChar char="Ø"/>
            </a:pPr>
            <a:endParaRPr lang="en-US" sz="2400" dirty="0"/>
          </a:p>
          <a:p>
            <a:pPr algn="just">
              <a:buFont typeface="Wingdings" panose="05000000000000000000" pitchFamily="2" charset="2"/>
              <a:buChar char="Ø"/>
            </a:pPr>
            <a:r>
              <a:rPr lang="en-US" sz="2400" dirty="0"/>
              <a:t>Some prominent names are discussed here. </a:t>
            </a:r>
          </a:p>
          <a:p>
            <a:pPr marL="0" indent="0" algn="just">
              <a:buNone/>
            </a:pPr>
            <a:r>
              <a:rPr lang="en-US" sz="2400" dirty="0"/>
              <a:t>1.Ethereum</a:t>
            </a:r>
          </a:p>
          <a:p>
            <a:pPr marL="0" indent="0" algn="just">
              <a:buNone/>
            </a:pPr>
            <a:r>
              <a:rPr lang="en-US" sz="2400" dirty="0"/>
              <a:t>2.Maidsafe</a:t>
            </a:r>
          </a:p>
          <a:p>
            <a:pPr marL="0" indent="0" algn="just">
              <a:buNone/>
            </a:pPr>
            <a:r>
              <a:rPr lang="en-US" sz="2400" dirty="0"/>
              <a:t>3.Lisk</a:t>
            </a:r>
          </a:p>
          <a:p>
            <a:pPr algn="just">
              <a:buFont typeface="Wingdings" panose="05000000000000000000" pitchFamily="2" charset="2"/>
              <a:buChar char="Ø"/>
            </a:pPr>
            <a:endParaRPr lang="en-IN" sz="2400" dirty="0">
              <a:highlight>
                <a:srgbClr val="FF0000"/>
              </a:highlight>
            </a:endParaRPr>
          </a:p>
        </p:txBody>
      </p:sp>
    </p:spTree>
    <p:extLst>
      <p:ext uri="{BB962C8B-B14F-4D97-AF65-F5344CB8AC3E}">
        <p14:creationId xmlns:p14="http://schemas.microsoft.com/office/powerpoint/2010/main" val="40422589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3AF063-2587-F9B8-57A3-A1738DB96013}"/>
              </a:ext>
            </a:extLst>
          </p:cNvPr>
          <p:cNvSpPr>
            <a:spLocks noGrp="1"/>
          </p:cNvSpPr>
          <p:nvPr>
            <p:ph idx="1"/>
          </p:nvPr>
        </p:nvSpPr>
        <p:spPr>
          <a:xfrm>
            <a:off x="548640" y="508000"/>
            <a:ext cx="10805160" cy="5668963"/>
          </a:xfrm>
        </p:spPr>
        <p:txBody>
          <a:bodyPr/>
          <a:lstStyle/>
          <a:p>
            <a:pPr>
              <a:buNone/>
            </a:pPr>
            <a:r>
              <a:rPr lang="en-US" b="1" dirty="0"/>
              <a:t>1) </a:t>
            </a:r>
            <a:r>
              <a:rPr lang="en-US" b="1" dirty="0">
                <a:solidFill>
                  <a:srgbClr val="FF0000"/>
                </a:solidFill>
              </a:rPr>
              <a:t>Ethereum</a:t>
            </a:r>
            <a:endParaRPr lang="en-US" dirty="0">
              <a:solidFill>
                <a:srgbClr val="FF0000"/>
              </a:solidFill>
            </a:endParaRPr>
          </a:p>
          <a:p>
            <a:pPr>
              <a:buFont typeface="Arial" panose="020B0604020202020204" pitchFamily="34" charset="0"/>
              <a:buChar char="•"/>
            </a:pPr>
            <a:r>
              <a:rPr lang="en-US" dirty="0"/>
              <a:t>First blockchain to introduce a </a:t>
            </a:r>
            <a:r>
              <a:rPr lang="en-US" b="1" dirty="0"/>
              <a:t>Turing-complete language (Solidity)</a:t>
            </a:r>
            <a:r>
              <a:rPr lang="en-US" dirty="0"/>
              <a:t> for smart contracts.</a:t>
            </a:r>
          </a:p>
          <a:p>
            <a:pPr>
              <a:buFont typeface="Arial" panose="020B0604020202020204" pitchFamily="34" charset="0"/>
              <a:buChar char="•"/>
            </a:pPr>
            <a:r>
              <a:rPr lang="en-US" dirty="0"/>
              <a:t>Supports </a:t>
            </a:r>
            <a:r>
              <a:rPr lang="en-US" b="1" dirty="0"/>
              <a:t>decentralized applications (</a:t>
            </a:r>
            <a:r>
              <a:rPr lang="en-US" b="1" dirty="0" err="1"/>
              <a:t>dApps</a:t>
            </a:r>
            <a:r>
              <a:rPr lang="en-US" b="1" dirty="0"/>
              <a:t>)</a:t>
            </a:r>
            <a:r>
              <a:rPr lang="en-US" dirty="0"/>
              <a:t> and </a:t>
            </a:r>
            <a:r>
              <a:rPr lang="en-US" b="1" dirty="0"/>
              <a:t>smart contracts</a:t>
            </a:r>
            <a:r>
              <a:rPr lang="en-US" dirty="0"/>
              <a:t>.</a:t>
            </a:r>
          </a:p>
          <a:p>
            <a:pPr>
              <a:buFont typeface="Arial" panose="020B0604020202020204" pitchFamily="34" charset="0"/>
              <a:buChar char="•"/>
            </a:pPr>
            <a:r>
              <a:rPr lang="en-US" dirty="0"/>
              <a:t>Uses </a:t>
            </a:r>
            <a:r>
              <a:rPr lang="en-US" b="1" dirty="0"/>
              <a:t>Ethers (ETH)</a:t>
            </a:r>
            <a:r>
              <a:rPr lang="en-US" dirty="0"/>
              <a:t> as its currency token.</a:t>
            </a:r>
          </a:p>
          <a:p>
            <a:pPr>
              <a:buNone/>
            </a:pPr>
            <a:r>
              <a:rPr lang="en-US" b="1" dirty="0"/>
              <a:t>2) </a:t>
            </a:r>
            <a:r>
              <a:rPr lang="en-US" b="1" dirty="0" err="1">
                <a:solidFill>
                  <a:srgbClr val="FF0000"/>
                </a:solidFill>
              </a:rPr>
              <a:t>Maidsafe</a:t>
            </a:r>
            <a:endParaRPr lang="en-US" dirty="0">
              <a:solidFill>
                <a:srgbClr val="FF0000"/>
              </a:solidFill>
            </a:endParaRPr>
          </a:p>
          <a:p>
            <a:pPr>
              <a:buFont typeface="Arial" panose="020B0604020202020204" pitchFamily="34" charset="0"/>
              <a:buChar char="•"/>
            </a:pPr>
            <a:r>
              <a:rPr lang="en-US" dirty="0"/>
              <a:t>Focuses on a </a:t>
            </a:r>
            <a:r>
              <a:rPr lang="en-US" b="1" dirty="0"/>
              <a:t>decentralized internet</a:t>
            </a:r>
            <a:r>
              <a:rPr lang="en-US" dirty="0"/>
              <a:t> using a </a:t>
            </a:r>
            <a:r>
              <a:rPr lang="en-US" b="1" dirty="0"/>
              <a:t>Secure Access for Everyone (SAFE) network</a:t>
            </a:r>
            <a:r>
              <a:rPr lang="en-US" dirty="0"/>
              <a:t>.</a:t>
            </a:r>
          </a:p>
          <a:p>
            <a:pPr>
              <a:buFont typeface="Arial" panose="020B0604020202020204" pitchFamily="34" charset="0"/>
              <a:buChar char="•"/>
            </a:pPr>
            <a:r>
              <a:rPr lang="en-US" dirty="0"/>
              <a:t>Utilizes </a:t>
            </a:r>
            <a:r>
              <a:rPr lang="en-US" b="1" dirty="0"/>
              <a:t>unused computing resources</a:t>
            </a:r>
            <a:r>
              <a:rPr lang="en-US" dirty="0"/>
              <a:t> like storage, processing power, and data connections.</a:t>
            </a:r>
          </a:p>
          <a:p>
            <a:pPr>
              <a:buFont typeface="Arial" panose="020B0604020202020204" pitchFamily="34" charset="0"/>
              <a:buChar char="•"/>
            </a:pPr>
            <a:r>
              <a:rPr lang="en-US" dirty="0"/>
              <a:t>Not a traditional blockchain but a </a:t>
            </a:r>
            <a:r>
              <a:rPr lang="en-US" b="1" dirty="0"/>
              <a:t>distributed storage network</a:t>
            </a:r>
            <a:r>
              <a:rPr lang="en-US" dirty="0"/>
              <a:t>.</a:t>
            </a:r>
          </a:p>
          <a:p>
            <a:pPr>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2341638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C5EE23-F304-BF33-9633-A59848E0D100}"/>
              </a:ext>
            </a:extLst>
          </p:cNvPr>
          <p:cNvSpPr>
            <a:spLocks noGrp="1"/>
          </p:cNvSpPr>
          <p:nvPr>
            <p:ph idx="1"/>
          </p:nvPr>
        </p:nvSpPr>
        <p:spPr>
          <a:xfrm>
            <a:off x="629920" y="609600"/>
            <a:ext cx="10723880" cy="5567363"/>
          </a:xfrm>
        </p:spPr>
        <p:txBody>
          <a:bodyPr/>
          <a:lstStyle/>
          <a:p>
            <a:pPr>
              <a:buNone/>
            </a:pPr>
            <a:r>
              <a:rPr lang="en-IN" b="1" dirty="0"/>
              <a:t>3) </a:t>
            </a:r>
            <a:r>
              <a:rPr lang="en-IN" b="1" dirty="0">
                <a:solidFill>
                  <a:srgbClr val="FF0000"/>
                </a:solidFill>
              </a:rPr>
              <a:t>Lisk (LSK)</a:t>
            </a:r>
            <a:endParaRPr lang="en-IN" dirty="0">
              <a:solidFill>
                <a:srgbClr val="FF0000"/>
              </a:solidFill>
            </a:endParaRPr>
          </a:p>
          <a:p>
            <a:pPr>
              <a:buFont typeface="Arial" panose="020B0604020202020204" pitchFamily="34" charset="0"/>
              <a:buChar char="•"/>
            </a:pPr>
            <a:r>
              <a:rPr lang="en-IN" dirty="0"/>
              <a:t>A blockchain designed for </a:t>
            </a:r>
            <a:r>
              <a:rPr lang="en-IN" b="1" dirty="0"/>
              <a:t>JavaScript-based </a:t>
            </a:r>
            <a:r>
              <a:rPr lang="en-IN" b="1" dirty="0" err="1"/>
              <a:t>dApps</a:t>
            </a:r>
            <a:r>
              <a:rPr lang="en-IN" dirty="0"/>
              <a:t>.</a:t>
            </a:r>
          </a:p>
          <a:p>
            <a:pPr>
              <a:buFont typeface="Arial" panose="020B0604020202020204" pitchFamily="34" charset="0"/>
              <a:buChar char="•"/>
            </a:pPr>
            <a:r>
              <a:rPr lang="en-IN" dirty="0"/>
              <a:t>Unlike Ethereum, which requires Solidity, Lisk uses </a:t>
            </a:r>
            <a:r>
              <a:rPr lang="en-IN" b="1" dirty="0"/>
              <a:t>JavaScript &amp; TypeScript</a:t>
            </a:r>
            <a:r>
              <a:rPr lang="en-IN" dirty="0"/>
              <a:t> for development.</a:t>
            </a:r>
          </a:p>
          <a:p>
            <a:pPr>
              <a:buFont typeface="Arial" panose="020B0604020202020204" pitchFamily="34" charset="0"/>
              <a:buChar char="•"/>
            </a:pPr>
            <a:r>
              <a:rPr lang="en-IN" dirty="0"/>
              <a:t>Features a </a:t>
            </a:r>
            <a:r>
              <a:rPr lang="en-IN" b="1" dirty="0"/>
              <a:t>Sidechain Development Kit (SDK)</a:t>
            </a:r>
            <a:r>
              <a:rPr lang="en-IN" dirty="0"/>
              <a:t>, allowing independent blockchains to connect to its mainchain.</a:t>
            </a:r>
          </a:p>
          <a:p>
            <a:endParaRPr lang="en-IN" dirty="0"/>
          </a:p>
        </p:txBody>
      </p:sp>
    </p:spTree>
    <p:extLst>
      <p:ext uri="{BB962C8B-B14F-4D97-AF65-F5344CB8AC3E}">
        <p14:creationId xmlns:p14="http://schemas.microsoft.com/office/powerpoint/2010/main" val="590991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8E43E-C39A-F8F3-8D64-7A57BB0F8291}"/>
              </a:ext>
            </a:extLst>
          </p:cNvPr>
          <p:cNvSpPr>
            <a:spLocks noGrp="1"/>
          </p:cNvSpPr>
          <p:nvPr>
            <p:ph type="title"/>
          </p:nvPr>
        </p:nvSpPr>
        <p:spPr>
          <a:xfrm>
            <a:off x="614680" y="18255"/>
            <a:ext cx="10515600" cy="1325563"/>
          </a:xfrm>
        </p:spPr>
        <p:txBody>
          <a:bodyPr/>
          <a:lstStyle/>
          <a:p>
            <a:pPr algn="ctr"/>
            <a:r>
              <a:rPr lang="en-IN" sz="4400" b="1" dirty="0">
                <a:solidFill>
                  <a:srgbClr val="C00000"/>
                </a:solidFill>
              </a:rPr>
              <a:t>Cryptography </a:t>
            </a:r>
            <a:r>
              <a:rPr lang="en-US" b="1" dirty="0">
                <a:solidFill>
                  <a:srgbClr val="C00000"/>
                </a:solidFill>
              </a:rPr>
              <a:t>and Technical Foundations </a:t>
            </a:r>
            <a:endParaRPr lang="en-IN" b="1" dirty="0">
              <a:solidFill>
                <a:srgbClr val="C00000"/>
              </a:solidFill>
            </a:endParaRPr>
          </a:p>
        </p:txBody>
      </p:sp>
      <p:sp>
        <p:nvSpPr>
          <p:cNvPr id="3" name="Content Placeholder 2">
            <a:extLst>
              <a:ext uri="{FF2B5EF4-FFF2-40B4-BE49-F238E27FC236}">
                <a16:creationId xmlns:a16="http://schemas.microsoft.com/office/drawing/2014/main" id="{D0359872-7A96-F4B0-F8FF-E6B059C92E06}"/>
              </a:ext>
            </a:extLst>
          </p:cNvPr>
          <p:cNvSpPr>
            <a:spLocks noGrp="1"/>
          </p:cNvSpPr>
          <p:nvPr>
            <p:ph idx="1"/>
          </p:nvPr>
        </p:nvSpPr>
        <p:spPr>
          <a:xfrm>
            <a:off x="838200" y="1343818"/>
            <a:ext cx="10515600" cy="4833145"/>
          </a:xfrm>
        </p:spPr>
        <p:txBody>
          <a:bodyPr/>
          <a:lstStyle/>
          <a:p>
            <a:pPr marL="0" indent="0">
              <a:buNone/>
            </a:pPr>
            <a:r>
              <a:rPr lang="en-IN" b="1" dirty="0"/>
              <a:t>Mathematics</a:t>
            </a:r>
          </a:p>
          <a:p>
            <a:pPr marL="0" indent="0">
              <a:buNone/>
            </a:pPr>
            <a:r>
              <a:rPr lang="en-GB" b="1" dirty="0"/>
              <a:t>Set: </a:t>
            </a:r>
            <a:r>
              <a:rPr lang="en-IN" dirty="0"/>
              <a:t>A set is a collection of distinct objects.</a:t>
            </a:r>
          </a:p>
          <a:p>
            <a:pPr marL="0" indent="0">
              <a:buNone/>
            </a:pPr>
            <a:r>
              <a:rPr lang="en-GB" b="1" dirty="0"/>
              <a:t>Group: </a:t>
            </a:r>
            <a:r>
              <a:rPr lang="en-IN" dirty="0"/>
              <a:t>A group is a commutative set with one operation that combines two elements of the set.</a:t>
            </a:r>
          </a:p>
          <a:p>
            <a:pPr marL="0" indent="0">
              <a:buNone/>
            </a:pPr>
            <a:r>
              <a:rPr lang="en-GB" b="1" dirty="0"/>
              <a:t>Field: </a:t>
            </a:r>
            <a:r>
              <a:rPr lang="en-IN" dirty="0"/>
              <a:t>A field is a set that contains both additive and multiplicative groups.</a:t>
            </a:r>
          </a:p>
          <a:p>
            <a:pPr marL="0" indent="0">
              <a:buNone/>
            </a:pPr>
            <a:r>
              <a:rPr lang="en-GB" b="1" dirty="0"/>
              <a:t>A finite field: </a:t>
            </a:r>
            <a:r>
              <a:rPr lang="en-IN" dirty="0"/>
              <a:t>A finite field is a field with a finite set of elements.</a:t>
            </a:r>
          </a:p>
          <a:p>
            <a:pPr marL="0" indent="0">
              <a:buNone/>
            </a:pPr>
            <a:r>
              <a:rPr lang="en-GB" b="1" dirty="0"/>
              <a:t>Oder: </a:t>
            </a:r>
            <a:r>
              <a:rPr lang="en-IN" dirty="0"/>
              <a:t>This is the number of elements in a field. It is also known as the cardinality of the field.</a:t>
            </a:r>
          </a:p>
          <a:p>
            <a:pPr marL="0" indent="0">
              <a:buNone/>
            </a:pPr>
            <a:r>
              <a:rPr lang="en-IN" b="1" dirty="0"/>
              <a:t>Prime fields: </a:t>
            </a:r>
            <a:r>
              <a:rPr lang="en-IN" dirty="0"/>
              <a:t>This is a finite field with a prime number of elements.</a:t>
            </a:r>
          </a:p>
          <a:p>
            <a:endParaRPr lang="en-IN" dirty="0"/>
          </a:p>
        </p:txBody>
      </p:sp>
    </p:spTree>
    <p:extLst>
      <p:ext uri="{BB962C8B-B14F-4D97-AF65-F5344CB8AC3E}">
        <p14:creationId xmlns:p14="http://schemas.microsoft.com/office/powerpoint/2010/main" val="24515842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CEC14E-CD8F-1AB2-34D9-E6178F76E3F0}"/>
              </a:ext>
            </a:extLst>
          </p:cNvPr>
          <p:cNvSpPr>
            <a:spLocks noGrp="1"/>
          </p:cNvSpPr>
          <p:nvPr>
            <p:ph idx="1"/>
          </p:nvPr>
        </p:nvSpPr>
        <p:spPr>
          <a:xfrm>
            <a:off x="769620" y="1082040"/>
            <a:ext cx="10652760" cy="4693920"/>
          </a:xfrm>
        </p:spPr>
        <p:txBody>
          <a:bodyPr/>
          <a:lstStyle/>
          <a:p>
            <a:r>
              <a:rPr lang="en-GB" b="1" dirty="0"/>
              <a:t>Ring</a:t>
            </a:r>
            <a:r>
              <a:rPr lang="en-GB" dirty="0"/>
              <a:t> : </a:t>
            </a:r>
            <a:r>
              <a:rPr lang="en-IN" dirty="0"/>
              <a:t>If more than one operation can be defined over an abelian group, that group becomes a ring.</a:t>
            </a:r>
          </a:p>
          <a:p>
            <a:r>
              <a:rPr lang="en-GB" b="1" dirty="0"/>
              <a:t>A Cyclic group</a:t>
            </a:r>
            <a:r>
              <a:rPr lang="en-GB" dirty="0"/>
              <a:t>: </a:t>
            </a:r>
            <a:r>
              <a:rPr lang="en-IN" dirty="0"/>
              <a:t>A cyclic group is a type of group that can be generated by a single element called the group generator.</a:t>
            </a:r>
          </a:p>
          <a:p>
            <a:r>
              <a:rPr lang="en-IN" b="1" dirty="0"/>
              <a:t>An abelian group :</a:t>
            </a:r>
            <a:r>
              <a:rPr lang="en-IN" dirty="0"/>
              <a:t>An abelian group is formed when the operation on the elements of a set is commutative.</a:t>
            </a:r>
            <a:r>
              <a:rPr lang="en-IN" i="1" dirty="0"/>
              <a:t> A X B = B X A</a:t>
            </a:r>
            <a:r>
              <a:rPr lang="en-IN" dirty="0"/>
              <a:t>.</a:t>
            </a:r>
          </a:p>
          <a:p>
            <a:r>
              <a:rPr lang="en-IN" b="1" dirty="0"/>
              <a:t>Modular arithmetic: </a:t>
            </a:r>
            <a:r>
              <a:rPr lang="en-IN" dirty="0"/>
              <a:t>known as clock arithmetic, numbers in modular arithmetic wrap around when they reach a certain fixed number.</a:t>
            </a:r>
          </a:p>
          <a:p>
            <a:endParaRPr lang="en-IN" dirty="0"/>
          </a:p>
        </p:txBody>
      </p:sp>
    </p:spTree>
    <p:extLst>
      <p:ext uri="{BB962C8B-B14F-4D97-AF65-F5344CB8AC3E}">
        <p14:creationId xmlns:p14="http://schemas.microsoft.com/office/powerpoint/2010/main" val="1782622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ABE4BC-D350-52C4-3426-5198F553BC6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Cryptography</a:t>
            </a:r>
            <a:endParaRPr lang="en-US" sz="3200" kern="1200">
              <a:solidFill>
                <a:schemeClr val="bg1"/>
              </a:solidFill>
              <a:latin typeface="+mj-lt"/>
              <a:ea typeface="+mj-ea"/>
              <a:cs typeface="+mj-cs"/>
            </a:endParaRPr>
          </a:p>
        </p:txBody>
      </p:sp>
      <p:pic>
        <p:nvPicPr>
          <p:cNvPr id="5" name="Content Placeholder 4" descr="A diagram of a computer system">
            <a:extLst>
              <a:ext uri="{FF2B5EF4-FFF2-40B4-BE49-F238E27FC236}">
                <a16:creationId xmlns:a16="http://schemas.microsoft.com/office/drawing/2014/main" id="{FA671696-B186-083B-6CD3-DDE3C6723A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0532" y="1675227"/>
            <a:ext cx="9710935" cy="4394199"/>
          </a:xfrm>
          <a:prstGeom prst="rect">
            <a:avLst/>
          </a:prstGeom>
        </p:spPr>
      </p:pic>
    </p:spTree>
    <p:extLst>
      <p:ext uri="{BB962C8B-B14F-4D97-AF65-F5344CB8AC3E}">
        <p14:creationId xmlns:p14="http://schemas.microsoft.com/office/powerpoint/2010/main" val="2448237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DF4ED-8212-5609-2AB1-2E253992851A}"/>
              </a:ext>
            </a:extLst>
          </p:cNvPr>
          <p:cNvSpPr>
            <a:spLocks noGrp="1"/>
          </p:cNvSpPr>
          <p:nvPr>
            <p:ph type="title"/>
          </p:nvPr>
        </p:nvSpPr>
        <p:spPr/>
        <p:txBody>
          <a:bodyPr/>
          <a:lstStyle/>
          <a:p>
            <a:r>
              <a:rPr lang="en-IN" b="1" dirty="0"/>
              <a:t>                             Cryptography</a:t>
            </a:r>
          </a:p>
        </p:txBody>
      </p:sp>
      <p:sp>
        <p:nvSpPr>
          <p:cNvPr id="3" name="Content Placeholder 2">
            <a:extLst>
              <a:ext uri="{FF2B5EF4-FFF2-40B4-BE49-F238E27FC236}">
                <a16:creationId xmlns:a16="http://schemas.microsoft.com/office/drawing/2014/main" id="{AA7D6BC5-9B9D-6F7C-57C4-848F34609964}"/>
              </a:ext>
            </a:extLst>
          </p:cNvPr>
          <p:cNvSpPr>
            <a:spLocks noGrp="1"/>
          </p:cNvSpPr>
          <p:nvPr>
            <p:ph idx="1"/>
          </p:nvPr>
        </p:nvSpPr>
        <p:spPr/>
        <p:txBody>
          <a:bodyPr/>
          <a:lstStyle/>
          <a:p>
            <a:pPr>
              <a:buFont typeface="Wingdings" panose="05000000000000000000" pitchFamily="2" charset="2"/>
              <a:buChar char="Ø"/>
            </a:pPr>
            <a:r>
              <a:rPr lang="en-US" dirty="0"/>
              <a:t> Cryptography provides various security services, and these security services are discussed here.</a:t>
            </a:r>
          </a:p>
          <a:p>
            <a:pPr>
              <a:buFont typeface="Wingdings" panose="05000000000000000000" pitchFamily="2" charset="2"/>
              <a:buChar char="Ø"/>
            </a:pPr>
            <a:endParaRPr lang="en-US" dirty="0"/>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151D6428-134D-8A38-DA4A-8D29AE487941}"/>
              </a:ext>
            </a:extLst>
          </p:cNvPr>
          <p:cNvPicPr>
            <a:picLocks noChangeAspect="1"/>
          </p:cNvPicPr>
          <p:nvPr/>
        </p:nvPicPr>
        <p:blipFill>
          <a:blip r:embed="rId2"/>
          <a:stretch>
            <a:fillRect/>
          </a:stretch>
        </p:blipFill>
        <p:spPr>
          <a:xfrm>
            <a:off x="1166190" y="3283226"/>
            <a:ext cx="9341333" cy="2519778"/>
          </a:xfrm>
          <a:prstGeom prst="rect">
            <a:avLst/>
          </a:prstGeom>
        </p:spPr>
      </p:pic>
    </p:spTree>
    <p:extLst>
      <p:ext uri="{BB962C8B-B14F-4D97-AF65-F5344CB8AC3E}">
        <p14:creationId xmlns:p14="http://schemas.microsoft.com/office/powerpoint/2010/main" val="10261802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34231-F2B9-E25D-BC59-B9AE867D0D32}"/>
              </a:ext>
            </a:extLst>
          </p:cNvPr>
          <p:cNvSpPr>
            <a:spLocks noGrp="1"/>
          </p:cNvSpPr>
          <p:nvPr>
            <p:ph type="title"/>
          </p:nvPr>
        </p:nvSpPr>
        <p:spPr>
          <a:xfrm>
            <a:off x="320040" y="-307182"/>
            <a:ext cx="10515600" cy="1325563"/>
          </a:xfrm>
        </p:spPr>
        <p:txBody>
          <a:bodyPr/>
          <a:lstStyle/>
          <a:p>
            <a:pPr algn="ctr"/>
            <a:r>
              <a:rPr lang="en-IN" sz="4400" b="1" i="0" u="none" strike="noStrike" baseline="0" dirty="0">
                <a:latin typeface="Times New Roman" panose="02020603050405020304" pitchFamily="18" charset="0"/>
                <a:cs typeface="Times New Roman" panose="02020603050405020304" pitchFamily="18" charset="0"/>
              </a:rPr>
              <a:t>Cryptography</a:t>
            </a:r>
            <a:endParaRPr lang="en-IN" dirty="0"/>
          </a:p>
        </p:txBody>
      </p:sp>
      <p:sp>
        <p:nvSpPr>
          <p:cNvPr id="3" name="Content Placeholder 2">
            <a:extLst>
              <a:ext uri="{FF2B5EF4-FFF2-40B4-BE49-F238E27FC236}">
                <a16:creationId xmlns:a16="http://schemas.microsoft.com/office/drawing/2014/main" id="{6E80F1B9-DD64-4CEF-197D-6B9E9230F2F5}"/>
              </a:ext>
            </a:extLst>
          </p:cNvPr>
          <p:cNvSpPr>
            <a:spLocks noGrp="1"/>
          </p:cNvSpPr>
          <p:nvPr>
            <p:ph idx="1"/>
          </p:nvPr>
        </p:nvSpPr>
        <p:spPr>
          <a:xfrm>
            <a:off x="589280" y="904240"/>
            <a:ext cx="10764520" cy="5272723"/>
          </a:xfrm>
        </p:spPr>
        <p:txBody>
          <a:bodyPr>
            <a:normAutofit/>
          </a:bodyPr>
          <a:lstStyle/>
          <a:p>
            <a:pPr algn="l">
              <a:buFont typeface="Wingdings" panose="05000000000000000000" pitchFamily="2" charset="2"/>
              <a:buChar char="Ø"/>
            </a:pPr>
            <a:r>
              <a:rPr lang="en-IN" sz="2800" b="1" i="0" u="none" strike="noStrike" baseline="0" dirty="0">
                <a:latin typeface="Times New Roman" panose="02020603050405020304" pitchFamily="18" charset="0"/>
                <a:cs typeface="Times New Roman" panose="02020603050405020304" pitchFamily="18" charset="0"/>
              </a:rPr>
              <a:t>Confidentiality</a:t>
            </a:r>
          </a:p>
          <a:p>
            <a:pPr algn="l"/>
            <a:r>
              <a:rPr lang="en-IN" sz="2800" b="0" i="0" u="none" strike="noStrike" baseline="0" dirty="0">
                <a:latin typeface="Times New Roman" panose="02020603050405020304" pitchFamily="18" charset="0"/>
                <a:cs typeface="Times New Roman" panose="02020603050405020304" pitchFamily="18" charset="0"/>
              </a:rPr>
              <a:t>Confidentiality is the assurance that information is only available to authorized entities.</a:t>
            </a:r>
          </a:p>
          <a:p>
            <a:pPr algn="l">
              <a:buFont typeface="Wingdings" panose="05000000000000000000" pitchFamily="2" charset="2"/>
              <a:buChar char="Ø"/>
            </a:pPr>
            <a:r>
              <a:rPr lang="en-IN" sz="2800" b="1" i="0" u="none" strike="noStrike" baseline="0" dirty="0">
                <a:latin typeface="Times New Roman" panose="02020603050405020304" pitchFamily="18" charset="0"/>
                <a:cs typeface="Times New Roman" panose="02020603050405020304" pitchFamily="18" charset="0"/>
              </a:rPr>
              <a:t>Integrity</a:t>
            </a:r>
          </a:p>
          <a:p>
            <a:pPr algn="l"/>
            <a:r>
              <a:rPr lang="en-IN" sz="2800" b="0" i="0" u="none" strike="noStrike" baseline="0" dirty="0">
                <a:latin typeface="Times New Roman" panose="02020603050405020304" pitchFamily="18" charset="0"/>
                <a:cs typeface="Times New Roman" panose="02020603050405020304" pitchFamily="18" charset="0"/>
              </a:rPr>
              <a:t>Integrity is the assurance that information is modifiable only by authorized entities.</a:t>
            </a:r>
          </a:p>
          <a:p>
            <a:pPr algn="l">
              <a:buFont typeface="Wingdings" panose="05000000000000000000" pitchFamily="2" charset="2"/>
              <a:buChar char="Ø"/>
            </a:pPr>
            <a:r>
              <a:rPr lang="en-IN" sz="2800" b="1" i="0" u="none" strike="noStrike" baseline="0" dirty="0">
                <a:latin typeface="Times New Roman" panose="02020603050405020304" pitchFamily="18" charset="0"/>
                <a:cs typeface="Times New Roman" panose="02020603050405020304" pitchFamily="18" charset="0"/>
              </a:rPr>
              <a:t>Authentication</a:t>
            </a:r>
          </a:p>
          <a:p>
            <a:pPr algn="l"/>
            <a:r>
              <a:rPr lang="en-IN" sz="2800" b="0" i="0" u="none" strike="noStrike" baseline="0" dirty="0">
                <a:latin typeface="Times New Roman" panose="02020603050405020304" pitchFamily="18" charset="0"/>
                <a:cs typeface="Times New Roman" panose="02020603050405020304" pitchFamily="18" charset="0"/>
              </a:rPr>
              <a:t>Authentication provides assurance about the identity of an entity or the validity of a message. There are two types of authentications</a:t>
            </a:r>
          </a:p>
          <a:p>
            <a:pPr marL="342900" indent="-342900" algn="l">
              <a:buAutoNum type="arabicPeriod"/>
            </a:pPr>
            <a:r>
              <a:rPr lang="en-IN" sz="2800" b="1" i="0" u="none" strike="noStrike" baseline="0" dirty="0">
                <a:latin typeface="Times New Roman" panose="02020603050405020304" pitchFamily="18" charset="0"/>
                <a:cs typeface="Times New Roman" panose="02020603050405020304" pitchFamily="18" charset="0"/>
              </a:rPr>
              <a:t>Entity authentication</a:t>
            </a:r>
          </a:p>
          <a:p>
            <a:pPr marL="342900" indent="-342900" algn="l">
              <a:buAutoNum type="arabicPeriod"/>
            </a:pPr>
            <a:r>
              <a:rPr lang="en-IN" sz="2800" b="1" i="0" u="none" strike="noStrike" baseline="0" dirty="0">
                <a:latin typeface="Times New Roman" panose="02020603050405020304" pitchFamily="18" charset="0"/>
                <a:cs typeface="Times New Roman" panose="02020603050405020304" pitchFamily="18" charset="0"/>
              </a:rPr>
              <a:t>Data origin authentication</a:t>
            </a: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783061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8C46AF-6785-05E2-7E01-5525D228A305}"/>
              </a:ext>
            </a:extLst>
          </p:cNvPr>
          <p:cNvSpPr>
            <a:spLocks noGrp="1"/>
          </p:cNvSpPr>
          <p:nvPr>
            <p:ph idx="1"/>
          </p:nvPr>
        </p:nvSpPr>
        <p:spPr>
          <a:xfrm>
            <a:off x="579120" y="426720"/>
            <a:ext cx="10774680" cy="5750243"/>
          </a:xfrm>
        </p:spPr>
        <p:txBody>
          <a:bodyPr>
            <a:normAutofit/>
          </a:bodyPr>
          <a:lstStyle/>
          <a:p>
            <a:r>
              <a:rPr lang="en-IN" sz="2800" b="1" i="0" u="none" strike="noStrike" baseline="0" dirty="0">
                <a:latin typeface="Times New Roman" panose="02020603050405020304" pitchFamily="18" charset="0"/>
                <a:cs typeface="Times New Roman" panose="02020603050405020304" pitchFamily="18" charset="0"/>
              </a:rPr>
              <a:t>Entity authentication</a:t>
            </a:r>
          </a:p>
          <a:p>
            <a:pPr algn="just"/>
            <a:r>
              <a:rPr lang="en-IN" sz="2800" b="0" i="0" u="none" strike="noStrike" baseline="0" dirty="0">
                <a:latin typeface="Times New Roman" panose="02020603050405020304" pitchFamily="18" charset="0"/>
                <a:cs typeface="Times New Roman" panose="02020603050405020304" pitchFamily="18" charset="0"/>
              </a:rPr>
              <a:t>Entity authentication is the assurance that an entity is currently involved and active in a communication session.</a:t>
            </a:r>
          </a:p>
          <a:p>
            <a:pPr algn="just"/>
            <a:r>
              <a:rPr lang="en-IN" sz="2800" b="0" i="0" u="none" strike="noStrike" baseline="0" dirty="0">
                <a:latin typeface="Times New Roman" panose="02020603050405020304" pitchFamily="18" charset="0"/>
                <a:cs typeface="Times New Roman" panose="02020603050405020304" pitchFamily="18" charset="0"/>
              </a:rPr>
              <a:t>This type of authentication is not very secure due to various reasons, such as password leakage.</a:t>
            </a:r>
          </a:p>
          <a:p>
            <a:pPr algn="just"/>
            <a:r>
              <a:rPr lang="en-IN" sz="2800" b="0" i="0" u="none" strike="noStrike" baseline="0" dirty="0">
                <a:latin typeface="Times New Roman" panose="02020603050405020304" pitchFamily="18" charset="0"/>
                <a:cs typeface="Times New Roman" panose="02020603050405020304" pitchFamily="18" charset="0"/>
              </a:rPr>
              <a:t>The use of additional techniques for user identification is known as </a:t>
            </a:r>
            <a:r>
              <a:rPr lang="en-IN" sz="2800" b="1" i="0" u="none" strike="noStrike" baseline="0" dirty="0">
                <a:latin typeface="Times New Roman" panose="02020603050405020304" pitchFamily="18" charset="0"/>
                <a:cs typeface="Times New Roman" panose="02020603050405020304" pitchFamily="18" charset="0"/>
              </a:rPr>
              <a:t>multifactor authentication </a:t>
            </a:r>
            <a:r>
              <a:rPr lang="en-IN" sz="2800" b="0" i="0" u="none" strike="noStrike" baseline="0" dirty="0">
                <a:latin typeface="Times New Roman" panose="02020603050405020304" pitchFamily="18" charset="0"/>
                <a:cs typeface="Times New Roman" panose="02020603050405020304" pitchFamily="18" charset="0"/>
              </a:rPr>
              <a:t>or </a:t>
            </a:r>
            <a:r>
              <a:rPr lang="en-IN" sz="2800" b="1" i="0" u="none" strike="noStrike" baseline="0" dirty="0">
                <a:latin typeface="Times New Roman" panose="02020603050405020304" pitchFamily="18" charset="0"/>
                <a:cs typeface="Times New Roman" panose="02020603050405020304" pitchFamily="18" charset="0"/>
              </a:rPr>
              <a:t>two-factor authentication.</a:t>
            </a:r>
          </a:p>
          <a:p>
            <a:pPr algn="just"/>
            <a:r>
              <a:rPr lang="en-IN" sz="2800" dirty="0">
                <a:latin typeface="Times New Roman" panose="02020603050405020304" pitchFamily="18" charset="0"/>
                <a:cs typeface="Times New Roman" panose="02020603050405020304" pitchFamily="18" charset="0"/>
              </a:rPr>
              <a:t>Various factors are described here:</a:t>
            </a:r>
          </a:p>
          <a:p>
            <a:pPr marL="0" indent="0" algn="just">
              <a:buNone/>
            </a:pPr>
            <a:r>
              <a:rPr lang="en-IN" sz="2800" dirty="0">
                <a:latin typeface="Times New Roman" panose="02020603050405020304" pitchFamily="18" charset="0"/>
                <a:cs typeface="Times New Roman" panose="02020603050405020304" pitchFamily="18" charset="0"/>
              </a:rPr>
              <a:t>1. The first factor is something you have, such as a hardware token or smart card.</a:t>
            </a:r>
          </a:p>
          <a:p>
            <a:pPr marL="0" indent="0" algn="just">
              <a:buNone/>
            </a:pPr>
            <a:r>
              <a:rPr lang="en-IN" sz="2800" dirty="0">
                <a:latin typeface="Times New Roman" panose="02020603050405020304" pitchFamily="18" charset="0"/>
                <a:cs typeface="Times New Roman" panose="02020603050405020304" pitchFamily="18" charset="0"/>
              </a:rPr>
              <a:t>2. The second factor is something you are, which uses biometric features in order to identify the user.</a:t>
            </a:r>
          </a:p>
          <a:p>
            <a:endParaRPr lang="en-IN" dirty="0"/>
          </a:p>
        </p:txBody>
      </p:sp>
    </p:spTree>
    <p:extLst>
      <p:ext uri="{BB962C8B-B14F-4D97-AF65-F5344CB8AC3E}">
        <p14:creationId xmlns:p14="http://schemas.microsoft.com/office/powerpoint/2010/main" val="35939481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5E146E-EC42-3BDC-1901-15EDE56097D2}"/>
              </a:ext>
            </a:extLst>
          </p:cNvPr>
          <p:cNvSpPr>
            <a:spLocks noGrp="1"/>
          </p:cNvSpPr>
          <p:nvPr>
            <p:ph idx="1"/>
          </p:nvPr>
        </p:nvSpPr>
        <p:spPr>
          <a:xfrm>
            <a:off x="629920" y="467360"/>
            <a:ext cx="10723880" cy="5709603"/>
          </a:xfrm>
        </p:spPr>
        <p:txBody>
          <a:bodyPr/>
          <a:lstStyle/>
          <a:p>
            <a:r>
              <a:rPr lang="en-IN" sz="2800" b="1" i="0" u="none" strike="noStrike" baseline="0" dirty="0">
                <a:latin typeface="Times New Roman" panose="02020603050405020304" pitchFamily="18" charset="0"/>
                <a:cs typeface="Times New Roman" panose="02020603050405020304" pitchFamily="18" charset="0"/>
              </a:rPr>
              <a:t>Data origin authentication</a:t>
            </a:r>
          </a:p>
          <a:p>
            <a:pPr algn="just"/>
            <a:r>
              <a:rPr lang="en-IN" sz="2800" dirty="0">
                <a:latin typeface="Times New Roman" panose="02020603050405020304" pitchFamily="18" charset="0"/>
                <a:cs typeface="Times New Roman" panose="02020603050405020304" pitchFamily="18" charset="0"/>
              </a:rPr>
              <a:t>T</a:t>
            </a:r>
            <a:r>
              <a:rPr lang="en-IN" sz="2800" b="0" i="0" u="none" strike="noStrike" baseline="0" dirty="0">
                <a:latin typeface="Times New Roman" panose="02020603050405020304" pitchFamily="18" charset="0"/>
                <a:cs typeface="Times New Roman" panose="02020603050405020304" pitchFamily="18" charset="0"/>
              </a:rPr>
              <a:t>he source of information is verified. </a:t>
            </a:r>
          </a:p>
          <a:p>
            <a:pPr algn="just"/>
            <a:r>
              <a:rPr lang="en-IN" sz="2800" b="0" i="0" u="none" strike="noStrike" baseline="0" dirty="0">
                <a:latin typeface="Times New Roman" panose="02020603050405020304" pitchFamily="18" charset="0"/>
                <a:cs typeface="Times New Roman" panose="02020603050405020304" pitchFamily="18" charset="0"/>
              </a:rPr>
              <a:t>Data origin authentication implies data integrity because if a source is corroborated, then data must not have been altered. Various methods, such as </a:t>
            </a:r>
            <a:r>
              <a:rPr lang="en-IN" sz="2800" b="1" i="0" u="none" strike="noStrike" baseline="0" dirty="0">
                <a:latin typeface="Times New Roman" panose="02020603050405020304" pitchFamily="18" charset="0"/>
                <a:cs typeface="Times New Roman" panose="02020603050405020304" pitchFamily="18" charset="0"/>
              </a:rPr>
              <a:t>Message Authentication Codes </a:t>
            </a:r>
            <a:r>
              <a:rPr lang="en-IN" sz="2800" b="0" i="0" u="none" strike="noStrike" baseline="0" dirty="0">
                <a:latin typeface="Times New Roman" panose="02020603050405020304" pitchFamily="18" charset="0"/>
                <a:cs typeface="Times New Roman" panose="02020603050405020304" pitchFamily="18" charset="0"/>
              </a:rPr>
              <a:t>(</a:t>
            </a:r>
            <a:r>
              <a:rPr lang="en-IN" sz="2800" b="1" i="0" u="none" strike="noStrike" baseline="0" dirty="0">
                <a:latin typeface="Times New Roman" panose="02020603050405020304" pitchFamily="18" charset="0"/>
                <a:cs typeface="Times New Roman" panose="02020603050405020304" pitchFamily="18" charset="0"/>
              </a:rPr>
              <a:t>MACs</a:t>
            </a:r>
            <a:r>
              <a:rPr lang="en-IN" sz="2800" b="0" i="0" u="none" strike="noStrike" baseline="0" dirty="0">
                <a:latin typeface="Times New Roman" panose="02020603050405020304" pitchFamily="18" charset="0"/>
                <a:cs typeface="Times New Roman" panose="02020603050405020304" pitchFamily="18" charset="0"/>
              </a:rPr>
              <a:t>) and </a:t>
            </a:r>
            <a:r>
              <a:rPr lang="en-IN" sz="2800" b="1" dirty="0">
                <a:latin typeface="Times New Roman" panose="02020603050405020304" pitchFamily="18" charset="0"/>
                <a:cs typeface="Times New Roman" panose="02020603050405020304" pitchFamily="18" charset="0"/>
              </a:rPr>
              <a:t>D</a:t>
            </a:r>
            <a:r>
              <a:rPr lang="en-IN" sz="2800" b="1" i="0" u="none" strike="noStrike" baseline="0" dirty="0">
                <a:latin typeface="Times New Roman" panose="02020603050405020304" pitchFamily="18" charset="0"/>
                <a:cs typeface="Times New Roman" panose="02020603050405020304" pitchFamily="18" charset="0"/>
              </a:rPr>
              <a:t>igital signatures </a:t>
            </a:r>
            <a:r>
              <a:rPr lang="en-IN" sz="2800" b="0" i="0" u="none" strike="noStrike" baseline="0" dirty="0">
                <a:latin typeface="Times New Roman" panose="02020603050405020304" pitchFamily="18" charset="0"/>
                <a:cs typeface="Times New Roman" panose="02020603050405020304" pitchFamily="18" charset="0"/>
              </a:rPr>
              <a:t>are most commonly used.</a:t>
            </a:r>
          </a:p>
          <a:p>
            <a:endParaRPr lang="en-IN" dirty="0"/>
          </a:p>
        </p:txBody>
      </p:sp>
    </p:spTree>
    <p:extLst>
      <p:ext uri="{BB962C8B-B14F-4D97-AF65-F5344CB8AC3E}">
        <p14:creationId xmlns:p14="http://schemas.microsoft.com/office/powerpoint/2010/main" val="12506448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F8B8B-E804-6E38-56FE-D93C5BC6EE81}"/>
              </a:ext>
            </a:extLst>
          </p:cNvPr>
          <p:cNvSpPr>
            <a:spLocks noGrp="1"/>
          </p:cNvSpPr>
          <p:nvPr>
            <p:ph type="title"/>
          </p:nvPr>
        </p:nvSpPr>
        <p:spPr>
          <a:xfrm>
            <a:off x="574040" y="141605"/>
            <a:ext cx="10515600" cy="1325563"/>
          </a:xfrm>
        </p:spPr>
        <p:txBody>
          <a:bodyPr/>
          <a:lstStyle/>
          <a:p>
            <a:r>
              <a:rPr lang="en-IN" sz="4400" b="1" i="0" u="none" strike="noStrike" baseline="0" dirty="0">
                <a:latin typeface="Times New Roman" panose="02020603050405020304" pitchFamily="18" charset="0"/>
                <a:cs typeface="Times New Roman" panose="02020603050405020304" pitchFamily="18" charset="0"/>
              </a:rPr>
              <a:t>Non-repudiation</a:t>
            </a:r>
            <a:endParaRPr lang="en-IN" dirty="0"/>
          </a:p>
        </p:txBody>
      </p:sp>
      <p:sp>
        <p:nvSpPr>
          <p:cNvPr id="3" name="Content Placeholder 2">
            <a:extLst>
              <a:ext uri="{FF2B5EF4-FFF2-40B4-BE49-F238E27FC236}">
                <a16:creationId xmlns:a16="http://schemas.microsoft.com/office/drawing/2014/main" id="{FF0CA690-1C08-3481-6498-B80EE3AB2E4A}"/>
              </a:ext>
            </a:extLst>
          </p:cNvPr>
          <p:cNvSpPr>
            <a:spLocks noGrp="1"/>
          </p:cNvSpPr>
          <p:nvPr>
            <p:ph idx="1"/>
          </p:nvPr>
        </p:nvSpPr>
        <p:spPr>
          <a:xfrm>
            <a:off x="574040" y="1361440"/>
            <a:ext cx="10779760" cy="4815523"/>
          </a:xfrm>
        </p:spPr>
        <p:txBody>
          <a:bodyPr>
            <a:normAutofit/>
          </a:bodyPr>
          <a:lstStyle/>
          <a:p>
            <a:pPr algn="just"/>
            <a:r>
              <a:rPr lang="en-IN" sz="2800" dirty="0">
                <a:latin typeface="Times New Roman" panose="02020603050405020304" pitchFamily="18" charset="0"/>
                <a:cs typeface="Times New Roman" panose="02020603050405020304" pitchFamily="18" charset="0"/>
              </a:rPr>
              <a:t>The non-repudiation protocol usually runs in a communication network and is used to provide evidence that an action has been taken by an entity (originator or recipient) on the network.</a:t>
            </a:r>
          </a:p>
          <a:p>
            <a:pPr algn="just"/>
            <a:r>
              <a:rPr lang="en-IN" sz="2800" dirty="0">
                <a:latin typeface="Times New Roman" panose="02020603050405020304" pitchFamily="18" charset="0"/>
                <a:cs typeface="Times New Roman" panose="02020603050405020304" pitchFamily="18" charset="0"/>
              </a:rPr>
              <a:t>There are two communication models that can be used to transfer messages from originator A to recipient B:</a:t>
            </a:r>
          </a:p>
          <a:p>
            <a:pPr marL="0" indent="0" algn="just">
              <a:buNone/>
            </a:pPr>
            <a:r>
              <a:rPr lang="en-IN" sz="2800" dirty="0">
                <a:latin typeface="Times New Roman" panose="02020603050405020304" pitchFamily="18" charset="0"/>
                <a:cs typeface="Times New Roman" panose="02020603050405020304" pitchFamily="18" charset="0"/>
              </a:rPr>
              <a:t>    1. Message is sent directly from originator A to recipient B.</a:t>
            </a:r>
          </a:p>
          <a:p>
            <a:pPr marL="0" indent="0" algn="just">
              <a:buNone/>
            </a:pPr>
            <a:r>
              <a:rPr lang="en-IN" sz="2800" dirty="0">
                <a:latin typeface="Times New Roman" panose="02020603050405020304" pitchFamily="18" charset="0"/>
                <a:cs typeface="Times New Roman" panose="02020603050405020304" pitchFamily="18" charset="0"/>
              </a:rPr>
              <a:t>    2. Message is sent to a delivery agent from originator A, which then delivers the message to recipient B.</a:t>
            </a:r>
          </a:p>
          <a:p>
            <a:pPr algn="just"/>
            <a:r>
              <a:rPr lang="en-IN" sz="2800" dirty="0">
                <a:latin typeface="Times New Roman" panose="02020603050405020304" pitchFamily="18" charset="0"/>
                <a:cs typeface="Times New Roman" panose="02020603050405020304" pitchFamily="18" charset="0"/>
              </a:rPr>
              <a:t>The main requirements of a non-repudiation protocol are fairness, effectiveness</a:t>
            </a:r>
            <a:r>
              <a:rPr lang="en-IN"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and timeliness.</a:t>
            </a:r>
          </a:p>
          <a:p>
            <a:endParaRPr lang="en-IN" dirty="0"/>
          </a:p>
        </p:txBody>
      </p:sp>
    </p:spTree>
    <p:extLst>
      <p:ext uri="{BB962C8B-B14F-4D97-AF65-F5344CB8AC3E}">
        <p14:creationId xmlns:p14="http://schemas.microsoft.com/office/powerpoint/2010/main" val="28564597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ABAE6-813C-4533-AA4C-EEDB335B4202}"/>
              </a:ext>
            </a:extLst>
          </p:cNvPr>
          <p:cNvSpPr>
            <a:spLocks noGrp="1"/>
          </p:cNvSpPr>
          <p:nvPr>
            <p:ph type="title"/>
          </p:nvPr>
        </p:nvSpPr>
        <p:spPr>
          <a:xfrm>
            <a:off x="614680" y="18255"/>
            <a:ext cx="10515600" cy="1325563"/>
          </a:xfrm>
        </p:spPr>
        <p:txBody>
          <a:bodyPr/>
          <a:lstStyle/>
          <a:p>
            <a:r>
              <a:rPr lang="en-IN" sz="4400" b="1" i="0" u="none" strike="noStrike" baseline="0" dirty="0">
                <a:latin typeface="Times New Roman" panose="02020603050405020304" pitchFamily="18" charset="0"/>
                <a:cs typeface="Times New Roman" panose="02020603050405020304" pitchFamily="18" charset="0"/>
              </a:rPr>
              <a:t>Accountability</a:t>
            </a:r>
            <a:endParaRPr lang="en-IN" dirty="0"/>
          </a:p>
        </p:txBody>
      </p:sp>
      <p:sp>
        <p:nvSpPr>
          <p:cNvPr id="3" name="Content Placeholder 2">
            <a:extLst>
              <a:ext uri="{FF2B5EF4-FFF2-40B4-BE49-F238E27FC236}">
                <a16:creationId xmlns:a16="http://schemas.microsoft.com/office/drawing/2014/main" id="{3F8B0854-AC71-F286-0817-90E6265BE790}"/>
              </a:ext>
            </a:extLst>
          </p:cNvPr>
          <p:cNvSpPr>
            <a:spLocks noGrp="1"/>
          </p:cNvSpPr>
          <p:nvPr>
            <p:ph idx="1"/>
          </p:nvPr>
        </p:nvSpPr>
        <p:spPr>
          <a:xfrm>
            <a:off x="477520" y="1219200"/>
            <a:ext cx="10876280" cy="4957763"/>
          </a:xfrm>
        </p:spPr>
        <p:txBody>
          <a:bodyPr/>
          <a:lstStyle/>
          <a:p>
            <a:pPr algn="just"/>
            <a:r>
              <a:rPr lang="en-IN" sz="2800" b="0" i="0" u="none" strike="noStrike" baseline="0" dirty="0">
                <a:latin typeface="Times New Roman" panose="02020603050405020304" pitchFamily="18" charset="0"/>
                <a:cs typeface="Times New Roman" panose="02020603050405020304" pitchFamily="18" charset="0"/>
              </a:rPr>
              <a:t>Accountability is the assurance that actions affecting security can be traced to the responsible party.</a:t>
            </a:r>
          </a:p>
          <a:p>
            <a:pPr algn="just"/>
            <a:r>
              <a:rPr lang="en-IN" sz="2800" b="0" i="0" u="none" strike="noStrike" baseline="0" dirty="0">
                <a:latin typeface="Times New Roman" panose="02020603050405020304" pitchFamily="18" charset="0"/>
                <a:cs typeface="Times New Roman" panose="02020603050405020304" pitchFamily="18" charset="0"/>
              </a:rPr>
              <a:t> This is usually provided by logging and audit mechanisms in systems where a detailed audit is required due to the nature of the business, for example, in electronic trading systems.</a:t>
            </a:r>
          </a:p>
          <a:p>
            <a:pPr algn="just"/>
            <a:r>
              <a:rPr lang="en-IN" sz="2800" b="0" i="0" u="none" strike="noStrike" baseline="0" dirty="0">
                <a:latin typeface="Times New Roman" panose="02020603050405020304" pitchFamily="18" charset="0"/>
                <a:cs typeface="Times New Roman" panose="02020603050405020304" pitchFamily="18" charset="0"/>
              </a:rPr>
              <a:t> Detailed logs are vital to trace an entity's actions.</a:t>
            </a:r>
          </a:p>
          <a:p>
            <a:pPr marL="0" indent="0">
              <a:buNone/>
            </a:pPr>
            <a:endParaRPr lang="en-IN" dirty="0"/>
          </a:p>
        </p:txBody>
      </p:sp>
    </p:spTree>
    <p:extLst>
      <p:ext uri="{BB962C8B-B14F-4D97-AF65-F5344CB8AC3E}">
        <p14:creationId xmlns:p14="http://schemas.microsoft.com/office/powerpoint/2010/main" val="18324079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2D25A-9685-CD2C-FBF8-0244DB3B257A}"/>
              </a:ext>
            </a:extLst>
          </p:cNvPr>
          <p:cNvSpPr>
            <a:spLocks noGrp="1"/>
          </p:cNvSpPr>
          <p:nvPr>
            <p:ph type="title"/>
          </p:nvPr>
        </p:nvSpPr>
        <p:spPr>
          <a:xfrm>
            <a:off x="1061720" y="-366395"/>
            <a:ext cx="10515600" cy="1325563"/>
          </a:xfrm>
        </p:spPr>
        <p:txBody>
          <a:bodyPr/>
          <a:lstStyle/>
          <a:p>
            <a:pPr algn="ctr"/>
            <a:r>
              <a:rPr lang="en-IN" b="1" dirty="0">
                <a:solidFill>
                  <a:srgbClr val="FF0000"/>
                </a:solidFill>
                <a:latin typeface="+mn-lt"/>
              </a:rPr>
              <a:t>Cryptographic primitives</a:t>
            </a:r>
            <a:endParaRPr lang="en-IN" dirty="0">
              <a:solidFill>
                <a:srgbClr val="FF0000"/>
              </a:solidFill>
              <a:latin typeface="+mn-lt"/>
            </a:endParaRPr>
          </a:p>
        </p:txBody>
      </p:sp>
      <p:pic>
        <p:nvPicPr>
          <p:cNvPr id="5" name="Content Placeholder 4">
            <a:extLst>
              <a:ext uri="{FF2B5EF4-FFF2-40B4-BE49-F238E27FC236}">
                <a16:creationId xmlns:a16="http://schemas.microsoft.com/office/drawing/2014/main" id="{EF8288D0-C976-C826-BED4-8D1DC41E9BD2}"/>
              </a:ext>
            </a:extLst>
          </p:cNvPr>
          <p:cNvPicPr>
            <a:picLocks noGrp="1" noChangeAspect="1"/>
          </p:cNvPicPr>
          <p:nvPr>
            <p:ph idx="1"/>
          </p:nvPr>
        </p:nvPicPr>
        <p:blipFill>
          <a:blip r:embed="rId2"/>
          <a:stretch>
            <a:fillRect/>
          </a:stretch>
        </p:blipFill>
        <p:spPr>
          <a:xfrm>
            <a:off x="1187356" y="1036321"/>
            <a:ext cx="10389964" cy="5628640"/>
          </a:xfrm>
        </p:spPr>
      </p:pic>
    </p:spTree>
    <p:extLst>
      <p:ext uri="{BB962C8B-B14F-4D97-AF65-F5344CB8AC3E}">
        <p14:creationId xmlns:p14="http://schemas.microsoft.com/office/powerpoint/2010/main" val="4832673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EDBEA5-92B1-8454-3755-4D1F65680583}"/>
              </a:ext>
            </a:extLst>
          </p:cNvPr>
          <p:cNvSpPr>
            <a:spLocks noGrp="1"/>
          </p:cNvSpPr>
          <p:nvPr>
            <p:ph idx="1"/>
          </p:nvPr>
        </p:nvSpPr>
        <p:spPr>
          <a:xfrm>
            <a:off x="802640" y="579120"/>
            <a:ext cx="10551160" cy="5597843"/>
          </a:xfrm>
        </p:spPr>
        <p:txBody>
          <a:bodyPr>
            <a:normAutofit/>
          </a:bodyPr>
          <a:lstStyle/>
          <a:p>
            <a:pPr marL="0" indent="0">
              <a:buNone/>
            </a:pPr>
            <a:endParaRPr lang="en-US" dirty="0"/>
          </a:p>
          <a:p>
            <a:pPr marL="0" indent="0">
              <a:buNone/>
            </a:pPr>
            <a:r>
              <a:rPr lang="en-US" dirty="0"/>
              <a:t>1.</a:t>
            </a:r>
            <a:r>
              <a:rPr lang="en-US" b="1" dirty="0"/>
              <a:t>Entity</a:t>
            </a:r>
            <a:r>
              <a:rPr lang="en-US" dirty="0"/>
              <a:t>: It is either a person or a system that sends, receives, or performs operations on data </a:t>
            </a:r>
          </a:p>
          <a:p>
            <a:pPr marL="0" indent="0">
              <a:buNone/>
            </a:pPr>
            <a:r>
              <a:rPr lang="en-US" dirty="0"/>
              <a:t>2.</a:t>
            </a:r>
            <a:r>
              <a:rPr lang="en-US" b="1" dirty="0"/>
              <a:t>Sender</a:t>
            </a:r>
            <a:r>
              <a:rPr lang="en-US" dirty="0"/>
              <a:t>: Sender is an entity that transmits the data </a:t>
            </a:r>
          </a:p>
          <a:p>
            <a:pPr marL="0" indent="0">
              <a:buNone/>
            </a:pPr>
            <a:r>
              <a:rPr lang="en-US" dirty="0"/>
              <a:t>3.</a:t>
            </a:r>
            <a:r>
              <a:rPr lang="en-US" b="1" dirty="0"/>
              <a:t>Receiver</a:t>
            </a:r>
            <a:r>
              <a:rPr lang="en-US" dirty="0"/>
              <a:t>: Receiver is an entity that takes delivery of the data.</a:t>
            </a:r>
          </a:p>
          <a:p>
            <a:pPr marL="0" indent="0">
              <a:buNone/>
            </a:pPr>
            <a:r>
              <a:rPr lang="en-US" dirty="0"/>
              <a:t>4.</a:t>
            </a:r>
            <a:r>
              <a:rPr lang="en-US" b="1" dirty="0"/>
              <a:t>Adversary</a:t>
            </a:r>
            <a:r>
              <a:rPr lang="en-US" dirty="0"/>
              <a:t>: This is an entity that tries to circumvent the security service </a:t>
            </a:r>
          </a:p>
          <a:p>
            <a:pPr marL="0" indent="0">
              <a:buNone/>
            </a:pPr>
            <a:r>
              <a:rPr lang="en-US" dirty="0"/>
              <a:t>5.</a:t>
            </a:r>
            <a:r>
              <a:rPr lang="en-US" b="1" dirty="0"/>
              <a:t>Key</a:t>
            </a:r>
            <a:r>
              <a:rPr lang="en-US" dirty="0"/>
              <a:t>: A key is some data that is used to encrypt or decrypt data </a:t>
            </a:r>
          </a:p>
          <a:p>
            <a:pPr marL="0" indent="0">
              <a:buNone/>
            </a:pPr>
            <a:r>
              <a:rPr lang="en-US" dirty="0"/>
              <a:t>6.</a:t>
            </a:r>
            <a:r>
              <a:rPr lang="en-US" b="1" dirty="0"/>
              <a:t>Channel</a:t>
            </a:r>
            <a:r>
              <a:rPr lang="en-US" dirty="0"/>
              <a:t>: Channel provides a medium of communication between entities</a:t>
            </a:r>
            <a:endParaRPr lang="en-IN" dirty="0"/>
          </a:p>
        </p:txBody>
      </p:sp>
    </p:spTree>
    <p:extLst>
      <p:ext uri="{BB962C8B-B14F-4D97-AF65-F5344CB8AC3E}">
        <p14:creationId xmlns:p14="http://schemas.microsoft.com/office/powerpoint/2010/main" val="14218849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69450-FEA9-4F49-A6B5-F6DEFFEE2EF0}"/>
              </a:ext>
            </a:extLst>
          </p:cNvPr>
          <p:cNvSpPr>
            <a:spLocks noGrp="1"/>
          </p:cNvSpPr>
          <p:nvPr>
            <p:ph type="title"/>
          </p:nvPr>
        </p:nvSpPr>
        <p:spPr/>
        <p:txBody>
          <a:bodyPr/>
          <a:lstStyle/>
          <a:p>
            <a:r>
              <a:rPr lang="en-IN" b="1" dirty="0"/>
              <a:t>Symmetric cryptography</a:t>
            </a:r>
            <a:endParaRPr lang="en-IN" dirty="0"/>
          </a:p>
        </p:txBody>
      </p:sp>
      <p:sp>
        <p:nvSpPr>
          <p:cNvPr id="3" name="Content Placeholder 2">
            <a:extLst>
              <a:ext uri="{FF2B5EF4-FFF2-40B4-BE49-F238E27FC236}">
                <a16:creationId xmlns:a16="http://schemas.microsoft.com/office/drawing/2014/main" id="{AD9B0224-8E67-5E16-C280-37B172E8F39C}"/>
              </a:ext>
            </a:extLst>
          </p:cNvPr>
          <p:cNvSpPr>
            <a:spLocks noGrp="1"/>
          </p:cNvSpPr>
          <p:nvPr>
            <p:ph idx="1"/>
          </p:nvPr>
        </p:nvSpPr>
        <p:spPr/>
        <p:txBody>
          <a:bodyPr/>
          <a:lstStyle/>
          <a:p>
            <a:r>
              <a:rPr lang="en-IN" dirty="0"/>
              <a:t>Symmetric cryptography refers to a type of cryptography where by the key that is used to encrypt the data is the same for decrypting the data, and thus it is also known as a shared key cryptography.</a:t>
            </a:r>
          </a:p>
          <a:p>
            <a:r>
              <a:rPr lang="en-IN" dirty="0"/>
              <a:t>There are two types of symmetric ciphers, stream ciphers and block ciphers. </a:t>
            </a:r>
          </a:p>
          <a:p>
            <a:r>
              <a:rPr lang="en-IN" b="1" dirty="0"/>
              <a:t>Data Encryption Standard </a:t>
            </a:r>
            <a:r>
              <a:rPr lang="en-IN" dirty="0"/>
              <a:t>(</a:t>
            </a:r>
            <a:r>
              <a:rPr lang="en-IN" b="1" dirty="0"/>
              <a:t>DES</a:t>
            </a:r>
            <a:r>
              <a:rPr lang="en-IN" dirty="0"/>
              <a:t>) and </a:t>
            </a:r>
            <a:r>
              <a:rPr lang="en-IN" b="1" dirty="0"/>
              <a:t>Advanced Encryption Standard </a:t>
            </a:r>
            <a:r>
              <a:rPr lang="en-IN" dirty="0"/>
              <a:t>(</a:t>
            </a:r>
            <a:r>
              <a:rPr lang="en-IN" b="1" dirty="0"/>
              <a:t>AES</a:t>
            </a:r>
            <a:r>
              <a:rPr lang="en-IN" dirty="0"/>
              <a:t>)</a:t>
            </a:r>
          </a:p>
          <a:p>
            <a:endParaRPr lang="en-IN" dirty="0"/>
          </a:p>
        </p:txBody>
      </p:sp>
    </p:spTree>
    <p:extLst>
      <p:ext uri="{BB962C8B-B14F-4D97-AF65-F5344CB8AC3E}">
        <p14:creationId xmlns:p14="http://schemas.microsoft.com/office/powerpoint/2010/main" val="16060202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7E075-0C23-DDB9-457F-E9DF89E4FB3A}"/>
              </a:ext>
            </a:extLst>
          </p:cNvPr>
          <p:cNvSpPr>
            <a:spLocks noGrp="1"/>
          </p:cNvSpPr>
          <p:nvPr>
            <p:ph type="title"/>
          </p:nvPr>
        </p:nvSpPr>
        <p:spPr>
          <a:xfrm>
            <a:off x="838200" y="53425"/>
            <a:ext cx="10515600" cy="1325563"/>
          </a:xfrm>
        </p:spPr>
        <p:txBody>
          <a:bodyPr/>
          <a:lstStyle/>
          <a:p>
            <a:r>
              <a:rPr lang="en-IN" b="1" dirty="0"/>
              <a:t>Stream ciphers</a:t>
            </a:r>
            <a:endParaRPr lang="en-IN" dirty="0"/>
          </a:p>
        </p:txBody>
      </p:sp>
      <p:sp>
        <p:nvSpPr>
          <p:cNvPr id="3" name="Content Placeholder 2">
            <a:extLst>
              <a:ext uri="{FF2B5EF4-FFF2-40B4-BE49-F238E27FC236}">
                <a16:creationId xmlns:a16="http://schemas.microsoft.com/office/drawing/2014/main" id="{C99EB633-FCDD-88F7-AE36-EB1D061DD4D8}"/>
              </a:ext>
            </a:extLst>
          </p:cNvPr>
          <p:cNvSpPr>
            <a:spLocks noGrp="1"/>
          </p:cNvSpPr>
          <p:nvPr>
            <p:ph idx="1"/>
          </p:nvPr>
        </p:nvSpPr>
        <p:spPr>
          <a:xfrm>
            <a:off x="838200" y="1249680"/>
            <a:ext cx="10515600" cy="4927283"/>
          </a:xfrm>
        </p:spPr>
        <p:txBody>
          <a:bodyPr/>
          <a:lstStyle/>
          <a:p>
            <a:r>
              <a:rPr lang="en-IN" dirty="0"/>
              <a:t>These ciphers are encryption algorithms that apply encryption algorithms on a bit-by-bit basis to plain text using a key stream. There are two types of stream ciphers: synchronous and asynchronous.</a:t>
            </a:r>
          </a:p>
          <a:p>
            <a:r>
              <a:rPr lang="en-IN" dirty="0"/>
              <a:t>In stream ciphers, encryption and decryption are basically the same function because they are simple modulo 2 additions or XOR operation.</a:t>
            </a:r>
          </a:p>
          <a:p>
            <a:endParaRPr lang="en-IN" dirty="0"/>
          </a:p>
        </p:txBody>
      </p:sp>
      <p:pic>
        <p:nvPicPr>
          <p:cNvPr id="4" name="Picture 3">
            <a:extLst>
              <a:ext uri="{FF2B5EF4-FFF2-40B4-BE49-F238E27FC236}">
                <a16:creationId xmlns:a16="http://schemas.microsoft.com/office/drawing/2014/main" id="{EAE19A13-1E3E-86E4-53DC-5215DB37B94C}"/>
              </a:ext>
            </a:extLst>
          </p:cNvPr>
          <p:cNvPicPr>
            <a:picLocks noChangeAspect="1"/>
          </p:cNvPicPr>
          <p:nvPr/>
        </p:nvPicPr>
        <p:blipFill>
          <a:blip r:embed="rId2"/>
          <a:stretch>
            <a:fillRect/>
          </a:stretch>
        </p:blipFill>
        <p:spPr>
          <a:xfrm>
            <a:off x="3804087" y="3617742"/>
            <a:ext cx="3681684" cy="2733865"/>
          </a:xfrm>
          <a:prstGeom prst="rect">
            <a:avLst/>
          </a:prstGeom>
        </p:spPr>
      </p:pic>
    </p:spTree>
    <p:extLst>
      <p:ext uri="{BB962C8B-B14F-4D97-AF65-F5344CB8AC3E}">
        <p14:creationId xmlns:p14="http://schemas.microsoft.com/office/powerpoint/2010/main" val="35718280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Block ciphers</a:t>
            </a:r>
            <a:endParaRPr lang="en-IN" dirty="0"/>
          </a:p>
        </p:txBody>
      </p:sp>
      <p:sp>
        <p:nvSpPr>
          <p:cNvPr id="3" name="Content Placeholder 2"/>
          <p:cNvSpPr>
            <a:spLocks noGrp="1"/>
          </p:cNvSpPr>
          <p:nvPr>
            <p:ph idx="1"/>
          </p:nvPr>
        </p:nvSpPr>
        <p:spPr>
          <a:xfrm>
            <a:off x="838200" y="1825625"/>
            <a:ext cx="10515600" cy="4656136"/>
          </a:xfrm>
        </p:spPr>
        <p:txBody>
          <a:bodyPr/>
          <a:lstStyle/>
          <a:p>
            <a:r>
              <a:rPr lang="en-IN" dirty="0"/>
              <a:t>These are encryption algorithms that break up a text to be encrypted (plain text) into blocks of fixed length and apply encryption block by block.</a:t>
            </a:r>
          </a:p>
          <a:p>
            <a:r>
              <a:rPr lang="en-GB" dirty="0"/>
              <a:t>It uses Confusion and Difusion properties.</a:t>
            </a:r>
          </a:p>
          <a:p>
            <a:endParaRPr lang="en-IN" dirty="0"/>
          </a:p>
        </p:txBody>
      </p:sp>
      <p:pic>
        <p:nvPicPr>
          <p:cNvPr id="4" name="Picture 3"/>
          <p:cNvPicPr>
            <a:picLocks noChangeAspect="1"/>
          </p:cNvPicPr>
          <p:nvPr/>
        </p:nvPicPr>
        <p:blipFill>
          <a:blip r:embed="rId2"/>
          <a:stretch>
            <a:fillRect/>
          </a:stretch>
        </p:blipFill>
        <p:spPr>
          <a:xfrm>
            <a:off x="7059709" y="2881460"/>
            <a:ext cx="3851545" cy="3600301"/>
          </a:xfrm>
          <a:prstGeom prst="rect">
            <a:avLst/>
          </a:prstGeom>
        </p:spPr>
      </p:pic>
    </p:spTree>
    <p:extLst>
      <p:ext uri="{BB962C8B-B14F-4D97-AF65-F5344CB8AC3E}">
        <p14:creationId xmlns:p14="http://schemas.microsoft.com/office/powerpoint/2010/main" val="32231218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screenshot of a computer">
            <a:extLst>
              <a:ext uri="{FF2B5EF4-FFF2-40B4-BE49-F238E27FC236}">
                <a16:creationId xmlns:a16="http://schemas.microsoft.com/office/drawing/2014/main" id="{21ACD0DD-C603-D8CF-04C6-04F25160A39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895" b="6760"/>
          <a:stretch/>
        </p:blipFill>
        <p:spPr>
          <a:xfrm>
            <a:off x="20" y="91440"/>
            <a:ext cx="12191980" cy="6766560"/>
          </a:xfrm>
          <a:prstGeom prst="rect">
            <a:avLst/>
          </a:prstGeom>
        </p:spPr>
      </p:pic>
    </p:spTree>
    <p:extLst>
      <p:ext uri="{BB962C8B-B14F-4D97-AF65-F5344CB8AC3E}">
        <p14:creationId xmlns:p14="http://schemas.microsoft.com/office/powerpoint/2010/main" val="2161220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058F4-ADF0-680D-D554-5DD9C3D1617E}"/>
              </a:ext>
            </a:extLst>
          </p:cNvPr>
          <p:cNvSpPr>
            <a:spLocks noGrp="1"/>
          </p:cNvSpPr>
          <p:nvPr>
            <p:ph idx="1"/>
          </p:nvPr>
        </p:nvSpPr>
        <p:spPr>
          <a:xfrm>
            <a:off x="250723" y="619432"/>
            <a:ext cx="11651225" cy="6076336"/>
          </a:xfrm>
        </p:spPr>
        <p:txBody>
          <a:bodyPr>
            <a:normAutofit/>
          </a:bodyPr>
          <a:lstStyle/>
          <a:p>
            <a:pPr algn="just"/>
            <a:r>
              <a:rPr lang="en-IN" b="0" i="0" u="none" strike="noStrike" baseline="0" dirty="0">
                <a:latin typeface="Times New Roman" panose="02020603050405020304" pitchFamily="18" charset="0"/>
                <a:cs typeface="Times New Roman" panose="02020603050405020304" pitchFamily="18" charset="0"/>
              </a:rPr>
              <a:t>Various modes of operation for block ciphers are </a:t>
            </a:r>
          </a:p>
          <a:p>
            <a:pPr algn="just">
              <a:buFont typeface="Wingdings" panose="05000000000000000000" pitchFamily="2" charset="2"/>
              <a:buChar char="Ø"/>
            </a:pPr>
            <a:r>
              <a:rPr lang="en-IN" b="1" i="0" u="none" strike="noStrike" baseline="0" dirty="0">
                <a:latin typeface="Times New Roman" panose="02020603050405020304" pitchFamily="18" charset="0"/>
                <a:cs typeface="Times New Roman" panose="02020603050405020304" pitchFamily="18" charset="0"/>
              </a:rPr>
              <a:t> Electronic Code Book </a:t>
            </a:r>
            <a:r>
              <a:rPr lang="en-IN" b="0" i="0" u="none" strike="noStrike" baseline="0" dirty="0">
                <a:latin typeface="Times New Roman" panose="02020603050405020304" pitchFamily="18" charset="0"/>
                <a:cs typeface="Times New Roman" panose="02020603050405020304" pitchFamily="18" charset="0"/>
              </a:rPr>
              <a:t>(</a:t>
            </a:r>
            <a:r>
              <a:rPr lang="en-IN" b="1" i="0" u="none" strike="noStrike" baseline="0" dirty="0">
                <a:latin typeface="Times New Roman" panose="02020603050405020304" pitchFamily="18" charset="0"/>
                <a:cs typeface="Times New Roman" panose="02020603050405020304" pitchFamily="18" charset="0"/>
              </a:rPr>
              <a:t>ECB</a:t>
            </a:r>
            <a:r>
              <a:rPr lang="en-IN" b="0" i="0" u="none" strike="noStrike" baseline="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IN" b="1" i="0" u="none" strike="noStrike" baseline="0" dirty="0">
                <a:latin typeface="Times New Roman" panose="02020603050405020304" pitchFamily="18" charset="0"/>
                <a:cs typeface="Times New Roman" panose="02020603050405020304" pitchFamily="18" charset="0"/>
              </a:rPr>
              <a:t>Cipher block chaining </a:t>
            </a:r>
            <a:r>
              <a:rPr lang="en-IN" b="0" i="0" u="none" strike="noStrike" baseline="0" dirty="0">
                <a:latin typeface="Times New Roman" panose="02020603050405020304" pitchFamily="18" charset="0"/>
                <a:cs typeface="Times New Roman" panose="02020603050405020304" pitchFamily="18" charset="0"/>
              </a:rPr>
              <a:t>(</a:t>
            </a:r>
            <a:r>
              <a:rPr lang="en-IN" b="1" i="0" u="none" strike="noStrike" baseline="0" dirty="0">
                <a:latin typeface="Times New Roman" panose="02020603050405020304" pitchFamily="18" charset="0"/>
                <a:cs typeface="Times New Roman" panose="02020603050405020304" pitchFamily="18" charset="0"/>
              </a:rPr>
              <a:t>CBC</a:t>
            </a:r>
            <a:r>
              <a:rPr lang="en-IN" b="0" i="0" u="none" strike="noStrike" baseline="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IN" b="1" i="0" u="none" strike="noStrike" baseline="0" dirty="0">
                <a:latin typeface="Times New Roman" panose="02020603050405020304" pitchFamily="18" charset="0"/>
                <a:cs typeface="Times New Roman" panose="02020603050405020304" pitchFamily="18" charset="0"/>
              </a:rPr>
              <a:t>Output Feedback Mode </a:t>
            </a:r>
            <a:r>
              <a:rPr lang="en-IN" b="0" i="0" u="none" strike="noStrike" baseline="0" dirty="0">
                <a:latin typeface="Times New Roman" panose="02020603050405020304" pitchFamily="18" charset="0"/>
                <a:cs typeface="Times New Roman" panose="02020603050405020304" pitchFamily="18" charset="0"/>
              </a:rPr>
              <a:t>(</a:t>
            </a:r>
            <a:r>
              <a:rPr lang="en-IN" b="1" i="0" u="none" strike="noStrike" baseline="0" dirty="0">
                <a:latin typeface="Times New Roman" panose="02020603050405020304" pitchFamily="18" charset="0"/>
                <a:cs typeface="Times New Roman" panose="02020603050405020304" pitchFamily="18" charset="0"/>
              </a:rPr>
              <a:t>OFB</a:t>
            </a:r>
            <a:r>
              <a:rPr lang="en-IN" b="0" i="0" u="none" strike="noStrike" baseline="0" dirty="0">
                <a:latin typeface="Times New Roman" panose="02020603050405020304" pitchFamily="18" charset="0"/>
                <a:cs typeface="Times New Roman" panose="02020603050405020304" pitchFamily="18" charset="0"/>
              </a:rPr>
              <a:t>), or </a:t>
            </a:r>
            <a:r>
              <a:rPr lang="en-IN" b="1" i="0" u="none" strike="noStrike" baseline="0" dirty="0">
                <a:latin typeface="Times New Roman" panose="02020603050405020304" pitchFamily="18" charset="0"/>
                <a:cs typeface="Times New Roman" panose="02020603050405020304" pitchFamily="18" charset="0"/>
              </a:rPr>
              <a:t>Counter mode </a:t>
            </a:r>
            <a:r>
              <a:rPr lang="en-IN" b="0" i="0" u="none" strike="noStrike" baseline="0" dirty="0">
                <a:latin typeface="Times New Roman" panose="02020603050405020304" pitchFamily="18" charset="0"/>
                <a:cs typeface="Times New Roman" panose="02020603050405020304" pitchFamily="18" charset="0"/>
              </a:rPr>
              <a:t>(</a:t>
            </a:r>
            <a:r>
              <a:rPr lang="en-IN" b="1" i="0" u="none" strike="noStrike" baseline="0" dirty="0">
                <a:latin typeface="Times New Roman" panose="02020603050405020304" pitchFamily="18" charset="0"/>
                <a:cs typeface="Times New Roman" panose="02020603050405020304" pitchFamily="18" charset="0"/>
              </a:rPr>
              <a:t>CTR</a:t>
            </a:r>
            <a:r>
              <a:rPr lang="en-IN" b="0" i="0" u="none" strike="noStrike" baseline="0" dirty="0">
                <a:latin typeface="Times New Roman" panose="02020603050405020304" pitchFamily="18" charset="0"/>
                <a:cs typeface="Times New Roman" panose="02020603050405020304" pitchFamily="18" charset="0"/>
              </a:rPr>
              <a:t>). </a:t>
            </a:r>
          </a:p>
          <a:p>
            <a:pPr algn="just"/>
            <a:r>
              <a:rPr lang="en-IN" b="0" i="0" u="none" strike="noStrike" baseline="0" dirty="0">
                <a:latin typeface="Times New Roman" panose="02020603050405020304" pitchFamily="18" charset="0"/>
                <a:cs typeface="Times New Roman" panose="02020603050405020304" pitchFamily="18" charset="0"/>
              </a:rPr>
              <a:t>These modes are used to specify the way in which an encryption function would be applied to the plain text.</a:t>
            </a:r>
          </a:p>
          <a:p>
            <a:pPr algn="just"/>
            <a:r>
              <a:rPr lang="en-IN" dirty="0">
                <a:latin typeface="Times New Roman" panose="02020603050405020304" pitchFamily="18" charset="0"/>
                <a:cs typeface="Times New Roman" panose="02020603050405020304" pitchFamily="18" charset="0"/>
              </a:rPr>
              <a:t>First four categories of block cipher encryption modes.</a:t>
            </a:r>
            <a:endParaRPr lang="en-IN" b="0" i="0" u="none" strike="noStrike" baseline="0" dirty="0">
              <a:latin typeface="Times New Roman" panose="02020603050405020304" pitchFamily="18" charset="0"/>
              <a:cs typeface="Times New Roman" panose="02020603050405020304" pitchFamily="18" charset="0"/>
            </a:endParaRPr>
          </a:p>
          <a:p>
            <a:pPr algn="just"/>
            <a:r>
              <a:rPr lang="en-IN" sz="2400" b="1" i="0" u="none" strike="noStrike" baseline="0" dirty="0">
                <a:latin typeface="Times New Roman" panose="02020603050405020304" pitchFamily="18" charset="0"/>
                <a:cs typeface="Times New Roman" panose="02020603050405020304" pitchFamily="18" charset="0"/>
              </a:rPr>
              <a:t>Block encryption mode</a:t>
            </a:r>
          </a:p>
          <a:p>
            <a:pPr algn="just"/>
            <a:r>
              <a:rPr lang="en-IN" sz="2400" b="1" i="0" u="none" strike="noStrike" baseline="0" dirty="0">
                <a:latin typeface="Times New Roman" panose="02020603050405020304" pitchFamily="18" charset="0"/>
                <a:cs typeface="Times New Roman" panose="02020603050405020304" pitchFamily="18" charset="0"/>
              </a:rPr>
              <a:t>Keystream generation modes</a:t>
            </a:r>
          </a:p>
          <a:p>
            <a:pPr algn="just"/>
            <a:r>
              <a:rPr lang="en-IN" sz="2400" b="1" i="0" u="none" strike="noStrike" baseline="0" dirty="0">
                <a:latin typeface="Times New Roman" panose="02020603050405020304" pitchFamily="18" charset="0"/>
                <a:cs typeface="Times New Roman" panose="02020603050405020304" pitchFamily="18" charset="0"/>
              </a:rPr>
              <a:t>Message authentication modes</a:t>
            </a:r>
          </a:p>
          <a:p>
            <a:pPr algn="just"/>
            <a:r>
              <a:rPr lang="en-IN" sz="2400" b="1" i="0" u="none" strike="noStrike" baseline="0" dirty="0">
                <a:latin typeface="Times New Roman" panose="02020603050405020304" pitchFamily="18" charset="0"/>
                <a:cs typeface="Times New Roman" panose="02020603050405020304" pitchFamily="18" charset="0"/>
              </a:rPr>
              <a:t>Cryptographic hashes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29646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100C2-9F1E-29E8-6648-3DFF795EB84F}"/>
              </a:ext>
            </a:extLst>
          </p:cNvPr>
          <p:cNvSpPr>
            <a:spLocks noGrp="1"/>
          </p:cNvSpPr>
          <p:nvPr>
            <p:ph idx="1"/>
          </p:nvPr>
        </p:nvSpPr>
        <p:spPr>
          <a:xfrm>
            <a:off x="265471" y="221226"/>
            <a:ext cx="11415252" cy="6459793"/>
          </a:xfrm>
        </p:spPr>
        <p:txBody>
          <a:bodyPr/>
          <a:lstStyle/>
          <a:p>
            <a:pPr marL="0" indent="0">
              <a:buNone/>
            </a:pPr>
            <a:r>
              <a:rPr lang="en-IN" sz="2800" b="1" i="0" u="none" strike="noStrike" baseline="0" dirty="0">
                <a:latin typeface="Times New Roman" panose="02020603050405020304" pitchFamily="18" charset="0"/>
                <a:cs typeface="Times New Roman" panose="02020603050405020304" pitchFamily="18" charset="0"/>
              </a:rPr>
              <a:t>Block encryption mode</a:t>
            </a:r>
          </a:p>
          <a:p>
            <a:pPr algn="just"/>
            <a:r>
              <a:rPr lang="en-IN" sz="2400" b="0" i="0" u="none" strike="noStrike" baseline="0" dirty="0">
                <a:latin typeface="Times New Roman" panose="02020603050405020304" pitchFamily="18" charset="0"/>
                <a:cs typeface="Times New Roman" panose="02020603050405020304" pitchFamily="18" charset="0"/>
              </a:rPr>
              <a:t>In this mode, plaintext is divided into blocks of fixed length depending on the type of cipher used and then the encryption function is applied on each block.</a:t>
            </a:r>
          </a:p>
          <a:p>
            <a:pPr marL="0" indent="0" algn="just">
              <a:buNone/>
            </a:pPr>
            <a:r>
              <a:rPr lang="en-IN" b="1" dirty="0">
                <a:latin typeface="Times New Roman" panose="02020603050405020304" pitchFamily="18" charset="0"/>
                <a:cs typeface="Times New Roman" panose="02020603050405020304" pitchFamily="18" charset="0"/>
              </a:rPr>
              <a:t>Keystream generation modes</a:t>
            </a:r>
          </a:p>
          <a:p>
            <a:pPr algn="just"/>
            <a:r>
              <a:rPr lang="en-IN" sz="2400" dirty="0">
                <a:latin typeface="Times New Roman" panose="02020603050405020304" pitchFamily="18" charset="0"/>
                <a:cs typeface="Times New Roman" panose="02020603050405020304" pitchFamily="18" charset="0"/>
              </a:rPr>
              <a:t>In this mode, the encryption function generates a keystream that is then XORed with the plaintext stream in order to achieve encryption.</a:t>
            </a:r>
          </a:p>
          <a:p>
            <a:pPr marL="0" indent="0" algn="just">
              <a:buNone/>
            </a:pPr>
            <a:r>
              <a:rPr lang="en-IN" b="1" dirty="0">
                <a:latin typeface="Times New Roman" panose="02020603050405020304" pitchFamily="18" charset="0"/>
                <a:cs typeface="Times New Roman" panose="02020603050405020304" pitchFamily="18" charset="0"/>
              </a:rPr>
              <a:t>Message authentication modes</a:t>
            </a:r>
          </a:p>
          <a:p>
            <a:pPr algn="just"/>
            <a:r>
              <a:rPr lang="en-IN" sz="2400" dirty="0">
                <a:latin typeface="Times New Roman" panose="02020603050405020304" pitchFamily="18" charset="0"/>
                <a:cs typeface="Times New Roman" panose="02020603050405020304" pitchFamily="18" charset="0"/>
              </a:rPr>
              <a:t>In this mode, a message authentication code is computed as a result of an encryption function. MAC is basically a cryptographic checksum that provides an integrity service.</a:t>
            </a:r>
          </a:p>
          <a:p>
            <a:pPr marL="0" indent="0" algn="just">
              <a:buNone/>
            </a:pPr>
            <a:r>
              <a:rPr lang="en-IN" b="1" dirty="0">
                <a:latin typeface="Times New Roman" panose="02020603050405020304" pitchFamily="18" charset="0"/>
                <a:cs typeface="Times New Roman" panose="02020603050405020304" pitchFamily="18" charset="0"/>
              </a:rPr>
              <a:t>Cryptographic hashes</a:t>
            </a:r>
          </a:p>
          <a:p>
            <a:pPr algn="just"/>
            <a:r>
              <a:rPr lang="en-IN" sz="2400" dirty="0">
                <a:latin typeface="Times New Roman" panose="02020603050405020304" pitchFamily="18" charset="0"/>
                <a:cs typeface="Times New Roman" panose="02020603050405020304" pitchFamily="18" charset="0"/>
              </a:rPr>
              <a:t>Hash functions are basically used to compress a message to a fixed length digest. In this mode, block ciphers are used as a compression function to produce a hash of plain text.</a:t>
            </a:r>
          </a:p>
        </p:txBody>
      </p:sp>
    </p:spTree>
    <p:extLst>
      <p:ext uri="{BB962C8B-B14F-4D97-AF65-F5344CB8AC3E}">
        <p14:creationId xmlns:p14="http://schemas.microsoft.com/office/powerpoint/2010/main" val="11069027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1AA8C-9D22-97EB-E5C7-BC3B725549B5}"/>
              </a:ext>
            </a:extLst>
          </p:cNvPr>
          <p:cNvSpPr>
            <a:spLocks noGrp="1"/>
          </p:cNvSpPr>
          <p:nvPr>
            <p:ph type="title"/>
          </p:nvPr>
        </p:nvSpPr>
        <p:spPr>
          <a:xfrm>
            <a:off x="0" y="128333"/>
            <a:ext cx="11975690" cy="888488"/>
          </a:xfrm>
        </p:spPr>
        <p:txBody>
          <a:bodyPr>
            <a:normAutofit/>
          </a:bodyPr>
          <a:lstStyle/>
          <a:p>
            <a:r>
              <a:rPr lang="en-IN" sz="3600" b="1" i="0" u="none" strike="noStrike" baseline="0" dirty="0">
                <a:latin typeface="Times New Roman" panose="02020603050405020304" pitchFamily="18" charset="0"/>
                <a:cs typeface="Times New Roman" panose="02020603050405020304" pitchFamily="18" charset="0"/>
              </a:rPr>
              <a:t>Electronic code book</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0AA1C2E-F974-7C74-E9E6-1886372B9CFE}"/>
              </a:ext>
            </a:extLst>
          </p:cNvPr>
          <p:cNvSpPr>
            <a:spLocks noGrp="1"/>
          </p:cNvSpPr>
          <p:nvPr>
            <p:ph idx="1"/>
          </p:nvPr>
        </p:nvSpPr>
        <p:spPr>
          <a:xfrm>
            <a:off x="216311" y="796414"/>
            <a:ext cx="11597148" cy="5380550"/>
          </a:xfrm>
        </p:spPr>
        <p:txBody>
          <a:bodyPr>
            <a:normAutofit/>
          </a:bodyPr>
          <a:lstStyle/>
          <a:p>
            <a:pPr algn="just"/>
            <a:r>
              <a:rPr lang="en-IN" sz="2400" b="0" i="0" u="none" strike="noStrike" baseline="0" dirty="0">
                <a:latin typeface="Times New Roman" panose="02020603050405020304" pitchFamily="18" charset="0"/>
                <a:cs typeface="Times New Roman" panose="02020603050405020304" pitchFamily="18" charset="0"/>
              </a:rPr>
              <a:t>This is a basic mode of operation in which the encrypted data is produced as a result of applying the encryption algorithm one by one separately to each block of plain text. This is the simplest mode but should not be used in practice as it is insecure and can reveal information.</a:t>
            </a:r>
          </a:p>
          <a:p>
            <a:pPr algn="just"/>
            <a:r>
              <a:rPr lang="en-IN" sz="2400" dirty="0">
                <a:latin typeface="Times New Roman" panose="02020603050405020304" pitchFamily="18" charset="0"/>
                <a:cs typeface="Times New Roman" panose="02020603050405020304" pitchFamily="18" charset="0"/>
              </a:rPr>
              <a:t>It is used only for short messages</a:t>
            </a:r>
          </a:p>
          <a:p>
            <a:pPr algn="just"/>
            <a:endParaRPr lang="en-IN" sz="2400" b="0" i="0" u="none" strike="noStrike" baseline="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8F16311-B4C4-DB62-A2A9-FBA4F136FB07}"/>
              </a:ext>
            </a:extLst>
          </p:cNvPr>
          <p:cNvPicPr>
            <a:picLocks noChangeAspect="1"/>
          </p:cNvPicPr>
          <p:nvPr/>
        </p:nvPicPr>
        <p:blipFill>
          <a:blip r:embed="rId2"/>
          <a:stretch>
            <a:fillRect/>
          </a:stretch>
        </p:blipFill>
        <p:spPr>
          <a:xfrm>
            <a:off x="4684360" y="1825472"/>
            <a:ext cx="7345410" cy="4976252"/>
          </a:xfrm>
          <a:prstGeom prst="rect">
            <a:avLst/>
          </a:prstGeom>
        </p:spPr>
      </p:pic>
    </p:spTree>
    <p:extLst>
      <p:ext uri="{BB962C8B-B14F-4D97-AF65-F5344CB8AC3E}">
        <p14:creationId xmlns:p14="http://schemas.microsoft.com/office/powerpoint/2010/main" val="29061527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E88F5-A854-6B19-E5F3-0461CEC363B4}"/>
              </a:ext>
            </a:extLst>
          </p:cNvPr>
          <p:cNvSpPr>
            <a:spLocks noGrp="1"/>
          </p:cNvSpPr>
          <p:nvPr>
            <p:ph type="title"/>
          </p:nvPr>
        </p:nvSpPr>
        <p:spPr>
          <a:xfrm>
            <a:off x="0" y="70156"/>
            <a:ext cx="11147323" cy="799999"/>
          </a:xfrm>
        </p:spPr>
        <p:txBody>
          <a:bodyPr>
            <a:normAutofit/>
          </a:bodyPr>
          <a:lstStyle/>
          <a:p>
            <a:r>
              <a:rPr lang="en-IN" sz="3600" b="1" i="0" u="none" strike="noStrike" baseline="0" dirty="0">
                <a:latin typeface="Times New Roman" panose="02020603050405020304" pitchFamily="18" charset="0"/>
                <a:cs typeface="Times New Roman" panose="02020603050405020304" pitchFamily="18" charset="0"/>
              </a:rPr>
              <a:t>Cipher block chaining</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0D02A0-4585-31AA-F8CA-32A10B397857}"/>
              </a:ext>
            </a:extLst>
          </p:cNvPr>
          <p:cNvSpPr>
            <a:spLocks noGrp="1"/>
          </p:cNvSpPr>
          <p:nvPr>
            <p:ph idx="1"/>
          </p:nvPr>
        </p:nvSpPr>
        <p:spPr>
          <a:xfrm>
            <a:off x="1" y="870155"/>
            <a:ext cx="11985522" cy="5306808"/>
          </a:xfrm>
        </p:spPr>
        <p:txBody>
          <a:bodyPr>
            <a:normAutofit/>
          </a:bodyPr>
          <a:lstStyle/>
          <a:p>
            <a:pPr algn="just"/>
            <a:r>
              <a:rPr lang="en-IN" sz="2400" b="0" i="0" u="none" strike="noStrike" baseline="0" dirty="0">
                <a:latin typeface="Times New Roman" panose="02020603050405020304" pitchFamily="18" charset="0"/>
                <a:cs typeface="Times New Roman" panose="02020603050405020304" pitchFamily="18" charset="0"/>
              </a:rPr>
              <a:t>In this mode, each block of plain text is XORed with the previous encrypted block. The CBC mode uses initialization vector IV to encrypt the first block. It is recommended that IV be randomly chosen:</a:t>
            </a:r>
          </a:p>
          <a:p>
            <a:pPr algn="just"/>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6466286-209A-8E19-49D7-FF7E89B35D8B}"/>
              </a:ext>
            </a:extLst>
          </p:cNvPr>
          <p:cNvPicPr>
            <a:picLocks noChangeAspect="1"/>
          </p:cNvPicPr>
          <p:nvPr/>
        </p:nvPicPr>
        <p:blipFill>
          <a:blip r:embed="rId2"/>
          <a:stretch>
            <a:fillRect/>
          </a:stretch>
        </p:blipFill>
        <p:spPr>
          <a:xfrm>
            <a:off x="3586898" y="1670154"/>
            <a:ext cx="8398625" cy="5117690"/>
          </a:xfrm>
          <a:prstGeom prst="rect">
            <a:avLst/>
          </a:prstGeom>
        </p:spPr>
      </p:pic>
    </p:spTree>
    <p:extLst>
      <p:ext uri="{BB962C8B-B14F-4D97-AF65-F5344CB8AC3E}">
        <p14:creationId xmlns:p14="http://schemas.microsoft.com/office/powerpoint/2010/main" val="8493783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99C3D-FFFB-1D29-CA41-85A74C56FB1E}"/>
              </a:ext>
            </a:extLst>
          </p:cNvPr>
          <p:cNvSpPr>
            <a:spLocks noGrp="1"/>
          </p:cNvSpPr>
          <p:nvPr>
            <p:ph type="title"/>
          </p:nvPr>
        </p:nvSpPr>
        <p:spPr>
          <a:xfrm>
            <a:off x="0" y="0"/>
            <a:ext cx="11385755" cy="947481"/>
          </a:xfrm>
        </p:spPr>
        <p:txBody>
          <a:bodyPr>
            <a:normAutofit/>
          </a:bodyPr>
          <a:lstStyle/>
          <a:p>
            <a:r>
              <a:rPr lang="en-IN" sz="3200" b="1" i="0" u="none" strike="noStrike" baseline="0" dirty="0">
                <a:latin typeface="Times New Roman" panose="02020603050405020304" pitchFamily="18" charset="0"/>
                <a:cs typeface="Times New Roman" panose="02020603050405020304" pitchFamily="18" charset="0"/>
              </a:rPr>
              <a:t>Counter mode</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381A83-4DF5-1B89-867A-553A480162D9}"/>
              </a:ext>
            </a:extLst>
          </p:cNvPr>
          <p:cNvSpPr>
            <a:spLocks noGrp="1"/>
          </p:cNvSpPr>
          <p:nvPr>
            <p:ph idx="1"/>
          </p:nvPr>
        </p:nvSpPr>
        <p:spPr>
          <a:xfrm>
            <a:off x="162233" y="766916"/>
            <a:ext cx="11191568" cy="5725959"/>
          </a:xfrm>
        </p:spPr>
        <p:txBody>
          <a:bodyPr>
            <a:normAutofit/>
          </a:bodyPr>
          <a:lstStyle/>
          <a:p>
            <a:pPr algn="just"/>
            <a:r>
              <a:rPr lang="en-IN" sz="2400" b="0" i="0" u="none" strike="noStrike" baseline="0" dirty="0">
                <a:latin typeface="Times New Roman" panose="02020603050405020304" pitchFamily="18" charset="0"/>
                <a:cs typeface="Times New Roman" panose="02020603050405020304" pitchFamily="18" charset="0"/>
              </a:rPr>
              <a:t>The CTR mode effectively uses a block cipher as a stream cipher.</a:t>
            </a:r>
          </a:p>
          <a:p>
            <a:pPr algn="just"/>
            <a:r>
              <a:rPr lang="en-IN" sz="2400" b="0" i="0" u="none" strike="noStrike" baseline="0" dirty="0">
                <a:latin typeface="Times New Roman" panose="02020603050405020304" pitchFamily="18" charset="0"/>
                <a:cs typeface="Times New Roman" panose="02020603050405020304" pitchFamily="18" charset="0"/>
              </a:rPr>
              <a:t> In this case, a unique nonce is supplied that is concatenated with the counter value in order to produce a </a:t>
            </a:r>
            <a:r>
              <a:rPr lang="en-IN" sz="2400" b="1" i="0" u="none" strike="noStrike" baseline="0" dirty="0">
                <a:latin typeface="Times New Roman" panose="02020603050405020304" pitchFamily="18" charset="0"/>
                <a:cs typeface="Times New Roman" panose="02020603050405020304" pitchFamily="18" charset="0"/>
              </a:rPr>
              <a:t>key stream</a:t>
            </a:r>
            <a:r>
              <a:rPr lang="en-IN" sz="2400" b="0" i="0" u="none" strike="noStrike" baseline="0" dirty="0">
                <a:latin typeface="Times New Roman" panose="02020603050405020304" pitchFamily="18" charset="0"/>
                <a:cs typeface="Times New Roman" panose="02020603050405020304" pitchFamily="18" charset="0"/>
              </a:rPr>
              <a:t>:</a:t>
            </a:r>
          </a:p>
          <a:p>
            <a:pPr algn="just"/>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4CD3FFB-F2D4-21EC-CE82-F4D48ED2D130}"/>
              </a:ext>
            </a:extLst>
          </p:cNvPr>
          <p:cNvPicPr>
            <a:picLocks noChangeAspect="1"/>
          </p:cNvPicPr>
          <p:nvPr/>
        </p:nvPicPr>
        <p:blipFill>
          <a:blip r:embed="rId2"/>
          <a:stretch>
            <a:fillRect/>
          </a:stretch>
        </p:blipFill>
        <p:spPr>
          <a:xfrm>
            <a:off x="2657783" y="2099793"/>
            <a:ext cx="7839994" cy="4153524"/>
          </a:xfrm>
          <a:prstGeom prst="rect">
            <a:avLst/>
          </a:prstGeom>
        </p:spPr>
      </p:pic>
    </p:spTree>
    <p:extLst>
      <p:ext uri="{BB962C8B-B14F-4D97-AF65-F5344CB8AC3E}">
        <p14:creationId xmlns:p14="http://schemas.microsoft.com/office/powerpoint/2010/main" val="5268354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E08BA7-F4D0-E80C-AA03-CA59251CFE22}"/>
              </a:ext>
            </a:extLst>
          </p:cNvPr>
          <p:cNvSpPr>
            <a:spLocks noGrp="1"/>
          </p:cNvSpPr>
          <p:nvPr>
            <p:ph idx="1"/>
          </p:nvPr>
        </p:nvSpPr>
        <p:spPr>
          <a:xfrm>
            <a:off x="609600" y="426720"/>
            <a:ext cx="10744200" cy="5750243"/>
          </a:xfrm>
        </p:spPr>
        <p:txBody>
          <a:bodyPr/>
          <a:lstStyle/>
          <a:p>
            <a:pPr algn="just">
              <a:buFont typeface="Wingdings" panose="05000000000000000000" pitchFamily="2" charset="2"/>
              <a:buChar char="Ø"/>
            </a:pPr>
            <a:r>
              <a:rPr lang="en-US" sz="3300" b="1" dirty="0"/>
              <a:t>Commonly used block cipher are:</a:t>
            </a:r>
          </a:p>
          <a:p>
            <a:pPr marL="0" indent="0" algn="just">
              <a:buNone/>
            </a:pPr>
            <a:r>
              <a:rPr lang="en-US" dirty="0"/>
              <a:t>1.Data Encryption Standard (DES)</a:t>
            </a:r>
          </a:p>
          <a:p>
            <a:pPr marL="0" indent="0" algn="just">
              <a:buNone/>
            </a:pPr>
            <a:r>
              <a:rPr lang="en-US" dirty="0"/>
              <a:t>2.Advanced Encryption Standard (AES)</a:t>
            </a:r>
          </a:p>
          <a:p>
            <a:endParaRPr lang="en-IN" dirty="0"/>
          </a:p>
        </p:txBody>
      </p:sp>
    </p:spTree>
    <p:extLst>
      <p:ext uri="{BB962C8B-B14F-4D97-AF65-F5344CB8AC3E}">
        <p14:creationId xmlns:p14="http://schemas.microsoft.com/office/powerpoint/2010/main" val="29407201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4D745-668B-CAAF-2C7F-482E40BD8B6A}"/>
              </a:ext>
            </a:extLst>
          </p:cNvPr>
          <p:cNvSpPr>
            <a:spLocks noGrp="1"/>
          </p:cNvSpPr>
          <p:nvPr>
            <p:ph type="title"/>
          </p:nvPr>
        </p:nvSpPr>
        <p:spPr>
          <a:xfrm>
            <a:off x="279400" y="-285115"/>
            <a:ext cx="10515600" cy="1325563"/>
          </a:xfrm>
        </p:spPr>
        <p:txBody>
          <a:bodyPr/>
          <a:lstStyle/>
          <a:p>
            <a:pPr algn="ctr"/>
            <a:r>
              <a:rPr lang="en-US" dirty="0"/>
              <a:t>DES</a:t>
            </a:r>
            <a:endParaRPr lang="en-IN" dirty="0"/>
          </a:p>
        </p:txBody>
      </p:sp>
      <p:sp>
        <p:nvSpPr>
          <p:cNvPr id="3" name="Content Placeholder 2">
            <a:extLst>
              <a:ext uri="{FF2B5EF4-FFF2-40B4-BE49-F238E27FC236}">
                <a16:creationId xmlns:a16="http://schemas.microsoft.com/office/drawing/2014/main" id="{3473EEA3-1D56-323F-F260-B74E323F7B54}"/>
              </a:ext>
            </a:extLst>
          </p:cNvPr>
          <p:cNvSpPr>
            <a:spLocks noGrp="1"/>
          </p:cNvSpPr>
          <p:nvPr>
            <p:ph idx="1"/>
          </p:nvPr>
        </p:nvSpPr>
        <p:spPr>
          <a:xfrm>
            <a:off x="751840" y="1040448"/>
            <a:ext cx="11013440" cy="5075872"/>
          </a:xfrm>
        </p:spPr>
        <p:txBody>
          <a:bodyPr>
            <a:normAutofit/>
          </a:bodyPr>
          <a:lstStyle/>
          <a:p>
            <a:r>
              <a:rPr lang="en-IN" dirty="0"/>
              <a:t>Introduced by the US </a:t>
            </a:r>
            <a:r>
              <a:rPr lang="en-IN" b="1" dirty="0"/>
              <a:t>National Institute of Standards and Technology </a:t>
            </a:r>
            <a:r>
              <a:rPr lang="en-IN" dirty="0"/>
              <a:t>(</a:t>
            </a:r>
            <a:r>
              <a:rPr lang="en-IN" b="1" dirty="0"/>
              <a:t>NIST</a:t>
            </a:r>
            <a:r>
              <a:rPr lang="en-IN" dirty="0"/>
              <a:t>).</a:t>
            </a:r>
          </a:p>
          <a:p>
            <a:r>
              <a:rPr lang="en-IN" dirty="0"/>
              <a:t>Standard algorithm for encryption and was in main use during 1980s and 1990s.</a:t>
            </a:r>
          </a:p>
          <a:p>
            <a:r>
              <a:rPr lang="en-IN" dirty="0"/>
              <a:t>It has been not proven to be very resistant against brute force attacks. </a:t>
            </a:r>
          </a:p>
          <a:p>
            <a:r>
              <a:rPr lang="en-IN" dirty="0"/>
              <a:t>DES uses a key of only 56 bits, which has raised some concerns. </a:t>
            </a:r>
          </a:p>
          <a:p>
            <a:r>
              <a:rPr lang="en-IN" b="1" dirty="0"/>
              <a:t>Triple DES </a:t>
            </a:r>
            <a:r>
              <a:rPr lang="en-IN" dirty="0"/>
              <a:t>(</a:t>
            </a:r>
            <a:r>
              <a:rPr lang="en-IN" b="1" dirty="0"/>
              <a:t>3DES</a:t>
            </a:r>
            <a:r>
              <a:rPr lang="en-IN" dirty="0"/>
              <a:t>), which proposed the usage of a 168-bit key using three 56-bit keys and the same number of executions of the DES algorithm, thus making brute force attacks almost impossible.  </a:t>
            </a:r>
          </a:p>
          <a:p>
            <a:r>
              <a:rPr lang="en-IN" dirty="0"/>
              <a:t>Limitations, such as slow performance and 64-bit block size, are not desirable.</a:t>
            </a:r>
          </a:p>
          <a:p>
            <a:endParaRPr lang="en-IN" dirty="0"/>
          </a:p>
        </p:txBody>
      </p:sp>
    </p:spTree>
    <p:extLst>
      <p:ext uri="{BB962C8B-B14F-4D97-AF65-F5344CB8AC3E}">
        <p14:creationId xmlns:p14="http://schemas.microsoft.com/office/powerpoint/2010/main" val="22606924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79BF4-1A4C-5A46-23A9-F4A6BA23C0FB}"/>
              </a:ext>
            </a:extLst>
          </p:cNvPr>
          <p:cNvSpPr>
            <a:spLocks noGrp="1"/>
          </p:cNvSpPr>
          <p:nvPr>
            <p:ph type="title"/>
          </p:nvPr>
        </p:nvSpPr>
        <p:spPr>
          <a:xfrm>
            <a:off x="756920" y="18255"/>
            <a:ext cx="10515600" cy="1325563"/>
          </a:xfrm>
        </p:spPr>
        <p:txBody>
          <a:bodyPr/>
          <a:lstStyle/>
          <a:p>
            <a:pPr algn="ctr"/>
            <a:r>
              <a:rPr lang="en-IN" b="1" dirty="0"/>
              <a:t>Advanced Encryption Standard (AES)</a:t>
            </a:r>
            <a:endParaRPr lang="en-IN" dirty="0"/>
          </a:p>
        </p:txBody>
      </p:sp>
      <p:sp>
        <p:nvSpPr>
          <p:cNvPr id="3" name="Content Placeholder 2">
            <a:extLst>
              <a:ext uri="{FF2B5EF4-FFF2-40B4-BE49-F238E27FC236}">
                <a16:creationId xmlns:a16="http://schemas.microsoft.com/office/drawing/2014/main" id="{77F53EAB-5D01-081C-26A2-864304F68781}"/>
              </a:ext>
            </a:extLst>
          </p:cNvPr>
          <p:cNvSpPr>
            <a:spLocks noGrp="1"/>
          </p:cNvSpPr>
          <p:nvPr>
            <p:ph idx="1"/>
          </p:nvPr>
        </p:nvSpPr>
        <p:spPr>
          <a:xfrm>
            <a:off x="756920" y="1249680"/>
            <a:ext cx="10596880" cy="4927283"/>
          </a:xfrm>
        </p:spPr>
        <p:txBody>
          <a:bodyPr/>
          <a:lstStyle/>
          <a:p>
            <a:r>
              <a:rPr lang="en-IN" dirty="0"/>
              <a:t>AES standard, only a 128-bit block size is allowed. However, key sizes of 128-bit, 192-bit, and 256-bit are allowed.</a:t>
            </a:r>
          </a:p>
          <a:p>
            <a:r>
              <a:rPr lang="en-IN" b="1" dirty="0"/>
              <a:t>AES steps: </a:t>
            </a:r>
            <a:endParaRPr lang="en-IN" dirty="0"/>
          </a:p>
          <a:p>
            <a:endParaRPr lang="en-IN" dirty="0"/>
          </a:p>
        </p:txBody>
      </p:sp>
      <p:pic>
        <p:nvPicPr>
          <p:cNvPr id="6" name="Picture 5">
            <a:extLst>
              <a:ext uri="{FF2B5EF4-FFF2-40B4-BE49-F238E27FC236}">
                <a16:creationId xmlns:a16="http://schemas.microsoft.com/office/drawing/2014/main" id="{6BB78FD4-9A2C-4472-0150-EFCBC57D018B}"/>
              </a:ext>
            </a:extLst>
          </p:cNvPr>
          <p:cNvPicPr>
            <a:picLocks noChangeAspect="1"/>
          </p:cNvPicPr>
          <p:nvPr/>
        </p:nvPicPr>
        <p:blipFill>
          <a:blip r:embed="rId2"/>
          <a:stretch>
            <a:fillRect/>
          </a:stretch>
        </p:blipFill>
        <p:spPr>
          <a:xfrm>
            <a:off x="2790391" y="2305651"/>
            <a:ext cx="3305609" cy="1382270"/>
          </a:xfrm>
          <a:prstGeom prst="rect">
            <a:avLst/>
          </a:prstGeom>
        </p:spPr>
      </p:pic>
    </p:spTree>
    <p:extLst>
      <p:ext uri="{BB962C8B-B14F-4D97-AF65-F5344CB8AC3E}">
        <p14:creationId xmlns:p14="http://schemas.microsoft.com/office/powerpoint/2010/main" val="13605043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E72D5ED-9F30-2555-51FF-F0F586406655}"/>
              </a:ext>
            </a:extLst>
          </p:cNvPr>
          <p:cNvPicPr>
            <a:picLocks noGrp="1" noChangeAspect="1"/>
          </p:cNvPicPr>
          <p:nvPr>
            <p:ph idx="1"/>
          </p:nvPr>
        </p:nvPicPr>
        <p:blipFill>
          <a:blip r:embed="rId2"/>
          <a:stretch>
            <a:fillRect/>
          </a:stretch>
        </p:blipFill>
        <p:spPr>
          <a:xfrm>
            <a:off x="3820161" y="410251"/>
            <a:ext cx="3586480" cy="5659102"/>
          </a:xfrm>
        </p:spPr>
      </p:pic>
    </p:spTree>
    <p:extLst>
      <p:ext uri="{BB962C8B-B14F-4D97-AF65-F5344CB8AC3E}">
        <p14:creationId xmlns:p14="http://schemas.microsoft.com/office/powerpoint/2010/main" val="41421596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781165A-776A-4DCB-F47F-D07567CB5E45}"/>
              </a:ext>
            </a:extLst>
          </p:cNvPr>
          <p:cNvPicPr>
            <a:picLocks noGrp="1" noChangeAspect="1"/>
          </p:cNvPicPr>
          <p:nvPr>
            <p:ph idx="1"/>
          </p:nvPr>
        </p:nvPicPr>
        <p:blipFill>
          <a:blip r:embed="rId2"/>
          <a:stretch>
            <a:fillRect/>
          </a:stretch>
        </p:blipFill>
        <p:spPr>
          <a:xfrm>
            <a:off x="2944593" y="537646"/>
            <a:ext cx="6302813" cy="6218495"/>
          </a:xfrm>
        </p:spPr>
      </p:pic>
    </p:spTree>
    <p:extLst>
      <p:ext uri="{BB962C8B-B14F-4D97-AF65-F5344CB8AC3E}">
        <p14:creationId xmlns:p14="http://schemas.microsoft.com/office/powerpoint/2010/main" val="36361600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8A933-3CC5-E49B-5215-C1EA1454896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AB1A23-5EE9-77A7-8C6C-ABC38FFC3DC0}"/>
              </a:ext>
            </a:extLst>
          </p:cNvPr>
          <p:cNvSpPr>
            <a:spLocks noGrp="1"/>
          </p:cNvSpPr>
          <p:nvPr>
            <p:ph idx="1"/>
          </p:nvPr>
        </p:nvSpPr>
        <p:spPr>
          <a:xfrm>
            <a:off x="670560" y="375920"/>
            <a:ext cx="10683240" cy="6127115"/>
          </a:xfrm>
        </p:spPr>
        <p:txBody>
          <a:bodyPr/>
          <a:lstStyle/>
          <a:p>
            <a:pPr marL="0" indent="0">
              <a:buNone/>
            </a:pPr>
            <a:r>
              <a:rPr lang="en-US" b="1" dirty="0"/>
              <a:t>AES Steps:</a:t>
            </a:r>
            <a:endParaRPr lang="en-US" dirty="0"/>
          </a:p>
          <a:p>
            <a:pPr marL="0" indent="0">
              <a:buNone/>
            </a:pPr>
            <a:r>
              <a:rPr lang="en-US" dirty="0"/>
              <a:t>1. During the AES Algorithm processing, a 4 by 4 array of bytes knows as state is modified using multiple rounds.</a:t>
            </a:r>
            <a:r>
              <a:rPr lang="en-IN" dirty="0"/>
              <a:t> </a:t>
            </a:r>
          </a:p>
          <a:p>
            <a:pPr marL="0" indent="0">
              <a:buNone/>
            </a:pPr>
            <a:r>
              <a:rPr lang="en-US" b="0" i="0" dirty="0">
                <a:effectLst/>
                <a:latin typeface="Söhne"/>
              </a:rPr>
              <a:t>2. AES operates on fixed-size blocks of data, with a block size of 128 bits (16 bytes). </a:t>
            </a:r>
          </a:p>
          <a:p>
            <a:pPr marL="0" indent="0">
              <a:buNone/>
            </a:pPr>
            <a:r>
              <a:rPr lang="en-US" dirty="0"/>
              <a:t>3. Full encryption requires 10 to 14 rounds depending on the size of the key</a:t>
            </a:r>
            <a:r>
              <a:rPr lang="en-US" dirty="0">
                <a:latin typeface="Söhne"/>
              </a:rPr>
              <a:t>.</a:t>
            </a:r>
          </a:p>
          <a:p>
            <a:pPr marL="0" indent="0">
              <a:buNone/>
            </a:pPr>
            <a:endParaRPr lang="en-US" dirty="0">
              <a:latin typeface="Söhne"/>
            </a:endParaRPr>
          </a:p>
        </p:txBody>
      </p:sp>
      <p:pic>
        <p:nvPicPr>
          <p:cNvPr id="5" name="Picture 4">
            <a:extLst>
              <a:ext uri="{FF2B5EF4-FFF2-40B4-BE49-F238E27FC236}">
                <a16:creationId xmlns:a16="http://schemas.microsoft.com/office/drawing/2014/main" id="{C28E5135-6BD1-3775-7B58-5FF6E4CD6F0E}"/>
              </a:ext>
            </a:extLst>
          </p:cNvPr>
          <p:cNvPicPr>
            <a:picLocks noChangeAspect="1"/>
          </p:cNvPicPr>
          <p:nvPr/>
        </p:nvPicPr>
        <p:blipFill>
          <a:blip r:embed="rId2"/>
          <a:stretch>
            <a:fillRect/>
          </a:stretch>
        </p:blipFill>
        <p:spPr>
          <a:xfrm>
            <a:off x="2184395" y="3247292"/>
            <a:ext cx="4257045" cy="2148303"/>
          </a:xfrm>
          <a:prstGeom prst="rect">
            <a:avLst/>
          </a:prstGeom>
        </p:spPr>
      </p:pic>
    </p:spTree>
    <p:extLst>
      <p:ext uri="{BB962C8B-B14F-4D97-AF65-F5344CB8AC3E}">
        <p14:creationId xmlns:p14="http://schemas.microsoft.com/office/powerpoint/2010/main" val="38960240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F4B972-956D-943B-3A33-CBB5922B475C}"/>
              </a:ext>
            </a:extLst>
          </p:cNvPr>
          <p:cNvSpPr>
            <a:spLocks noGrp="1"/>
          </p:cNvSpPr>
          <p:nvPr>
            <p:ph idx="1"/>
          </p:nvPr>
        </p:nvSpPr>
        <p:spPr>
          <a:xfrm>
            <a:off x="838200" y="545910"/>
            <a:ext cx="10515600" cy="5631053"/>
          </a:xfrm>
        </p:spPr>
        <p:txBody>
          <a:bodyPr>
            <a:normAutofit/>
          </a:bodyPr>
          <a:lstStyle/>
          <a:p>
            <a:pPr marL="0" indent="0" algn="just">
              <a:buNone/>
            </a:pPr>
            <a:r>
              <a:rPr lang="en-US" dirty="0"/>
              <a:t>4. Once the state is initialized with the input to the cipher, four operations are performed in four stages in order to encrypt the input. </a:t>
            </a:r>
          </a:p>
          <a:p>
            <a:pPr marL="0" indent="0" algn="just">
              <a:buNone/>
            </a:pPr>
            <a:r>
              <a:rPr lang="en-US" dirty="0"/>
              <a:t>These stages are:</a:t>
            </a:r>
          </a:p>
          <a:p>
            <a:pPr marL="0" indent="0" algn="just">
              <a:buNone/>
            </a:pPr>
            <a:r>
              <a:rPr lang="en-US" b="1" dirty="0" err="1"/>
              <a:t>AddRoundKey</a:t>
            </a:r>
            <a:endParaRPr lang="en-US" b="1" dirty="0"/>
          </a:p>
          <a:p>
            <a:pPr marL="0" indent="0" algn="just">
              <a:buNone/>
            </a:pPr>
            <a:r>
              <a:rPr lang="en-US" b="1" dirty="0" err="1"/>
              <a:t>SubBytes</a:t>
            </a:r>
            <a:endParaRPr lang="en-US" b="1" dirty="0"/>
          </a:p>
          <a:p>
            <a:pPr marL="0" indent="0" algn="just">
              <a:buNone/>
            </a:pPr>
            <a:r>
              <a:rPr lang="en-US" b="1" dirty="0" err="1"/>
              <a:t>ShiftRows</a:t>
            </a:r>
            <a:endParaRPr lang="en-US" b="1" dirty="0"/>
          </a:p>
          <a:p>
            <a:pPr marL="0" indent="0" algn="just">
              <a:buNone/>
            </a:pPr>
            <a:r>
              <a:rPr lang="en-US" b="1" dirty="0" err="1"/>
              <a:t>MixColumns</a:t>
            </a:r>
            <a:endParaRPr lang="en-US" dirty="0"/>
          </a:p>
        </p:txBody>
      </p:sp>
    </p:spTree>
    <p:extLst>
      <p:ext uri="{BB962C8B-B14F-4D97-AF65-F5344CB8AC3E}">
        <p14:creationId xmlns:p14="http://schemas.microsoft.com/office/powerpoint/2010/main" val="7760020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429358-B4C2-EA8D-AB8A-557E123E398B}"/>
              </a:ext>
            </a:extLst>
          </p:cNvPr>
          <p:cNvSpPr>
            <a:spLocks noGrp="1"/>
          </p:cNvSpPr>
          <p:nvPr>
            <p:ph idx="1"/>
          </p:nvPr>
        </p:nvSpPr>
        <p:spPr>
          <a:xfrm>
            <a:off x="772160" y="985520"/>
            <a:ext cx="10581640" cy="5191443"/>
          </a:xfrm>
        </p:spPr>
        <p:txBody>
          <a:bodyPr>
            <a:normAutofit/>
          </a:bodyPr>
          <a:lstStyle/>
          <a:p>
            <a:pPr marL="0" indent="0">
              <a:buNone/>
            </a:pPr>
            <a:r>
              <a:rPr lang="en-IN" dirty="0"/>
              <a:t>1. In the </a:t>
            </a:r>
            <a:r>
              <a:rPr lang="en-IN" dirty="0" err="1"/>
              <a:t>AddRoundKey</a:t>
            </a:r>
            <a:r>
              <a:rPr lang="en-IN" dirty="0"/>
              <a:t> step, the state array is XORed with a subkey, which is derived from the master key.</a:t>
            </a:r>
          </a:p>
          <a:p>
            <a:endParaRPr lang="en-IN" dirty="0"/>
          </a:p>
        </p:txBody>
      </p:sp>
      <p:pic>
        <p:nvPicPr>
          <p:cNvPr id="4" name="Picture 3">
            <a:extLst>
              <a:ext uri="{FF2B5EF4-FFF2-40B4-BE49-F238E27FC236}">
                <a16:creationId xmlns:a16="http://schemas.microsoft.com/office/drawing/2014/main" id="{545FB166-CC08-AE18-707D-720FC5BB7061}"/>
              </a:ext>
            </a:extLst>
          </p:cNvPr>
          <p:cNvPicPr>
            <a:picLocks noChangeAspect="1"/>
          </p:cNvPicPr>
          <p:nvPr/>
        </p:nvPicPr>
        <p:blipFill>
          <a:blip r:embed="rId2"/>
          <a:stretch>
            <a:fillRect/>
          </a:stretch>
        </p:blipFill>
        <p:spPr>
          <a:xfrm rot="10800000" flipH="1" flipV="1">
            <a:off x="2205892" y="2096361"/>
            <a:ext cx="7156938" cy="4080602"/>
          </a:xfrm>
          <a:prstGeom prst="rect">
            <a:avLst/>
          </a:prstGeom>
        </p:spPr>
      </p:pic>
    </p:spTree>
    <p:extLst>
      <p:ext uri="{BB962C8B-B14F-4D97-AF65-F5344CB8AC3E}">
        <p14:creationId xmlns:p14="http://schemas.microsoft.com/office/powerpoint/2010/main" val="23235390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278D37-7785-2AB4-AC7C-D0514AC4445D}"/>
              </a:ext>
            </a:extLst>
          </p:cNvPr>
          <p:cNvSpPr>
            <a:spLocks noGrp="1"/>
          </p:cNvSpPr>
          <p:nvPr>
            <p:ph idx="1"/>
          </p:nvPr>
        </p:nvSpPr>
        <p:spPr>
          <a:xfrm>
            <a:off x="670560" y="873760"/>
            <a:ext cx="10683240" cy="5303203"/>
          </a:xfrm>
        </p:spPr>
        <p:txBody>
          <a:bodyPr/>
          <a:lstStyle/>
          <a:p>
            <a:pPr marL="0" indent="0">
              <a:buNone/>
            </a:pPr>
            <a:r>
              <a:rPr lang="en-IN" dirty="0"/>
              <a:t>2. This is the substitution step where a lookup table (S-box) is used to replace all bytes of the state array.</a:t>
            </a:r>
          </a:p>
          <a:p>
            <a:endParaRPr lang="en-IN" dirty="0"/>
          </a:p>
        </p:txBody>
      </p:sp>
      <p:pic>
        <p:nvPicPr>
          <p:cNvPr id="4" name="Picture 3">
            <a:extLst>
              <a:ext uri="{FF2B5EF4-FFF2-40B4-BE49-F238E27FC236}">
                <a16:creationId xmlns:a16="http://schemas.microsoft.com/office/drawing/2014/main" id="{E54E58F5-D063-F086-25FE-0AA40CE2A431}"/>
              </a:ext>
            </a:extLst>
          </p:cNvPr>
          <p:cNvPicPr>
            <a:picLocks noChangeAspect="1"/>
          </p:cNvPicPr>
          <p:nvPr/>
        </p:nvPicPr>
        <p:blipFill>
          <a:blip r:embed="rId2"/>
          <a:stretch>
            <a:fillRect/>
          </a:stretch>
        </p:blipFill>
        <p:spPr>
          <a:xfrm>
            <a:off x="1759267" y="1941465"/>
            <a:ext cx="8505825" cy="4784848"/>
          </a:xfrm>
          <a:prstGeom prst="rect">
            <a:avLst/>
          </a:prstGeom>
        </p:spPr>
      </p:pic>
    </p:spTree>
    <p:extLst>
      <p:ext uri="{BB962C8B-B14F-4D97-AF65-F5344CB8AC3E}">
        <p14:creationId xmlns:p14="http://schemas.microsoft.com/office/powerpoint/2010/main" val="3900789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087BCEB-75CC-4C9B-CFC1-C6AF6195B264}"/>
              </a:ext>
            </a:extLst>
          </p:cNvPr>
          <p:cNvSpPr>
            <a:spLocks noGrp="1"/>
          </p:cNvSpPr>
          <p:nvPr>
            <p:ph idx="1"/>
          </p:nvPr>
        </p:nvSpPr>
        <p:spPr>
          <a:xfrm>
            <a:off x="568960" y="812800"/>
            <a:ext cx="10784840" cy="5364163"/>
          </a:xfrm>
        </p:spPr>
        <p:txBody>
          <a:bodyPr/>
          <a:lstStyle/>
          <a:p>
            <a:r>
              <a:rPr lang="en-US" b="1" dirty="0"/>
              <a:t>S-box (pre defined table)</a:t>
            </a:r>
            <a:endParaRPr lang="en-IN" dirty="0"/>
          </a:p>
        </p:txBody>
      </p:sp>
      <p:pic>
        <p:nvPicPr>
          <p:cNvPr id="6" name="Picture 5">
            <a:extLst>
              <a:ext uri="{FF2B5EF4-FFF2-40B4-BE49-F238E27FC236}">
                <a16:creationId xmlns:a16="http://schemas.microsoft.com/office/drawing/2014/main" id="{F15A5271-06E2-66C7-3BAE-99D2578C0607}"/>
              </a:ext>
            </a:extLst>
          </p:cNvPr>
          <p:cNvPicPr>
            <a:picLocks noChangeAspect="1"/>
          </p:cNvPicPr>
          <p:nvPr/>
        </p:nvPicPr>
        <p:blipFill>
          <a:blip r:embed="rId2"/>
          <a:stretch>
            <a:fillRect/>
          </a:stretch>
        </p:blipFill>
        <p:spPr>
          <a:xfrm>
            <a:off x="1369255" y="1739582"/>
            <a:ext cx="9453489" cy="3077821"/>
          </a:xfrm>
          <a:prstGeom prst="rect">
            <a:avLst/>
          </a:prstGeom>
        </p:spPr>
      </p:pic>
    </p:spTree>
    <p:extLst>
      <p:ext uri="{BB962C8B-B14F-4D97-AF65-F5344CB8AC3E}">
        <p14:creationId xmlns:p14="http://schemas.microsoft.com/office/powerpoint/2010/main" val="5842782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CEB27D-89FF-D2B4-0893-65029A2D5A38}"/>
              </a:ext>
            </a:extLst>
          </p:cNvPr>
          <p:cNvSpPr>
            <a:spLocks noGrp="1"/>
          </p:cNvSpPr>
          <p:nvPr>
            <p:ph idx="1"/>
          </p:nvPr>
        </p:nvSpPr>
        <p:spPr>
          <a:xfrm>
            <a:off x="802640" y="660400"/>
            <a:ext cx="10551160" cy="5516563"/>
          </a:xfrm>
        </p:spPr>
        <p:txBody>
          <a:bodyPr/>
          <a:lstStyle/>
          <a:p>
            <a:pPr marL="0" indent="0">
              <a:buNone/>
            </a:pPr>
            <a:r>
              <a:rPr lang="en-IN" dirty="0"/>
              <a:t>3. This step is used to shift each row except the first one in the state array to the left in a cyclic and incremental manner.</a:t>
            </a:r>
          </a:p>
          <a:p>
            <a:endParaRPr lang="en-IN" dirty="0"/>
          </a:p>
        </p:txBody>
      </p:sp>
      <p:pic>
        <p:nvPicPr>
          <p:cNvPr id="4" name="Picture 3">
            <a:extLst>
              <a:ext uri="{FF2B5EF4-FFF2-40B4-BE49-F238E27FC236}">
                <a16:creationId xmlns:a16="http://schemas.microsoft.com/office/drawing/2014/main" id="{C877E65C-FEDE-1318-E501-C51060958922}"/>
              </a:ext>
            </a:extLst>
          </p:cNvPr>
          <p:cNvPicPr>
            <a:picLocks noChangeAspect="1"/>
          </p:cNvPicPr>
          <p:nvPr/>
        </p:nvPicPr>
        <p:blipFill>
          <a:blip r:embed="rId2"/>
          <a:stretch>
            <a:fillRect/>
          </a:stretch>
        </p:blipFill>
        <p:spPr>
          <a:xfrm>
            <a:off x="2037393" y="1587297"/>
            <a:ext cx="8081653" cy="4589666"/>
          </a:xfrm>
          <a:prstGeom prst="rect">
            <a:avLst/>
          </a:prstGeom>
        </p:spPr>
      </p:pic>
    </p:spTree>
    <p:extLst>
      <p:ext uri="{BB962C8B-B14F-4D97-AF65-F5344CB8AC3E}">
        <p14:creationId xmlns:p14="http://schemas.microsoft.com/office/powerpoint/2010/main" val="28302427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71B79-0DF1-924C-8D5A-1658771BCB92}"/>
              </a:ext>
            </a:extLst>
          </p:cNvPr>
          <p:cNvSpPr>
            <a:spLocks noGrp="1"/>
          </p:cNvSpPr>
          <p:nvPr>
            <p:ph idx="1"/>
          </p:nvPr>
        </p:nvSpPr>
        <p:spPr>
          <a:xfrm>
            <a:off x="680720" y="812800"/>
            <a:ext cx="10673080" cy="5364163"/>
          </a:xfrm>
        </p:spPr>
        <p:txBody>
          <a:bodyPr/>
          <a:lstStyle/>
          <a:p>
            <a:r>
              <a:rPr lang="en-IN" dirty="0"/>
              <a:t>4. Finally, all bytes are mixed in this step in a linear fashion column-wise.</a:t>
            </a:r>
          </a:p>
          <a:p>
            <a:endParaRPr lang="en-IN" dirty="0"/>
          </a:p>
          <a:p>
            <a:endParaRPr lang="en-IN" dirty="0"/>
          </a:p>
        </p:txBody>
      </p:sp>
      <p:pic>
        <p:nvPicPr>
          <p:cNvPr id="4" name="Picture 3">
            <a:extLst>
              <a:ext uri="{FF2B5EF4-FFF2-40B4-BE49-F238E27FC236}">
                <a16:creationId xmlns:a16="http://schemas.microsoft.com/office/drawing/2014/main" id="{1591576F-308B-4BE7-6A2C-1460C4616F25}"/>
              </a:ext>
            </a:extLst>
          </p:cNvPr>
          <p:cNvPicPr>
            <a:picLocks noChangeAspect="1"/>
          </p:cNvPicPr>
          <p:nvPr/>
        </p:nvPicPr>
        <p:blipFill>
          <a:blip r:embed="rId2"/>
          <a:stretch>
            <a:fillRect/>
          </a:stretch>
        </p:blipFill>
        <p:spPr>
          <a:xfrm>
            <a:off x="2665759" y="1425580"/>
            <a:ext cx="7416678" cy="5134708"/>
          </a:xfrm>
          <a:prstGeom prst="rect">
            <a:avLst/>
          </a:prstGeom>
        </p:spPr>
      </p:pic>
    </p:spTree>
    <p:extLst>
      <p:ext uri="{BB962C8B-B14F-4D97-AF65-F5344CB8AC3E}">
        <p14:creationId xmlns:p14="http://schemas.microsoft.com/office/powerpoint/2010/main" val="26175247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2FDB437-34E4-CF56-B3A1-354C2CA1C00E}"/>
              </a:ext>
            </a:extLst>
          </p:cNvPr>
          <p:cNvPicPr>
            <a:picLocks noGrp="1" noChangeAspect="1"/>
          </p:cNvPicPr>
          <p:nvPr>
            <p:ph idx="1"/>
          </p:nvPr>
        </p:nvPicPr>
        <p:blipFill>
          <a:blip r:embed="rId2"/>
          <a:stretch>
            <a:fillRect/>
          </a:stretch>
        </p:blipFill>
        <p:spPr>
          <a:xfrm>
            <a:off x="1648696" y="990383"/>
            <a:ext cx="8704344" cy="4877233"/>
          </a:xfrm>
          <a:prstGeom prst="rect">
            <a:avLst/>
          </a:prstGeom>
        </p:spPr>
      </p:pic>
    </p:spTree>
    <p:extLst>
      <p:ext uri="{BB962C8B-B14F-4D97-AF65-F5344CB8AC3E}">
        <p14:creationId xmlns:p14="http://schemas.microsoft.com/office/powerpoint/2010/main" val="18936689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C8E67D9-A06D-44F1-2F60-3DCB10D07499}"/>
              </a:ext>
            </a:extLst>
          </p:cNvPr>
          <p:cNvPicPr>
            <a:picLocks noGrp="1" noChangeAspect="1"/>
          </p:cNvPicPr>
          <p:nvPr>
            <p:ph idx="1"/>
          </p:nvPr>
        </p:nvPicPr>
        <p:blipFill>
          <a:blip r:embed="rId2"/>
          <a:stretch>
            <a:fillRect/>
          </a:stretch>
        </p:blipFill>
        <p:spPr>
          <a:xfrm>
            <a:off x="1192315" y="1168400"/>
            <a:ext cx="9807370" cy="4676362"/>
          </a:xfrm>
          <a:prstGeom prst="rect">
            <a:avLst/>
          </a:prstGeom>
        </p:spPr>
      </p:pic>
    </p:spTree>
    <p:extLst>
      <p:ext uri="{BB962C8B-B14F-4D97-AF65-F5344CB8AC3E}">
        <p14:creationId xmlns:p14="http://schemas.microsoft.com/office/powerpoint/2010/main" val="27501907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1DFD1C2-6D47-170B-C29A-AF5E7255F0EB}"/>
              </a:ext>
            </a:extLst>
          </p:cNvPr>
          <p:cNvPicPr>
            <a:picLocks noGrp="1" noChangeAspect="1"/>
          </p:cNvPicPr>
          <p:nvPr>
            <p:ph idx="1"/>
          </p:nvPr>
        </p:nvPicPr>
        <p:blipFill>
          <a:blip r:embed="rId2"/>
          <a:stretch>
            <a:fillRect/>
          </a:stretch>
        </p:blipFill>
        <p:spPr>
          <a:xfrm>
            <a:off x="1463040" y="1127760"/>
            <a:ext cx="8727440" cy="5058826"/>
          </a:xfrm>
          <a:prstGeom prst="rect">
            <a:avLst/>
          </a:prstGeom>
        </p:spPr>
      </p:pic>
    </p:spTree>
    <p:extLst>
      <p:ext uri="{BB962C8B-B14F-4D97-AF65-F5344CB8AC3E}">
        <p14:creationId xmlns:p14="http://schemas.microsoft.com/office/powerpoint/2010/main" val="34362744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B31F5-8C31-4BC3-EFD0-B713378B061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EAA9E3C-831B-461E-8C45-46EB84F28B9F}"/>
              </a:ext>
            </a:extLst>
          </p:cNvPr>
          <p:cNvSpPr>
            <a:spLocks noGrp="1"/>
          </p:cNvSpPr>
          <p:nvPr>
            <p:ph idx="1"/>
          </p:nvPr>
        </p:nvSpPr>
        <p:spPr>
          <a:xfrm>
            <a:off x="568960" y="812800"/>
            <a:ext cx="10784840" cy="5364163"/>
          </a:xfrm>
        </p:spPr>
        <p:txBody>
          <a:bodyPr/>
          <a:lstStyle/>
          <a:p>
            <a:r>
              <a:rPr lang="en-US" b="1" dirty="0"/>
              <a:t>S-box (pre defined table)</a:t>
            </a:r>
            <a:endParaRPr lang="en-IN" dirty="0"/>
          </a:p>
        </p:txBody>
      </p:sp>
      <p:pic>
        <p:nvPicPr>
          <p:cNvPr id="6" name="Picture 5">
            <a:extLst>
              <a:ext uri="{FF2B5EF4-FFF2-40B4-BE49-F238E27FC236}">
                <a16:creationId xmlns:a16="http://schemas.microsoft.com/office/drawing/2014/main" id="{331551EA-0D4F-1BDA-3493-57B80F3A76B6}"/>
              </a:ext>
            </a:extLst>
          </p:cNvPr>
          <p:cNvPicPr>
            <a:picLocks noChangeAspect="1"/>
          </p:cNvPicPr>
          <p:nvPr/>
        </p:nvPicPr>
        <p:blipFill>
          <a:blip r:embed="rId2"/>
          <a:stretch>
            <a:fillRect/>
          </a:stretch>
        </p:blipFill>
        <p:spPr>
          <a:xfrm>
            <a:off x="1369255" y="1739582"/>
            <a:ext cx="9453489" cy="3077821"/>
          </a:xfrm>
          <a:prstGeom prst="rect">
            <a:avLst/>
          </a:prstGeom>
        </p:spPr>
      </p:pic>
    </p:spTree>
    <p:extLst>
      <p:ext uri="{BB962C8B-B14F-4D97-AF65-F5344CB8AC3E}">
        <p14:creationId xmlns:p14="http://schemas.microsoft.com/office/powerpoint/2010/main" val="32340526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41D1950-1A23-3BA5-55C5-32910F184434}"/>
              </a:ext>
            </a:extLst>
          </p:cNvPr>
          <p:cNvPicPr>
            <a:picLocks noGrp="1" noChangeAspect="1"/>
          </p:cNvPicPr>
          <p:nvPr>
            <p:ph idx="1"/>
          </p:nvPr>
        </p:nvPicPr>
        <p:blipFill>
          <a:blip r:embed="rId2"/>
          <a:stretch>
            <a:fillRect/>
          </a:stretch>
        </p:blipFill>
        <p:spPr>
          <a:xfrm>
            <a:off x="1095174" y="1076960"/>
            <a:ext cx="10009706" cy="5120640"/>
          </a:xfrm>
          <a:prstGeom prst="rect">
            <a:avLst/>
          </a:prstGeom>
        </p:spPr>
      </p:pic>
    </p:spTree>
    <p:extLst>
      <p:ext uri="{BB962C8B-B14F-4D97-AF65-F5344CB8AC3E}">
        <p14:creationId xmlns:p14="http://schemas.microsoft.com/office/powerpoint/2010/main" val="40951939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53670D-762D-71C3-9D6F-3BF9EB8EB7D8}"/>
              </a:ext>
            </a:extLst>
          </p:cNvPr>
          <p:cNvSpPr>
            <a:spLocks noGrp="1"/>
          </p:cNvSpPr>
          <p:nvPr>
            <p:ph idx="1"/>
          </p:nvPr>
        </p:nvSpPr>
        <p:spPr>
          <a:xfrm>
            <a:off x="671945" y="1132898"/>
            <a:ext cx="10515600" cy="4351338"/>
          </a:xfrm>
        </p:spPr>
        <p:txBody>
          <a:bodyPr/>
          <a:lstStyle/>
          <a:p>
            <a:pPr marL="0" indent="0" algn="just">
              <a:buNone/>
            </a:pPr>
            <a:r>
              <a:rPr lang="en-US" dirty="0"/>
              <a:t>This combination of operations—</a:t>
            </a:r>
            <a:r>
              <a:rPr lang="en-US" b="1" dirty="0"/>
              <a:t>confusion</a:t>
            </a:r>
            <a:r>
              <a:rPr lang="en-US" dirty="0"/>
              <a:t> (</a:t>
            </a:r>
            <a:r>
              <a:rPr lang="en-US" dirty="0" err="1"/>
              <a:t>SubBytes</a:t>
            </a:r>
            <a:r>
              <a:rPr lang="en-US" dirty="0"/>
              <a:t> and </a:t>
            </a:r>
            <a:r>
              <a:rPr lang="en-US" dirty="0" err="1"/>
              <a:t>AddRoundKey</a:t>
            </a:r>
            <a:r>
              <a:rPr lang="en-US" dirty="0"/>
              <a:t>) and </a:t>
            </a:r>
            <a:r>
              <a:rPr lang="en-US" b="1" dirty="0"/>
              <a:t>diffusion</a:t>
            </a:r>
            <a:r>
              <a:rPr lang="en-US" dirty="0"/>
              <a:t> (</a:t>
            </a:r>
            <a:r>
              <a:rPr lang="en-US" dirty="0" err="1"/>
              <a:t>ShiftRows</a:t>
            </a:r>
            <a:r>
              <a:rPr lang="en-US" dirty="0"/>
              <a:t> and </a:t>
            </a:r>
            <a:r>
              <a:rPr lang="en-US" dirty="0" err="1"/>
              <a:t>MixColumns</a:t>
            </a:r>
            <a:r>
              <a:rPr lang="en-US" dirty="0"/>
              <a:t>)—ensures the high security of AES encryption.</a:t>
            </a:r>
            <a:endParaRPr lang="en-IN" dirty="0"/>
          </a:p>
        </p:txBody>
      </p:sp>
    </p:spTree>
    <p:extLst>
      <p:ext uri="{BB962C8B-B14F-4D97-AF65-F5344CB8AC3E}">
        <p14:creationId xmlns:p14="http://schemas.microsoft.com/office/powerpoint/2010/main" val="3678471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39930</TotalTime>
  <Words>3420</Words>
  <Application>Microsoft Office PowerPoint</Application>
  <PresentationFormat>Widescreen</PresentationFormat>
  <Paragraphs>317</Paragraphs>
  <Slides>78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78</vt:i4>
      </vt:variant>
    </vt:vector>
  </HeadingPairs>
  <TitlesOfParts>
    <vt:vector size="87" baseType="lpstr">
      <vt:lpstr>Arial</vt:lpstr>
      <vt:lpstr>Book Antiqua</vt:lpstr>
      <vt:lpstr>Calibri</vt:lpstr>
      <vt:lpstr>Calibri (Body)</vt:lpstr>
      <vt:lpstr>Calibri Light</vt:lpstr>
      <vt:lpstr>Söhne</vt:lpstr>
      <vt:lpstr>Times New Roman</vt:lpstr>
      <vt:lpstr>Wingdings</vt:lpstr>
      <vt:lpstr>Office Theme</vt:lpstr>
      <vt:lpstr>Blockchain Technology</vt:lpstr>
      <vt:lpstr>Topics to be covered ….</vt:lpstr>
      <vt:lpstr>PowerPoint Presentation</vt:lpstr>
      <vt:lpstr>                                   CENTRALIZED SYSTEM</vt:lpstr>
      <vt:lpstr>DECENTRALIZED SYSTEM</vt:lpstr>
      <vt:lpstr>PowerPoint Presentation</vt:lpstr>
      <vt:lpstr>Decentralization Using Blockchain</vt:lpstr>
      <vt:lpstr>Distributed System</vt:lpstr>
      <vt:lpstr>Different types of network/system</vt:lpstr>
      <vt:lpstr>PowerPoint Presentation</vt:lpstr>
      <vt:lpstr>PowerPoint Presentation</vt:lpstr>
      <vt:lpstr>              Methods of decentralization</vt:lpstr>
      <vt:lpstr>PowerPoint Presentation</vt:lpstr>
      <vt:lpstr>PowerPoint Presentation</vt:lpstr>
      <vt:lpstr> Scale of decentralization  </vt:lpstr>
      <vt:lpstr>PowerPoint Presentation</vt:lpstr>
      <vt:lpstr>PowerPoint Presentation</vt:lpstr>
      <vt:lpstr>PowerPoint Presentation</vt:lpstr>
      <vt:lpstr>How to decentralize?</vt:lpstr>
      <vt:lpstr> Use case : Money transfer </vt:lpstr>
      <vt:lpstr>Blockchain and full ecosystem decentralization</vt:lpstr>
      <vt:lpstr>PowerPoint Presentation</vt:lpstr>
      <vt:lpstr>PowerPoint Presentation</vt:lpstr>
      <vt:lpstr>PowerPoint Presentation</vt:lpstr>
      <vt:lpstr>PowerPoint Presentation</vt:lpstr>
      <vt:lpstr>                         SMART CONTRACTS</vt:lpstr>
      <vt:lpstr>PowerPoint Presentation</vt:lpstr>
      <vt:lpstr>Decentralized organizations</vt:lpstr>
      <vt:lpstr>Decentralized organizations</vt:lpstr>
      <vt:lpstr>PowerPoint Presentation</vt:lpstr>
      <vt:lpstr>Decentralized autonomous organizations</vt:lpstr>
      <vt:lpstr>PowerPoint Presentation</vt:lpstr>
      <vt:lpstr>Decentralized autonomous corporations</vt:lpstr>
      <vt:lpstr>Decentralized autonomous societies</vt:lpstr>
      <vt:lpstr>PowerPoint Presentation</vt:lpstr>
      <vt:lpstr>PowerPoint Presentation</vt:lpstr>
      <vt:lpstr>PowerPoint Presentation</vt:lpstr>
      <vt:lpstr>     PLATFORMS FOR DECENTRALIZATION</vt:lpstr>
      <vt:lpstr>PowerPoint Presentation</vt:lpstr>
      <vt:lpstr>PowerPoint Presentation</vt:lpstr>
      <vt:lpstr>Cryptography and Technical Foundations </vt:lpstr>
      <vt:lpstr>PowerPoint Presentation</vt:lpstr>
      <vt:lpstr>Cryptography</vt:lpstr>
      <vt:lpstr>                             Cryptography</vt:lpstr>
      <vt:lpstr>Cryptography</vt:lpstr>
      <vt:lpstr>PowerPoint Presentation</vt:lpstr>
      <vt:lpstr>PowerPoint Presentation</vt:lpstr>
      <vt:lpstr>Non-repudiation</vt:lpstr>
      <vt:lpstr>Accountability</vt:lpstr>
      <vt:lpstr>Cryptographic primitives</vt:lpstr>
      <vt:lpstr>PowerPoint Presentation</vt:lpstr>
      <vt:lpstr>Symmetric cryptography</vt:lpstr>
      <vt:lpstr>Stream ciphers</vt:lpstr>
      <vt:lpstr>Block ciphers</vt:lpstr>
      <vt:lpstr>PowerPoint Presentation</vt:lpstr>
      <vt:lpstr>PowerPoint Presentation</vt:lpstr>
      <vt:lpstr>PowerPoint Presentation</vt:lpstr>
      <vt:lpstr>Electronic code book</vt:lpstr>
      <vt:lpstr>Cipher block chaining</vt:lpstr>
      <vt:lpstr>Counter mode</vt:lpstr>
      <vt:lpstr>PowerPoint Presentation</vt:lpstr>
      <vt:lpstr>DES</vt:lpstr>
      <vt:lpstr>Advanced Encryption Standard (AES)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Shilpa KS ISE</dc:creator>
  <cp:lastModifiedBy>Abdul Latif Saleem CSE</cp:lastModifiedBy>
  <cp:revision>284</cp:revision>
  <dcterms:created xsi:type="dcterms:W3CDTF">2023-04-05T10:40:12Z</dcterms:created>
  <dcterms:modified xsi:type="dcterms:W3CDTF">2025-03-17T03:24:39Z</dcterms:modified>
</cp:coreProperties>
</file>