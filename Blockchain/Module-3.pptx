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94" r:id="rId3"/>
    <p:sldId id="257" r:id="rId4"/>
    <p:sldId id="295" r:id="rId5"/>
    <p:sldId id="296" r:id="rId6"/>
    <p:sldId id="882" r:id="rId7"/>
    <p:sldId id="883" r:id="rId8"/>
    <p:sldId id="884" r:id="rId9"/>
    <p:sldId id="885" r:id="rId10"/>
    <p:sldId id="258" r:id="rId11"/>
    <p:sldId id="260" r:id="rId12"/>
    <p:sldId id="298" r:id="rId13"/>
    <p:sldId id="299" r:id="rId14"/>
    <p:sldId id="300" r:id="rId15"/>
    <p:sldId id="888" r:id="rId16"/>
    <p:sldId id="908" r:id="rId17"/>
    <p:sldId id="881" r:id="rId18"/>
    <p:sldId id="886" r:id="rId19"/>
    <p:sldId id="887" r:id="rId20"/>
    <p:sldId id="892" r:id="rId21"/>
    <p:sldId id="894" r:id="rId22"/>
    <p:sldId id="893" r:id="rId23"/>
    <p:sldId id="275" r:id="rId24"/>
    <p:sldId id="301" r:id="rId25"/>
    <p:sldId id="272" r:id="rId26"/>
    <p:sldId id="274" r:id="rId27"/>
    <p:sldId id="277" r:id="rId28"/>
    <p:sldId id="895" r:id="rId29"/>
    <p:sldId id="896" r:id="rId30"/>
    <p:sldId id="897" r:id="rId31"/>
    <p:sldId id="898" r:id="rId32"/>
    <p:sldId id="872" r:id="rId33"/>
    <p:sldId id="899" r:id="rId34"/>
    <p:sldId id="900" r:id="rId35"/>
    <p:sldId id="901" r:id="rId36"/>
    <p:sldId id="902" r:id="rId37"/>
    <p:sldId id="919" r:id="rId38"/>
    <p:sldId id="918" r:id="rId39"/>
    <p:sldId id="905" r:id="rId40"/>
    <p:sldId id="903" r:id="rId41"/>
    <p:sldId id="904" r:id="rId42"/>
    <p:sldId id="906" r:id="rId43"/>
    <p:sldId id="907" r:id="rId44"/>
    <p:sldId id="879" r:id="rId45"/>
    <p:sldId id="880" r:id="rId46"/>
    <p:sldId id="909" r:id="rId47"/>
    <p:sldId id="910" r:id="rId48"/>
    <p:sldId id="290" r:id="rId49"/>
    <p:sldId id="913" r:id="rId50"/>
    <p:sldId id="914" r:id="rId51"/>
    <p:sldId id="915" r:id="rId52"/>
    <p:sldId id="916" r:id="rId53"/>
    <p:sldId id="285" r:id="rId54"/>
    <p:sldId id="286" r:id="rId55"/>
    <p:sldId id="917" r:id="rId5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1" roundtripDataSignature="AMtx7mhI8+CqJgJo11UZIypGeMvXNJr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ational_Security_Agency" TargetMode="External"/><Relationship Id="rId2" Type="http://schemas.openxmlformats.org/officeDocument/2006/relationships/hyperlink" Target="https://en.wikipedia.org/wiki/Cryptographic_hash_function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en.wikipedia.org/wiki/Merkle%E2%80%93Damg%C3%A5rd_construction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Blockchain Technology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sz="2400" b="1" dirty="0"/>
              <a:t>Module 3- Cryptographic Primitives</a:t>
            </a:r>
            <a:endParaRPr lang="en-IN" sz="2400" b="1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3094" y="98914"/>
            <a:ext cx="70675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6B90D-52F9-7172-B447-6A4F55BFF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to be covered…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D340F-493E-1212-93B3-FD5789E8B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7945" marR="60325" algn="just">
              <a:spcBef>
                <a:spcPts val="5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Cryptographic</a:t>
            </a:r>
            <a:r>
              <a:rPr lang="en-US" b="1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primitives:</a:t>
            </a:r>
          </a:p>
          <a:p>
            <a:pPr marL="0" marR="60325" indent="0" algn="just">
              <a:spcBef>
                <a:spcPts val="5"/>
              </a:spcBef>
              <a:spcAft>
                <a:spcPts val="0"/>
              </a:spcAft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60325" algn="just"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Asymmetric</a:t>
            </a:r>
            <a:r>
              <a:rPr lang="en-US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cryptography.</a:t>
            </a:r>
            <a:endParaRPr lang="en-US" spc="5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60325" algn="just"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Hash</a:t>
            </a:r>
            <a:r>
              <a:rPr lang="en-US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functions.</a:t>
            </a:r>
          </a:p>
          <a:p>
            <a:pPr marR="60325" algn="just"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Secure</a:t>
            </a:r>
            <a:r>
              <a:rPr lang="en-US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Hash</a:t>
            </a:r>
            <a:r>
              <a:rPr lang="en-US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 (SHAs).</a:t>
            </a:r>
          </a:p>
          <a:p>
            <a:pPr marR="60325" algn="just"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Merkle</a:t>
            </a:r>
            <a:r>
              <a:rPr lang="en-US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trees.</a:t>
            </a:r>
          </a:p>
          <a:p>
            <a:pPr marR="60325" algn="just"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Patricia</a:t>
            </a:r>
            <a:r>
              <a:rPr lang="en-US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trees.</a:t>
            </a:r>
            <a:endParaRPr lang="en-US" spc="-15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60325" algn="just"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Distributed</a:t>
            </a:r>
            <a:r>
              <a:rPr lang="en-US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hash</a:t>
            </a:r>
            <a:r>
              <a:rPr lang="en-US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tables (DHTs).</a:t>
            </a:r>
            <a:endParaRPr lang="en-US" spc="-5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60325" algn="just"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</a:t>
            </a:r>
            <a:r>
              <a:rPr lang="en-US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signatures.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822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/>
              <a:t>Asymmetric cryptography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Asymmetric cryptography refers to a type of cryptography whereby the key that is used to encrypt the data is </a:t>
            </a:r>
            <a:r>
              <a:rPr lang="en-IN" b="1">
                <a:solidFill>
                  <a:srgbClr val="FF0000"/>
                </a:solidFill>
              </a:rPr>
              <a:t>different</a:t>
            </a:r>
            <a:r>
              <a:rPr lang="en-IN"/>
              <a:t> from the key that is used to decrypt the data.</a:t>
            </a:r>
            <a:endParaRPr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9919" y="3159677"/>
            <a:ext cx="4671566" cy="347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4910-01F2-897B-EDDB-B4A2F781C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4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odel is only used for message authentication and validation purposes: 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90FA12A-558C-BF9D-0E26-8FC3FCF80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9815" y="1801760"/>
            <a:ext cx="7812370" cy="4953000"/>
          </a:xfrm>
        </p:spPr>
      </p:pic>
    </p:spTree>
    <p:extLst>
      <p:ext uri="{BB962C8B-B14F-4D97-AF65-F5344CB8AC3E}">
        <p14:creationId xmlns:p14="http://schemas.microsoft.com/office/powerpoint/2010/main" val="3822355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FACCF-7F1D-AD81-DE81-E539BD06D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7829"/>
            <a:ext cx="10668000" cy="5589134"/>
          </a:xfrm>
        </p:spPr>
        <p:txBody>
          <a:bodyPr/>
          <a:lstStyle/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 offered by public key cryptosystem include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establishment---- setting of Keys over a insecure channel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igital signatures ----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Non-repudiation service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dentification------ Identify the entity involved in transaction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ncryption and decryption</a:t>
            </a:r>
            <a:r>
              <a:rPr lang="en-IN" sz="1800" b="0" i="0" u="none" strike="noStrike" baseline="0" dirty="0">
                <a:latin typeface="PalatinoLinotype-Roman"/>
                <a:cs typeface="Times New Roman" panose="02020603050405020304" pitchFamily="18" charset="0"/>
              </a:rPr>
              <a:t>-------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725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A6A8-53E3-DF0F-A5DB-0E073B48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Key Establishment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F0C47-6ED2-B439-9727-E468D403A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: Securely exchanging encryption keys over an insecure channel.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Mechanism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: Public key cryptography enables secure key exchange.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Diffie-Hellman Key Exchange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: Two parties securely establish a shared secret key over an insecure network.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RSA-based Key Exchange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: A sender encrypts a secret key with the recipient’s public key, which can only be decrypted with the recipient’s private key.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766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DE08-A9CE-BDF0-09F9-B754671A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Digital Signatures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2457B-5D6F-A539-FE87-8AF524177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: Provides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authentication, integrity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and non-repudiation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Mechanism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The sender signs a message using their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private key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The receiver verifies the signature using the sender's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public key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RSA, DSA and ECDSA digital signatures ensure that a document/message comes from a legitimate sender and has not been tampered with.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512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35BB-BAA9-2129-CF9B-0A23FB06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Identification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396EC-06C7-833C-1AF9-3F711FB39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Verifies the identity of an entity (e.g., user, device, or server) in a transaction.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Mechanism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challenge-response mechanism using a public-private key pair.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SSL/TLS Handshake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Websites prove their authenticity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X.509 certificates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signed by Certificate Authorities (CAs).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Smart Cards &amp; Digital IDs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Used for secure authentication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768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568F-449B-FF27-3FC0-C3550567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Encryption and Decryption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08F7B-C607-7140-1B12-1DA410D25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: Ensures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confidentiality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of data by converting plaintext into ciphertext.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Mechanism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The sender encrypts the data with the recipient’s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public key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Only the recipient can decrypt it using their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private key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RSA Encryption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: Often used in secure email (PGP), SSL/TLS, and secure messaging.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Elliptic Curve Cryptography (ECC)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: A lightweight alternative to RSA for secure encryption.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44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990600" y="979714"/>
            <a:ext cx="10363200" cy="5197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The private key remains on the receiver's side and there is </a:t>
            </a:r>
            <a:r>
              <a:rPr lang="en-IN" b="1" dirty="0">
                <a:solidFill>
                  <a:srgbClr val="FF0000"/>
                </a:solidFill>
              </a:rPr>
              <a:t>no need </a:t>
            </a:r>
            <a:r>
              <a:rPr lang="en-IN" dirty="0"/>
              <a:t>to share keys in order to perform encryption and decryption.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Public key cryptography can be used to verify the </a:t>
            </a:r>
            <a:r>
              <a:rPr lang="en-US" b="1" dirty="0">
                <a:solidFill>
                  <a:srgbClr val="FF0000"/>
                </a:solidFill>
              </a:rPr>
              <a:t>integrity</a:t>
            </a:r>
            <a:r>
              <a:rPr lang="en-US" dirty="0"/>
              <a:t> of the received message by the receiver.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There is no encryption being performed in this model. This model is only used for message </a:t>
            </a:r>
            <a:r>
              <a:rPr lang="en-US" b="1" dirty="0">
                <a:solidFill>
                  <a:srgbClr val="FF0000"/>
                </a:solidFill>
              </a:rPr>
              <a:t>authentication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validation</a:t>
            </a:r>
            <a:r>
              <a:rPr lang="en-US" dirty="0"/>
              <a:t> purposes.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 dirty="0"/>
              <a:t>Public and private keys</a:t>
            </a:r>
            <a:endParaRPr dirty="0"/>
          </a:p>
        </p:txBody>
      </p:sp>
      <p:sp>
        <p:nvSpPr>
          <p:cNvPr id="116" name="Google Shape;116;p5"/>
          <p:cNvSpPr txBox="1">
            <a:spLocks noGrp="1"/>
          </p:cNvSpPr>
          <p:nvPr>
            <p:ph type="body" idx="1"/>
          </p:nvPr>
        </p:nvSpPr>
        <p:spPr>
          <a:xfrm>
            <a:off x="653143" y="1343818"/>
            <a:ext cx="10700657" cy="483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A private key, as the names suggests, is basically a </a:t>
            </a:r>
            <a:r>
              <a:rPr lang="en-IN" b="1" dirty="0">
                <a:solidFill>
                  <a:srgbClr val="FF0000"/>
                </a:solidFill>
              </a:rPr>
              <a:t>randomly generated number</a:t>
            </a:r>
            <a:r>
              <a:rPr lang="en-IN" dirty="0"/>
              <a:t> that is kept secret.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Private keys can be of </a:t>
            </a:r>
            <a:r>
              <a:rPr lang="en-IN" b="1" dirty="0">
                <a:solidFill>
                  <a:srgbClr val="FF0000"/>
                </a:solidFill>
              </a:rPr>
              <a:t>various lengths </a:t>
            </a:r>
            <a:r>
              <a:rPr lang="en-IN" dirty="0"/>
              <a:t>depending upon the type and class of algorithms used.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key needs to be protected and no unauthorized access should be granted to that key</a:t>
            </a:r>
            <a:r>
              <a:rPr lang="en-IN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RSA, typically, a key of </a:t>
            </a:r>
            <a:r>
              <a:rPr lang="en-IN" b="1" dirty="0">
                <a:solidFill>
                  <a:srgbClr val="FF0000"/>
                </a:solidFill>
              </a:rPr>
              <a:t>1024-bit</a:t>
            </a:r>
            <a:r>
              <a:rPr lang="en-IN" dirty="0"/>
              <a:t> or </a:t>
            </a:r>
            <a:r>
              <a:rPr lang="en-IN" b="1" dirty="0">
                <a:solidFill>
                  <a:srgbClr val="FF0000"/>
                </a:solidFill>
              </a:rPr>
              <a:t>2048-bits</a:t>
            </a:r>
            <a:r>
              <a:rPr lang="en-IN" dirty="0"/>
              <a:t> is used.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1024-bit key size is no longer considered secure and at least </a:t>
            </a:r>
            <a:r>
              <a:rPr lang="en-IN" b="1" dirty="0">
                <a:solidFill>
                  <a:srgbClr val="FF0000"/>
                </a:solidFill>
              </a:rPr>
              <a:t>2048</a:t>
            </a:r>
            <a:r>
              <a:rPr lang="en-IN" dirty="0"/>
              <a:t> bit is </a:t>
            </a:r>
            <a:r>
              <a:rPr lang="en-IN" b="1" dirty="0">
                <a:solidFill>
                  <a:srgbClr val="FF0000"/>
                </a:solidFill>
              </a:rPr>
              <a:t>recommended</a:t>
            </a:r>
            <a:r>
              <a:rPr lang="en-IN" dirty="0"/>
              <a:t> to be used in practice.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A726A-E2CE-BB7C-D2E9-70E26778A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26" y="884903"/>
            <a:ext cx="11828206" cy="5292060"/>
          </a:xfrm>
        </p:spPr>
        <p:txBody>
          <a:bodyPr>
            <a:normAutofit/>
          </a:bodyPr>
          <a:lstStyle/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key cryptography algorithms are based on various underlying mathematical problems.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main families of asymmetric algorithms.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800" b="1" i="0" u="none" strike="noStrike" baseline="0" dirty="0">
                <a:latin typeface="Arial-BoldMT"/>
              </a:rPr>
              <a:t> </a:t>
            </a: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factorization.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logarithm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curves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IN" sz="24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factorization.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schemes are based on fact that large integers are very hard to factor. RSA is the prime example of this type of algorithm.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25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47F9-275D-B096-B5EA-3D90F767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23" y="365125"/>
            <a:ext cx="11103077" cy="932733"/>
          </a:xfrm>
        </p:spPr>
        <p:txBody>
          <a:bodyPr>
            <a:normAutofit/>
          </a:bodyPr>
          <a:lstStyle/>
          <a:p>
            <a:r>
              <a:rPr lang="en-IN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logarithm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E851DA-A521-1EFC-657D-B8D250155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723" y="1179870"/>
                <a:ext cx="11518490" cy="551589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IN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based on a problem in modular arithmetic that it is easy to calculate the result of modulo function, but it is computationally infeasible to find the exponent of the generator.</a:t>
                </a:r>
              </a:p>
              <a:p>
                <a:pPr algn="just"/>
                <a:r>
                  <a:rPr lang="en-IN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other words, it is extremely difficult to find the input from the result. This is a one-way function.</a:t>
                </a:r>
              </a:p>
              <a:p>
                <a:pPr algn="l"/>
                <a:r>
                  <a:rPr lang="en-IN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consider the following equation:</a:t>
                </a:r>
              </a:p>
              <a:p>
                <a:pPr marL="0" indent="0" algn="l">
                  <a:buNone/>
                </a:pPr>
                <a:r>
                  <a:rPr lang="en-IN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mod 10 = 9</a:t>
                </a:r>
              </a:p>
              <a:p>
                <a:pPr algn="l"/>
                <a:r>
                  <a:rPr lang="en-IN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given 9 finding 2, the exponent of the generator 3 is very hard. This hard problem is</a:t>
                </a:r>
              </a:p>
              <a:p>
                <a:pPr algn="l"/>
                <a:r>
                  <a:rPr lang="en-IN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commonly used in </a:t>
                </a:r>
                <a:r>
                  <a:rPr lang="en-IN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Diffie-Hellman </a:t>
                </a:r>
                <a:r>
                  <a:rPr lang="en-IN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exchange and digital signature algorithms.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E851DA-A521-1EFC-657D-B8D250155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723" y="1179870"/>
                <a:ext cx="11518490" cy="5515897"/>
              </a:xfrm>
              <a:blipFill>
                <a:blip r:embed="rId2"/>
                <a:stretch>
                  <a:fillRect r="-10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960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70D1-CFD3-38DA-C66B-2A0CDFF6A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1" y="176982"/>
            <a:ext cx="11636477" cy="840658"/>
          </a:xfrm>
        </p:spPr>
        <p:txBody>
          <a:bodyPr>
            <a:normAutofit/>
          </a:bodyPr>
          <a:lstStyle/>
          <a:p>
            <a:r>
              <a:rPr lang="en-IN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4EBEE-953B-FE4E-AF08-EC46422F0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42" y="1017640"/>
            <a:ext cx="11434916" cy="5159323"/>
          </a:xfrm>
        </p:spPr>
        <p:txBody>
          <a:bodyPr>
            <a:normAutofit/>
          </a:bodyPr>
          <a:lstStyle/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 is an algebraic cubic curve over a field, which can be defined by an equation shown here. The curve is non-singular, which means that it has no cusps or self-intersections. It has two variables </a:t>
            </a:r>
            <a:r>
              <a:rPr lang="en-IN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a point of infinity.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87D58-7DB4-6300-0408-D77575D52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785" y="2373081"/>
            <a:ext cx="3322492" cy="780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4BB8FD-28A9-E578-D4BA-CE0E80CE7536}"/>
              </a:ext>
            </a:extLst>
          </p:cNvPr>
          <p:cNvSpPr txBox="1"/>
          <p:nvPr/>
        </p:nvSpPr>
        <p:spPr>
          <a:xfrm>
            <a:off x="378542" y="3153666"/>
            <a:ext cx="11434916" cy="3106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curves can be defined over reals, rational numbers, complex numbers, or finite fields.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cryptographic purposes, elliptic curve over prime finite fields is used instead of real numbers. Different curves can be generated by varying the value of a, b.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prominently used cryptosystems based on elliptic curves are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 Digital Signatures Algorithm (ECDSA)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 Diffie-Hellman (ECDH)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exchange.</a:t>
            </a:r>
          </a:p>
          <a:p>
            <a:pPr algn="l"/>
            <a:endParaRPr lang="en-IN" i="1" dirty="0">
              <a:latin typeface="PalatinoLinotype-Italic"/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861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n a piece of paper&#10;&#10;AI-generated content may be incorrect.">
            <a:extLst>
              <a:ext uri="{FF2B5EF4-FFF2-40B4-BE49-F238E27FC236}">
                <a16:creationId xmlns:a16="http://schemas.microsoft.com/office/drawing/2014/main" id="{E8EB9FB7-AF1C-44FA-3FB8-82B07F5FA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942" y="0"/>
            <a:ext cx="11267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3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B73049-27D8-AA93-9673-6FF160766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353" y="708890"/>
            <a:ext cx="10174051" cy="5419767"/>
          </a:xfrm>
        </p:spPr>
      </p:pic>
    </p:spTree>
    <p:extLst>
      <p:ext uri="{BB962C8B-B14F-4D97-AF65-F5344CB8AC3E}">
        <p14:creationId xmlns:p14="http://schemas.microsoft.com/office/powerpoint/2010/main" val="403482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rectangular background with white text&#10;&#10;AI-generated content may be incorrect.">
            <a:extLst>
              <a:ext uri="{FF2B5EF4-FFF2-40B4-BE49-F238E27FC236}">
                <a16:creationId xmlns:a16="http://schemas.microsoft.com/office/drawing/2014/main" id="{E00B4793-D8A5-2386-20D5-4940EF2D3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8" y="643466"/>
            <a:ext cx="790222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22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3433-216E-50D7-609D-B0F977ED8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117826" cy="858991"/>
          </a:xfrm>
        </p:spPr>
        <p:txBody>
          <a:bodyPr>
            <a:normAutofit/>
          </a:bodyPr>
          <a:lstStyle/>
          <a:p>
            <a:r>
              <a:rPr lang="en-IN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CF058-788F-08F2-CDB3-FDB5BB64A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710" y="1224116"/>
            <a:ext cx="11587316" cy="5486400"/>
          </a:xfrm>
        </p:spPr>
        <p:txBody>
          <a:bodyPr>
            <a:normAutofit/>
          </a:bodyPr>
          <a:lstStyle/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was invented in 1977 by </a:t>
            </a:r>
            <a:r>
              <a:rPr lang="en-IN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Ron Rivest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 Shamir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Leonard Adelman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hence the name RSA. </a:t>
            </a:r>
          </a:p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based on the integer factorization problem, where the multiplication of two large prime numbers is easy but difficult to factor it back to the two original numbers.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RSA key pair is generated by performing the steps described here.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Modulus generation: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p and q very large primes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p and q , n=p * q to generate modulus n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co-prime: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a number called e.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satisfy certain conditions, that is, it should be greater than 1 and less than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(p-1) (q-1)</a:t>
            </a:r>
          </a:p>
        </p:txBody>
      </p:sp>
    </p:spTree>
    <p:extLst>
      <p:ext uri="{BB962C8B-B14F-4D97-AF65-F5344CB8AC3E}">
        <p14:creationId xmlns:p14="http://schemas.microsoft.com/office/powerpoint/2010/main" val="3160282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121B9-7A44-8E5D-CF41-2978A0766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710" y="324465"/>
            <a:ext cx="10985090" cy="585249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public key: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Modulus generated in step 1 and e generated in step 2 is pair that, together, is a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key. This part is the public part that can be shared with anyone; however,</a:t>
            </a:r>
          </a:p>
          <a:p>
            <a:pPr algn="l"/>
            <a:r>
              <a:rPr lang="en-IN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be kept secret.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private key: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key called d here and is calculated from </a:t>
            </a:r>
            <a:r>
              <a:rPr lang="en-IN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Private key is basically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inverse of e modulo </a:t>
            </a:r>
            <a:r>
              <a:rPr lang="en-IN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(p-1)(q-1)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the equation form, it is this:</a:t>
            </a:r>
          </a:p>
          <a:p>
            <a:pPr algn="l"/>
            <a:r>
              <a:rPr lang="da-DK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 = 1 mod(p-1)(q-1) also written as de mod (p-1)(q-1) =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604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151C0-2868-6C70-CDD9-B7B974960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4" y="365126"/>
            <a:ext cx="11754464" cy="799998"/>
          </a:xfrm>
        </p:spPr>
        <p:txBody>
          <a:bodyPr/>
          <a:lstStyle/>
          <a:p>
            <a:r>
              <a:rPr lang="en-US" dirty="0"/>
              <a:t>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FAC05-6333-62F3-A56E-6F1BB453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051" y="1165124"/>
            <a:ext cx="11479161" cy="5011839"/>
          </a:xfrm>
        </p:spPr>
        <p:txBody>
          <a:bodyPr/>
          <a:lstStyle/>
          <a:p>
            <a:r>
              <a:rPr lang="en-US" dirty="0"/>
              <a:t>Given a Prime numbers 3 and 11, generate the private key and public key and encrypt and decrypt the message 2 using RSA Algorithm.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008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E749-A5AC-60E4-3497-C2FD1272B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412955"/>
            <a:ext cx="10970342" cy="5764008"/>
          </a:xfrm>
        </p:spPr>
        <p:txBody>
          <a:bodyPr/>
          <a:lstStyle/>
          <a:p>
            <a:r>
              <a:rPr lang="en-US" dirty="0"/>
              <a:t>Given a Prime numbers 3 and 11, generate the private key and public key and encrypt and decrypt the message hello using RSA Algorithm.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431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9EB7C-525D-3602-849E-6FDEDC344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7" y="398206"/>
            <a:ext cx="11430000" cy="5778757"/>
          </a:xfrm>
        </p:spPr>
        <p:txBody>
          <a:bodyPr/>
          <a:lstStyle/>
          <a:p>
            <a:r>
              <a:rPr lang="en-US" dirty="0"/>
              <a:t>Given Prime numbers are </a:t>
            </a:r>
            <a:r>
              <a:rPr lang="en-IN" dirty="0"/>
              <a:t>p=7 and q=11and public key is e = 7, compute the private key and encrypt message called hello</a:t>
            </a:r>
          </a:p>
        </p:txBody>
      </p:sp>
    </p:spTree>
    <p:extLst>
      <p:ext uri="{BB962C8B-B14F-4D97-AF65-F5344CB8AC3E}">
        <p14:creationId xmlns:p14="http://schemas.microsoft.com/office/powerpoint/2010/main" val="1193935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/>
              <a:t>Cryptographic primitives</a:t>
            </a:r>
            <a:endParaRPr/>
          </a:p>
        </p:txBody>
      </p:sp>
      <p:pic>
        <p:nvPicPr>
          <p:cNvPr id="206" name="Google Shape;20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7210" y="1561008"/>
            <a:ext cx="8076214" cy="4434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1037-B5C3-9DD6-B55E-556812A55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26" y="143900"/>
            <a:ext cx="11518490" cy="1168706"/>
          </a:xfrm>
        </p:spPr>
        <p:txBody>
          <a:bodyPr>
            <a:normAutofit/>
          </a:bodyPr>
          <a:lstStyle/>
          <a:p>
            <a:r>
              <a:rPr lang="en-IN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8FA0B-1B0F-E9ED-F3D7-69E6BE632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25" y="1091380"/>
            <a:ext cx="11749549" cy="5622719"/>
          </a:xfrm>
        </p:spPr>
        <p:txBody>
          <a:bodyPr>
            <a:normAutofit/>
          </a:bodyPr>
          <a:lstStyle/>
          <a:p>
            <a:pPr algn="just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functions are used to create fixed length digests of arbitrarily long input strings. </a:t>
            </a:r>
          </a:p>
          <a:p>
            <a:pPr algn="just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functions are keyless and provide the data integrity service.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families of hash functions are available, such as MD, SHA-1, SHA-2, SHA-3, RIPEMD and Whirlpool.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functions are commonly used in digital signatures and message authentication codes, such as HMACs.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three security properties, namely pre-image resistance, second pre-image resistance and collision resistance.</a:t>
            </a:r>
          </a:p>
        </p:txBody>
      </p:sp>
    </p:spTree>
    <p:extLst>
      <p:ext uri="{BB962C8B-B14F-4D97-AF65-F5344CB8AC3E}">
        <p14:creationId xmlns:p14="http://schemas.microsoft.com/office/powerpoint/2010/main" val="2862085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 descr="A diagram of a cylinder&#10;&#10;AI-generated content may be incorrect.">
            <a:extLst>
              <a:ext uri="{FF2B5EF4-FFF2-40B4-BE49-F238E27FC236}">
                <a16:creationId xmlns:a16="http://schemas.microsoft.com/office/drawing/2014/main" id="{B338C9BC-DE06-66E2-E851-FD2878A97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1830" y="658216"/>
            <a:ext cx="801384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35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B6CD5-EECC-8DAF-3B84-6152F7202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3" y="796413"/>
            <a:ext cx="11533239" cy="5380550"/>
          </a:xfrm>
        </p:spPr>
        <p:txBody>
          <a:bodyPr>
            <a:normAutofit/>
          </a:bodyPr>
          <a:lstStyle/>
          <a:p>
            <a:pPr algn="just"/>
            <a:r>
              <a:rPr lang="en-IN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functions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typically used to provide data integrity services. </a:t>
            </a:r>
          </a:p>
          <a:p>
            <a:pPr algn="just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can be used as one-way functions and to construct other cryptographic primitives, such as MACs and digital signatures. </a:t>
            </a:r>
          </a:p>
          <a:p>
            <a:pPr algn="just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applications used hash functions as a means of generating </a:t>
            </a:r>
            <a:r>
              <a:rPr lang="en-IN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random numbers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PRNGs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algn="just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functions do not require a key.</a:t>
            </a:r>
          </a:p>
          <a:p>
            <a:pPr algn="just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practical and three security properties of hash functions that must be met depending on the level of requirements of integrity.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151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Properties</a:t>
            </a:r>
            <a:endParaRPr/>
          </a:p>
        </p:txBody>
      </p:sp>
      <p:sp>
        <p:nvSpPr>
          <p:cNvPr id="218" name="Google Shape;218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 dirty="0"/>
              <a:t>Compression of arbitrary messages into fixed length digest: </a:t>
            </a:r>
            <a:r>
              <a:rPr lang="en-IN" dirty="0"/>
              <a:t>input text of </a:t>
            </a:r>
            <a:r>
              <a:rPr lang="en-IN" dirty="0">
                <a:solidFill>
                  <a:srgbClr val="FF0000"/>
                </a:solidFill>
              </a:rPr>
              <a:t>any length </a:t>
            </a:r>
            <a:r>
              <a:rPr lang="en-IN" dirty="0"/>
              <a:t>and output a </a:t>
            </a:r>
            <a:r>
              <a:rPr lang="en-IN" dirty="0">
                <a:solidFill>
                  <a:srgbClr val="FF0000"/>
                </a:solidFill>
              </a:rPr>
              <a:t>fixed length </a:t>
            </a:r>
            <a:r>
              <a:rPr lang="en-IN" dirty="0"/>
              <a:t>compressed message. usually between </a:t>
            </a:r>
            <a:r>
              <a:rPr lang="en-IN" dirty="0">
                <a:solidFill>
                  <a:srgbClr val="FF0000"/>
                </a:solidFill>
              </a:rPr>
              <a:t>128</a:t>
            </a:r>
            <a:r>
              <a:rPr lang="en-IN" dirty="0"/>
              <a:t>-bits and </a:t>
            </a:r>
            <a:r>
              <a:rPr lang="en-IN" dirty="0">
                <a:solidFill>
                  <a:srgbClr val="FF0000"/>
                </a:solidFill>
              </a:rPr>
              <a:t>512</a:t>
            </a:r>
            <a:r>
              <a:rPr lang="en-IN" dirty="0"/>
              <a:t>-bits.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 dirty="0"/>
              <a:t>Easy to compute: </a:t>
            </a:r>
            <a:r>
              <a:rPr lang="en-IN" dirty="0"/>
              <a:t>very </a:t>
            </a:r>
            <a:r>
              <a:rPr lang="en-IN" dirty="0">
                <a:solidFill>
                  <a:srgbClr val="FF0000"/>
                </a:solidFill>
              </a:rPr>
              <a:t>quick</a:t>
            </a:r>
            <a:r>
              <a:rPr lang="en-IN" dirty="0"/>
              <a:t> to compute regardless of the message size. The efficiency may decrease if the message is too big but the function should still be </a:t>
            </a:r>
            <a:r>
              <a:rPr lang="en-IN" dirty="0">
                <a:solidFill>
                  <a:srgbClr val="FF0000"/>
                </a:solidFill>
              </a:rPr>
              <a:t>fast</a:t>
            </a:r>
            <a:r>
              <a:rPr lang="en-IN" dirty="0"/>
              <a:t> enough for practical use.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1116-1C8D-05E8-75AE-68B92696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0"/>
            <a:ext cx="10515600" cy="1325563"/>
          </a:xfrm>
        </p:spPr>
        <p:txBody>
          <a:bodyPr/>
          <a:lstStyle/>
          <a:p>
            <a:r>
              <a:rPr lang="en-IN" sz="4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Pre-image resistance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85C7B-C801-B729-12EC-88C8A40B2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971" y="1034143"/>
            <a:ext cx="10874829" cy="5142820"/>
          </a:xfrm>
        </p:spPr>
        <p:txBody>
          <a:bodyPr>
            <a:normAutofit/>
          </a:bodyPr>
          <a:lstStyle/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an equation:</a:t>
            </a:r>
          </a:p>
          <a:p>
            <a:pPr marL="0" indent="0">
              <a:buNone/>
            </a:pP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h(x) = y</a:t>
            </a:r>
          </a:p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hash function,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input, and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hash.</a:t>
            </a:r>
          </a:p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first security property requires that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reverse computed to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considered a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pre-image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hence the name pre-image resistance. This is also called one-way property.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one-way property , it is easy to generate a code given a message , but virtually impossible to generate a message a given code.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property is important if the authentication techniques involves the use of a secret value. However , if the hash function is not one way , an attackers can easily discover the secrete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730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FDB9-C8F9-F547-64E3-1C88CDDE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-232117"/>
            <a:ext cx="10515600" cy="1325563"/>
          </a:xfrm>
        </p:spPr>
        <p:txBody>
          <a:bodyPr/>
          <a:lstStyle/>
          <a:p>
            <a:r>
              <a:rPr lang="en-IN" sz="4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pre-image resistance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9CA6B-7ABF-2466-06D2-23C7C40F3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257" y="1001486"/>
            <a:ext cx="10711543" cy="5175477"/>
          </a:xfrm>
        </p:spPr>
        <p:txBody>
          <a:bodyPr/>
          <a:lstStyle/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property requires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almost impossible to find any other message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!= x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of m = hash of x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h(m) = h(x)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property is also known as weak collision resistance.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155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D95F4-3D2D-185F-2002-1E434E5A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sz="4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resistance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92818-B94B-9E8B-23F4-D26C1980A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829" y="1088571"/>
            <a:ext cx="10765971" cy="5088392"/>
          </a:xfrm>
        </p:spPr>
        <p:txBody>
          <a:bodyPr>
            <a:normAutofit/>
          </a:bodyPr>
          <a:lstStyle/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property requires that two different input messages should not hash to the same output.</a:t>
            </a:r>
          </a:p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other words,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 != h(z)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property is also known as strong collision resistance.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006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BB55A-308B-9CEB-28D7-732111B9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18256"/>
            <a:ext cx="10515600" cy="841716"/>
          </a:xfrm>
        </p:spPr>
        <p:txBody>
          <a:bodyPr/>
          <a:lstStyle/>
          <a:p>
            <a:r>
              <a:rPr lang="en-US" altLang="en-US" sz="4400" b="0" dirty="0"/>
              <a:t>Merkle trees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F7F63-A10D-B818-1AE8-C72CBB722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943" y="772886"/>
            <a:ext cx="11157858" cy="5715000"/>
          </a:xfrm>
        </p:spPr>
        <p:txBody>
          <a:bodyPr/>
          <a:lstStyle/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altLang="en-US" sz="2000" b="0" dirty="0"/>
              <a:t>Ralph(f) Merkle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/>
              <a:t>which makes it </a:t>
            </a:r>
            <a:r>
              <a:rPr lang="en-US" altLang="en-US" sz="2000" b="0" dirty="0">
                <a:solidFill>
                  <a:srgbClr val="FF0000"/>
                </a:solidFill>
              </a:rPr>
              <a:t>easy to understand</a:t>
            </a:r>
            <a:r>
              <a:rPr lang="en-US" altLang="en-US" sz="2000" b="0" dirty="0"/>
              <a:t>. 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/>
              <a:t>Merkle trees allow </a:t>
            </a:r>
            <a:r>
              <a:rPr lang="en-US" altLang="en-US" sz="2000" b="0" dirty="0">
                <a:solidFill>
                  <a:srgbClr val="FF0000"/>
                </a:solidFill>
              </a:rPr>
              <a:t>secure and efficient verification of large data sets</a:t>
            </a:r>
            <a:r>
              <a:rPr lang="en-US" altLang="en-US" sz="2000" b="0" dirty="0"/>
              <a:t>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/>
              <a:t>It is a </a:t>
            </a:r>
            <a:r>
              <a:rPr lang="en-US" altLang="en-US" sz="2000" b="0" dirty="0">
                <a:solidFill>
                  <a:srgbClr val="FF0000"/>
                </a:solidFill>
              </a:rPr>
              <a:t>binary tree</a:t>
            </a:r>
            <a:r>
              <a:rPr lang="en-US" altLang="en-US" sz="2000" b="0" dirty="0"/>
              <a:t>  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/>
              <a:t>first, the </a:t>
            </a:r>
            <a:r>
              <a:rPr lang="en-US" altLang="en-US" sz="2000" b="0" dirty="0">
                <a:solidFill>
                  <a:srgbClr val="FF0000"/>
                </a:solidFill>
              </a:rPr>
              <a:t>inputs</a:t>
            </a:r>
            <a:r>
              <a:rPr lang="en-US" altLang="en-US" sz="2000" b="0" dirty="0"/>
              <a:t> are placed at the leaves (node with no children)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/>
              <a:t>then </a:t>
            </a:r>
            <a:r>
              <a:rPr lang="en-US" altLang="en-US" sz="2000" b="0" dirty="0">
                <a:solidFill>
                  <a:srgbClr val="FF0000"/>
                </a:solidFill>
              </a:rPr>
              <a:t>values of pairs of child </a:t>
            </a:r>
            <a:r>
              <a:rPr lang="en-US" altLang="en-US" sz="2000" b="0" dirty="0"/>
              <a:t>nodes are </a:t>
            </a:r>
            <a:r>
              <a:rPr lang="en-US" altLang="en-US" sz="2000" b="0" dirty="0">
                <a:solidFill>
                  <a:srgbClr val="FF0000"/>
                </a:solidFill>
              </a:rPr>
              <a:t>hashed together in order to produce a value for the parent node</a:t>
            </a:r>
            <a:r>
              <a:rPr lang="en-US" altLang="en-US" sz="2000" b="0" dirty="0"/>
              <a:t> (internal node) until a single hash value known as Merkle root is achieved: </a:t>
            </a:r>
            <a:endParaRPr lang="en-IN" altLang="en-US" sz="2000" b="0" dirty="0"/>
          </a:p>
          <a:p>
            <a:endParaRPr lang="en-IN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0B550335-C4E9-E586-94C6-663F9A7A3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058" y="3148013"/>
            <a:ext cx="6581775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049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Merkle Tree in Blockchain: What is it and How does it work | Simplilearn">
            <a:extLst>
              <a:ext uri="{FF2B5EF4-FFF2-40B4-BE49-F238E27FC236}">
                <a16:creationId xmlns:a16="http://schemas.microsoft.com/office/drawing/2014/main" id="{56C67CAA-9761-AEEC-A5D1-21943ECF7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762000"/>
            <a:ext cx="825817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E8A92-124A-AD92-2303-33DFECE51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229" y="130629"/>
            <a:ext cx="10994571" cy="6046334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Bitcoin uses </a:t>
            </a:r>
            <a:r>
              <a:rPr lang="en-IN" b="1" dirty="0"/>
              <a:t>Merkle Trees</a:t>
            </a:r>
            <a:r>
              <a:rPr lang="en-IN" dirty="0"/>
              <a:t> to efficiently verify transactions within a block.</a:t>
            </a:r>
          </a:p>
          <a:p>
            <a:pPr>
              <a:buNone/>
            </a:pPr>
            <a:r>
              <a:rPr lang="en-IN" b="1" dirty="0"/>
              <a:t>Scenario: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Imagine a </a:t>
            </a:r>
            <a:r>
              <a:rPr lang="en-IN" b="1" dirty="0"/>
              <a:t>Bitcoin block</a:t>
            </a:r>
            <a:r>
              <a:rPr lang="en-IN" dirty="0"/>
              <a:t> contains 4 transactions:</a:t>
            </a:r>
          </a:p>
          <a:p>
            <a:pPr marL="0" indent="0">
              <a:buNone/>
            </a:pPr>
            <a:r>
              <a:rPr lang="en-IN" dirty="0"/>
              <a:t>Tx1: Alice → Bob (1 BTC)</a:t>
            </a:r>
          </a:p>
          <a:p>
            <a:pPr marL="0" indent="0">
              <a:buNone/>
            </a:pPr>
            <a:r>
              <a:rPr lang="en-IN" dirty="0"/>
              <a:t>Tx2: Charlie → Dave (0.5 BTC)</a:t>
            </a:r>
          </a:p>
          <a:p>
            <a:pPr marL="0" indent="0">
              <a:buNone/>
            </a:pPr>
            <a:r>
              <a:rPr lang="en-IN" dirty="0"/>
              <a:t>Tx3: Eve → Frank (2 BTC)</a:t>
            </a:r>
          </a:p>
          <a:p>
            <a:pPr marL="0" indent="0">
              <a:buNone/>
            </a:pPr>
            <a:r>
              <a:rPr lang="en-IN" dirty="0"/>
              <a:t>Tx4: George → Henry (1.5 BTC)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Instead of storing all transactions separately, Bitcoin creates a </a:t>
            </a:r>
            <a:r>
              <a:rPr lang="en-IN" b="1" dirty="0"/>
              <a:t>Merkle Tree</a:t>
            </a:r>
            <a:r>
              <a:rPr lang="en-IN" dirty="0"/>
              <a:t>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382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AAE1F-B1AC-E8DB-10EF-A054EFBFF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143" y="402771"/>
            <a:ext cx="10700657" cy="57741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🔹 Step 1: Hash Transactions</a:t>
            </a:r>
          </a:p>
          <a:p>
            <a:pPr marL="0" indent="0">
              <a:buNone/>
            </a:pPr>
            <a:r>
              <a:rPr lang="pt-BR" dirty="0"/>
              <a:t>H1 = SHA-256(Tx1)</a:t>
            </a:r>
          </a:p>
          <a:p>
            <a:pPr marL="0" indent="0">
              <a:buNone/>
            </a:pPr>
            <a:r>
              <a:rPr lang="pt-BR" dirty="0"/>
              <a:t>H2 = SHA-256(Tx2)</a:t>
            </a:r>
          </a:p>
          <a:p>
            <a:pPr marL="0" indent="0">
              <a:buNone/>
            </a:pPr>
            <a:r>
              <a:rPr lang="pt-BR" dirty="0"/>
              <a:t>H3 = SHA-256(Tx3)</a:t>
            </a:r>
          </a:p>
          <a:p>
            <a:pPr marL="0" indent="0">
              <a:buNone/>
            </a:pPr>
            <a:r>
              <a:rPr lang="pt-BR" dirty="0"/>
              <a:t>H4 = SHA-256(Tx4)</a:t>
            </a:r>
          </a:p>
          <a:p>
            <a:pPr marL="0" indent="0">
              <a:buNone/>
            </a:pPr>
            <a:r>
              <a:rPr lang="en-IN" dirty="0"/>
              <a:t>🔹 Step 2: Pairwise Hashing</a:t>
            </a:r>
          </a:p>
          <a:p>
            <a:pPr marL="0" indent="0">
              <a:buNone/>
            </a:pPr>
            <a:r>
              <a:rPr lang="pt-BR" dirty="0"/>
              <a:t>H12 = SHA-256(H1 + H2)</a:t>
            </a:r>
          </a:p>
          <a:p>
            <a:pPr marL="0" indent="0">
              <a:buNone/>
            </a:pPr>
            <a:r>
              <a:rPr lang="pt-BR" dirty="0"/>
              <a:t>H34 = SHA-256(H3 + H4)</a:t>
            </a:r>
          </a:p>
          <a:p>
            <a:pPr marL="0" indent="0">
              <a:buNone/>
            </a:pPr>
            <a:r>
              <a:rPr lang="en-IN" dirty="0"/>
              <a:t>🔹 Step 3: Compute Merkle Root</a:t>
            </a:r>
          </a:p>
          <a:p>
            <a:pPr marL="0" indent="0">
              <a:buNone/>
            </a:pPr>
            <a:r>
              <a:rPr lang="pt-BR" dirty="0"/>
              <a:t>Merkle Root = SHA-256(H12 + H34)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</a:t>
            </a:r>
            <a:r>
              <a:rPr lang="en-IN" dirty="0"/>
              <a:t>The </a:t>
            </a:r>
            <a:r>
              <a:rPr lang="en-IN" b="1" dirty="0"/>
              <a:t>Merkle Root</a:t>
            </a:r>
            <a:r>
              <a:rPr lang="en-IN" dirty="0"/>
              <a:t> is stored in the </a:t>
            </a:r>
            <a:r>
              <a:rPr lang="en-IN" b="1" dirty="0"/>
              <a:t>Bitcoin block header</a:t>
            </a:r>
            <a:r>
              <a:rPr lang="en-IN" dirty="0"/>
              <a:t>.</a:t>
            </a:r>
            <a:endParaRPr lang="pt-BR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016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7372-17A3-021C-87F5-0E4249FDA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-402771"/>
            <a:ext cx="10515600" cy="1611085"/>
          </a:xfrm>
        </p:spPr>
        <p:txBody>
          <a:bodyPr/>
          <a:lstStyle/>
          <a:p>
            <a:pPr algn="ctr"/>
            <a:r>
              <a:rPr lang="en-US" sz="4400" dirty="0">
                <a:latin typeface="+mj-lt"/>
              </a:rPr>
              <a:t>Patricia trees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81443-7784-EE91-F558-DC89EE6E8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570" y="922792"/>
            <a:ext cx="10646229" cy="5254171"/>
          </a:xfrm>
        </p:spPr>
        <p:txBody>
          <a:bodyPr/>
          <a:lstStyle/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n-US" sz="2400" dirty="0">
              <a:highlight>
                <a:srgbClr val="FFFF00"/>
              </a:highlight>
              <a:latin typeface="+mj-lt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highlight>
                  <a:srgbClr val="FFFF00"/>
                </a:highlight>
                <a:latin typeface="+mj-lt"/>
              </a:rPr>
              <a:t>To understand Patricia trees – know the concept of a </a:t>
            </a:r>
            <a:r>
              <a:rPr lang="en-US" sz="2400" dirty="0" err="1">
                <a:highlight>
                  <a:srgbClr val="FFFF00"/>
                </a:highlight>
                <a:latin typeface="+mj-lt"/>
              </a:rPr>
              <a:t>trie</a:t>
            </a:r>
            <a:r>
              <a:rPr lang="en-US" sz="2400" dirty="0">
                <a:highlight>
                  <a:srgbClr val="FFFF00"/>
                </a:highlight>
                <a:latin typeface="+mj-lt"/>
              </a:rPr>
              <a:t>. 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trie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or a digital tree </a:t>
            </a:r>
            <a:r>
              <a:rPr lang="en-US" sz="2400" dirty="0">
                <a:latin typeface="+mj-lt"/>
              </a:rPr>
              <a:t>is an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ordered tree data structure </a:t>
            </a:r>
            <a:r>
              <a:rPr lang="en-US" sz="2400" dirty="0">
                <a:latin typeface="+mj-lt"/>
              </a:rPr>
              <a:t>used to store a dataset. 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Practical Algorithm to Retrieve Information Coded in Alphanumeric (Patricia)</a:t>
            </a:r>
            <a:r>
              <a:rPr lang="en-US" sz="2400" dirty="0">
                <a:latin typeface="+mj-lt"/>
              </a:rPr>
              <a:t>, </a:t>
            </a:r>
          </a:p>
          <a:p>
            <a:pPr marL="800100"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j-lt"/>
              </a:rPr>
              <a:t>known as Radix tree,</a:t>
            </a:r>
          </a:p>
          <a:p>
            <a:pPr marL="800100"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j-lt"/>
              </a:rPr>
              <a:t> is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a compact representation of a </a:t>
            </a:r>
            <a:r>
              <a:rPr lang="en-US" dirty="0" err="1">
                <a:solidFill>
                  <a:srgbClr val="FF0000"/>
                </a:solidFill>
                <a:latin typeface="+mj-lt"/>
              </a:rPr>
              <a:t>trie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in which a node that is the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only child of a parent </a:t>
            </a:r>
            <a:r>
              <a:rPr lang="en-US" dirty="0">
                <a:latin typeface="+mj-lt"/>
              </a:rPr>
              <a:t>is merged with its parent. 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Merkle-Patricia tree</a:t>
            </a:r>
            <a:r>
              <a:rPr lang="en-US" sz="2400" dirty="0">
                <a:latin typeface="+mj-lt"/>
              </a:rPr>
              <a:t>, based on the definitions of Patricia and Merkle, is a tree that has a root node that contains the hash value of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the entire data structure.</a:t>
            </a:r>
            <a:endParaRPr lang="en-IN" sz="2400" dirty="0">
              <a:solidFill>
                <a:srgbClr val="FF0000"/>
              </a:solidFill>
              <a:latin typeface="+mj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69272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922E-07B2-4666-0F19-CCC3F0A4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IN" dirty="0"/>
              <a:t>Example: Patricia Trie vs. Standard Trie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A3C8B-A0EF-462F-A360-91240450C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57" y="1343817"/>
            <a:ext cx="9318172" cy="467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47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178F1C-BBF0-65D1-2609-EA21B6202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30" y="696603"/>
            <a:ext cx="8621484" cy="507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18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E1D0A1-21B8-E78E-3035-8496E8116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33" y="-566056"/>
            <a:ext cx="9824909" cy="537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07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D2007-92A7-496C-DFF3-FB3BB507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471" y="-31920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Distributed hash table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9F888-76DB-6200-DD14-8A1CB2D06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943" y="838200"/>
            <a:ext cx="10776857" cy="5338763"/>
          </a:xfrm>
        </p:spPr>
        <p:txBody>
          <a:bodyPr/>
          <a:lstStyle/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A hash table is a </a:t>
            </a:r>
            <a:r>
              <a:rPr lang="en-US" dirty="0">
                <a:solidFill>
                  <a:srgbClr val="FF0000"/>
                </a:solidFill>
              </a:rPr>
              <a:t>data structure</a:t>
            </a:r>
            <a:r>
              <a:rPr lang="en-US" dirty="0"/>
              <a:t> that is used to </a:t>
            </a:r>
            <a:r>
              <a:rPr lang="en-US" dirty="0">
                <a:solidFill>
                  <a:srgbClr val="FF0000"/>
                </a:solidFill>
              </a:rPr>
              <a:t>map keys to values</a:t>
            </a:r>
            <a:r>
              <a:rPr lang="en-US" dirty="0"/>
              <a:t>.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 Distributed hash </a:t>
            </a:r>
            <a:r>
              <a:rPr lang="en-US"/>
              <a:t>table is </a:t>
            </a: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data structure </a:t>
            </a:r>
            <a:r>
              <a:rPr lang="en-US" dirty="0"/>
              <a:t>where data is spread across various nodes and nodes are equivalent to buckets in </a:t>
            </a:r>
            <a:r>
              <a:rPr lang="en-US" dirty="0">
                <a:solidFill>
                  <a:srgbClr val="FF0000"/>
                </a:solidFill>
              </a:rPr>
              <a:t>a peer-to-peer to network</a:t>
            </a:r>
          </a:p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DHTs provides decentralization, fault tolerance and scalability.</a:t>
            </a:r>
          </a:p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181E255-CDD2-30FB-A559-C2C1CBB1B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813" y="3030993"/>
            <a:ext cx="8355116" cy="334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9120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B299E-535E-B736-CEB6-E1FDFDC6F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2514" y="261257"/>
            <a:ext cx="10831286" cy="600891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The diagram represents a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Distributed Hash Table (DHT)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, a key concept in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peer-to-peer (P2P) networks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like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BitTorrent, IPFS and blockchain-based storage systems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 algn="just">
              <a:buAutoNum type="arabicPeriod"/>
            </a:pP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Data → Hash Function → Key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Raw data is processed using a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cryptographic hash function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(e.g., SHA-256, MD5).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The hash function produces a unique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key (hash value)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for the data.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This key is used to store and retrieve the data efficiently.</a:t>
            </a:r>
          </a:p>
          <a:p>
            <a:pPr marL="0" indent="0" algn="just">
              <a:buNone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Key → Distributed Network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The generated key is used to locate data within a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distributed peer-to-peer network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Instead of storing all data on a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single server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, it is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distributed across multiple peers (nodes).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Each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peer stores a portion of the data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, and lookup requests are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routed to the correct node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0192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5D8E-8A4B-7113-E52D-0DD8FF3A3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57" y="24266"/>
            <a:ext cx="10515600" cy="1325563"/>
          </a:xfrm>
        </p:spPr>
        <p:txBody>
          <a:bodyPr/>
          <a:lstStyle/>
          <a:p>
            <a:r>
              <a:rPr lang="en-IN" dirty="0"/>
              <a:t>Example: Storing a File in IPFS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EB882-FC5A-04F7-0726-F9937ECC4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2514" y="1349829"/>
            <a:ext cx="10831286" cy="482713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A user uploads a file.</a:t>
            </a:r>
          </a:p>
          <a:p>
            <a:pPr marL="514350" indent="-514350">
              <a:buAutoNum type="arabicPeriod"/>
            </a:pP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IPFS hashes the file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and generates a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content-based address (CID)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file is distributed among multiple nodes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in the network.</a:t>
            </a:r>
          </a:p>
          <a:p>
            <a:pPr marL="514350" indent="-514350">
              <a:buAutoNum type="arabicPeriod"/>
            </a:pP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Retrieval: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Any user can request the file using its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CID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, and the network finds the nearest node storing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2080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FBE11-C270-74AD-2E65-327FD762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8" y="-166803"/>
            <a:ext cx="10515600" cy="1325563"/>
          </a:xfrm>
        </p:spPr>
        <p:txBody>
          <a:bodyPr/>
          <a:lstStyle/>
          <a:p>
            <a:pPr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C5C28-22F4-F95F-C4FB-26B0D3148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343" y="870858"/>
            <a:ext cx="10624457" cy="5306106"/>
          </a:xfrm>
        </p:spPr>
        <p:txBody>
          <a:bodyPr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digital signature is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authentication mechanism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enables the creator of a message to attach a code that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acts as a signature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signature is formed by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taking the hash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message and encrypting the message with the creator’s private key.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signature guarantees the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message.  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signature standard (DSS) is an NIST standard that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the secure hash algorithm (SHA).</a:t>
            </a:r>
          </a:p>
          <a:p>
            <a:r>
              <a:rPr lang="en-US" altLang="en-US" sz="2800" dirty="0"/>
              <a:t>Digital signatures are used to provide data origin </a:t>
            </a:r>
            <a:r>
              <a:rPr lang="en-US" altLang="en-US" sz="2800" dirty="0">
                <a:solidFill>
                  <a:srgbClr val="FF0000"/>
                </a:solidFill>
              </a:rPr>
              <a:t>authentication and nonrepudiation. </a:t>
            </a:r>
            <a:endParaRPr lang="en-IN" altLang="en-US" sz="2800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2485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D4544-FDBD-E54B-2BF3-7AE6F0F09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057" y="685800"/>
            <a:ext cx="10787743" cy="5491163"/>
          </a:xfrm>
        </p:spPr>
        <p:txBody>
          <a:bodyPr/>
          <a:lstStyle/>
          <a:p>
            <a:pPr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Properties: </a:t>
            </a:r>
          </a:p>
          <a:p>
            <a:pPr algn="just">
              <a:lnSpc>
                <a:spcPct val="90000"/>
              </a:lnSpc>
              <a:defRPr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It must verify the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author and the date and time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of the signature.</a:t>
            </a:r>
          </a:p>
          <a:p>
            <a:pPr algn="just">
              <a:lnSpc>
                <a:spcPct val="90000"/>
              </a:lnSpc>
              <a:defRPr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It must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authenticate the contents at the time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of the signature. </a:t>
            </a:r>
          </a:p>
          <a:p>
            <a:pPr algn="just">
              <a:lnSpc>
                <a:spcPct val="90000"/>
              </a:lnSpc>
              <a:defRPr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It must be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verifiable by third parties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to resolve disputes. </a:t>
            </a:r>
          </a:p>
          <a:p>
            <a:pPr marL="0" indent="0" algn="just">
              <a:buNone/>
              <a:defRPr/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Thus, the digital signature function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includes the authentication function.</a:t>
            </a:r>
            <a:endParaRPr lang="en-AU" altLang="en-US" dirty="0">
              <a:solidFill>
                <a:srgbClr val="FF0000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8883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9" name="Picture 7">
            <a:extLst>
              <a:ext uri="{FF2B5EF4-FFF2-40B4-BE49-F238E27FC236}">
                <a16:creationId xmlns:a16="http://schemas.microsoft.com/office/drawing/2014/main" id="{6BBE9B99-63B9-CA90-4DA3-B9349304A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1258"/>
            <a:ext cx="12201965" cy="577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43B870-AC99-5227-B717-3C21BE3C9DE2}"/>
              </a:ext>
            </a:extLst>
          </p:cNvPr>
          <p:cNvSpPr txBox="1"/>
          <p:nvPr/>
        </p:nvSpPr>
        <p:spPr>
          <a:xfrm>
            <a:off x="412955" y="1066800"/>
            <a:ext cx="1061883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approaches to use digital signatures with encryption</a:t>
            </a:r>
          </a:p>
          <a:p>
            <a:pPr>
              <a:defRPr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then encrypt</a:t>
            </a:r>
          </a:p>
          <a:p>
            <a:pPr algn="just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sender digitally signs the data using the private key, appends the signature to the data, and then encrypts the data and the digital signature using the receiver's public key. </a:t>
            </a:r>
          </a:p>
          <a:p>
            <a:pPr>
              <a:defRPr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 then sign:</a:t>
            </a:r>
          </a:p>
          <a:p>
            <a:pPr algn="just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sender encrypts the data using the receiver's public key and then digitally signs the encrypted data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AE37F4-157E-5374-74A2-04BEC760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293915"/>
            <a:ext cx="5197354" cy="990600"/>
          </a:xfrm>
        </p:spPr>
        <p:txBody>
          <a:bodyPr anchor="b">
            <a:normAutofit/>
          </a:bodyPr>
          <a:lstStyle/>
          <a:p>
            <a:r>
              <a:rPr lang="en-IN" sz="4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Digest (MD)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DC848-55C1-81AD-82CC-EF671CD47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543" y="1502229"/>
            <a:ext cx="5197353" cy="4617677"/>
          </a:xfrm>
        </p:spPr>
        <p:txBody>
          <a:bodyPr>
            <a:normAutofit/>
          </a:bodyPr>
          <a:lstStyle/>
          <a:p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Digest functions were very popular in early 1990s.</a:t>
            </a:r>
          </a:p>
          <a:p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MD4 and MD5 are members of this category.</a:t>
            </a:r>
          </a:p>
          <a:p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MD functions are found to be insecure and not recommended for use any more. </a:t>
            </a:r>
          </a:p>
          <a:p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 is a 128-bit hash function that was commonly used for file integrity checks.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BCE80E72-3B8A-6BC4-B438-6E7B1149D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16" y="537882"/>
            <a:ext cx="5324391" cy="558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370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546E4-75E0-B409-6A99-3D2E70EC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5057"/>
            <a:ext cx="5621896" cy="1382486"/>
          </a:xfrm>
        </p:spPr>
        <p:txBody>
          <a:bodyPr anchor="b">
            <a:normAutofit/>
          </a:bodyPr>
          <a:lstStyle/>
          <a:p>
            <a:r>
              <a:rPr lang="en-IN" sz="4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Hash Algorithms (SHAs)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49FCE-4765-920D-4D3C-1BD670C3C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926771"/>
            <a:ext cx="5240896" cy="4193135"/>
          </a:xfrm>
        </p:spPr>
        <p:txBody>
          <a:bodyPr>
            <a:normAutofit lnSpcReduction="10000"/>
          </a:bodyPr>
          <a:lstStyle/>
          <a:p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SHA-0</a:t>
            </a:r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is a 160-bit function introduced by NIST in 1993.</a:t>
            </a:r>
          </a:p>
          <a:p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SHA-1</a:t>
            </a:r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SHA-1 was introduced later by NIST as a replacement of SHA-0. This is also a 160- bit hash function.</a:t>
            </a:r>
          </a:p>
          <a:p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SHA-1 is used commonly in SSL and TLS implementations. </a:t>
            </a:r>
          </a:p>
          <a:p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be noted that SHA-1 is now considered insecure and is being deprecated by certificate authorities.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length too short to resist to attacks.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SHAttered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attack (2017) demonstrated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SHA-1.</a:t>
            </a:r>
          </a:p>
          <a:p>
            <a:endParaRPr lang="en-IN" sz="1400" dirty="0"/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C1FD3C70-4F22-6084-E408-C118A7845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24" y="686504"/>
            <a:ext cx="5365375" cy="528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64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3C8916-2DFA-B102-EB8F-6428A36A7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1730" y="339213"/>
            <a:ext cx="7005484" cy="4090521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 (Secure Hash Algorithm 2) is a set of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 tooltip="Cryptographic hash fun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cryptographic hash functions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designed by the United States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 tooltip="National Security Agenc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National Security Agency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(NSA) and first published in 2001. They are built using the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 tooltip="Merkle–Damgård constru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Merkle–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 tooltip="Merkle–Damgård constru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Damgård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 tooltip="Merkle–Damgård constru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construction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from a one-way compression function from a specialized block cipher.</a:t>
            </a:r>
          </a:p>
          <a:p>
            <a:pPr marL="0" indent="0" algn="just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category includes four functions defined by the number of bits of the hash: SHA-224, SHA-256, SHA-384 and SHA-512.</a:t>
            </a:r>
          </a:p>
          <a:p>
            <a:pPr algn="just"/>
            <a:endParaRPr lang="en-IN" sz="28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D4D87FB-4AE4-9A23-F4FF-CE98CF33CB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7420571" y="221227"/>
            <a:ext cx="4816647" cy="5191432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8DFAB5-6257-B404-A036-BB1F2575F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092" y="4429735"/>
            <a:ext cx="4153480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875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4017B-DA6A-B1BE-7EEA-D06FC4CF9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029" y="315686"/>
            <a:ext cx="11070771" cy="5861277"/>
          </a:xfrm>
        </p:spPr>
        <p:txBody>
          <a:bodyPr/>
          <a:lstStyle/>
          <a:p>
            <a:pPr algn="just"/>
            <a:r>
              <a:rPr lang="en-IN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RIPEMD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RIPEMD is the acronym for </a:t>
            </a:r>
            <a:r>
              <a:rPr lang="en-IN" sz="2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Integrity Primitives Evaluation Message Digest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based on the design ideas used to build MD4. There are multiple versions of RIPEMD, including 128-bit, 160-bit, 256-bit, and 320-bit.</a:t>
            </a:r>
          </a:p>
          <a:p>
            <a:pPr algn="just"/>
            <a:endParaRPr lang="en-IN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Whirlpool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is based on a modified version of Rijndael cipher known as W. It uses the Miyaguchi-</a:t>
            </a:r>
            <a:r>
              <a:rPr lang="en-IN" sz="2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Preneel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compression function, which is a type of one-way function used for the compression of two fixed length inputs into a single fixed length output. It is a single block length compression function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DCB76-98D2-1B6C-876D-576CC27F1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308" y="4180957"/>
            <a:ext cx="2227007" cy="246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263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6E75-3B1D-40AD-0F1C-5C7800CC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" y="97971"/>
            <a:ext cx="11255829" cy="903515"/>
          </a:xfrm>
        </p:spPr>
        <p:txBody>
          <a:bodyPr/>
          <a:lstStyle/>
          <a:p>
            <a:r>
              <a:rPr lang="en-IN" sz="4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DA46C-AA02-3491-1397-7A680638C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914" y="914400"/>
            <a:ext cx="11059886" cy="5262563"/>
          </a:xfrm>
        </p:spPr>
        <p:txBody>
          <a:bodyPr/>
          <a:lstStyle/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has the input message size &lt; 2^64-bits. Block size is 512-bits and has a word size of 32-bits. </a:t>
            </a:r>
          </a:p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256-bit digest.</a:t>
            </a:r>
          </a:p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compression function processes a 512-bit message block and a 256-bit intermediate hash value. </a:t>
            </a:r>
          </a:p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main components of this function: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compression function and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message schedule.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7354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05B67-34A2-AF34-527A-F0ABF4190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114" y="457200"/>
            <a:ext cx="10983686" cy="5719763"/>
          </a:xfrm>
        </p:spPr>
        <p:txBody>
          <a:bodyPr/>
          <a:lstStyle/>
          <a:p>
            <a:pPr algn="l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works as follows:</a:t>
            </a:r>
          </a:p>
          <a:p>
            <a:pPr algn="l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Pre-processing:</a:t>
            </a:r>
          </a:p>
          <a:p>
            <a:pPr marL="0" indent="0" algn="l">
              <a:buNone/>
            </a:pP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Padding of the message, which is used to make the length of a block to 512-bits if it is smaller than the required block size of 512-bits.</a:t>
            </a:r>
          </a:p>
          <a:p>
            <a:pPr marL="0" indent="0" algn="l">
              <a:buNone/>
            </a:pP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Parsing the message into message blocks that ensure that the message and its padding is divided into equal blocks of 512-bits.</a:t>
            </a:r>
          </a:p>
          <a:p>
            <a:pPr marL="0" indent="0" algn="l">
              <a:buNone/>
            </a:pP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Setting up the initial hash value, which is the eight 32-bit words obtained by taking the first 32-bits of the fractional parts of the square roots of the first eight prime numbers.</a:t>
            </a:r>
          </a:p>
          <a:p>
            <a:pPr marL="0" indent="0" algn="l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initial values are randomly chosen in order to initialize the process and gives a level of confidence that no backdoor exists in the algorithm.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518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A0F66-F350-684C-6948-B328CB1E2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743" y="326571"/>
            <a:ext cx="11332028" cy="5793335"/>
          </a:xfrm>
        </p:spPr>
        <p:txBody>
          <a:bodyPr>
            <a:normAutofit/>
          </a:bodyPr>
          <a:lstStyle/>
          <a:p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computation:</a:t>
            </a:r>
          </a:p>
          <a:p>
            <a:pPr marL="0" indent="0">
              <a:buNone/>
            </a:pP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Each message block is processed in a sequence and requires 64 rounds to compute the full hash output. Each round uses slightly different constants to ensure that no two rounds are the same.</a:t>
            </a:r>
          </a:p>
          <a:p>
            <a:pPr marL="0" indent="0">
              <a:buNone/>
            </a:pP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First, the message schedule is prepared.</a:t>
            </a:r>
          </a:p>
          <a:p>
            <a:pPr marL="0" indent="0">
              <a:buNone/>
            </a:pP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Then, eight working variables are initialized.</a:t>
            </a:r>
          </a:p>
          <a:p>
            <a:pPr marL="0" indent="0">
              <a:buNone/>
            </a:pP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Then, the intermediate hash value is calculated.</a:t>
            </a:r>
          </a:p>
          <a:p>
            <a:pPr marL="0" indent="0">
              <a:buNone/>
            </a:pP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Finally, the message is processed and the output hash is produced.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EB1E6-C4D6-134E-2CEF-CB1238D8A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3" y="4125686"/>
            <a:ext cx="10635550" cy="232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789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/>
              <a:t>Design of SHA3 (Keccak)</a:t>
            </a:r>
            <a:endParaRPr/>
          </a:p>
        </p:txBody>
      </p:sp>
      <p:sp>
        <p:nvSpPr>
          <p:cNvPr id="268" name="Google Shape;268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structure of SHA-3 is very different from the usual SHA-1 and SHA-2.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 newer approach called sponge and squeeze construction is used in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Keccak, which is basically a random permutation model.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Different variants of SHA3 have been standardized, such as SHA3-224, SHA3-256, SHA3-384, SHA3-512, SHAKE128, and SHAKE256.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following diagram shows the sponge and squeeze model that is the basis of SHA3 or Keccak.</a:t>
            </a:r>
            <a:endParaRPr/>
          </a:p>
        </p:txBody>
      </p:sp>
      <p:pic>
        <p:nvPicPr>
          <p:cNvPr id="275" name="Google Shape;27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9441" y="2868500"/>
            <a:ext cx="7392826" cy="31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6D63E-1EEE-113C-391E-89DCAC380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686" y="881743"/>
            <a:ext cx="10657114" cy="5295220"/>
          </a:xfrm>
        </p:spPr>
        <p:txBody>
          <a:bodyPr/>
          <a:lstStyle/>
          <a:p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diagram shows the sponge and squeeze model that is the basis of SHA3 or Keccak. </a:t>
            </a:r>
          </a:p>
          <a:p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sponge first, the data is absorbed into the sponge after applying padding, where it is then changed into a subset of permutation state using XOR and then the output is squeezed out of the sponge function that represents the transformed state.</a:t>
            </a:r>
          </a:p>
          <a:p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is the input block size of a sponge function, </a:t>
            </a:r>
          </a:p>
          <a:p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whereas capacity determines the generic security level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111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3203</Words>
  <Application>Microsoft Office PowerPoint</Application>
  <PresentationFormat>Widescreen</PresentationFormat>
  <Paragraphs>251</Paragraphs>
  <Slides>55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5" baseType="lpstr">
      <vt:lpstr>Arial</vt:lpstr>
      <vt:lpstr>Arial-BoldMT</vt:lpstr>
      <vt:lpstr>Calibri</vt:lpstr>
      <vt:lpstr>Cambria Math</vt:lpstr>
      <vt:lpstr>PalatinoLinotype-Italic</vt:lpstr>
      <vt:lpstr>PalatinoLinotype-Roman</vt:lpstr>
      <vt:lpstr>Times New Roman</vt:lpstr>
      <vt:lpstr>Wingdings</vt:lpstr>
      <vt:lpstr>Wingdings 2</vt:lpstr>
      <vt:lpstr>Office Theme</vt:lpstr>
      <vt:lpstr>Blockchain Technology</vt:lpstr>
      <vt:lpstr>Topics to be covered…</vt:lpstr>
      <vt:lpstr>Asymmetric cryptography</vt:lpstr>
      <vt:lpstr>Model is only used for message authentication and validation purposes: </vt:lpstr>
      <vt:lpstr>PowerPoint Presentation</vt:lpstr>
      <vt:lpstr>1. Key Establishment</vt:lpstr>
      <vt:lpstr>2. Digital Signatures</vt:lpstr>
      <vt:lpstr>3. Identification</vt:lpstr>
      <vt:lpstr>4. Encryption and Decryption</vt:lpstr>
      <vt:lpstr>PowerPoint Presentation</vt:lpstr>
      <vt:lpstr>Public and private keys</vt:lpstr>
      <vt:lpstr>PowerPoint Presentation</vt:lpstr>
      <vt:lpstr>Discrete logarithm</vt:lpstr>
      <vt:lpstr>Elliptic curves</vt:lpstr>
      <vt:lpstr>PowerPoint Presentation</vt:lpstr>
      <vt:lpstr>PowerPoint Presentation</vt:lpstr>
      <vt:lpstr>PowerPoint Presentation</vt:lpstr>
      <vt:lpstr>RSA</vt:lpstr>
      <vt:lpstr>PowerPoint Presentation</vt:lpstr>
      <vt:lpstr>Problems</vt:lpstr>
      <vt:lpstr>PowerPoint Presentation</vt:lpstr>
      <vt:lpstr>PowerPoint Presentation</vt:lpstr>
      <vt:lpstr>Cryptographic primitives</vt:lpstr>
      <vt:lpstr>Hash functions</vt:lpstr>
      <vt:lpstr>PowerPoint Presentation</vt:lpstr>
      <vt:lpstr>PowerPoint Presentation</vt:lpstr>
      <vt:lpstr>Properties</vt:lpstr>
      <vt:lpstr>Pre-image resistance</vt:lpstr>
      <vt:lpstr>Second pre-image resistance</vt:lpstr>
      <vt:lpstr>Collision resistance</vt:lpstr>
      <vt:lpstr>Merkle trees</vt:lpstr>
      <vt:lpstr>PowerPoint Presentation</vt:lpstr>
      <vt:lpstr>PowerPoint Presentation</vt:lpstr>
      <vt:lpstr>PowerPoint Presentation</vt:lpstr>
      <vt:lpstr>Patricia trees</vt:lpstr>
      <vt:lpstr>Example: Patricia Trie vs. Standard Trie</vt:lpstr>
      <vt:lpstr>PowerPoint Presentation</vt:lpstr>
      <vt:lpstr>PowerPoint Presentation</vt:lpstr>
      <vt:lpstr>Distributed hash table</vt:lpstr>
      <vt:lpstr>PowerPoint Presentation</vt:lpstr>
      <vt:lpstr>Example: Storing a File in IPFS</vt:lpstr>
      <vt:lpstr>Digital signature</vt:lpstr>
      <vt:lpstr>PowerPoint Presentation</vt:lpstr>
      <vt:lpstr>PowerPoint Presentation</vt:lpstr>
      <vt:lpstr>PowerPoint Presentation</vt:lpstr>
      <vt:lpstr>Message Digest (MD)</vt:lpstr>
      <vt:lpstr>Secure Hash Algorithms (SHAs)</vt:lpstr>
      <vt:lpstr>PowerPoint Presentation</vt:lpstr>
      <vt:lpstr>PowerPoint Presentation</vt:lpstr>
      <vt:lpstr>SHA-256</vt:lpstr>
      <vt:lpstr>PowerPoint Presentation</vt:lpstr>
      <vt:lpstr>PowerPoint Presentation</vt:lpstr>
      <vt:lpstr>Design of SHA3 (Keccak)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Anil Kumar</dc:creator>
  <cp:lastModifiedBy>Abdul Latif Saleem CSE</cp:lastModifiedBy>
  <cp:revision>48</cp:revision>
  <dcterms:created xsi:type="dcterms:W3CDTF">2023-03-26T10:24:18Z</dcterms:created>
  <dcterms:modified xsi:type="dcterms:W3CDTF">2025-03-22T02:27:05Z</dcterms:modified>
</cp:coreProperties>
</file>