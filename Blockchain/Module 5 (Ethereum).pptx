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7" r:id="rId2"/>
    <p:sldId id="258" r:id="rId3"/>
    <p:sldId id="259" r:id="rId4"/>
    <p:sldId id="260" r:id="rId5"/>
    <p:sldId id="261" r:id="rId6"/>
    <p:sldId id="886" r:id="rId7"/>
    <p:sldId id="262" r:id="rId8"/>
    <p:sldId id="870" r:id="rId9"/>
    <p:sldId id="879" r:id="rId10"/>
    <p:sldId id="880" r:id="rId11"/>
    <p:sldId id="263" r:id="rId12"/>
    <p:sldId id="871" r:id="rId13"/>
    <p:sldId id="881" r:id="rId14"/>
    <p:sldId id="264" r:id="rId15"/>
    <p:sldId id="872" r:id="rId16"/>
    <p:sldId id="873" r:id="rId17"/>
    <p:sldId id="874" r:id="rId18"/>
    <p:sldId id="266" r:id="rId19"/>
    <p:sldId id="876" r:id="rId20"/>
    <p:sldId id="877" r:id="rId21"/>
    <p:sldId id="878" r:id="rId22"/>
    <p:sldId id="882" r:id="rId23"/>
    <p:sldId id="883" r:id="rId24"/>
    <p:sldId id="884" r:id="rId25"/>
    <p:sldId id="885" r:id="rId26"/>
    <p:sldId id="906" r:id="rId27"/>
    <p:sldId id="268" r:id="rId28"/>
    <p:sldId id="887" r:id="rId29"/>
    <p:sldId id="888" r:id="rId30"/>
    <p:sldId id="889" r:id="rId31"/>
    <p:sldId id="890" r:id="rId32"/>
    <p:sldId id="891" r:id="rId33"/>
    <p:sldId id="269" r:id="rId34"/>
    <p:sldId id="892" r:id="rId35"/>
    <p:sldId id="271" r:id="rId36"/>
    <p:sldId id="894" r:id="rId37"/>
    <p:sldId id="895" r:id="rId38"/>
    <p:sldId id="896" r:id="rId39"/>
    <p:sldId id="893" r:id="rId40"/>
    <p:sldId id="272" r:id="rId41"/>
    <p:sldId id="897" r:id="rId42"/>
    <p:sldId id="274" r:id="rId43"/>
    <p:sldId id="907" r:id="rId44"/>
    <p:sldId id="911" r:id="rId45"/>
    <p:sldId id="899" r:id="rId46"/>
    <p:sldId id="900" r:id="rId47"/>
    <p:sldId id="901" r:id="rId48"/>
    <p:sldId id="902" r:id="rId49"/>
    <p:sldId id="904" r:id="rId50"/>
    <p:sldId id="905" r:id="rId51"/>
    <p:sldId id="283" r:id="rId52"/>
    <p:sldId id="908" r:id="rId53"/>
    <p:sldId id="912" r:id="rId54"/>
    <p:sldId id="286" r:id="rId55"/>
    <p:sldId id="287" r:id="rId56"/>
    <p:sldId id="288" r:id="rId57"/>
    <p:sldId id="289" r:id="rId58"/>
    <p:sldId id="290" r:id="rId59"/>
    <p:sldId id="291" r:id="rId60"/>
    <p:sldId id="292" r:id="rId61"/>
    <p:sldId id="297" r:id="rId62"/>
    <p:sldId id="298" r:id="rId63"/>
    <p:sldId id="913" r:id="rId64"/>
    <p:sldId id="914" r:id="rId65"/>
    <p:sldId id="909" r:id="rId66"/>
    <p:sldId id="910" r:id="rId67"/>
    <p:sldId id="294" r:id="rId68"/>
    <p:sldId id="915" r:id="rId69"/>
    <p:sldId id="862" r:id="rId70"/>
    <p:sldId id="916" r:id="rId71"/>
    <p:sldId id="917" r:id="rId72"/>
    <p:sldId id="295" r:id="rId73"/>
    <p:sldId id="296"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113486-4D26-4C4F-93A6-DD73ED56B28E}" type="datetimeFigureOut">
              <a:rPr lang="en-IN" smtClean="0"/>
              <a:t>13-05-2025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30F910-AE3E-46D3-8D3B-BEA125FBE268}" type="slidenum">
              <a:rPr lang="en-IN" smtClean="0"/>
              <a:t>‹#›</a:t>
            </a:fld>
            <a:endParaRPr lang="en-IN"/>
          </a:p>
        </p:txBody>
      </p:sp>
    </p:spTree>
    <p:extLst>
      <p:ext uri="{BB962C8B-B14F-4D97-AF65-F5344CB8AC3E}">
        <p14:creationId xmlns:p14="http://schemas.microsoft.com/office/powerpoint/2010/main" val="2466763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13733CC-7464-4C98-A003-E0D1295F6A38}" type="slidenum">
              <a:rPr lang="en-IN" smtClean="0"/>
              <a:t>1</a:t>
            </a:fld>
            <a:endParaRPr lang="en-IN" dirty="0"/>
          </a:p>
        </p:txBody>
      </p:sp>
    </p:spTree>
    <p:extLst>
      <p:ext uri="{BB962C8B-B14F-4D97-AF65-F5344CB8AC3E}">
        <p14:creationId xmlns:p14="http://schemas.microsoft.com/office/powerpoint/2010/main" val="1105696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30F910-AE3E-46D3-8D3B-BEA125FBE268}" type="slidenum">
              <a:rPr lang="en-IN" smtClean="0"/>
              <a:t>19</a:t>
            </a:fld>
            <a:endParaRPr lang="en-IN"/>
          </a:p>
        </p:txBody>
      </p:sp>
    </p:spTree>
    <p:extLst>
      <p:ext uri="{BB962C8B-B14F-4D97-AF65-F5344CB8AC3E}">
        <p14:creationId xmlns:p14="http://schemas.microsoft.com/office/powerpoint/2010/main" val="768646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F22C7-871A-73DD-65E5-2B59FA4505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0BBCC1B-B00E-0C16-8518-64F3673F06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B5B69A-FA97-7A21-07DF-6C76AE31E9CC}"/>
              </a:ext>
            </a:extLst>
          </p:cNvPr>
          <p:cNvSpPr>
            <a:spLocks noGrp="1"/>
          </p:cNvSpPr>
          <p:nvPr>
            <p:ph type="dt" sz="half" idx="10"/>
          </p:nvPr>
        </p:nvSpPr>
        <p:spPr/>
        <p:txBody>
          <a:bodyPr/>
          <a:lstStyle/>
          <a:p>
            <a:fld id="{7894931B-A2CD-4E64-A356-C8D56BBBFFF1}" type="datetimeFigureOut">
              <a:rPr lang="en-IN" smtClean="0"/>
              <a:t>13-05-2025</a:t>
            </a:fld>
            <a:endParaRPr lang="en-IN"/>
          </a:p>
        </p:txBody>
      </p:sp>
      <p:sp>
        <p:nvSpPr>
          <p:cNvPr id="5" name="Footer Placeholder 4">
            <a:extLst>
              <a:ext uri="{FF2B5EF4-FFF2-40B4-BE49-F238E27FC236}">
                <a16:creationId xmlns:a16="http://schemas.microsoft.com/office/drawing/2014/main" id="{12B999E9-F1E6-CA01-12A3-8D7EC7F4EC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2465F6-7460-34E5-D2E2-4A72B8302653}"/>
              </a:ext>
            </a:extLst>
          </p:cNvPr>
          <p:cNvSpPr>
            <a:spLocks noGrp="1"/>
          </p:cNvSpPr>
          <p:nvPr>
            <p:ph type="sldNum" sz="quarter" idx="12"/>
          </p:nvPr>
        </p:nvSpPr>
        <p:spPr/>
        <p:txBody>
          <a:bodyPr/>
          <a:lstStyle/>
          <a:p>
            <a:fld id="{A557183F-1708-40F1-AADE-F4DB13C63533}" type="slidenum">
              <a:rPr lang="en-IN" smtClean="0"/>
              <a:t>‹#›</a:t>
            </a:fld>
            <a:endParaRPr lang="en-IN"/>
          </a:p>
        </p:txBody>
      </p:sp>
    </p:spTree>
    <p:extLst>
      <p:ext uri="{BB962C8B-B14F-4D97-AF65-F5344CB8AC3E}">
        <p14:creationId xmlns:p14="http://schemas.microsoft.com/office/powerpoint/2010/main" val="295984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0BF82-91CC-73A9-90C7-9C396B38B1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28F683-098E-FD2A-AD9F-B587FAEA66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4DEBBF-A88D-D441-967E-3A5AD02433E8}"/>
              </a:ext>
            </a:extLst>
          </p:cNvPr>
          <p:cNvSpPr>
            <a:spLocks noGrp="1"/>
          </p:cNvSpPr>
          <p:nvPr>
            <p:ph type="dt" sz="half" idx="10"/>
          </p:nvPr>
        </p:nvSpPr>
        <p:spPr/>
        <p:txBody>
          <a:bodyPr/>
          <a:lstStyle/>
          <a:p>
            <a:fld id="{7894931B-A2CD-4E64-A356-C8D56BBBFFF1}" type="datetimeFigureOut">
              <a:rPr lang="en-IN" smtClean="0"/>
              <a:t>13-05-2025</a:t>
            </a:fld>
            <a:endParaRPr lang="en-IN"/>
          </a:p>
        </p:txBody>
      </p:sp>
      <p:sp>
        <p:nvSpPr>
          <p:cNvPr id="5" name="Footer Placeholder 4">
            <a:extLst>
              <a:ext uri="{FF2B5EF4-FFF2-40B4-BE49-F238E27FC236}">
                <a16:creationId xmlns:a16="http://schemas.microsoft.com/office/drawing/2014/main" id="{9820B7CA-AA29-7C5D-B33B-D76C5A83C8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CA79FD-701C-97A9-084A-9690330726A1}"/>
              </a:ext>
            </a:extLst>
          </p:cNvPr>
          <p:cNvSpPr>
            <a:spLocks noGrp="1"/>
          </p:cNvSpPr>
          <p:nvPr>
            <p:ph type="sldNum" sz="quarter" idx="12"/>
          </p:nvPr>
        </p:nvSpPr>
        <p:spPr/>
        <p:txBody>
          <a:bodyPr/>
          <a:lstStyle/>
          <a:p>
            <a:fld id="{A557183F-1708-40F1-AADE-F4DB13C63533}" type="slidenum">
              <a:rPr lang="en-IN" smtClean="0"/>
              <a:t>‹#›</a:t>
            </a:fld>
            <a:endParaRPr lang="en-IN"/>
          </a:p>
        </p:txBody>
      </p:sp>
    </p:spTree>
    <p:extLst>
      <p:ext uri="{BB962C8B-B14F-4D97-AF65-F5344CB8AC3E}">
        <p14:creationId xmlns:p14="http://schemas.microsoft.com/office/powerpoint/2010/main" val="3376035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9E940-D319-6F44-77F6-8229966D40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C92C712-39F6-D5BD-0BEB-319CEFCBDD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543A11-94D4-DCF4-ECB7-0F0994C9539D}"/>
              </a:ext>
            </a:extLst>
          </p:cNvPr>
          <p:cNvSpPr>
            <a:spLocks noGrp="1"/>
          </p:cNvSpPr>
          <p:nvPr>
            <p:ph type="dt" sz="half" idx="10"/>
          </p:nvPr>
        </p:nvSpPr>
        <p:spPr/>
        <p:txBody>
          <a:bodyPr/>
          <a:lstStyle/>
          <a:p>
            <a:fld id="{7894931B-A2CD-4E64-A356-C8D56BBBFFF1}" type="datetimeFigureOut">
              <a:rPr lang="en-IN" smtClean="0"/>
              <a:t>13-05-2025</a:t>
            </a:fld>
            <a:endParaRPr lang="en-IN"/>
          </a:p>
        </p:txBody>
      </p:sp>
      <p:sp>
        <p:nvSpPr>
          <p:cNvPr id="5" name="Footer Placeholder 4">
            <a:extLst>
              <a:ext uri="{FF2B5EF4-FFF2-40B4-BE49-F238E27FC236}">
                <a16:creationId xmlns:a16="http://schemas.microsoft.com/office/drawing/2014/main" id="{A33E042F-B756-5A53-6AB5-613BDD6B14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45762E-1E5A-2C09-8CF5-E026BE305D71}"/>
              </a:ext>
            </a:extLst>
          </p:cNvPr>
          <p:cNvSpPr>
            <a:spLocks noGrp="1"/>
          </p:cNvSpPr>
          <p:nvPr>
            <p:ph type="sldNum" sz="quarter" idx="12"/>
          </p:nvPr>
        </p:nvSpPr>
        <p:spPr/>
        <p:txBody>
          <a:bodyPr/>
          <a:lstStyle/>
          <a:p>
            <a:fld id="{A557183F-1708-40F1-AADE-F4DB13C63533}" type="slidenum">
              <a:rPr lang="en-IN" smtClean="0"/>
              <a:t>‹#›</a:t>
            </a:fld>
            <a:endParaRPr lang="en-IN"/>
          </a:p>
        </p:txBody>
      </p:sp>
    </p:spTree>
    <p:extLst>
      <p:ext uri="{BB962C8B-B14F-4D97-AF65-F5344CB8AC3E}">
        <p14:creationId xmlns:p14="http://schemas.microsoft.com/office/powerpoint/2010/main" val="177425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E499E-8E61-1179-9FD9-FB4A69BE6B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B16B6A-B3AC-4579-C1F7-CC6D963084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C3B2B53-81D8-1A09-3ED6-DA9D2C48BB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930C0CD-7A55-B704-D7D5-7A8A8046F1A2}"/>
              </a:ext>
            </a:extLst>
          </p:cNvPr>
          <p:cNvSpPr>
            <a:spLocks noGrp="1"/>
          </p:cNvSpPr>
          <p:nvPr>
            <p:ph type="dt" sz="half" idx="10"/>
          </p:nvPr>
        </p:nvSpPr>
        <p:spPr/>
        <p:txBody>
          <a:bodyPr/>
          <a:lstStyle/>
          <a:p>
            <a:fld id="{7894931B-A2CD-4E64-A356-C8D56BBBFFF1}" type="datetimeFigureOut">
              <a:rPr lang="en-IN" smtClean="0"/>
              <a:t>13-05-2025</a:t>
            </a:fld>
            <a:endParaRPr lang="en-IN"/>
          </a:p>
        </p:txBody>
      </p:sp>
      <p:sp>
        <p:nvSpPr>
          <p:cNvPr id="6" name="Footer Placeholder 5">
            <a:extLst>
              <a:ext uri="{FF2B5EF4-FFF2-40B4-BE49-F238E27FC236}">
                <a16:creationId xmlns:a16="http://schemas.microsoft.com/office/drawing/2014/main" id="{55A6D6C3-E75E-788B-A5DF-203BB71547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51630B-22B0-C1E3-7B62-385B97D0C980}"/>
              </a:ext>
            </a:extLst>
          </p:cNvPr>
          <p:cNvSpPr>
            <a:spLocks noGrp="1"/>
          </p:cNvSpPr>
          <p:nvPr>
            <p:ph type="sldNum" sz="quarter" idx="12"/>
          </p:nvPr>
        </p:nvSpPr>
        <p:spPr/>
        <p:txBody>
          <a:bodyPr/>
          <a:lstStyle/>
          <a:p>
            <a:fld id="{A557183F-1708-40F1-AADE-F4DB13C63533}" type="slidenum">
              <a:rPr lang="en-IN" smtClean="0"/>
              <a:t>‹#›</a:t>
            </a:fld>
            <a:endParaRPr lang="en-IN"/>
          </a:p>
        </p:txBody>
      </p:sp>
    </p:spTree>
    <p:extLst>
      <p:ext uri="{BB962C8B-B14F-4D97-AF65-F5344CB8AC3E}">
        <p14:creationId xmlns:p14="http://schemas.microsoft.com/office/powerpoint/2010/main" val="2600021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BBEE6-02F3-7FC4-E7D9-24FD142100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99B432-0D80-60E2-6B79-4893BB59B4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BA6907-7ACD-E2EE-3EFC-9F02211B21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3BF190E-BE26-2E9B-A35F-27BD9A0AFA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8C7BE1-DCBC-67E5-CE30-03C74930A5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94E596-96CB-79C3-27C6-E3F103DBDF29}"/>
              </a:ext>
            </a:extLst>
          </p:cNvPr>
          <p:cNvSpPr>
            <a:spLocks noGrp="1"/>
          </p:cNvSpPr>
          <p:nvPr>
            <p:ph type="dt" sz="half" idx="10"/>
          </p:nvPr>
        </p:nvSpPr>
        <p:spPr/>
        <p:txBody>
          <a:bodyPr/>
          <a:lstStyle/>
          <a:p>
            <a:fld id="{7894931B-A2CD-4E64-A356-C8D56BBBFFF1}" type="datetimeFigureOut">
              <a:rPr lang="en-IN" smtClean="0"/>
              <a:t>13-05-2025</a:t>
            </a:fld>
            <a:endParaRPr lang="en-IN"/>
          </a:p>
        </p:txBody>
      </p:sp>
      <p:sp>
        <p:nvSpPr>
          <p:cNvPr id="8" name="Footer Placeholder 7">
            <a:extLst>
              <a:ext uri="{FF2B5EF4-FFF2-40B4-BE49-F238E27FC236}">
                <a16:creationId xmlns:a16="http://schemas.microsoft.com/office/drawing/2014/main" id="{F87B9143-2393-1533-8185-0C4347BBDE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971F18-3D60-18F4-8E84-916A6AB7C478}"/>
              </a:ext>
            </a:extLst>
          </p:cNvPr>
          <p:cNvSpPr>
            <a:spLocks noGrp="1"/>
          </p:cNvSpPr>
          <p:nvPr>
            <p:ph type="sldNum" sz="quarter" idx="12"/>
          </p:nvPr>
        </p:nvSpPr>
        <p:spPr/>
        <p:txBody>
          <a:bodyPr/>
          <a:lstStyle/>
          <a:p>
            <a:fld id="{A557183F-1708-40F1-AADE-F4DB13C63533}" type="slidenum">
              <a:rPr lang="en-IN" smtClean="0"/>
              <a:t>‹#›</a:t>
            </a:fld>
            <a:endParaRPr lang="en-IN"/>
          </a:p>
        </p:txBody>
      </p:sp>
    </p:spTree>
    <p:extLst>
      <p:ext uri="{BB962C8B-B14F-4D97-AF65-F5344CB8AC3E}">
        <p14:creationId xmlns:p14="http://schemas.microsoft.com/office/powerpoint/2010/main" val="294062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533D-A455-4577-71C7-0AE7C1A910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6642F06-8072-7686-2EEE-EB9403A64945}"/>
              </a:ext>
            </a:extLst>
          </p:cNvPr>
          <p:cNvSpPr>
            <a:spLocks noGrp="1"/>
          </p:cNvSpPr>
          <p:nvPr>
            <p:ph type="dt" sz="half" idx="10"/>
          </p:nvPr>
        </p:nvSpPr>
        <p:spPr/>
        <p:txBody>
          <a:bodyPr/>
          <a:lstStyle/>
          <a:p>
            <a:fld id="{7894931B-A2CD-4E64-A356-C8D56BBBFFF1}" type="datetimeFigureOut">
              <a:rPr lang="en-IN" smtClean="0"/>
              <a:t>13-05-2025</a:t>
            </a:fld>
            <a:endParaRPr lang="en-IN"/>
          </a:p>
        </p:txBody>
      </p:sp>
      <p:sp>
        <p:nvSpPr>
          <p:cNvPr id="4" name="Footer Placeholder 3">
            <a:extLst>
              <a:ext uri="{FF2B5EF4-FFF2-40B4-BE49-F238E27FC236}">
                <a16:creationId xmlns:a16="http://schemas.microsoft.com/office/drawing/2014/main" id="{292A7D29-1208-AACB-B55C-7F3DD62C9E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6E55415-6BA9-4EF4-234B-E45B2EE9C405}"/>
              </a:ext>
            </a:extLst>
          </p:cNvPr>
          <p:cNvSpPr>
            <a:spLocks noGrp="1"/>
          </p:cNvSpPr>
          <p:nvPr>
            <p:ph type="sldNum" sz="quarter" idx="12"/>
          </p:nvPr>
        </p:nvSpPr>
        <p:spPr/>
        <p:txBody>
          <a:bodyPr/>
          <a:lstStyle/>
          <a:p>
            <a:fld id="{A557183F-1708-40F1-AADE-F4DB13C63533}" type="slidenum">
              <a:rPr lang="en-IN" smtClean="0"/>
              <a:t>‹#›</a:t>
            </a:fld>
            <a:endParaRPr lang="en-IN"/>
          </a:p>
        </p:txBody>
      </p:sp>
    </p:spTree>
    <p:extLst>
      <p:ext uri="{BB962C8B-B14F-4D97-AF65-F5344CB8AC3E}">
        <p14:creationId xmlns:p14="http://schemas.microsoft.com/office/powerpoint/2010/main" val="4195689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78DC64-E61B-0471-C297-CDB1BFBCF0D1}"/>
              </a:ext>
            </a:extLst>
          </p:cNvPr>
          <p:cNvSpPr>
            <a:spLocks noGrp="1"/>
          </p:cNvSpPr>
          <p:nvPr>
            <p:ph type="dt" sz="half" idx="10"/>
          </p:nvPr>
        </p:nvSpPr>
        <p:spPr/>
        <p:txBody>
          <a:bodyPr/>
          <a:lstStyle/>
          <a:p>
            <a:fld id="{7894931B-A2CD-4E64-A356-C8D56BBBFFF1}" type="datetimeFigureOut">
              <a:rPr lang="en-IN" smtClean="0"/>
              <a:t>13-05-2025</a:t>
            </a:fld>
            <a:endParaRPr lang="en-IN"/>
          </a:p>
        </p:txBody>
      </p:sp>
      <p:sp>
        <p:nvSpPr>
          <p:cNvPr id="3" name="Footer Placeholder 2">
            <a:extLst>
              <a:ext uri="{FF2B5EF4-FFF2-40B4-BE49-F238E27FC236}">
                <a16:creationId xmlns:a16="http://schemas.microsoft.com/office/drawing/2014/main" id="{5B90048C-85E5-D28A-7D67-94622B6429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84153BB-AE7B-0EF9-B6EF-7E48A7B52336}"/>
              </a:ext>
            </a:extLst>
          </p:cNvPr>
          <p:cNvSpPr>
            <a:spLocks noGrp="1"/>
          </p:cNvSpPr>
          <p:nvPr>
            <p:ph type="sldNum" sz="quarter" idx="12"/>
          </p:nvPr>
        </p:nvSpPr>
        <p:spPr/>
        <p:txBody>
          <a:bodyPr/>
          <a:lstStyle/>
          <a:p>
            <a:fld id="{A557183F-1708-40F1-AADE-F4DB13C63533}" type="slidenum">
              <a:rPr lang="en-IN" smtClean="0"/>
              <a:t>‹#›</a:t>
            </a:fld>
            <a:endParaRPr lang="en-IN"/>
          </a:p>
        </p:txBody>
      </p:sp>
    </p:spTree>
    <p:extLst>
      <p:ext uri="{BB962C8B-B14F-4D97-AF65-F5344CB8AC3E}">
        <p14:creationId xmlns:p14="http://schemas.microsoft.com/office/powerpoint/2010/main" val="859971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2B407-661B-2980-9A85-326FDBB428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4FAFD4-0821-562F-D4F8-BB4E2F855E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2194C0A-B136-B6F0-ABFA-2C5DCFCB7A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CB8BE5-3CAB-1A2A-33E6-E5AC095B6E09}"/>
              </a:ext>
            </a:extLst>
          </p:cNvPr>
          <p:cNvSpPr>
            <a:spLocks noGrp="1"/>
          </p:cNvSpPr>
          <p:nvPr>
            <p:ph type="dt" sz="half" idx="10"/>
          </p:nvPr>
        </p:nvSpPr>
        <p:spPr/>
        <p:txBody>
          <a:bodyPr/>
          <a:lstStyle/>
          <a:p>
            <a:fld id="{7894931B-A2CD-4E64-A356-C8D56BBBFFF1}" type="datetimeFigureOut">
              <a:rPr lang="en-IN" smtClean="0"/>
              <a:t>13-05-2025</a:t>
            </a:fld>
            <a:endParaRPr lang="en-IN"/>
          </a:p>
        </p:txBody>
      </p:sp>
      <p:sp>
        <p:nvSpPr>
          <p:cNvPr id="6" name="Footer Placeholder 5">
            <a:extLst>
              <a:ext uri="{FF2B5EF4-FFF2-40B4-BE49-F238E27FC236}">
                <a16:creationId xmlns:a16="http://schemas.microsoft.com/office/drawing/2014/main" id="{74546232-A71A-BB67-81B3-C49812527B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1C065F-6D0C-DD19-36E9-1FE97EC38741}"/>
              </a:ext>
            </a:extLst>
          </p:cNvPr>
          <p:cNvSpPr>
            <a:spLocks noGrp="1"/>
          </p:cNvSpPr>
          <p:nvPr>
            <p:ph type="sldNum" sz="quarter" idx="12"/>
          </p:nvPr>
        </p:nvSpPr>
        <p:spPr/>
        <p:txBody>
          <a:bodyPr/>
          <a:lstStyle/>
          <a:p>
            <a:fld id="{A557183F-1708-40F1-AADE-F4DB13C63533}" type="slidenum">
              <a:rPr lang="en-IN" smtClean="0"/>
              <a:t>‹#›</a:t>
            </a:fld>
            <a:endParaRPr lang="en-IN"/>
          </a:p>
        </p:txBody>
      </p:sp>
    </p:spTree>
    <p:extLst>
      <p:ext uri="{BB962C8B-B14F-4D97-AF65-F5344CB8AC3E}">
        <p14:creationId xmlns:p14="http://schemas.microsoft.com/office/powerpoint/2010/main" val="10263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B7C36-5C20-874E-C25C-F2718FF278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1915193-939A-C022-5480-D52CE7F0C6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041CC4-A934-79E9-A3DF-B2646F2E2F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6EE164-9514-1F14-3A1A-7646024E07F8}"/>
              </a:ext>
            </a:extLst>
          </p:cNvPr>
          <p:cNvSpPr>
            <a:spLocks noGrp="1"/>
          </p:cNvSpPr>
          <p:nvPr>
            <p:ph type="dt" sz="half" idx="10"/>
          </p:nvPr>
        </p:nvSpPr>
        <p:spPr/>
        <p:txBody>
          <a:bodyPr/>
          <a:lstStyle/>
          <a:p>
            <a:fld id="{7894931B-A2CD-4E64-A356-C8D56BBBFFF1}" type="datetimeFigureOut">
              <a:rPr lang="en-IN" smtClean="0"/>
              <a:t>13-05-2025</a:t>
            </a:fld>
            <a:endParaRPr lang="en-IN"/>
          </a:p>
        </p:txBody>
      </p:sp>
      <p:sp>
        <p:nvSpPr>
          <p:cNvPr id="6" name="Footer Placeholder 5">
            <a:extLst>
              <a:ext uri="{FF2B5EF4-FFF2-40B4-BE49-F238E27FC236}">
                <a16:creationId xmlns:a16="http://schemas.microsoft.com/office/drawing/2014/main" id="{32C9B587-6276-944C-2BC4-DC0DE677F9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A3B923-DC7D-E734-3822-A770E7D8E6DF}"/>
              </a:ext>
            </a:extLst>
          </p:cNvPr>
          <p:cNvSpPr>
            <a:spLocks noGrp="1"/>
          </p:cNvSpPr>
          <p:nvPr>
            <p:ph type="sldNum" sz="quarter" idx="12"/>
          </p:nvPr>
        </p:nvSpPr>
        <p:spPr/>
        <p:txBody>
          <a:bodyPr/>
          <a:lstStyle/>
          <a:p>
            <a:fld id="{A557183F-1708-40F1-AADE-F4DB13C63533}" type="slidenum">
              <a:rPr lang="en-IN" smtClean="0"/>
              <a:t>‹#›</a:t>
            </a:fld>
            <a:endParaRPr lang="en-IN"/>
          </a:p>
        </p:txBody>
      </p:sp>
    </p:spTree>
    <p:extLst>
      <p:ext uri="{BB962C8B-B14F-4D97-AF65-F5344CB8AC3E}">
        <p14:creationId xmlns:p14="http://schemas.microsoft.com/office/powerpoint/2010/main" val="857209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12EA6-3DB2-97F7-3A10-05F2ED83EA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2B9ADD-601D-F08B-E1E4-39BACD8BE2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B18802-F5B1-20AF-5543-7985CED30F4D}"/>
              </a:ext>
            </a:extLst>
          </p:cNvPr>
          <p:cNvSpPr>
            <a:spLocks noGrp="1"/>
          </p:cNvSpPr>
          <p:nvPr>
            <p:ph type="dt" sz="half" idx="10"/>
          </p:nvPr>
        </p:nvSpPr>
        <p:spPr/>
        <p:txBody>
          <a:bodyPr/>
          <a:lstStyle/>
          <a:p>
            <a:fld id="{7894931B-A2CD-4E64-A356-C8D56BBBFFF1}" type="datetimeFigureOut">
              <a:rPr lang="en-IN" smtClean="0"/>
              <a:t>13-05-2025</a:t>
            </a:fld>
            <a:endParaRPr lang="en-IN"/>
          </a:p>
        </p:txBody>
      </p:sp>
      <p:sp>
        <p:nvSpPr>
          <p:cNvPr id="5" name="Footer Placeholder 4">
            <a:extLst>
              <a:ext uri="{FF2B5EF4-FFF2-40B4-BE49-F238E27FC236}">
                <a16:creationId xmlns:a16="http://schemas.microsoft.com/office/drawing/2014/main" id="{A85FA16B-A4DB-3D24-9AC0-2CE3D49721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6F55D2-37EF-2C52-98FD-F4039E920C3E}"/>
              </a:ext>
            </a:extLst>
          </p:cNvPr>
          <p:cNvSpPr>
            <a:spLocks noGrp="1"/>
          </p:cNvSpPr>
          <p:nvPr>
            <p:ph type="sldNum" sz="quarter" idx="12"/>
          </p:nvPr>
        </p:nvSpPr>
        <p:spPr/>
        <p:txBody>
          <a:bodyPr/>
          <a:lstStyle/>
          <a:p>
            <a:fld id="{A557183F-1708-40F1-AADE-F4DB13C63533}" type="slidenum">
              <a:rPr lang="en-IN" smtClean="0"/>
              <a:t>‹#›</a:t>
            </a:fld>
            <a:endParaRPr lang="en-IN"/>
          </a:p>
        </p:txBody>
      </p:sp>
    </p:spTree>
    <p:extLst>
      <p:ext uri="{BB962C8B-B14F-4D97-AF65-F5344CB8AC3E}">
        <p14:creationId xmlns:p14="http://schemas.microsoft.com/office/powerpoint/2010/main" val="1830733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E40CBF-5D50-E633-CB46-BB698E20A6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CE835E-75D9-1AF4-14D3-CEAE6CBA83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3DC6DC-FCBB-2142-E2B7-946D993BEF36}"/>
              </a:ext>
            </a:extLst>
          </p:cNvPr>
          <p:cNvSpPr>
            <a:spLocks noGrp="1"/>
          </p:cNvSpPr>
          <p:nvPr>
            <p:ph type="dt" sz="half" idx="10"/>
          </p:nvPr>
        </p:nvSpPr>
        <p:spPr/>
        <p:txBody>
          <a:bodyPr/>
          <a:lstStyle/>
          <a:p>
            <a:fld id="{7894931B-A2CD-4E64-A356-C8D56BBBFFF1}" type="datetimeFigureOut">
              <a:rPr lang="en-IN" smtClean="0"/>
              <a:t>13-05-2025</a:t>
            </a:fld>
            <a:endParaRPr lang="en-IN"/>
          </a:p>
        </p:txBody>
      </p:sp>
      <p:sp>
        <p:nvSpPr>
          <p:cNvPr id="5" name="Footer Placeholder 4">
            <a:extLst>
              <a:ext uri="{FF2B5EF4-FFF2-40B4-BE49-F238E27FC236}">
                <a16:creationId xmlns:a16="http://schemas.microsoft.com/office/drawing/2014/main" id="{783EB8FE-5B1D-011D-01B4-0D69E6B129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125258-434E-188E-5C98-90950A7F7884}"/>
              </a:ext>
            </a:extLst>
          </p:cNvPr>
          <p:cNvSpPr>
            <a:spLocks noGrp="1"/>
          </p:cNvSpPr>
          <p:nvPr>
            <p:ph type="sldNum" sz="quarter" idx="12"/>
          </p:nvPr>
        </p:nvSpPr>
        <p:spPr/>
        <p:txBody>
          <a:bodyPr/>
          <a:lstStyle/>
          <a:p>
            <a:fld id="{A557183F-1708-40F1-AADE-F4DB13C63533}" type="slidenum">
              <a:rPr lang="en-IN" smtClean="0"/>
              <a:t>‹#›</a:t>
            </a:fld>
            <a:endParaRPr lang="en-IN"/>
          </a:p>
        </p:txBody>
      </p:sp>
    </p:spTree>
    <p:extLst>
      <p:ext uri="{BB962C8B-B14F-4D97-AF65-F5344CB8AC3E}">
        <p14:creationId xmlns:p14="http://schemas.microsoft.com/office/powerpoint/2010/main" val="3834011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171377-090E-B332-C66A-09812B20F8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81A6B2-B007-8D6C-7CF2-C5A8FDB226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F41646-9EAC-0673-7C3B-76D7FE8005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94931B-A2CD-4E64-A356-C8D56BBBFFF1}" type="datetimeFigureOut">
              <a:rPr lang="en-IN" smtClean="0"/>
              <a:t>13-05-2025</a:t>
            </a:fld>
            <a:endParaRPr lang="en-IN"/>
          </a:p>
        </p:txBody>
      </p:sp>
      <p:sp>
        <p:nvSpPr>
          <p:cNvPr id="5" name="Footer Placeholder 4">
            <a:extLst>
              <a:ext uri="{FF2B5EF4-FFF2-40B4-BE49-F238E27FC236}">
                <a16:creationId xmlns:a16="http://schemas.microsoft.com/office/drawing/2014/main" id="{3AF32C4B-B54E-4582-C98B-12421FBAA2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5E5A152-EC06-E031-30D6-C3A09AB31B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57183F-1708-40F1-AADE-F4DB13C63533}" type="slidenum">
              <a:rPr lang="en-IN" smtClean="0"/>
              <a:t>‹#›</a:t>
            </a:fld>
            <a:endParaRPr lang="en-IN"/>
          </a:p>
        </p:txBody>
      </p:sp>
    </p:spTree>
    <p:extLst>
      <p:ext uri="{BB962C8B-B14F-4D97-AF65-F5344CB8AC3E}">
        <p14:creationId xmlns:p14="http://schemas.microsoft.com/office/powerpoint/2010/main" val="1777981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851" y="0"/>
            <a:ext cx="1084099" cy="1268697"/>
          </a:xfrm>
          <a:prstGeom prst="rect">
            <a:avLst/>
          </a:prstGeom>
        </p:spPr>
      </p:pic>
      <p:sp>
        <p:nvSpPr>
          <p:cNvPr id="5" name="Rectangle 4"/>
          <p:cNvSpPr/>
          <p:nvPr/>
        </p:nvSpPr>
        <p:spPr>
          <a:xfrm>
            <a:off x="2654295" y="109379"/>
            <a:ext cx="6740756" cy="461665"/>
          </a:xfrm>
          <a:prstGeom prst="rect">
            <a:avLst/>
          </a:prstGeom>
        </p:spPr>
        <p:txBody>
          <a:bodyPr wrap="none">
            <a:spAutoFit/>
          </a:bodyPr>
          <a:lstStyle/>
          <a:p>
            <a:pPr algn="ctr"/>
            <a:r>
              <a:rPr lang="en-US" sz="2400" b="1" i="0" u="none" strike="noStrike" baseline="0" dirty="0">
                <a:solidFill>
                  <a:schemeClr val="accent1">
                    <a:lumMod val="50000"/>
                  </a:schemeClr>
                </a:solidFill>
                <a:latin typeface="Cambria" panose="02040503050406030204" pitchFamily="18" charset="0"/>
                <a:ea typeface="Cambria" panose="02040503050406030204" pitchFamily="18" charset="0"/>
                <a:cs typeface="Segoe UI" panose="020B0502040204020203" pitchFamily="34" charset="0"/>
              </a:rPr>
              <a:t>Vidyavardhaka College of</a:t>
            </a:r>
            <a:r>
              <a:rPr lang="en-US" sz="2400" b="1" i="0" u="none" strike="noStrike" dirty="0">
                <a:solidFill>
                  <a:schemeClr val="accent1">
                    <a:lumMod val="50000"/>
                  </a:schemeClr>
                </a:solidFill>
                <a:latin typeface="Cambria" panose="02040503050406030204" pitchFamily="18" charset="0"/>
                <a:ea typeface="Cambria" panose="02040503050406030204" pitchFamily="18" charset="0"/>
                <a:cs typeface="Segoe UI" panose="020B0502040204020203" pitchFamily="34" charset="0"/>
              </a:rPr>
              <a:t> Engineering, Mysuru</a:t>
            </a:r>
            <a:endParaRPr lang="en-US" sz="2400" b="1" dirty="0">
              <a:solidFill>
                <a:schemeClr val="accent1">
                  <a:lumMod val="50000"/>
                </a:schemeClr>
              </a:solidFill>
              <a:latin typeface="Cambria" panose="02040503050406030204" pitchFamily="18" charset="0"/>
              <a:ea typeface="Cambria" panose="02040503050406030204" pitchFamily="18" charset="0"/>
              <a:cs typeface="Segoe UI" panose="020B0502040204020203" pitchFamily="34" charset="0"/>
            </a:endParaRPr>
          </a:p>
        </p:txBody>
      </p:sp>
      <p:sp>
        <p:nvSpPr>
          <p:cNvPr id="6" name="TextBox 5"/>
          <p:cNvSpPr txBox="1"/>
          <p:nvPr/>
        </p:nvSpPr>
        <p:spPr>
          <a:xfrm>
            <a:off x="1070769" y="621242"/>
            <a:ext cx="9142375" cy="646331"/>
          </a:xfrm>
          <a:prstGeom prst="rect">
            <a:avLst/>
          </a:prstGeom>
          <a:noFill/>
        </p:spPr>
        <p:txBody>
          <a:bodyPr wrap="square" rtlCol="0">
            <a:spAutoFit/>
          </a:bodyPr>
          <a:lstStyle/>
          <a:p>
            <a:pPr algn="ctr"/>
            <a:r>
              <a:rPr lang="en-US" dirty="0">
                <a:latin typeface="Cambria" panose="02040503050406030204" pitchFamily="18" charset="0"/>
                <a:ea typeface="Cambria" panose="02040503050406030204" pitchFamily="18" charset="0"/>
              </a:rPr>
              <a:t> Autonomous Institute, Affiliated to VTU</a:t>
            </a:r>
          </a:p>
          <a:p>
            <a:pPr algn="ctr"/>
            <a:r>
              <a:rPr lang="en-US" dirty="0">
                <a:latin typeface="Cambria" panose="02040503050406030204" pitchFamily="18" charset="0"/>
                <a:ea typeface="Cambria" panose="02040503050406030204" pitchFamily="18" charset="0"/>
              </a:rPr>
              <a:t> </a:t>
            </a:r>
            <a:r>
              <a:rPr lang="en-US" dirty="0">
                <a:solidFill>
                  <a:srgbClr val="0070C0"/>
                </a:solidFill>
                <a:latin typeface="Cambria" panose="02040503050406030204" pitchFamily="18" charset="0"/>
                <a:ea typeface="Cambria" panose="02040503050406030204" pitchFamily="18" charset="0"/>
              </a:rPr>
              <a:t>Accredited by NBA | NAAC with ‘A’ Grade</a:t>
            </a:r>
          </a:p>
        </p:txBody>
      </p:sp>
      <p:pic>
        <p:nvPicPr>
          <p:cNvPr id="9" name="Picture 8"/>
          <p:cNvPicPr>
            <a:picLocks noChangeAspect="1"/>
          </p:cNvPicPr>
          <p:nvPr/>
        </p:nvPicPr>
        <p:blipFill>
          <a:blip r:embed="rId4"/>
          <a:stretch>
            <a:fillRect/>
          </a:stretch>
        </p:blipFill>
        <p:spPr>
          <a:xfrm>
            <a:off x="10834254" y="146344"/>
            <a:ext cx="1121229" cy="1121229"/>
          </a:xfrm>
          <a:prstGeom prst="rect">
            <a:avLst/>
          </a:prstGeom>
        </p:spPr>
      </p:pic>
      <p:sp>
        <p:nvSpPr>
          <p:cNvPr id="8" name="Subtitle 7">
            <a:extLst>
              <a:ext uri="{FF2B5EF4-FFF2-40B4-BE49-F238E27FC236}">
                <a16:creationId xmlns:a16="http://schemas.microsoft.com/office/drawing/2014/main" id="{D7B1AF34-55DC-F508-E90A-C91E696C84FF}"/>
              </a:ext>
            </a:extLst>
          </p:cNvPr>
          <p:cNvSpPr>
            <a:spLocks noGrp="1"/>
          </p:cNvSpPr>
          <p:nvPr>
            <p:ph type="subTitle" idx="1"/>
          </p:nvPr>
        </p:nvSpPr>
        <p:spPr>
          <a:xfrm>
            <a:off x="1525625" y="2716788"/>
            <a:ext cx="9144000" cy="1111476"/>
          </a:xfrm>
        </p:spPr>
        <p:txBody>
          <a:bodyPr/>
          <a:lstStyle/>
          <a:p>
            <a:r>
              <a:rPr lang="en-US" sz="4800" b="1" dirty="0"/>
              <a:t>Module 5 - Ethereum</a:t>
            </a:r>
            <a:endParaRPr lang="en-IN" sz="4800" b="1" dirty="0"/>
          </a:p>
          <a:p>
            <a:endParaRPr lang="en-IN" dirty="0"/>
          </a:p>
        </p:txBody>
      </p:sp>
    </p:spTree>
    <p:extLst>
      <p:ext uri="{BB962C8B-B14F-4D97-AF65-F5344CB8AC3E}">
        <p14:creationId xmlns:p14="http://schemas.microsoft.com/office/powerpoint/2010/main" val="1152798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9632D-E117-6174-BA57-AEDFA1226327}"/>
              </a:ext>
            </a:extLst>
          </p:cNvPr>
          <p:cNvSpPr>
            <a:spLocks noGrp="1"/>
          </p:cNvSpPr>
          <p:nvPr>
            <p:ph type="title"/>
          </p:nvPr>
        </p:nvSpPr>
        <p:spPr>
          <a:xfrm>
            <a:off x="100781" y="18255"/>
            <a:ext cx="10515600" cy="1294351"/>
          </a:xfrm>
        </p:spPr>
        <p:txBody>
          <a:bodyPr>
            <a:normAutofit/>
          </a:bodyPr>
          <a:lstStyle/>
          <a:p>
            <a:r>
              <a:rPr lang="en-US" dirty="0"/>
              <a:t>Topics covered…</a:t>
            </a:r>
            <a:endParaRPr lang="en-IN" dirty="0"/>
          </a:p>
        </p:txBody>
      </p:sp>
      <p:sp>
        <p:nvSpPr>
          <p:cNvPr id="3" name="Content Placeholder 2">
            <a:extLst>
              <a:ext uri="{FF2B5EF4-FFF2-40B4-BE49-F238E27FC236}">
                <a16:creationId xmlns:a16="http://schemas.microsoft.com/office/drawing/2014/main" id="{D224B16A-5262-4441-8004-65D0203903F4}"/>
              </a:ext>
            </a:extLst>
          </p:cNvPr>
          <p:cNvSpPr>
            <a:spLocks noGrp="1"/>
          </p:cNvSpPr>
          <p:nvPr>
            <p:ph idx="1"/>
          </p:nvPr>
        </p:nvSpPr>
        <p:spPr>
          <a:xfrm>
            <a:off x="368710" y="1091381"/>
            <a:ext cx="10985090" cy="5442154"/>
          </a:xfrm>
        </p:spPr>
        <p:txBody>
          <a:bodyPr>
            <a:normAutofit/>
          </a:bodyPr>
          <a:lstStyle/>
          <a:p>
            <a:r>
              <a:rPr lang="en-US" sz="2400" dirty="0">
                <a:effectLst/>
                <a:latin typeface="Calibri" panose="020F0502020204030204" pitchFamily="34" charset="0"/>
                <a:ea typeface="Calibri" panose="020F0502020204030204" pitchFamily="34" charset="0"/>
                <a:cs typeface="Calibri" panose="020F0502020204030204" pitchFamily="34" charset="0"/>
              </a:rPr>
              <a:t>Introduction </a:t>
            </a:r>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US" sz="2400" dirty="0">
                <a:effectLst/>
                <a:latin typeface="Calibri" panose="020F0502020204030204" pitchFamily="34" charset="0"/>
                <a:ea typeface="Calibri" panose="020F0502020204030204" pitchFamily="34" charset="0"/>
                <a:cs typeface="Calibri" panose="020F0502020204030204" pitchFamily="34" charset="0"/>
              </a:rPr>
              <a:t>Ethereum clients and releases</a:t>
            </a:r>
          </a:p>
          <a:p>
            <a:r>
              <a:rPr lang="en-US" sz="2400" dirty="0">
                <a:effectLst/>
                <a:latin typeface="Calibri" panose="020F0502020204030204" pitchFamily="34" charset="0"/>
                <a:ea typeface="Calibri" panose="020F0502020204030204" pitchFamily="34" charset="0"/>
                <a:cs typeface="Calibri" panose="020F0502020204030204" pitchFamily="34" charset="0"/>
              </a:rPr>
              <a:t>Ethereum blockchain</a:t>
            </a:r>
          </a:p>
          <a:p>
            <a:r>
              <a:rPr lang="en-US" sz="2400" dirty="0">
                <a:effectLst/>
                <a:latin typeface="Calibri" panose="020F0502020204030204" pitchFamily="34" charset="0"/>
                <a:ea typeface="Calibri" panose="020F0502020204030204" pitchFamily="34" charset="0"/>
                <a:cs typeface="Calibri" panose="020F0502020204030204" pitchFamily="34" charset="0"/>
              </a:rPr>
              <a:t>Elements of</a:t>
            </a:r>
            <a:r>
              <a:rPr lang="en-US" sz="2400" spc="5" dirty="0">
                <a:effectLst/>
                <a:latin typeface="Calibri" panose="020F0502020204030204" pitchFamily="34" charset="0"/>
                <a:ea typeface="Calibri" panose="020F0502020204030204" pitchFamily="34" charset="0"/>
                <a:cs typeface="Calibri" panose="020F0502020204030204" pitchFamily="34" charset="0"/>
              </a:rPr>
              <a:t> </a:t>
            </a:r>
            <a:r>
              <a:rPr lang="en-US" sz="2400" dirty="0">
                <a:effectLst/>
                <a:latin typeface="Calibri" panose="020F0502020204030204" pitchFamily="34" charset="0"/>
                <a:ea typeface="Calibri" panose="020F0502020204030204" pitchFamily="34" charset="0"/>
                <a:cs typeface="Calibri" panose="020F0502020204030204" pitchFamily="34" charset="0"/>
              </a:rPr>
              <a:t>the Ethereum blockchain</a:t>
            </a:r>
            <a:endParaRPr lang="en-US" sz="2400" spc="5" dirty="0">
              <a:effectLst/>
              <a:latin typeface="Calibri" panose="020F0502020204030204" pitchFamily="34" charset="0"/>
              <a:ea typeface="Calibri" panose="020F0502020204030204" pitchFamily="34" charset="0"/>
              <a:cs typeface="Calibri" panose="020F0502020204030204" pitchFamily="34" charset="0"/>
            </a:endParaRPr>
          </a:p>
          <a:p>
            <a:r>
              <a:rPr lang="en-US" sz="2400" dirty="0">
                <a:effectLst/>
                <a:latin typeface="Calibri" panose="020F0502020204030204" pitchFamily="34" charset="0"/>
                <a:ea typeface="Calibri" panose="020F0502020204030204" pitchFamily="34" charset="0"/>
                <a:cs typeface="Calibri" panose="020F0502020204030204" pitchFamily="34" charset="0"/>
              </a:rPr>
              <a:t>Ethereum</a:t>
            </a:r>
            <a:r>
              <a:rPr lang="en-US" sz="2400" spc="5" dirty="0">
                <a:effectLst/>
                <a:latin typeface="Calibri" panose="020F0502020204030204" pitchFamily="34" charset="0"/>
                <a:ea typeface="Calibri" panose="020F0502020204030204" pitchFamily="34" charset="0"/>
                <a:cs typeface="Calibri" panose="020F0502020204030204" pitchFamily="34" charset="0"/>
              </a:rPr>
              <a:t> </a:t>
            </a:r>
            <a:r>
              <a:rPr lang="en-US" sz="2400" dirty="0">
                <a:effectLst/>
                <a:latin typeface="Calibri" panose="020F0502020204030204" pitchFamily="34" charset="0"/>
                <a:ea typeface="Calibri" panose="020F0502020204030204" pitchFamily="34" charset="0"/>
                <a:cs typeface="Calibri" panose="020F0502020204030204" pitchFamily="34" charset="0"/>
              </a:rPr>
              <a:t>virtual</a:t>
            </a:r>
            <a:r>
              <a:rPr lang="en-US" sz="2400" spc="5" dirty="0">
                <a:effectLst/>
                <a:latin typeface="Calibri" panose="020F0502020204030204" pitchFamily="34" charset="0"/>
                <a:ea typeface="Calibri" panose="020F0502020204030204" pitchFamily="34" charset="0"/>
                <a:cs typeface="Calibri" panose="020F0502020204030204" pitchFamily="34" charset="0"/>
              </a:rPr>
              <a:t> </a:t>
            </a:r>
            <a:r>
              <a:rPr lang="en-US" sz="2400" dirty="0">
                <a:effectLst/>
                <a:latin typeface="Calibri" panose="020F0502020204030204" pitchFamily="34" charset="0"/>
                <a:ea typeface="Calibri" panose="020F0502020204030204" pitchFamily="34" charset="0"/>
                <a:cs typeface="Calibri" panose="020F0502020204030204" pitchFamily="34" charset="0"/>
              </a:rPr>
              <a:t>machine</a:t>
            </a:r>
            <a:r>
              <a:rPr lang="en-US" sz="2400" spc="5" dirty="0">
                <a:effectLst/>
                <a:latin typeface="Calibri" panose="020F0502020204030204" pitchFamily="34" charset="0"/>
                <a:ea typeface="Calibri" panose="020F0502020204030204" pitchFamily="34" charset="0"/>
                <a:cs typeface="Calibri" panose="020F0502020204030204" pitchFamily="34" charset="0"/>
              </a:rPr>
              <a:t> </a:t>
            </a:r>
            <a:r>
              <a:rPr lang="en-US" sz="2400" dirty="0">
                <a:effectLst/>
                <a:latin typeface="Calibri" panose="020F0502020204030204" pitchFamily="34" charset="0"/>
                <a:ea typeface="Calibri" panose="020F0502020204030204" pitchFamily="34" charset="0"/>
                <a:cs typeface="Calibri" panose="020F0502020204030204" pitchFamily="34" charset="0"/>
              </a:rPr>
              <a:t>(EVM)</a:t>
            </a:r>
          </a:p>
          <a:p>
            <a:r>
              <a:rPr lang="en-US" sz="2400" dirty="0">
                <a:effectLst/>
                <a:latin typeface="Calibri" panose="020F0502020204030204" pitchFamily="34" charset="0"/>
                <a:ea typeface="Calibri" panose="020F0502020204030204" pitchFamily="34" charset="0"/>
                <a:cs typeface="Calibri" panose="020F0502020204030204" pitchFamily="34" charset="0"/>
              </a:rPr>
              <a:t>Execution Environment</a:t>
            </a:r>
            <a:endParaRPr lang="en-US" sz="2400" spc="5" dirty="0">
              <a:effectLst/>
              <a:latin typeface="Calibri" panose="020F0502020204030204" pitchFamily="34" charset="0"/>
              <a:ea typeface="Calibri" panose="020F0502020204030204" pitchFamily="34" charset="0"/>
              <a:cs typeface="Calibri" panose="020F0502020204030204" pitchFamily="34" charset="0"/>
            </a:endParaRPr>
          </a:p>
          <a:p>
            <a:r>
              <a:rPr lang="en-US" sz="2400" dirty="0">
                <a:effectLst/>
                <a:latin typeface="Calibri" panose="020F0502020204030204" pitchFamily="34" charset="0"/>
                <a:ea typeface="Calibri" panose="020F0502020204030204" pitchFamily="34" charset="0"/>
                <a:cs typeface="Calibri" panose="020F0502020204030204" pitchFamily="34" charset="0"/>
              </a:rPr>
              <a:t>Accounts</a:t>
            </a:r>
            <a:r>
              <a:rPr lang="en-US" sz="2400" spc="-15" dirty="0">
                <a:effectLst/>
                <a:latin typeface="Calibri" panose="020F0502020204030204" pitchFamily="34" charset="0"/>
                <a:ea typeface="Calibri" panose="020F0502020204030204" pitchFamily="34" charset="0"/>
                <a:cs typeface="Calibri" panose="020F0502020204030204" pitchFamily="34" charset="0"/>
              </a:rPr>
              <a:t> </a:t>
            </a:r>
          </a:p>
          <a:p>
            <a:r>
              <a:rPr lang="en-US" sz="2400" dirty="0">
                <a:effectLst/>
                <a:latin typeface="Calibri" panose="020F0502020204030204" pitchFamily="34" charset="0"/>
                <a:ea typeface="Calibri" panose="020F0502020204030204" pitchFamily="34" charset="0"/>
                <a:cs typeface="Calibri" panose="020F0502020204030204" pitchFamily="34" charset="0"/>
              </a:rPr>
              <a:t>Block</a:t>
            </a:r>
          </a:p>
          <a:p>
            <a:r>
              <a:rPr lang="en-US" sz="2400" dirty="0">
                <a:effectLst/>
                <a:latin typeface="Calibri" panose="020F0502020204030204" pitchFamily="34" charset="0"/>
                <a:ea typeface="Calibri" panose="020F0502020204030204" pitchFamily="34" charset="0"/>
                <a:cs typeface="Calibri" panose="020F0502020204030204" pitchFamily="34" charset="0"/>
              </a:rPr>
              <a:t>Ether</a:t>
            </a:r>
            <a:endParaRPr lang="en-US" sz="2400" spc="-10" dirty="0">
              <a:effectLst/>
              <a:latin typeface="Calibri" panose="020F0502020204030204" pitchFamily="34" charset="0"/>
              <a:ea typeface="Calibri" panose="020F0502020204030204" pitchFamily="34" charset="0"/>
              <a:cs typeface="Calibri" panose="020F0502020204030204" pitchFamily="34" charset="0"/>
            </a:endParaRPr>
          </a:p>
          <a:p>
            <a:r>
              <a:rPr lang="en-US" sz="2400" dirty="0">
                <a:effectLst/>
                <a:latin typeface="Calibri" panose="020F0502020204030204" pitchFamily="34" charset="0"/>
                <a:ea typeface="Calibri" panose="020F0502020204030204" pitchFamily="34" charset="0"/>
                <a:cs typeface="Calibri" panose="020F0502020204030204" pitchFamily="34" charset="0"/>
              </a:rPr>
              <a:t>Messages</a:t>
            </a:r>
            <a:endParaRPr lang="en-US" sz="2400" spc="-5" dirty="0">
              <a:effectLst/>
              <a:latin typeface="Calibri" panose="020F0502020204030204" pitchFamily="34" charset="0"/>
              <a:ea typeface="Calibri" panose="020F0502020204030204" pitchFamily="34" charset="0"/>
              <a:cs typeface="Calibri" panose="020F0502020204030204" pitchFamily="34" charset="0"/>
            </a:endParaRPr>
          </a:p>
          <a:p>
            <a:r>
              <a:rPr lang="en-US" sz="2400" dirty="0">
                <a:effectLst/>
                <a:latin typeface="Calibri" panose="020F0502020204030204" pitchFamily="34" charset="0"/>
                <a:ea typeface="Calibri" panose="020F0502020204030204" pitchFamily="34" charset="0"/>
                <a:cs typeface="Calibri" panose="020F0502020204030204" pitchFamily="34" charset="0"/>
              </a:rPr>
              <a:t>Mining.</a:t>
            </a:r>
            <a:endParaRPr lang="en-IN" sz="24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p>
        </p:txBody>
      </p:sp>
    </p:spTree>
    <p:extLst>
      <p:ext uri="{BB962C8B-B14F-4D97-AF65-F5344CB8AC3E}">
        <p14:creationId xmlns:p14="http://schemas.microsoft.com/office/powerpoint/2010/main" val="3225779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866D0-FF52-DE56-8107-43A74A6D8696}"/>
              </a:ext>
            </a:extLst>
          </p:cNvPr>
          <p:cNvSpPr>
            <a:spLocks noGrp="1"/>
          </p:cNvSpPr>
          <p:nvPr>
            <p:ph type="title"/>
          </p:nvPr>
        </p:nvSpPr>
        <p:spPr>
          <a:xfrm>
            <a:off x="87438" y="0"/>
            <a:ext cx="11830664" cy="947481"/>
          </a:xfrm>
        </p:spPr>
        <p:txBody>
          <a:bodyPr/>
          <a:lstStyle/>
          <a:p>
            <a:pPr algn="ctr"/>
            <a:r>
              <a:rPr lang="en-US" dirty="0">
                <a:solidFill>
                  <a:srgbClr val="FF0000"/>
                </a:solidFill>
                <a:latin typeface="Times New Roman" panose="02020603050405020304" pitchFamily="18" charset="0"/>
                <a:cs typeface="Times New Roman" panose="02020603050405020304" pitchFamily="18" charset="0"/>
              </a:rPr>
              <a:t>Introduction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31DBA7-08B8-2F94-4EBD-5661AAEA2C0D}"/>
              </a:ext>
            </a:extLst>
          </p:cNvPr>
          <p:cNvSpPr>
            <a:spLocks noGrp="1"/>
          </p:cNvSpPr>
          <p:nvPr>
            <p:ph idx="1"/>
          </p:nvPr>
        </p:nvSpPr>
        <p:spPr>
          <a:xfrm>
            <a:off x="576942" y="1208314"/>
            <a:ext cx="11428243" cy="4968649"/>
          </a:xfrm>
        </p:spPr>
        <p:txBody>
          <a:bodyPr>
            <a:normAutofit fontScale="92500" lnSpcReduction="10000"/>
          </a:bodyPr>
          <a:lstStyle/>
          <a:p>
            <a:pPr algn="just"/>
            <a:r>
              <a:rPr lang="en-IN" sz="2600" dirty="0">
                <a:latin typeface="Times New Roman" panose="02020603050405020304" pitchFamily="18" charset="0"/>
                <a:cs typeface="Times New Roman" panose="02020603050405020304" pitchFamily="18" charset="0"/>
              </a:rPr>
              <a:t>Ethereum was conceptualized by </a:t>
            </a:r>
            <a:r>
              <a:rPr lang="en-IN" sz="2600" dirty="0" err="1">
                <a:latin typeface="Times New Roman" panose="02020603050405020304" pitchFamily="18" charset="0"/>
                <a:cs typeface="Times New Roman" panose="02020603050405020304" pitchFamily="18" charset="0"/>
              </a:rPr>
              <a:t>Vitalik</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Buterin</a:t>
            </a:r>
            <a:r>
              <a:rPr lang="en-IN" sz="2600" dirty="0">
                <a:latin typeface="Times New Roman" panose="02020603050405020304" pitchFamily="18" charset="0"/>
                <a:cs typeface="Times New Roman" panose="02020603050405020304" pitchFamily="18" charset="0"/>
              </a:rPr>
              <a:t> in November 2013. </a:t>
            </a:r>
          </a:p>
          <a:p>
            <a:pPr algn="just"/>
            <a:r>
              <a:rPr lang="en-IN" sz="2600" dirty="0">
                <a:latin typeface="Times New Roman" panose="02020603050405020304" pitchFamily="18" charset="0"/>
                <a:cs typeface="Times New Roman" panose="02020603050405020304" pitchFamily="18" charset="0"/>
              </a:rPr>
              <a:t>The key idea proposed was the development of a Turing-complete language (C like language) that allows the development of arbitrary programs (smart contracts) for blockchain and decentralized applications</a:t>
            </a:r>
          </a:p>
          <a:p>
            <a:pPr algn="just">
              <a:lnSpc>
                <a:spcPct val="150000"/>
              </a:lnSpc>
            </a:pPr>
            <a:r>
              <a:rPr lang="en-US" sz="2600" b="1" u="sng" dirty="0">
                <a:latin typeface="Times New Roman" panose="02020603050405020304" pitchFamily="18" charset="0"/>
                <a:cs typeface="Times New Roman" panose="02020603050405020304" pitchFamily="18" charset="0"/>
              </a:rPr>
              <a:t>Ethereum is a decentralized, open-source blockchain platform that enables developers to build and deploy smart contracts and decentralized applications (</a:t>
            </a:r>
            <a:r>
              <a:rPr lang="en-US" sz="2600" b="1" u="sng" dirty="0" err="1">
                <a:latin typeface="Times New Roman" panose="02020603050405020304" pitchFamily="18" charset="0"/>
                <a:cs typeface="Times New Roman" panose="02020603050405020304" pitchFamily="18" charset="0"/>
              </a:rPr>
              <a:t>dApps</a:t>
            </a:r>
            <a:r>
              <a:rPr lang="en-US" sz="2600" b="1" u="sng" dirty="0">
                <a:latin typeface="Times New Roman" panose="02020603050405020304" pitchFamily="18" charset="0"/>
                <a:cs typeface="Times New Roman" panose="02020603050405020304" pitchFamily="18" charset="0"/>
              </a:rPr>
              <a:t>).</a:t>
            </a:r>
          </a:p>
          <a:p>
            <a:pPr algn="just">
              <a:lnSpc>
                <a:spcPct val="150000"/>
              </a:lnSpc>
            </a:pPr>
            <a:r>
              <a:rPr lang="en-US" sz="2600" dirty="0">
                <a:latin typeface="Times New Roman" panose="02020603050405020304" pitchFamily="18" charset="0"/>
                <a:cs typeface="Times New Roman" panose="02020603050405020304" pitchFamily="18" charset="0"/>
              </a:rPr>
              <a:t> It functions as a global, programmable network powered by its native </a:t>
            </a:r>
            <a:r>
              <a:rPr lang="en-US" sz="2600" dirty="0" err="1">
                <a:latin typeface="Times New Roman" panose="02020603050405020304" pitchFamily="18" charset="0"/>
                <a:cs typeface="Times New Roman" panose="02020603050405020304" pitchFamily="18" charset="0"/>
              </a:rPr>
              <a:t>cryptocurrency</a:t>
            </a:r>
            <a:r>
              <a:rPr lang="en-US" sz="2600" dirty="0" err="1">
                <a:latin typeface="Times New Roman" panose="02020603050405020304" pitchFamily="18" charset="0"/>
                <a:cs typeface="Times New Roman" panose="02020603050405020304" pitchFamily="18" charset="0"/>
                <a:sym typeface="Wingdings" panose="05000000000000000000" pitchFamily="2" charset="2"/>
              </a:rPr>
              <a:t></a:t>
            </a:r>
            <a:r>
              <a:rPr lang="en-US" sz="2600" dirty="0" err="1">
                <a:latin typeface="Times New Roman" panose="02020603050405020304" pitchFamily="18" charset="0"/>
                <a:cs typeface="Times New Roman" panose="02020603050405020304" pitchFamily="18" charset="0"/>
              </a:rPr>
              <a:t>Ether</a:t>
            </a:r>
            <a:r>
              <a:rPr lang="en-US" sz="2600" dirty="0">
                <a:latin typeface="Times New Roman" panose="02020603050405020304" pitchFamily="18" charset="0"/>
                <a:cs typeface="Times New Roman" panose="02020603050405020304" pitchFamily="18" charset="0"/>
              </a:rPr>
              <a:t> (ETH), which is used to pay for computational resources and transaction fees.</a:t>
            </a:r>
          </a:p>
          <a:p>
            <a:pPr algn="just"/>
            <a:endParaRPr lang="en-IN" dirty="0"/>
          </a:p>
        </p:txBody>
      </p:sp>
    </p:spTree>
    <p:extLst>
      <p:ext uri="{BB962C8B-B14F-4D97-AF65-F5344CB8AC3E}">
        <p14:creationId xmlns:p14="http://schemas.microsoft.com/office/powerpoint/2010/main" val="793120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582F2-D9C7-31E4-2976-92D44273F780}"/>
              </a:ext>
            </a:extLst>
          </p:cNvPr>
          <p:cNvSpPr>
            <a:spLocks noGrp="1"/>
          </p:cNvSpPr>
          <p:nvPr>
            <p:ph type="title"/>
          </p:nvPr>
        </p:nvSpPr>
        <p:spPr>
          <a:xfrm>
            <a:off x="303044" y="5971"/>
            <a:ext cx="11235813" cy="962858"/>
          </a:xfrm>
        </p:spPr>
        <p:txBody>
          <a:bodyPr>
            <a:normAutofit/>
          </a:bodyPr>
          <a:lstStyle/>
          <a:p>
            <a:pPr algn="ctr"/>
            <a:r>
              <a:rPr lang="en-IN" b="1" i="0" u="none" strike="noStrike" baseline="0" dirty="0">
                <a:solidFill>
                  <a:srgbClr val="FF0000"/>
                </a:solidFill>
                <a:latin typeface="Times New Roman" panose="02020603050405020304" pitchFamily="18" charset="0"/>
                <a:cs typeface="Times New Roman" panose="02020603050405020304" pitchFamily="18" charset="0"/>
              </a:rPr>
              <a:t>Ethereum clients and releases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D0496A-B846-B232-249E-4A14B2A121D8}"/>
              </a:ext>
            </a:extLst>
          </p:cNvPr>
          <p:cNvSpPr>
            <a:spLocks noGrp="1"/>
          </p:cNvSpPr>
          <p:nvPr>
            <p:ph idx="1"/>
          </p:nvPr>
        </p:nvSpPr>
        <p:spPr>
          <a:xfrm>
            <a:off x="500743" y="1099457"/>
            <a:ext cx="11460200" cy="5611058"/>
          </a:xfrm>
        </p:spPr>
        <p:txBody>
          <a:bodyPr>
            <a:normAutofit lnSpcReduction="10000"/>
          </a:bodyPr>
          <a:lstStyle/>
          <a:p>
            <a:pPr algn="just"/>
            <a:r>
              <a:rPr lang="en-IN" sz="3000" dirty="0">
                <a:latin typeface="Times New Roman" panose="02020603050405020304" pitchFamily="18" charset="0"/>
                <a:cs typeface="Times New Roman" panose="02020603050405020304" pitchFamily="18" charset="0"/>
              </a:rPr>
              <a:t>Ethereum clients are software implementations of the Ethereum protocol. They allow nodes to connect to the network, validate transactions, interact with smart contracts and more. Here are the main ones:</a:t>
            </a:r>
          </a:p>
          <a:p>
            <a:pPr>
              <a:buNone/>
            </a:pPr>
            <a:r>
              <a:rPr lang="en-IN" sz="3000" b="1" dirty="0">
                <a:latin typeface="Times New Roman" panose="02020603050405020304" pitchFamily="18" charset="0"/>
                <a:cs typeface="Times New Roman" panose="02020603050405020304" pitchFamily="18" charset="0"/>
              </a:rPr>
              <a:t>1. Geth (Go Ethereum)</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Language: Go</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Most popular Ethereum client</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Maintained by the Ethereum Foundation</a:t>
            </a:r>
          </a:p>
          <a:p>
            <a:pPr>
              <a:buNone/>
            </a:pPr>
            <a:r>
              <a:rPr lang="en-IN" sz="3000" b="1" dirty="0">
                <a:latin typeface="Times New Roman" panose="02020603050405020304" pitchFamily="18" charset="0"/>
                <a:cs typeface="Times New Roman" panose="02020603050405020304" pitchFamily="18" charset="0"/>
              </a:rPr>
              <a:t>2. Nethermind</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Language: C#</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Focused on performance and integration with enterprise tools</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Compatible with Windows and .NET environments</a:t>
            </a:r>
          </a:p>
          <a:p>
            <a:pPr algn="just"/>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90426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340680-B097-2475-BF94-98C865C3512E}"/>
              </a:ext>
            </a:extLst>
          </p:cNvPr>
          <p:cNvSpPr>
            <a:spLocks noGrp="1"/>
          </p:cNvSpPr>
          <p:nvPr>
            <p:ph idx="1"/>
          </p:nvPr>
        </p:nvSpPr>
        <p:spPr>
          <a:xfrm>
            <a:off x="471245" y="381000"/>
            <a:ext cx="11467223" cy="6161314"/>
          </a:xfrm>
        </p:spPr>
        <p:txBody>
          <a:bodyPr>
            <a:normAutofit/>
          </a:bodyPr>
          <a:lstStyle/>
          <a:p>
            <a:pPr marL="0" indent="0" algn="ctr">
              <a:buNone/>
            </a:pPr>
            <a:r>
              <a:rPr lang="en-IN" sz="3200" b="1" i="0" u="none" strike="noStrike" baseline="0" dirty="0">
                <a:solidFill>
                  <a:srgbClr val="FF0000"/>
                </a:solidFill>
                <a:latin typeface="Times New Roman" panose="02020603050405020304" pitchFamily="18" charset="0"/>
                <a:cs typeface="Times New Roman" panose="02020603050405020304" pitchFamily="18" charset="0"/>
              </a:rPr>
              <a:t>Ethereum releases</a:t>
            </a:r>
          </a:p>
          <a:p>
            <a:pPr marL="0" indent="0" algn="just">
              <a:buNone/>
            </a:pPr>
            <a:endParaRPr lang="en-IN" dirty="0"/>
          </a:p>
          <a:p>
            <a:pPr marL="0" indent="0" algn="just">
              <a:buNone/>
            </a:pPr>
            <a:r>
              <a:rPr lang="en-IN" sz="3200" dirty="0">
                <a:latin typeface="Times New Roman" panose="02020603050405020304" pitchFamily="18" charset="0"/>
                <a:cs typeface="Times New Roman" panose="02020603050405020304" pitchFamily="18" charset="0"/>
              </a:rPr>
              <a:t>• The first release of Ethereum was known as </a:t>
            </a:r>
            <a:r>
              <a:rPr lang="en-IN" sz="3200" dirty="0">
                <a:highlight>
                  <a:srgbClr val="FFFF00"/>
                </a:highlight>
                <a:latin typeface="Times New Roman" panose="02020603050405020304" pitchFamily="18" charset="0"/>
                <a:cs typeface="Times New Roman" panose="02020603050405020304" pitchFamily="18" charset="0"/>
              </a:rPr>
              <a:t>Frontier</a:t>
            </a:r>
            <a:r>
              <a:rPr lang="en-IN" sz="3200" dirty="0">
                <a:latin typeface="Times New Roman" panose="02020603050405020304" pitchFamily="18" charset="0"/>
                <a:cs typeface="Times New Roman" panose="02020603050405020304" pitchFamily="18" charset="0"/>
              </a:rPr>
              <a:t> and the current release of Ethereum is called </a:t>
            </a:r>
            <a:r>
              <a:rPr lang="en-IN" sz="3200" dirty="0">
                <a:highlight>
                  <a:srgbClr val="FFFF00"/>
                </a:highlight>
                <a:latin typeface="Times New Roman" panose="02020603050405020304" pitchFamily="18" charset="0"/>
                <a:cs typeface="Times New Roman" panose="02020603050405020304" pitchFamily="18" charset="0"/>
              </a:rPr>
              <a:t>homestead release</a:t>
            </a:r>
            <a:r>
              <a:rPr lang="en-IN" sz="3200" dirty="0">
                <a:latin typeface="Times New Roman" panose="02020603050405020304" pitchFamily="18" charset="0"/>
                <a:cs typeface="Times New Roman" panose="02020603050405020304" pitchFamily="18" charset="0"/>
              </a:rPr>
              <a:t>. </a:t>
            </a:r>
          </a:p>
          <a:p>
            <a:pPr marL="0" indent="0" algn="just">
              <a:buNone/>
            </a:pPr>
            <a:r>
              <a:rPr lang="en-IN" sz="3200" dirty="0">
                <a:latin typeface="Times New Roman" panose="02020603050405020304" pitchFamily="18" charset="0"/>
                <a:cs typeface="Times New Roman" panose="02020603050405020304" pitchFamily="18" charset="0"/>
              </a:rPr>
              <a:t>• The next version is named </a:t>
            </a:r>
            <a:r>
              <a:rPr lang="en-IN" sz="3200" dirty="0">
                <a:highlight>
                  <a:srgbClr val="FFFF00"/>
                </a:highlight>
                <a:latin typeface="Times New Roman" panose="02020603050405020304" pitchFamily="18" charset="0"/>
                <a:cs typeface="Times New Roman" panose="02020603050405020304" pitchFamily="18" charset="0"/>
              </a:rPr>
              <a:t>metropolis</a:t>
            </a:r>
            <a:r>
              <a:rPr lang="en-IN" sz="3200" dirty="0">
                <a:latin typeface="Times New Roman" panose="02020603050405020304" pitchFamily="18" charset="0"/>
                <a:cs typeface="Times New Roman" panose="02020603050405020304" pitchFamily="18" charset="0"/>
              </a:rPr>
              <a:t> and it focuses on protocol simplification and performance improvement. </a:t>
            </a:r>
          </a:p>
          <a:p>
            <a:pPr marL="0" indent="0" algn="just">
              <a:buNone/>
            </a:pPr>
            <a:r>
              <a:rPr lang="en-IN" sz="3200" dirty="0">
                <a:latin typeface="Times New Roman" panose="02020603050405020304" pitchFamily="18" charset="0"/>
                <a:cs typeface="Times New Roman" panose="02020603050405020304" pitchFamily="18" charset="0"/>
              </a:rPr>
              <a:t>• The final release is named </a:t>
            </a:r>
            <a:r>
              <a:rPr lang="en-IN" sz="3200" dirty="0">
                <a:highlight>
                  <a:srgbClr val="FFFF00"/>
                </a:highlight>
                <a:latin typeface="Times New Roman" panose="02020603050405020304" pitchFamily="18" charset="0"/>
                <a:cs typeface="Times New Roman" panose="02020603050405020304" pitchFamily="18" charset="0"/>
              </a:rPr>
              <a:t>serenity</a:t>
            </a:r>
            <a:r>
              <a:rPr lang="en-IN" sz="3200" dirty="0">
                <a:latin typeface="Times New Roman" panose="02020603050405020304" pitchFamily="18" charset="0"/>
                <a:cs typeface="Times New Roman" panose="02020603050405020304" pitchFamily="18" charset="0"/>
              </a:rPr>
              <a:t>, which is envisaged to have a Proof of Stake algorithm (Casper) implemented with it.</a:t>
            </a:r>
          </a:p>
          <a:p>
            <a:pPr algn="just"/>
            <a:r>
              <a:rPr lang="en-IN" sz="3200" dirty="0">
                <a:latin typeface="Times New Roman" panose="02020603050405020304" pitchFamily="18" charset="0"/>
                <a:cs typeface="Times New Roman" panose="02020603050405020304" pitchFamily="18" charset="0"/>
              </a:rPr>
              <a:t>Other areas of research targeted with serenity include scalability, privacy and Ethereum virtual machine (EVM) upgrade.</a:t>
            </a:r>
          </a:p>
          <a:p>
            <a:pPr algn="l"/>
            <a:endParaRPr lang="en-IN" sz="2400" dirty="0">
              <a:latin typeface="Calibri" panose="020F0502020204030204" pitchFamily="34" charset="0"/>
              <a:cs typeface="Calibri" panose="020F0502020204030204" pitchFamily="34" charset="0"/>
            </a:endParaRPr>
          </a:p>
          <a:p>
            <a:pPr algn="l"/>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98145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A10CF58-5C7C-5A75-C4CD-D56A25551BC9}"/>
              </a:ext>
            </a:extLst>
          </p:cNvPr>
          <p:cNvPicPr>
            <a:picLocks noGrp="1" noChangeAspect="1"/>
          </p:cNvPicPr>
          <p:nvPr>
            <p:ph idx="1"/>
          </p:nvPr>
        </p:nvPicPr>
        <p:blipFill>
          <a:blip r:embed="rId2"/>
          <a:stretch>
            <a:fillRect/>
          </a:stretch>
        </p:blipFill>
        <p:spPr>
          <a:xfrm>
            <a:off x="2111829" y="1471515"/>
            <a:ext cx="7794171" cy="4221713"/>
          </a:xfrm>
        </p:spPr>
      </p:pic>
    </p:spTree>
    <p:extLst>
      <p:ext uri="{BB962C8B-B14F-4D97-AF65-F5344CB8AC3E}">
        <p14:creationId xmlns:p14="http://schemas.microsoft.com/office/powerpoint/2010/main" val="2017666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57AC9-D51E-F7B7-8DF5-AE6CE17295AC}"/>
              </a:ext>
            </a:extLst>
          </p:cNvPr>
          <p:cNvSpPr>
            <a:spLocks noGrp="1"/>
          </p:cNvSpPr>
          <p:nvPr>
            <p:ph type="title"/>
          </p:nvPr>
        </p:nvSpPr>
        <p:spPr>
          <a:xfrm>
            <a:off x="134911" y="149903"/>
            <a:ext cx="11218889" cy="790918"/>
          </a:xfrm>
        </p:spPr>
        <p:txBody>
          <a:bodyPr>
            <a:normAutofit/>
          </a:bodyPr>
          <a:lstStyle/>
          <a:p>
            <a:pPr algn="ctr"/>
            <a:r>
              <a:rPr lang="en-IN" b="1" i="0" u="none" strike="noStrike" baseline="0" dirty="0">
                <a:solidFill>
                  <a:srgbClr val="FF0000"/>
                </a:solidFill>
                <a:latin typeface="Calibri" panose="020F0502020204030204" pitchFamily="34" charset="0"/>
                <a:cs typeface="Calibri" panose="020F0502020204030204" pitchFamily="34" charset="0"/>
              </a:rPr>
              <a:t>Ethereum stack</a:t>
            </a:r>
            <a:endParaRPr lang="en-IN" dirty="0">
              <a:solidFill>
                <a:srgbClr val="FF0000"/>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878E7D78-6CB2-DAEE-D320-1809FD71AF3C}"/>
              </a:ext>
            </a:extLst>
          </p:cNvPr>
          <p:cNvSpPr>
            <a:spLocks noGrp="1"/>
          </p:cNvSpPr>
          <p:nvPr>
            <p:ph sz="half" idx="1"/>
          </p:nvPr>
        </p:nvSpPr>
        <p:spPr>
          <a:xfrm>
            <a:off x="555171" y="1382486"/>
            <a:ext cx="10907486" cy="4833258"/>
          </a:xfrm>
        </p:spPr>
        <p:txBody>
          <a:bodyPr>
            <a:normAutofit/>
          </a:bodyPr>
          <a:lstStyle/>
          <a:p>
            <a:pPr marL="0" indent="0" algn="just">
              <a:buNone/>
            </a:pPr>
            <a:r>
              <a:rPr lang="en-IN" sz="3200" dirty="0">
                <a:latin typeface="Times New Roman" panose="02020603050405020304" pitchFamily="18" charset="0"/>
                <a:cs typeface="Times New Roman" panose="02020603050405020304" pitchFamily="18" charset="0"/>
              </a:rPr>
              <a:t>• At the core, there is the Ethereum blockchain running on the P2P Ethereum network. </a:t>
            </a:r>
          </a:p>
          <a:p>
            <a:pPr marL="0" indent="0" algn="just">
              <a:buNone/>
            </a:pPr>
            <a:r>
              <a:rPr lang="en-IN" sz="3200" dirty="0">
                <a:latin typeface="Times New Roman" panose="02020603050405020304" pitchFamily="18" charset="0"/>
                <a:cs typeface="Times New Roman" panose="02020603050405020304" pitchFamily="18" charset="0"/>
              </a:rPr>
              <a:t>• Secondly, there's an Ethereum client (</a:t>
            </a:r>
            <a:r>
              <a:rPr lang="en-IN" sz="3200" dirty="0" err="1">
                <a:latin typeface="Times New Roman" panose="02020603050405020304" pitchFamily="18" charset="0"/>
                <a:cs typeface="Times New Roman" panose="02020603050405020304" pitchFamily="18" charset="0"/>
              </a:rPr>
              <a:t>geth</a:t>
            </a:r>
            <a:r>
              <a:rPr lang="en-IN" sz="3200" dirty="0">
                <a:latin typeface="Times New Roman" panose="02020603050405020304" pitchFamily="18" charset="0"/>
                <a:cs typeface="Times New Roman" panose="02020603050405020304" pitchFamily="18" charset="0"/>
              </a:rPr>
              <a:t>) that runs on the nodes and connects to the peer-to-peer Ethereum network from where blockchain is downloaded and stored locally.</a:t>
            </a:r>
          </a:p>
          <a:p>
            <a:pPr marL="0" indent="0" algn="just">
              <a:buNone/>
            </a:pPr>
            <a:r>
              <a:rPr lang="en-IN" sz="3200" dirty="0">
                <a:latin typeface="Times New Roman" panose="02020603050405020304" pitchFamily="18" charset="0"/>
                <a:cs typeface="Times New Roman" panose="02020603050405020304" pitchFamily="18" charset="0"/>
              </a:rPr>
              <a:t>• It provides various functions, such as mining and account management. </a:t>
            </a:r>
          </a:p>
          <a:p>
            <a:pPr marL="0" indent="0" algn="just">
              <a:buNone/>
            </a:pPr>
            <a:r>
              <a:rPr lang="en-IN" sz="3200" dirty="0">
                <a:latin typeface="Times New Roman" panose="02020603050405020304" pitchFamily="18" charset="0"/>
                <a:cs typeface="Times New Roman" panose="02020603050405020304" pitchFamily="18" charset="0"/>
              </a:rPr>
              <a:t>• Another component is the web3.js library that allows interaction with </a:t>
            </a:r>
            <a:r>
              <a:rPr lang="en-IN" sz="3200" dirty="0" err="1">
                <a:latin typeface="Times New Roman" panose="02020603050405020304" pitchFamily="18" charset="0"/>
                <a:cs typeface="Times New Roman" panose="02020603050405020304" pitchFamily="18" charset="0"/>
              </a:rPr>
              <a:t>geth</a:t>
            </a:r>
            <a:r>
              <a:rPr lang="en-IN" sz="3200" dirty="0">
                <a:latin typeface="Times New Roman" panose="02020603050405020304" pitchFamily="18" charset="0"/>
                <a:cs typeface="Times New Roman" panose="02020603050405020304" pitchFamily="18" charset="0"/>
              </a:rPr>
              <a:t> via the Remote Procedure Call (RPC) interface.</a:t>
            </a:r>
          </a:p>
        </p:txBody>
      </p:sp>
    </p:spTree>
    <p:extLst>
      <p:ext uri="{BB962C8B-B14F-4D97-AF65-F5344CB8AC3E}">
        <p14:creationId xmlns:p14="http://schemas.microsoft.com/office/powerpoint/2010/main" val="1864201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46FF0-8913-FBCE-3CFA-15F7B73BFF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C4C6685-54F3-BBBB-7B84-DA81DC2B305A}"/>
              </a:ext>
            </a:extLst>
          </p:cNvPr>
          <p:cNvPicPr>
            <a:picLocks noGrp="1" noChangeAspect="1"/>
          </p:cNvPicPr>
          <p:nvPr>
            <p:ph idx="1"/>
          </p:nvPr>
        </p:nvPicPr>
        <p:blipFill>
          <a:blip r:embed="rId2"/>
          <a:stretch>
            <a:fillRect/>
          </a:stretch>
        </p:blipFill>
        <p:spPr>
          <a:xfrm>
            <a:off x="760154" y="914401"/>
            <a:ext cx="11162157" cy="5301700"/>
          </a:xfrm>
          <a:prstGeom prst="rect">
            <a:avLst/>
          </a:prstGeom>
        </p:spPr>
      </p:pic>
    </p:spTree>
    <p:extLst>
      <p:ext uri="{BB962C8B-B14F-4D97-AF65-F5344CB8AC3E}">
        <p14:creationId xmlns:p14="http://schemas.microsoft.com/office/powerpoint/2010/main" val="332248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E8E2F2-4F0E-271C-D0A3-464A1ACE325B}"/>
              </a:ext>
            </a:extLst>
          </p:cNvPr>
          <p:cNvSpPr>
            <a:spLocks noGrp="1"/>
          </p:cNvSpPr>
          <p:nvPr>
            <p:ph idx="1"/>
          </p:nvPr>
        </p:nvSpPr>
        <p:spPr>
          <a:xfrm>
            <a:off x="381000" y="359228"/>
            <a:ext cx="10972800" cy="6183086"/>
          </a:xfrm>
        </p:spPr>
        <p:txBody>
          <a:bodyPr>
            <a:normAutofit fontScale="92500" lnSpcReduction="10000"/>
          </a:bodyPr>
          <a:lstStyle/>
          <a:p>
            <a:pPr marL="514350" indent="-514350">
              <a:buAutoNum type="arabicPeriod"/>
            </a:pPr>
            <a:r>
              <a:rPr lang="en-IN" sz="3000" b="1" dirty="0">
                <a:latin typeface="Times New Roman" panose="02020603050405020304" pitchFamily="18" charset="0"/>
                <a:cs typeface="Times New Roman" panose="02020603050405020304" pitchFamily="18" charset="0"/>
              </a:rPr>
              <a:t>Ethereum Client</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The core software that connects to the Ethereum network.</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Responsible for validating transactions, executing smart contracts and syncing the blockchain.</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Examples: Geth, Besu, Nethermind, </a:t>
            </a:r>
            <a:r>
              <a:rPr lang="en-IN" sz="3000" dirty="0" err="1">
                <a:latin typeface="Times New Roman" panose="02020603050405020304" pitchFamily="18" charset="0"/>
                <a:cs typeface="Times New Roman" panose="02020603050405020304" pitchFamily="18" charset="0"/>
              </a:rPr>
              <a:t>Erigon</a:t>
            </a:r>
            <a:r>
              <a:rPr lang="en-IN" sz="3000" dirty="0">
                <a:latin typeface="Times New Roman" panose="02020603050405020304" pitchFamily="18" charset="0"/>
                <a:cs typeface="Times New Roman" panose="02020603050405020304" pitchFamily="18" charset="0"/>
              </a:rPr>
              <a:t>, etc.</a:t>
            </a:r>
          </a:p>
          <a:p>
            <a:pPr marL="0" indent="0">
              <a:buNone/>
            </a:pPr>
            <a:endParaRPr lang="en-IN" sz="3000" dirty="0">
              <a:latin typeface="Times New Roman" panose="02020603050405020304" pitchFamily="18" charset="0"/>
              <a:cs typeface="Times New Roman" panose="02020603050405020304" pitchFamily="18" charset="0"/>
            </a:endParaRPr>
          </a:p>
          <a:p>
            <a:pPr>
              <a:buNone/>
            </a:pPr>
            <a:r>
              <a:rPr lang="en-IN" sz="3000" b="1" dirty="0">
                <a:latin typeface="Times New Roman" panose="02020603050405020304" pitchFamily="18" charset="0"/>
                <a:cs typeface="Times New Roman" panose="02020603050405020304" pitchFamily="18" charset="0"/>
              </a:rPr>
              <a:t>2. Web3 or Custom Interface </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The interface layer that interacts with users or applications.</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Uses </a:t>
            </a:r>
            <a:r>
              <a:rPr lang="en-IN" sz="3000" b="1" dirty="0">
                <a:latin typeface="Times New Roman" panose="02020603050405020304" pitchFamily="18" charset="0"/>
                <a:cs typeface="Times New Roman" panose="02020603050405020304" pitchFamily="18" charset="0"/>
              </a:rPr>
              <a:t>RPC (Remote Procedure Call)</a:t>
            </a:r>
            <a:r>
              <a:rPr lang="en-IN" sz="3000" dirty="0">
                <a:latin typeface="Times New Roman" panose="02020603050405020304" pitchFamily="18" charset="0"/>
                <a:cs typeface="Times New Roman" panose="02020603050405020304" pitchFamily="18" charset="0"/>
              </a:rPr>
              <a:t> to communicate with the Ethereum client.</a:t>
            </a:r>
          </a:p>
          <a:p>
            <a:pPr>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Examples:</a:t>
            </a:r>
          </a:p>
          <a:p>
            <a:pPr marL="742950" lvl="1" indent="-28575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Web3.js</a:t>
            </a:r>
            <a:r>
              <a:rPr lang="en-IN" sz="3000" dirty="0">
                <a:latin typeface="Times New Roman" panose="02020603050405020304" pitchFamily="18" charset="0"/>
                <a:cs typeface="Times New Roman" panose="02020603050405020304" pitchFamily="18" charset="0"/>
              </a:rPr>
              <a:t> (JavaScript library)</a:t>
            </a:r>
          </a:p>
          <a:p>
            <a:pPr marL="742950" lvl="1" indent="-28575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Custom UIs/</a:t>
            </a:r>
            <a:r>
              <a:rPr lang="en-IN" sz="3000" dirty="0" err="1">
                <a:latin typeface="Times New Roman" panose="02020603050405020304" pitchFamily="18" charset="0"/>
                <a:cs typeface="Times New Roman" panose="02020603050405020304" pitchFamily="18" charset="0"/>
              </a:rPr>
              <a:t>dApps</a:t>
            </a:r>
            <a:endParaRPr lang="en-IN" sz="3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Wallets like MetaMask</a:t>
            </a:r>
          </a:p>
          <a:p>
            <a:endParaRPr lang="en-IN" dirty="0"/>
          </a:p>
        </p:txBody>
      </p:sp>
    </p:spTree>
    <p:extLst>
      <p:ext uri="{BB962C8B-B14F-4D97-AF65-F5344CB8AC3E}">
        <p14:creationId xmlns:p14="http://schemas.microsoft.com/office/powerpoint/2010/main" val="4126112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36F9E1-97B4-0700-0DD2-7809FA58B421}"/>
              </a:ext>
            </a:extLst>
          </p:cNvPr>
          <p:cNvSpPr>
            <a:spLocks noGrp="1"/>
          </p:cNvSpPr>
          <p:nvPr>
            <p:ph idx="1"/>
          </p:nvPr>
        </p:nvSpPr>
        <p:spPr>
          <a:xfrm>
            <a:off x="729343" y="544286"/>
            <a:ext cx="10624457" cy="5769428"/>
          </a:xfrm>
        </p:spPr>
        <p:txBody>
          <a:bodyPr/>
          <a:lstStyle/>
          <a:p>
            <a:pPr>
              <a:buNone/>
            </a:pPr>
            <a:r>
              <a:rPr lang="en-IN" b="1" dirty="0"/>
              <a:t>3</a:t>
            </a:r>
            <a:r>
              <a:rPr lang="en-IN" b="1" dirty="0">
                <a:latin typeface="Times New Roman" panose="02020603050405020304" pitchFamily="18" charset="0"/>
                <a:cs typeface="Times New Roman" panose="02020603050405020304" pitchFamily="18" charset="0"/>
              </a:rPr>
              <a:t>. Local Blockchain </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Ethereum client maintains a </a:t>
            </a:r>
            <a:r>
              <a:rPr lang="en-IN" b="1" dirty="0">
                <a:latin typeface="Times New Roman" panose="02020603050405020304" pitchFamily="18" charset="0"/>
                <a:cs typeface="Times New Roman" panose="02020603050405020304" pitchFamily="18" charset="0"/>
              </a:rPr>
              <a:t>local copy of the blockchain</a:t>
            </a:r>
            <a:r>
              <a:rPr lang="en-IN" dirty="0">
                <a:latin typeface="Times New Roman" panose="02020603050405020304" pitchFamily="18" charset="0"/>
                <a:cs typeface="Times New Roman" panose="02020603050405020304" pitchFamily="18" charset="0"/>
              </a:rPr>
              <a:t> (or part of it).</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syncs this data with the global Ethereum network to stay up-to-date.</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allows the client to verify transactions and respond to queries locally.</a:t>
            </a:r>
          </a:p>
          <a:p>
            <a:pPr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gn="just">
              <a:buNone/>
            </a:pPr>
            <a:r>
              <a:rPr lang="en-IN" b="1" dirty="0">
                <a:latin typeface="Times New Roman" panose="02020603050405020304" pitchFamily="18" charset="0"/>
                <a:cs typeface="Times New Roman" panose="02020603050405020304" pitchFamily="18" charset="0"/>
              </a:rPr>
              <a:t>4. Ethereum Network </a:t>
            </a:r>
          </a:p>
          <a:p>
            <a:pPr algn="just"/>
            <a:r>
              <a:rPr lang="en-IN" dirty="0">
                <a:latin typeface="Times New Roman" panose="02020603050405020304" pitchFamily="18" charset="0"/>
                <a:cs typeface="Times New Roman" panose="02020603050405020304" pitchFamily="18" charset="0"/>
              </a:rPr>
              <a:t>Represents the decentralized Ethereum peer-to-peer (P2P) network.</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Ethereum clients communicate with other nodes here to broadcast transactions and receive blocks.</a:t>
            </a:r>
          </a:p>
          <a:p>
            <a:endParaRPr lang="en-IN" dirty="0"/>
          </a:p>
        </p:txBody>
      </p:sp>
    </p:spTree>
    <p:extLst>
      <p:ext uri="{BB962C8B-B14F-4D97-AF65-F5344CB8AC3E}">
        <p14:creationId xmlns:p14="http://schemas.microsoft.com/office/powerpoint/2010/main" val="4060695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8B756-0299-3F44-35FF-74DA2D76A60A}"/>
              </a:ext>
            </a:extLst>
          </p:cNvPr>
          <p:cNvSpPr>
            <a:spLocks noGrp="1"/>
          </p:cNvSpPr>
          <p:nvPr>
            <p:ph type="title"/>
          </p:nvPr>
        </p:nvSpPr>
        <p:spPr>
          <a:xfrm>
            <a:off x="226141" y="0"/>
            <a:ext cx="11802573" cy="1175657"/>
          </a:xfrm>
        </p:spPr>
        <p:txBody>
          <a:bodyPr>
            <a:normAutofit fontScale="90000"/>
          </a:bodyPr>
          <a:lstStyle/>
          <a:p>
            <a:pPr algn="just"/>
            <a:r>
              <a:rPr lang="en-IN" dirty="0">
                <a:solidFill>
                  <a:srgbClr val="FF0000"/>
                </a:solidFill>
                <a:latin typeface="Times New Roman" panose="02020603050405020304" pitchFamily="18" charset="0"/>
                <a:cs typeface="Times New Roman" panose="02020603050405020304" pitchFamily="18" charset="0"/>
              </a:rPr>
              <a:t>Ethereum blockchain (Ethereum State transition function)</a:t>
            </a:r>
          </a:p>
        </p:txBody>
      </p:sp>
      <p:sp>
        <p:nvSpPr>
          <p:cNvPr id="3" name="Content Placeholder 2">
            <a:extLst>
              <a:ext uri="{FF2B5EF4-FFF2-40B4-BE49-F238E27FC236}">
                <a16:creationId xmlns:a16="http://schemas.microsoft.com/office/drawing/2014/main" id="{B3A7A2AC-4855-07CE-9873-ECA2BFEF3A7A}"/>
              </a:ext>
            </a:extLst>
          </p:cNvPr>
          <p:cNvSpPr>
            <a:spLocks noGrp="1"/>
          </p:cNvSpPr>
          <p:nvPr>
            <p:ph sz="half" idx="1"/>
          </p:nvPr>
        </p:nvSpPr>
        <p:spPr>
          <a:xfrm>
            <a:off x="226140" y="1175657"/>
            <a:ext cx="11878773" cy="5431971"/>
          </a:xfrm>
        </p:spPr>
        <p:txBody>
          <a:bodyPr>
            <a:normAutofit/>
          </a:bodyPr>
          <a:lstStyle/>
          <a:p>
            <a:pPr lvl="0" algn="just">
              <a:lnSpc>
                <a:spcPct val="107000"/>
              </a:lnSpc>
            </a:pPr>
            <a:r>
              <a:rPr lang="en-IN" sz="35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Ethereum blockchain is a decentralized, open source blockchain platform that enables the creation and execution of smart contracts and decentralized applications (Dapps).</a:t>
            </a:r>
            <a:endParaRPr lang="en-IN" sz="3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7000"/>
              </a:lnSpc>
            </a:pPr>
            <a:r>
              <a:rPr lang="en-IN" sz="35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idea here is that the genesis state of a block transforms into final state by executing the transactions incrementally. </a:t>
            </a:r>
            <a:endParaRPr lang="en-IN" sz="3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7000"/>
              </a:lnSpc>
              <a:spcAft>
                <a:spcPts val="800"/>
              </a:spcAft>
            </a:pPr>
            <a:r>
              <a:rPr lang="en-IN" sz="3500" kern="100" dirty="0">
                <a:effectLst/>
                <a:latin typeface="Times New Roman" panose="02020603050405020304" pitchFamily="18" charset="0"/>
                <a:ea typeface="Calibri" panose="020F0502020204030204" pitchFamily="34" charset="0"/>
                <a:cs typeface="Times New Roman" panose="02020603050405020304" pitchFamily="18" charset="0"/>
              </a:rPr>
              <a:t>The final transformation is then accepted as the absolute undisputed version of the state.</a:t>
            </a:r>
          </a:p>
          <a:p>
            <a:pPr algn="just">
              <a:buFont typeface="Wingdings" panose="05000000000000000000" pitchFamily="2" charset="2"/>
              <a:buChar char="Ø"/>
            </a:pP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20269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blockchain&#10;&#10;Description automatically generated">
            <a:extLst>
              <a:ext uri="{FF2B5EF4-FFF2-40B4-BE49-F238E27FC236}">
                <a16:creationId xmlns:a16="http://schemas.microsoft.com/office/drawing/2014/main" id="{43F5C940-71F6-61BC-9DAF-037DCD762215}"/>
              </a:ext>
            </a:extLst>
          </p:cNvPr>
          <p:cNvPicPr>
            <a:picLocks noGrp="1" noChangeAspect="1"/>
          </p:cNvPicPr>
          <p:nvPr>
            <p:ph idx="1"/>
          </p:nvPr>
        </p:nvPicPr>
        <p:blipFill>
          <a:blip r:embed="rId2"/>
          <a:stretch>
            <a:fillRect/>
          </a:stretch>
        </p:blipFill>
        <p:spPr>
          <a:xfrm>
            <a:off x="389745" y="1435295"/>
            <a:ext cx="11317574" cy="4350908"/>
          </a:xfrm>
          <a:prstGeom prst="rect">
            <a:avLst/>
          </a:prstGeom>
        </p:spPr>
      </p:pic>
    </p:spTree>
    <p:extLst>
      <p:ext uri="{BB962C8B-B14F-4D97-AF65-F5344CB8AC3E}">
        <p14:creationId xmlns:p14="http://schemas.microsoft.com/office/powerpoint/2010/main" val="33493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EA15EE-C548-D6F8-950C-44D846272207}"/>
              </a:ext>
            </a:extLst>
          </p:cNvPr>
          <p:cNvSpPr>
            <a:spLocks noGrp="1"/>
          </p:cNvSpPr>
          <p:nvPr>
            <p:ph idx="1"/>
          </p:nvPr>
        </p:nvSpPr>
        <p:spPr>
          <a:xfrm>
            <a:off x="598713" y="304799"/>
            <a:ext cx="11005457" cy="6052457"/>
          </a:xfrm>
        </p:spPr>
        <p:txBody>
          <a:bodyPr>
            <a:normAutofit lnSpcReduction="10000"/>
          </a:bodyPr>
          <a:lstStyle/>
          <a:p>
            <a:pPr algn="ctr">
              <a:buNone/>
            </a:pPr>
            <a:r>
              <a:rPr lang="en-IN" b="1" dirty="0">
                <a:latin typeface="Calibri" panose="020F0502020204030204" pitchFamily="34" charset="0"/>
                <a:cs typeface="Calibri" panose="020F0502020204030204" pitchFamily="34" charset="0"/>
              </a:rPr>
              <a:t>"</a:t>
            </a:r>
            <a:r>
              <a:rPr lang="en-IN" b="1" dirty="0">
                <a:latin typeface="Times New Roman" panose="02020603050405020304" pitchFamily="18" charset="0"/>
                <a:cs typeface="Times New Roman" panose="02020603050405020304" pitchFamily="18" charset="0"/>
              </a:rPr>
              <a:t>The hard-forked version is ETH" — What It Means</a:t>
            </a:r>
          </a:p>
          <a:p>
            <a:pPr algn="ctr">
              <a:buNone/>
            </a:pPr>
            <a:endParaRPr lang="en-IN" b="1"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refers to a </a:t>
            </a:r>
            <a:r>
              <a:rPr lang="en-IN" b="1" dirty="0">
                <a:latin typeface="Times New Roman" panose="02020603050405020304" pitchFamily="18" charset="0"/>
                <a:cs typeface="Times New Roman" panose="02020603050405020304" pitchFamily="18" charset="0"/>
              </a:rPr>
              <a:t>historic split</a:t>
            </a:r>
            <a:r>
              <a:rPr lang="en-IN" dirty="0">
                <a:latin typeface="Times New Roman" panose="02020603050405020304" pitchFamily="18" charset="0"/>
                <a:cs typeface="Times New Roman" panose="02020603050405020304" pitchFamily="18" charset="0"/>
              </a:rPr>
              <a:t> in the Ethereum blockchain that happened in </a:t>
            </a:r>
            <a:r>
              <a:rPr lang="en-IN" b="1" dirty="0">
                <a:latin typeface="Times New Roman" panose="02020603050405020304" pitchFamily="18" charset="0"/>
                <a:cs typeface="Times New Roman" panose="02020603050405020304" pitchFamily="18" charset="0"/>
              </a:rPr>
              <a:t>2016</a:t>
            </a:r>
            <a:r>
              <a:rPr lang="en-IN" dirty="0">
                <a:latin typeface="Times New Roman" panose="02020603050405020304" pitchFamily="18" charset="0"/>
                <a:cs typeface="Times New Roman" panose="02020603050405020304" pitchFamily="18" charset="0"/>
              </a:rPr>
              <a:t>, leading to </a:t>
            </a:r>
            <a:r>
              <a:rPr lang="en-IN" b="1" dirty="0">
                <a:latin typeface="Times New Roman" panose="02020603050405020304" pitchFamily="18" charset="0"/>
                <a:cs typeface="Times New Roman" panose="02020603050405020304" pitchFamily="18" charset="0"/>
              </a:rPr>
              <a:t>two separate chains</a:t>
            </a:r>
            <a:r>
              <a:rPr lang="en-IN" dirty="0">
                <a:latin typeface="Times New Roman" panose="02020603050405020304" pitchFamily="18" charset="0"/>
                <a:cs typeface="Times New Roman" panose="02020603050405020304" pitchFamily="18" charset="0"/>
              </a:rPr>
              <a:t>:</a:t>
            </a:r>
          </a:p>
          <a:p>
            <a:pPr>
              <a:buNone/>
            </a:pPr>
            <a:r>
              <a:rPr lang="en-IN" b="1" dirty="0">
                <a:latin typeface="Times New Roman" panose="02020603050405020304" pitchFamily="18" charset="0"/>
                <a:cs typeface="Times New Roman" panose="02020603050405020304" pitchFamily="18" charset="0"/>
              </a:rPr>
              <a:t>The Event: The DAO Hack</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 2016, a decentralized autonomous organization (DAO) built on Ethereum was hacked.</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~3.6 million ETH were stolen due to a vulnerability in the smart contract.</a:t>
            </a:r>
          </a:p>
          <a:p>
            <a:pPr>
              <a:buNone/>
            </a:pPr>
            <a:r>
              <a:rPr lang="en-IN" b="1" dirty="0">
                <a:latin typeface="Times New Roman" panose="02020603050405020304" pitchFamily="18" charset="0"/>
                <a:cs typeface="Times New Roman" panose="02020603050405020304" pitchFamily="18" charset="0"/>
              </a:rPr>
              <a:t>The Hard Fork</a:t>
            </a:r>
          </a:p>
          <a:p>
            <a:pPr algn="just">
              <a:buNone/>
            </a:pPr>
            <a:r>
              <a:rPr lang="en-IN" dirty="0">
                <a:latin typeface="Times New Roman" panose="02020603050405020304" pitchFamily="18" charset="0"/>
                <a:cs typeface="Times New Roman" panose="02020603050405020304" pitchFamily="18" charset="0"/>
              </a:rPr>
              <a:t>To address the hack, the Ethereum community debated solutions:</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One group wanted to </a:t>
            </a:r>
            <a:r>
              <a:rPr lang="en-IN" b="1" dirty="0">
                <a:latin typeface="Times New Roman" panose="02020603050405020304" pitchFamily="18" charset="0"/>
                <a:cs typeface="Times New Roman" panose="02020603050405020304" pitchFamily="18" charset="0"/>
              </a:rPr>
              <a:t>reverse</a:t>
            </a:r>
            <a:r>
              <a:rPr lang="en-IN" dirty="0">
                <a:latin typeface="Times New Roman" panose="02020603050405020304" pitchFamily="18" charset="0"/>
                <a:cs typeface="Times New Roman" panose="02020603050405020304" pitchFamily="18" charset="0"/>
              </a:rPr>
              <a:t> the hack by forking the blockchain.</a:t>
            </a:r>
          </a:p>
          <a:p>
            <a:pPr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Another group believed in </a:t>
            </a:r>
            <a:r>
              <a:rPr lang="en-IN" b="1" dirty="0">
                <a:latin typeface="Times New Roman" panose="02020603050405020304" pitchFamily="18" charset="0"/>
                <a:cs typeface="Times New Roman" panose="02020603050405020304" pitchFamily="18" charset="0"/>
              </a:rPr>
              <a:t>immutability</a:t>
            </a:r>
            <a:r>
              <a:rPr lang="en-IN" dirty="0">
                <a:latin typeface="Times New Roman" panose="02020603050405020304" pitchFamily="18" charset="0"/>
                <a:cs typeface="Times New Roman" panose="02020603050405020304" pitchFamily="18" charset="0"/>
              </a:rPr>
              <a:t> (i.e., "code is law") and opposed any rollback.</a:t>
            </a:r>
          </a:p>
          <a:p>
            <a:endParaRPr lang="en-IN" dirty="0"/>
          </a:p>
        </p:txBody>
      </p:sp>
    </p:spTree>
    <p:extLst>
      <p:ext uri="{BB962C8B-B14F-4D97-AF65-F5344CB8AC3E}">
        <p14:creationId xmlns:p14="http://schemas.microsoft.com/office/powerpoint/2010/main" val="697237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E08664-6FA8-F30E-11B0-A62D162AFDFF}"/>
              </a:ext>
            </a:extLst>
          </p:cNvPr>
          <p:cNvSpPr>
            <a:spLocks noGrp="1"/>
          </p:cNvSpPr>
          <p:nvPr>
            <p:ph type="title"/>
          </p:nvPr>
        </p:nvSpPr>
        <p:spPr>
          <a:xfrm>
            <a:off x="696685" y="0"/>
            <a:ext cx="10515600" cy="1012371"/>
          </a:xfrm>
        </p:spPr>
        <p:txBody>
          <a:bodyPr/>
          <a:lstStyle/>
          <a:p>
            <a:pPr algn="ctr"/>
            <a:r>
              <a:rPr lang="en-IN" dirty="0">
                <a:solidFill>
                  <a:srgbClr val="FF0000"/>
                </a:solidFill>
                <a:latin typeface="Times New Roman" panose="02020603050405020304" pitchFamily="18" charset="0"/>
                <a:cs typeface="Times New Roman" panose="02020603050405020304" pitchFamily="18" charset="0"/>
              </a:rPr>
              <a:t>Currency (ETH and ETC)</a:t>
            </a:r>
          </a:p>
        </p:txBody>
      </p:sp>
      <p:sp>
        <p:nvSpPr>
          <p:cNvPr id="6" name="Content Placeholder 5">
            <a:extLst>
              <a:ext uri="{FF2B5EF4-FFF2-40B4-BE49-F238E27FC236}">
                <a16:creationId xmlns:a16="http://schemas.microsoft.com/office/drawing/2014/main" id="{44461B07-6B7B-75B2-E541-E4ADE936A92E}"/>
              </a:ext>
            </a:extLst>
          </p:cNvPr>
          <p:cNvSpPr>
            <a:spLocks noGrp="1"/>
          </p:cNvSpPr>
          <p:nvPr>
            <p:ph idx="1"/>
          </p:nvPr>
        </p:nvSpPr>
        <p:spPr>
          <a:xfrm>
            <a:off x="566056" y="1262743"/>
            <a:ext cx="11190515" cy="4925106"/>
          </a:xfrm>
        </p:spPr>
        <p:txBody>
          <a:bodyPr/>
          <a:lstStyle/>
          <a:p>
            <a:pPr algn="just"/>
            <a:r>
              <a:rPr lang="en-IN" dirty="0">
                <a:latin typeface="Times New Roman" panose="02020603050405020304" pitchFamily="18" charset="0"/>
                <a:cs typeface="Times New Roman" panose="02020603050405020304" pitchFamily="18" charset="0"/>
              </a:rPr>
              <a:t>There are two Ethereum blockchains: one is called Ethereum classic and its currency is represented by ETC. </a:t>
            </a:r>
          </a:p>
          <a:p>
            <a:pPr marL="0" indent="0" algn="just">
              <a:buNone/>
            </a:pPr>
            <a:r>
              <a:rPr lang="en-IN" dirty="0">
                <a:latin typeface="Times New Roman" panose="02020603050405020304" pitchFamily="18" charset="0"/>
                <a:cs typeface="Times New Roman" panose="02020603050405020304" pitchFamily="18" charset="0"/>
              </a:rPr>
              <a:t>• The hard-forked version is ETH, which continues to grow and on which active development is being carried out.</a:t>
            </a:r>
          </a:p>
          <a:p>
            <a:pPr marL="0" indent="0" algn="just">
              <a:buNone/>
            </a:pPr>
            <a:r>
              <a:rPr lang="en-IN" dirty="0">
                <a:latin typeface="Times New Roman" panose="02020603050405020304" pitchFamily="18" charset="0"/>
                <a:cs typeface="Times New Roman" panose="02020603050405020304" pitchFamily="18" charset="0"/>
              </a:rPr>
              <a:t> • ETH is the current the most active and official Ethereum blockchain.</a:t>
            </a:r>
          </a:p>
          <a:p>
            <a:pPr marL="0" indent="0" algn="just">
              <a:buNone/>
            </a:pPr>
            <a:endParaRPr lang="en-IN"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AA547A8B-DB2B-D976-F9BA-10937DACE141}"/>
              </a:ext>
            </a:extLst>
          </p:cNvPr>
          <p:cNvPicPr>
            <a:picLocks noChangeAspect="1"/>
          </p:cNvPicPr>
          <p:nvPr/>
        </p:nvPicPr>
        <p:blipFill>
          <a:blip r:embed="rId2"/>
          <a:stretch>
            <a:fillRect/>
          </a:stretch>
        </p:blipFill>
        <p:spPr>
          <a:xfrm>
            <a:off x="2046514" y="3894783"/>
            <a:ext cx="9165771" cy="1983501"/>
          </a:xfrm>
          <a:prstGeom prst="rect">
            <a:avLst/>
          </a:prstGeom>
        </p:spPr>
      </p:pic>
    </p:spTree>
    <p:extLst>
      <p:ext uri="{BB962C8B-B14F-4D97-AF65-F5344CB8AC3E}">
        <p14:creationId xmlns:p14="http://schemas.microsoft.com/office/powerpoint/2010/main" val="1629111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CE9C-DD03-3DC0-898A-760D040EC1CB}"/>
              </a:ext>
            </a:extLst>
          </p:cNvPr>
          <p:cNvSpPr>
            <a:spLocks noGrp="1"/>
          </p:cNvSpPr>
          <p:nvPr>
            <p:ph type="title"/>
          </p:nvPr>
        </p:nvSpPr>
        <p:spPr>
          <a:xfrm>
            <a:off x="576943" y="0"/>
            <a:ext cx="10358025" cy="875676"/>
          </a:xfrm>
        </p:spPr>
        <p:txBody>
          <a:bodyPr>
            <a:normAutofit/>
          </a:bodyPr>
          <a:lstStyle/>
          <a:p>
            <a:pPr algn="ctr"/>
            <a:r>
              <a:rPr lang="en-US" dirty="0">
                <a:solidFill>
                  <a:srgbClr val="FF0000"/>
                </a:solidFill>
                <a:latin typeface="Times New Roman" panose="02020603050405020304" pitchFamily="18" charset="0"/>
                <a:cs typeface="Times New Roman" panose="02020603050405020304" pitchFamily="18" charset="0"/>
              </a:rPr>
              <a:t>Currency (ETH and ETC)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5C668A-2152-1778-C003-CA68281EE8DD}"/>
              </a:ext>
            </a:extLst>
          </p:cNvPr>
          <p:cNvSpPr>
            <a:spLocks noGrp="1"/>
          </p:cNvSpPr>
          <p:nvPr>
            <p:ph idx="1"/>
          </p:nvPr>
        </p:nvSpPr>
        <p:spPr>
          <a:xfrm>
            <a:off x="359229" y="875676"/>
            <a:ext cx="11587932" cy="5786381"/>
          </a:xfrm>
        </p:spPr>
        <p:txBody>
          <a:bodyPr>
            <a:noAutofit/>
          </a:bodyPr>
          <a:lstStyle/>
          <a:p>
            <a:pPr algn="just"/>
            <a:r>
              <a:rPr lang="en-US" sz="2800" dirty="0">
                <a:latin typeface="Times New Roman" panose="02020603050405020304" pitchFamily="18" charset="0"/>
                <a:cs typeface="Times New Roman" panose="02020603050405020304" pitchFamily="18" charset="0"/>
              </a:rPr>
              <a:t>The concept of </a:t>
            </a:r>
            <a:r>
              <a:rPr lang="en-US" sz="2800" b="1" dirty="0">
                <a:latin typeface="Times New Roman" panose="02020603050405020304" pitchFamily="18" charset="0"/>
                <a:cs typeface="Times New Roman" panose="02020603050405020304" pitchFamily="18" charset="0"/>
              </a:rPr>
              <a:t>ETH</a:t>
            </a:r>
            <a:r>
              <a:rPr lang="en-US" sz="2800" dirty="0">
                <a:latin typeface="Times New Roman" panose="02020603050405020304" pitchFamily="18" charset="0"/>
                <a:cs typeface="Times New Roman" panose="02020603050405020304" pitchFamily="18" charset="0"/>
              </a:rPr>
              <a:t> (Ether) and </a:t>
            </a:r>
            <a:r>
              <a:rPr lang="en-US" sz="2800" b="1" dirty="0">
                <a:latin typeface="Times New Roman" panose="02020603050405020304" pitchFamily="18" charset="0"/>
                <a:cs typeface="Times New Roman" panose="02020603050405020304" pitchFamily="18" charset="0"/>
              </a:rPr>
              <a:t>ETC</a:t>
            </a:r>
            <a:r>
              <a:rPr lang="en-US" sz="2800" dirty="0">
                <a:latin typeface="Times New Roman" panose="02020603050405020304" pitchFamily="18" charset="0"/>
                <a:cs typeface="Times New Roman" panose="02020603050405020304" pitchFamily="18" charset="0"/>
              </a:rPr>
              <a:t> (Ethereum Classic) stems from a significant event in the history of Ethereum known as the </a:t>
            </a:r>
            <a:r>
              <a:rPr lang="en-US" sz="2800" b="1" dirty="0">
                <a:latin typeface="Times New Roman" panose="02020603050405020304" pitchFamily="18" charset="0"/>
                <a:cs typeface="Times New Roman" panose="02020603050405020304" pitchFamily="18" charset="0"/>
              </a:rPr>
              <a:t>DAO hack</a:t>
            </a:r>
            <a:r>
              <a:rPr lang="en-US" sz="2800" dirty="0">
                <a:latin typeface="Times New Roman" panose="02020603050405020304" pitchFamily="18" charset="0"/>
                <a:cs typeface="Times New Roman" panose="02020603050405020304" pitchFamily="18" charset="0"/>
              </a:rPr>
              <a:t>.</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buNone/>
            </a:pPr>
            <a:r>
              <a:rPr lang="en-US" sz="2800" b="1" u="sng" dirty="0">
                <a:latin typeface="Times New Roman" panose="02020603050405020304" pitchFamily="18" charset="0"/>
                <a:cs typeface="Times New Roman" panose="02020603050405020304" pitchFamily="18" charset="0"/>
              </a:rPr>
              <a:t>Ether (ETH):</a:t>
            </a:r>
          </a:p>
          <a:p>
            <a:pPr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Definition</a:t>
            </a:r>
            <a:r>
              <a:rPr lang="en-US" sz="2800" dirty="0">
                <a:latin typeface="Times New Roman" panose="02020603050405020304" pitchFamily="18" charset="0"/>
                <a:cs typeface="Times New Roman" panose="02020603050405020304" pitchFamily="18" charset="0"/>
              </a:rPr>
              <a:t>: Ether (ETH) is the native cryptocurrency of the </a:t>
            </a:r>
            <a:r>
              <a:rPr lang="en-US" sz="2800" b="1" dirty="0">
                <a:latin typeface="Times New Roman" panose="02020603050405020304" pitchFamily="18" charset="0"/>
                <a:cs typeface="Times New Roman" panose="02020603050405020304" pitchFamily="18" charset="0"/>
              </a:rPr>
              <a:t>Ethereum</a:t>
            </a:r>
            <a:r>
              <a:rPr lang="en-US" sz="2800" dirty="0">
                <a:latin typeface="Times New Roman" panose="02020603050405020304" pitchFamily="18" charset="0"/>
                <a:cs typeface="Times New Roman" panose="02020603050405020304" pitchFamily="18" charset="0"/>
              </a:rPr>
              <a:t> blockchain, used to pay for transactions, computational services</a:t>
            </a: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and as an incentive for miners.</a:t>
            </a: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0" indent="0" algn="just">
              <a:lnSpc>
                <a:spcPct val="107000"/>
              </a:lnSpc>
              <a:spcAft>
                <a:spcPts val="800"/>
              </a:spcAft>
              <a:buNone/>
            </a:pPr>
            <a:r>
              <a:rPr lang="en-IN" sz="2800" b="1" u="sng" kern="100" dirty="0">
                <a:effectLst/>
                <a:latin typeface="Times New Roman" panose="02020603050405020304" pitchFamily="18" charset="0"/>
                <a:ea typeface="Calibri" panose="020F0502020204030204" pitchFamily="34" charset="0"/>
                <a:cs typeface="Times New Roman" panose="02020603050405020304" pitchFamily="18" charset="0"/>
              </a:rPr>
              <a:t>Ethereum Classic (ETC):</a:t>
            </a:r>
          </a:p>
          <a:p>
            <a:pPr marL="342900" lvl="0" indent="-342900" algn="just">
              <a:lnSpc>
                <a:spcPct val="107000"/>
              </a:lnSpc>
              <a:spcAft>
                <a:spcPts val="800"/>
              </a:spcAft>
              <a:buSzPts val="1000"/>
              <a:buFont typeface="Symbol" panose="05050102010706020507" pitchFamily="18" charset="2"/>
              <a:buChar char=""/>
              <a:tabLst>
                <a:tab pos="457200" algn="l"/>
              </a:tabLst>
            </a:pPr>
            <a:r>
              <a:rPr lang="en-IN" sz="2800" b="1" kern="100" dirty="0">
                <a:effectLst/>
                <a:latin typeface="Times New Roman" panose="02020603050405020304" pitchFamily="18" charset="0"/>
                <a:ea typeface="Calibri" panose="020F0502020204030204" pitchFamily="34" charset="0"/>
                <a:cs typeface="Times New Roman" panose="02020603050405020304" pitchFamily="18" charset="0"/>
              </a:rPr>
              <a:t>Definition</a:t>
            </a: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 Ethereum Classic (ETC) is the original, unaltered version of the Ethereum blockchain that chose not to implement the hard fork after the DAO hack.</a:t>
            </a:r>
          </a:p>
          <a:p>
            <a:pPr marL="0" indent="0" algn="just">
              <a:buNone/>
            </a:pPr>
            <a:endParaRPr lang="en-US" sz="2800" dirty="0">
              <a:latin typeface="Arial" panose="020B0604020202020204" pitchFamily="34" charset="0"/>
              <a:ea typeface="Calibri" panose="020F0502020204030204" pitchFamily="34" charset="0"/>
              <a:cs typeface="Arial" panose="020B0604020202020204" pitchFamily="34" charset="0"/>
            </a:endParaRPr>
          </a:p>
          <a:p>
            <a:pPr algn="just"/>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1893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0FF59951-290D-B810-5E25-1E34C1307CE3}"/>
              </a:ext>
            </a:extLst>
          </p:cNvPr>
          <p:cNvPicPr>
            <a:picLocks noGrp="1" noChangeAspect="1"/>
          </p:cNvPicPr>
          <p:nvPr>
            <p:ph idx="1"/>
          </p:nvPr>
        </p:nvPicPr>
        <p:blipFill>
          <a:blip r:embed="rId2"/>
          <a:stretch>
            <a:fillRect/>
          </a:stretch>
        </p:blipFill>
        <p:spPr>
          <a:xfrm>
            <a:off x="631371" y="565522"/>
            <a:ext cx="11180878" cy="5681272"/>
          </a:xfrm>
        </p:spPr>
      </p:pic>
    </p:spTree>
    <p:extLst>
      <p:ext uri="{BB962C8B-B14F-4D97-AF65-F5344CB8AC3E}">
        <p14:creationId xmlns:p14="http://schemas.microsoft.com/office/powerpoint/2010/main" val="3744706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943" y="-155916"/>
            <a:ext cx="12148456" cy="1005002"/>
          </a:xfrm>
        </p:spPr>
        <p:txBody>
          <a:bodyPr/>
          <a:lstStyle/>
          <a:p>
            <a:pPr algn="ctr"/>
            <a:r>
              <a:rPr lang="en-IN" dirty="0">
                <a:solidFill>
                  <a:srgbClr val="FF0000"/>
                </a:solidFill>
                <a:latin typeface="Times New Roman" panose="02020603050405020304" pitchFamily="18" charset="0"/>
                <a:cs typeface="Times New Roman" panose="02020603050405020304" pitchFamily="18" charset="0"/>
              </a:rPr>
              <a:t>Forks</a:t>
            </a:r>
          </a:p>
        </p:txBody>
      </p:sp>
      <p:sp>
        <p:nvSpPr>
          <p:cNvPr id="3" name="Content Placeholder 2"/>
          <p:cNvSpPr>
            <a:spLocks noGrp="1"/>
          </p:cNvSpPr>
          <p:nvPr>
            <p:ph idx="1"/>
          </p:nvPr>
        </p:nvSpPr>
        <p:spPr>
          <a:xfrm>
            <a:off x="402771" y="849086"/>
            <a:ext cx="11549742" cy="5617028"/>
          </a:xfrm>
        </p:spPr>
        <p:txBody>
          <a:bodyPr>
            <a:normAutofit/>
          </a:bodyPr>
          <a:lstStyle/>
          <a:p>
            <a:pPr algn="just"/>
            <a:r>
              <a:rPr lang="en-IN" dirty="0">
                <a:latin typeface="Times New Roman" panose="02020603050405020304" pitchFamily="18" charset="0"/>
                <a:cs typeface="Times New Roman" panose="02020603050405020304" pitchFamily="18" charset="0"/>
              </a:rPr>
              <a:t>The protocol was upgraded at block number 1,150,000, resulting in the </a:t>
            </a:r>
            <a:r>
              <a:rPr lang="en-IN" dirty="0">
                <a:solidFill>
                  <a:srgbClr val="FF0000"/>
                </a:solidFill>
                <a:latin typeface="Times New Roman" panose="02020603050405020304" pitchFamily="18" charset="0"/>
                <a:cs typeface="Times New Roman" panose="02020603050405020304" pitchFamily="18" charset="0"/>
              </a:rPr>
              <a:t>migration</a:t>
            </a:r>
            <a:r>
              <a:rPr lang="en-IN" dirty="0">
                <a:latin typeface="Times New Roman" panose="02020603050405020304" pitchFamily="18" charset="0"/>
                <a:cs typeface="Times New Roman" panose="02020603050405020304" pitchFamily="18" charset="0"/>
              </a:rPr>
              <a:t> from the first version of Ethereum known as Frontier to the second version of Ethereum called homestead.</a:t>
            </a:r>
          </a:p>
          <a:p>
            <a:pPr algn="just"/>
            <a:r>
              <a:rPr lang="en-IN" dirty="0">
                <a:latin typeface="Times New Roman" panose="02020603050405020304" pitchFamily="18" charset="0"/>
                <a:cs typeface="Times New Roman" panose="02020603050405020304" pitchFamily="18" charset="0"/>
              </a:rPr>
              <a:t>Network fork occurred at block number 2,686,351. This bug resulted in geth </a:t>
            </a:r>
            <a:r>
              <a:rPr lang="en-IN" dirty="0">
                <a:solidFill>
                  <a:srgbClr val="FF0000"/>
                </a:solidFill>
                <a:latin typeface="Times New Roman" panose="02020603050405020304" pitchFamily="18" charset="0"/>
                <a:cs typeface="Times New Roman" panose="02020603050405020304" pitchFamily="18" charset="0"/>
              </a:rPr>
              <a:t>failing to revert </a:t>
            </a:r>
            <a:r>
              <a:rPr lang="en-IN" dirty="0">
                <a:latin typeface="Times New Roman" panose="02020603050405020304" pitchFamily="18" charset="0"/>
                <a:cs typeface="Times New Roman" panose="02020603050405020304" pitchFamily="18" charset="0"/>
              </a:rPr>
              <a:t>empty account deletions in the case of the empty out-of-gas exception.</a:t>
            </a:r>
          </a:p>
          <a:p>
            <a:r>
              <a:rPr lang="en-IN" dirty="0">
                <a:latin typeface="Times New Roman" panose="02020603050405020304" pitchFamily="18" charset="0"/>
                <a:cs typeface="Times New Roman" panose="02020603050405020304" pitchFamily="18" charset="0"/>
              </a:rPr>
              <a:t>This issue was resolved with the release of geth version 1.5.3.</a:t>
            </a:r>
          </a:p>
          <a:p>
            <a:r>
              <a:rPr lang="en-IN" dirty="0">
                <a:effectLst/>
                <a:latin typeface="Times New Roman" panose="02020603050405020304" pitchFamily="18" charset="0"/>
                <a:ea typeface="Calibri" panose="020F0502020204030204" pitchFamily="34" charset="0"/>
                <a:cs typeface="Times New Roman" panose="02020603050405020304" pitchFamily="18" charset="0"/>
              </a:rPr>
              <a:t>A </a:t>
            </a:r>
            <a:r>
              <a:rPr lang="en-IN"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hard fork</a:t>
            </a:r>
            <a:r>
              <a:rPr lang="en-IN"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dirty="0">
                <a:effectLst/>
                <a:latin typeface="Times New Roman" panose="02020603050405020304" pitchFamily="18" charset="0"/>
                <a:ea typeface="Calibri" panose="020F0502020204030204" pitchFamily="34" charset="0"/>
                <a:cs typeface="Times New Roman" panose="02020603050405020304" pitchFamily="18" charset="0"/>
              </a:rPr>
              <a:t>introduces backward-incompatible changes to the blockchain protocol. Nodes that do not upgrade to the new protocol will no longer be part of the same network.</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 </a:t>
            </a:r>
            <a:r>
              <a:rPr lang="en-US" b="1" dirty="0">
                <a:solidFill>
                  <a:srgbClr val="FF0000"/>
                </a:solidFill>
                <a:latin typeface="Times New Roman" panose="02020603050405020304" pitchFamily="18" charset="0"/>
                <a:cs typeface="Times New Roman" panose="02020603050405020304" pitchFamily="18" charset="0"/>
              </a:rPr>
              <a:t>soft fork </a:t>
            </a:r>
            <a:r>
              <a:rPr lang="en-US" dirty="0">
                <a:latin typeface="Times New Roman" panose="02020603050405020304" pitchFamily="18" charset="0"/>
                <a:cs typeface="Times New Roman" panose="02020603050405020304" pitchFamily="18" charset="0"/>
              </a:rPr>
              <a:t>is a backward-compatible upgrade. Older nodes can still participate in the network but may not fully benefit from the new features.</a:t>
            </a: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90480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7D3B8-72E4-5928-3C96-785E1021B255}"/>
              </a:ext>
            </a:extLst>
          </p:cNvPr>
          <p:cNvSpPr>
            <a:spLocks noGrp="1"/>
          </p:cNvSpPr>
          <p:nvPr>
            <p:ph type="title"/>
          </p:nvPr>
        </p:nvSpPr>
        <p:spPr>
          <a:xfrm>
            <a:off x="-1" y="18256"/>
            <a:ext cx="11625943" cy="765516"/>
          </a:xfrm>
        </p:spPr>
        <p:txBody>
          <a:bodyPr/>
          <a:lstStyle/>
          <a:p>
            <a:pPr algn="ctr"/>
            <a:r>
              <a:rPr lang="en-IN" dirty="0">
                <a:solidFill>
                  <a:srgbClr val="FF0000"/>
                </a:solidFill>
                <a:latin typeface="Times New Roman" panose="02020603050405020304" pitchFamily="18" charset="0"/>
                <a:cs typeface="Times New Roman" panose="02020603050405020304" pitchFamily="18" charset="0"/>
              </a:rPr>
              <a:t>Gas</a:t>
            </a:r>
          </a:p>
        </p:txBody>
      </p:sp>
      <p:sp>
        <p:nvSpPr>
          <p:cNvPr id="3" name="Content Placeholder 2">
            <a:extLst>
              <a:ext uri="{FF2B5EF4-FFF2-40B4-BE49-F238E27FC236}">
                <a16:creationId xmlns:a16="http://schemas.microsoft.com/office/drawing/2014/main" id="{F78DA764-43CF-8A80-B8FF-7EB48BA3B5D3}"/>
              </a:ext>
            </a:extLst>
          </p:cNvPr>
          <p:cNvSpPr>
            <a:spLocks noGrp="1"/>
          </p:cNvSpPr>
          <p:nvPr>
            <p:ph idx="1"/>
          </p:nvPr>
        </p:nvSpPr>
        <p:spPr>
          <a:xfrm>
            <a:off x="195943" y="783772"/>
            <a:ext cx="11625943" cy="5976257"/>
          </a:xfrm>
        </p:spPr>
        <p:txBody>
          <a:bodyPr>
            <a:noAutofit/>
          </a:bodyPr>
          <a:lstStyle/>
          <a:p>
            <a:pPr algn="just">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Gas is a fundamental concept in Ethereum, introduced to measure the computational work required to execute operations (transactions or smart contracts) on the Ethereum blockchain. </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It serves as the "crypto fuel" for the network.</a:t>
            </a:r>
          </a:p>
          <a:p>
            <a:pPr algn="just">
              <a:lnSpc>
                <a:spcPct val="107000"/>
              </a:lnSpc>
              <a:spcAft>
                <a:spcPts val="800"/>
              </a:spcAf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How It Works</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514350" indent="-514350" algn="just">
              <a:lnSpc>
                <a:spcPct val="107000"/>
              </a:lnSpc>
              <a:spcAft>
                <a:spcPts val="800"/>
              </a:spcAft>
              <a:buAutoNum type="arabicPeriod"/>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Every operation in Ethereum (e.g., sending ETH, deploying a smart contract, or executing a function) has a predefined gas cost.</a:t>
            </a:r>
          </a:p>
          <a:p>
            <a:pPr marL="0" indent="0" algn="just">
              <a:lnSpc>
                <a:spcPct val="107000"/>
              </a:lnSpc>
              <a:spcAft>
                <a:spcPts val="800"/>
              </a:spcAft>
              <a:buNone/>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2. Users specify:</a:t>
            </a:r>
          </a:p>
          <a:p>
            <a:pPr marL="0" indent="0" algn="just">
              <a:lnSpc>
                <a:spcPct val="107000"/>
              </a:lnSpc>
              <a:spcAft>
                <a:spcPts val="800"/>
              </a:spcAft>
              <a:buNone/>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Gas Limit</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The maximum amount of gas they are willing to pay </a:t>
            </a:r>
          </a:p>
          <a:p>
            <a:pPr marL="0" indent="0" algn="just">
              <a:lnSpc>
                <a:spcPct val="107000"/>
              </a:lnSpc>
              <a:spcAft>
                <a:spcPts val="800"/>
              </a:spcAft>
              <a:buNone/>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for the transaction.</a:t>
            </a:r>
          </a:p>
          <a:p>
            <a:pPr marL="0" indent="0" algn="just">
              <a:lnSpc>
                <a:spcPct val="107000"/>
              </a:lnSpc>
              <a:spcAft>
                <a:spcPts val="800"/>
              </a:spcAft>
              <a:buNone/>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Gas Price</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The amount (in ETH) they are willing to pay per unit of gas</a:t>
            </a: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5" name="Picture 4">
            <a:extLst>
              <a:ext uri="{FF2B5EF4-FFF2-40B4-BE49-F238E27FC236}">
                <a16:creationId xmlns:a16="http://schemas.microsoft.com/office/drawing/2014/main" id="{111090F3-8F0A-D872-2336-A39902650F55}"/>
              </a:ext>
            </a:extLst>
          </p:cNvPr>
          <p:cNvPicPr>
            <a:picLocks noChangeAspect="1"/>
          </p:cNvPicPr>
          <p:nvPr/>
        </p:nvPicPr>
        <p:blipFill>
          <a:blip r:embed="rId2"/>
          <a:stretch>
            <a:fillRect/>
          </a:stretch>
        </p:blipFill>
        <p:spPr>
          <a:xfrm>
            <a:off x="9187542" y="3771900"/>
            <a:ext cx="2634344" cy="2628900"/>
          </a:xfrm>
          <a:prstGeom prst="rect">
            <a:avLst/>
          </a:prstGeom>
        </p:spPr>
      </p:pic>
    </p:spTree>
    <p:extLst>
      <p:ext uri="{BB962C8B-B14F-4D97-AF65-F5344CB8AC3E}">
        <p14:creationId xmlns:p14="http://schemas.microsoft.com/office/powerpoint/2010/main" val="3416164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18256"/>
            <a:ext cx="12230100" cy="841716"/>
          </a:xfrm>
        </p:spPr>
        <p:txBody>
          <a:bodyPr/>
          <a:lstStyle/>
          <a:p>
            <a:pPr algn="ctr"/>
            <a:r>
              <a:rPr lang="en-IN" dirty="0">
                <a:solidFill>
                  <a:srgbClr val="FF0000"/>
                </a:solidFill>
                <a:latin typeface="Times New Roman" panose="02020603050405020304" pitchFamily="18" charset="0"/>
                <a:cs typeface="Times New Roman" panose="02020603050405020304" pitchFamily="18" charset="0"/>
              </a:rPr>
              <a:t>The consensus mechanism</a:t>
            </a:r>
          </a:p>
        </p:txBody>
      </p:sp>
      <p:sp>
        <p:nvSpPr>
          <p:cNvPr id="3" name="Content Placeholder 2"/>
          <p:cNvSpPr>
            <a:spLocks noGrp="1"/>
          </p:cNvSpPr>
          <p:nvPr>
            <p:ph idx="1"/>
          </p:nvPr>
        </p:nvSpPr>
        <p:spPr>
          <a:xfrm>
            <a:off x="609600" y="1343818"/>
            <a:ext cx="10744200" cy="4833145"/>
          </a:xfrm>
        </p:spPr>
        <p:txBody>
          <a:bodyPr/>
          <a:lstStyle/>
          <a:p>
            <a:r>
              <a:rPr lang="en-IN" sz="3600" dirty="0">
                <a:latin typeface="Times New Roman" panose="02020603050405020304" pitchFamily="18" charset="0"/>
                <a:cs typeface="Times New Roman" panose="02020603050405020304" pitchFamily="18" charset="0"/>
              </a:rPr>
              <a:t>The consensus mechanism in Ethereum is based on the </a:t>
            </a:r>
            <a:r>
              <a:rPr lang="en-IN" sz="3600" dirty="0">
                <a:solidFill>
                  <a:srgbClr val="FF0000"/>
                </a:solidFill>
                <a:latin typeface="Times New Roman" panose="02020603050405020304" pitchFamily="18" charset="0"/>
                <a:cs typeface="Times New Roman" panose="02020603050405020304" pitchFamily="18" charset="0"/>
              </a:rPr>
              <a:t>GHOST </a:t>
            </a:r>
            <a:r>
              <a:rPr lang="en-IN" sz="3600" dirty="0">
                <a:latin typeface="Times New Roman" panose="02020603050405020304" pitchFamily="18" charset="0"/>
                <a:cs typeface="Times New Roman" panose="02020603050405020304" pitchFamily="18" charset="0"/>
              </a:rPr>
              <a:t>protocol. (Greedy Heaviest-Observed Sub-Tree)</a:t>
            </a:r>
          </a:p>
          <a:p>
            <a:r>
              <a:rPr lang="en-IN" sz="3600" dirty="0">
                <a:latin typeface="Times New Roman" panose="02020603050405020304" pitchFamily="18" charset="0"/>
                <a:cs typeface="Times New Roman" panose="02020603050405020304" pitchFamily="18" charset="0"/>
              </a:rPr>
              <a:t>Ethereum uses a</a:t>
            </a:r>
            <a:r>
              <a:rPr lang="en-IN" sz="3600" dirty="0">
                <a:solidFill>
                  <a:srgbClr val="FF0000"/>
                </a:solidFill>
                <a:latin typeface="Times New Roman" panose="02020603050405020304" pitchFamily="18" charset="0"/>
                <a:cs typeface="Times New Roman" panose="02020603050405020304" pitchFamily="18" charset="0"/>
              </a:rPr>
              <a:t> simpler </a:t>
            </a:r>
            <a:r>
              <a:rPr lang="en-IN" sz="3600" dirty="0">
                <a:latin typeface="Times New Roman" panose="02020603050405020304" pitchFamily="18" charset="0"/>
                <a:cs typeface="Times New Roman" panose="02020603050405020304" pitchFamily="18" charset="0"/>
              </a:rPr>
              <a:t>version of this protocol.</a:t>
            </a:r>
          </a:p>
          <a:p>
            <a:r>
              <a:rPr lang="en-IN" sz="3600" dirty="0">
                <a:latin typeface="Times New Roman" panose="02020603050405020304" pitchFamily="18" charset="0"/>
                <a:cs typeface="Times New Roman" panose="02020603050405020304" pitchFamily="18" charset="0"/>
              </a:rPr>
              <a:t>Longest chain, as the longest chain must have been built by consuming </a:t>
            </a:r>
            <a:r>
              <a:rPr lang="en-IN" sz="3600" dirty="0">
                <a:solidFill>
                  <a:srgbClr val="FF0000"/>
                </a:solidFill>
                <a:latin typeface="Times New Roman" panose="02020603050405020304" pitchFamily="18" charset="0"/>
                <a:cs typeface="Times New Roman" panose="02020603050405020304" pitchFamily="18" charset="0"/>
              </a:rPr>
              <a:t>adequate mining effort</a:t>
            </a:r>
            <a:r>
              <a:rPr lang="en-IN" sz="3600" dirty="0">
                <a:latin typeface="Times New Roman" panose="02020603050405020304" pitchFamily="18" charset="0"/>
                <a:cs typeface="Times New Roman" panose="02020603050405020304" pitchFamily="18" charset="0"/>
              </a:rPr>
              <a:t>.</a:t>
            </a:r>
          </a:p>
          <a:p>
            <a:r>
              <a:rPr lang="en-IN" sz="3600" dirty="0">
                <a:latin typeface="Times New Roman" panose="02020603050405020304" pitchFamily="18" charset="0"/>
                <a:cs typeface="Times New Roman" panose="02020603050405020304" pitchFamily="18" charset="0"/>
              </a:rPr>
              <a:t>In GHOST, stale blocks are added in calculations to figure out the longest and heaviest chain of blocks.</a:t>
            </a:r>
          </a:p>
          <a:p>
            <a:endParaRPr lang="en-IN" dirty="0"/>
          </a:p>
          <a:p>
            <a:endParaRPr lang="en-IN" dirty="0"/>
          </a:p>
        </p:txBody>
      </p:sp>
    </p:spTree>
    <p:extLst>
      <p:ext uri="{BB962C8B-B14F-4D97-AF65-F5344CB8AC3E}">
        <p14:creationId xmlns:p14="http://schemas.microsoft.com/office/powerpoint/2010/main" val="150166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E0AF6B-6A37-637F-B03B-4AA395F2D14F}"/>
              </a:ext>
            </a:extLst>
          </p:cNvPr>
          <p:cNvSpPr>
            <a:spLocks noGrp="1"/>
          </p:cNvSpPr>
          <p:nvPr>
            <p:ph idx="1"/>
          </p:nvPr>
        </p:nvSpPr>
        <p:spPr>
          <a:xfrm>
            <a:off x="359230" y="0"/>
            <a:ext cx="11587932" cy="6694714"/>
          </a:xfrm>
        </p:spPr>
        <p:txBody>
          <a:bodyPr>
            <a:noAutofit/>
          </a:bodyPr>
          <a:lstStyle/>
          <a:p>
            <a:pPr>
              <a:lnSpc>
                <a:spcPct val="107000"/>
              </a:lnSpc>
              <a:spcAft>
                <a:spcPts val="800"/>
              </a:spcAft>
            </a:pPr>
            <a:r>
              <a:rPr lang="en-IN" b="1" u="sng" kern="100" dirty="0">
                <a:effectLst/>
                <a:latin typeface="Times New Roman" panose="02020603050405020304" pitchFamily="18" charset="0"/>
                <a:ea typeface="Calibri" panose="020F0502020204030204" pitchFamily="34" charset="0"/>
                <a:cs typeface="Times New Roman" panose="02020603050405020304" pitchFamily="18" charset="0"/>
              </a:rPr>
              <a:t>Example for longest chain rule</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If there are two competing chains:</a:t>
            </a:r>
          </a:p>
          <a:p>
            <a:pPr marL="342900" lvl="0" indent="-342900">
              <a:lnSpc>
                <a:spcPct val="107000"/>
              </a:lnSpc>
              <a:buSzPts val="1000"/>
              <a:buFont typeface="Symbol" panose="05050102010706020507" pitchFamily="18" charset="2"/>
              <a:buChar char=""/>
              <a:tabLst>
                <a:tab pos="457200" algn="l"/>
              </a:tabLs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Chain A: 100 blocks.</a:t>
            </a: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Chain B: 101 blocks.</a:t>
            </a:r>
          </a:p>
          <a:p>
            <a:pPr>
              <a:lnSpc>
                <a:spcPct val="107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Using the longest chain rule, Chain B is considered valid.</a:t>
            </a:r>
          </a:p>
          <a:p>
            <a:pPr>
              <a:lnSpc>
                <a:spcPct val="107000"/>
              </a:lnSpc>
              <a:spcAft>
                <a:spcPts val="800"/>
              </a:spcAft>
            </a:pPr>
            <a:r>
              <a:rPr lang="en-IN" b="1" u="sng" kern="100" dirty="0">
                <a:effectLst/>
                <a:latin typeface="Times New Roman" panose="02020603050405020304" pitchFamily="18" charset="0"/>
                <a:ea typeface="Calibri" panose="020F0502020204030204" pitchFamily="34" charset="0"/>
                <a:cs typeface="Times New Roman" panose="02020603050405020304" pitchFamily="18" charset="0"/>
              </a:rPr>
              <a:t>Example for heaviest chain rule:</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If there are two competing chains:</a:t>
            </a: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Chain A: 100 blocks with a total computational weight of 500.</a:t>
            </a: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Chain B: 101 blocks with a total computational weight of 450.</a:t>
            </a:r>
          </a:p>
          <a:p>
            <a:pPr marL="0" lvl="0" indent="0">
              <a:lnSpc>
                <a:spcPct val="107000"/>
              </a:lnSpc>
              <a:spcAft>
                <a:spcPts val="800"/>
              </a:spcAft>
              <a:buSzPts val="1000"/>
              <a:buNone/>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A is the heaviest chain</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2727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3C3F8FE-E410-EC6D-1551-9092028684BA}"/>
              </a:ext>
            </a:extLst>
          </p:cNvPr>
          <p:cNvPicPr>
            <a:picLocks noGrp="1" noChangeAspect="1"/>
          </p:cNvPicPr>
          <p:nvPr>
            <p:ph idx="1"/>
          </p:nvPr>
        </p:nvPicPr>
        <p:blipFill>
          <a:blip r:embed="rId2"/>
          <a:stretch>
            <a:fillRect/>
          </a:stretch>
        </p:blipFill>
        <p:spPr>
          <a:xfrm>
            <a:off x="419726" y="1108074"/>
            <a:ext cx="11077730" cy="4932961"/>
          </a:xfrm>
          <a:prstGeom prst="rect">
            <a:avLst/>
          </a:prstGeom>
        </p:spPr>
      </p:pic>
    </p:spTree>
    <p:extLst>
      <p:ext uri="{BB962C8B-B14F-4D97-AF65-F5344CB8AC3E}">
        <p14:creationId xmlns:p14="http://schemas.microsoft.com/office/powerpoint/2010/main" val="3415744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393EC6-BE24-A063-F0E9-9B471A3DD126}"/>
              </a:ext>
            </a:extLst>
          </p:cNvPr>
          <p:cNvSpPr>
            <a:spLocks noGrp="1"/>
          </p:cNvSpPr>
          <p:nvPr>
            <p:ph idx="1"/>
          </p:nvPr>
        </p:nvSpPr>
        <p:spPr>
          <a:xfrm>
            <a:off x="696686" y="653143"/>
            <a:ext cx="10657114" cy="5523820"/>
          </a:xfrm>
        </p:spPr>
        <p:txBody>
          <a:bodyPr/>
          <a:lstStyle/>
          <a:p>
            <a:pPr algn="just">
              <a:buNone/>
            </a:pPr>
            <a:r>
              <a:rPr lang="en-IN" sz="3200" b="1" dirty="0">
                <a:latin typeface="Times New Roman" panose="02020603050405020304" pitchFamily="18" charset="0"/>
                <a:cs typeface="Times New Roman" panose="02020603050405020304" pitchFamily="18" charset="0"/>
              </a:rPr>
              <a:t>1. Understanding Block Time and Network Propagation</a:t>
            </a:r>
          </a:p>
          <a:p>
            <a:pPr algn="just">
              <a:buNone/>
            </a:pPr>
            <a:r>
              <a:rPr lang="en-IN" sz="3200" dirty="0">
                <a:latin typeface="Times New Roman" panose="02020603050405020304" pitchFamily="18" charset="0"/>
                <a:cs typeface="Times New Roman" panose="02020603050405020304" pitchFamily="18" charset="0"/>
              </a:rPr>
              <a:t>Every time a block is mined, it must be </a:t>
            </a:r>
            <a:r>
              <a:rPr lang="en-IN" sz="3200" b="1" dirty="0">
                <a:latin typeface="Times New Roman" panose="02020603050405020304" pitchFamily="18" charset="0"/>
                <a:cs typeface="Times New Roman" panose="02020603050405020304" pitchFamily="18" charset="0"/>
              </a:rPr>
              <a:t>shared across the network</a:t>
            </a:r>
            <a:r>
              <a:rPr lang="en-IN" sz="3200" dirty="0">
                <a:latin typeface="Times New Roman" panose="02020603050405020304" pitchFamily="18" charset="0"/>
                <a:cs typeface="Times New Roman" panose="02020603050405020304" pitchFamily="18" charset="0"/>
              </a:rPr>
              <a:t>. All nodes need to:</a:t>
            </a:r>
          </a:p>
          <a:p>
            <a:pPr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Receive it</a:t>
            </a:r>
          </a:p>
          <a:p>
            <a:pPr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Verify it</a:t>
            </a:r>
          </a:p>
          <a:p>
            <a:pPr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Add it to their local copy of the blockchain</a:t>
            </a:r>
          </a:p>
          <a:p>
            <a:pPr algn="just"/>
            <a:r>
              <a:rPr lang="en-IN" sz="3200" dirty="0">
                <a:latin typeface="Times New Roman" panose="02020603050405020304" pitchFamily="18" charset="0"/>
                <a:cs typeface="Times New Roman" panose="02020603050405020304" pitchFamily="18" charset="0"/>
              </a:rPr>
              <a:t>This is called </a:t>
            </a:r>
            <a:r>
              <a:rPr lang="en-IN" sz="3200" b="1" dirty="0">
                <a:latin typeface="Times New Roman" panose="02020603050405020304" pitchFamily="18" charset="0"/>
                <a:cs typeface="Times New Roman" panose="02020603050405020304" pitchFamily="18" charset="0"/>
              </a:rPr>
              <a:t>network propagation</a:t>
            </a:r>
            <a:r>
              <a:rPr lang="en-IN" sz="3200" dirty="0">
                <a:latin typeface="Times New Roman" panose="02020603050405020304" pitchFamily="18" charset="0"/>
                <a:cs typeface="Times New Roman" panose="02020603050405020304" pitchFamily="18" charset="0"/>
              </a:rPr>
              <a:t>.</a:t>
            </a:r>
          </a:p>
          <a:p>
            <a:pPr marL="0" indent="0" algn="just">
              <a:buNone/>
            </a:pPr>
            <a:r>
              <a:rPr lang="en-IN" sz="3200" dirty="0">
                <a:latin typeface="Times New Roman" panose="02020603050405020304" pitchFamily="18" charset="0"/>
                <a:cs typeface="Times New Roman" panose="02020603050405020304" pitchFamily="18" charset="0"/>
              </a:rPr>
              <a:t>The faster the block time, the less time the network has to agree on the latest block before the next one might already be mined.</a:t>
            </a:r>
          </a:p>
          <a:p>
            <a:endParaRPr lang="en-IN" dirty="0"/>
          </a:p>
        </p:txBody>
      </p:sp>
    </p:spTree>
    <p:extLst>
      <p:ext uri="{BB962C8B-B14F-4D97-AF65-F5344CB8AC3E}">
        <p14:creationId xmlns:p14="http://schemas.microsoft.com/office/powerpoint/2010/main" val="17862505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2E5EA1-5F4F-F934-D412-F41CFD79F1D7}"/>
              </a:ext>
            </a:extLst>
          </p:cNvPr>
          <p:cNvSpPr>
            <a:spLocks noGrp="1"/>
          </p:cNvSpPr>
          <p:nvPr>
            <p:ph idx="1"/>
          </p:nvPr>
        </p:nvSpPr>
        <p:spPr>
          <a:xfrm>
            <a:off x="664028" y="522514"/>
            <a:ext cx="10689771" cy="5654449"/>
          </a:xfrm>
        </p:spPr>
        <p:txBody>
          <a:bodyPr/>
          <a:lstStyle/>
          <a:p>
            <a:pPr>
              <a:buNone/>
            </a:pPr>
            <a:r>
              <a:rPr lang="en-IN" sz="3200" b="1" dirty="0">
                <a:latin typeface="Times New Roman" panose="02020603050405020304" pitchFamily="18" charset="0"/>
                <a:cs typeface="Times New Roman" panose="02020603050405020304" pitchFamily="18" charset="0"/>
              </a:rPr>
              <a:t>2. What Happens with Fast Block Times?</a:t>
            </a:r>
          </a:p>
          <a:p>
            <a:pPr>
              <a:buNone/>
            </a:pPr>
            <a:r>
              <a:rPr lang="en-IN" sz="3200" b="1" dirty="0">
                <a:latin typeface="Times New Roman" panose="02020603050405020304" pitchFamily="18" charset="0"/>
                <a:cs typeface="Times New Roman" panose="02020603050405020304" pitchFamily="18" charset="0"/>
              </a:rPr>
              <a:t>Example:</a:t>
            </a:r>
          </a:p>
          <a:p>
            <a:pPr>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Let’s say </a:t>
            </a:r>
            <a:r>
              <a:rPr lang="en-IN" sz="3200" b="1" dirty="0">
                <a:latin typeface="Times New Roman" panose="02020603050405020304" pitchFamily="18" charset="0"/>
                <a:cs typeface="Times New Roman" panose="02020603050405020304" pitchFamily="18" charset="0"/>
              </a:rPr>
              <a:t>Miner A</a:t>
            </a:r>
            <a:r>
              <a:rPr lang="en-IN" sz="3200" dirty="0">
                <a:latin typeface="Times New Roman" panose="02020603050405020304" pitchFamily="18" charset="0"/>
                <a:cs typeface="Times New Roman" panose="02020603050405020304" pitchFamily="18" charset="0"/>
              </a:rPr>
              <a:t> finds a new block and begins propagating it.</a:t>
            </a:r>
          </a:p>
          <a:p>
            <a:pPr>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Before </a:t>
            </a:r>
            <a:r>
              <a:rPr lang="en-IN" sz="3200" b="1" dirty="0">
                <a:latin typeface="Times New Roman" panose="02020603050405020304" pitchFamily="18" charset="0"/>
                <a:cs typeface="Times New Roman" panose="02020603050405020304" pitchFamily="18" charset="0"/>
              </a:rPr>
              <a:t>Miner B</a:t>
            </a:r>
            <a:r>
              <a:rPr lang="en-IN" sz="3200" dirty="0">
                <a:latin typeface="Times New Roman" panose="02020603050405020304" pitchFamily="18" charset="0"/>
                <a:cs typeface="Times New Roman" panose="02020603050405020304" pitchFamily="18" charset="0"/>
              </a:rPr>
              <a:t> receives Miner A’s block, they </a:t>
            </a:r>
            <a:r>
              <a:rPr lang="en-IN" sz="3200" b="1" dirty="0">
                <a:latin typeface="Times New Roman" panose="02020603050405020304" pitchFamily="18" charset="0"/>
                <a:cs typeface="Times New Roman" panose="02020603050405020304" pitchFamily="18" charset="0"/>
              </a:rPr>
              <a:t>also mine a valid block</a:t>
            </a:r>
            <a:r>
              <a:rPr lang="en-IN" sz="3200" dirty="0">
                <a:latin typeface="Times New Roman" panose="02020603050405020304" pitchFamily="18" charset="0"/>
                <a:cs typeface="Times New Roman" panose="02020603050405020304" pitchFamily="18" charset="0"/>
              </a:rPr>
              <a:t> (almost simultaneously).</a:t>
            </a:r>
          </a:p>
          <a:p>
            <a:pPr>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Now we have </a:t>
            </a:r>
            <a:r>
              <a:rPr lang="en-IN" sz="3200" b="1" dirty="0">
                <a:latin typeface="Times New Roman" panose="02020603050405020304" pitchFamily="18" charset="0"/>
                <a:cs typeface="Times New Roman" panose="02020603050405020304" pitchFamily="18" charset="0"/>
              </a:rPr>
              <a:t>two valid blocks</a:t>
            </a:r>
            <a:r>
              <a:rPr lang="en-IN" sz="3200" dirty="0">
                <a:latin typeface="Times New Roman" panose="02020603050405020304" pitchFamily="18" charset="0"/>
                <a:cs typeface="Times New Roman" panose="02020603050405020304" pitchFamily="18" charset="0"/>
              </a:rPr>
              <a:t> extending from the same parent → this is a </a:t>
            </a:r>
            <a:r>
              <a:rPr lang="en-IN" sz="3200" b="1" dirty="0">
                <a:latin typeface="Times New Roman" panose="02020603050405020304" pitchFamily="18" charset="0"/>
                <a:cs typeface="Times New Roman" panose="02020603050405020304" pitchFamily="18" charset="0"/>
              </a:rPr>
              <a:t>temporary fork</a:t>
            </a:r>
            <a:r>
              <a:rPr lang="en-IN" sz="3200" dirty="0">
                <a:latin typeface="Times New Roman" panose="02020603050405020304" pitchFamily="18" charset="0"/>
                <a:cs typeface="Times New Roman" panose="02020603050405020304" pitchFamily="18" charset="0"/>
              </a:rPr>
              <a:t>.</a:t>
            </a:r>
          </a:p>
          <a:p>
            <a:r>
              <a:rPr lang="en-IN" sz="3200" dirty="0">
                <a:latin typeface="Times New Roman" panose="02020603050405020304" pitchFamily="18" charset="0"/>
                <a:cs typeface="Times New Roman" panose="02020603050405020304" pitchFamily="18" charset="0"/>
              </a:rPr>
              <a:t>Each miner’s local network may see a different block as the "latest" one until a </a:t>
            </a:r>
            <a:r>
              <a:rPr lang="en-IN" sz="3200" b="1" dirty="0">
                <a:latin typeface="Times New Roman" panose="02020603050405020304" pitchFamily="18" charset="0"/>
                <a:cs typeface="Times New Roman" panose="02020603050405020304" pitchFamily="18" charset="0"/>
              </a:rPr>
              <a:t>third block is mined</a:t>
            </a:r>
            <a:r>
              <a:rPr lang="en-IN" sz="3200" dirty="0">
                <a:latin typeface="Times New Roman" panose="02020603050405020304" pitchFamily="18" charset="0"/>
                <a:cs typeface="Times New Roman" panose="02020603050405020304" pitchFamily="18" charset="0"/>
              </a:rPr>
              <a:t> and the network agrees on which chain to follow.</a:t>
            </a:r>
          </a:p>
          <a:p>
            <a:endParaRPr lang="en-IN" dirty="0"/>
          </a:p>
        </p:txBody>
      </p:sp>
    </p:spTree>
    <p:extLst>
      <p:ext uri="{BB962C8B-B14F-4D97-AF65-F5344CB8AC3E}">
        <p14:creationId xmlns:p14="http://schemas.microsoft.com/office/powerpoint/2010/main" val="12874690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D37E33-6C08-5666-8FB9-C7276599449B}"/>
              </a:ext>
            </a:extLst>
          </p:cNvPr>
          <p:cNvSpPr>
            <a:spLocks noGrp="1"/>
          </p:cNvSpPr>
          <p:nvPr>
            <p:ph idx="1"/>
          </p:nvPr>
        </p:nvSpPr>
        <p:spPr>
          <a:xfrm>
            <a:off x="729343" y="718457"/>
            <a:ext cx="10624457" cy="5458506"/>
          </a:xfrm>
        </p:spPr>
        <p:txBody>
          <a:bodyPr/>
          <a:lstStyle/>
          <a:p>
            <a:pPr algn="just">
              <a:buNone/>
            </a:pPr>
            <a:r>
              <a:rPr lang="en-IN" sz="3200" b="1" dirty="0">
                <a:latin typeface="Times New Roman" panose="02020603050405020304" pitchFamily="18" charset="0"/>
                <a:cs typeface="Times New Roman" panose="02020603050405020304" pitchFamily="18" charset="0"/>
              </a:rPr>
              <a:t>3. Result: Stale or Orphaned Blocks</a:t>
            </a:r>
          </a:p>
          <a:p>
            <a:pPr algn="just">
              <a:buNone/>
            </a:pPr>
            <a:r>
              <a:rPr lang="en-IN" sz="3200" dirty="0">
                <a:latin typeface="Times New Roman" panose="02020603050405020304" pitchFamily="18" charset="0"/>
                <a:cs typeface="Times New Roman" panose="02020603050405020304" pitchFamily="18" charset="0"/>
              </a:rPr>
              <a:t>Once the network </a:t>
            </a:r>
            <a:r>
              <a:rPr lang="en-IN" sz="3200" b="1" dirty="0">
                <a:latin typeface="Times New Roman" panose="02020603050405020304" pitchFamily="18" charset="0"/>
                <a:cs typeface="Times New Roman" panose="02020603050405020304" pitchFamily="18" charset="0"/>
              </a:rPr>
              <a:t>settles on one chain</a:t>
            </a:r>
            <a:r>
              <a:rPr lang="en-IN" sz="3200" dirty="0">
                <a:latin typeface="Times New Roman" panose="02020603050405020304" pitchFamily="18" charset="0"/>
                <a:cs typeface="Times New Roman" panose="02020603050405020304" pitchFamily="18" charset="0"/>
              </a:rPr>
              <a:t>, the competing block (that lost the race) becomes a:</a:t>
            </a:r>
          </a:p>
          <a:p>
            <a:pPr algn="just">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Stale block</a:t>
            </a:r>
            <a:r>
              <a:rPr lang="en-IN" sz="3200" dirty="0">
                <a:latin typeface="Times New Roman" panose="02020603050405020304" pitchFamily="18" charset="0"/>
                <a:cs typeface="Times New Roman" panose="02020603050405020304" pitchFamily="18" charset="0"/>
              </a:rPr>
              <a:t> (general term)</a:t>
            </a:r>
          </a:p>
          <a:p>
            <a:pPr algn="just">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Orphan block</a:t>
            </a:r>
            <a:r>
              <a:rPr lang="en-IN" sz="3200" dirty="0">
                <a:latin typeface="Times New Roman" panose="02020603050405020304" pitchFamily="18" charset="0"/>
                <a:cs typeface="Times New Roman" panose="02020603050405020304" pitchFamily="18" charset="0"/>
              </a:rPr>
              <a:t> (in Bitcoin)</a:t>
            </a:r>
          </a:p>
          <a:p>
            <a:pPr algn="just">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Uncle block</a:t>
            </a:r>
            <a:r>
              <a:rPr lang="en-IN" sz="3200" dirty="0">
                <a:latin typeface="Times New Roman" panose="02020603050405020304" pitchFamily="18" charset="0"/>
                <a:cs typeface="Times New Roman" panose="02020603050405020304" pitchFamily="18" charset="0"/>
              </a:rPr>
              <a:t> (in Ethereum)</a:t>
            </a:r>
          </a:p>
          <a:p>
            <a:pPr algn="just"/>
            <a:r>
              <a:rPr lang="en-IN" sz="3200" dirty="0">
                <a:latin typeface="Times New Roman" panose="02020603050405020304" pitchFamily="18" charset="0"/>
                <a:cs typeface="Times New Roman" panose="02020603050405020304" pitchFamily="18" charset="0"/>
              </a:rPr>
              <a:t>Even though the block is valid, it’s </a:t>
            </a:r>
            <a:r>
              <a:rPr lang="en-IN" sz="3200" b="1" dirty="0">
                <a:latin typeface="Times New Roman" panose="02020603050405020304" pitchFamily="18" charset="0"/>
                <a:cs typeface="Times New Roman" panose="02020603050405020304" pitchFamily="18" charset="0"/>
              </a:rPr>
              <a:t>not part of the main chain</a:t>
            </a:r>
            <a:r>
              <a:rPr lang="en-IN" sz="3200" dirty="0">
                <a:latin typeface="Times New Roman" panose="02020603050405020304" pitchFamily="18" charset="0"/>
                <a:cs typeface="Times New Roman" panose="02020603050405020304" pitchFamily="18" charset="0"/>
              </a:rPr>
              <a:t> anymore.</a:t>
            </a:r>
          </a:p>
          <a:p>
            <a:endParaRPr lang="en-IN" dirty="0"/>
          </a:p>
        </p:txBody>
      </p:sp>
    </p:spTree>
    <p:extLst>
      <p:ext uri="{BB962C8B-B14F-4D97-AF65-F5344CB8AC3E}">
        <p14:creationId xmlns:p14="http://schemas.microsoft.com/office/powerpoint/2010/main" val="3695091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AD38BC-5BEA-704C-8922-7F85A92DCF8F}"/>
              </a:ext>
            </a:extLst>
          </p:cNvPr>
          <p:cNvSpPr>
            <a:spLocks noGrp="1"/>
          </p:cNvSpPr>
          <p:nvPr>
            <p:ph idx="1"/>
          </p:nvPr>
        </p:nvSpPr>
        <p:spPr>
          <a:xfrm>
            <a:off x="500743" y="413658"/>
            <a:ext cx="10853057" cy="5763306"/>
          </a:xfrm>
        </p:spPr>
        <p:txBody>
          <a:bodyPr/>
          <a:lstStyle/>
          <a:p>
            <a:pPr algn="just">
              <a:buNone/>
            </a:pPr>
            <a:r>
              <a:rPr lang="en-IN" b="1" dirty="0"/>
              <a:t>4. </a:t>
            </a:r>
            <a:r>
              <a:rPr lang="en-IN" sz="3200" b="1" dirty="0">
                <a:latin typeface="Times New Roman" panose="02020603050405020304" pitchFamily="18" charset="0"/>
                <a:cs typeface="Times New Roman" panose="02020603050405020304" pitchFamily="18" charset="0"/>
              </a:rPr>
              <a:t>Ethereum's Innovation: Uncles (</a:t>
            </a:r>
            <a:r>
              <a:rPr lang="en-IN" sz="3200" b="1" dirty="0" err="1">
                <a:latin typeface="Times New Roman" panose="02020603050405020304" pitchFamily="18" charset="0"/>
                <a:cs typeface="Times New Roman" panose="02020603050405020304" pitchFamily="18" charset="0"/>
              </a:rPr>
              <a:t>Ommers</a:t>
            </a:r>
            <a:r>
              <a:rPr lang="en-IN" sz="3200" b="1" dirty="0">
                <a:latin typeface="Times New Roman" panose="02020603050405020304" pitchFamily="18" charset="0"/>
                <a:cs typeface="Times New Roman" panose="02020603050405020304" pitchFamily="18" charset="0"/>
              </a:rPr>
              <a:t>)</a:t>
            </a:r>
          </a:p>
          <a:p>
            <a:pPr algn="just">
              <a:buNone/>
            </a:pPr>
            <a:r>
              <a:rPr lang="en-IN" sz="3200" dirty="0">
                <a:latin typeface="Times New Roman" panose="02020603050405020304" pitchFamily="18" charset="0"/>
                <a:cs typeface="Times New Roman" panose="02020603050405020304" pitchFamily="18" charset="0"/>
              </a:rPr>
              <a:t>Ethereum doesn’t discard these blocks entirely. Instead, it:</a:t>
            </a:r>
          </a:p>
          <a:p>
            <a:pPr algn="just">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Includes them in later blocks</a:t>
            </a:r>
            <a:r>
              <a:rPr lang="en-IN" sz="3200" dirty="0">
                <a:latin typeface="Times New Roman" panose="02020603050405020304" pitchFamily="18" charset="0"/>
                <a:cs typeface="Times New Roman" panose="02020603050405020304" pitchFamily="18" charset="0"/>
              </a:rPr>
              <a:t> as </a:t>
            </a:r>
            <a:r>
              <a:rPr lang="en-IN" sz="3200" b="1" dirty="0">
                <a:latin typeface="Times New Roman" panose="02020603050405020304" pitchFamily="18" charset="0"/>
                <a:cs typeface="Times New Roman" panose="02020603050405020304" pitchFamily="18" charset="0"/>
              </a:rPr>
              <a:t>uncles</a:t>
            </a:r>
            <a:endParaRPr lang="en-IN" sz="3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Rewards the uncle miner</a:t>
            </a:r>
            <a:r>
              <a:rPr lang="en-IN" sz="3200" dirty="0">
                <a:latin typeface="Times New Roman" panose="02020603050405020304" pitchFamily="18" charset="0"/>
                <a:cs typeface="Times New Roman" panose="02020603050405020304" pitchFamily="18" charset="0"/>
              </a:rPr>
              <a:t> (though less than the full reward)</a:t>
            </a:r>
          </a:p>
          <a:p>
            <a:pPr algn="just">
              <a:buFont typeface="Arial" panose="020B0604020202020204" pitchFamily="34" charset="0"/>
              <a:buChar char="•"/>
            </a:pPr>
            <a:r>
              <a:rPr lang="en-IN" sz="3200" b="1" dirty="0">
                <a:latin typeface="Times New Roman" panose="02020603050405020304" pitchFamily="18" charset="0"/>
                <a:cs typeface="Times New Roman" panose="02020603050405020304" pitchFamily="18" charset="0"/>
              </a:rPr>
              <a:t>Rewards the block miner</a:t>
            </a:r>
            <a:r>
              <a:rPr lang="en-IN" sz="3200" dirty="0">
                <a:latin typeface="Times New Roman" panose="02020603050405020304" pitchFamily="18" charset="0"/>
                <a:cs typeface="Times New Roman" panose="02020603050405020304" pitchFamily="18" charset="0"/>
              </a:rPr>
              <a:t> who includes the uncle</a:t>
            </a:r>
          </a:p>
          <a:p>
            <a:pPr marL="0" indent="0" algn="just">
              <a:buNone/>
            </a:pPr>
            <a:endParaRPr lang="en-IN" dirty="0"/>
          </a:p>
          <a:p>
            <a:endParaRPr lang="en-IN" dirty="0"/>
          </a:p>
        </p:txBody>
      </p:sp>
      <p:pic>
        <p:nvPicPr>
          <p:cNvPr id="5" name="Picture 4">
            <a:extLst>
              <a:ext uri="{FF2B5EF4-FFF2-40B4-BE49-F238E27FC236}">
                <a16:creationId xmlns:a16="http://schemas.microsoft.com/office/drawing/2014/main" id="{D6C97B86-4B52-5A76-E69C-5EDE76F90E88}"/>
              </a:ext>
            </a:extLst>
          </p:cNvPr>
          <p:cNvPicPr>
            <a:picLocks noChangeAspect="1"/>
          </p:cNvPicPr>
          <p:nvPr/>
        </p:nvPicPr>
        <p:blipFill>
          <a:blip r:embed="rId2"/>
          <a:stretch>
            <a:fillRect/>
          </a:stretch>
        </p:blipFill>
        <p:spPr>
          <a:xfrm>
            <a:off x="1181100" y="3586163"/>
            <a:ext cx="9492342" cy="2416629"/>
          </a:xfrm>
          <a:prstGeom prst="rect">
            <a:avLst/>
          </a:prstGeom>
        </p:spPr>
      </p:pic>
    </p:spTree>
    <p:extLst>
      <p:ext uri="{BB962C8B-B14F-4D97-AF65-F5344CB8AC3E}">
        <p14:creationId xmlns:p14="http://schemas.microsoft.com/office/powerpoint/2010/main" val="16388804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0486C25-B0EA-D9B7-439B-2FC63CDF0783}"/>
              </a:ext>
            </a:extLst>
          </p:cNvPr>
          <p:cNvPicPr>
            <a:picLocks noGrp="1" noChangeAspect="1"/>
          </p:cNvPicPr>
          <p:nvPr>
            <p:ph idx="1"/>
          </p:nvPr>
        </p:nvPicPr>
        <p:blipFill>
          <a:blip r:embed="rId2"/>
          <a:stretch>
            <a:fillRect/>
          </a:stretch>
        </p:blipFill>
        <p:spPr>
          <a:xfrm>
            <a:off x="1763486" y="1698172"/>
            <a:ext cx="9372600" cy="3461656"/>
          </a:xfrm>
        </p:spPr>
      </p:pic>
    </p:spTree>
    <p:extLst>
      <p:ext uri="{BB962C8B-B14F-4D97-AF65-F5344CB8AC3E}">
        <p14:creationId xmlns:p14="http://schemas.microsoft.com/office/powerpoint/2010/main" val="683993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D685B-DC56-0569-5F64-61639F35C37D}"/>
              </a:ext>
            </a:extLst>
          </p:cNvPr>
          <p:cNvSpPr>
            <a:spLocks noGrp="1"/>
          </p:cNvSpPr>
          <p:nvPr>
            <p:ph type="title"/>
          </p:nvPr>
        </p:nvSpPr>
        <p:spPr>
          <a:xfrm>
            <a:off x="162232" y="82097"/>
            <a:ext cx="11191568" cy="726256"/>
          </a:xfrm>
        </p:spPr>
        <p:txBody>
          <a:bodyPr>
            <a:normAutofit/>
          </a:bodyPr>
          <a:lstStyle/>
          <a:p>
            <a:pPr algn="ctr"/>
            <a:r>
              <a:rPr lang="en-IN" b="1" i="0" u="none" strike="noStrike" baseline="0" dirty="0">
                <a:solidFill>
                  <a:srgbClr val="FF0000"/>
                </a:solidFill>
                <a:latin typeface="Times New Roman" panose="02020603050405020304" pitchFamily="18" charset="0"/>
                <a:cs typeface="Times New Roman" panose="02020603050405020304" pitchFamily="18" charset="0"/>
              </a:rPr>
              <a:t>The world state</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8D3E741-435C-DCA3-93F3-F935C73C9F56}"/>
              </a:ext>
            </a:extLst>
          </p:cNvPr>
          <p:cNvSpPr>
            <a:spLocks noGrp="1"/>
          </p:cNvSpPr>
          <p:nvPr>
            <p:ph idx="1"/>
          </p:nvPr>
        </p:nvSpPr>
        <p:spPr>
          <a:xfrm>
            <a:off x="315686" y="808352"/>
            <a:ext cx="11714082" cy="5810161"/>
          </a:xfrm>
        </p:spPr>
        <p:txBody>
          <a:bodyPr>
            <a:noAutofit/>
          </a:bodyPr>
          <a:lstStyle/>
          <a:p>
            <a:pPr algn="just"/>
            <a:r>
              <a:rPr lang="en-IN" b="0" i="0" u="none" strike="noStrike" baseline="0" dirty="0">
                <a:latin typeface="Times New Roman" panose="02020603050405020304" pitchFamily="18" charset="0"/>
                <a:cs typeface="Times New Roman" panose="02020603050405020304" pitchFamily="18" charset="0"/>
              </a:rPr>
              <a:t>The world state in Ethereum represents the global state of the Ethereum blockchain. </a:t>
            </a:r>
          </a:p>
          <a:p>
            <a:pPr algn="just"/>
            <a:r>
              <a:rPr lang="en-IN" b="0" i="0" u="none" strike="noStrike" baseline="0" dirty="0">
                <a:latin typeface="Times New Roman" panose="02020603050405020304" pitchFamily="18" charset="0"/>
                <a:cs typeface="Times New Roman" panose="02020603050405020304" pitchFamily="18" charset="0"/>
              </a:rPr>
              <a:t>It is basically a mapping between Ethereum addresses and account states.</a:t>
            </a:r>
          </a:p>
          <a:p>
            <a:pPr algn="just"/>
            <a:r>
              <a:rPr lang="en-IN" b="0" i="0" u="none" strike="noStrike" baseline="0" dirty="0">
                <a:latin typeface="Times New Roman" panose="02020603050405020304" pitchFamily="18" charset="0"/>
                <a:cs typeface="Times New Roman" panose="02020603050405020304" pitchFamily="18" charset="0"/>
              </a:rPr>
              <a:t>The addresses are 20bytes long.</a:t>
            </a:r>
          </a:p>
          <a:p>
            <a:pPr algn="just"/>
            <a:r>
              <a:rPr lang="en-IN" b="0" i="0" u="none" strike="noStrike" baseline="0" dirty="0">
                <a:latin typeface="Times New Roman" panose="02020603050405020304" pitchFamily="18" charset="0"/>
                <a:cs typeface="Times New Roman" panose="02020603050405020304" pitchFamily="18" charset="0"/>
              </a:rPr>
              <a:t> This mapping is a data structure that is serialized using </a:t>
            </a:r>
            <a:r>
              <a:rPr lang="en-IN" b="1" i="0" u="none" strike="noStrike" baseline="0" dirty="0">
                <a:latin typeface="Times New Roman" panose="02020603050405020304" pitchFamily="18" charset="0"/>
                <a:cs typeface="Times New Roman" panose="02020603050405020304" pitchFamily="18" charset="0"/>
              </a:rPr>
              <a:t>Recursive Length Prefix </a:t>
            </a:r>
            <a:r>
              <a:rPr lang="en-IN" b="0" i="0" u="none" strike="noStrike" baseline="0" dirty="0">
                <a:latin typeface="Times New Roman" panose="02020603050405020304" pitchFamily="18" charset="0"/>
                <a:cs typeface="Times New Roman" panose="02020603050405020304" pitchFamily="18" charset="0"/>
              </a:rPr>
              <a:t>(</a:t>
            </a:r>
            <a:r>
              <a:rPr lang="en-IN" b="1" i="0" u="none" strike="noStrike" baseline="0" dirty="0">
                <a:latin typeface="Times New Roman" panose="02020603050405020304" pitchFamily="18" charset="0"/>
                <a:cs typeface="Times New Roman" panose="02020603050405020304" pitchFamily="18" charset="0"/>
              </a:rPr>
              <a:t>RLP</a:t>
            </a:r>
            <a:r>
              <a:rPr lang="en-IN" b="0" i="0" u="none" strike="noStrike" baseline="0" dirty="0">
                <a:latin typeface="Times New Roman" panose="02020603050405020304" pitchFamily="18" charset="0"/>
                <a:cs typeface="Times New Roman" panose="02020603050405020304" pitchFamily="18" charset="0"/>
              </a:rPr>
              <a:t>). </a:t>
            </a:r>
          </a:p>
          <a:p>
            <a:pPr algn="just"/>
            <a:r>
              <a:rPr lang="en-IN" b="0" i="0" u="none" strike="noStrike" baseline="0" dirty="0">
                <a:latin typeface="Times New Roman" panose="02020603050405020304" pitchFamily="18" charset="0"/>
                <a:cs typeface="Times New Roman" panose="02020603050405020304" pitchFamily="18" charset="0"/>
              </a:rPr>
              <a:t>RLP is a specially developed encoding scheme that is used in Ethereum to serialize binary data for storage or transmission over the network and also to save the state in a Patricia tree. </a:t>
            </a:r>
          </a:p>
          <a:p>
            <a:pPr algn="just"/>
            <a:r>
              <a:rPr lang="en-IN" b="0" i="0" u="none" strike="noStrike" baseline="0" dirty="0">
                <a:latin typeface="Times New Roman" panose="02020603050405020304" pitchFamily="18" charset="0"/>
                <a:cs typeface="Times New Roman" panose="02020603050405020304" pitchFamily="18" charset="0"/>
              </a:rPr>
              <a:t>The RLP function takes an item as an input, which can be a string or a list of items,  and produces raw bytes that are suitable for storage and transmission over the network.</a:t>
            </a:r>
          </a:p>
          <a:p>
            <a:pPr algn="just"/>
            <a:r>
              <a:rPr lang="en-IN" b="0" i="0" u="none" strike="noStrike" baseline="0" dirty="0">
                <a:latin typeface="Times New Roman" panose="02020603050405020304" pitchFamily="18" charset="0"/>
                <a:cs typeface="Times New Roman" panose="02020603050405020304" pitchFamily="18" charset="0"/>
              </a:rPr>
              <a:t> RLP does not encode data; instead, its main purpose is to encode structures.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323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6B94150-8E57-7B54-1957-CA983E0013D0}"/>
              </a:ext>
            </a:extLst>
          </p:cNvPr>
          <p:cNvSpPr>
            <a:spLocks noGrp="1" noChangeArrowheads="1"/>
          </p:cNvSpPr>
          <p:nvPr>
            <p:ph idx="1"/>
          </p:nvPr>
        </p:nvSpPr>
        <p:spPr bwMode="auto">
          <a:xfrm>
            <a:off x="339213" y="211060"/>
            <a:ext cx="1132361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Imagine serializing the list [ "dog", "cat"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"dog" RLP-encoded = 0x83 + bytes("dog") = 0x83646f67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"cat" RLP-encoded = 0x83 + bytes("cat") = 0x83636174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List payload = 83646f6783636174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List length = 6 bytes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List RLP = 0xc6 + 83646f6783636174</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36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RLP:</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c683646f6783636174</a:t>
            </a:r>
          </a:p>
        </p:txBody>
      </p:sp>
    </p:spTree>
    <p:extLst>
      <p:ext uri="{BB962C8B-B14F-4D97-AF65-F5344CB8AC3E}">
        <p14:creationId xmlns:p14="http://schemas.microsoft.com/office/powerpoint/2010/main" val="3252137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6E8C4-B67A-FECF-BD71-49E4254815B5}"/>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5000" kern="1200">
                <a:solidFill>
                  <a:schemeClr val="tx1"/>
                </a:solidFill>
                <a:latin typeface="+mj-lt"/>
                <a:ea typeface="+mj-ea"/>
                <a:cs typeface="+mj-cs"/>
              </a:rPr>
              <a:t>A </a:t>
            </a:r>
            <a:r>
              <a:rPr lang="en-US" sz="5000" b="1" kern="1200">
                <a:solidFill>
                  <a:schemeClr val="tx1"/>
                </a:solidFill>
                <a:latin typeface="+mj-lt"/>
                <a:ea typeface="+mj-ea"/>
                <a:cs typeface="+mj-cs"/>
              </a:rPr>
              <a:t>Real Ethereum Transaction</a:t>
            </a:r>
            <a:r>
              <a:rPr lang="en-US" sz="5000" kern="1200">
                <a:solidFill>
                  <a:schemeClr val="tx1"/>
                </a:solidFill>
                <a:latin typeface="+mj-lt"/>
                <a:ea typeface="+mj-ea"/>
                <a:cs typeface="+mj-cs"/>
              </a:rPr>
              <a:t> (RLP-encoded)</a:t>
            </a:r>
          </a:p>
        </p:txBody>
      </p:sp>
      <p:graphicFrame>
        <p:nvGraphicFramePr>
          <p:cNvPr id="4" name="Content Placeholder 3">
            <a:extLst>
              <a:ext uri="{FF2B5EF4-FFF2-40B4-BE49-F238E27FC236}">
                <a16:creationId xmlns:a16="http://schemas.microsoft.com/office/drawing/2014/main" id="{30886561-4832-4541-0483-294CBD0CC98C}"/>
              </a:ext>
            </a:extLst>
          </p:cNvPr>
          <p:cNvGraphicFramePr>
            <a:graphicFrameLocks noGrp="1"/>
          </p:cNvGraphicFramePr>
          <p:nvPr>
            <p:ph idx="1"/>
          </p:nvPr>
        </p:nvGraphicFramePr>
        <p:xfrm>
          <a:off x="4654296" y="682648"/>
          <a:ext cx="6894576" cy="5885792"/>
        </p:xfrm>
        <a:graphic>
          <a:graphicData uri="http://schemas.openxmlformats.org/drawingml/2006/table">
            <a:tbl>
              <a:tblPr/>
              <a:tblGrid>
                <a:gridCol w="1425220">
                  <a:extLst>
                    <a:ext uri="{9D8B030D-6E8A-4147-A177-3AD203B41FA5}">
                      <a16:colId xmlns:a16="http://schemas.microsoft.com/office/drawing/2014/main" val="2604857274"/>
                    </a:ext>
                  </a:extLst>
                </a:gridCol>
                <a:gridCol w="5469356">
                  <a:extLst>
                    <a:ext uri="{9D8B030D-6E8A-4147-A177-3AD203B41FA5}">
                      <a16:colId xmlns:a16="http://schemas.microsoft.com/office/drawing/2014/main" val="2978234453"/>
                    </a:ext>
                  </a:extLst>
                </a:gridCol>
              </a:tblGrid>
              <a:tr h="735724">
                <a:tc>
                  <a:txBody>
                    <a:bodyPr/>
                    <a:lstStyle/>
                    <a:p>
                      <a:pPr algn="l" fontAlgn="ctr">
                        <a:buNone/>
                      </a:pPr>
                      <a:r>
                        <a:rPr lang="en-IN" sz="2100" b="0" i="0" u="none" strike="noStrike">
                          <a:effectLst/>
                          <a:latin typeface="Arial" panose="020B0604020202020204" pitchFamily="34" charset="0"/>
                        </a:rPr>
                        <a:t>Field</a:t>
                      </a:r>
                    </a:p>
                  </a:txBody>
                  <a:tcPr marL="108245" marR="108245" marT="54122" marB="54122" anchor="ctr">
                    <a:lnL>
                      <a:noFill/>
                    </a:lnL>
                    <a:lnR>
                      <a:noFill/>
                    </a:lnR>
                    <a:lnT>
                      <a:noFill/>
                    </a:lnT>
                    <a:lnB>
                      <a:noFill/>
                    </a:lnB>
                    <a:noFill/>
                  </a:tcPr>
                </a:tc>
                <a:tc>
                  <a:txBody>
                    <a:bodyPr/>
                    <a:lstStyle/>
                    <a:p>
                      <a:pPr algn="l" fontAlgn="ctr">
                        <a:buNone/>
                      </a:pPr>
                      <a:r>
                        <a:rPr lang="en-IN" sz="2100" b="0" i="0" u="none" strike="noStrike">
                          <a:effectLst/>
                          <a:latin typeface="Arial" panose="020B0604020202020204" pitchFamily="34" charset="0"/>
                        </a:rPr>
                        <a:t>Description</a:t>
                      </a:r>
                    </a:p>
                  </a:txBody>
                  <a:tcPr marL="108245" marR="108245" marT="54122" marB="54122" anchor="ctr">
                    <a:lnL>
                      <a:noFill/>
                    </a:lnL>
                    <a:lnR>
                      <a:noFill/>
                    </a:lnR>
                    <a:lnT>
                      <a:noFill/>
                    </a:lnT>
                    <a:lnB>
                      <a:noFill/>
                    </a:lnB>
                    <a:noFill/>
                  </a:tcPr>
                </a:tc>
                <a:extLst>
                  <a:ext uri="{0D108BD9-81ED-4DB2-BD59-A6C34878D82A}">
                    <a16:rowId xmlns:a16="http://schemas.microsoft.com/office/drawing/2014/main" val="483832636"/>
                  </a:ext>
                </a:extLst>
              </a:tr>
              <a:tr h="735724">
                <a:tc>
                  <a:txBody>
                    <a:bodyPr/>
                    <a:lstStyle/>
                    <a:p>
                      <a:pPr algn="l" fontAlgn="ctr">
                        <a:buNone/>
                      </a:pPr>
                      <a:r>
                        <a:rPr lang="en-IN" sz="2100" b="0" i="0" u="none" strike="noStrike">
                          <a:effectLst/>
                          <a:latin typeface="Arial" panose="020B0604020202020204" pitchFamily="34" charset="0"/>
                        </a:rPr>
                        <a:t>nonce</a:t>
                      </a:r>
                    </a:p>
                  </a:txBody>
                  <a:tcPr marL="108245" marR="108245" marT="54122" marB="54122" anchor="ctr">
                    <a:lnL>
                      <a:noFill/>
                    </a:lnL>
                    <a:lnR>
                      <a:noFill/>
                    </a:lnR>
                    <a:lnT>
                      <a:noFill/>
                    </a:lnT>
                    <a:lnB>
                      <a:noFill/>
                    </a:lnB>
                    <a:noFill/>
                  </a:tcPr>
                </a:tc>
                <a:tc>
                  <a:txBody>
                    <a:bodyPr/>
                    <a:lstStyle/>
                    <a:p>
                      <a:pPr algn="l" fontAlgn="ctr">
                        <a:buNone/>
                      </a:pPr>
                      <a:r>
                        <a:rPr lang="en-IN" sz="2100" b="0" i="0" u="none" strike="noStrike">
                          <a:effectLst/>
                          <a:latin typeface="Arial" panose="020B0604020202020204" pitchFamily="34" charset="0"/>
                        </a:rPr>
                        <a:t>Number of transactions sent by the sender</a:t>
                      </a:r>
                    </a:p>
                  </a:txBody>
                  <a:tcPr marL="108245" marR="108245" marT="54122" marB="54122" anchor="ctr">
                    <a:lnL>
                      <a:noFill/>
                    </a:lnL>
                    <a:lnR>
                      <a:noFill/>
                    </a:lnR>
                    <a:lnT>
                      <a:noFill/>
                    </a:lnT>
                    <a:lnB>
                      <a:noFill/>
                    </a:lnB>
                    <a:noFill/>
                  </a:tcPr>
                </a:tc>
                <a:extLst>
                  <a:ext uri="{0D108BD9-81ED-4DB2-BD59-A6C34878D82A}">
                    <a16:rowId xmlns:a16="http://schemas.microsoft.com/office/drawing/2014/main" val="122698635"/>
                  </a:ext>
                </a:extLst>
              </a:tr>
              <a:tr h="735724">
                <a:tc>
                  <a:txBody>
                    <a:bodyPr/>
                    <a:lstStyle/>
                    <a:p>
                      <a:pPr algn="l" fontAlgn="ctr">
                        <a:buNone/>
                      </a:pPr>
                      <a:r>
                        <a:rPr lang="en-IN" sz="2100" b="0" i="0" u="none" strike="noStrike">
                          <a:effectLst/>
                          <a:latin typeface="Arial" panose="020B0604020202020204" pitchFamily="34" charset="0"/>
                        </a:rPr>
                        <a:t>gasPrice</a:t>
                      </a:r>
                    </a:p>
                  </a:txBody>
                  <a:tcPr marL="108245" marR="108245" marT="54122" marB="54122" anchor="ctr">
                    <a:lnL>
                      <a:noFill/>
                    </a:lnL>
                    <a:lnR>
                      <a:noFill/>
                    </a:lnR>
                    <a:lnT>
                      <a:noFill/>
                    </a:lnT>
                    <a:lnB>
                      <a:noFill/>
                    </a:lnB>
                    <a:noFill/>
                  </a:tcPr>
                </a:tc>
                <a:tc>
                  <a:txBody>
                    <a:bodyPr/>
                    <a:lstStyle/>
                    <a:p>
                      <a:pPr algn="l" fontAlgn="ctr">
                        <a:buNone/>
                      </a:pPr>
                      <a:r>
                        <a:rPr lang="en-IN" sz="2100" b="0" i="0" u="none" strike="noStrike">
                          <a:effectLst/>
                          <a:latin typeface="Arial" panose="020B0604020202020204" pitchFamily="34" charset="0"/>
                        </a:rPr>
                        <a:t>Price per gas unit</a:t>
                      </a:r>
                    </a:p>
                  </a:txBody>
                  <a:tcPr marL="108245" marR="108245" marT="54122" marB="54122" anchor="ctr">
                    <a:lnL>
                      <a:noFill/>
                    </a:lnL>
                    <a:lnR>
                      <a:noFill/>
                    </a:lnR>
                    <a:lnT>
                      <a:noFill/>
                    </a:lnT>
                    <a:lnB>
                      <a:noFill/>
                    </a:lnB>
                    <a:noFill/>
                  </a:tcPr>
                </a:tc>
                <a:extLst>
                  <a:ext uri="{0D108BD9-81ED-4DB2-BD59-A6C34878D82A}">
                    <a16:rowId xmlns:a16="http://schemas.microsoft.com/office/drawing/2014/main" val="2698021342"/>
                  </a:ext>
                </a:extLst>
              </a:tr>
              <a:tr h="735724">
                <a:tc>
                  <a:txBody>
                    <a:bodyPr/>
                    <a:lstStyle/>
                    <a:p>
                      <a:pPr algn="l" fontAlgn="ctr">
                        <a:buNone/>
                      </a:pPr>
                      <a:r>
                        <a:rPr lang="en-IN" sz="2100" b="0" i="0" u="none" strike="noStrike">
                          <a:effectLst/>
                          <a:latin typeface="Arial" panose="020B0604020202020204" pitchFamily="34" charset="0"/>
                        </a:rPr>
                        <a:t>gasLimit</a:t>
                      </a:r>
                    </a:p>
                  </a:txBody>
                  <a:tcPr marL="108245" marR="108245" marT="54122" marB="54122" anchor="ctr">
                    <a:lnL>
                      <a:noFill/>
                    </a:lnL>
                    <a:lnR>
                      <a:noFill/>
                    </a:lnR>
                    <a:lnT>
                      <a:noFill/>
                    </a:lnT>
                    <a:lnB>
                      <a:noFill/>
                    </a:lnB>
                    <a:noFill/>
                  </a:tcPr>
                </a:tc>
                <a:tc>
                  <a:txBody>
                    <a:bodyPr/>
                    <a:lstStyle/>
                    <a:p>
                      <a:pPr algn="l" fontAlgn="ctr">
                        <a:buNone/>
                      </a:pPr>
                      <a:r>
                        <a:rPr lang="en-IN" sz="2100" b="0" i="0" u="none" strike="noStrike">
                          <a:effectLst/>
                          <a:latin typeface="Arial" panose="020B0604020202020204" pitchFamily="34" charset="0"/>
                        </a:rPr>
                        <a:t>Maximum gas to use</a:t>
                      </a:r>
                    </a:p>
                  </a:txBody>
                  <a:tcPr marL="108245" marR="108245" marT="54122" marB="54122" anchor="ctr">
                    <a:lnL>
                      <a:noFill/>
                    </a:lnL>
                    <a:lnR>
                      <a:noFill/>
                    </a:lnR>
                    <a:lnT>
                      <a:noFill/>
                    </a:lnT>
                    <a:lnB>
                      <a:noFill/>
                    </a:lnB>
                    <a:noFill/>
                  </a:tcPr>
                </a:tc>
                <a:extLst>
                  <a:ext uri="{0D108BD9-81ED-4DB2-BD59-A6C34878D82A}">
                    <a16:rowId xmlns:a16="http://schemas.microsoft.com/office/drawing/2014/main" val="2174058560"/>
                  </a:ext>
                </a:extLst>
              </a:tr>
              <a:tr h="735724">
                <a:tc>
                  <a:txBody>
                    <a:bodyPr/>
                    <a:lstStyle/>
                    <a:p>
                      <a:pPr algn="l" fontAlgn="ctr">
                        <a:buNone/>
                      </a:pPr>
                      <a:r>
                        <a:rPr lang="en-IN" sz="2100" b="0" i="0" u="none" strike="noStrike">
                          <a:effectLst/>
                          <a:latin typeface="Arial" panose="020B0604020202020204" pitchFamily="34" charset="0"/>
                        </a:rPr>
                        <a:t>to</a:t>
                      </a:r>
                    </a:p>
                  </a:txBody>
                  <a:tcPr marL="108245" marR="108245" marT="54122" marB="54122" anchor="ctr">
                    <a:lnL>
                      <a:noFill/>
                    </a:lnL>
                    <a:lnR>
                      <a:noFill/>
                    </a:lnR>
                    <a:lnT>
                      <a:noFill/>
                    </a:lnT>
                    <a:lnB>
                      <a:noFill/>
                    </a:lnB>
                    <a:noFill/>
                  </a:tcPr>
                </a:tc>
                <a:tc>
                  <a:txBody>
                    <a:bodyPr/>
                    <a:lstStyle/>
                    <a:p>
                      <a:pPr algn="l" fontAlgn="ctr">
                        <a:buNone/>
                      </a:pPr>
                      <a:r>
                        <a:rPr lang="en-IN" sz="2100" b="0" i="0" u="none" strike="noStrike">
                          <a:effectLst/>
                          <a:latin typeface="Arial" panose="020B0604020202020204" pitchFamily="34" charset="0"/>
                        </a:rPr>
                        <a:t>Recipient address</a:t>
                      </a:r>
                    </a:p>
                  </a:txBody>
                  <a:tcPr marL="108245" marR="108245" marT="54122" marB="54122" anchor="ctr">
                    <a:lnL>
                      <a:noFill/>
                    </a:lnL>
                    <a:lnR>
                      <a:noFill/>
                    </a:lnR>
                    <a:lnT>
                      <a:noFill/>
                    </a:lnT>
                    <a:lnB>
                      <a:noFill/>
                    </a:lnB>
                    <a:noFill/>
                  </a:tcPr>
                </a:tc>
                <a:extLst>
                  <a:ext uri="{0D108BD9-81ED-4DB2-BD59-A6C34878D82A}">
                    <a16:rowId xmlns:a16="http://schemas.microsoft.com/office/drawing/2014/main" val="3654094877"/>
                  </a:ext>
                </a:extLst>
              </a:tr>
              <a:tr h="735724">
                <a:tc>
                  <a:txBody>
                    <a:bodyPr/>
                    <a:lstStyle/>
                    <a:p>
                      <a:pPr algn="l" fontAlgn="ctr">
                        <a:buNone/>
                      </a:pPr>
                      <a:r>
                        <a:rPr lang="en-IN" sz="2100" b="0" i="0" u="none" strike="noStrike">
                          <a:effectLst/>
                          <a:latin typeface="Arial" panose="020B0604020202020204" pitchFamily="34" charset="0"/>
                        </a:rPr>
                        <a:t>value</a:t>
                      </a:r>
                    </a:p>
                  </a:txBody>
                  <a:tcPr marL="108245" marR="108245" marT="54122" marB="54122" anchor="ctr">
                    <a:lnL>
                      <a:noFill/>
                    </a:lnL>
                    <a:lnR>
                      <a:noFill/>
                    </a:lnR>
                    <a:lnT>
                      <a:noFill/>
                    </a:lnT>
                    <a:lnB>
                      <a:noFill/>
                    </a:lnB>
                    <a:noFill/>
                  </a:tcPr>
                </a:tc>
                <a:tc>
                  <a:txBody>
                    <a:bodyPr/>
                    <a:lstStyle/>
                    <a:p>
                      <a:pPr algn="l" fontAlgn="ctr">
                        <a:buNone/>
                      </a:pPr>
                      <a:r>
                        <a:rPr lang="en-IN" sz="2100" b="0" i="0" u="none" strike="noStrike">
                          <a:effectLst/>
                          <a:latin typeface="Arial" panose="020B0604020202020204" pitchFamily="34" charset="0"/>
                        </a:rPr>
                        <a:t>Amount of Ether to send</a:t>
                      </a:r>
                    </a:p>
                  </a:txBody>
                  <a:tcPr marL="108245" marR="108245" marT="54122" marB="54122" anchor="ctr">
                    <a:lnL>
                      <a:noFill/>
                    </a:lnL>
                    <a:lnR>
                      <a:noFill/>
                    </a:lnR>
                    <a:lnT>
                      <a:noFill/>
                    </a:lnT>
                    <a:lnB>
                      <a:noFill/>
                    </a:lnB>
                    <a:noFill/>
                  </a:tcPr>
                </a:tc>
                <a:extLst>
                  <a:ext uri="{0D108BD9-81ED-4DB2-BD59-A6C34878D82A}">
                    <a16:rowId xmlns:a16="http://schemas.microsoft.com/office/drawing/2014/main" val="187676623"/>
                  </a:ext>
                </a:extLst>
              </a:tr>
              <a:tr h="735724">
                <a:tc>
                  <a:txBody>
                    <a:bodyPr/>
                    <a:lstStyle/>
                    <a:p>
                      <a:pPr algn="l" fontAlgn="ctr">
                        <a:buNone/>
                      </a:pPr>
                      <a:r>
                        <a:rPr lang="en-IN" sz="2100" b="0" i="0" u="none" strike="noStrike">
                          <a:effectLst/>
                          <a:latin typeface="Arial" panose="020B0604020202020204" pitchFamily="34" charset="0"/>
                        </a:rPr>
                        <a:t>data</a:t>
                      </a:r>
                    </a:p>
                  </a:txBody>
                  <a:tcPr marL="108245" marR="108245" marT="54122" marB="54122" anchor="ctr">
                    <a:lnL>
                      <a:noFill/>
                    </a:lnL>
                    <a:lnR>
                      <a:noFill/>
                    </a:lnR>
                    <a:lnT>
                      <a:noFill/>
                    </a:lnT>
                    <a:lnB>
                      <a:noFill/>
                    </a:lnB>
                    <a:noFill/>
                  </a:tcPr>
                </a:tc>
                <a:tc>
                  <a:txBody>
                    <a:bodyPr/>
                    <a:lstStyle/>
                    <a:p>
                      <a:pPr algn="l" fontAlgn="ctr">
                        <a:buNone/>
                      </a:pPr>
                      <a:r>
                        <a:rPr lang="en-IN" sz="2100" b="0" i="0" u="none" strike="noStrike" dirty="0">
                          <a:effectLst/>
                          <a:latin typeface="Arial" panose="020B0604020202020204" pitchFamily="34" charset="0"/>
                        </a:rPr>
                        <a:t>Input data (for contracts, otherwise empty)</a:t>
                      </a:r>
                    </a:p>
                  </a:txBody>
                  <a:tcPr marL="108245" marR="108245" marT="54122" marB="54122" anchor="ctr">
                    <a:lnL>
                      <a:noFill/>
                    </a:lnL>
                    <a:lnR>
                      <a:noFill/>
                    </a:lnR>
                    <a:lnT>
                      <a:noFill/>
                    </a:lnT>
                    <a:lnB>
                      <a:noFill/>
                    </a:lnB>
                    <a:noFill/>
                  </a:tcPr>
                </a:tc>
                <a:extLst>
                  <a:ext uri="{0D108BD9-81ED-4DB2-BD59-A6C34878D82A}">
                    <a16:rowId xmlns:a16="http://schemas.microsoft.com/office/drawing/2014/main" val="951256521"/>
                  </a:ext>
                </a:extLst>
              </a:tr>
              <a:tr h="735724">
                <a:tc>
                  <a:txBody>
                    <a:bodyPr/>
                    <a:lstStyle/>
                    <a:p>
                      <a:pPr algn="l" fontAlgn="ctr">
                        <a:buNone/>
                      </a:pPr>
                      <a:r>
                        <a:rPr lang="en-IN" sz="2100" b="0" i="0" u="none" strike="noStrike">
                          <a:effectLst/>
                          <a:latin typeface="Arial" panose="020B0604020202020204" pitchFamily="34" charset="0"/>
                        </a:rPr>
                        <a:t>v, r, s</a:t>
                      </a:r>
                    </a:p>
                  </a:txBody>
                  <a:tcPr marL="108245" marR="108245" marT="54122" marB="54122" anchor="ctr">
                    <a:lnL>
                      <a:noFill/>
                    </a:lnL>
                    <a:lnR>
                      <a:noFill/>
                    </a:lnR>
                    <a:lnT>
                      <a:noFill/>
                    </a:lnT>
                    <a:lnB>
                      <a:noFill/>
                    </a:lnB>
                    <a:noFill/>
                  </a:tcPr>
                </a:tc>
                <a:tc>
                  <a:txBody>
                    <a:bodyPr/>
                    <a:lstStyle/>
                    <a:p>
                      <a:pPr algn="l" fontAlgn="ctr">
                        <a:buNone/>
                      </a:pPr>
                      <a:r>
                        <a:rPr lang="en-IN" sz="2100" b="0" i="0" u="none" strike="noStrike" dirty="0">
                          <a:effectLst/>
                          <a:latin typeface="Arial" panose="020B0604020202020204" pitchFamily="34" charset="0"/>
                        </a:rPr>
                        <a:t>Signature parts</a:t>
                      </a:r>
                    </a:p>
                  </a:txBody>
                  <a:tcPr marL="108245" marR="108245" marT="54122" marB="54122" anchor="ctr">
                    <a:lnL>
                      <a:noFill/>
                    </a:lnL>
                    <a:lnR>
                      <a:noFill/>
                    </a:lnR>
                    <a:lnT>
                      <a:noFill/>
                    </a:lnT>
                    <a:lnB>
                      <a:noFill/>
                    </a:lnB>
                    <a:noFill/>
                  </a:tcPr>
                </a:tc>
                <a:extLst>
                  <a:ext uri="{0D108BD9-81ED-4DB2-BD59-A6C34878D82A}">
                    <a16:rowId xmlns:a16="http://schemas.microsoft.com/office/drawing/2014/main" val="206527957"/>
                  </a:ext>
                </a:extLst>
              </a:tr>
            </a:tbl>
          </a:graphicData>
        </a:graphic>
      </p:graphicFrame>
    </p:spTree>
    <p:extLst>
      <p:ext uri="{BB962C8B-B14F-4D97-AF65-F5344CB8AC3E}">
        <p14:creationId xmlns:p14="http://schemas.microsoft.com/office/powerpoint/2010/main" val="648465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DFCA4DB-50B7-2E03-86BB-EB8E9F6736A0}"/>
              </a:ext>
            </a:extLst>
          </p:cNvPr>
          <p:cNvGraphicFramePr>
            <a:graphicFrameLocks noGrp="1"/>
          </p:cNvGraphicFramePr>
          <p:nvPr>
            <p:ph idx="1"/>
          </p:nvPr>
        </p:nvGraphicFramePr>
        <p:xfrm>
          <a:off x="1475216" y="643467"/>
          <a:ext cx="9241568" cy="5571068"/>
        </p:xfrm>
        <a:graphic>
          <a:graphicData uri="http://schemas.openxmlformats.org/drawingml/2006/table">
            <a:tbl>
              <a:tblPr/>
              <a:tblGrid>
                <a:gridCol w="2373683">
                  <a:extLst>
                    <a:ext uri="{9D8B030D-6E8A-4147-A177-3AD203B41FA5}">
                      <a16:colId xmlns:a16="http://schemas.microsoft.com/office/drawing/2014/main" val="1962353804"/>
                    </a:ext>
                  </a:extLst>
                </a:gridCol>
                <a:gridCol w="6867885">
                  <a:extLst>
                    <a:ext uri="{9D8B030D-6E8A-4147-A177-3AD203B41FA5}">
                      <a16:colId xmlns:a16="http://schemas.microsoft.com/office/drawing/2014/main" val="3581932244"/>
                    </a:ext>
                  </a:extLst>
                </a:gridCol>
              </a:tblGrid>
              <a:tr h="490254">
                <a:tc>
                  <a:txBody>
                    <a:bodyPr/>
                    <a:lstStyle/>
                    <a:p>
                      <a:pPr algn="l" fontAlgn="ctr">
                        <a:buNone/>
                      </a:pPr>
                      <a:r>
                        <a:rPr lang="en-IN" sz="2200" b="0" i="0" u="none" strike="noStrike">
                          <a:effectLst/>
                          <a:latin typeface="Arial" panose="020B0604020202020204" pitchFamily="34" charset="0"/>
                        </a:rPr>
                        <a:t>Field</a:t>
                      </a:r>
                    </a:p>
                  </a:txBody>
                  <a:tcPr marL="111421" marR="111421" marT="55711" marB="55711"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Value</a:t>
                      </a:r>
                    </a:p>
                  </a:txBody>
                  <a:tcPr marL="111421" marR="111421" marT="55711" marB="55711" anchor="ctr">
                    <a:lnL>
                      <a:noFill/>
                    </a:lnL>
                    <a:lnR>
                      <a:noFill/>
                    </a:lnR>
                    <a:lnT>
                      <a:noFill/>
                    </a:lnT>
                    <a:lnB>
                      <a:noFill/>
                    </a:lnB>
                    <a:noFill/>
                  </a:tcPr>
                </a:tc>
                <a:extLst>
                  <a:ext uri="{0D108BD9-81ED-4DB2-BD59-A6C34878D82A}">
                    <a16:rowId xmlns:a16="http://schemas.microsoft.com/office/drawing/2014/main" val="185395670"/>
                  </a:ext>
                </a:extLst>
              </a:tr>
              <a:tr h="490254">
                <a:tc>
                  <a:txBody>
                    <a:bodyPr/>
                    <a:lstStyle/>
                    <a:p>
                      <a:pPr algn="l" fontAlgn="ctr">
                        <a:buNone/>
                      </a:pPr>
                      <a:r>
                        <a:rPr lang="en-IN" sz="2200" b="0" i="0" u="none" strike="noStrike">
                          <a:effectLst/>
                          <a:latin typeface="Arial" panose="020B0604020202020204" pitchFamily="34" charset="0"/>
                        </a:rPr>
                        <a:t>nonce</a:t>
                      </a:r>
                    </a:p>
                  </a:txBody>
                  <a:tcPr marL="111421" marR="111421" marT="55711" marB="55711"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9</a:t>
                      </a:r>
                    </a:p>
                  </a:txBody>
                  <a:tcPr marL="111421" marR="111421" marT="55711" marB="55711" anchor="ctr">
                    <a:lnL>
                      <a:noFill/>
                    </a:lnL>
                    <a:lnR>
                      <a:noFill/>
                    </a:lnR>
                    <a:lnT>
                      <a:noFill/>
                    </a:lnT>
                    <a:lnB>
                      <a:noFill/>
                    </a:lnB>
                    <a:noFill/>
                  </a:tcPr>
                </a:tc>
                <a:extLst>
                  <a:ext uri="{0D108BD9-81ED-4DB2-BD59-A6C34878D82A}">
                    <a16:rowId xmlns:a16="http://schemas.microsoft.com/office/drawing/2014/main" val="3915703600"/>
                  </a:ext>
                </a:extLst>
              </a:tr>
              <a:tr h="490254">
                <a:tc>
                  <a:txBody>
                    <a:bodyPr/>
                    <a:lstStyle/>
                    <a:p>
                      <a:pPr algn="l" fontAlgn="ctr">
                        <a:buNone/>
                      </a:pPr>
                      <a:r>
                        <a:rPr lang="en-IN" sz="2200" b="0" i="0" u="none" strike="noStrike">
                          <a:effectLst/>
                          <a:latin typeface="Arial" panose="020B0604020202020204" pitchFamily="34" charset="0"/>
                        </a:rPr>
                        <a:t>gasPrice</a:t>
                      </a:r>
                    </a:p>
                  </a:txBody>
                  <a:tcPr marL="111421" marR="111421" marT="55711" marB="55711"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20000000000 (20 Gwei)</a:t>
                      </a:r>
                    </a:p>
                  </a:txBody>
                  <a:tcPr marL="111421" marR="111421" marT="55711" marB="55711" anchor="ctr">
                    <a:lnL>
                      <a:noFill/>
                    </a:lnL>
                    <a:lnR>
                      <a:noFill/>
                    </a:lnR>
                    <a:lnT>
                      <a:noFill/>
                    </a:lnT>
                    <a:lnB>
                      <a:noFill/>
                    </a:lnB>
                    <a:noFill/>
                  </a:tcPr>
                </a:tc>
                <a:extLst>
                  <a:ext uri="{0D108BD9-81ED-4DB2-BD59-A6C34878D82A}">
                    <a16:rowId xmlns:a16="http://schemas.microsoft.com/office/drawing/2014/main" val="3408955683"/>
                  </a:ext>
                </a:extLst>
              </a:tr>
              <a:tr h="490254">
                <a:tc>
                  <a:txBody>
                    <a:bodyPr/>
                    <a:lstStyle/>
                    <a:p>
                      <a:pPr algn="l" fontAlgn="ctr">
                        <a:buNone/>
                      </a:pPr>
                      <a:r>
                        <a:rPr lang="en-IN" sz="2200" b="0" i="0" u="none" strike="noStrike">
                          <a:effectLst/>
                          <a:latin typeface="Arial" panose="020B0604020202020204" pitchFamily="34" charset="0"/>
                        </a:rPr>
                        <a:t>gasLimit</a:t>
                      </a:r>
                    </a:p>
                  </a:txBody>
                  <a:tcPr marL="111421" marR="111421" marT="55711" marB="55711"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21000</a:t>
                      </a:r>
                    </a:p>
                  </a:txBody>
                  <a:tcPr marL="111421" marR="111421" marT="55711" marB="55711" anchor="ctr">
                    <a:lnL>
                      <a:noFill/>
                    </a:lnL>
                    <a:lnR>
                      <a:noFill/>
                    </a:lnR>
                    <a:lnT>
                      <a:noFill/>
                    </a:lnT>
                    <a:lnB>
                      <a:noFill/>
                    </a:lnB>
                    <a:noFill/>
                  </a:tcPr>
                </a:tc>
                <a:extLst>
                  <a:ext uri="{0D108BD9-81ED-4DB2-BD59-A6C34878D82A}">
                    <a16:rowId xmlns:a16="http://schemas.microsoft.com/office/drawing/2014/main" val="376465965"/>
                  </a:ext>
                </a:extLst>
              </a:tr>
              <a:tr h="490254">
                <a:tc>
                  <a:txBody>
                    <a:bodyPr/>
                    <a:lstStyle/>
                    <a:p>
                      <a:pPr algn="l" fontAlgn="ctr">
                        <a:buNone/>
                      </a:pPr>
                      <a:r>
                        <a:rPr lang="en-IN" sz="2200" b="0" i="0" u="none" strike="noStrike">
                          <a:effectLst/>
                          <a:latin typeface="Arial" panose="020B0604020202020204" pitchFamily="34" charset="0"/>
                        </a:rPr>
                        <a:t>to</a:t>
                      </a:r>
                    </a:p>
                  </a:txBody>
                  <a:tcPr marL="111421" marR="111421" marT="55711" marB="55711"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0x3535353535353535353535353535353535353535</a:t>
                      </a:r>
                    </a:p>
                  </a:txBody>
                  <a:tcPr marL="111421" marR="111421" marT="55711" marB="55711" anchor="ctr">
                    <a:lnL>
                      <a:noFill/>
                    </a:lnL>
                    <a:lnR>
                      <a:noFill/>
                    </a:lnR>
                    <a:lnT>
                      <a:noFill/>
                    </a:lnT>
                    <a:lnB>
                      <a:noFill/>
                    </a:lnB>
                    <a:noFill/>
                  </a:tcPr>
                </a:tc>
                <a:extLst>
                  <a:ext uri="{0D108BD9-81ED-4DB2-BD59-A6C34878D82A}">
                    <a16:rowId xmlns:a16="http://schemas.microsoft.com/office/drawing/2014/main" val="3980612413"/>
                  </a:ext>
                </a:extLst>
              </a:tr>
              <a:tr h="490254">
                <a:tc>
                  <a:txBody>
                    <a:bodyPr/>
                    <a:lstStyle/>
                    <a:p>
                      <a:pPr algn="l" fontAlgn="ctr">
                        <a:buNone/>
                      </a:pPr>
                      <a:r>
                        <a:rPr lang="en-IN" sz="2200" b="0" i="0" u="none" strike="noStrike">
                          <a:effectLst/>
                          <a:latin typeface="Arial" panose="020B0604020202020204" pitchFamily="34" charset="0"/>
                        </a:rPr>
                        <a:t>value</a:t>
                      </a:r>
                    </a:p>
                  </a:txBody>
                  <a:tcPr marL="111421" marR="111421" marT="55711" marB="55711"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1000000000000000000 (1 ETH)</a:t>
                      </a:r>
                    </a:p>
                  </a:txBody>
                  <a:tcPr marL="111421" marR="111421" marT="55711" marB="55711" anchor="ctr">
                    <a:lnL>
                      <a:noFill/>
                    </a:lnL>
                    <a:lnR>
                      <a:noFill/>
                    </a:lnR>
                    <a:lnT>
                      <a:noFill/>
                    </a:lnT>
                    <a:lnB>
                      <a:noFill/>
                    </a:lnB>
                    <a:noFill/>
                  </a:tcPr>
                </a:tc>
                <a:extLst>
                  <a:ext uri="{0D108BD9-81ED-4DB2-BD59-A6C34878D82A}">
                    <a16:rowId xmlns:a16="http://schemas.microsoft.com/office/drawing/2014/main" val="505938154"/>
                  </a:ext>
                </a:extLst>
              </a:tr>
              <a:tr h="490254">
                <a:tc>
                  <a:txBody>
                    <a:bodyPr/>
                    <a:lstStyle/>
                    <a:p>
                      <a:pPr algn="l" fontAlgn="ctr">
                        <a:buNone/>
                      </a:pPr>
                      <a:r>
                        <a:rPr lang="en-IN" sz="2200" b="0" i="0" u="none" strike="noStrike">
                          <a:effectLst/>
                          <a:latin typeface="Arial" panose="020B0604020202020204" pitchFamily="34" charset="0"/>
                        </a:rPr>
                        <a:t>data</a:t>
                      </a:r>
                    </a:p>
                  </a:txBody>
                  <a:tcPr marL="111421" marR="111421" marT="55711" marB="55711"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empty</a:t>
                      </a:r>
                    </a:p>
                  </a:txBody>
                  <a:tcPr marL="111421" marR="111421" marT="55711" marB="55711" anchor="ctr">
                    <a:lnL>
                      <a:noFill/>
                    </a:lnL>
                    <a:lnR>
                      <a:noFill/>
                    </a:lnR>
                    <a:lnT>
                      <a:noFill/>
                    </a:lnT>
                    <a:lnB>
                      <a:noFill/>
                    </a:lnB>
                    <a:noFill/>
                  </a:tcPr>
                </a:tc>
                <a:extLst>
                  <a:ext uri="{0D108BD9-81ED-4DB2-BD59-A6C34878D82A}">
                    <a16:rowId xmlns:a16="http://schemas.microsoft.com/office/drawing/2014/main" val="94181819"/>
                  </a:ext>
                </a:extLst>
              </a:tr>
              <a:tr h="490254">
                <a:tc>
                  <a:txBody>
                    <a:bodyPr/>
                    <a:lstStyle/>
                    <a:p>
                      <a:pPr algn="l" fontAlgn="ctr">
                        <a:buNone/>
                      </a:pPr>
                      <a:r>
                        <a:rPr lang="en-IN" sz="2200" b="0" i="0" u="none" strike="noStrike">
                          <a:effectLst/>
                          <a:latin typeface="Arial" panose="020B0604020202020204" pitchFamily="34" charset="0"/>
                        </a:rPr>
                        <a:t>v</a:t>
                      </a:r>
                    </a:p>
                  </a:txBody>
                  <a:tcPr marL="111421" marR="111421" marT="55711" marB="55711"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27</a:t>
                      </a:r>
                    </a:p>
                  </a:txBody>
                  <a:tcPr marL="111421" marR="111421" marT="55711" marB="55711" anchor="ctr">
                    <a:lnL>
                      <a:noFill/>
                    </a:lnL>
                    <a:lnR>
                      <a:noFill/>
                    </a:lnR>
                    <a:lnT>
                      <a:noFill/>
                    </a:lnT>
                    <a:lnB>
                      <a:noFill/>
                    </a:lnB>
                    <a:noFill/>
                  </a:tcPr>
                </a:tc>
                <a:extLst>
                  <a:ext uri="{0D108BD9-81ED-4DB2-BD59-A6C34878D82A}">
                    <a16:rowId xmlns:a16="http://schemas.microsoft.com/office/drawing/2014/main" val="2854197625"/>
                  </a:ext>
                </a:extLst>
              </a:tr>
              <a:tr h="824518">
                <a:tc>
                  <a:txBody>
                    <a:bodyPr/>
                    <a:lstStyle/>
                    <a:p>
                      <a:pPr algn="l" fontAlgn="ctr">
                        <a:buNone/>
                      </a:pPr>
                      <a:r>
                        <a:rPr lang="en-IN" sz="2200" b="0" i="0" u="none" strike="noStrike">
                          <a:effectLst/>
                          <a:latin typeface="Arial" panose="020B0604020202020204" pitchFamily="34" charset="0"/>
                        </a:rPr>
                        <a:t>r</a:t>
                      </a:r>
                    </a:p>
                  </a:txBody>
                  <a:tcPr marL="111421" marR="111421" marT="55711" marB="55711" anchor="ctr">
                    <a:lnL>
                      <a:noFill/>
                    </a:lnL>
                    <a:lnR>
                      <a:noFill/>
                    </a:lnR>
                    <a:lnT>
                      <a:noFill/>
                    </a:lnT>
                    <a:lnB>
                      <a:noFill/>
                    </a:lnB>
                    <a:noFill/>
                  </a:tcPr>
                </a:tc>
                <a:tc>
                  <a:txBody>
                    <a:bodyPr/>
                    <a:lstStyle/>
                    <a:p>
                      <a:pPr algn="l" fontAlgn="ctr">
                        <a:buNone/>
                      </a:pPr>
                      <a:r>
                        <a:rPr lang="en-IN" sz="2200" b="0" i="0" u="none" strike="noStrike">
                          <a:effectLst/>
                          <a:latin typeface="Arial" panose="020B0604020202020204" pitchFamily="34" charset="0"/>
                        </a:rPr>
                        <a:t>0x5e1d3a76fbf824220e2a77c8dd7e5f3f7d3b0e54796a1b226356b02f8f4e9667</a:t>
                      </a:r>
                    </a:p>
                  </a:txBody>
                  <a:tcPr marL="111421" marR="111421" marT="55711" marB="55711" anchor="ctr">
                    <a:lnL>
                      <a:noFill/>
                    </a:lnL>
                    <a:lnR>
                      <a:noFill/>
                    </a:lnR>
                    <a:lnT>
                      <a:noFill/>
                    </a:lnT>
                    <a:lnB>
                      <a:noFill/>
                    </a:lnB>
                    <a:noFill/>
                  </a:tcPr>
                </a:tc>
                <a:extLst>
                  <a:ext uri="{0D108BD9-81ED-4DB2-BD59-A6C34878D82A}">
                    <a16:rowId xmlns:a16="http://schemas.microsoft.com/office/drawing/2014/main" val="1888693662"/>
                  </a:ext>
                </a:extLst>
              </a:tr>
              <a:tr h="824518">
                <a:tc>
                  <a:txBody>
                    <a:bodyPr/>
                    <a:lstStyle/>
                    <a:p>
                      <a:pPr algn="l" fontAlgn="ctr">
                        <a:buNone/>
                      </a:pPr>
                      <a:r>
                        <a:rPr lang="en-IN" sz="2200" b="0" i="0" u="none" strike="noStrike">
                          <a:effectLst/>
                          <a:latin typeface="Arial" panose="020B0604020202020204" pitchFamily="34" charset="0"/>
                        </a:rPr>
                        <a:t>s</a:t>
                      </a:r>
                    </a:p>
                  </a:txBody>
                  <a:tcPr marL="111421" marR="111421" marT="55711" marB="55711" anchor="ctr">
                    <a:lnL>
                      <a:noFill/>
                    </a:lnL>
                    <a:lnR>
                      <a:noFill/>
                    </a:lnR>
                    <a:lnT>
                      <a:noFill/>
                    </a:lnT>
                    <a:lnB>
                      <a:noFill/>
                    </a:lnB>
                    <a:noFill/>
                  </a:tcPr>
                </a:tc>
                <a:tc>
                  <a:txBody>
                    <a:bodyPr/>
                    <a:lstStyle/>
                    <a:p>
                      <a:pPr algn="l" fontAlgn="ctr">
                        <a:buNone/>
                      </a:pPr>
                      <a:r>
                        <a:rPr lang="en-IN" sz="2200" b="0" i="0" u="none" strike="noStrike" dirty="0">
                          <a:effectLst/>
                          <a:latin typeface="Arial" panose="020B0604020202020204" pitchFamily="34" charset="0"/>
                        </a:rPr>
                        <a:t>0x5e1d3a76fbf824220e2a77c8dd7e5f3f7d3b0e54796a1b226356b02f8f4e9667</a:t>
                      </a:r>
                    </a:p>
                  </a:txBody>
                  <a:tcPr marL="111421" marR="111421" marT="55711" marB="55711" anchor="ctr">
                    <a:lnL>
                      <a:noFill/>
                    </a:lnL>
                    <a:lnR>
                      <a:noFill/>
                    </a:lnR>
                    <a:lnT>
                      <a:noFill/>
                    </a:lnT>
                    <a:lnB>
                      <a:noFill/>
                    </a:lnB>
                    <a:noFill/>
                  </a:tcPr>
                </a:tc>
                <a:extLst>
                  <a:ext uri="{0D108BD9-81ED-4DB2-BD59-A6C34878D82A}">
                    <a16:rowId xmlns:a16="http://schemas.microsoft.com/office/drawing/2014/main" val="2544242124"/>
                  </a:ext>
                </a:extLst>
              </a:tr>
            </a:tbl>
          </a:graphicData>
        </a:graphic>
      </p:graphicFrame>
    </p:spTree>
    <p:extLst>
      <p:ext uri="{BB962C8B-B14F-4D97-AF65-F5344CB8AC3E}">
        <p14:creationId xmlns:p14="http://schemas.microsoft.com/office/powerpoint/2010/main" val="15012043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1CAD1-1526-2CE2-DC4C-13C45D324054}"/>
              </a:ext>
            </a:extLst>
          </p:cNvPr>
          <p:cNvSpPr>
            <a:spLocks noGrp="1"/>
          </p:cNvSpPr>
          <p:nvPr>
            <p:ph type="title"/>
          </p:nvPr>
        </p:nvSpPr>
        <p:spPr>
          <a:xfrm>
            <a:off x="838200" y="-173470"/>
            <a:ext cx="10515600" cy="1218500"/>
          </a:xfrm>
        </p:spPr>
        <p:txBody>
          <a:bodyPr/>
          <a:lstStyle/>
          <a:p>
            <a:pPr algn="ctr"/>
            <a:r>
              <a:rPr lang="en-IN" dirty="0">
                <a:latin typeface="Times New Roman" panose="02020603050405020304" pitchFamily="18" charset="0"/>
                <a:cs typeface="Times New Roman" panose="02020603050405020304" pitchFamily="18" charset="0"/>
              </a:rPr>
              <a:t>Encoding each field in RLP:</a:t>
            </a:r>
          </a:p>
        </p:txBody>
      </p:sp>
      <p:sp>
        <p:nvSpPr>
          <p:cNvPr id="4" name="Rectangle 1">
            <a:extLst>
              <a:ext uri="{FF2B5EF4-FFF2-40B4-BE49-F238E27FC236}">
                <a16:creationId xmlns:a16="http://schemas.microsoft.com/office/drawing/2014/main" id="{C7A57D6A-DB30-3A23-9967-229D0353D80C}"/>
              </a:ext>
            </a:extLst>
          </p:cNvPr>
          <p:cNvSpPr>
            <a:spLocks noGrp="1" noChangeArrowheads="1"/>
          </p:cNvSpPr>
          <p:nvPr>
            <p:ph idx="1"/>
          </p:nvPr>
        </p:nvSpPr>
        <p:spPr bwMode="auto">
          <a:xfrm>
            <a:off x="631371" y="1142103"/>
            <a:ext cx="1119486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nonce = 9 → 0x09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gasPrice = 20000000000 → 0x04a817c800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gasLimit = 21000 → 0x5208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 0x3535353535353535353535353535353535353535 (already bytes)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value = 1000000000000000000 → 0x0de0b6b3a7640000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 '' (empty) → 0x80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 = 27 → 0x1b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and s are 32-byte numbers → padded to 32 bytes if necessary.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IN" dirty="0">
                <a:latin typeface="Times New Roman" panose="02020603050405020304" pitchFamily="18" charset="0"/>
                <a:cs typeface="Times New Roman" panose="02020603050405020304" pitchFamily="18" charset="0"/>
              </a:rPr>
              <a:t>Each of these is </a:t>
            </a:r>
            <a:r>
              <a:rPr lang="en-IN" b="1" dirty="0">
                <a:latin typeface="Times New Roman" panose="02020603050405020304" pitchFamily="18" charset="0"/>
                <a:cs typeface="Times New Roman" panose="02020603050405020304" pitchFamily="18" charset="0"/>
              </a:rPr>
              <a:t>RLP-encoded</a:t>
            </a:r>
            <a:r>
              <a:rPr lang="en-IN" dirty="0">
                <a:latin typeface="Times New Roman" panose="02020603050405020304" pitchFamily="18" charset="0"/>
                <a:cs typeface="Times New Roman" panose="02020603050405020304" pitchFamily="18" charset="0"/>
              </a:rPr>
              <a:t> individually, and then combined into a </a:t>
            </a:r>
            <a:r>
              <a:rPr lang="en-IN" b="1" dirty="0">
                <a:latin typeface="Times New Roman" panose="02020603050405020304" pitchFamily="18" charset="0"/>
                <a:cs typeface="Times New Roman" panose="02020603050405020304" pitchFamily="18" charset="0"/>
              </a:rPr>
              <a:t>list</a:t>
            </a:r>
            <a:r>
              <a:rPr lang="en-IN" dirty="0">
                <a:latin typeface="Times New Roman" panose="02020603050405020304" pitchFamily="18" charset="0"/>
                <a:cs typeface="Times New Roman" panose="02020603050405020304" pitchFamily="18" charset="0"/>
              </a:rPr>
              <a:t>, which is itself RLP-encoded.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8574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828CEF-EE3F-CDB4-5420-237EA87D45C2}"/>
              </a:ext>
            </a:extLst>
          </p:cNvPr>
          <p:cNvSpPr>
            <a:spLocks noGrp="1"/>
          </p:cNvSpPr>
          <p:nvPr>
            <p:ph idx="1"/>
          </p:nvPr>
        </p:nvSpPr>
        <p:spPr>
          <a:xfrm>
            <a:off x="137160" y="167640"/>
            <a:ext cx="11917680" cy="6439989"/>
          </a:xfrm>
        </p:spPr>
        <p:txBody>
          <a:bodyPr/>
          <a:lstStyle/>
          <a:p>
            <a:r>
              <a:rPr lang="en-IN" dirty="0"/>
              <a:t>Final RLP Encoded Transaction:</a:t>
            </a:r>
          </a:p>
          <a:p>
            <a:pPr marL="0" indent="0">
              <a:buNone/>
            </a:pPr>
            <a:r>
              <a:rPr lang="pt-BR" sz="2000" dirty="0"/>
              <a:t>f86c</a:t>
            </a:r>
          </a:p>
          <a:p>
            <a:pPr marL="0" indent="0">
              <a:buNone/>
            </a:pPr>
            <a:r>
              <a:rPr lang="pt-BR" sz="2000" dirty="0"/>
              <a:t>09</a:t>
            </a:r>
          </a:p>
          <a:p>
            <a:pPr marL="0" indent="0">
              <a:buNone/>
            </a:pPr>
            <a:r>
              <a:rPr lang="pt-BR" sz="2000" dirty="0"/>
              <a:t>8504a817c800</a:t>
            </a:r>
          </a:p>
          <a:p>
            <a:pPr marL="0" indent="0">
              <a:buNone/>
            </a:pPr>
            <a:r>
              <a:rPr lang="pt-BR" sz="2000" dirty="0"/>
              <a:t>825208</a:t>
            </a:r>
          </a:p>
          <a:p>
            <a:pPr marL="0" indent="0">
              <a:buNone/>
            </a:pPr>
            <a:r>
              <a:rPr lang="pt-BR" sz="2000" dirty="0"/>
              <a:t>9435353535353535353535353535353535353535</a:t>
            </a:r>
          </a:p>
          <a:p>
            <a:pPr marL="0" indent="0">
              <a:buNone/>
            </a:pPr>
            <a:r>
              <a:rPr lang="pt-BR" sz="2000" dirty="0"/>
              <a:t>880de0b6b3a7640000</a:t>
            </a:r>
          </a:p>
          <a:p>
            <a:pPr marL="0" indent="0">
              <a:buNone/>
            </a:pPr>
            <a:r>
              <a:rPr lang="pt-BR" sz="2000" dirty="0"/>
              <a:t>80</a:t>
            </a:r>
          </a:p>
          <a:p>
            <a:pPr marL="0" indent="0">
              <a:buNone/>
            </a:pPr>
            <a:r>
              <a:rPr lang="pt-BR" sz="2000" dirty="0"/>
              <a:t>1b</a:t>
            </a:r>
          </a:p>
          <a:p>
            <a:pPr marL="0" indent="0">
              <a:buNone/>
            </a:pPr>
            <a:r>
              <a:rPr lang="pt-BR" sz="2000" dirty="0"/>
              <a:t>a05e1d3a76fbf824220e2a77c8dd7e5f3f7d3b0e54796a1b226356b02f8f4e9667</a:t>
            </a:r>
          </a:p>
          <a:p>
            <a:pPr marL="0" indent="0">
              <a:buNone/>
            </a:pPr>
            <a:r>
              <a:rPr lang="pt-BR" sz="2000" dirty="0"/>
              <a:t>a05e1d3a76fbf824220e2a77c8dd7e5f3f7d3b0e54796a1b226356b02f8f4e9667</a:t>
            </a:r>
          </a:p>
          <a:p>
            <a:pPr marL="0" indent="0">
              <a:buNone/>
            </a:pPr>
            <a:endParaRPr lang="en-IN" dirty="0"/>
          </a:p>
        </p:txBody>
      </p:sp>
      <p:sp>
        <p:nvSpPr>
          <p:cNvPr id="5" name="TextBox 4">
            <a:extLst>
              <a:ext uri="{FF2B5EF4-FFF2-40B4-BE49-F238E27FC236}">
                <a16:creationId xmlns:a16="http://schemas.microsoft.com/office/drawing/2014/main" id="{C177A06C-CBDC-89DA-4D51-D4FDA987B5F4}"/>
              </a:ext>
            </a:extLst>
          </p:cNvPr>
          <p:cNvSpPr txBox="1"/>
          <p:nvPr/>
        </p:nvSpPr>
        <p:spPr>
          <a:xfrm>
            <a:off x="137160" y="4945856"/>
            <a:ext cx="11689080" cy="1908215"/>
          </a:xfrm>
          <a:prstGeom prst="rect">
            <a:avLst/>
          </a:prstGeom>
          <a:noFill/>
        </p:spPr>
        <p:txBody>
          <a:bodyPr wrap="square">
            <a:spAutoFit/>
          </a:bodyPr>
          <a:lstStyle/>
          <a:p>
            <a:r>
              <a:rPr lang="en-IN" sz="2000" b="1" dirty="0">
                <a:latin typeface="Calibri" panose="020F0502020204030204" pitchFamily="34" charset="0"/>
                <a:cs typeface="Calibri" panose="020F0502020204030204" pitchFamily="34" charset="0"/>
              </a:rPr>
              <a:t>f86c098504a817c8008252089435353535353535353535353535353535353535880de0b6b3a7640000801ba05e1d3a76fbf824220e2a77c8dd7e5f3f7d3b0e54796a1b226356b02f8f4e9667a05e1d3a76fbf824220e2a77c8dd7e5f3f7d3b0e54796a1b226356b02f8f4e9667</a:t>
            </a:r>
          </a:p>
          <a:p>
            <a:endParaRPr lang="en-IN" sz="2000" b="1" dirty="0">
              <a:latin typeface="Calibri" panose="020F0502020204030204" pitchFamily="34" charset="0"/>
              <a:cs typeface="Calibri" panose="020F0502020204030204" pitchFamily="34" charset="0"/>
            </a:endParaRPr>
          </a:p>
          <a:p>
            <a:r>
              <a:rPr lang="en-IN" sz="2000" b="1" dirty="0">
                <a:latin typeface="Calibri" panose="020F0502020204030204" pitchFamily="34" charset="0"/>
                <a:cs typeface="Calibri" panose="020F0502020204030204" pitchFamily="34" charset="0"/>
              </a:rPr>
              <a:t>This final text what is broadcasted to the Ethereum network when you submit a raw transaction.</a:t>
            </a:r>
          </a:p>
          <a:p>
            <a:endParaRPr lang="en-IN" dirty="0"/>
          </a:p>
        </p:txBody>
      </p:sp>
    </p:spTree>
    <p:extLst>
      <p:ext uri="{BB962C8B-B14F-4D97-AF65-F5344CB8AC3E}">
        <p14:creationId xmlns:p14="http://schemas.microsoft.com/office/powerpoint/2010/main" val="27430851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31601-2879-078E-11DC-FC92FBA3C535}"/>
              </a:ext>
            </a:extLst>
          </p:cNvPr>
          <p:cNvSpPr>
            <a:spLocks noGrp="1"/>
          </p:cNvSpPr>
          <p:nvPr>
            <p:ph type="title"/>
          </p:nvPr>
        </p:nvSpPr>
        <p:spPr>
          <a:xfrm>
            <a:off x="176981" y="1"/>
            <a:ext cx="11176819" cy="729342"/>
          </a:xfrm>
        </p:spPr>
        <p:txBody>
          <a:bodyPr>
            <a:normAutofit/>
          </a:bodyPr>
          <a:lstStyle/>
          <a:p>
            <a:pPr algn="ctr"/>
            <a:r>
              <a:rPr lang="en-IN" b="1" i="0" u="none" strike="noStrike" baseline="0" dirty="0">
                <a:solidFill>
                  <a:srgbClr val="FF0000"/>
                </a:solidFill>
                <a:latin typeface="Times New Roman" panose="02020603050405020304" pitchFamily="18" charset="0"/>
                <a:cs typeface="Times New Roman" panose="02020603050405020304" pitchFamily="18" charset="0"/>
              </a:rPr>
              <a:t>The Account state</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3E6941A-4C19-C12D-458A-00422B66C166}"/>
              </a:ext>
            </a:extLst>
          </p:cNvPr>
          <p:cNvSpPr>
            <a:spLocks noGrp="1"/>
          </p:cNvSpPr>
          <p:nvPr>
            <p:ph idx="1"/>
          </p:nvPr>
        </p:nvSpPr>
        <p:spPr>
          <a:xfrm>
            <a:off x="370113" y="859972"/>
            <a:ext cx="11644905" cy="5850544"/>
          </a:xfrm>
        </p:spPr>
        <p:txBody>
          <a:bodyPr>
            <a:normAutofit lnSpcReduction="10000"/>
          </a:bodyPr>
          <a:lstStyle/>
          <a:p>
            <a:pPr algn="just"/>
            <a:r>
              <a:rPr lang="en-IN" sz="3200" b="0" i="0" u="none" strike="noStrike" baseline="0" dirty="0">
                <a:latin typeface="Times New Roman" panose="02020603050405020304" pitchFamily="18" charset="0"/>
                <a:cs typeface="Times New Roman" panose="02020603050405020304" pitchFamily="18" charset="0"/>
              </a:rPr>
              <a:t>The account state consists of four fields: nonce, balance, </a:t>
            </a:r>
            <a:r>
              <a:rPr lang="en-IN" sz="3200" b="0" i="0" u="none" strike="noStrike" baseline="0" dirty="0" err="1">
                <a:latin typeface="Times New Roman" panose="02020603050405020304" pitchFamily="18" charset="0"/>
                <a:cs typeface="Times New Roman" panose="02020603050405020304" pitchFamily="18" charset="0"/>
              </a:rPr>
              <a:t>storageroot</a:t>
            </a:r>
            <a:r>
              <a:rPr lang="en-IN" sz="3200" b="0" i="0" u="none" strike="noStrike" baseline="0" dirty="0">
                <a:latin typeface="Times New Roman" panose="02020603050405020304" pitchFamily="18" charset="0"/>
                <a:cs typeface="Times New Roman" panose="02020603050405020304" pitchFamily="18" charset="0"/>
              </a:rPr>
              <a:t> and </a:t>
            </a:r>
            <a:r>
              <a:rPr lang="en-IN" sz="3200" b="0" i="0" u="none" strike="noStrike" baseline="0" dirty="0" err="1">
                <a:latin typeface="Times New Roman" panose="02020603050405020304" pitchFamily="18" charset="0"/>
                <a:cs typeface="Times New Roman" panose="02020603050405020304" pitchFamily="18" charset="0"/>
              </a:rPr>
              <a:t>codehash</a:t>
            </a:r>
            <a:r>
              <a:rPr lang="en-IN" sz="3200" b="0" i="0" u="none" strike="noStrike" baseline="0" dirty="0">
                <a:latin typeface="Times New Roman" panose="02020603050405020304" pitchFamily="18" charset="0"/>
                <a:cs typeface="Times New Roman" panose="02020603050405020304" pitchFamily="18" charset="0"/>
              </a:rPr>
              <a:t>.</a:t>
            </a:r>
          </a:p>
          <a:p>
            <a:pPr marL="0" indent="0" algn="just">
              <a:buNone/>
            </a:pPr>
            <a:endParaRPr lang="en-IN" sz="2400" b="0" i="0" u="none" strike="noStrike" baseline="0" dirty="0">
              <a:latin typeface="Calibri" panose="020F0502020204030204" pitchFamily="34" charset="0"/>
              <a:cs typeface="Calibri" panose="020F0502020204030204" pitchFamily="34" charset="0"/>
            </a:endParaRPr>
          </a:p>
          <a:p>
            <a:r>
              <a:rPr lang="en-IN" sz="3200" b="1" dirty="0">
                <a:latin typeface="Times New Roman" panose="02020603050405020304" pitchFamily="18" charset="0"/>
                <a:cs typeface="Times New Roman" panose="02020603050405020304" pitchFamily="18" charset="0"/>
              </a:rPr>
              <a:t>Nonce: </a:t>
            </a:r>
            <a:r>
              <a:rPr lang="en-IN" sz="3200" dirty="0">
                <a:latin typeface="Times New Roman" panose="02020603050405020304" pitchFamily="18" charset="0"/>
                <a:cs typeface="Times New Roman" panose="02020603050405020304" pitchFamily="18" charset="0"/>
              </a:rPr>
              <a:t>This is a value is </a:t>
            </a:r>
            <a:r>
              <a:rPr lang="en-IN" sz="3200" dirty="0">
                <a:solidFill>
                  <a:srgbClr val="FF0000"/>
                </a:solidFill>
                <a:latin typeface="Times New Roman" panose="02020603050405020304" pitchFamily="18" charset="0"/>
                <a:cs typeface="Times New Roman" panose="02020603050405020304" pitchFamily="18" charset="0"/>
              </a:rPr>
              <a:t>incremented</a:t>
            </a:r>
            <a:r>
              <a:rPr lang="en-IN" sz="3200" dirty="0">
                <a:latin typeface="Times New Roman" panose="02020603050405020304" pitchFamily="18" charset="0"/>
                <a:cs typeface="Times New Roman" panose="02020603050405020304" pitchFamily="18" charset="0"/>
              </a:rPr>
              <a:t> every time a transaction is sent from the address.</a:t>
            </a:r>
          </a:p>
          <a:p>
            <a:r>
              <a:rPr lang="en-IN" sz="3200" b="1" dirty="0">
                <a:latin typeface="Times New Roman" panose="02020603050405020304" pitchFamily="18" charset="0"/>
                <a:cs typeface="Times New Roman" panose="02020603050405020304" pitchFamily="18" charset="0"/>
              </a:rPr>
              <a:t>Balance: </a:t>
            </a:r>
            <a:r>
              <a:rPr lang="en-IN" sz="3200" dirty="0">
                <a:latin typeface="Times New Roman" panose="02020603050405020304" pitchFamily="18" charset="0"/>
                <a:cs typeface="Times New Roman" panose="02020603050405020304" pitchFamily="18" charset="0"/>
              </a:rPr>
              <a:t>This value represents the number of </a:t>
            </a:r>
            <a:r>
              <a:rPr lang="en-IN" sz="3200" dirty="0">
                <a:solidFill>
                  <a:srgbClr val="FF0000"/>
                </a:solidFill>
                <a:latin typeface="Times New Roman" panose="02020603050405020304" pitchFamily="18" charset="0"/>
                <a:cs typeface="Times New Roman" panose="02020603050405020304" pitchFamily="18" charset="0"/>
              </a:rPr>
              <a:t>Weis</a:t>
            </a:r>
            <a:r>
              <a:rPr lang="en-IN" sz="3200" dirty="0">
                <a:latin typeface="Times New Roman" panose="02020603050405020304" pitchFamily="18" charset="0"/>
                <a:cs typeface="Times New Roman" panose="02020603050405020304" pitchFamily="18" charset="0"/>
              </a:rPr>
              <a:t> which is the smallest unit of the currency (Ether) in Ethereum held by the address.</a:t>
            </a:r>
          </a:p>
          <a:p>
            <a:r>
              <a:rPr lang="en-IN" sz="3200" b="1" dirty="0" err="1">
                <a:latin typeface="Times New Roman" panose="02020603050405020304" pitchFamily="18" charset="0"/>
                <a:cs typeface="Times New Roman" panose="02020603050405020304" pitchFamily="18" charset="0"/>
              </a:rPr>
              <a:t>Storageroot</a:t>
            </a:r>
            <a:r>
              <a:rPr lang="en-IN" sz="3200" b="1"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This field represents the </a:t>
            </a:r>
            <a:r>
              <a:rPr lang="en-IN" sz="3200" dirty="0">
                <a:solidFill>
                  <a:srgbClr val="FF0000"/>
                </a:solidFill>
                <a:latin typeface="Times New Roman" panose="02020603050405020304" pitchFamily="18" charset="0"/>
                <a:cs typeface="Times New Roman" panose="02020603050405020304" pitchFamily="18" charset="0"/>
              </a:rPr>
              <a:t>root node </a:t>
            </a:r>
            <a:r>
              <a:rPr lang="en-IN" sz="3200" dirty="0">
                <a:latin typeface="Times New Roman" panose="02020603050405020304" pitchFamily="18" charset="0"/>
                <a:cs typeface="Times New Roman" panose="02020603050405020304" pitchFamily="18" charset="0"/>
              </a:rPr>
              <a:t>of a Merkle Patricia tree that encodes the storage contents of the account.</a:t>
            </a:r>
          </a:p>
          <a:p>
            <a:r>
              <a:rPr lang="en-IN" sz="3200" b="1" dirty="0" err="1">
                <a:latin typeface="Times New Roman" panose="02020603050405020304" pitchFamily="18" charset="0"/>
                <a:cs typeface="Times New Roman" panose="02020603050405020304" pitchFamily="18" charset="0"/>
              </a:rPr>
              <a:t>Codehash</a:t>
            </a:r>
            <a:r>
              <a:rPr lang="en-IN" sz="3200" b="1" dirty="0">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This is an immutable field that contains the </a:t>
            </a:r>
            <a:r>
              <a:rPr lang="en-IN" sz="3200" dirty="0">
                <a:solidFill>
                  <a:srgbClr val="FF0000"/>
                </a:solidFill>
                <a:latin typeface="Times New Roman" panose="02020603050405020304" pitchFamily="18" charset="0"/>
                <a:cs typeface="Times New Roman" panose="02020603050405020304" pitchFamily="18" charset="0"/>
              </a:rPr>
              <a:t>hash</a:t>
            </a:r>
            <a:r>
              <a:rPr lang="en-IN" sz="3200" dirty="0">
                <a:latin typeface="Times New Roman" panose="02020603050405020304" pitchFamily="18" charset="0"/>
                <a:cs typeface="Times New Roman" panose="02020603050405020304" pitchFamily="18" charset="0"/>
              </a:rPr>
              <a:t> of the smart contract code that is associated with the account.</a:t>
            </a:r>
          </a:p>
          <a:p>
            <a:pPr marL="0" indent="0" algn="l">
              <a:buNone/>
            </a:pPr>
            <a:endParaRPr lang="en-IN" dirty="0"/>
          </a:p>
        </p:txBody>
      </p:sp>
    </p:spTree>
    <p:extLst>
      <p:ext uri="{BB962C8B-B14F-4D97-AF65-F5344CB8AC3E}">
        <p14:creationId xmlns:p14="http://schemas.microsoft.com/office/powerpoint/2010/main" val="37042488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DF252C9-7957-6CD3-516D-60C25DFD7397}"/>
              </a:ext>
            </a:extLst>
          </p:cNvPr>
          <p:cNvPicPr>
            <a:picLocks noGrp="1" noChangeAspect="1"/>
          </p:cNvPicPr>
          <p:nvPr>
            <p:ph idx="1"/>
          </p:nvPr>
        </p:nvPicPr>
        <p:blipFill>
          <a:blip r:embed="rId2"/>
          <a:stretch>
            <a:fillRect/>
          </a:stretch>
        </p:blipFill>
        <p:spPr>
          <a:xfrm>
            <a:off x="1774372" y="947057"/>
            <a:ext cx="8948056" cy="4963886"/>
          </a:xfrm>
          <a:prstGeom prst="rect">
            <a:avLst/>
          </a:prstGeom>
        </p:spPr>
      </p:pic>
    </p:spTree>
    <p:extLst>
      <p:ext uri="{BB962C8B-B14F-4D97-AF65-F5344CB8AC3E}">
        <p14:creationId xmlns:p14="http://schemas.microsoft.com/office/powerpoint/2010/main" val="10597475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B61AFD-4615-A7DF-524B-1B5EE45868AA}"/>
              </a:ext>
            </a:extLst>
          </p:cNvPr>
          <p:cNvSpPr>
            <a:spLocks noGrp="1"/>
          </p:cNvSpPr>
          <p:nvPr>
            <p:ph idx="1"/>
          </p:nvPr>
        </p:nvSpPr>
        <p:spPr>
          <a:xfrm>
            <a:off x="280219" y="324465"/>
            <a:ext cx="11503742" cy="6098106"/>
          </a:xfrm>
        </p:spPr>
        <p:txBody>
          <a:bodyPr>
            <a:normAutofit lnSpcReduction="10000"/>
          </a:bodyPr>
          <a:lstStyle/>
          <a:p>
            <a:pPr algn="just"/>
            <a:r>
              <a:rPr lang="en-IN" b="0" i="0" u="none" strike="noStrike" baseline="0" dirty="0">
                <a:latin typeface="Times New Roman" panose="02020603050405020304" pitchFamily="18" charset="0"/>
                <a:cs typeface="Times New Roman" panose="02020603050405020304" pitchFamily="18" charset="0"/>
              </a:rPr>
              <a:t>The world state and its relationship with accounts </a:t>
            </a:r>
            <a:r>
              <a:rPr lang="en-IN" b="0" i="0" u="none" strike="noStrike" baseline="0" dirty="0" err="1">
                <a:latin typeface="Times New Roman" panose="02020603050405020304" pitchFamily="18" charset="0"/>
                <a:cs typeface="Times New Roman" panose="02020603050405020304" pitchFamily="18" charset="0"/>
              </a:rPr>
              <a:t>trie</a:t>
            </a:r>
            <a:r>
              <a:rPr lang="en-IN" b="0" i="0" u="none" strike="noStrike" baseline="0" dirty="0">
                <a:latin typeface="Times New Roman" panose="02020603050405020304" pitchFamily="18" charset="0"/>
                <a:cs typeface="Times New Roman" panose="02020603050405020304" pitchFamily="18" charset="0"/>
              </a:rPr>
              <a:t>, accounts and block header can be visualized in the following diagram. </a:t>
            </a:r>
          </a:p>
          <a:p>
            <a:pPr algn="just"/>
            <a:r>
              <a:rPr lang="en-IN" b="0" i="0" u="none" strike="noStrike" baseline="0" dirty="0">
                <a:latin typeface="Times New Roman" panose="02020603050405020304" pitchFamily="18" charset="0"/>
                <a:cs typeface="Times New Roman" panose="02020603050405020304" pitchFamily="18" charset="0"/>
              </a:rPr>
              <a:t>It shows the account data structure in the middle of the diagram, which contains a storage root hash derived from the root node of the account storage </a:t>
            </a:r>
            <a:r>
              <a:rPr lang="en-IN" b="0" i="0" u="none" strike="noStrike" baseline="0" dirty="0" err="1">
                <a:latin typeface="Times New Roman" panose="02020603050405020304" pitchFamily="18" charset="0"/>
                <a:cs typeface="Times New Roman" panose="02020603050405020304" pitchFamily="18" charset="0"/>
              </a:rPr>
              <a:t>trie</a:t>
            </a:r>
            <a:r>
              <a:rPr lang="en-IN" b="0" i="0" u="none" strike="noStrike" baseline="0" dirty="0">
                <a:latin typeface="Times New Roman" panose="02020603050405020304" pitchFamily="18" charset="0"/>
                <a:cs typeface="Times New Roman" panose="02020603050405020304" pitchFamily="18" charset="0"/>
              </a:rPr>
              <a:t> shown on the left.</a:t>
            </a:r>
          </a:p>
          <a:p>
            <a:pPr algn="just"/>
            <a:r>
              <a:rPr lang="en-IN" b="0" i="0" u="none" strike="noStrike" baseline="0" dirty="0">
                <a:latin typeface="Times New Roman" panose="02020603050405020304" pitchFamily="18" charset="0"/>
                <a:cs typeface="Times New Roman" panose="02020603050405020304" pitchFamily="18" charset="0"/>
              </a:rPr>
              <a:t> The account data structure is then used in the world state </a:t>
            </a:r>
            <a:r>
              <a:rPr lang="en-IN" b="0" i="0" u="none" strike="noStrike" baseline="0" dirty="0" err="1">
                <a:latin typeface="Times New Roman" panose="02020603050405020304" pitchFamily="18" charset="0"/>
                <a:cs typeface="Times New Roman" panose="02020603050405020304" pitchFamily="18" charset="0"/>
              </a:rPr>
              <a:t>trie</a:t>
            </a:r>
            <a:r>
              <a:rPr lang="en-IN" b="0" i="0" u="none" strike="noStrike" baseline="0" dirty="0">
                <a:latin typeface="Times New Roman" panose="02020603050405020304" pitchFamily="18" charset="0"/>
                <a:cs typeface="Times New Roman" panose="02020603050405020304" pitchFamily="18" charset="0"/>
              </a:rPr>
              <a:t>, which is a mapping between addresses and account states. </a:t>
            </a:r>
          </a:p>
          <a:p>
            <a:pPr algn="just"/>
            <a:r>
              <a:rPr lang="en-IN" b="0" i="0" u="none" strike="noStrike" baseline="0" dirty="0">
                <a:latin typeface="Times New Roman" panose="02020603050405020304" pitchFamily="18" charset="0"/>
                <a:cs typeface="Times New Roman" panose="02020603050405020304" pitchFamily="18" charset="0"/>
              </a:rPr>
              <a:t>Finally, the root node of the world state </a:t>
            </a:r>
            <a:r>
              <a:rPr lang="en-IN" b="0" i="0" u="none" strike="noStrike" baseline="0" dirty="0" err="1">
                <a:latin typeface="Times New Roman" panose="02020603050405020304" pitchFamily="18" charset="0"/>
                <a:cs typeface="Times New Roman" panose="02020603050405020304" pitchFamily="18" charset="0"/>
              </a:rPr>
              <a:t>trie</a:t>
            </a:r>
            <a:r>
              <a:rPr lang="en-IN" b="0" i="0" u="none" strike="noStrike" baseline="0" dirty="0">
                <a:latin typeface="Times New Roman" panose="02020603050405020304" pitchFamily="18" charset="0"/>
                <a:cs typeface="Times New Roman" panose="02020603050405020304" pitchFamily="18" charset="0"/>
              </a:rPr>
              <a:t> is hashed using the Keccak 256-bit algorithm and made part of the block header data structure, which is shown on the right-hand side of the diagram as state root hash.</a:t>
            </a:r>
          </a:p>
          <a:p>
            <a:pPr algn="just"/>
            <a:r>
              <a:rPr lang="en-IN" dirty="0">
                <a:latin typeface="Times New Roman" panose="02020603050405020304" pitchFamily="18" charset="0"/>
                <a:cs typeface="Times New Roman" panose="02020603050405020304" pitchFamily="18" charset="0"/>
              </a:rPr>
              <a:t>Accounts </a:t>
            </a:r>
            <a:r>
              <a:rPr lang="en-IN" dirty="0" err="1">
                <a:latin typeface="Times New Roman" panose="02020603050405020304" pitchFamily="18" charset="0"/>
                <a:cs typeface="Times New Roman" panose="02020603050405020304" pitchFamily="18" charset="0"/>
              </a:rPr>
              <a:t>trie</a:t>
            </a:r>
            <a:r>
              <a:rPr lang="en-IN" dirty="0">
                <a:latin typeface="Times New Roman" panose="02020603050405020304" pitchFamily="18" charset="0"/>
                <a:cs typeface="Times New Roman" panose="02020603050405020304" pitchFamily="18" charset="0"/>
              </a:rPr>
              <a:t> is basically a Merkle Patricia tree used to encode the storage contents of an account. </a:t>
            </a:r>
          </a:p>
          <a:p>
            <a:pPr algn="just"/>
            <a:r>
              <a:rPr lang="en-IN" dirty="0">
                <a:latin typeface="Times New Roman" panose="02020603050405020304" pitchFamily="18" charset="0"/>
                <a:cs typeface="Times New Roman" panose="02020603050405020304" pitchFamily="18" charset="0"/>
              </a:rPr>
              <a:t>The contents are stored as a mapping between </a:t>
            </a:r>
            <a:r>
              <a:rPr lang="en-IN" dirty="0" err="1">
                <a:latin typeface="Times New Roman" panose="02020603050405020304" pitchFamily="18" charset="0"/>
                <a:cs typeface="Times New Roman" panose="02020603050405020304" pitchFamily="18" charset="0"/>
              </a:rPr>
              <a:t>keccak</a:t>
            </a:r>
            <a:r>
              <a:rPr lang="en-IN" dirty="0">
                <a:latin typeface="Times New Roman" panose="02020603050405020304" pitchFamily="18" charset="0"/>
                <a:cs typeface="Times New Roman" panose="02020603050405020304" pitchFamily="18" charset="0"/>
              </a:rPr>
              <a:t> 256-bit hashes of 256-bit integer keys to the RLP-encoded 256-bit integer values.</a:t>
            </a:r>
          </a:p>
          <a:p>
            <a:pPr algn="just"/>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679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66A8C5-E4CE-8B93-9C97-CA721B5F536E}"/>
              </a:ext>
            </a:extLst>
          </p:cNvPr>
          <p:cNvSpPr>
            <a:spLocks noGrp="1"/>
          </p:cNvSpPr>
          <p:nvPr>
            <p:ph idx="1"/>
          </p:nvPr>
        </p:nvSpPr>
        <p:spPr>
          <a:xfrm>
            <a:off x="794657" y="729343"/>
            <a:ext cx="10559143" cy="5447620"/>
          </a:xfrm>
        </p:spPr>
        <p:txBody>
          <a:bodyPr/>
          <a:lstStyle/>
          <a:p>
            <a:pPr>
              <a:buNone/>
            </a:pPr>
            <a:r>
              <a:rPr lang="en-IN" b="1" dirty="0"/>
              <a:t>1</a:t>
            </a:r>
            <a:r>
              <a:rPr lang="en-IN" b="1" dirty="0">
                <a:latin typeface="Times New Roman" panose="02020603050405020304" pitchFamily="18" charset="0"/>
                <a:cs typeface="Times New Roman" panose="02020603050405020304" pitchFamily="18" charset="0"/>
              </a:rPr>
              <a:t>. Accounts Trie (Storage Contents of Account)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Accounts Trie</a:t>
            </a:r>
            <a:r>
              <a:rPr lang="en-IN" dirty="0">
                <a:latin typeface="Times New Roman" panose="02020603050405020304" pitchFamily="18" charset="0"/>
                <a:cs typeface="Times New Roman" panose="02020603050405020304" pitchFamily="18" charset="0"/>
              </a:rPr>
              <a:t> is a type of </a:t>
            </a:r>
            <a:r>
              <a:rPr lang="en-IN" b="1" dirty="0">
                <a:latin typeface="Times New Roman" panose="02020603050405020304" pitchFamily="18" charset="0"/>
                <a:cs typeface="Times New Roman" panose="02020603050405020304" pitchFamily="18" charset="0"/>
              </a:rPr>
              <a:t>Merkle Patricia Trie</a:t>
            </a:r>
            <a:r>
              <a:rPr lang="en-IN" dirty="0">
                <a:latin typeface="Times New Roman" panose="02020603050405020304" pitchFamily="18" charset="0"/>
                <a:cs typeface="Times New Roman" panose="02020603050405020304" pitchFamily="18" charset="0"/>
              </a:rPr>
              <a:t> that stores information about accounts on the Ethereum network.</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Each account contains:</a:t>
            </a:r>
          </a:p>
          <a:p>
            <a:pPr marL="742950" lvl="1" indent="-28575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Nonce</a:t>
            </a:r>
            <a:r>
              <a:rPr lang="en-IN" sz="2800" dirty="0">
                <a:latin typeface="Times New Roman" panose="02020603050405020304" pitchFamily="18" charset="0"/>
                <a:cs typeface="Times New Roman" panose="02020603050405020304" pitchFamily="18" charset="0"/>
              </a:rPr>
              <a:t>: A counter that increments with each transaction sent from an account.</a:t>
            </a:r>
          </a:p>
          <a:p>
            <a:pPr marL="742950" lvl="1" indent="-28575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Balance</a:t>
            </a:r>
            <a:r>
              <a:rPr lang="en-IN" sz="2800" dirty="0">
                <a:latin typeface="Times New Roman" panose="02020603050405020304" pitchFamily="18" charset="0"/>
                <a:cs typeface="Times New Roman" panose="02020603050405020304" pitchFamily="18" charset="0"/>
              </a:rPr>
              <a:t>: The amount of ETH held by the account.</a:t>
            </a:r>
          </a:p>
          <a:p>
            <a:pPr marL="742950" lvl="1" indent="-28575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Storage Root Hash</a:t>
            </a:r>
            <a:r>
              <a:rPr lang="en-IN" sz="2800" dirty="0">
                <a:latin typeface="Times New Roman" panose="02020603050405020304" pitchFamily="18" charset="0"/>
                <a:cs typeface="Times New Roman" panose="02020603050405020304" pitchFamily="18" charset="0"/>
              </a:rPr>
              <a:t>: A hash of the account’s storage data (this points to the </a:t>
            </a:r>
            <a:r>
              <a:rPr lang="en-IN" sz="2800" b="1" dirty="0">
                <a:latin typeface="Times New Roman" panose="02020603050405020304" pitchFamily="18" charset="0"/>
                <a:cs typeface="Times New Roman" panose="02020603050405020304" pitchFamily="18" charset="0"/>
              </a:rPr>
              <a:t>storage </a:t>
            </a:r>
            <a:r>
              <a:rPr lang="en-IN" sz="2800" b="1" dirty="0" err="1">
                <a:latin typeface="Times New Roman" panose="02020603050405020304" pitchFamily="18" charset="0"/>
                <a:cs typeface="Times New Roman" panose="02020603050405020304" pitchFamily="18" charset="0"/>
              </a:rPr>
              <a:t>trie</a:t>
            </a:r>
            <a:r>
              <a:rPr lang="en-IN" sz="28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Code Hash</a:t>
            </a:r>
            <a:r>
              <a:rPr lang="en-IN" sz="2800" dirty="0">
                <a:latin typeface="Times New Roman" panose="02020603050405020304" pitchFamily="18" charset="0"/>
                <a:cs typeface="Times New Roman" panose="02020603050405020304" pitchFamily="18" charset="0"/>
              </a:rPr>
              <a:t>: A hash representing the contract code of the account, if it’s a contract (otherwise, it’s empty).</a:t>
            </a:r>
          </a:p>
          <a:p>
            <a:endParaRPr lang="en-IN" dirty="0"/>
          </a:p>
        </p:txBody>
      </p:sp>
    </p:spTree>
    <p:extLst>
      <p:ext uri="{BB962C8B-B14F-4D97-AF65-F5344CB8AC3E}">
        <p14:creationId xmlns:p14="http://schemas.microsoft.com/office/powerpoint/2010/main" val="2784875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046C31-DB09-DF11-334D-273AC738FAA7}"/>
              </a:ext>
            </a:extLst>
          </p:cNvPr>
          <p:cNvSpPr>
            <a:spLocks noGrp="1"/>
          </p:cNvSpPr>
          <p:nvPr>
            <p:ph idx="1"/>
          </p:nvPr>
        </p:nvSpPr>
        <p:spPr>
          <a:xfrm>
            <a:off x="642257" y="620485"/>
            <a:ext cx="10711543" cy="5878285"/>
          </a:xfrm>
        </p:spPr>
        <p:txBody>
          <a:bodyPr>
            <a:normAutofit/>
          </a:bodyPr>
          <a:lstStyle/>
          <a:p>
            <a:pPr>
              <a:buNone/>
            </a:pPr>
            <a:r>
              <a:rPr lang="en-IN" b="1" dirty="0"/>
              <a:t>2</a:t>
            </a:r>
            <a:r>
              <a:rPr lang="en-IN" b="1" dirty="0">
                <a:latin typeface="Times New Roman" panose="02020603050405020304" pitchFamily="18" charset="0"/>
                <a:cs typeface="Times New Roman" panose="02020603050405020304" pitchFamily="18" charset="0"/>
              </a:rPr>
              <a:t>. World State Trie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World State Trie</a:t>
            </a:r>
            <a:r>
              <a:rPr lang="en-IN" dirty="0">
                <a:latin typeface="Times New Roman" panose="02020603050405020304" pitchFamily="18" charset="0"/>
                <a:cs typeface="Times New Roman" panose="02020603050405020304" pitchFamily="18" charset="0"/>
              </a:rPr>
              <a:t> is another Merkle Patricia Trie that stores the global state of the Ethereum network.</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holds the root of all accounts, each pointing to its respective data.</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accounts are organized hierarchically in the </a:t>
            </a:r>
            <a:r>
              <a:rPr lang="en-IN" dirty="0" err="1">
                <a:latin typeface="Times New Roman" panose="02020603050405020304" pitchFamily="18" charset="0"/>
                <a:cs typeface="Times New Roman" panose="02020603050405020304" pitchFamily="18" charset="0"/>
              </a:rPr>
              <a:t>trie</a:t>
            </a:r>
            <a:r>
              <a:rPr lang="en-IN" dirty="0">
                <a:latin typeface="Times New Roman" panose="02020603050405020304" pitchFamily="18" charset="0"/>
                <a:cs typeface="Times New Roman" panose="02020603050405020304" pitchFamily="18" charset="0"/>
              </a:rPr>
              <a:t>. For example, in the image, you can see that the accounts are split into two branches, and each of those accounts points to further data or nodes.</a:t>
            </a:r>
          </a:p>
          <a:p>
            <a:pPr>
              <a:buNone/>
            </a:pPr>
            <a:r>
              <a:rPr lang="en-IN" b="1" dirty="0">
                <a:latin typeface="Times New Roman" panose="02020603050405020304" pitchFamily="18" charset="0"/>
                <a:cs typeface="Times New Roman" panose="02020603050405020304" pitchFamily="18" charset="0"/>
              </a:rPr>
              <a:t>3. State Root Hash</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State Root Hash</a:t>
            </a:r>
            <a:r>
              <a:rPr lang="en-IN" dirty="0">
                <a:latin typeface="Times New Roman" panose="02020603050405020304" pitchFamily="18" charset="0"/>
                <a:cs typeface="Times New Roman" panose="02020603050405020304" pitchFamily="18" charset="0"/>
              </a:rPr>
              <a:t> is a hash of the entire world state </a:t>
            </a:r>
            <a:r>
              <a:rPr lang="en-IN" dirty="0" err="1">
                <a:latin typeface="Times New Roman" panose="02020603050405020304" pitchFamily="18" charset="0"/>
                <a:cs typeface="Times New Roman" panose="02020603050405020304" pitchFamily="18" charset="0"/>
              </a:rPr>
              <a:t>trie</a:t>
            </a:r>
            <a:r>
              <a:rPr lang="en-IN" dirty="0">
                <a:latin typeface="Times New Roman" panose="02020603050405020304" pitchFamily="18" charset="0"/>
                <a:cs typeface="Times New Roman" panose="02020603050405020304" pitchFamily="18" charset="0"/>
              </a:rPr>
              <a:t>. It uniquely represents the global state of all Ethereum accounts and storage at any given point.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hash is critical for ensuring consistency and validating the integrity of the network’s state.</a:t>
            </a:r>
          </a:p>
          <a:p>
            <a:endParaRPr lang="en-IN" dirty="0"/>
          </a:p>
        </p:txBody>
      </p:sp>
    </p:spTree>
    <p:extLst>
      <p:ext uri="{BB962C8B-B14F-4D97-AF65-F5344CB8AC3E}">
        <p14:creationId xmlns:p14="http://schemas.microsoft.com/office/powerpoint/2010/main" val="10133393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CBBFBD-E055-8F27-B012-15B0EAD272A6}"/>
              </a:ext>
            </a:extLst>
          </p:cNvPr>
          <p:cNvSpPr>
            <a:spLocks noGrp="1"/>
          </p:cNvSpPr>
          <p:nvPr>
            <p:ph idx="1"/>
          </p:nvPr>
        </p:nvSpPr>
        <p:spPr>
          <a:xfrm>
            <a:off x="859970" y="1415143"/>
            <a:ext cx="10493829" cy="4761820"/>
          </a:xfrm>
        </p:spPr>
        <p:txBody>
          <a:bodyPr/>
          <a:lstStyle/>
          <a:p>
            <a:pPr>
              <a:buNone/>
            </a:pPr>
            <a:r>
              <a:rPr lang="en-IN" b="1" dirty="0">
                <a:latin typeface="Times New Roman" panose="02020603050405020304" pitchFamily="18" charset="0"/>
                <a:cs typeface="Times New Roman" panose="02020603050405020304" pitchFamily="18" charset="0"/>
              </a:rPr>
              <a:t>4. Account Tuple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 </a:t>
            </a:r>
            <a:r>
              <a:rPr lang="en-IN" b="1" dirty="0">
                <a:latin typeface="Times New Roman" panose="02020603050405020304" pitchFamily="18" charset="0"/>
                <a:cs typeface="Times New Roman" panose="02020603050405020304" pitchFamily="18" charset="0"/>
              </a:rPr>
              <a:t>Account Tuple</a:t>
            </a:r>
            <a:r>
              <a:rPr lang="en-IN" dirty="0">
                <a:latin typeface="Times New Roman" panose="02020603050405020304" pitchFamily="18" charset="0"/>
                <a:cs typeface="Times New Roman" panose="02020603050405020304" pitchFamily="18" charset="0"/>
              </a:rPr>
              <a:t> represents a collection of data related to a specific account:</a:t>
            </a:r>
          </a:p>
          <a:p>
            <a:pPr marL="742950" lvl="1"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It contains </a:t>
            </a:r>
            <a:r>
              <a:rPr lang="en-IN" sz="2800" b="1" dirty="0">
                <a:latin typeface="Times New Roman" panose="02020603050405020304" pitchFamily="18" charset="0"/>
                <a:cs typeface="Times New Roman" panose="02020603050405020304" pitchFamily="18" charset="0"/>
              </a:rPr>
              <a:t>Nonce</a:t>
            </a: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Balance</a:t>
            </a: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Storage Root Hash</a:t>
            </a:r>
            <a:r>
              <a:rPr lang="en-IN" sz="2800" dirty="0">
                <a:latin typeface="Times New Roman" panose="02020603050405020304" pitchFamily="18" charset="0"/>
                <a:cs typeface="Times New Roman" panose="02020603050405020304" pitchFamily="18" charset="0"/>
              </a:rPr>
              <a:t> and </a:t>
            </a:r>
            <a:r>
              <a:rPr lang="en-IN" sz="2800" b="1" dirty="0">
                <a:latin typeface="Times New Roman" panose="02020603050405020304" pitchFamily="18" charset="0"/>
                <a:cs typeface="Times New Roman" panose="02020603050405020304" pitchFamily="18" charset="0"/>
              </a:rPr>
              <a:t>Code Hash</a:t>
            </a:r>
            <a:r>
              <a:rPr lang="en-IN" sz="28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Each piece of data is stored in its own node within the </a:t>
            </a:r>
            <a:r>
              <a:rPr lang="en-IN" sz="2800" b="1" dirty="0">
                <a:latin typeface="Times New Roman" panose="02020603050405020304" pitchFamily="18" charset="0"/>
                <a:cs typeface="Times New Roman" panose="02020603050405020304" pitchFamily="18" charset="0"/>
              </a:rPr>
              <a:t>Accounts Trie</a:t>
            </a:r>
            <a:r>
              <a:rPr lang="en-IN" sz="28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40740602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205E96-0D8D-2E73-BC01-CCFFD5C240A4}"/>
              </a:ext>
            </a:extLst>
          </p:cNvPr>
          <p:cNvSpPr>
            <a:spLocks noGrp="1"/>
          </p:cNvSpPr>
          <p:nvPr>
            <p:ph idx="1"/>
          </p:nvPr>
        </p:nvSpPr>
        <p:spPr>
          <a:xfrm>
            <a:off x="729343" y="598714"/>
            <a:ext cx="10624457" cy="5578249"/>
          </a:xfrm>
        </p:spPr>
        <p:txBody>
          <a:bodyPr/>
          <a:lstStyle/>
          <a:p>
            <a:pPr marL="0" indent="0">
              <a:buNone/>
            </a:pPr>
            <a:r>
              <a:rPr lang="en-US" b="1" dirty="0"/>
              <a:t>B</a:t>
            </a:r>
            <a:r>
              <a:rPr lang="en-US" b="1" dirty="0">
                <a:latin typeface="Times New Roman" panose="02020603050405020304" pitchFamily="18" charset="0"/>
                <a:cs typeface="Times New Roman" panose="02020603050405020304" pitchFamily="18" charset="0"/>
              </a:rPr>
              <a:t>enefits of This Structure: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Efficient Storage</a:t>
            </a:r>
            <a:r>
              <a:rPr lang="en-US" dirty="0">
                <a:latin typeface="Times New Roman" panose="02020603050405020304" pitchFamily="18" charset="0"/>
                <a:cs typeface="Times New Roman" panose="02020603050405020304" pitchFamily="18" charset="0"/>
              </a:rPr>
              <a:t>: The </a:t>
            </a:r>
            <a:r>
              <a:rPr lang="en-US" dirty="0" err="1">
                <a:latin typeface="Times New Roman" panose="02020603050405020304" pitchFamily="18" charset="0"/>
                <a:cs typeface="Times New Roman" panose="02020603050405020304" pitchFamily="18" charset="0"/>
              </a:rPr>
              <a:t>trie</a:t>
            </a:r>
            <a:r>
              <a:rPr lang="en-US" dirty="0">
                <a:latin typeface="Times New Roman" panose="02020603050405020304" pitchFamily="18" charset="0"/>
                <a:cs typeface="Times New Roman" panose="02020603050405020304" pitchFamily="18" charset="0"/>
              </a:rPr>
              <a:t> structure minimizes duplication and uses hashes to summarize data.</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Tamper Resistance</a:t>
            </a:r>
            <a:r>
              <a:rPr lang="en-US" dirty="0">
                <a:latin typeface="Times New Roman" panose="02020603050405020304" pitchFamily="18" charset="0"/>
                <a:cs typeface="Times New Roman" panose="02020603050405020304" pitchFamily="18" charset="0"/>
              </a:rPr>
              <a:t>: The cryptographic hashing ensures integrity and immutability.</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Proof-of-Inclusion</a:t>
            </a:r>
            <a:r>
              <a:rPr lang="en-US" dirty="0">
                <a:latin typeface="Times New Roman" panose="02020603050405020304" pitchFamily="18" charset="0"/>
                <a:cs typeface="Times New Roman" panose="02020603050405020304" pitchFamily="18" charset="0"/>
              </a:rPr>
              <a:t>: Any state (e.g., balance) can be verified without reconstructing the entire </a:t>
            </a:r>
            <a:r>
              <a:rPr lang="en-US" dirty="0" err="1">
                <a:latin typeface="Times New Roman" panose="02020603050405020304" pitchFamily="18" charset="0"/>
                <a:cs typeface="Times New Roman" panose="02020603050405020304" pitchFamily="18" charset="0"/>
              </a:rPr>
              <a:t>trie</a:t>
            </a:r>
            <a:r>
              <a:rPr lang="en-US"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13448577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99CE4-90E5-420D-8ECD-070BB45E9527}"/>
              </a:ext>
            </a:extLst>
          </p:cNvPr>
          <p:cNvSpPr>
            <a:spLocks noGrp="1"/>
          </p:cNvSpPr>
          <p:nvPr>
            <p:ph type="title"/>
          </p:nvPr>
        </p:nvSpPr>
        <p:spPr>
          <a:xfrm>
            <a:off x="278815" y="-65315"/>
            <a:ext cx="10515600" cy="994116"/>
          </a:xfrm>
        </p:spPr>
        <p:txBody>
          <a:bodyPr/>
          <a:lstStyle/>
          <a:p>
            <a:pPr algn="ctr"/>
            <a:r>
              <a:rPr lang="en-IN" dirty="0">
                <a:solidFill>
                  <a:srgbClr val="FF0000"/>
                </a:solidFill>
                <a:latin typeface="Times New Roman" panose="02020603050405020304" pitchFamily="18" charset="0"/>
                <a:cs typeface="Times New Roman" panose="02020603050405020304" pitchFamily="18" charset="0"/>
              </a:rPr>
              <a:t>Transactions</a:t>
            </a:r>
          </a:p>
        </p:txBody>
      </p:sp>
      <p:sp>
        <p:nvSpPr>
          <p:cNvPr id="3" name="Content Placeholder 2">
            <a:extLst>
              <a:ext uri="{FF2B5EF4-FFF2-40B4-BE49-F238E27FC236}">
                <a16:creationId xmlns:a16="http://schemas.microsoft.com/office/drawing/2014/main" id="{0E9480D1-3936-AA27-F90A-C00D7C655CDB}"/>
              </a:ext>
            </a:extLst>
          </p:cNvPr>
          <p:cNvSpPr>
            <a:spLocks noGrp="1"/>
          </p:cNvSpPr>
          <p:nvPr>
            <p:ph idx="1"/>
          </p:nvPr>
        </p:nvSpPr>
        <p:spPr>
          <a:xfrm>
            <a:off x="391886" y="1219200"/>
            <a:ext cx="10961914" cy="4957763"/>
          </a:xfrm>
        </p:spPr>
        <p:txBody>
          <a:bodyPr/>
          <a:lstStyle/>
          <a:p>
            <a:pPr algn="just"/>
            <a:r>
              <a:rPr lang="en-IN" dirty="0">
                <a:latin typeface="Times New Roman" panose="02020603050405020304" pitchFamily="18" charset="0"/>
                <a:cs typeface="Times New Roman" panose="02020603050405020304" pitchFamily="18" charset="0"/>
              </a:rPr>
              <a:t>A transaction in Ethereum is a digitally signed data packet using a private key that contains the instructions that, when completed, either result in a message call or contract creation. </a:t>
            </a:r>
          </a:p>
          <a:p>
            <a:pPr algn="just"/>
            <a:r>
              <a:rPr lang="en-IN" dirty="0">
                <a:latin typeface="Times New Roman" panose="02020603050405020304" pitchFamily="18" charset="0"/>
                <a:cs typeface="Times New Roman" panose="02020603050405020304" pitchFamily="18" charset="0"/>
              </a:rPr>
              <a:t>Transactions can be divided into two types based on the output they produce: </a:t>
            </a:r>
          </a:p>
          <a:p>
            <a:pPr marL="0" indent="0" algn="just">
              <a:buNone/>
            </a:pPr>
            <a:r>
              <a:rPr lang="en-IN" dirty="0">
                <a:latin typeface="Times New Roman" panose="02020603050405020304" pitchFamily="18" charset="0"/>
                <a:cs typeface="Times New Roman" panose="02020603050405020304" pitchFamily="18" charset="0"/>
              </a:rPr>
              <a:t>• Message call transactions </a:t>
            </a:r>
          </a:p>
          <a:p>
            <a:pPr marL="0" indent="0" algn="just">
              <a:buNone/>
            </a:pPr>
            <a:r>
              <a:rPr lang="en-IN" dirty="0">
                <a:latin typeface="Times New Roman" panose="02020603050405020304" pitchFamily="18" charset="0"/>
                <a:cs typeface="Times New Roman" panose="02020603050405020304" pitchFamily="18" charset="0"/>
              </a:rPr>
              <a:t>• Contract creation transactions</a:t>
            </a:r>
          </a:p>
        </p:txBody>
      </p:sp>
    </p:spTree>
    <p:extLst>
      <p:ext uri="{BB962C8B-B14F-4D97-AF65-F5344CB8AC3E}">
        <p14:creationId xmlns:p14="http://schemas.microsoft.com/office/powerpoint/2010/main" val="965780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E63AA1-8BD1-076A-01CD-3FDA92DB177E}"/>
              </a:ext>
            </a:extLst>
          </p:cNvPr>
          <p:cNvSpPr>
            <a:spLocks noGrp="1"/>
          </p:cNvSpPr>
          <p:nvPr>
            <p:ph idx="1"/>
          </p:nvPr>
        </p:nvSpPr>
        <p:spPr>
          <a:xfrm>
            <a:off x="250724" y="108857"/>
            <a:ext cx="11690551" cy="6498771"/>
          </a:xfrm>
        </p:spPr>
        <p:txBody>
          <a:bodyPr/>
          <a:lstStyle/>
          <a:p>
            <a:r>
              <a:rPr lang="en-IN" b="1" dirty="0">
                <a:latin typeface="Times New Roman" panose="02020603050405020304" pitchFamily="18" charset="0"/>
                <a:cs typeface="Times New Roman" panose="02020603050405020304" pitchFamily="18" charset="0"/>
              </a:rPr>
              <a:t>Message call transactions</a:t>
            </a:r>
            <a:r>
              <a:rPr lang="en-IN" dirty="0">
                <a:latin typeface="Times New Roman" panose="02020603050405020304" pitchFamily="18" charset="0"/>
                <a:cs typeface="Times New Roman" panose="02020603050405020304" pitchFamily="18" charset="0"/>
              </a:rPr>
              <a:t>: This transaction simply produces a message call that is used to pass messages from one account to another.</a:t>
            </a:r>
          </a:p>
          <a:p>
            <a:r>
              <a:rPr lang="en-IN" b="1" dirty="0">
                <a:latin typeface="Times New Roman" panose="02020603050405020304" pitchFamily="18" charset="0"/>
                <a:cs typeface="Times New Roman" panose="02020603050405020304" pitchFamily="18" charset="0"/>
              </a:rPr>
              <a:t>Contract creation transactions</a:t>
            </a:r>
            <a:r>
              <a:rPr lang="en-IN" dirty="0">
                <a:latin typeface="Times New Roman" panose="02020603050405020304" pitchFamily="18" charset="0"/>
                <a:cs typeface="Times New Roman" panose="02020603050405020304" pitchFamily="18" charset="0"/>
              </a:rPr>
              <a:t>: As the name suggests, these transactions result in the creation of a new contract.</a:t>
            </a:r>
          </a:p>
          <a:p>
            <a:r>
              <a:rPr lang="en-IN" dirty="0">
                <a:latin typeface="Times New Roman" panose="02020603050405020304" pitchFamily="18" charset="0"/>
                <a:cs typeface="Times New Roman" panose="02020603050405020304" pitchFamily="18" charset="0"/>
              </a:rPr>
              <a:t>Both of these transactions are composed of a number of common fields, which are described here.</a:t>
            </a:r>
          </a:p>
          <a:p>
            <a:endParaRPr lang="en-IN" dirty="0"/>
          </a:p>
          <a:p>
            <a:endParaRPr lang="en-IN" dirty="0"/>
          </a:p>
        </p:txBody>
      </p:sp>
      <p:pic>
        <p:nvPicPr>
          <p:cNvPr id="4" name="Picture 3">
            <a:extLst>
              <a:ext uri="{FF2B5EF4-FFF2-40B4-BE49-F238E27FC236}">
                <a16:creationId xmlns:a16="http://schemas.microsoft.com/office/drawing/2014/main" id="{BD4E1B22-CADC-DD1B-5097-7F62BCCD6D38}"/>
              </a:ext>
            </a:extLst>
          </p:cNvPr>
          <p:cNvPicPr>
            <a:picLocks noChangeAspect="1"/>
          </p:cNvPicPr>
          <p:nvPr/>
        </p:nvPicPr>
        <p:blipFill>
          <a:blip r:embed="rId2"/>
          <a:stretch>
            <a:fillRect/>
          </a:stretch>
        </p:blipFill>
        <p:spPr>
          <a:xfrm>
            <a:off x="5050971" y="2547257"/>
            <a:ext cx="6890305" cy="3748611"/>
          </a:xfrm>
          <a:prstGeom prst="rect">
            <a:avLst/>
          </a:prstGeom>
        </p:spPr>
      </p:pic>
    </p:spTree>
    <p:extLst>
      <p:ext uri="{BB962C8B-B14F-4D97-AF65-F5344CB8AC3E}">
        <p14:creationId xmlns:p14="http://schemas.microsoft.com/office/powerpoint/2010/main" val="27293457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E22B2-A704-75CE-60FD-F0E9D8528D10}"/>
              </a:ext>
            </a:extLst>
          </p:cNvPr>
          <p:cNvSpPr>
            <a:spLocks noGrp="1"/>
          </p:cNvSpPr>
          <p:nvPr>
            <p:ph type="title"/>
          </p:nvPr>
        </p:nvSpPr>
        <p:spPr>
          <a:xfrm>
            <a:off x="115528" y="-146152"/>
            <a:ext cx="11373465" cy="785249"/>
          </a:xfrm>
        </p:spPr>
        <p:txBody>
          <a:bodyPr>
            <a:normAutofit/>
          </a:bodyPr>
          <a:lstStyle/>
          <a:p>
            <a:pPr algn="ctr"/>
            <a:r>
              <a:rPr lang="en-IN" dirty="0">
                <a:solidFill>
                  <a:srgbClr val="FF0000"/>
                </a:solidFill>
                <a:latin typeface="Times New Roman" panose="02020603050405020304" pitchFamily="18" charset="0"/>
                <a:cs typeface="Times New Roman" panose="02020603050405020304" pitchFamily="18" charset="0"/>
              </a:rPr>
              <a:t>Common Transaction fields</a:t>
            </a:r>
          </a:p>
        </p:txBody>
      </p:sp>
      <p:sp>
        <p:nvSpPr>
          <p:cNvPr id="3" name="Content Placeholder 2">
            <a:extLst>
              <a:ext uri="{FF2B5EF4-FFF2-40B4-BE49-F238E27FC236}">
                <a16:creationId xmlns:a16="http://schemas.microsoft.com/office/drawing/2014/main" id="{5FAFC229-4599-60E0-BD97-0FF5BF01D941}"/>
              </a:ext>
            </a:extLst>
          </p:cNvPr>
          <p:cNvSpPr>
            <a:spLocks noGrp="1"/>
          </p:cNvSpPr>
          <p:nvPr>
            <p:ph idx="1"/>
          </p:nvPr>
        </p:nvSpPr>
        <p:spPr>
          <a:xfrm>
            <a:off x="228600" y="639098"/>
            <a:ext cx="11658600" cy="6060254"/>
          </a:xfrm>
        </p:spPr>
        <p:txBody>
          <a:bodyPr>
            <a:normAutofit/>
          </a:bodyPr>
          <a:lstStyle/>
          <a:p>
            <a:r>
              <a:rPr lang="en-IN" sz="2400" b="1" dirty="0">
                <a:latin typeface="Times New Roman" panose="02020603050405020304" pitchFamily="18" charset="0"/>
                <a:cs typeface="Times New Roman" panose="02020603050405020304" pitchFamily="18" charset="0"/>
              </a:rPr>
              <a:t>Nonce: </a:t>
            </a:r>
            <a:r>
              <a:rPr lang="en-IN" sz="2400" dirty="0">
                <a:latin typeface="Times New Roman" panose="02020603050405020304" pitchFamily="18" charset="0"/>
                <a:cs typeface="Times New Roman" panose="02020603050405020304" pitchFamily="18" charset="0"/>
              </a:rPr>
              <a:t>Nonce is a number that is </a:t>
            </a:r>
            <a:r>
              <a:rPr lang="en-IN" sz="2400" dirty="0">
                <a:solidFill>
                  <a:srgbClr val="FF0000"/>
                </a:solidFill>
                <a:latin typeface="Times New Roman" panose="02020603050405020304" pitchFamily="18" charset="0"/>
                <a:cs typeface="Times New Roman" panose="02020603050405020304" pitchFamily="18" charset="0"/>
              </a:rPr>
              <a:t>incremented</a:t>
            </a:r>
            <a:r>
              <a:rPr lang="en-IN" sz="2400" dirty="0">
                <a:latin typeface="Times New Roman" panose="02020603050405020304" pitchFamily="18" charset="0"/>
                <a:cs typeface="Times New Roman" panose="02020603050405020304" pitchFamily="18" charset="0"/>
              </a:rPr>
              <a:t> by one every time a transaction is sent by the sender.</a:t>
            </a:r>
          </a:p>
          <a:p>
            <a:r>
              <a:rPr lang="en-IN" sz="2400" b="1" dirty="0" err="1">
                <a:latin typeface="Times New Roman" panose="02020603050405020304" pitchFamily="18" charset="0"/>
                <a:cs typeface="Times New Roman" panose="02020603050405020304" pitchFamily="18" charset="0"/>
              </a:rPr>
              <a:t>gasPrice</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The </a:t>
            </a:r>
            <a:r>
              <a:rPr lang="en-IN" sz="2400" dirty="0" err="1">
                <a:latin typeface="Times New Roman" panose="02020603050405020304" pitchFamily="18" charset="0"/>
                <a:cs typeface="Times New Roman" panose="02020603050405020304" pitchFamily="18" charset="0"/>
              </a:rPr>
              <a:t>gasPrice</a:t>
            </a:r>
            <a:r>
              <a:rPr lang="en-IN" sz="2400" dirty="0">
                <a:latin typeface="Times New Roman" panose="02020603050405020304" pitchFamily="18" charset="0"/>
                <a:cs typeface="Times New Roman" panose="02020603050405020304" pitchFamily="18" charset="0"/>
              </a:rPr>
              <a:t> field represents the </a:t>
            </a:r>
            <a:r>
              <a:rPr lang="en-IN" sz="2400" dirty="0">
                <a:solidFill>
                  <a:srgbClr val="FF0000"/>
                </a:solidFill>
                <a:latin typeface="Times New Roman" panose="02020603050405020304" pitchFamily="18" charset="0"/>
                <a:cs typeface="Times New Roman" panose="02020603050405020304" pitchFamily="18" charset="0"/>
              </a:rPr>
              <a:t>amount of Wei </a:t>
            </a:r>
            <a:r>
              <a:rPr lang="en-IN" sz="2400" dirty="0">
                <a:latin typeface="Times New Roman" panose="02020603050405020304" pitchFamily="18" charset="0"/>
                <a:cs typeface="Times New Roman" panose="02020603050405020304" pitchFamily="18" charset="0"/>
              </a:rPr>
              <a:t>required in order to execute the transaction.</a:t>
            </a:r>
          </a:p>
          <a:p>
            <a:r>
              <a:rPr lang="en-IN" sz="2400" b="1" dirty="0" err="1">
                <a:latin typeface="Times New Roman" panose="02020603050405020304" pitchFamily="18" charset="0"/>
                <a:cs typeface="Times New Roman" panose="02020603050405020304" pitchFamily="18" charset="0"/>
              </a:rPr>
              <a:t>gasLimit</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The </a:t>
            </a:r>
            <a:r>
              <a:rPr lang="en-IN" sz="2400" dirty="0" err="1">
                <a:latin typeface="Times New Roman" panose="02020603050405020304" pitchFamily="18" charset="0"/>
                <a:cs typeface="Times New Roman" panose="02020603050405020304" pitchFamily="18" charset="0"/>
              </a:rPr>
              <a:t>gasLimit</a:t>
            </a:r>
            <a:r>
              <a:rPr lang="en-IN" sz="2400" dirty="0">
                <a:latin typeface="Times New Roman" panose="02020603050405020304" pitchFamily="18" charset="0"/>
                <a:cs typeface="Times New Roman" panose="02020603050405020304" pitchFamily="18" charset="0"/>
              </a:rPr>
              <a:t> field contains the value that represents the </a:t>
            </a:r>
            <a:r>
              <a:rPr lang="en-IN" sz="2400" dirty="0">
                <a:solidFill>
                  <a:srgbClr val="FF0000"/>
                </a:solidFill>
                <a:latin typeface="Times New Roman" panose="02020603050405020304" pitchFamily="18" charset="0"/>
                <a:cs typeface="Times New Roman" panose="02020603050405020304" pitchFamily="18" charset="0"/>
              </a:rPr>
              <a:t>maximum amount of gas </a:t>
            </a:r>
            <a:r>
              <a:rPr lang="en-IN" sz="2400" dirty="0">
                <a:latin typeface="Times New Roman" panose="02020603050405020304" pitchFamily="18" charset="0"/>
                <a:cs typeface="Times New Roman" panose="02020603050405020304" pitchFamily="18" charset="0"/>
              </a:rPr>
              <a:t>that can be consumed in order to execute the transaction.</a:t>
            </a:r>
          </a:p>
          <a:p>
            <a:r>
              <a:rPr lang="en-IN" sz="2400" b="1" dirty="0">
                <a:latin typeface="Times New Roman" panose="02020603050405020304" pitchFamily="18" charset="0"/>
                <a:cs typeface="Times New Roman" panose="02020603050405020304" pitchFamily="18" charset="0"/>
              </a:rPr>
              <a:t>To: </a:t>
            </a:r>
            <a:r>
              <a:rPr lang="en-IN" sz="2400" dirty="0">
                <a:latin typeface="Times New Roman" panose="02020603050405020304" pitchFamily="18" charset="0"/>
                <a:cs typeface="Times New Roman" panose="02020603050405020304" pitchFamily="18" charset="0"/>
              </a:rPr>
              <a:t>As the name suggests, the to field is a value that represents the </a:t>
            </a:r>
            <a:r>
              <a:rPr lang="en-IN" sz="2400" dirty="0">
                <a:solidFill>
                  <a:srgbClr val="FF0000"/>
                </a:solidFill>
                <a:latin typeface="Times New Roman" panose="02020603050405020304" pitchFamily="18" charset="0"/>
                <a:cs typeface="Times New Roman" panose="02020603050405020304" pitchFamily="18" charset="0"/>
              </a:rPr>
              <a:t>address of the recipient </a:t>
            </a:r>
            <a:r>
              <a:rPr lang="en-IN" sz="2400" dirty="0">
                <a:latin typeface="Times New Roman" panose="02020603050405020304" pitchFamily="18" charset="0"/>
                <a:cs typeface="Times New Roman" panose="02020603050405020304" pitchFamily="18" charset="0"/>
              </a:rPr>
              <a:t>of the transaction.</a:t>
            </a:r>
          </a:p>
          <a:p>
            <a:r>
              <a:rPr lang="en-IN" sz="2400" b="1" dirty="0">
                <a:latin typeface="Times New Roman" panose="02020603050405020304" pitchFamily="18" charset="0"/>
                <a:cs typeface="Times New Roman" panose="02020603050405020304" pitchFamily="18" charset="0"/>
              </a:rPr>
              <a:t>Value: </a:t>
            </a:r>
            <a:r>
              <a:rPr lang="en-IN" sz="2400" dirty="0">
                <a:latin typeface="Times New Roman" panose="02020603050405020304" pitchFamily="18" charset="0"/>
                <a:cs typeface="Times New Roman" panose="02020603050405020304" pitchFamily="18" charset="0"/>
              </a:rPr>
              <a:t>Value represents the total </a:t>
            </a:r>
            <a:r>
              <a:rPr lang="en-IN" sz="2400" dirty="0">
                <a:solidFill>
                  <a:srgbClr val="FF0000"/>
                </a:solidFill>
                <a:latin typeface="Times New Roman" panose="02020603050405020304" pitchFamily="18" charset="0"/>
                <a:cs typeface="Times New Roman" panose="02020603050405020304" pitchFamily="18" charset="0"/>
              </a:rPr>
              <a:t>number of Wei </a:t>
            </a:r>
            <a:r>
              <a:rPr lang="en-IN" sz="2400" dirty="0">
                <a:latin typeface="Times New Roman" panose="02020603050405020304" pitchFamily="18" charset="0"/>
                <a:cs typeface="Times New Roman" panose="02020603050405020304" pitchFamily="18" charset="0"/>
              </a:rPr>
              <a:t>to be transferred to the recipient; in the case of a contract account, this represents the balance that the contract will hold.</a:t>
            </a:r>
          </a:p>
          <a:p>
            <a:r>
              <a:rPr lang="en-IN" sz="2400" b="1" dirty="0">
                <a:latin typeface="Times New Roman" panose="02020603050405020304" pitchFamily="18" charset="0"/>
                <a:cs typeface="Times New Roman" panose="02020603050405020304" pitchFamily="18" charset="0"/>
              </a:rPr>
              <a:t>Signature: </a:t>
            </a:r>
            <a:r>
              <a:rPr lang="en-IN" sz="2400" dirty="0">
                <a:latin typeface="Times New Roman" panose="02020603050405020304" pitchFamily="18" charset="0"/>
                <a:cs typeface="Times New Roman" panose="02020603050405020304" pitchFamily="18" charset="0"/>
              </a:rPr>
              <a:t>Signature is composed of three fields, namely </a:t>
            </a:r>
            <a:r>
              <a:rPr lang="en-IN" sz="2400" i="1" dirty="0">
                <a:latin typeface="Times New Roman" panose="02020603050405020304" pitchFamily="18" charset="0"/>
                <a:cs typeface="Times New Roman" panose="02020603050405020304" pitchFamily="18" charset="0"/>
              </a:rPr>
              <a:t>v</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r</a:t>
            </a:r>
            <a:r>
              <a:rPr lang="en-IN" sz="2400" dirty="0">
                <a:latin typeface="Times New Roman" panose="02020603050405020304" pitchFamily="18" charset="0"/>
                <a:cs typeface="Times New Roman" panose="02020603050405020304" pitchFamily="18" charset="0"/>
              </a:rPr>
              <a:t> and </a:t>
            </a:r>
            <a:r>
              <a:rPr lang="en-IN" sz="2400" i="1" dirty="0">
                <a:latin typeface="Times New Roman" panose="02020603050405020304" pitchFamily="18" charset="0"/>
                <a:cs typeface="Times New Roman" panose="02020603050405020304" pitchFamily="18" charset="0"/>
              </a:rPr>
              <a:t>s</a:t>
            </a:r>
          </a:p>
          <a:p>
            <a:pPr marL="0" indent="0">
              <a:buNone/>
            </a:pPr>
            <a:r>
              <a:rPr lang="en-IN" sz="2400" i="1" dirty="0">
                <a:latin typeface="Times New Roman" panose="02020603050405020304" pitchFamily="18" charset="0"/>
                <a:cs typeface="Times New Roman" panose="02020603050405020304" pitchFamily="18" charset="0"/>
              </a:rPr>
              <a:t>	V </a:t>
            </a:r>
            <a:r>
              <a:rPr lang="en-IN" sz="2400" dirty="0">
                <a:latin typeface="Times New Roman" panose="02020603050405020304" pitchFamily="18" charset="0"/>
                <a:cs typeface="Times New Roman" panose="02020603050405020304" pitchFamily="18" charset="0"/>
              </a:rPr>
              <a:t>is a single byte value that depicts the </a:t>
            </a:r>
            <a:r>
              <a:rPr lang="en-IN" sz="2400" dirty="0">
                <a:solidFill>
                  <a:srgbClr val="FF0000"/>
                </a:solidFill>
                <a:latin typeface="Times New Roman" panose="02020603050405020304" pitchFamily="18" charset="0"/>
                <a:cs typeface="Times New Roman" panose="02020603050405020304" pitchFamily="18" charset="0"/>
              </a:rPr>
              <a:t>size</a:t>
            </a:r>
            <a:r>
              <a:rPr lang="en-IN" sz="2400" dirty="0">
                <a:latin typeface="Times New Roman" panose="02020603050405020304" pitchFamily="18" charset="0"/>
                <a:cs typeface="Times New Roman" panose="02020603050405020304" pitchFamily="18" charset="0"/>
              </a:rPr>
              <a:t> and </a:t>
            </a:r>
            <a:r>
              <a:rPr lang="en-IN" sz="2400" dirty="0">
                <a:solidFill>
                  <a:srgbClr val="FF0000"/>
                </a:solidFill>
                <a:latin typeface="Times New Roman" panose="02020603050405020304" pitchFamily="18" charset="0"/>
                <a:cs typeface="Times New Roman" panose="02020603050405020304" pitchFamily="18" charset="0"/>
              </a:rPr>
              <a:t>sign</a:t>
            </a:r>
            <a:r>
              <a:rPr lang="en-IN" sz="2400" dirty="0">
                <a:latin typeface="Times New Roman" panose="02020603050405020304" pitchFamily="18" charset="0"/>
                <a:cs typeface="Times New Roman" panose="02020603050405020304" pitchFamily="18" charset="0"/>
              </a:rPr>
              <a:t> of the elliptic curve point and can 	be either </a:t>
            </a:r>
            <a:r>
              <a:rPr lang="en-IN" sz="2400" dirty="0">
                <a:solidFill>
                  <a:srgbClr val="FF0000"/>
                </a:solidFill>
                <a:latin typeface="Times New Roman" panose="02020603050405020304" pitchFamily="18" charset="0"/>
                <a:cs typeface="Times New Roman" panose="02020603050405020304" pitchFamily="18" charset="0"/>
              </a:rPr>
              <a:t>27 or 28</a:t>
            </a:r>
            <a:r>
              <a:rPr lang="en-IN" sz="2400" dirty="0">
                <a:latin typeface="Times New Roman" panose="02020603050405020304" pitchFamily="18" charset="0"/>
                <a:cs typeface="Times New Roman" panose="02020603050405020304" pitchFamily="18" charset="0"/>
              </a:rPr>
              <a:t>.</a:t>
            </a:r>
          </a:p>
          <a:p>
            <a:pPr marL="0" indent="0">
              <a:buNone/>
            </a:pPr>
            <a:r>
              <a:rPr lang="en-IN" sz="2400" i="1" dirty="0">
                <a:latin typeface="Times New Roman" panose="02020603050405020304" pitchFamily="18" charset="0"/>
                <a:cs typeface="Times New Roman" panose="02020603050405020304" pitchFamily="18" charset="0"/>
              </a:rPr>
              <a:t>	R </a:t>
            </a:r>
            <a:r>
              <a:rPr lang="en-IN" sz="2400" dirty="0">
                <a:latin typeface="Times New Roman" panose="02020603050405020304" pitchFamily="18" charset="0"/>
                <a:cs typeface="Times New Roman" panose="02020603050405020304" pitchFamily="18" charset="0"/>
              </a:rPr>
              <a:t>is derived from a calculated point on the curve. First, a </a:t>
            </a:r>
            <a:r>
              <a:rPr lang="en-IN" sz="2400" dirty="0">
                <a:solidFill>
                  <a:srgbClr val="FF0000"/>
                </a:solidFill>
                <a:latin typeface="Times New Roman" panose="02020603050405020304" pitchFamily="18" charset="0"/>
                <a:cs typeface="Times New Roman" panose="02020603050405020304" pitchFamily="18" charset="0"/>
              </a:rPr>
              <a:t>random</a:t>
            </a:r>
            <a:r>
              <a:rPr lang="en-IN" sz="2400" dirty="0">
                <a:latin typeface="Times New Roman" panose="02020603050405020304" pitchFamily="18" charset="0"/>
                <a:cs typeface="Times New Roman" panose="02020603050405020304" pitchFamily="18" charset="0"/>
              </a:rPr>
              <a:t> number is picked up.</a:t>
            </a:r>
          </a:p>
          <a:p>
            <a:endParaRPr lang="en-IN" sz="2400" dirty="0"/>
          </a:p>
        </p:txBody>
      </p:sp>
    </p:spTree>
    <p:extLst>
      <p:ext uri="{BB962C8B-B14F-4D97-AF65-F5344CB8AC3E}">
        <p14:creationId xmlns:p14="http://schemas.microsoft.com/office/powerpoint/2010/main" val="20827897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24543"/>
            <a:ext cx="10820400" cy="5752420"/>
          </a:xfrm>
        </p:spPr>
        <p:txBody>
          <a:bodyPr/>
          <a:lstStyle/>
          <a:p>
            <a:pPr marL="0" indent="0" algn="just">
              <a:buNone/>
            </a:pPr>
            <a:r>
              <a:rPr lang="en-IN" i="1" dirty="0">
                <a:latin typeface="Times New Roman" panose="02020603050405020304" pitchFamily="18" charset="0"/>
                <a:cs typeface="Times New Roman" panose="02020603050405020304" pitchFamily="18" charset="0"/>
              </a:rPr>
              <a:t>S </a:t>
            </a:r>
            <a:r>
              <a:rPr lang="en-IN" dirty="0">
                <a:latin typeface="Times New Roman" panose="02020603050405020304" pitchFamily="18" charset="0"/>
                <a:cs typeface="Times New Roman" panose="02020603050405020304" pitchFamily="18" charset="0"/>
              </a:rPr>
              <a:t>is calculated by multiplying </a:t>
            </a:r>
            <a:r>
              <a:rPr lang="en-IN" i="1" dirty="0">
                <a:latin typeface="Times New Roman" panose="02020603050405020304" pitchFamily="18" charset="0"/>
                <a:cs typeface="Times New Roman" panose="02020603050405020304" pitchFamily="18" charset="0"/>
              </a:rPr>
              <a:t>R </a:t>
            </a:r>
            <a:r>
              <a:rPr lang="en-IN" dirty="0">
                <a:latin typeface="Times New Roman" panose="02020603050405020304" pitchFamily="18" charset="0"/>
                <a:cs typeface="Times New Roman" panose="02020603050405020304" pitchFamily="18" charset="0"/>
              </a:rPr>
              <a:t>with the private key and adding it into the hash of the message to be signed and by finally dividing it with the random number chosen to calculate </a:t>
            </a:r>
            <a:r>
              <a:rPr lang="en-IN" i="1" dirty="0">
                <a:latin typeface="Times New Roman" panose="02020603050405020304" pitchFamily="18" charset="0"/>
                <a:cs typeface="Times New Roman" panose="02020603050405020304" pitchFamily="18" charset="0"/>
              </a:rPr>
              <a:t>R</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S </a:t>
            </a:r>
            <a:r>
              <a:rPr lang="en-IN" dirty="0">
                <a:latin typeface="Times New Roman" panose="02020603050405020304" pitchFamily="18" charset="0"/>
                <a:cs typeface="Times New Roman" panose="02020603050405020304" pitchFamily="18" charset="0"/>
              </a:rPr>
              <a:t>is also a 32 byte </a:t>
            </a:r>
            <a:r>
              <a:rPr lang="en-IN" dirty="0">
                <a:solidFill>
                  <a:srgbClr val="FF0000"/>
                </a:solidFill>
                <a:latin typeface="Times New Roman" panose="02020603050405020304" pitchFamily="18" charset="0"/>
                <a:cs typeface="Times New Roman" panose="02020603050405020304" pitchFamily="18" charset="0"/>
              </a:rPr>
              <a:t>sequence</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R </a:t>
            </a:r>
            <a:r>
              <a:rPr lang="en-IN" dirty="0">
                <a:latin typeface="Times New Roman" panose="02020603050405020304" pitchFamily="18" charset="0"/>
                <a:cs typeface="Times New Roman" panose="02020603050405020304" pitchFamily="18" charset="0"/>
              </a:rPr>
              <a:t>and </a:t>
            </a:r>
            <a:r>
              <a:rPr lang="en-IN" i="1" dirty="0">
                <a:latin typeface="Times New Roman" panose="02020603050405020304" pitchFamily="18" charset="0"/>
                <a:cs typeface="Times New Roman" panose="02020603050405020304" pitchFamily="18" charset="0"/>
              </a:rPr>
              <a:t>S </a:t>
            </a:r>
            <a:r>
              <a:rPr lang="en-IN" dirty="0">
                <a:latin typeface="Times New Roman" panose="02020603050405020304" pitchFamily="18" charset="0"/>
                <a:cs typeface="Times New Roman" panose="02020603050405020304" pitchFamily="18" charset="0"/>
              </a:rPr>
              <a:t>together represent the signature.</a:t>
            </a:r>
          </a:p>
          <a:p>
            <a:pPr algn="just"/>
            <a:r>
              <a:rPr lang="en-IN" b="1" dirty="0">
                <a:latin typeface="Times New Roman" panose="02020603050405020304" pitchFamily="18" charset="0"/>
                <a:cs typeface="Times New Roman" panose="02020603050405020304" pitchFamily="18" charset="0"/>
              </a:rPr>
              <a:t>Init: </a:t>
            </a:r>
            <a:r>
              <a:rPr lang="en-IN" dirty="0">
                <a:latin typeface="Times New Roman" panose="02020603050405020304" pitchFamily="18" charset="0"/>
                <a:cs typeface="Times New Roman" panose="02020603050405020304" pitchFamily="18" charset="0"/>
              </a:rPr>
              <a:t>The Init field is used only in transactions that are intended to </a:t>
            </a:r>
            <a:r>
              <a:rPr lang="en-IN" dirty="0">
                <a:solidFill>
                  <a:srgbClr val="FF0000"/>
                </a:solidFill>
                <a:latin typeface="Times New Roman" panose="02020603050405020304" pitchFamily="18" charset="0"/>
                <a:cs typeface="Times New Roman" panose="02020603050405020304" pitchFamily="18" charset="0"/>
              </a:rPr>
              <a:t>create contracts</a:t>
            </a:r>
            <a:r>
              <a:rPr lang="en-IN" dirty="0">
                <a:latin typeface="Times New Roman" panose="02020603050405020304" pitchFamily="18" charset="0"/>
                <a:cs typeface="Times New Roman" panose="02020603050405020304" pitchFamily="18" charset="0"/>
              </a:rPr>
              <a:t>. This represents a byte array of unlimited length that specifies the EVM code to be used in the account initialization process.</a:t>
            </a:r>
          </a:p>
          <a:p>
            <a:r>
              <a:rPr lang="en-IN" b="1" dirty="0">
                <a:latin typeface="Times New Roman" panose="02020603050405020304" pitchFamily="18" charset="0"/>
                <a:cs typeface="Times New Roman" panose="02020603050405020304" pitchFamily="18" charset="0"/>
              </a:rPr>
              <a:t>Data: </a:t>
            </a:r>
            <a:r>
              <a:rPr lang="en-IN" dirty="0">
                <a:latin typeface="Times New Roman" panose="02020603050405020304" pitchFamily="18" charset="0"/>
                <a:cs typeface="Times New Roman" panose="02020603050405020304" pitchFamily="18" charset="0"/>
              </a:rPr>
              <a:t>If the transaction is a </a:t>
            </a:r>
            <a:r>
              <a:rPr lang="en-IN" dirty="0">
                <a:solidFill>
                  <a:srgbClr val="FF0000"/>
                </a:solidFill>
                <a:latin typeface="Times New Roman" panose="02020603050405020304" pitchFamily="18" charset="0"/>
                <a:cs typeface="Times New Roman" panose="02020603050405020304" pitchFamily="18" charset="0"/>
              </a:rPr>
              <a:t>message call</a:t>
            </a:r>
            <a:r>
              <a:rPr lang="en-IN" dirty="0">
                <a:latin typeface="Times New Roman" panose="02020603050405020304" pitchFamily="18" charset="0"/>
                <a:cs typeface="Times New Roman" panose="02020603050405020304" pitchFamily="18" charset="0"/>
              </a:rPr>
              <a:t>, then the data field is used instead of </a:t>
            </a:r>
            <a:r>
              <a:rPr lang="en-IN" dirty="0" err="1">
                <a:latin typeface="Times New Roman" panose="02020603050405020304" pitchFamily="18" charset="0"/>
                <a:cs typeface="Times New Roman" panose="02020603050405020304" pitchFamily="18" charset="0"/>
              </a:rPr>
              <a:t>init</a:t>
            </a:r>
            <a:r>
              <a:rPr lang="en-IN" dirty="0">
                <a:latin typeface="Times New Roman" panose="02020603050405020304" pitchFamily="18" charset="0"/>
                <a:cs typeface="Times New Roman" panose="02020603050405020304" pitchFamily="18" charset="0"/>
              </a:rPr>
              <a:t>, which represents the input data of the message call. It is also unlimited in size and is organized as a byte array.</a:t>
            </a:r>
          </a:p>
          <a:p>
            <a:pPr marL="0" indent="0" algn="just">
              <a:buNone/>
            </a:pPr>
            <a:endParaRPr lang="en-IN" dirty="0"/>
          </a:p>
        </p:txBody>
      </p:sp>
    </p:spTree>
    <p:extLst>
      <p:ext uri="{BB962C8B-B14F-4D97-AF65-F5344CB8AC3E}">
        <p14:creationId xmlns:p14="http://schemas.microsoft.com/office/powerpoint/2010/main" val="18128040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CC52273-3DDD-15C1-AD44-0454A822B097}"/>
              </a:ext>
            </a:extLst>
          </p:cNvPr>
          <p:cNvPicPr>
            <a:picLocks noGrp="1" noChangeAspect="1"/>
          </p:cNvPicPr>
          <p:nvPr>
            <p:ph idx="1"/>
          </p:nvPr>
        </p:nvPicPr>
        <p:blipFill>
          <a:blip r:embed="rId2"/>
          <a:stretch>
            <a:fillRect/>
          </a:stretch>
        </p:blipFill>
        <p:spPr>
          <a:xfrm>
            <a:off x="1948544" y="522514"/>
            <a:ext cx="7913914" cy="4931228"/>
          </a:xfrm>
        </p:spPr>
      </p:pic>
    </p:spTree>
    <p:extLst>
      <p:ext uri="{BB962C8B-B14F-4D97-AF65-F5344CB8AC3E}">
        <p14:creationId xmlns:p14="http://schemas.microsoft.com/office/powerpoint/2010/main" val="33570194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transaction&#10;&#10;Description automatically generated">
            <a:extLst>
              <a:ext uri="{FF2B5EF4-FFF2-40B4-BE49-F238E27FC236}">
                <a16:creationId xmlns:a16="http://schemas.microsoft.com/office/drawing/2014/main" id="{D6CEE877-7D22-58F8-5048-AB67F3BE888E}"/>
              </a:ext>
            </a:extLst>
          </p:cNvPr>
          <p:cNvPicPr>
            <a:picLocks noGrp="1" noChangeAspect="1"/>
          </p:cNvPicPr>
          <p:nvPr>
            <p:ph idx="1"/>
          </p:nvPr>
        </p:nvPicPr>
        <p:blipFill>
          <a:blip r:embed="rId2"/>
          <a:stretch>
            <a:fillRect/>
          </a:stretch>
        </p:blipFill>
        <p:spPr>
          <a:xfrm>
            <a:off x="643467" y="784521"/>
            <a:ext cx="10905066" cy="5288956"/>
          </a:xfrm>
          <a:prstGeom prst="rect">
            <a:avLst/>
          </a:prstGeom>
        </p:spPr>
      </p:pic>
    </p:spTree>
    <p:extLst>
      <p:ext uri="{BB962C8B-B14F-4D97-AF65-F5344CB8AC3E}">
        <p14:creationId xmlns:p14="http://schemas.microsoft.com/office/powerpoint/2010/main" val="22299591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7175B2-507B-D234-804C-049B235645A5}"/>
              </a:ext>
            </a:extLst>
          </p:cNvPr>
          <p:cNvSpPr>
            <a:spLocks noGrp="1"/>
          </p:cNvSpPr>
          <p:nvPr>
            <p:ph idx="1"/>
          </p:nvPr>
        </p:nvSpPr>
        <p:spPr>
          <a:xfrm>
            <a:off x="627860" y="524972"/>
            <a:ext cx="11117826" cy="4879105"/>
          </a:xfrm>
        </p:spPr>
        <p:txBody>
          <a:bodyPr>
            <a:normAutofit/>
          </a:bodyPr>
          <a:lstStyle/>
          <a:p>
            <a:pPr algn="just"/>
            <a:r>
              <a:rPr lang="en-IN" sz="2400" b="0" i="0" u="none" strike="noStrike" baseline="0" dirty="0">
                <a:latin typeface="Calibri" panose="020F0502020204030204" pitchFamily="34" charset="0"/>
                <a:cs typeface="Calibri" panose="020F0502020204030204" pitchFamily="34" charset="0"/>
              </a:rPr>
              <a:t>  A transaction is a tuple of the fields mentioned earlier, which is then included in a transaction </a:t>
            </a:r>
            <a:r>
              <a:rPr lang="en-IN" sz="2400" b="0" i="0" u="none" strike="noStrike" baseline="0" dirty="0" err="1">
                <a:latin typeface="Calibri" panose="020F0502020204030204" pitchFamily="34" charset="0"/>
                <a:cs typeface="Calibri" panose="020F0502020204030204" pitchFamily="34" charset="0"/>
              </a:rPr>
              <a:t>trie</a:t>
            </a:r>
            <a:r>
              <a:rPr lang="en-IN" sz="2400" b="0" i="0" u="none" strike="noStrike" baseline="0" dirty="0">
                <a:latin typeface="Calibri" panose="020F0502020204030204" pitchFamily="34" charset="0"/>
                <a:cs typeface="Calibri" panose="020F0502020204030204" pitchFamily="34" charset="0"/>
              </a:rPr>
              <a:t> (a modified Merkle-Patricia tree) composed of the transactions to be included. </a:t>
            </a:r>
          </a:p>
          <a:p>
            <a:pPr algn="just"/>
            <a:r>
              <a:rPr lang="en-IN" sz="2400" b="0" i="0" u="none" strike="noStrike" baseline="0" dirty="0">
                <a:latin typeface="Calibri" panose="020F0502020204030204" pitchFamily="34" charset="0"/>
                <a:cs typeface="Calibri" panose="020F0502020204030204" pitchFamily="34" charset="0"/>
              </a:rPr>
              <a:t>Finally, the root node of transaction trie is hashed using a Keccak 256-bit algorithm and is included in the block header along  with a list of transactions in the block.</a:t>
            </a:r>
            <a:endParaRPr lang="en-IN" sz="2400"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7F99A47-F3E4-EE52-EA14-7EDC7501BA3D}"/>
              </a:ext>
            </a:extLst>
          </p:cNvPr>
          <p:cNvPicPr>
            <a:picLocks noChangeAspect="1"/>
          </p:cNvPicPr>
          <p:nvPr/>
        </p:nvPicPr>
        <p:blipFill>
          <a:blip r:embed="rId2"/>
          <a:stretch>
            <a:fillRect/>
          </a:stretch>
        </p:blipFill>
        <p:spPr>
          <a:xfrm>
            <a:off x="5584371" y="2590717"/>
            <a:ext cx="4705903" cy="3614139"/>
          </a:xfrm>
          <a:prstGeom prst="rect">
            <a:avLst/>
          </a:prstGeom>
        </p:spPr>
      </p:pic>
    </p:spTree>
    <p:extLst>
      <p:ext uri="{BB962C8B-B14F-4D97-AF65-F5344CB8AC3E}">
        <p14:creationId xmlns:p14="http://schemas.microsoft.com/office/powerpoint/2010/main" val="11997659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DB0937-E26D-0642-1DBE-4B29DB28D6E4}"/>
              </a:ext>
            </a:extLst>
          </p:cNvPr>
          <p:cNvSpPr>
            <a:spLocks noGrp="1"/>
          </p:cNvSpPr>
          <p:nvPr>
            <p:ph idx="1"/>
          </p:nvPr>
        </p:nvSpPr>
        <p:spPr>
          <a:xfrm>
            <a:off x="359230" y="370115"/>
            <a:ext cx="11430000" cy="6106886"/>
          </a:xfrm>
        </p:spPr>
        <p:txBody>
          <a:bodyPr>
            <a:normAutofit lnSpcReduction="10000"/>
          </a:bodyPr>
          <a:lstStyle/>
          <a:p>
            <a:pPr algn="just"/>
            <a:r>
              <a:rPr lang="en-IN" b="0" i="0" u="none" strike="noStrike" baseline="0" dirty="0">
                <a:latin typeface="Times New Roman" panose="02020603050405020304" pitchFamily="18" charset="0"/>
                <a:cs typeface="Times New Roman" panose="02020603050405020304" pitchFamily="18" charset="0"/>
              </a:rPr>
              <a:t>Transactions can be found in either transaction pools or blocks. </a:t>
            </a:r>
          </a:p>
          <a:p>
            <a:pPr algn="just"/>
            <a:r>
              <a:rPr lang="en-IN" b="0" i="0" u="none" strike="noStrike" baseline="0" dirty="0">
                <a:latin typeface="Times New Roman" panose="02020603050405020304" pitchFamily="18" charset="0"/>
                <a:cs typeface="Times New Roman" panose="02020603050405020304" pitchFamily="18" charset="0"/>
              </a:rPr>
              <a:t>When a mining node starts its operation of verifying blocks, it starts with the highest paying transactions in the transaction pool and executes them one by one. </a:t>
            </a:r>
          </a:p>
          <a:p>
            <a:pPr algn="just"/>
            <a:r>
              <a:rPr lang="en-IN" b="0" i="0" u="none" strike="noStrike" baseline="0" dirty="0">
                <a:latin typeface="Times New Roman" panose="02020603050405020304" pitchFamily="18" charset="0"/>
                <a:cs typeface="Times New Roman" panose="02020603050405020304" pitchFamily="18" charset="0"/>
              </a:rPr>
              <a:t>When the gas limit is reached or no more transactions are left to be processed in the transaction pool, the mining starts.</a:t>
            </a:r>
          </a:p>
          <a:p>
            <a:pPr algn="just"/>
            <a:r>
              <a:rPr lang="en-IN" b="0" i="0" u="none" strike="noStrike" baseline="0" dirty="0">
                <a:latin typeface="Times New Roman" panose="02020603050405020304" pitchFamily="18" charset="0"/>
                <a:cs typeface="Times New Roman" panose="02020603050405020304" pitchFamily="18" charset="0"/>
              </a:rPr>
              <a:t> In this process, the block is repeatedly hashed until a valid nonce is found.</a:t>
            </a:r>
          </a:p>
          <a:p>
            <a:pPr algn="just"/>
            <a:r>
              <a:rPr lang="en-IN" b="0" i="0" u="none" strike="noStrike" baseline="0" dirty="0">
                <a:latin typeface="Times New Roman" panose="02020603050405020304" pitchFamily="18" charset="0"/>
                <a:cs typeface="Times New Roman" panose="02020603050405020304" pitchFamily="18" charset="0"/>
              </a:rPr>
              <a:t>Once the block is successfully mined, it will be broadcasted immediately to the network, claiming success, and will be verified and accepted by the network. </a:t>
            </a:r>
          </a:p>
          <a:p>
            <a:pPr algn="l"/>
            <a:r>
              <a:rPr lang="en-IN" b="0" i="0" u="none" strike="noStrike" baseline="0" dirty="0">
                <a:latin typeface="Times New Roman" panose="02020603050405020304" pitchFamily="18" charset="0"/>
                <a:cs typeface="Times New Roman" panose="02020603050405020304" pitchFamily="18" charset="0"/>
              </a:rPr>
              <a:t>This process is similar to Bitcoin's mining process. </a:t>
            </a:r>
          </a:p>
          <a:p>
            <a:pPr algn="just">
              <a:lnSpc>
                <a:spcPct val="100000"/>
              </a:lnSpc>
            </a:pPr>
            <a:r>
              <a:rPr lang="en-IN" dirty="0">
                <a:latin typeface="Times New Roman" panose="02020603050405020304" pitchFamily="18" charset="0"/>
                <a:cs typeface="Times New Roman" panose="02020603050405020304" pitchFamily="18" charset="0"/>
              </a:rPr>
              <a:t>The only difference is that Ethereum's Proof of Work algorithm is ASIC-resistant,(application specific integrated circuit.. i.e., used for mining purpose) known as </a:t>
            </a:r>
            <a:r>
              <a:rPr lang="en-IN" dirty="0" err="1">
                <a:latin typeface="Times New Roman" panose="02020603050405020304" pitchFamily="18" charset="0"/>
                <a:cs typeface="Times New Roman" panose="02020603050405020304" pitchFamily="18" charset="0"/>
              </a:rPr>
              <a:t>Ethash</a:t>
            </a:r>
            <a:r>
              <a:rPr lang="en-IN" dirty="0">
                <a:latin typeface="Times New Roman" panose="02020603050405020304" pitchFamily="18" charset="0"/>
                <a:cs typeface="Times New Roman" panose="02020603050405020304" pitchFamily="18" charset="0"/>
              </a:rPr>
              <a:t>, where finding a nonce requires large memory.</a:t>
            </a:r>
          </a:p>
          <a:p>
            <a:endParaRPr lang="en-IN" dirty="0"/>
          </a:p>
        </p:txBody>
      </p:sp>
    </p:spTree>
    <p:extLst>
      <p:ext uri="{BB962C8B-B14F-4D97-AF65-F5344CB8AC3E}">
        <p14:creationId xmlns:p14="http://schemas.microsoft.com/office/powerpoint/2010/main" val="5390094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7B3FF-6AD4-7B79-10C3-FDD3931FC376}"/>
              </a:ext>
            </a:extLst>
          </p:cNvPr>
          <p:cNvSpPr>
            <a:spLocks noGrp="1"/>
          </p:cNvSpPr>
          <p:nvPr>
            <p:ph type="title"/>
          </p:nvPr>
        </p:nvSpPr>
        <p:spPr>
          <a:xfrm>
            <a:off x="587829" y="-362745"/>
            <a:ext cx="10515600" cy="1325563"/>
          </a:xfrm>
        </p:spPr>
        <p:txBody>
          <a:bodyPr/>
          <a:lstStyle/>
          <a:p>
            <a:pPr algn="ctr"/>
            <a:r>
              <a:rPr lang="en-IN" sz="4400" b="1" i="0" u="none" strike="noStrike" baseline="0" dirty="0">
                <a:solidFill>
                  <a:srgbClr val="FF0000"/>
                </a:solidFill>
                <a:latin typeface="Times New Roman" panose="02020603050405020304" pitchFamily="18" charset="0"/>
                <a:cs typeface="Times New Roman" panose="02020603050405020304" pitchFamily="18" charset="0"/>
              </a:rPr>
              <a:t>Contract creation transaction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340DF7-D102-0C90-10B6-69DA3BA0BFCF}"/>
              </a:ext>
            </a:extLst>
          </p:cNvPr>
          <p:cNvSpPr>
            <a:spLocks noGrp="1"/>
          </p:cNvSpPr>
          <p:nvPr>
            <p:ph idx="1"/>
          </p:nvPr>
        </p:nvSpPr>
        <p:spPr>
          <a:xfrm>
            <a:off x="370116" y="816430"/>
            <a:ext cx="11658600" cy="5747658"/>
          </a:xfrm>
        </p:spPr>
        <p:txBody>
          <a:bodyPr>
            <a:normAutofit lnSpcReduction="10000"/>
          </a:bodyPr>
          <a:lstStyle/>
          <a:p>
            <a:pPr marL="0" indent="0">
              <a:buNone/>
            </a:pPr>
            <a:r>
              <a:rPr lang="en-IN" dirty="0">
                <a:latin typeface="Times New Roman" panose="02020603050405020304" pitchFamily="18" charset="0"/>
                <a:cs typeface="Times New Roman" panose="02020603050405020304" pitchFamily="18" charset="0"/>
              </a:rPr>
              <a:t>There are a few essential parameters that are required when </a:t>
            </a:r>
            <a:r>
              <a:rPr lang="en-IN" dirty="0">
                <a:solidFill>
                  <a:srgbClr val="FF0000"/>
                </a:solidFill>
                <a:latin typeface="Times New Roman" panose="02020603050405020304" pitchFamily="18" charset="0"/>
                <a:cs typeface="Times New Roman" panose="02020603050405020304" pitchFamily="18" charset="0"/>
              </a:rPr>
              <a:t>creating an account</a:t>
            </a:r>
            <a:r>
              <a:rPr lang="en-IN" dirty="0">
                <a:latin typeface="Times New Roman" panose="02020603050405020304" pitchFamily="18" charset="0"/>
                <a:cs typeface="Times New Roman" panose="02020603050405020304" pitchFamily="18" charset="0"/>
              </a:rPr>
              <a:t>. These</a:t>
            </a:r>
          </a:p>
          <a:p>
            <a:pPr marL="0" indent="0">
              <a:buNone/>
            </a:pPr>
            <a:r>
              <a:rPr lang="en-IN" dirty="0">
                <a:latin typeface="Times New Roman" panose="02020603050405020304" pitchFamily="18" charset="0"/>
                <a:cs typeface="Times New Roman" panose="02020603050405020304" pitchFamily="18" charset="0"/>
              </a:rPr>
              <a:t>parameters are listed as follows:</a:t>
            </a:r>
          </a:p>
          <a:p>
            <a:r>
              <a:rPr lang="en-IN" dirty="0">
                <a:latin typeface="Times New Roman" panose="02020603050405020304" pitchFamily="18" charset="0"/>
                <a:cs typeface="Times New Roman" panose="02020603050405020304" pitchFamily="18" charset="0"/>
              </a:rPr>
              <a:t>Sender</a:t>
            </a:r>
          </a:p>
          <a:p>
            <a:r>
              <a:rPr lang="en-IN" dirty="0">
                <a:latin typeface="Times New Roman" panose="02020603050405020304" pitchFamily="18" charset="0"/>
                <a:cs typeface="Times New Roman" panose="02020603050405020304" pitchFamily="18" charset="0"/>
              </a:rPr>
              <a:t>Original transactor</a:t>
            </a:r>
          </a:p>
          <a:p>
            <a:r>
              <a:rPr lang="en-IN" dirty="0">
                <a:latin typeface="Times New Roman" panose="02020603050405020304" pitchFamily="18" charset="0"/>
                <a:cs typeface="Times New Roman" panose="02020603050405020304" pitchFamily="18" charset="0"/>
              </a:rPr>
              <a:t>Available gas</a:t>
            </a:r>
          </a:p>
          <a:p>
            <a:r>
              <a:rPr lang="en-IN" dirty="0">
                <a:latin typeface="Times New Roman" panose="02020603050405020304" pitchFamily="18" charset="0"/>
                <a:cs typeface="Times New Roman" panose="02020603050405020304" pitchFamily="18" charset="0"/>
              </a:rPr>
              <a:t>Gas price</a:t>
            </a:r>
          </a:p>
          <a:p>
            <a:r>
              <a:rPr lang="en-IN" dirty="0">
                <a:latin typeface="Times New Roman" panose="02020603050405020304" pitchFamily="18" charset="0"/>
                <a:cs typeface="Times New Roman" panose="02020603050405020304" pitchFamily="18" charset="0"/>
              </a:rPr>
              <a:t>Endowment, which is the amount of ether allocated initially</a:t>
            </a:r>
          </a:p>
          <a:p>
            <a:r>
              <a:rPr lang="en-IN" dirty="0">
                <a:latin typeface="Times New Roman" panose="02020603050405020304" pitchFamily="18" charset="0"/>
                <a:cs typeface="Times New Roman" panose="02020603050405020304" pitchFamily="18" charset="0"/>
              </a:rPr>
              <a:t>A byte array of arbitrary length</a:t>
            </a:r>
          </a:p>
          <a:p>
            <a:r>
              <a:rPr lang="en-IN" dirty="0">
                <a:latin typeface="Times New Roman" panose="02020603050405020304" pitchFamily="18" charset="0"/>
                <a:cs typeface="Times New Roman" panose="02020603050405020304" pitchFamily="18" charset="0"/>
              </a:rPr>
              <a:t>Initialization EVM code</a:t>
            </a:r>
          </a:p>
          <a:p>
            <a:r>
              <a:rPr lang="en-IN" dirty="0">
                <a:latin typeface="Times New Roman" panose="02020603050405020304" pitchFamily="18" charset="0"/>
                <a:cs typeface="Times New Roman" panose="02020603050405020304" pitchFamily="18" charset="0"/>
              </a:rPr>
              <a:t>Current depth of the message call/contract-creation stack (current depth means the number of items that are already there in the stack)</a:t>
            </a:r>
          </a:p>
          <a:p>
            <a:endParaRPr lang="en-IN" dirty="0"/>
          </a:p>
        </p:txBody>
      </p:sp>
    </p:spTree>
    <p:extLst>
      <p:ext uri="{BB962C8B-B14F-4D97-AF65-F5344CB8AC3E}">
        <p14:creationId xmlns:p14="http://schemas.microsoft.com/office/powerpoint/2010/main" val="1586116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AFF4-7641-B9D2-7521-FBD65E37DE8E}"/>
              </a:ext>
            </a:extLst>
          </p:cNvPr>
          <p:cNvSpPr>
            <a:spLocks noGrp="1"/>
          </p:cNvSpPr>
          <p:nvPr>
            <p:ph type="title"/>
          </p:nvPr>
        </p:nvSpPr>
        <p:spPr>
          <a:xfrm>
            <a:off x="707571" y="-244475"/>
            <a:ext cx="10515600" cy="1158875"/>
          </a:xfrm>
        </p:spPr>
        <p:txBody>
          <a:bodyPr/>
          <a:lstStyle/>
          <a:p>
            <a:pPr algn="ctr"/>
            <a:r>
              <a:rPr lang="en-IN" sz="4400" b="1" i="0" u="none" strike="noStrike" baseline="0" dirty="0">
                <a:solidFill>
                  <a:srgbClr val="FF0000"/>
                </a:solidFill>
                <a:latin typeface="Times New Roman" panose="02020603050405020304" pitchFamily="18" charset="0"/>
                <a:cs typeface="Times New Roman" panose="02020603050405020304" pitchFamily="18" charset="0"/>
              </a:rPr>
              <a:t>Message call transaction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4DA992-CA54-FB02-F880-CCAF238A1EB7}"/>
              </a:ext>
            </a:extLst>
          </p:cNvPr>
          <p:cNvSpPr>
            <a:spLocks noGrp="1"/>
          </p:cNvSpPr>
          <p:nvPr>
            <p:ph idx="1"/>
          </p:nvPr>
        </p:nvSpPr>
        <p:spPr>
          <a:xfrm>
            <a:off x="500742" y="1081088"/>
            <a:ext cx="10853057" cy="5095876"/>
          </a:xfrm>
        </p:spPr>
        <p:txBody>
          <a:bodyPr>
            <a:normAutofit fontScale="92500" lnSpcReduction="20000"/>
          </a:bodyPr>
          <a:lstStyle/>
          <a:p>
            <a:pPr algn="l"/>
            <a:r>
              <a:rPr lang="en-IN" sz="2800" b="0" i="0" u="none" strike="noStrike" baseline="0" dirty="0">
                <a:latin typeface="Calibri" panose="020F0502020204030204" pitchFamily="34" charset="0"/>
                <a:cs typeface="Calibri" panose="020F0502020204030204" pitchFamily="34" charset="0"/>
              </a:rPr>
              <a:t>A message call requires several parameters for execution, which are listed as follows:</a:t>
            </a:r>
          </a:p>
          <a:p>
            <a:pPr algn="l"/>
            <a:r>
              <a:rPr lang="en-IN" sz="2800" b="0" i="0" u="none" strike="noStrike" baseline="0" dirty="0">
                <a:latin typeface="Calibri" panose="020F0502020204030204" pitchFamily="34" charset="0"/>
                <a:cs typeface="Calibri" panose="020F0502020204030204" pitchFamily="34" charset="0"/>
              </a:rPr>
              <a:t>Sender</a:t>
            </a:r>
          </a:p>
          <a:p>
            <a:pPr algn="l"/>
            <a:r>
              <a:rPr lang="en-IN" sz="2800" b="0" i="0" u="none" strike="noStrike" baseline="0" dirty="0">
                <a:latin typeface="Calibri" panose="020F0502020204030204" pitchFamily="34" charset="0"/>
                <a:cs typeface="Calibri" panose="020F0502020204030204" pitchFamily="34" charset="0"/>
              </a:rPr>
              <a:t>The transaction originator</a:t>
            </a:r>
          </a:p>
          <a:p>
            <a:pPr algn="l"/>
            <a:r>
              <a:rPr lang="en-IN" sz="2800" b="0" i="0" u="none" strike="noStrike" baseline="0" dirty="0">
                <a:latin typeface="Calibri" panose="020F0502020204030204" pitchFamily="34" charset="0"/>
                <a:cs typeface="Calibri" panose="020F0502020204030204" pitchFamily="34" charset="0"/>
              </a:rPr>
              <a:t>Recipient</a:t>
            </a:r>
            <a:endParaRPr lang="en-IN" sz="2800" dirty="0">
              <a:latin typeface="Calibri" panose="020F0502020204030204" pitchFamily="34" charset="0"/>
              <a:cs typeface="Calibri" panose="020F0502020204030204" pitchFamily="34" charset="0"/>
            </a:endParaRPr>
          </a:p>
          <a:p>
            <a:pPr algn="l"/>
            <a:r>
              <a:rPr lang="en-IN" sz="2800" b="0" i="0" u="none" strike="noStrike" baseline="0" dirty="0">
                <a:latin typeface="Calibri" panose="020F0502020204030204" pitchFamily="34" charset="0"/>
                <a:cs typeface="Calibri" panose="020F0502020204030204" pitchFamily="34" charset="0"/>
              </a:rPr>
              <a:t>The account whose code is to be executed</a:t>
            </a:r>
          </a:p>
          <a:p>
            <a:pPr algn="l"/>
            <a:r>
              <a:rPr lang="en-IN" sz="2800" b="0" i="0" u="none" strike="noStrike" baseline="0" dirty="0">
                <a:latin typeface="Calibri" panose="020F0502020204030204" pitchFamily="34" charset="0"/>
                <a:cs typeface="Calibri" panose="020F0502020204030204" pitchFamily="34" charset="0"/>
              </a:rPr>
              <a:t>Available gas</a:t>
            </a:r>
          </a:p>
          <a:p>
            <a:pPr algn="l"/>
            <a:r>
              <a:rPr lang="en-IN" sz="2800" b="0" i="0" u="none" strike="noStrike" baseline="0" dirty="0">
                <a:latin typeface="Calibri" panose="020F0502020204030204" pitchFamily="34" charset="0"/>
                <a:cs typeface="Calibri" panose="020F0502020204030204" pitchFamily="34" charset="0"/>
              </a:rPr>
              <a:t>Value</a:t>
            </a:r>
            <a:endParaRPr lang="en-IN" sz="2800" dirty="0">
              <a:latin typeface="Calibri" panose="020F0502020204030204" pitchFamily="34" charset="0"/>
              <a:cs typeface="Calibri" panose="020F0502020204030204" pitchFamily="34" charset="0"/>
            </a:endParaRPr>
          </a:p>
          <a:p>
            <a:pPr algn="l"/>
            <a:r>
              <a:rPr lang="en-IN" sz="2800" b="0" i="0" u="none" strike="noStrike" baseline="0" dirty="0">
                <a:latin typeface="Calibri" panose="020F0502020204030204" pitchFamily="34" charset="0"/>
                <a:cs typeface="Calibri" panose="020F0502020204030204" pitchFamily="34" charset="0"/>
              </a:rPr>
              <a:t>Gas price</a:t>
            </a:r>
          </a:p>
          <a:p>
            <a:pPr algn="l"/>
            <a:r>
              <a:rPr lang="en-IN" sz="2800" b="0" i="0" u="none" strike="noStrike" baseline="0" dirty="0">
                <a:latin typeface="Calibri" panose="020F0502020204030204" pitchFamily="34" charset="0"/>
                <a:cs typeface="Calibri" panose="020F0502020204030204" pitchFamily="34" charset="0"/>
              </a:rPr>
              <a:t>Arbitrary length byte array</a:t>
            </a:r>
          </a:p>
          <a:p>
            <a:pPr algn="l"/>
            <a:r>
              <a:rPr lang="en-IN" sz="2800" b="0" i="0" u="none" strike="noStrike" baseline="0" dirty="0">
                <a:latin typeface="Calibri" panose="020F0502020204030204" pitchFamily="34" charset="0"/>
                <a:cs typeface="Calibri" panose="020F0502020204030204" pitchFamily="34" charset="0"/>
              </a:rPr>
              <a:t>Input data of the call</a:t>
            </a:r>
          </a:p>
          <a:p>
            <a:pPr algn="l"/>
            <a:r>
              <a:rPr lang="en-IN" sz="2800" b="0" i="0" u="none" strike="noStrike" baseline="0" dirty="0">
                <a:latin typeface="Calibri" panose="020F0502020204030204" pitchFamily="34" charset="0"/>
                <a:cs typeface="Calibri" panose="020F0502020204030204" pitchFamily="34" charset="0"/>
              </a:rPr>
              <a:t>Current depth of the message call/contract creation stack</a:t>
            </a:r>
            <a:endParaRPr lang="en-IN" sz="2800" dirty="0">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16711375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909327-C266-1FDE-94D7-5594CB65A782}"/>
              </a:ext>
            </a:extLst>
          </p:cNvPr>
          <p:cNvSpPr>
            <a:spLocks noGrp="1"/>
          </p:cNvSpPr>
          <p:nvPr>
            <p:ph idx="1"/>
          </p:nvPr>
        </p:nvSpPr>
        <p:spPr>
          <a:xfrm>
            <a:off x="511629" y="522514"/>
            <a:ext cx="10842171" cy="5654449"/>
          </a:xfrm>
        </p:spPr>
        <p:txBody>
          <a:bodyPr/>
          <a:lstStyle/>
          <a:p>
            <a:pPr algn="just"/>
            <a:r>
              <a:rPr lang="en-IN" sz="2800" b="0" i="0" u="none" strike="noStrike" baseline="0" dirty="0">
                <a:latin typeface="Times New Roman" panose="02020603050405020304" pitchFamily="18" charset="0"/>
                <a:cs typeface="Times New Roman" panose="02020603050405020304" pitchFamily="18" charset="0"/>
              </a:rPr>
              <a:t>Message calls result in state transition. </a:t>
            </a:r>
          </a:p>
          <a:p>
            <a:pPr algn="just"/>
            <a:r>
              <a:rPr lang="en-IN" sz="2800" b="0" i="0" u="none" strike="noStrike" baseline="0" dirty="0">
                <a:latin typeface="Times New Roman" panose="02020603050405020304" pitchFamily="18" charset="0"/>
                <a:cs typeface="Times New Roman" panose="02020603050405020304" pitchFamily="18" charset="0"/>
              </a:rPr>
              <a:t>Message calls also produce output data.</a:t>
            </a:r>
          </a:p>
          <a:p>
            <a:pPr algn="just"/>
            <a:r>
              <a:rPr lang="en-IN" sz="2800" b="0" i="0" u="none" strike="noStrike" baseline="0" dirty="0">
                <a:latin typeface="Times New Roman" panose="02020603050405020304" pitchFamily="18" charset="0"/>
                <a:cs typeface="Times New Roman" panose="02020603050405020304" pitchFamily="18" charset="0"/>
              </a:rPr>
              <a:t>In cases where message calls are triggered by VM code, the output produced by the transaction execution is used.</a:t>
            </a: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505355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transaction&#10;&#10;Description automatically generated">
            <a:extLst>
              <a:ext uri="{FF2B5EF4-FFF2-40B4-BE49-F238E27FC236}">
                <a16:creationId xmlns:a16="http://schemas.microsoft.com/office/drawing/2014/main" id="{10375A40-19F2-0D84-795E-0FE8C7A50E5F}"/>
              </a:ext>
            </a:extLst>
          </p:cNvPr>
          <p:cNvPicPr>
            <a:picLocks noGrp="1" noChangeAspect="1"/>
          </p:cNvPicPr>
          <p:nvPr>
            <p:ph idx="1"/>
          </p:nvPr>
        </p:nvPicPr>
        <p:blipFill>
          <a:blip r:embed="rId2"/>
          <a:srcRect t="650" b="5618"/>
          <a:stretch/>
        </p:blipFill>
        <p:spPr>
          <a:xfrm>
            <a:off x="20" y="1282"/>
            <a:ext cx="12191980" cy="6856718"/>
          </a:xfrm>
          <a:prstGeom prst="rect">
            <a:avLst/>
          </a:prstGeom>
        </p:spPr>
      </p:pic>
    </p:spTree>
    <p:extLst>
      <p:ext uri="{BB962C8B-B14F-4D97-AF65-F5344CB8AC3E}">
        <p14:creationId xmlns:p14="http://schemas.microsoft.com/office/powerpoint/2010/main" val="2373330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372C1-BAEA-CC32-0593-1C875AE92FF1}"/>
              </a:ext>
            </a:extLst>
          </p:cNvPr>
          <p:cNvSpPr>
            <a:spLocks noGrp="1"/>
          </p:cNvSpPr>
          <p:nvPr>
            <p:ph type="title"/>
          </p:nvPr>
        </p:nvSpPr>
        <p:spPr>
          <a:xfrm>
            <a:off x="272143" y="0"/>
            <a:ext cx="12192000" cy="1070316"/>
          </a:xfrm>
        </p:spPr>
        <p:txBody>
          <a:bodyPr/>
          <a:lstStyle/>
          <a:p>
            <a:pPr algn="ctr"/>
            <a:r>
              <a:rPr lang="en-IN" b="1" i="0" u="none" strike="noStrike" baseline="0" dirty="0">
                <a:solidFill>
                  <a:srgbClr val="FF0000"/>
                </a:solidFill>
                <a:latin typeface="Times New Roman" panose="02020603050405020304" pitchFamily="18" charset="0"/>
                <a:cs typeface="Times New Roman" panose="02020603050405020304" pitchFamily="18" charset="0"/>
              </a:rPr>
              <a:t>Ethereum virtual machine (EVM)</a:t>
            </a:r>
            <a:endParaRPr lang="en-IN" dirty="0"/>
          </a:p>
        </p:txBody>
      </p:sp>
      <p:sp>
        <p:nvSpPr>
          <p:cNvPr id="3" name="Content Placeholder 2">
            <a:extLst>
              <a:ext uri="{FF2B5EF4-FFF2-40B4-BE49-F238E27FC236}">
                <a16:creationId xmlns:a16="http://schemas.microsoft.com/office/drawing/2014/main" id="{09351816-96C3-0EA8-B953-1AA401FD4625}"/>
              </a:ext>
            </a:extLst>
          </p:cNvPr>
          <p:cNvSpPr>
            <a:spLocks noGrp="1"/>
          </p:cNvSpPr>
          <p:nvPr>
            <p:ph idx="1"/>
          </p:nvPr>
        </p:nvSpPr>
        <p:spPr>
          <a:xfrm>
            <a:off x="511628" y="1197429"/>
            <a:ext cx="11255829" cy="5312228"/>
          </a:xfrm>
        </p:spPr>
        <p:txBody>
          <a:bodyPr>
            <a:normAutofit fontScale="92500" lnSpcReduction="10000"/>
          </a:bodyPr>
          <a:lstStyle/>
          <a:p>
            <a:pPr algn="just"/>
            <a:r>
              <a:rPr lang="en-IN" dirty="0">
                <a:latin typeface="Times New Roman" panose="02020603050405020304" pitchFamily="18" charset="0"/>
                <a:cs typeface="Times New Roman" panose="02020603050405020304" pitchFamily="18" charset="0"/>
              </a:rPr>
              <a:t>EVM is a simple </a:t>
            </a:r>
            <a:r>
              <a:rPr lang="en-IN" dirty="0">
                <a:solidFill>
                  <a:srgbClr val="FF0000"/>
                </a:solidFill>
                <a:latin typeface="Times New Roman" panose="02020603050405020304" pitchFamily="18" charset="0"/>
                <a:cs typeface="Times New Roman" panose="02020603050405020304" pitchFamily="18" charset="0"/>
              </a:rPr>
              <a:t>stack-based</a:t>
            </a:r>
            <a:r>
              <a:rPr lang="en-IN" dirty="0">
                <a:latin typeface="Times New Roman" panose="02020603050405020304" pitchFamily="18" charset="0"/>
                <a:cs typeface="Times New Roman" panose="02020603050405020304" pitchFamily="18" charset="0"/>
              </a:rPr>
              <a:t> execution machine that runs bytecode instructions in order to transform the system state from one state to another. </a:t>
            </a:r>
          </a:p>
          <a:p>
            <a:pPr algn="just"/>
            <a:r>
              <a:rPr lang="en-IN" dirty="0">
                <a:latin typeface="Times New Roman" panose="02020603050405020304" pitchFamily="18" charset="0"/>
                <a:cs typeface="Times New Roman" panose="02020603050405020304" pitchFamily="18" charset="0"/>
              </a:rPr>
              <a:t>The word size of the virtual machine is set to </a:t>
            </a:r>
            <a:r>
              <a:rPr lang="en-IN" dirty="0">
                <a:solidFill>
                  <a:srgbClr val="FF0000"/>
                </a:solidFill>
                <a:latin typeface="Times New Roman" panose="02020603050405020304" pitchFamily="18" charset="0"/>
                <a:cs typeface="Times New Roman" panose="02020603050405020304" pitchFamily="18" charset="0"/>
              </a:rPr>
              <a:t>256-bit</a:t>
            </a:r>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The stack size is limited to 1024 elements and is based on the </a:t>
            </a:r>
            <a:r>
              <a:rPr lang="en-IN" b="1" dirty="0">
                <a:solidFill>
                  <a:srgbClr val="FF0000"/>
                </a:solidFill>
                <a:latin typeface="Times New Roman" panose="02020603050405020304" pitchFamily="18" charset="0"/>
                <a:cs typeface="Times New Roman" panose="02020603050405020304" pitchFamily="18" charset="0"/>
              </a:rPr>
              <a:t>LIFO</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Last in First Out</a:t>
            </a:r>
            <a:r>
              <a:rPr lang="en-IN" dirty="0">
                <a:latin typeface="Times New Roman" panose="02020603050405020304" pitchFamily="18" charset="0"/>
                <a:cs typeface="Times New Roman" panose="02020603050405020304" pitchFamily="18" charset="0"/>
              </a:rPr>
              <a:t>) queue.</a:t>
            </a:r>
          </a:p>
          <a:p>
            <a:pPr algn="just"/>
            <a:r>
              <a:rPr lang="en-IN" dirty="0">
                <a:latin typeface="Times New Roman" panose="02020603050405020304" pitchFamily="18" charset="0"/>
                <a:cs typeface="Times New Roman" panose="02020603050405020304" pitchFamily="18" charset="0"/>
              </a:rPr>
              <a:t>EVM is a </a:t>
            </a:r>
            <a:r>
              <a:rPr lang="en-IN" dirty="0">
                <a:solidFill>
                  <a:srgbClr val="FF0000"/>
                </a:solidFill>
                <a:latin typeface="Times New Roman" panose="02020603050405020304" pitchFamily="18" charset="0"/>
                <a:cs typeface="Times New Roman" panose="02020603050405020304" pitchFamily="18" charset="0"/>
              </a:rPr>
              <a:t>stack-based</a:t>
            </a:r>
            <a:r>
              <a:rPr lang="en-IN" dirty="0">
                <a:latin typeface="Times New Roman" panose="02020603050405020304" pitchFamily="18" charset="0"/>
                <a:cs typeface="Times New Roman" panose="02020603050405020304" pitchFamily="18" charset="0"/>
              </a:rPr>
              <a:t> architecture. </a:t>
            </a:r>
          </a:p>
          <a:p>
            <a:pPr algn="just"/>
            <a:r>
              <a:rPr lang="en-IN" dirty="0">
                <a:latin typeface="Times New Roman" panose="02020603050405020304" pitchFamily="18" charset="0"/>
                <a:cs typeface="Times New Roman" panose="02020603050405020304" pitchFamily="18" charset="0"/>
              </a:rPr>
              <a:t>EVM is </a:t>
            </a:r>
            <a:r>
              <a:rPr lang="en-IN" dirty="0">
                <a:solidFill>
                  <a:srgbClr val="FF0000"/>
                </a:solidFill>
                <a:latin typeface="Times New Roman" panose="02020603050405020304" pitchFamily="18" charset="0"/>
                <a:cs typeface="Times New Roman" panose="02020603050405020304" pitchFamily="18" charset="0"/>
              </a:rPr>
              <a:t>big-endian</a:t>
            </a:r>
            <a:r>
              <a:rPr lang="en-IN" dirty="0">
                <a:latin typeface="Times New Roman" panose="02020603050405020304" pitchFamily="18" charset="0"/>
                <a:cs typeface="Times New Roman" panose="02020603050405020304" pitchFamily="18" charset="0"/>
              </a:rPr>
              <a:t> by design and it uses 256-bit wide words. This word size allows for Keccak 256-bit hash and elliptic curve cryptography computations.</a:t>
            </a:r>
          </a:p>
          <a:p>
            <a:pPr algn="just"/>
            <a:r>
              <a:rPr lang="en-IN" dirty="0">
                <a:latin typeface="Times New Roman" panose="02020603050405020304" pitchFamily="18" charset="0"/>
                <a:cs typeface="Times New Roman" panose="02020603050405020304" pitchFamily="18" charset="0"/>
              </a:rPr>
              <a:t>There are two types of storage available to contracts and EVM. The first one is called memory, which is a byte array. </a:t>
            </a:r>
          </a:p>
          <a:p>
            <a:pPr algn="just"/>
            <a:r>
              <a:rPr lang="en-IN" dirty="0">
                <a:latin typeface="Times New Roman" panose="02020603050405020304" pitchFamily="18" charset="0"/>
                <a:cs typeface="Times New Roman" panose="02020603050405020304" pitchFamily="18" charset="0"/>
              </a:rPr>
              <a:t>When a contract finishes the code execution, the </a:t>
            </a:r>
            <a:r>
              <a:rPr lang="en-IN" dirty="0">
                <a:solidFill>
                  <a:srgbClr val="FF0000"/>
                </a:solidFill>
                <a:latin typeface="Times New Roman" panose="02020603050405020304" pitchFamily="18" charset="0"/>
                <a:cs typeface="Times New Roman" panose="02020603050405020304" pitchFamily="18" charset="0"/>
              </a:rPr>
              <a:t>memory is cleared</a:t>
            </a:r>
            <a:r>
              <a:rPr lang="en-IN" dirty="0">
                <a:latin typeface="Times New Roman" panose="02020603050405020304" pitchFamily="18" charset="0"/>
                <a:cs typeface="Times New Roman" panose="02020603050405020304" pitchFamily="18" charset="0"/>
              </a:rPr>
              <a:t>. </a:t>
            </a:r>
          </a:p>
          <a:p>
            <a:pPr algn="just"/>
            <a:r>
              <a:rPr lang="en-IN" dirty="0">
                <a:latin typeface="Times New Roman" panose="02020603050405020304" pitchFamily="18" charset="0"/>
                <a:cs typeface="Times New Roman" panose="02020603050405020304" pitchFamily="18" charset="0"/>
              </a:rPr>
              <a:t>The other type, called storage, is </a:t>
            </a:r>
            <a:r>
              <a:rPr lang="en-IN" dirty="0">
                <a:solidFill>
                  <a:srgbClr val="FF0000"/>
                </a:solidFill>
                <a:latin typeface="Times New Roman" panose="02020603050405020304" pitchFamily="18" charset="0"/>
                <a:cs typeface="Times New Roman" panose="02020603050405020304" pitchFamily="18" charset="0"/>
              </a:rPr>
              <a:t>permanently stored</a:t>
            </a:r>
            <a:r>
              <a:rPr lang="en-IN" dirty="0">
                <a:latin typeface="Times New Roman" panose="02020603050405020304" pitchFamily="18" charset="0"/>
                <a:cs typeface="Times New Roman" panose="02020603050405020304" pitchFamily="18" charset="0"/>
              </a:rPr>
              <a:t> on the blockchain. It is a key value store.</a:t>
            </a:r>
          </a:p>
          <a:p>
            <a:endParaRPr lang="en-IN" dirty="0"/>
          </a:p>
        </p:txBody>
      </p:sp>
    </p:spTree>
    <p:extLst>
      <p:ext uri="{BB962C8B-B14F-4D97-AF65-F5344CB8AC3E}">
        <p14:creationId xmlns:p14="http://schemas.microsoft.com/office/powerpoint/2010/main" val="22501582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8CEE05-FC9C-9514-65F5-CBEF4CC4044D}"/>
              </a:ext>
            </a:extLst>
          </p:cNvPr>
          <p:cNvSpPr>
            <a:spLocks noGrp="1"/>
          </p:cNvSpPr>
          <p:nvPr>
            <p:ph idx="1"/>
          </p:nvPr>
        </p:nvSpPr>
        <p:spPr>
          <a:xfrm>
            <a:off x="598715" y="457200"/>
            <a:ext cx="10755086" cy="5719763"/>
          </a:xfrm>
        </p:spPr>
        <p:txBody>
          <a:bodyPr/>
          <a:lstStyle/>
          <a:p>
            <a:pPr algn="just"/>
            <a:r>
              <a:rPr lang="en-IN" sz="2800" b="0" i="0" u="none" strike="noStrike" baseline="0" dirty="0">
                <a:latin typeface="Calibri" panose="020F0502020204030204" pitchFamily="34" charset="0"/>
                <a:cs typeface="Calibri" panose="020F0502020204030204" pitchFamily="34" charset="0"/>
              </a:rPr>
              <a:t>EVM is a fully isolated and sandboxed runtime environment. </a:t>
            </a:r>
          </a:p>
          <a:p>
            <a:pPr algn="just"/>
            <a:r>
              <a:rPr lang="en-IN" sz="2800" b="0" i="0" u="none" strike="noStrike" baseline="0" dirty="0">
                <a:latin typeface="Calibri" panose="020F0502020204030204" pitchFamily="34" charset="0"/>
                <a:cs typeface="Calibri" panose="020F0502020204030204" pitchFamily="34" charset="0"/>
              </a:rPr>
              <a:t>The code that runs on the EVM does not have access to any external resources, such as a network or filesystem.</a:t>
            </a:r>
          </a:p>
          <a:p>
            <a:pPr algn="just"/>
            <a:r>
              <a:rPr lang="en-IN" sz="2800" dirty="0">
                <a:latin typeface="Calibri" panose="020F0502020204030204" pitchFamily="34" charset="0"/>
                <a:cs typeface="Calibri" panose="020F0502020204030204" pitchFamily="34" charset="0"/>
              </a:rPr>
              <a:t>EVM is big-endian by design and it uses 256-bit wide words. </a:t>
            </a:r>
          </a:p>
          <a:p>
            <a:pPr algn="just"/>
            <a:r>
              <a:rPr lang="en-IN" sz="2800" dirty="0">
                <a:latin typeface="Calibri" panose="020F0502020204030204" pitchFamily="34" charset="0"/>
                <a:cs typeface="Calibri" panose="020F0502020204030204" pitchFamily="34" charset="0"/>
              </a:rPr>
              <a:t>This word size allows for Keccak 256-bit hash and elliptic curve cryptography computations.</a:t>
            </a:r>
          </a:p>
          <a:p>
            <a:pPr algn="just"/>
            <a:r>
              <a:rPr lang="en-IN" sz="2800" dirty="0">
                <a:latin typeface="Calibri" panose="020F0502020204030204" pitchFamily="34" charset="0"/>
                <a:cs typeface="Calibri" panose="020F0502020204030204" pitchFamily="34" charset="0"/>
              </a:rPr>
              <a:t>There are two types of storage available to contracts and EVM. </a:t>
            </a:r>
          </a:p>
          <a:p>
            <a:pPr algn="just"/>
            <a:r>
              <a:rPr lang="en-IN" sz="2800" dirty="0">
                <a:latin typeface="Calibri" panose="020F0502020204030204" pitchFamily="34" charset="0"/>
                <a:cs typeface="Calibri" panose="020F0502020204030204" pitchFamily="34" charset="0"/>
              </a:rPr>
              <a:t>The first one is called memory, which is a byte array. When a contract finishes the code execution, the memory is cleared. It is similar to the concept of RAM. </a:t>
            </a:r>
          </a:p>
          <a:p>
            <a:pPr algn="just"/>
            <a:r>
              <a:rPr lang="en-IN" sz="2800" dirty="0">
                <a:latin typeface="Calibri" panose="020F0502020204030204" pitchFamily="34" charset="0"/>
                <a:cs typeface="Calibri" panose="020F0502020204030204" pitchFamily="34" charset="0"/>
              </a:rPr>
              <a:t>The other type, called storage, is permanently stored on the blockchain. It is a key value store.</a:t>
            </a:r>
          </a:p>
          <a:p>
            <a:endParaRPr lang="en-IN" dirty="0"/>
          </a:p>
        </p:txBody>
      </p:sp>
    </p:spTree>
    <p:extLst>
      <p:ext uri="{BB962C8B-B14F-4D97-AF65-F5344CB8AC3E}">
        <p14:creationId xmlns:p14="http://schemas.microsoft.com/office/powerpoint/2010/main" val="13021271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227B2E-DBDF-E1AF-DBBA-4BDF1F913CD7}"/>
              </a:ext>
            </a:extLst>
          </p:cNvPr>
          <p:cNvSpPr>
            <a:spLocks noGrp="1"/>
          </p:cNvSpPr>
          <p:nvPr>
            <p:ph idx="1"/>
          </p:nvPr>
        </p:nvSpPr>
        <p:spPr>
          <a:xfrm>
            <a:off x="250723" y="383457"/>
            <a:ext cx="11754464" cy="5793505"/>
          </a:xfrm>
        </p:spPr>
        <p:txBody>
          <a:bodyPr>
            <a:normAutofit/>
          </a:bodyPr>
          <a:lstStyle/>
          <a:p>
            <a:pPr algn="just"/>
            <a:r>
              <a:rPr lang="en-IN" sz="2400" b="0" i="0" u="none" strike="noStrike" baseline="0" dirty="0">
                <a:latin typeface="Calibri" panose="020F0502020204030204" pitchFamily="34" charset="0"/>
                <a:cs typeface="Calibri" panose="020F0502020204030204" pitchFamily="34" charset="0"/>
              </a:rPr>
              <a:t>The following diagram shows the design of the EVM where the virtual ROM stores the program code that is copied into main memory using </a:t>
            </a:r>
            <a:r>
              <a:rPr lang="en-IN" sz="2400" b="1" i="0" u="none" strike="noStrike" baseline="0" dirty="0">
                <a:latin typeface="Calibri" panose="020F0502020204030204" pitchFamily="34" charset="0"/>
                <a:cs typeface="Calibri" panose="020F0502020204030204" pitchFamily="34" charset="0"/>
              </a:rPr>
              <a:t>CODECOPY</a:t>
            </a:r>
            <a:r>
              <a:rPr lang="en-IN" sz="2400" b="0" i="0" u="none" strike="noStrike" baseline="0" dirty="0">
                <a:latin typeface="Calibri" panose="020F0502020204030204" pitchFamily="34" charset="0"/>
                <a:cs typeface="Calibri" panose="020F0502020204030204" pitchFamily="34" charset="0"/>
              </a:rPr>
              <a:t>. The main memory is then read by the EVM by referring to the program counter and executes instructions step by step. The program counter and EVM stack are updated accordingly with each instruction execution.</a:t>
            </a:r>
          </a:p>
          <a:p>
            <a:pPr algn="just"/>
            <a:endParaRPr lang="en-IN" sz="24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AFC85468-12AB-04B9-D92F-96614ACBA00B}"/>
              </a:ext>
            </a:extLst>
          </p:cNvPr>
          <p:cNvPicPr>
            <a:picLocks noChangeAspect="1"/>
          </p:cNvPicPr>
          <p:nvPr/>
        </p:nvPicPr>
        <p:blipFill>
          <a:blip r:embed="rId2"/>
          <a:stretch>
            <a:fillRect/>
          </a:stretch>
        </p:blipFill>
        <p:spPr>
          <a:xfrm>
            <a:off x="2023672" y="1827730"/>
            <a:ext cx="9203961" cy="4799963"/>
          </a:xfrm>
          <a:prstGeom prst="rect">
            <a:avLst/>
          </a:prstGeom>
        </p:spPr>
      </p:pic>
    </p:spTree>
    <p:extLst>
      <p:ext uri="{BB962C8B-B14F-4D97-AF65-F5344CB8AC3E}">
        <p14:creationId xmlns:p14="http://schemas.microsoft.com/office/powerpoint/2010/main" val="34043916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60016-9C3C-70E3-3DF5-4D5446F318AA}"/>
              </a:ext>
            </a:extLst>
          </p:cNvPr>
          <p:cNvSpPr>
            <a:spLocks noGrp="1"/>
          </p:cNvSpPr>
          <p:nvPr>
            <p:ph type="title"/>
          </p:nvPr>
        </p:nvSpPr>
        <p:spPr>
          <a:xfrm>
            <a:off x="518475" y="-10886"/>
            <a:ext cx="11353800" cy="674915"/>
          </a:xfrm>
        </p:spPr>
        <p:txBody>
          <a:bodyPr>
            <a:normAutofit/>
          </a:bodyPr>
          <a:lstStyle/>
          <a:p>
            <a:pPr algn="ctr"/>
            <a:r>
              <a:rPr lang="en-IN" sz="3200" b="1" i="0" u="none" strike="noStrike" baseline="0" dirty="0">
                <a:solidFill>
                  <a:srgbClr val="FF0000"/>
                </a:solidFill>
                <a:latin typeface="Times New Roman" panose="02020603050405020304" pitchFamily="18" charset="0"/>
                <a:cs typeface="Times New Roman" panose="02020603050405020304" pitchFamily="18" charset="0"/>
              </a:rPr>
              <a:t>Execution environment</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DEC32F-6D57-A3A3-C9CB-BC1E182896AC}"/>
              </a:ext>
            </a:extLst>
          </p:cNvPr>
          <p:cNvSpPr>
            <a:spLocks noGrp="1"/>
          </p:cNvSpPr>
          <p:nvPr>
            <p:ph idx="1"/>
          </p:nvPr>
        </p:nvSpPr>
        <p:spPr>
          <a:xfrm>
            <a:off x="326571" y="772886"/>
            <a:ext cx="11737609" cy="5819643"/>
          </a:xfrm>
        </p:spPr>
        <p:txBody>
          <a:bodyPr>
            <a:normAutofit/>
          </a:bodyPr>
          <a:lstStyle/>
          <a:p>
            <a:pPr algn="l"/>
            <a:r>
              <a:rPr lang="en-IN" sz="2000" b="0" i="0" u="none" strike="noStrike" baseline="0" dirty="0">
                <a:latin typeface="Times New Roman" panose="02020603050405020304" pitchFamily="18" charset="0"/>
                <a:cs typeface="Times New Roman" panose="02020603050405020304" pitchFamily="18" charset="0"/>
              </a:rPr>
              <a:t>There are some key elements that are required by the execution environment in order to execute the code. </a:t>
            </a:r>
          </a:p>
          <a:p>
            <a:pPr algn="l"/>
            <a:r>
              <a:rPr lang="en-IN" sz="2000" b="0" i="0" u="none" strike="noStrike" baseline="0" dirty="0">
                <a:latin typeface="Times New Roman" panose="02020603050405020304" pitchFamily="18" charset="0"/>
                <a:cs typeface="Times New Roman" panose="02020603050405020304" pitchFamily="18" charset="0"/>
              </a:rPr>
              <a:t>The key parameters are provided by the execution agent, for example, a transaction</a:t>
            </a:r>
          </a:p>
          <a:p>
            <a:pPr marL="0" indent="0" algn="l">
              <a:buNone/>
            </a:pPr>
            <a:r>
              <a:rPr lang="en-IN" sz="2000" b="0" i="0" u="none" strike="noStrike" baseline="0" dirty="0">
                <a:latin typeface="Times New Roman" panose="02020603050405020304" pitchFamily="18" charset="0"/>
                <a:cs typeface="Times New Roman" panose="02020603050405020304" pitchFamily="18" charset="0"/>
              </a:rPr>
              <a:t>1. The address of the account that owns the executing code.</a:t>
            </a:r>
          </a:p>
          <a:p>
            <a:pPr marL="0" indent="0" algn="l">
              <a:buNone/>
            </a:pPr>
            <a:r>
              <a:rPr lang="en-IN" sz="2000" b="0" i="0" u="none" strike="noStrike" baseline="0" dirty="0">
                <a:latin typeface="Times New Roman" panose="02020603050405020304" pitchFamily="18" charset="0"/>
                <a:cs typeface="Times New Roman" panose="02020603050405020304" pitchFamily="18" charset="0"/>
              </a:rPr>
              <a:t>2. The address of the sender of the transaction and the originating address of this execution.</a:t>
            </a:r>
          </a:p>
          <a:p>
            <a:pPr marL="0" indent="0" algn="l">
              <a:buNone/>
            </a:pPr>
            <a:r>
              <a:rPr lang="en-IN" sz="2000" b="0" i="0" u="none" strike="noStrike" baseline="0" dirty="0">
                <a:latin typeface="Times New Roman" panose="02020603050405020304" pitchFamily="18" charset="0"/>
                <a:cs typeface="Times New Roman" panose="02020603050405020304" pitchFamily="18" charset="0"/>
              </a:rPr>
              <a:t>3. The gas price in the transaction that initiated the execution.</a:t>
            </a:r>
          </a:p>
          <a:p>
            <a:pPr marL="0" indent="0" algn="l">
              <a:buNone/>
            </a:pPr>
            <a:r>
              <a:rPr lang="en-IN" sz="2000" b="0" i="0" u="none" strike="noStrike" baseline="0" dirty="0">
                <a:latin typeface="Times New Roman" panose="02020603050405020304" pitchFamily="18" charset="0"/>
                <a:cs typeface="Times New Roman" panose="02020603050405020304" pitchFamily="18" charset="0"/>
              </a:rPr>
              <a:t>4. Input data or transaction data depending on the type of executing agent. This is a byte array; in the case of a message call, if the execution agent is a transaction, then the transaction data is included as input data.</a:t>
            </a:r>
          </a:p>
          <a:p>
            <a:pPr marL="0" indent="0" algn="l">
              <a:buNone/>
            </a:pPr>
            <a:r>
              <a:rPr lang="en-IN" sz="2000" b="0" i="0" u="none" strike="noStrike" baseline="0" dirty="0">
                <a:latin typeface="Times New Roman" panose="02020603050405020304" pitchFamily="18" charset="0"/>
                <a:cs typeface="Times New Roman" panose="02020603050405020304" pitchFamily="18" charset="0"/>
              </a:rPr>
              <a:t>5. The address of the account that initiated the code execution or transaction sender. This is the address of the sender in case the code execution is initiated by a transaction; otherwise, it's the address of the account.</a:t>
            </a:r>
          </a:p>
          <a:p>
            <a:pPr marL="0" indent="0" algn="l">
              <a:buNone/>
            </a:pPr>
            <a:r>
              <a:rPr lang="en-IN" sz="2000" b="0" i="0" u="none" strike="noStrike" baseline="0" dirty="0">
                <a:latin typeface="Times New Roman" panose="02020603050405020304" pitchFamily="18" charset="0"/>
                <a:cs typeface="Times New Roman" panose="02020603050405020304" pitchFamily="18" charset="0"/>
              </a:rPr>
              <a:t>6. The value or transaction value. This is the amount in Wei. If the execution agent is a transaction, then it is the transaction value.</a:t>
            </a:r>
          </a:p>
          <a:p>
            <a:pPr marL="0" indent="0" algn="l">
              <a:buNone/>
            </a:pPr>
            <a:r>
              <a:rPr lang="en-IN" sz="2000" b="0" i="0" u="none" strike="noStrike" baseline="0" dirty="0">
                <a:latin typeface="Times New Roman" panose="02020603050405020304" pitchFamily="18" charset="0"/>
                <a:cs typeface="Times New Roman" panose="02020603050405020304" pitchFamily="18" charset="0"/>
              </a:rPr>
              <a:t>7. The code to be executed presented as a byte array that the iterator function picks up in each execution cycle.</a:t>
            </a:r>
          </a:p>
          <a:p>
            <a:pPr marL="0" indent="0" algn="l">
              <a:buNone/>
            </a:pPr>
            <a:r>
              <a:rPr lang="en-IN" sz="2000" b="0" i="0" u="none" strike="noStrike" baseline="0" dirty="0">
                <a:latin typeface="Times New Roman" panose="02020603050405020304" pitchFamily="18" charset="0"/>
                <a:cs typeface="Times New Roman" panose="02020603050405020304" pitchFamily="18" charset="0"/>
              </a:rPr>
              <a:t>8. The block header of the current block</a:t>
            </a:r>
          </a:p>
          <a:p>
            <a:pPr marL="0" indent="0" algn="l">
              <a:buNone/>
            </a:pPr>
            <a:r>
              <a:rPr lang="en-IN" sz="2000" b="0" i="0" u="none" strike="noStrike" baseline="0" dirty="0">
                <a:latin typeface="Times New Roman" panose="02020603050405020304" pitchFamily="18" charset="0"/>
                <a:cs typeface="Times New Roman" panose="02020603050405020304" pitchFamily="18" charset="0"/>
              </a:rPr>
              <a:t>9. The number of message calls or contract creation transactions currently in execution. In other words, this is the number of CALLs or CREATEs currently in execution.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01179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 screen&#10;&#10;Description automatically generated">
            <a:extLst>
              <a:ext uri="{FF2B5EF4-FFF2-40B4-BE49-F238E27FC236}">
                <a16:creationId xmlns:a16="http://schemas.microsoft.com/office/drawing/2014/main" id="{68FAB0DB-71C0-43F1-1598-4BC280A1CA68}"/>
              </a:ext>
            </a:extLst>
          </p:cNvPr>
          <p:cNvPicPr>
            <a:picLocks noGrp="1" noChangeAspect="1"/>
          </p:cNvPicPr>
          <p:nvPr>
            <p:ph idx="1"/>
          </p:nvPr>
        </p:nvPicPr>
        <p:blipFill>
          <a:blip r:embed="rId2"/>
          <a:stretch>
            <a:fillRect/>
          </a:stretch>
        </p:blipFill>
        <p:spPr>
          <a:xfrm>
            <a:off x="1937656" y="643466"/>
            <a:ext cx="8567057" cy="5724677"/>
          </a:xfrm>
          <a:prstGeom prst="rect">
            <a:avLst/>
          </a:prstGeom>
        </p:spPr>
      </p:pic>
    </p:spTree>
    <p:extLst>
      <p:ext uri="{BB962C8B-B14F-4D97-AF65-F5344CB8AC3E}">
        <p14:creationId xmlns:p14="http://schemas.microsoft.com/office/powerpoint/2010/main" val="14384396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F2951-2473-3186-DC11-E10990F3778E}"/>
              </a:ext>
            </a:extLst>
          </p:cNvPr>
          <p:cNvSpPr>
            <a:spLocks noGrp="1"/>
          </p:cNvSpPr>
          <p:nvPr>
            <p:ph type="title"/>
          </p:nvPr>
        </p:nvSpPr>
        <p:spPr>
          <a:xfrm>
            <a:off x="117987" y="103240"/>
            <a:ext cx="11636478" cy="724074"/>
          </a:xfrm>
        </p:spPr>
        <p:txBody>
          <a:bodyPr>
            <a:normAutofit/>
          </a:bodyPr>
          <a:lstStyle/>
          <a:p>
            <a:pPr algn="ctr"/>
            <a:r>
              <a:rPr lang="en-IN" b="1" i="0" u="none" strike="noStrike" baseline="0" dirty="0">
                <a:solidFill>
                  <a:srgbClr val="FF0000"/>
                </a:solidFill>
                <a:latin typeface="Times New Roman" panose="02020603050405020304" pitchFamily="18" charset="0"/>
                <a:cs typeface="Times New Roman" panose="02020603050405020304" pitchFamily="18" charset="0"/>
              </a:rPr>
              <a:t>Machine state</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1CEFC2C-B7D9-8E68-BC50-F37746510C1C}"/>
              </a:ext>
            </a:extLst>
          </p:cNvPr>
          <p:cNvSpPr>
            <a:spLocks noGrp="1"/>
          </p:cNvSpPr>
          <p:nvPr>
            <p:ph idx="1"/>
          </p:nvPr>
        </p:nvSpPr>
        <p:spPr>
          <a:xfrm>
            <a:off x="117987" y="1088571"/>
            <a:ext cx="11975690" cy="5088392"/>
          </a:xfrm>
        </p:spPr>
        <p:txBody>
          <a:bodyPr>
            <a:normAutofit/>
          </a:bodyPr>
          <a:lstStyle/>
          <a:p>
            <a:pPr algn="just"/>
            <a:r>
              <a:rPr lang="en-IN" sz="2400" b="0" i="0" u="none" strike="noStrike" baseline="0" dirty="0">
                <a:latin typeface="Calibri" panose="020F0502020204030204" pitchFamily="34" charset="0"/>
                <a:cs typeface="Calibri" panose="020F0502020204030204" pitchFamily="34" charset="0"/>
              </a:rPr>
              <a:t>Machine state is also maintained internally by the EVM. Machine state is updated after each execution cycle of EVM. </a:t>
            </a:r>
          </a:p>
          <a:p>
            <a:pPr algn="just"/>
            <a:r>
              <a:rPr lang="en-IN" sz="2400" b="0" i="0" u="none" strike="noStrike" baseline="0" dirty="0">
                <a:latin typeface="Calibri" panose="020F0502020204030204" pitchFamily="34" charset="0"/>
                <a:cs typeface="Calibri" panose="020F0502020204030204" pitchFamily="34" charset="0"/>
              </a:rPr>
              <a:t>An iterator function runs in the virtual machine, which outputs the results of a single cycle of the state machine. </a:t>
            </a:r>
          </a:p>
          <a:p>
            <a:pPr algn="just"/>
            <a:r>
              <a:rPr lang="en-IN" sz="2400" b="0" i="0" u="none" strike="noStrike" baseline="0" dirty="0">
                <a:latin typeface="Calibri" panose="020F0502020204030204" pitchFamily="34" charset="0"/>
                <a:cs typeface="Calibri" panose="020F0502020204030204" pitchFamily="34" charset="0"/>
              </a:rPr>
              <a:t>Machine state is a tuple that consist of the following elements:</a:t>
            </a:r>
          </a:p>
          <a:p>
            <a:pPr algn="just">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 Available gas </a:t>
            </a:r>
          </a:p>
          <a:p>
            <a:pPr algn="just">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 The program counter, which is a positive integer up to 256 </a:t>
            </a:r>
          </a:p>
          <a:p>
            <a:pPr algn="just">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 Memory contents</a:t>
            </a:r>
          </a:p>
          <a:p>
            <a:pPr algn="just">
              <a:buFont typeface="Wingdings" panose="05000000000000000000" pitchFamily="2" charset="2"/>
              <a:buChar char="Ø"/>
            </a:pPr>
            <a:r>
              <a:rPr lang="en-IN" sz="2400" dirty="0">
                <a:latin typeface="Calibri" panose="020F0502020204030204" pitchFamily="34" charset="0"/>
                <a:cs typeface="Calibri" panose="020F0502020204030204" pitchFamily="34" charset="0"/>
              </a:rPr>
              <a:t> Active number of words in memory</a:t>
            </a:r>
          </a:p>
          <a:p>
            <a:pPr algn="just">
              <a:buFont typeface="Wingdings" panose="05000000000000000000" pitchFamily="2" charset="2"/>
              <a:buChar char="Ø"/>
            </a:pPr>
            <a:r>
              <a:rPr lang="en-IN" sz="2400" dirty="0">
                <a:latin typeface="Calibri" panose="020F0502020204030204" pitchFamily="34" charset="0"/>
                <a:cs typeface="Calibri" panose="020F0502020204030204" pitchFamily="34" charset="0"/>
              </a:rPr>
              <a:t> Contents of the stack</a:t>
            </a:r>
          </a:p>
        </p:txBody>
      </p:sp>
    </p:spTree>
    <p:extLst>
      <p:ext uri="{BB962C8B-B14F-4D97-AF65-F5344CB8AC3E}">
        <p14:creationId xmlns:p14="http://schemas.microsoft.com/office/powerpoint/2010/main" val="19730906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CFA690-38DA-EF0A-583C-7ADC2C1F1975}"/>
              </a:ext>
            </a:extLst>
          </p:cNvPr>
          <p:cNvSpPr>
            <a:spLocks noGrp="1"/>
          </p:cNvSpPr>
          <p:nvPr>
            <p:ph idx="1"/>
          </p:nvPr>
        </p:nvSpPr>
        <p:spPr>
          <a:xfrm>
            <a:off x="339213" y="1194619"/>
            <a:ext cx="11014587" cy="4982344"/>
          </a:xfrm>
        </p:spPr>
        <p:txBody>
          <a:bodyPr>
            <a:normAutofit/>
          </a:bodyPr>
          <a:lstStyle/>
          <a:p>
            <a:pPr algn="l"/>
            <a:r>
              <a:rPr lang="en-IN" sz="2400" b="0" i="0" u="none" strike="noStrike" baseline="0" dirty="0">
                <a:latin typeface="Calibri" panose="020F0502020204030204" pitchFamily="34" charset="0"/>
                <a:cs typeface="Calibri" panose="020F0502020204030204" pitchFamily="34" charset="0"/>
              </a:rPr>
              <a:t>The EVM is designed to handle exceptions and will halt (stop execution) in case any of the following exceptions occur:</a:t>
            </a:r>
          </a:p>
          <a:p>
            <a:pPr algn="l">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Not having enough gas required for execution</a:t>
            </a:r>
          </a:p>
          <a:p>
            <a:pPr algn="l">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Invalid instructions</a:t>
            </a:r>
          </a:p>
          <a:p>
            <a:pPr algn="l">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Insufficient stack items</a:t>
            </a:r>
          </a:p>
          <a:p>
            <a:pPr algn="l">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Invalid destination of jump op codes</a:t>
            </a:r>
          </a:p>
          <a:p>
            <a:pPr algn="l">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Invalid stack size (greater than 1024)</a:t>
            </a:r>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63939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DD16D-AF7D-12CD-7CB8-5E69717D0FC2}"/>
              </a:ext>
            </a:extLst>
          </p:cNvPr>
          <p:cNvSpPr>
            <a:spLocks noGrp="1"/>
          </p:cNvSpPr>
          <p:nvPr>
            <p:ph type="title"/>
          </p:nvPr>
        </p:nvSpPr>
        <p:spPr>
          <a:xfrm>
            <a:off x="191729" y="117987"/>
            <a:ext cx="11518490" cy="861727"/>
          </a:xfrm>
        </p:spPr>
        <p:txBody>
          <a:bodyPr>
            <a:normAutofit fontScale="90000"/>
          </a:bodyPr>
          <a:lstStyle/>
          <a:p>
            <a:pPr algn="ctr"/>
            <a:br>
              <a:rPr lang="en-IN" sz="4400" b="1" i="0" u="none" strike="noStrike" baseline="0" dirty="0">
                <a:latin typeface="FreeSerifBold"/>
              </a:rPr>
            </a:br>
            <a:r>
              <a:rPr lang="en-IN" sz="4900" b="1" i="0" u="none" strike="noStrike" baseline="0" dirty="0">
                <a:solidFill>
                  <a:srgbClr val="FF0000"/>
                </a:solidFill>
                <a:latin typeface="Times New Roman" panose="02020603050405020304" pitchFamily="18" charset="0"/>
                <a:cs typeface="Times New Roman" panose="02020603050405020304" pitchFamily="18" charset="0"/>
              </a:rPr>
              <a:t>The iterator function</a:t>
            </a:r>
            <a:br>
              <a:rPr lang="en-IN" sz="4400" b="1" i="0" u="none" strike="noStrike" baseline="0" dirty="0">
                <a:latin typeface="FreeSerifBold"/>
              </a:rPr>
            </a:br>
            <a:endParaRPr lang="en-IN" dirty="0"/>
          </a:p>
        </p:txBody>
      </p:sp>
      <p:sp>
        <p:nvSpPr>
          <p:cNvPr id="3" name="Content Placeholder 2">
            <a:extLst>
              <a:ext uri="{FF2B5EF4-FFF2-40B4-BE49-F238E27FC236}">
                <a16:creationId xmlns:a16="http://schemas.microsoft.com/office/drawing/2014/main" id="{2BCFF836-14EF-DAC2-CA14-69085B7E6E7B}"/>
              </a:ext>
            </a:extLst>
          </p:cNvPr>
          <p:cNvSpPr>
            <a:spLocks noGrp="1"/>
          </p:cNvSpPr>
          <p:nvPr>
            <p:ph idx="1"/>
          </p:nvPr>
        </p:nvSpPr>
        <p:spPr>
          <a:xfrm>
            <a:off x="191729" y="1295399"/>
            <a:ext cx="11808541" cy="4881563"/>
          </a:xfrm>
        </p:spPr>
        <p:txBody>
          <a:bodyPr>
            <a:normAutofit/>
          </a:bodyPr>
          <a:lstStyle/>
          <a:p>
            <a:pPr algn="just"/>
            <a:r>
              <a:rPr lang="en-IN" sz="2400" b="0" i="0" u="none" strike="noStrike" baseline="0" dirty="0">
                <a:latin typeface="Calibri" panose="020F0502020204030204" pitchFamily="34" charset="0"/>
                <a:cs typeface="Calibri" panose="020F0502020204030204" pitchFamily="34" charset="0"/>
              </a:rPr>
              <a:t>The iterator function mentioned earlier performs various important functions that are used to set the next state of the machine and eventually the world state. These functions include the following:</a:t>
            </a:r>
          </a:p>
          <a:p>
            <a:pPr algn="just">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It fetches the next instruction from a byte array where the machine code is stored in the execution environment.</a:t>
            </a:r>
          </a:p>
          <a:p>
            <a:pPr algn="just">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It adds/removes (PUSH/POP) items from the stack accordingly.</a:t>
            </a:r>
          </a:p>
          <a:p>
            <a:pPr algn="just">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Gas is reduced according to the gas cost of the instructions/Opcodes.</a:t>
            </a:r>
          </a:p>
          <a:p>
            <a:pPr algn="just">
              <a:buFont typeface="Wingdings" panose="05000000000000000000" pitchFamily="2" charset="2"/>
              <a:buChar char="Ø"/>
            </a:pPr>
            <a:r>
              <a:rPr lang="en-IN" sz="2400" b="0" i="0" u="none" strike="noStrike" baseline="0" dirty="0">
                <a:latin typeface="Calibri" panose="020F0502020204030204" pitchFamily="34" charset="0"/>
                <a:cs typeface="Calibri" panose="020F0502020204030204" pitchFamily="34" charset="0"/>
              </a:rPr>
              <a:t>It increments the </a:t>
            </a:r>
            <a:r>
              <a:rPr lang="en-IN" sz="2400" b="1" i="0" u="none" strike="noStrike" baseline="0" dirty="0">
                <a:latin typeface="Calibri" panose="020F0502020204030204" pitchFamily="34" charset="0"/>
                <a:cs typeface="Calibri" panose="020F0502020204030204" pitchFamily="34" charset="0"/>
              </a:rPr>
              <a:t>program counter </a:t>
            </a:r>
            <a:r>
              <a:rPr lang="en-IN" sz="2400" b="0" i="0" u="none" strike="noStrike" baseline="0" dirty="0">
                <a:latin typeface="Calibri" panose="020F0502020204030204" pitchFamily="34" charset="0"/>
                <a:cs typeface="Calibri" panose="020F0502020204030204" pitchFamily="34" charset="0"/>
              </a:rPr>
              <a:t>(</a:t>
            </a:r>
            <a:r>
              <a:rPr lang="en-IN" sz="2400" b="1" i="0" u="none" strike="noStrike" baseline="0" dirty="0">
                <a:latin typeface="Calibri" panose="020F0502020204030204" pitchFamily="34" charset="0"/>
                <a:cs typeface="Calibri" panose="020F0502020204030204" pitchFamily="34" charset="0"/>
              </a:rPr>
              <a:t>PC</a:t>
            </a:r>
            <a:r>
              <a:rPr lang="en-IN" sz="2400" b="0" i="0" u="none" strike="noStrike" baseline="0" dirty="0">
                <a:latin typeface="Calibri" panose="020F0502020204030204" pitchFamily="34" charset="0"/>
                <a:cs typeface="Calibri" panose="020F0502020204030204" pitchFamily="34" charset="0"/>
              </a:rPr>
              <a:t>).</a:t>
            </a:r>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6134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D8B7FC9C-2CC0-A984-CF53-FE61F9D9AE80}"/>
              </a:ext>
            </a:extLst>
          </p:cNvPr>
          <p:cNvPicPr>
            <a:picLocks noGrp="1" noChangeAspect="1"/>
          </p:cNvPicPr>
          <p:nvPr>
            <p:ph idx="1"/>
          </p:nvPr>
        </p:nvPicPr>
        <p:blipFill>
          <a:blip r:embed="rId2"/>
          <a:stretch>
            <a:fillRect/>
          </a:stretch>
        </p:blipFill>
        <p:spPr>
          <a:xfrm>
            <a:off x="643467" y="702733"/>
            <a:ext cx="10905066" cy="5452533"/>
          </a:xfrm>
          <a:prstGeom prst="rect">
            <a:avLst/>
          </a:prstGeom>
        </p:spPr>
      </p:pic>
    </p:spTree>
    <p:extLst>
      <p:ext uri="{BB962C8B-B14F-4D97-AF65-F5344CB8AC3E}">
        <p14:creationId xmlns:p14="http://schemas.microsoft.com/office/powerpoint/2010/main" val="15805582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1F96-5C76-5552-52FA-253C3DE8C374}"/>
              </a:ext>
            </a:extLst>
          </p:cNvPr>
          <p:cNvSpPr>
            <a:spLocks noGrp="1"/>
          </p:cNvSpPr>
          <p:nvPr>
            <p:ph type="title"/>
          </p:nvPr>
        </p:nvSpPr>
        <p:spPr>
          <a:xfrm>
            <a:off x="103239" y="132736"/>
            <a:ext cx="11250561" cy="752168"/>
          </a:xfrm>
        </p:spPr>
        <p:txBody>
          <a:bodyPr>
            <a:normAutofit/>
          </a:bodyPr>
          <a:lstStyle/>
          <a:p>
            <a:pPr algn="ctr"/>
            <a:r>
              <a:rPr lang="en-IN" b="1" i="0" u="none" strike="noStrike" baseline="0" dirty="0">
                <a:solidFill>
                  <a:srgbClr val="FF0000"/>
                </a:solidFill>
                <a:latin typeface="Times New Roman" panose="02020603050405020304" pitchFamily="18" charset="0"/>
                <a:cs typeface="Times New Roman" panose="02020603050405020304" pitchFamily="18" charset="0"/>
              </a:rPr>
              <a:t>Accounts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8481C23-9887-6F8A-2A9F-204006AC2A79}"/>
              </a:ext>
            </a:extLst>
          </p:cNvPr>
          <p:cNvSpPr>
            <a:spLocks noGrp="1"/>
          </p:cNvSpPr>
          <p:nvPr>
            <p:ph idx="1"/>
          </p:nvPr>
        </p:nvSpPr>
        <p:spPr>
          <a:xfrm>
            <a:off x="381000" y="1012372"/>
            <a:ext cx="11506199" cy="5712892"/>
          </a:xfrm>
        </p:spPr>
        <p:txBody>
          <a:bodyPr>
            <a:normAutofit/>
          </a:bodyPr>
          <a:lstStyle/>
          <a:p>
            <a:pPr algn="just"/>
            <a:r>
              <a:rPr lang="en-IN" sz="2400" b="0" i="0" u="none" strike="noStrike" baseline="0" dirty="0">
                <a:latin typeface="Times New Roman" panose="02020603050405020304" pitchFamily="18" charset="0"/>
                <a:cs typeface="Times New Roman" panose="02020603050405020304" pitchFamily="18" charset="0"/>
              </a:rPr>
              <a:t>Accounts are one of the main building blocks of the Ethereum blockchain. The state is created or updated as a result of the Interaction between accounts.</a:t>
            </a:r>
          </a:p>
          <a:p>
            <a:pPr marL="0" indent="0" algn="just">
              <a:buNone/>
            </a:pPr>
            <a:r>
              <a:rPr lang="en-IN" sz="2400" dirty="0">
                <a:latin typeface="Times New Roman" panose="02020603050405020304" pitchFamily="18" charset="0"/>
                <a:cs typeface="Times New Roman" panose="02020603050405020304" pitchFamily="18" charset="0"/>
              </a:rPr>
              <a:t>1. Confirm the transaction validity by checking the syntax, signature validity, and nonce.</a:t>
            </a:r>
          </a:p>
          <a:p>
            <a:pPr marL="0" indent="0" algn="just">
              <a:buNone/>
            </a:pPr>
            <a:r>
              <a:rPr lang="en-IN" sz="2400" dirty="0">
                <a:latin typeface="Times New Roman" panose="02020603050405020304" pitchFamily="18" charset="0"/>
                <a:cs typeface="Times New Roman" panose="02020603050405020304" pitchFamily="18" charset="0"/>
              </a:rPr>
              <a:t>2. Transaction fee is calculated and the sending address is resolved using the signature. Furthermore, sender's account balance is checked and subtracted accordingly and nonce is incremented. An error is returned if the account balance is not enough.</a:t>
            </a:r>
          </a:p>
          <a:p>
            <a:pPr marL="0" indent="0" algn="just">
              <a:buNone/>
            </a:pPr>
            <a:r>
              <a:rPr lang="en-IN" sz="2400" dirty="0">
                <a:latin typeface="Times New Roman" panose="02020603050405020304" pitchFamily="18" charset="0"/>
                <a:cs typeface="Times New Roman" panose="02020603050405020304" pitchFamily="18" charset="0"/>
              </a:rPr>
              <a:t>3. Provide enough ether (gas price) to cover the cost of the transaction. This is charged per byte incrementally according to the size of the transaction.</a:t>
            </a:r>
          </a:p>
          <a:p>
            <a:pPr marL="0" indent="0" algn="just">
              <a:buNone/>
            </a:pPr>
            <a:r>
              <a:rPr lang="en-IN" sz="2400" dirty="0">
                <a:latin typeface="Times New Roman" panose="02020603050405020304" pitchFamily="18" charset="0"/>
                <a:cs typeface="Times New Roman" panose="02020603050405020304" pitchFamily="18" charset="0"/>
              </a:rPr>
              <a:t>4. In this step, the actual transfer of value occurs. The flow is from the sender’s account to receiver's account. The account is created automatically if the destination account specified in the transaction does not exist yet. Moreover, if the destination account is a contract, then the contract code is executed. This also depends on the amount of gas available. If enough gas is available, then the contract code will be executed fully; otherwise, it will run up to the point where it runs out of gas.</a:t>
            </a:r>
          </a:p>
        </p:txBody>
      </p:sp>
    </p:spTree>
    <p:extLst>
      <p:ext uri="{BB962C8B-B14F-4D97-AF65-F5344CB8AC3E}">
        <p14:creationId xmlns:p14="http://schemas.microsoft.com/office/powerpoint/2010/main" val="6142581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4CB027-F294-B26F-45C0-6481C60C7F00}"/>
              </a:ext>
            </a:extLst>
          </p:cNvPr>
          <p:cNvSpPr>
            <a:spLocks noGrp="1"/>
          </p:cNvSpPr>
          <p:nvPr>
            <p:ph idx="1"/>
          </p:nvPr>
        </p:nvSpPr>
        <p:spPr>
          <a:xfrm>
            <a:off x="435429" y="348343"/>
            <a:ext cx="11481267" cy="6030685"/>
          </a:xfrm>
        </p:spPr>
        <p:txBody>
          <a:bodyPr>
            <a:normAutofit/>
          </a:bodyPr>
          <a:lstStyle/>
          <a:p>
            <a:pPr marL="0" indent="0" algn="just">
              <a:buNone/>
            </a:pPr>
            <a:r>
              <a:rPr lang="en-IN" sz="2400" b="0" i="0" u="none" strike="noStrike" baseline="0" dirty="0">
                <a:latin typeface="Times New Roman" panose="02020603050405020304" pitchFamily="18" charset="0"/>
                <a:cs typeface="Times New Roman" panose="02020603050405020304" pitchFamily="18" charset="0"/>
              </a:rPr>
              <a:t>5. In cases of transaction failure due to insufficient account balance or gas, all state changes are rolled back with the exception of fee payment, which is paid to the miners.</a:t>
            </a:r>
          </a:p>
          <a:p>
            <a:pPr marL="0" indent="0" algn="just">
              <a:buNone/>
            </a:pPr>
            <a:r>
              <a:rPr lang="en-IN" sz="2400" b="0" i="0" u="none" strike="noStrike" baseline="0" dirty="0">
                <a:latin typeface="Times New Roman" panose="02020603050405020304" pitchFamily="18" charset="0"/>
                <a:cs typeface="Times New Roman" panose="02020603050405020304" pitchFamily="18" charset="0"/>
              </a:rPr>
              <a:t>6. Finally, the remainder (if any) of the fee is sent back to the sender as change and fee is paid to the miners accordingly. At this point, the function returns the resulting state.</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Types of accounts</a:t>
            </a:r>
          </a:p>
          <a:p>
            <a:pPr marL="0" indent="0">
              <a:buNone/>
            </a:pPr>
            <a:r>
              <a:rPr lang="en-IN" sz="2400" dirty="0">
                <a:latin typeface="Times New Roman" panose="02020603050405020304" pitchFamily="18" charset="0"/>
                <a:cs typeface="Times New Roman" panose="02020603050405020304" pitchFamily="18" charset="0"/>
              </a:rPr>
              <a:t>There are two types of accounts in Ethereum:</a:t>
            </a:r>
          </a:p>
          <a:p>
            <a:r>
              <a:rPr lang="en-IN" sz="2400" dirty="0">
                <a:latin typeface="Times New Roman" panose="02020603050405020304" pitchFamily="18" charset="0"/>
                <a:cs typeface="Times New Roman" panose="02020603050405020304" pitchFamily="18" charset="0"/>
              </a:rPr>
              <a:t>Externally owned accounts</a:t>
            </a:r>
          </a:p>
          <a:p>
            <a:r>
              <a:rPr lang="en-IN" sz="2400" dirty="0">
                <a:latin typeface="Times New Roman" panose="02020603050405020304" pitchFamily="18" charset="0"/>
                <a:cs typeface="Times New Roman" panose="02020603050405020304" pitchFamily="18" charset="0"/>
              </a:rPr>
              <a:t>Contract accounts</a:t>
            </a:r>
          </a:p>
          <a:p>
            <a:endParaRPr lang="en-GB"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The first is </a:t>
            </a:r>
            <a:r>
              <a:rPr lang="en-IN" sz="2400" b="1" dirty="0">
                <a:latin typeface="Times New Roman" panose="02020603050405020304" pitchFamily="18" charset="0"/>
                <a:cs typeface="Times New Roman" panose="02020603050405020304" pitchFamily="18" charset="0"/>
              </a:rPr>
              <a:t>externally owned accounts </a:t>
            </a:r>
            <a:r>
              <a:rPr lang="en-IN" sz="2400" dirty="0">
                <a:latin typeface="Times New Roman" panose="02020603050405020304" pitchFamily="18" charset="0"/>
                <a:cs typeface="Times New Roman" panose="02020603050405020304" pitchFamily="18" charset="0"/>
              </a:rPr>
              <a:t>(</a:t>
            </a:r>
            <a:r>
              <a:rPr lang="en-IN" sz="2400" b="1" dirty="0">
                <a:latin typeface="Times New Roman" panose="02020603050405020304" pitchFamily="18" charset="0"/>
                <a:cs typeface="Times New Roman" panose="02020603050405020304" pitchFamily="18" charset="0"/>
              </a:rPr>
              <a:t>EOAs</a:t>
            </a:r>
            <a:r>
              <a:rPr lang="en-IN" sz="2400" dirty="0">
                <a:latin typeface="Times New Roman" panose="02020603050405020304" pitchFamily="18" charset="0"/>
                <a:cs typeface="Times New Roman" panose="02020603050405020304" pitchFamily="18" charset="0"/>
              </a:rPr>
              <a:t>) and the other is contract accounts. EOAs are similar to accounts that are controlled by a private key in bitcoin.</a:t>
            </a:r>
          </a:p>
          <a:p>
            <a:pPr marL="0" indent="0">
              <a:buNone/>
            </a:pPr>
            <a:r>
              <a:rPr lang="en-IN" sz="2400" b="1" dirty="0">
                <a:latin typeface="Times New Roman" panose="02020603050405020304" pitchFamily="18" charset="0"/>
                <a:cs typeface="Times New Roman" panose="02020603050405020304" pitchFamily="18" charset="0"/>
              </a:rPr>
              <a:t>Contract Account </a:t>
            </a:r>
            <a:r>
              <a:rPr lang="en-IN" sz="2400" dirty="0">
                <a:latin typeface="Times New Roman" panose="02020603050405020304" pitchFamily="18" charset="0"/>
                <a:cs typeface="Times New Roman" panose="02020603050405020304" pitchFamily="18" charset="0"/>
              </a:rPr>
              <a:t>(</a:t>
            </a:r>
            <a:r>
              <a:rPr lang="en-IN" sz="2400" b="1" dirty="0">
                <a:latin typeface="Times New Roman" panose="02020603050405020304" pitchFamily="18" charset="0"/>
                <a:cs typeface="Times New Roman" panose="02020603050405020304" pitchFamily="18" charset="0"/>
              </a:rPr>
              <a:t>CA</a:t>
            </a:r>
            <a:r>
              <a:rPr lang="en-IN" sz="2400" dirty="0">
                <a:latin typeface="Times New Roman" panose="02020603050405020304" pitchFamily="18" charset="0"/>
                <a:cs typeface="Times New Roman" panose="02020603050405020304" pitchFamily="18" charset="0"/>
              </a:rPr>
              <a:t>) has ether balance, associated code, and the ability to get triggered and execute code in response to a transaction or a message.</a:t>
            </a: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11625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0F778-9DC2-081A-F673-F771B81DB234}"/>
              </a:ext>
            </a:extLst>
          </p:cNvPr>
          <p:cNvSpPr>
            <a:spLocks noGrp="1"/>
          </p:cNvSpPr>
          <p:nvPr>
            <p:ph idx="1"/>
          </p:nvPr>
        </p:nvSpPr>
        <p:spPr>
          <a:xfrm>
            <a:off x="576943" y="326571"/>
            <a:ext cx="10776857" cy="5850392"/>
          </a:xfrm>
        </p:spPr>
        <p:txBody>
          <a:bodyPr>
            <a:normAutofit fontScale="92500" lnSpcReduction="20000"/>
          </a:bodyPr>
          <a:lstStyle/>
          <a:p>
            <a:pPr>
              <a:buNone/>
            </a:pPr>
            <a:r>
              <a:rPr lang="en-IN" sz="2800" b="1" dirty="0">
                <a:latin typeface="Calibri" panose="020F0502020204030204" pitchFamily="34" charset="0"/>
                <a:cs typeface="Calibri" panose="020F0502020204030204" pitchFamily="34" charset="0"/>
              </a:rPr>
              <a:t>Externally Owned Accounts (EOAs)</a:t>
            </a:r>
          </a:p>
          <a:p>
            <a:pPr>
              <a:buNone/>
            </a:pPr>
            <a:endParaRPr lang="en-IN" sz="2800" b="1" dirty="0">
              <a:latin typeface="Calibri" panose="020F0502020204030204" pitchFamily="34" charset="0"/>
              <a:cs typeface="Calibri" panose="020F0502020204030204" pitchFamily="34" charset="0"/>
            </a:endParaRPr>
          </a:p>
          <a:p>
            <a:pPr>
              <a:buFont typeface="Arial" panose="020B0604020202020204" pitchFamily="34" charset="0"/>
              <a:buChar char="•"/>
            </a:pPr>
            <a:r>
              <a:rPr lang="en-IN" sz="2800" b="1" dirty="0">
                <a:latin typeface="Calibri" panose="020F0502020204030204" pitchFamily="34" charset="0"/>
                <a:cs typeface="Calibri" panose="020F0502020204030204" pitchFamily="34" charset="0"/>
              </a:rPr>
              <a:t>Controlled by:</a:t>
            </a:r>
            <a:r>
              <a:rPr lang="en-IN" sz="2800" dirty="0">
                <a:latin typeface="Calibri" panose="020F0502020204030204" pitchFamily="34" charset="0"/>
                <a:cs typeface="Calibri" panose="020F0502020204030204" pitchFamily="34" charset="0"/>
              </a:rPr>
              <a:t> Private keys (i.e. controlled by users)</a:t>
            </a:r>
          </a:p>
          <a:p>
            <a:pPr>
              <a:buFont typeface="Arial" panose="020B0604020202020204" pitchFamily="34" charset="0"/>
              <a:buChar char="•"/>
            </a:pPr>
            <a:r>
              <a:rPr lang="en-IN" sz="2800" b="1" dirty="0">
                <a:latin typeface="Calibri" panose="020F0502020204030204" pitchFamily="34" charset="0"/>
                <a:cs typeface="Calibri" panose="020F0502020204030204" pitchFamily="34" charset="0"/>
              </a:rPr>
              <a:t>Created by:</a:t>
            </a:r>
            <a:r>
              <a:rPr lang="en-IN" sz="2800" dirty="0">
                <a:latin typeface="Calibri" panose="020F0502020204030204" pitchFamily="34" charset="0"/>
                <a:cs typeface="Calibri" panose="020F0502020204030204" pitchFamily="34" charset="0"/>
              </a:rPr>
              <a:t> Users via wallets (e.g., MetaMask)</a:t>
            </a:r>
          </a:p>
          <a:p>
            <a:pPr>
              <a:buFont typeface="Arial" panose="020B0604020202020204" pitchFamily="34" charset="0"/>
              <a:buChar char="•"/>
            </a:pPr>
            <a:r>
              <a:rPr lang="en-IN" sz="2800" b="1" dirty="0">
                <a:latin typeface="Calibri" panose="020F0502020204030204" pitchFamily="34" charset="0"/>
                <a:cs typeface="Calibri" panose="020F0502020204030204" pitchFamily="34" charset="0"/>
              </a:rPr>
              <a:t>Purpose:</a:t>
            </a:r>
            <a:r>
              <a:rPr lang="en-IN" sz="2800" dirty="0">
                <a:latin typeface="Calibri" panose="020F0502020204030204" pitchFamily="34" charset="0"/>
                <a:cs typeface="Calibri" panose="020F0502020204030204" pitchFamily="34" charset="0"/>
              </a:rPr>
              <a:t> To send and receive Ether, initiate transactions</a:t>
            </a:r>
          </a:p>
          <a:p>
            <a:pPr>
              <a:buFont typeface="Arial" panose="020B0604020202020204" pitchFamily="34" charset="0"/>
              <a:buChar char="•"/>
            </a:pPr>
            <a:r>
              <a:rPr lang="en-IN" sz="2800" b="1" dirty="0">
                <a:latin typeface="Calibri" panose="020F0502020204030204" pitchFamily="34" charset="0"/>
                <a:cs typeface="Calibri" panose="020F0502020204030204" pitchFamily="34" charset="0"/>
              </a:rPr>
              <a:t>Key Characteristics:</a:t>
            </a:r>
            <a:endParaRPr lang="en-IN" sz="28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sz="2800" dirty="0">
                <a:latin typeface="Calibri" panose="020F0502020204030204" pitchFamily="34" charset="0"/>
                <a:cs typeface="Calibri" panose="020F0502020204030204" pitchFamily="34" charset="0"/>
              </a:rPr>
              <a:t>Have an Ethereum address</a:t>
            </a:r>
          </a:p>
          <a:p>
            <a:pPr marL="742950" lvl="1" indent="-285750">
              <a:buFont typeface="Arial" panose="020B0604020202020204" pitchFamily="34" charset="0"/>
              <a:buChar char="•"/>
            </a:pPr>
            <a:r>
              <a:rPr lang="en-IN" sz="2800" dirty="0">
                <a:latin typeface="Calibri" panose="020F0502020204030204" pitchFamily="34" charset="0"/>
                <a:cs typeface="Calibri" panose="020F0502020204030204" pitchFamily="34" charset="0"/>
              </a:rPr>
              <a:t>Can sign and send transactions</a:t>
            </a:r>
          </a:p>
          <a:p>
            <a:pPr marL="742950" lvl="1" indent="-285750">
              <a:buFont typeface="Arial" panose="020B0604020202020204" pitchFamily="34" charset="0"/>
              <a:buChar char="•"/>
            </a:pPr>
            <a:r>
              <a:rPr lang="en-IN" sz="2800" dirty="0">
                <a:latin typeface="Calibri" panose="020F0502020204030204" pitchFamily="34" charset="0"/>
                <a:cs typeface="Calibri" panose="020F0502020204030204" pitchFamily="34" charset="0"/>
              </a:rPr>
              <a:t>Do </a:t>
            </a:r>
            <a:r>
              <a:rPr lang="en-IN" sz="2800" b="1" dirty="0">
                <a:latin typeface="Calibri" panose="020F0502020204030204" pitchFamily="34" charset="0"/>
                <a:cs typeface="Calibri" panose="020F0502020204030204" pitchFamily="34" charset="0"/>
              </a:rPr>
              <a:t>not</a:t>
            </a:r>
            <a:r>
              <a:rPr lang="en-IN" sz="2800" dirty="0">
                <a:latin typeface="Calibri" panose="020F0502020204030204" pitchFamily="34" charset="0"/>
                <a:cs typeface="Calibri" panose="020F0502020204030204" pitchFamily="34" charset="0"/>
              </a:rPr>
              <a:t> contain code</a:t>
            </a:r>
          </a:p>
          <a:p>
            <a:pPr marL="742950" lvl="1" indent="-285750">
              <a:buFont typeface="Arial" panose="020B0604020202020204" pitchFamily="34" charset="0"/>
              <a:buChar char="•"/>
            </a:pPr>
            <a:r>
              <a:rPr lang="en-IN" sz="2800" dirty="0">
                <a:latin typeface="Calibri" panose="020F0502020204030204" pitchFamily="34" charset="0"/>
                <a:cs typeface="Calibri" panose="020F0502020204030204" pitchFamily="34" charset="0"/>
              </a:rPr>
              <a:t>Cannot execute code on their own</a:t>
            </a:r>
          </a:p>
          <a:p>
            <a:pPr>
              <a:buFont typeface="Arial" panose="020B0604020202020204" pitchFamily="34" charset="0"/>
              <a:buChar char="•"/>
            </a:pPr>
            <a:r>
              <a:rPr lang="en-IN" sz="2800" b="1" dirty="0">
                <a:latin typeface="Calibri" panose="020F0502020204030204" pitchFamily="34" charset="0"/>
                <a:cs typeface="Calibri" panose="020F0502020204030204" pitchFamily="34" charset="0"/>
              </a:rPr>
              <a:t>Example Use Case:</a:t>
            </a:r>
          </a:p>
          <a:p>
            <a:r>
              <a:rPr lang="en-IN" sz="2800" dirty="0">
                <a:latin typeface="Calibri" panose="020F0502020204030204" pitchFamily="34" charset="0"/>
                <a:cs typeface="Calibri" panose="020F0502020204030204" pitchFamily="34" charset="0"/>
              </a:rPr>
              <a:t>A user wallet (e.g., MetaMask, Trust Wallet):</a:t>
            </a:r>
          </a:p>
          <a:p>
            <a:r>
              <a:rPr lang="en-IN" sz="2800" dirty="0">
                <a:latin typeface="Calibri" panose="020F0502020204030204" pitchFamily="34" charset="0"/>
                <a:cs typeface="Calibri" panose="020F0502020204030204" pitchFamily="34" charset="0"/>
              </a:rPr>
              <a:t>Used to send ETH or tokens, or to interact with </a:t>
            </a:r>
            <a:r>
              <a:rPr lang="en-IN" sz="2800" dirty="0" err="1">
                <a:latin typeface="Calibri" panose="020F0502020204030204" pitchFamily="34" charset="0"/>
                <a:cs typeface="Calibri" panose="020F0502020204030204" pitchFamily="34" charset="0"/>
              </a:rPr>
              <a:t>DApps</a:t>
            </a:r>
            <a:r>
              <a:rPr lang="en-IN" sz="2800" dirty="0">
                <a:latin typeface="Calibri" panose="020F0502020204030204" pitchFamily="34" charset="0"/>
                <a:cs typeface="Calibri" panose="020F0502020204030204" pitchFamily="34" charset="0"/>
              </a:rPr>
              <a:t>.</a:t>
            </a:r>
          </a:p>
          <a:p>
            <a:pPr lvl="1"/>
            <a:r>
              <a:rPr lang="en-IN" sz="2800" dirty="0">
                <a:latin typeface="Calibri" panose="020F0502020204030204" pitchFamily="34" charset="0"/>
                <a:cs typeface="Calibri" panose="020F0502020204030204" pitchFamily="34" charset="0"/>
              </a:rPr>
              <a:t>Ex: Alice sends 1 ETH to Bob’s address</a:t>
            </a:r>
          </a:p>
          <a:p>
            <a:endParaRPr lang="en-IN" dirty="0"/>
          </a:p>
        </p:txBody>
      </p:sp>
    </p:spTree>
    <p:extLst>
      <p:ext uri="{BB962C8B-B14F-4D97-AF65-F5344CB8AC3E}">
        <p14:creationId xmlns:p14="http://schemas.microsoft.com/office/powerpoint/2010/main" val="34781559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F6DB82-1500-E6F7-21B7-00EAF31A619C}"/>
              </a:ext>
            </a:extLst>
          </p:cNvPr>
          <p:cNvSpPr>
            <a:spLocks noGrp="1"/>
          </p:cNvSpPr>
          <p:nvPr>
            <p:ph idx="1"/>
          </p:nvPr>
        </p:nvSpPr>
        <p:spPr>
          <a:xfrm>
            <a:off x="533400" y="370114"/>
            <a:ext cx="10820400" cy="5806849"/>
          </a:xfrm>
        </p:spPr>
        <p:txBody>
          <a:bodyPr>
            <a:normAutofit fontScale="92500" lnSpcReduction="10000"/>
          </a:bodyPr>
          <a:lstStyle/>
          <a:p>
            <a:pPr>
              <a:buNone/>
            </a:pPr>
            <a:r>
              <a:rPr lang="en-IN" sz="2400" b="1" dirty="0">
                <a:latin typeface="Calibri" panose="020F0502020204030204" pitchFamily="34" charset="0"/>
                <a:cs typeface="Calibri" panose="020F0502020204030204" pitchFamily="34" charset="0"/>
              </a:rPr>
              <a:t>2. Contract Accounts</a:t>
            </a:r>
          </a:p>
          <a:p>
            <a:pPr>
              <a:buNone/>
            </a:pPr>
            <a:endParaRPr lang="en-IN" sz="2400" b="1" dirty="0">
              <a:latin typeface="Calibri" panose="020F0502020204030204" pitchFamily="34" charset="0"/>
              <a:cs typeface="Calibri" panose="020F0502020204030204" pitchFamily="34" charset="0"/>
            </a:endParaRPr>
          </a:p>
          <a:p>
            <a:pPr>
              <a:buFont typeface="Arial" panose="020B0604020202020204" pitchFamily="34" charset="0"/>
              <a:buChar char="•"/>
            </a:pPr>
            <a:r>
              <a:rPr lang="en-IN" sz="2400" b="1" dirty="0">
                <a:latin typeface="Calibri" panose="020F0502020204030204" pitchFamily="34" charset="0"/>
                <a:cs typeface="Calibri" panose="020F0502020204030204" pitchFamily="34" charset="0"/>
              </a:rPr>
              <a:t>Controlled by:</a:t>
            </a:r>
            <a:r>
              <a:rPr lang="en-IN" sz="2400" dirty="0">
                <a:latin typeface="Calibri" panose="020F0502020204030204" pitchFamily="34" charset="0"/>
                <a:cs typeface="Calibri" panose="020F0502020204030204" pitchFamily="34" charset="0"/>
              </a:rPr>
              <a:t> Smart contract code</a:t>
            </a:r>
          </a:p>
          <a:p>
            <a:pPr>
              <a:buFont typeface="Arial" panose="020B0604020202020204" pitchFamily="34" charset="0"/>
              <a:buChar char="•"/>
            </a:pPr>
            <a:r>
              <a:rPr lang="en-IN" sz="2400" b="1" dirty="0">
                <a:latin typeface="Calibri" panose="020F0502020204030204" pitchFamily="34" charset="0"/>
                <a:cs typeface="Calibri" panose="020F0502020204030204" pitchFamily="34" charset="0"/>
              </a:rPr>
              <a:t>Created by:</a:t>
            </a:r>
            <a:r>
              <a:rPr lang="en-IN" sz="2400" dirty="0">
                <a:latin typeface="Calibri" panose="020F0502020204030204" pitchFamily="34" charset="0"/>
                <a:cs typeface="Calibri" panose="020F0502020204030204" pitchFamily="34" charset="0"/>
              </a:rPr>
              <a:t> Deployment of smart contracts (via EOAs or other contracts)</a:t>
            </a:r>
          </a:p>
          <a:p>
            <a:pPr>
              <a:buFont typeface="Arial" panose="020B0604020202020204" pitchFamily="34" charset="0"/>
              <a:buChar char="•"/>
            </a:pPr>
            <a:r>
              <a:rPr lang="en-IN" sz="2400" b="1" dirty="0">
                <a:latin typeface="Calibri" panose="020F0502020204030204" pitchFamily="34" charset="0"/>
                <a:cs typeface="Calibri" panose="020F0502020204030204" pitchFamily="34" charset="0"/>
              </a:rPr>
              <a:t>Purpose:</a:t>
            </a:r>
            <a:r>
              <a:rPr lang="en-IN" sz="2400" dirty="0">
                <a:latin typeface="Calibri" panose="020F0502020204030204" pitchFamily="34" charset="0"/>
                <a:cs typeface="Calibri" panose="020F0502020204030204" pitchFamily="34" charset="0"/>
              </a:rPr>
              <a:t> To execute code automatically based on transactions</a:t>
            </a:r>
          </a:p>
          <a:p>
            <a:pPr>
              <a:buFont typeface="Arial" panose="020B0604020202020204" pitchFamily="34" charset="0"/>
              <a:buChar char="•"/>
            </a:pPr>
            <a:r>
              <a:rPr lang="en-IN" sz="2400" b="1" dirty="0">
                <a:latin typeface="Calibri" panose="020F0502020204030204" pitchFamily="34" charset="0"/>
                <a:cs typeface="Calibri" panose="020F0502020204030204" pitchFamily="34" charset="0"/>
              </a:rPr>
              <a:t>Key Characteristics:</a:t>
            </a:r>
            <a:endParaRPr lang="en-IN" sz="24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sz="2400" dirty="0">
                <a:latin typeface="Calibri" panose="020F0502020204030204" pitchFamily="34" charset="0"/>
                <a:cs typeface="Calibri" panose="020F0502020204030204" pitchFamily="34" charset="0"/>
              </a:rPr>
              <a:t>Have an Ethereum address</a:t>
            </a:r>
          </a:p>
          <a:p>
            <a:pPr marL="742950" lvl="1" indent="-285750">
              <a:buFont typeface="Arial" panose="020B0604020202020204" pitchFamily="34" charset="0"/>
              <a:buChar char="•"/>
            </a:pPr>
            <a:r>
              <a:rPr lang="en-IN" sz="2400" dirty="0">
                <a:latin typeface="Calibri" panose="020F0502020204030204" pitchFamily="34" charset="0"/>
                <a:cs typeface="Calibri" panose="020F0502020204030204" pitchFamily="34" charset="0"/>
              </a:rPr>
              <a:t>Contain and execute code</a:t>
            </a:r>
          </a:p>
          <a:p>
            <a:pPr marL="742950" lvl="1" indent="-285750">
              <a:buFont typeface="Arial" panose="020B0604020202020204" pitchFamily="34" charset="0"/>
              <a:buChar char="•"/>
            </a:pPr>
            <a:r>
              <a:rPr lang="en-IN" sz="2400" dirty="0">
                <a:latin typeface="Calibri" panose="020F0502020204030204" pitchFamily="34" charset="0"/>
                <a:cs typeface="Calibri" panose="020F0502020204030204" pitchFamily="34" charset="0"/>
              </a:rPr>
              <a:t>React to transactions/messages</a:t>
            </a:r>
          </a:p>
          <a:p>
            <a:pPr marL="742950" lvl="1" indent="-285750">
              <a:buFont typeface="Arial" panose="020B0604020202020204" pitchFamily="34" charset="0"/>
              <a:buChar char="•"/>
            </a:pPr>
            <a:r>
              <a:rPr lang="en-IN" sz="2400" dirty="0">
                <a:latin typeface="Calibri" panose="020F0502020204030204" pitchFamily="34" charset="0"/>
                <a:cs typeface="Calibri" panose="020F0502020204030204" pitchFamily="34" charset="0"/>
              </a:rPr>
              <a:t>Cannot initiate transactions on their own (only respond)</a:t>
            </a:r>
          </a:p>
          <a:p>
            <a:pPr>
              <a:buFont typeface="Arial" panose="020B0604020202020204" pitchFamily="34" charset="0"/>
              <a:buChar char="•"/>
            </a:pPr>
            <a:r>
              <a:rPr lang="en-IN" sz="2400" b="1" dirty="0">
                <a:latin typeface="Calibri" panose="020F0502020204030204" pitchFamily="34" charset="0"/>
                <a:cs typeface="Calibri" panose="020F0502020204030204" pitchFamily="34" charset="0"/>
              </a:rPr>
              <a:t>Example Use Case:</a:t>
            </a:r>
          </a:p>
          <a:p>
            <a:pPr marL="342900" indent="-342900">
              <a:buFont typeface="Arial" panose="020B0604020202020204" pitchFamily="34" charset="0"/>
              <a:buChar char="•"/>
            </a:pPr>
            <a:r>
              <a:rPr lang="en-IN" sz="2400" dirty="0">
                <a:latin typeface="Calibri" panose="020F0502020204030204" pitchFamily="34" charset="0"/>
                <a:cs typeface="Calibri" panose="020F0502020204030204" pitchFamily="34" charset="0"/>
              </a:rPr>
              <a:t>NFT Marketplace Contract:</a:t>
            </a:r>
          </a:p>
          <a:p>
            <a:pPr marL="342900" indent="-342900">
              <a:buFont typeface="Arial" panose="020B0604020202020204" pitchFamily="34" charset="0"/>
              <a:buChar char="•"/>
            </a:pPr>
            <a:r>
              <a:rPr lang="en-IN" sz="2400" dirty="0" err="1">
                <a:latin typeface="Calibri" panose="020F0502020204030204" pitchFamily="34" charset="0"/>
                <a:cs typeface="Calibri" panose="020F0502020204030204" pitchFamily="34" charset="0"/>
              </a:rPr>
              <a:t>OpenSea’s</a:t>
            </a:r>
            <a:r>
              <a:rPr lang="en-IN" sz="2400" dirty="0">
                <a:latin typeface="Calibri" panose="020F0502020204030204" pitchFamily="34" charset="0"/>
                <a:cs typeface="Calibri" panose="020F0502020204030204" pitchFamily="34" charset="0"/>
              </a:rPr>
              <a:t> contract to manage listings, bids, and transfers.</a:t>
            </a:r>
          </a:p>
          <a:p>
            <a:pPr marL="800100" lvl="1" indent="-342900">
              <a:buFont typeface="Arial" panose="020B0604020202020204" pitchFamily="34" charset="0"/>
              <a:buChar char="•"/>
            </a:pPr>
            <a:r>
              <a:rPr lang="en-IN" sz="2400" dirty="0">
                <a:latin typeface="Calibri" panose="020F0502020204030204" pitchFamily="34" charset="0"/>
                <a:cs typeface="Calibri" panose="020F0502020204030204" pitchFamily="34" charset="0"/>
              </a:rPr>
              <a:t>A decentralized exchange contract executes a token swap when it receives a transaction</a:t>
            </a:r>
          </a:p>
          <a:p>
            <a:endParaRPr lang="en-IN" dirty="0"/>
          </a:p>
        </p:txBody>
      </p:sp>
    </p:spTree>
    <p:extLst>
      <p:ext uri="{BB962C8B-B14F-4D97-AF65-F5344CB8AC3E}">
        <p14:creationId xmlns:p14="http://schemas.microsoft.com/office/powerpoint/2010/main" val="32326229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A0523-4D89-7EB8-42C4-2FB872D5CBA0}"/>
              </a:ext>
            </a:extLst>
          </p:cNvPr>
          <p:cNvSpPr>
            <a:spLocks noGrp="1"/>
          </p:cNvSpPr>
          <p:nvPr>
            <p:ph type="title"/>
          </p:nvPr>
        </p:nvSpPr>
        <p:spPr>
          <a:xfrm>
            <a:off x="0" y="18256"/>
            <a:ext cx="11669486" cy="662781"/>
          </a:xfrm>
        </p:spPr>
        <p:txBody>
          <a:bodyPr>
            <a:normAutofit fontScale="90000"/>
          </a:bodyPr>
          <a:lstStyle/>
          <a:p>
            <a:pPr algn="ctr"/>
            <a:r>
              <a:rPr lang="en-IN" b="1">
                <a:solidFill>
                  <a:srgbClr val="FF0000"/>
                </a:solidFill>
                <a:latin typeface="Times New Roman" panose="02020603050405020304" pitchFamily="18" charset="0"/>
                <a:cs typeface="Times New Roman" panose="02020603050405020304" pitchFamily="18" charset="0"/>
              </a:rPr>
              <a:t>Block</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B935E7-2FF1-CC8F-AC59-ADE711D19CA8}"/>
              </a:ext>
            </a:extLst>
          </p:cNvPr>
          <p:cNvSpPr>
            <a:spLocks noGrp="1"/>
          </p:cNvSpPr>
          <p:nvPr>
            <p:ph idx="1"/>
          </p:nvPr>
        </p:nvSpPr>
        <p:spPr>
          <a:xfrm>
            <a:off x="381000" y="681037"/>
            <a:ext cx="11669485" cy="5897450"/>
          </a:xfrm>
        </p:spPr>
        <p:txBody>
          <a:bodyPr>
            <a:normAutofit lnSpcReduction="10000"/>
          </a:bodyPr>
          <a:lstStyle/>
          <a:p>
            <a:pPr algn="just">
              <a:defRPr/>
            </a:pPr>
            <a:r>
              <a:rPr lang="en-US" dirty="0">
                <a:latin typeface="Times New Roman" panose="02020603050405020304" pitchFamily="18" charset="0"/>
                <a:cs typeface="Times New Roman" panose="02020603050405020304" pitchFamily="18" charset="0"/>
              </a:rPr>
              <a:t>Blocks are the main building blocks of a blockchain. </a:t>
            </a:r>
          </a:p>
          <a:p>
            <a:pPr algn="just">
              <a:defRPr/>
            </a:pPr>
            <a:r>
              <a:rPr lang="en-US" dirty="0">
                <a:latin typeface="Times New Roman" panose="02020603050405020304" pitchFamily="18" charset="0"/>
                <a:cs typeface="Times New Roman" panose="02020603050405020304" pitchFamily="18" charset="0"/>
              </a:rPr>
              <a:t>Ethereum blocks consist of various components,</a:t>
            </a:r>
          </a:p>
          <a:p>
            <a:pPr marL="628650" lvl="1" indent="-171450" algn="jus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The block header </a:t>
            </a:r>
          </a:p>
          <a:p>
            <a:pPr marL="628650" lvl="1" indent="-171450" algn="jus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The transactions list </a:t>
            </a:r>
          </a:p>
          <a:p>
            <a:pPr marL="628650" lvl="1" indent="-171450" algn="just">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The list of headers of </a:t>
            </a:r>
            <a:r>
              <a:rPr lang="en-US" dirty="0" err="1">
                <a:latin typeface="Times New Roman" panose="02020603050405020304" pitchFamily="18" charset="0"/>
                <a:cs typeface="Times New Roman" panose="02020603050405020304" pitchFamily="18" charset="0"/>
              </a:rPr>
              <a:t>Ommers</a:t>
            </a:r>
            <a:r>
              <a:rPr lang="en-US" dirty="0">
                <a:latin typeface="Times New Roman" panose="02020603050405020304" pitchFamily="18" charset="0"/>
                <a:cs typeface="Times New Roman" panose="02020603050405020304" pitchFamily="18" charset="0"/>
              </a:rPr>
              <a:t> or Uncles</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a:defRPr/>
            </a:pPr>
            <a:r>
              <a:rPr lang="en-US" dirty="0">
                <a:highlight>
                  <a:srgbClr val="FFFF00"/>
                </a:highlight>
                <a:latin typeface="Times New Roman" panose="02020603050405020304" pitchFamily="18" charset="0"/>
                <a:cs typeface="Times New Roman" panose="02020603050405020304" pitchFamily="18" charset="0"/>
              </a:rPr>
              <a:t>Block header </a:t>
            </a: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components of an Ethereum block. </a:t>
            </a:r>
          </a:p>
          <a:p>
            <a:pPr marL="285750" indent="-285750">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The header contains valuable information</a:t>
            </a:r>
            <a:endParaRPr lang="en-IN" dirty="0">
              <a:highlight>
                <a:srgbClr val="FFFF00"/>
              </a:highlight>
              <a:latin typeface="Times New Roman" panose="02020603050405020304" pitchFamily="18" charset="0"/>
              <a:cs typeface="Times New Roman" panose="02020603050405020304" pitchFamily="18" charset="0"/>
            </a:endParaRPr>
          </a:p>
          <a:p>
            <a:pPr>
              <a:defRPr/>
            </a:pPr>
            <a:r>
              <a:rPr lang="en-IN" sz="2800" dirty="0">
                <a:highlight>
                  <a:srgbClr val="FFFF00"/>
                </a:highlight>
                <a:latin typeface="Times New Roman" panose="02020603050405020304" pitchFamily="18" charset="0"/>
                <a:cs typeface="Times New Roman" panose="02020603050405020304" pitchFamily="18" charset="0"/>
              </a:rPr>
              <a:t>Components</a:t>
            </a:r>
            <a:endParaRPr lang="en-IN" dirty="0">
              <a:highlight>
                <a:srgbClr val="FFFF00"/>
              </a:highlight>
              <a:latin typeface="Times New Roman" panose="02020603050405020304" pitchFamily="18" charset="0"/>
              <a:cs typeface="Times New Roman" panose="02020603050405020304" pitchFamily="18" charset="0"/>
            </a:endParaRPr>
          </a:p>
          <a:p>
            <a:pPr algn="just">
              <a:defRPr/>
            </a:pPr>
            <a:r>
              <a:rPr lang="en-US" dirty="0">
                <a:latin typeface="Times New Roman" panose="02020603050405020304" pitchFamily="18" charset="0"/>
                <a:cs typeface="Times New Roman" panose="02020603050405020304" pitchFamily="18" charset="0"/>
              </a:rPr>
              <a:t>Parent hash: This is the Keccak 256-bit hash of the</a:t>
            </a:r>
          </a:p>
          <a:p>
            <a:pPr marL="0" indent="0" algn="just">
              <a:buNone/>
              <a:defRPr/>
            </a:pP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parent (previous) </a:t>
            </a:r>
            <a:r>
              <a:rPr lang="en-US" dirty="0">
                <a:latin typeface="Times New Roman" panose="02020603050405020304" pitchFamily="18" charset="0"/>
                <a:cs typeface="Times New Roman" panose="02020603050405020304" pitchFamily="18" charset="0"/>
              </a:rPr>
              <a:t>block's header. </a:t>
            </a:r>
          </a:p>
          <a:p>
            <a:pPr algn="just">
              <a:defRPr/>
            </a:pPr>
            <a:r>
              <a:rPr lang="en-US" dirty="0" err="1">
                <a:latin typeface="Times New Roman" panose="02020603050405020304" pitchFamily="18" charset="0"/>
                <a:cs typeface="Times New Roman" panose="02020603050405020304" pitchFamily="18" charset="0"/>
              </a:rPr>
              <a:t>Ommers</a:t>
            </a:r>
            <a:r>
              <a:rPr lang="en-US" dirty="0">
                <a:latin typeface="Times New Roman" panose="02020603050405020304" pitchFamily="18" charset="0"/>
                <a:cs typeface="Times New Roman" panose="02020603050405020304" pitchFamily="18" charset="0"/>
              </a:rPr>
              <a:t> hash:  This is the Keccak 256-bit hash of the list </a:t>
            </a:r>
          </a:p>
          <a:p>
            <a:pPr marL="0" indent="0" algn="just">
              <a:buNone/>
              <a:defRPr/>
            </a:pPr>
            <a:r>
              <a:rPr lang="en-US" dirty="0">
                <a:latin typeface="Times New Roman" panose="02020603050405020304" pitchFamily="18" charset="0"/>
                <a:cs typeface="Times New Roman" panose="02020603050405020304" pitchFamily="18" charset="0"/>
              </a:rPr>
              <a:t>of </a:t>
            </a:r>
            <a:r>
              <a:rPr lang="en-US" dirty="0" err="1">
                <a:solidFill>
                  <a:srgbClr val="FF0000"/>
                </a:solidFill>
                <a:latin typeface="Times New Roman" panose="02020603050405020304" pitchFamily="18" charset="0"/>
                <a:cs typeface="Times New Roman" panose="02020603050405020304" pitchFamily="18" charset="0"/>
              </a:rPr>
              <a:t>Ommers</a:t>
            </a:r>
            <a:r>
              <a:rPr lang="en-US" dirty="0">
                <a:solidFill>
                  <a:srgbClr val="FF0000"/>
                </a:solidFill>
                <a:latin typeface="Times New Roman" panose="02020603050405020304" pitchFamily="18" charset="0"/>
                <a:cs typeface="Times New Roman" panose="02020603050405020304" pitchFamily="18" charset="0"/>
              </a:rPr>
              <a:t> (Uncles) </a:t>
            </a:r>
            <a:r>
              <a:rPr lang="en-US" dirty="0">
                <a:latin typeface="Times New Roman" panose="02020603050405020304" pitchFamily="18" charset="0"/>
                <a:cs typeface="Times New Roman" panose="02020603050405020304" pitchFamily="18" charset="0"/>
              </a:rPr>
              <a:t>blocks included in the block.</a:t>
            </a:r>
          </a:p>
          <a:p>
            <a:pPr marL="457200" lvl="1" indent="0" algn="just">
              <a:buNone/>
              <a:defRPr/>
            </a:pPr>
            <a:endParaRPr lang="en-IN" kern="100"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pic>
        <p:nvPicPr>
          <p:cNvPr id="6" name="Picture 2">
            <a:extLst>
              <a:ext uri="{FF2B5EF4-FFF2-40B4-BE49-F238E27FC236}">
                <a16:creationId xmlns:a16="http://schemas.microsoft.com/office/drawing/2014/main" id="{4234B1CC-4594-1935-AD72-0F4A43FDFA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9572" y="459524"/>
            <a:ext cx="3048000" cy="634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67323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CD2EA8-FA10-7D1E-ABE7-043766FF375D}"/>
              </a:ext>
            </a:extLst>
          </p:cNvPr>
          <p:cNvSpPr>
            <a:spLocks noGrp="1"/>
          </p:cNvSpPr>
          <p:nvPr>
            <p:ph idx="1"/>
          </p:nvPr>
        </p:nvSpPr>
        <p:spPr>
          <a:xfrm>
            <a:off x="250371" y="359229"/>
            <a:ext cx="11702143" cy="6259285"/>
          </a:xfrm>
        </p:spPr>
        <p:txBody>
          <a:bodyPr>
            <a:normAutofit fontScale="85000" lnSpcReduction="10000"/>
          </a:bodyPr>
          <a:lstStyle/>
          <a:p>
            <a:pPr algn="just"/>
            <a:r>
              <a:rPr lang="en-US" altLang="en-US" sz="3300" dirty="0">
                <a:latin typeface="Times New Roman" panose="02020603050405020304" pitchFamily="18" charset="0"/>
                <a:cs typeface="Times New Roman" panose="02020603050405020304" pitchFamily="18" charset="0"/>
              </a:rPr>
              <a:t>Beneficiary:  160-bit address of the recipient</a:t>
            </a:r>
          </a:p>
          <a:p>
            <a:pPr algn="just"/>
            <a:r>
              <a:rPr lang="en-US" altLang="en-US" sz="3300" dirty="0">
                <a:latin typeface="Times New Roman" panose="02020603050405020304" pitchFamily="18" charset="0"/>
                <a:cs typeface="Times New Roman" panose="02020603050405020304" pitchFamily="18" charset="0"/>
              </a:rPr>
              <a:t>State root: It is calculated after all transactions have been processed and finalized. </a:t>
            </a:r>
          </a:p>
          <a:p>
            <a:pPr algn="just"/>
            <a:r>
              <a:rPr lang="en-US" altLang="en-US" sz="3300" dirty="0">
                <a:latin typeface="Times New Roman" panose="02020603050405020304" pitchFamily="18" charset="0"/>
                <a:cs typeface="Times New Roman" panose="02020603050405020304" pitchFamily="18" charset="0"/>
              </a:rPr>
              <a:t>Transactions root: </a:t>
            </a:r>
            <a:r>
              <a:rPr lang="en-US" altLang="en-US" sz="3300" dirty="0">
                <a:solidFill>
                  <a:srgbClr val="FF0000"/>
                </a:solidFill>
                <a:latin typeface="Times New Roman" panose="02020603050405020304" pitchFamily="18" charset="0"/>
                <a:cs typeface="Times New Roman" panose="02020603050405020304" pitchFamily="18" charset="0"/>
              </a:rPr>
              <a:t>Root node </a:t>
            </a:r>
            <a:r>
              <a:rPr lang="en-US" altLang="en-US" sz="3300" dirty="0">
                <a:latin typeface="Times New Roman" panose="02020603050405020304" pitchFamily="18" charset="0"/>
                <a:cs typeface="Times New Roman" panose="02020603050405020304" pitchFamily="18" charset="0"/>
              </a:rPr>
              <a:t>of the transaction </a:t>
            </a:r>
            <a:r>
              <a:rPr lang="en-US" altLang="en-US" sz="3300" dirty="0" err="1">
                <a:latin typeface="Times New Roman" panose="02020603050405020304" pitchFamily="18" charset="0"/>
                <a:cs typeface="Times New Roman" panose="02020603050405020304" pitchFamily="18" charset="0"/>
              </a:rPr>
              <a:t>trie</a:t>
            </a:r>
            <a:r>
              <a:rPr lang="en-US" altLang="en-US" sz="3300" dirty="0">
                <a:latin typeface="Times New Roman" panose="02020603050405020304" pitchFamily="18" charset="0"/>
                <a:cs typeface="Times New Roman" panose="02020603050405020304" pitchFamily="18" charset="0"/>
              </a:rPr>
              <a:t>, which represents </a:t>
            </a:r>
            <a:r>
              <a:rPr lang="en-US" altLang="en-US" sz="3300" dirty="0">
                <a:solidFill>
                  <a:srgbClr val="FF0000"/>
                </a:solidFill>
                <a:latin typeface="Times New Roman" panose="02020603050405020304" pitchFamily="18" charset="0"/>
                <a:cs typeface="Times New Roman" panose="02020603050405020304" pitchFamily="18" charset="0"/>
              </a:rPr>
              <a:t>the list of transactions</a:t>
            </a:r>
            <a:r>
              <a:rPr lang="en-US" altLang="en-US" sz="3300" dirty="0">
                <a:latin typeface="Times New Roman" panose="02020603050405020304" pitchFamily="18" charset="0"/>
                <a:cs typeface="Times New Roman" panose="02020603050405020304" pitchFamily="18" charset="0"/>
              </a:rPr>
              <a:t> included in the block. </a:t>
            </a:r>
          </a:p>
          <a:p>
            <a:pPr algn="just">
              <a:defRPr/>
            </a:pPr>
            <a:r>
              <a:rPr lang="en-US" sz="3300" b="1" dirty="0">
                <a:latin typeface="Times New Roman" panose="02020603050405020304" pitchFamily="18" charset="0"/>
                <a:cs typeface="Times New Roman" panose="02020603050405020304" pitchFamily="18" charset="0"/>
              </a:rPr>
              <a:t>Receipts root: </a:t>
            </a:r>
          </a:p>
          <a:p>
            <a:pPr marL="285750" indent="-285750" algn="just">
              <a:buFont typeface="Arial" panose="020B0604020202020204" pitchFamily="34" charset="0"/>
              <a:buChar char="•"/>
              <a:defRPr/>
            </a:pPr>
            <a:r>
              <a:rPr lang="en-US" sz="3300" dirty="0">
                <a:latin typeface="Times New Roman" panose="02020603050405020304" pitchFamily="18" charset="0"/>
                <a:cs typeface="Times New Roman" panose="02020603050405020304" pitchFamily="18" charset="0"/>
              </a:rPr>
              <a:t>The receipts root is the </a:t>
            </a:r>
            <a:r>
              <a:rPr lang="en-US" sz="3300" dirty="0" err="1">
                <a:latin typeface="Times New Roman" panose="02020603050405020304" pitchFamily="18" charset="0"/>
                <a:cs typeface="Times New Roman" panose="02020603050405020304" pitchFamily="18" charset="0"/>
              </a:rPr>
              <a:t>keccak</a:t>
            </a:r>
            <a:r>
              <a:rPr lang="en-US" sz="3300" dirty="0">
                <a:latin typeface="Times New Roman" panose="02020603050405020304" pitchFamily="18" charset="0"/>
                <a:cs typeface="Times New Roman" panose="02020603050405020304" pitchFamily="18" charset="0"/>
              </a:rPr>
              <a:t> 256-bit hash of the root node of the transaction receipt </a:t>
            </a:r>
            <a:r>
              <a:rPr lang="en-US" sz="3300" dirty="0" err="1">
                <a:latin typeface="Times New Roman" panose="02020603050405020304" pitchFamily="18" charset="0"/>
                <a:cs typeface="Times New Roman" panose="02020603050405020304" pitchFamily="18" charset="0"/>
              </a:rPr>
              <a:t>trie</a:t>
            </a:r>
            <a:r>
              <a:rPr lang="en-US" sz="33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defRPr/>
            </a:pPr>
            <a:r>
              <a:rPr lang="en-US" sz="3300" dirty="0">
                <a:latin typeface="Times New Roman" panose="02020603050405020304" pitchFamily="18" charset="0"/>
                <a:cs typeface="Times New Roman" panose="02020603050405020304" pitchFamily="18" charset="0"/>
              </a:rPr>
              <a:t>This </a:t>
            </a:r>
            <a:r>
              <a:rPr lang="en-US" sz="3300" dirty="0" err="1">
                <a:latin typeface="Times New Roman" panose="02020603050405020304" pitchFamily="18" charset="0"/>
                <a:cs typeface="Times New Roman" panose="02020603050405020304" pitchFamily="18" charset="0"/>
              </a:rPr>
              <a:t>trie</a:t>
            </a:r>
            <a:r>
              <a:rPr lang="en-US" sz="3300" dirty="0">
                <a:latin typeface="Times New Roman" panose="02020603050405020304" pitchFamily="18" charset="0"/>
                <a:cs typeface="Times New Roman" panose="02020603050405020304" pitchFamily="18" charset="0"/>
              </a:rPr>
              <a:t> is composed of </a:t>
            </a:r>
            <a:r>
              <a:rPr lang="en-US" sz="3300" dirty="0">
                <a:solidFill>
                  <a:srgbClr val="FF0000"/>
                </a:solidFill>
                <a:latin typeface="Times New Roman" panose="02020603050405020304" pitchFamily="18" charset="0"/>
                <a:cs typeface="Times New Roman" panose="02020603050405020304" pitchFamily="18" charset="0"/>
              </a:rPr>
              <a:t>receipts of all transactions </a:t>
            </a:r>
            <a:r>
              <a:rPr lang="en-US" sz="3300" dirty="0">
                <a:latin typeface="Times New Roman" panose="02020603050405020304" pitchFamily="18" charset="0"/>
                <a:cs typeface="Times New Roman" panose="02020603050405020304" pitchFamily="18" charset="0"/>
              </a:rPr>
              <a:t>included in the block.</a:t>
            </a:r>
          </a:p>
          <a:p>
            <a:pPr marL="285750" indent="-285750" algn="just">
              <a:buFont typeface="Arial" panose="020B0604020202020204" pitchFamily="34" charset="0"/>
              <a:buChar char="•"/>
              <a:defRPr/>
            </a:pPr>
            <a:r>
              <a:rPr lang="en-US" sz="3300" dirty="0">
                <a:latin typeface="Times New Roman" panose="02020603050405020304" pitchFamily="18" charset="0"/>
                <a:cs typeface="Times New Roman" panose="02020603050405020304" pitchFamily="18" charset="0"/>
              </a:rPr>
              <a:t> </a:t>
            </a:r>
            <a:r>
              <a:rPr lang="en-US" sz="3300" dirty="0">
                <a:solidFill>
                  <a:srgbClr val="FF0000"/>
                </a:solidFill>
                <a:latin typeface="Times New Roman" panose="02020603050405020304" pitchFamily="18" charset="0"/>
                <a:cs typeface="Times New Roman" panose="02020603050405020304" pitchFamily="18" charset="0"/>
              </a:rPr>
              <a:t>Transaction receipts are generated after each transaction </a:t>
            </a:r>
            <a:r>
              <a:rPr lang="en-US" sz="3300" dirty="0">
                <a:latin typeface="Times New Roman" panose="02020603050405020304" pitchFamily="18" charset="0"/>
                <a:cs typeface="Times New Roman" panose="02020603050405020304" pitchFamily="18" charset="0"/>
              </a:rPr>
              <a:t>is processed and contain useful post transaction information.</a:t>
            </a:r>
          </a:p>
          <a:p>
            <a:pPr algn="just">
              <a:defRPr/>
            </a:pPr>
            <a:r>
              <a:rPr lang="en-US" sz="3300" b="1" dirty="0">
                <a:latin typeface="Times New Roman" panose="02020603050405020304" pitchFamily="18" charset="0"/>
                <a:cs typeface="Times New Roman" panose="02020603050405020304" pitchFamily="18" charset="0"/>
              </a:rPr>
              <a:t>Logs bloom </a:t>
            </a:r>
            <a:r>
              <a:rPr lang="en-US" sz="3300" dirty="0">
                <a:latin typeface="Times New Roman" panose="02020603050405020304" pitchFamily="18" charset="0"/>
                <a:cs typeface="Times New Roman" panose="02020603050405020304" pitchFamily="18" charset="0"/>
              </a:rPr>
              <a:t>log entry of each transaction receipt</a:t>
            </a:r>
          </a:p>
          <a:p>
            <a:pPr algn="just">
              <a:defRPr/>
            </a:pPr>
            <a:r>
              <a:rPr lang="en-US" sz="3300" b="1" dirty="0" err="1">
                <a:latin typeface="Times New Roman" panose="02020603050405020304" pitchFamily="18" charset="0"/>
                <a:cs typeface="Times New Roman" panose="02020603050405020304" pitchFamily="18" charset="0"/>
              </a:rPr>
              <a:t>Mixhash</a:t>
            </a:r>
            <a:r>
              <a:rPr lang="en-US" sz="3300" b="1"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Mixhash</a:t>
            </a:r>
            <a:r>
              <a:rPr lang="en-US" sz="3300" dirty="0">
                <a:latin typeface="Times New Roman" panose="02020603050405020304" pitchFamily="18" charset="0"/>
                <a:cs typeface="Times New Roman" panose="02020603050405020304" pitchFamily="18" charset="0"/>
              </a:rPr>
              <a:t> field contains a 256-bit hash that once </a:t>
            </a:r>
            <a:r>
              <a:rPr lang="en-US" sz="3300" dirty="0">
                <a:solidFill>
                  <a:srgbClr val="FF0000"/>
                </a:solidFill>
                <a:latin typeface="Times New Roman" panose="02020603050405020304" pitchFamily="18" charset="0"/>
                <a:cs typeface="Times New Roman" panose="02020603050405020304" pitchFamily="18" charset="0"/>
              </a:rPr>
              <a:t>combined with the nonce </a:t>
            </a:r>
            <a:r>
              <a:rPr lang="en-US" sz="3300" dirty="0">
                <a:latin typeface="Times New Roman" panose="02020603050405020304" pitchFamily="18" charset="0"/>
                <a:cs typeface="Times New Roman" panose="02020603050405020304" pitchFamily="18" charset="0"/>
              </a:rPr>
              <a:t>is used to </a:t>
            </a:r>
            <a:r>
              <a:rPr lang="en-US" sz="3300" dirty="0">
                <a:solidFill>
                  <a:srgbClr val="FF0000"/>
                </a:solidFill>
                <a:highlight>
                  <a:srgbClr val="FFFF00"/>
                </a:highlight>
                <a:latin typeface="Times New Roman" panose="02020603050405020304" pitchFamily="18" charset="0"/>
                <a:cs typeface="Times New Roman" panose="02020603050405020304" pitchFamily="18" charset="0"/>
              </a:rPr>
              <a:t>prove</a:t>
            </a:r>
            <a:r>
              <a:rPr lang="en-US" sz="3300" dirty="0">
                <a:solidFill>
                  <a:srgbClr val="FF0000"/>
                </a:solidFill>
                <a:latin typeface="Times New Roman" panose="02020603050405020304" pitchFamily="18" charset="0"/>
                <a:cs typeface="Times New Roman" panose="02020603050405020304" pitchFamily="18" charset="0"/>
              </a:rPr>
              <a:t> that adequate computational effort </a:t>
            </a:r>
            <a:r>
              <a:rPr lang="en-US" sz="3300" dirty="0">
                <a:latin typeface="Times New Roman" panose="02020603050405020304" pitchFamily="18" charset="0"/>
                <a:cs typeface="Times New Roman" panose="02020603050405020304" pitchFamily="18" charset="0"/>
              </a:rPr>
              <a:t>has been spent in </a:t>
            </a:r>
            <a:r>
              <a:rPr lang="en-US" sz="3300" dirty="0">
                <a:solidFill>
                  <a:srgbClr val="FF0000"/>
                </a:solidFill>
                <a:latin typeface="Times New Roman" panose="02020603050405020304" pitchFamily="18" charset="0"/>
                <a:cs typeface="Times New Roman" panose="02020603050405020304" pitchFamily="18" charset="0"/>
              </a:rPr>
              <a:t>order to create this block. </a:t>
            </a:r>
          </a:p>
          <a:p>
            <a:endParaRPr lang="en-US" altLang="en-US" sz="2800" dirty="0">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22060114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832371"/>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Ether</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55914"/>
            <a:ext cx="10515600" cy="5121049"/>
          </a:xfrm>
        </p:spPr>
        <p:txBody>
          <a:bodyPr>
            <a:normAutofit/>
          </a:bodyPr>
          <a:lstStyle/>
          <a:p>
            <a:pPr algn="just"/>
            <a:r>
              <a:rPr lang="en-IN" sz="2000" dirty="0"/>
              <a:t>Ether is minted by miners as a currency reward for the computational effort they spend in order to secure the network by verifying and with validation transactions and blocks. </a:t>
            </a:r>
          </a:p>
          <a:p>
            <a:pPr algn="just"/>
            <a:r>
              <a:rPr lang="en-IN" sz="2000" dirty="0"/>
              <a:t>Ether is used within the Ethereum blockchain to pay for the execution of contracts on the EVM.</a:t>
            </a:r>
          </a:p>
        </p:txBody>
      </p:sp>
      <p:pic>
        <p:nvPicPr>
          <p:cNvPr id="4" name="Picture 3"/>
          <p:cNvPicPr>
            <a:picLocks noChangeAspect="1"/>
          </p:cNvPicPr>
          <p:nvPr/>
        </p:nvPicPr>
        <p:blipFill>
          <a:blip r:embed="rId2"/>
          <a:stretch>
            <a:fillRect/>
          </a:stretch>
        </p:blipFill>
        <p:spPr>
          <a:xfrm>
            <a:off x="4140976" y="2632774"/>
            <a:ext cx="4241025" cy="2917400"/>
          </a:xfrm>
          <a:prstGeom prst="rect">
            <a:avLst/>
          </a:prstGeom>
        </p:spPr>
      </p:pic>
    </p:spTree>
    <p:extLst>
      <p:ext uri="{BB962C8B-B14F-4D97-AF65-F5344CB8AC3E}">
        <p14:creationId xmlns:p14="http://schemas.microsoft.com/office/powerpoint/2010/main" val="28879602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FF8D-3437-21B2-477B-761511F4AD30}"/>
              </a:ext>
            </a:extLst>
          </p:cNvPr>
          <p:cNvSpPr>
            <a:spLocks noGrp="1"/>
          </p:cNvSpPr>
          <p:nvPr>
            <p:ph type="title"/>
          </p:nvPr>
        </p:nvSpPr>
        <p:spPr>
          <a:xfrm>
            <a:off x="0" y="141514"/>
            <a:ext cx="11930743" cy="681037"/>
          </a:xfrm>
        </p:spPr>
        <p:txBody>
          <a:bodyPr>
            <a:normAutofit fontScale="90000"/>
          </a:bodyPr>
          <a:lstStyle/>
          <a:p>
            <a:pPr algn="ctr"/>
            <a:r>
              <a:rPr lang="en-US" altLang="en-US" sz="4400" b="0" dirty="0">
                <a:solidFill>
                  <a:srgbClr val="FF0000"/>
                </a:solidFill>
                <a:latin typeface="Times New Roman" panose="02020603050405020304" pitchFamily="18" charset="0"/>
                <a:cs typeface="Times New Roman" panose="02020603050405020304" pitchFamily="18" charset="0"/>
              </a:rPr>
              <a:t>Gas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E6BE56-D92D-8F21-BECD-A2FCFED8938A}"/>
              </a:ext>
            </a:extLst>
          </p:cNvPr>
          <p:cNvSpPr>
            <a:spLocks noGrp="1"/>
          </p:cNvSpPr>
          <p:nvPr>
            <p:ph idx="1"/>
          </p:nvPr>
        </p:nvSpPr>
        <p:spPr>
          <a:xfrm>
            <a:off x="576942" y="822551"/>
            <a:ext cx="10776857" cy="5354412"/>
          </a:xfrm>
        </p:spPr>
        <p:txBody>
          <a:bodyPr>
            <a:normAutofit lnSpcReduction="10000"/>
          </a:bodyPr>
          <a:lstStyle/>
          <a:p>
            <a:r>
              <a:rPr lang="en-US" altLang="en-US" sz="2800" b="0" dirty="0">
                <a:latin typeface="Calibri" panose="020F0502020204030204" pitchFamily="34" charset="0"/>
                <a:cs typeface="Calibri" panose="020F0502020204030204" pitchFamily="34" charset="0"/>
              </a:rPr>
              <a:t> Gas is required to be paid for every operation performed on the </a:t>
            </a:r>
            <a:r>
              <a:rPr lang="en-US" altLang="en-US" sz="2800" b="0" dirty="0" err="1">
                <a:latin typeface="Calibri" panose="020F0502020204030204" pitchFamily="34" charset="0"/>
                <a:cs typeface="Calibri" panose="020F0502020204030204" pitchFamily="34" charset="0"/>
              </a:rPr>
              <a:t>ethereum</a:t>
            </a:r>
            <a:r>
              <a:rPr lang="en-US" altLang="en-US" sz="2800" b="0" dirty="0">
                <a:latin typeface="Calibri" panose="020F0502020204030204" pitchFamily="34" charset="0"/>
                <a:cs typeface="Calibri" panose="020F0502020204030204" pitchFamily="34" charset="0"/>
              </a:rPr>
              <a:t> blockchain. </a:t>
            </a:r>
          </a:p>
          <a:p>
            <a:pPr algn="ctr"/>
            <a:endParaRPr lang="en-IN" altLang="en-US" sz="2800" b="0" dirty="0">
              <a:latin typeface="Calibri" panose="020F0502020204030204" pitchFamily="34" charset="0"/>
              <a:cs typeface="Calibri" panose="020F0502020204030204" pitchFamily="34" charset="0"/>
            </a:endParaRPr>
          </a:p>
          <a:p>
            <a:pPr algn="ctr"/>
            <a:r>
              <a:rPr lang="en-IN" altLang="en-US" sz="2800" b="0" dirty="0">
                <a:latin typeface="Calibri" panose="020F0502020204030204" pitchFamily="34" charset="0"/>
                <a:cs typeface="Calibri" panose="020F0502020204030204" pitchFamily="34" charset="0"/>
              </a:rPr>
              <a:t>Total cost = </a:t>
            </a:r>
            <a:r>
              <a:rPr lang="en-IN" altLang="en-US" sz="2800" b="0" dirty="0" err="1">
                <a:latin typeface="Calibri" panose="020F0502020204030204" pitchFamily="34" charset="0"/>
                <a:cs typeface="Calibri" panose="020F0502020204030204" pitchFamily="34" charset="0"/>
              </a:rPr>
              <a:t>gasUsed</a:t>
            </a:r>
            <a:r>
              <a:rPr lang="en-IN" altLang="en-US" sz="2800" b="0" dirty="0">
                <a:latin typeface="Calibri" panose="020F0502020204030204" pitchFamily="34" charset="0"/>
                <a:cs typeface="Calibri" panose="020F0502020204030204" pitchFamily="34" charset="0"/>
              </a:rPr>
              <a:t> * </a:t>
            </a:r>
            <a:r>
              <a:rPr lang="en-IN" altLang="en-US" sz="2800" b="0" dirty="0" err="1">
                <a:latin typeface="Calibri" panose="020F0502020204030204" pitchFamily="34" charset="0"/>
                <a:cs typeface="Calibri" panose="020F0502020204030204" pitchFamily="34" charset="0"/>
              </a:rPr>
              <a:t>gasPrice</a:t>
            </a:r>
            <a:r>
              <a:rPr lang="en-IN" altLang="en-US" sz="2800" b="0" dirty="0">
                <a:latin typeface="Calibri" panose="020F0502020204030204" pitchFamily="34" charset="0"/>
                <a:cs typeface="Calibri" panose="020F0502020204030204" pitchFamily="34" charset="0"/>
              </a:rPr>
              <a:t> </a:t>
            </a:r>
            <a:endParaRPr lang="en-US" altLang="en-US" sz="2800" b="0" dirty="0">
              <a:latin typeface="Calibri" panose="020F0502020204030204" pitchFamily="34" charset="0"/>
              <a:cs typeface="Calibri" panose="020F0502020204030204" pitchFamily="34" charset="0"/>
            </a:endParaRPr>
          </a:p>
          <a:p>
            <a:r>
              <a:rPr lang="en-US" altLang="en-US" sz="2800" b="0" dirty="0" err="1">
                <a:latin typeface="Calibri" panose="020F0502020204030204" pitchFamily="34" charset="0"/>
                <a:cs typeface="Calibri" panose="020F0502020204030204" pitchFamily="34" charset="0"/>
              </a:rPr>
              <a:t>gasUsed</a:t>
            </a:r>
            <a:r>
              <a:rPr lang="en-US" altLang="en-US" sz="2800" b="0" dirty="0">
                <a:latin typeface="Calibri" panose="020F0502020204030204" pitchFamily="34" charset="0"/>
                <a:cs typeface="Calibri" panose="020F0502020204030204" pitchFamily="34" charset="0"/>
              </a:rPr>
              <a:t>: The total gas that is supposed to be used by the </a:t>
            </a:r>
            <a:r>
              <a:rPr lang="en-US" altLang="en-US" sz="2800" b="0" dirty="0">
                <a:solidFill>
                  <a:srgbClr val="FF0000"/>
                </a:solidFill>
                <a:latin typeface="Calibri" panose="020F0502020204030204" pitchFamily="34" charset="0"/>
                <a:cs typeface="Calibri" panose="020F0502020204030204" pitchFamily="34" charset="0"/>
              </a:rPr>
              <a:t>transaction during the execution </a:t>
            </a:r>
          </a:p>
          <a:p>
            <a:r>
              <a:rPr lang="en-US" altLang="en-US" sz="2800" b="0" dirty="0" err="1">
                <a:latin typeface="Calibri" panose="020F0502020204030204" pitchFamily="34" charset="0"/>
                <a:cs typeface="Calibri" panose="020F0502020204030204" pitchFamily="34" charset="0"/>
              </a:rPr>
              <a:t>gasPrice</a:t>
            </a:r>
            <a:r>
              <a:rPr lang="en-US" altLang="en-US" sz="2800" b="0" dirty="0">
                <a:latin typeface="Calibri" panose="020F0502020204030204" pitchFamily="34" charset="0"/>
                <a:cs typeface="Calibri" panose="020F0502020204030204" pitchFamily="34" charset="0"/>
              </a:rPr>
              <a:t>: specified by the transaction originator as an incentive to the miners to include the </a:t>
            </a:r>
            <a:r>
              <a:rPr lang="en-US" altLang="en-US" sz="2800" b="0" dirty="0">
                <a:solidFill>
                  <a:srgbClr val="FF0000"/>
                </a:solidFill>
                <a:latin typeface="Calibri" panose="020F0502020204030204" pitchFamily="34" charset="0"/>
                <a:cs typeface="Calibri" panose="020F0502020204030204" pitchFamily="34" charset="0"/>
              </a:rPr>
              <a:t>transaction in the next block.</a:t>
            </a:r>
          </a:p>
          <a:p>
            <a:pPr marL="285750" indent="-285750" algn="just">
              <a:buFont typeface="Arial" panose="020B0604020202020204" pitchFamily="34" charset="0"/>
              <a:buChar char="•"/>
              <a:defRPr/>
            </a:pPr>
            <a:r>
              <a:rPr lang="en-US" sz="2800" dirty="0">
                <a:latin typeface="Calibri" panose="020F0502020204030204" pitchFamily="34" charset="0"/>
                <a:cs typeface="Calibri" panose="020F0502020204030204" pitchFamily="34" charset="0"/>
              </a:rPr>
              <a:t>If the execution </a:t>
            </a:r>
            <a:r>
              <a:rPr lang="en-US" sz="2800" dirty="0">
                <a:highlight>
                  <a:srgbClr val="FFFF00"/>
                </a:highlight>
                <a:latin typeface="Calibri" panose="020F0502020204030204" pitchFamily="34" charset="0"/>
                <a:cs typeface="Calibri" panose="020F0502020204030204" pitchFamily="34" charset="0"/>
              </a:rPr>
              <a:t>runs out of gas</a:t>
            </a:r>
            <a:r>
              <a:rPr lang="en-US" sz="2800" dirty="0">
                <a:latin typeface="Calibri" panose="020F0502020204030204" pitchFamily="34" charset="0"/>
                <a:cs typeface="Calibri" panose="020F0502020204030204" pitchFamily="34" charset="0"/>
              </a:rPr>
              <a:t>, everything is </a:t>
            </a:r>
            <a:r>
              <a:rPr lang="en-US" sz="2800" dirty="0">
                <a:solidFill>
                  <a:srgbClr val="FF0000"/>
                </a:solidFill>
                <a:latin typeface="Calibri" panose="020F0502020204030204" pitchFamily="34" charset="0"/>
                <a:cs typeface="Calibri" panose="020F0502020204030204" pitchFamily="34" charset="0"/>
              </a:rPr>
              <a:t>immediately rolled back</a:t>
            </a:r>
            <a:r>
              <a:rPr lang="en-US" sz="2800" dirty="0">
                <a:latin typeface="Calibri" panose="020F0502020204030204" pitchFamily="34" charset="0"/>
                <a:cs typeface="Calibri" panose="020F0502020204030204" pitchFamily="34" charset="0"/>
              </a:rPr>
              <a:t>; </a:t>
            </a:r>
          </a:p>
          <a:p>
            <a:pPr marL="285750" indent="-285750" algn="just">
              <a:buFont typeface="Arial" panose="020B0604020202020204" pitchFamily="34" charset="0"/>
              <a:buChar char="•"/>
              <a:defRPr/>
            </a:pPr>
            <a:r>
              <a:rPr lang="en-US" sz="2800" dirty="0">
                <a:latin typeface="Calibri" panose="020F0502020204030204" pitchFamily="34" charset="0"/>
                <a:cs typeface="Calibri" panose="020F0502020204030204" pitchFamily="34" charset="0"/>
              </a:rPr>
              <a:t>otherwise, </a:t>
            </a:r>
            <a:r>
              <a:rPr lang="en-US" sz="2800" dirty="0">
                <a:solidFill>
                  <a:srgbClr val="FF0000"/>
                </a:solidFill>
                <a:latin typeface="Calibri" panose="020F0502020204030204" pitchFamily="34" charset="0"/>
                <a:cs typeface="Calibri" panose="020F0502020204030204" pitchFamily="34" charset="0"/>
              </a:rPr>
              <a:t>if the execution is successful </a:t>
            </a:r>
            <a:r>
              <a:rPr lang="en-US" sz="2800" dirty="0">
                <a:latin typeface="Calibri" panose="020F0502020204030204" pitchFamily="34" charset="0"/>
                <a:cs typeface="Calibri" panose="020F0502020204030204" pitchFamily="34" charset="0"/>
              </a:rPr>
              <a:t>and </a:t>
            </a:r>
          </a:p>
          <a:p>
            <a:pPr marL="285750" indent="-285750" algn="just">
              <a:buFont typeface="Arial" panose="020B0604020202020204" pitchFamily="34" charset="0"/>
              <a:buChar char="•"/>
              <a:defRPr/>
            </a:pPr>
            <a:r>
              <a:rPr lang="en-US" sz="2800" dirty="0">
                <a:latin typeface="Calibri" panose="020F0502020204030204" pitchFamily="34" charset="0"/>
                <a:cs typeface="Calibri" panose="020F0502020204030204" pitchFamily="34" charset="0"/>
              </a:rPr>
              <a:t>There is some remaining gas, then it is returned to the transaction originator.</a:t>
            </a:r>
          </a:p>
          <a:p>
            <a:pPr algn="just">
              <a:defRPr/>
            </a:pPr>
            <a:endParaRPr lang="en-US" sz="2800" dirty="0">
              <a:latin typeface="Calibri" panose="020F0502020204030204" pitchFamily="34" charset="0"/>
              <a:cs typeface="Calibri" panose="020F0502020204030204" pitchFamily="34" charset="0"/>
            </a:endParaRPr>
          </a:p>
          <a:p>
            <a:endParaRPr lang="en-US" altLang="en-US" sz="2800" b="0" dirty="0">
              <a:solidFill>
                <a:srgbClr val="FF0000"/>
              </a:solidFill>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27004533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AutoShape 5">
            <a:extLst>
              <a:ext uri="{FF2B5EF4-FFF2-40B4-BE49-F238E27FC236}">
                <a16:creationId xmlns:a16="http://schemas.microsoft.com/office/drawing/2014/main" id="{1A4D2E67-DE82-CD56-212C-B2BA52B40FFB}"/>
              </a:ext>
            </a:extLst>
          </p:cNvPr>
          <p:cNvSpPr>
            <a:spLocks noChangeAspect="1" noChangeArrowheads="1"/>
          </p:cNvSpPr>
          <p:nvPr/>
        </p:nvSpPr>
        <p:spPr bwMode="auto">
          <a:xfrm>
            <a:off x="5943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IN" altLang="en-US"/>
          </a:p>
        </p:txBody>
      </p:sp>
      <p:sp>
        <p:nvSpPr>
          <p:cNvPr id="34820" name="AutoShape 7">
            <a:extLst>
              <a:ext uri="{FF2B5EF4-FFF2-40B4-BE49-F238E27FC236}">
                <a16:creationId xmlns:a16="http://schemas.microsoft.com/office/drawing/2014/main" id="{4EB39171-B2AC-528C-6F22-CDF5EE167D78}"/>
              </a:ext>
            </a:extLst>
          </p:cNvPr>
          <p:cNvSpPr>
            <a:spLocks noChangeAspect="1" noChangeArrowheads="1"/>
          </p:cNvSpPr>
          <p:nvPr/>
        </p:nvSpPr>
        <p:spPr bwMode="auto">
          <a:xfrm>
            <a:off x="6096000" y="3429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IN" altLang="en-US"/>
          </a:p>
        </p:txBody>
      </p:sp>
      <p:sp>
        <p:nvSpPr>
          <p:cNvPr id="34821" name="TextBox 2">
            <a:extLst>
              <a:ext uri="{FF2B5EF4-FFF2-40B4-BE49-F238E27FC236}">
                <a16:creationId xmlns:a16="http://schemas.microsoft.com/office/drawing/2014/main" id="{300528AF-2F6F-0794-6F9E-057A5E7B319B}"/>
              </a:ext>
            </a:extLst>
          </p:cNvPr>
          <p:cNvSpPr txBox="1">
            <a:spLocks noChangeArrowheads="1"/>
          </p:cNvSpPr>
          <p:nvPr/>
        </p:nvSpPr>
        <p:spPr bwMode="auto">
          <a:xfrm>
            <a:off x="368710" y="655639"/>
            <a:ext cx="968969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000" dirty="0">
                <a:latin typeface="Calibri" panose="020F0502020204030204" pitchFamily="34" charset="0"/>
                <a:cs typeface="Calibri" panose="020F0502020204030204" pitchFamily="34" charset="0"/>
              </a:rPr>
              <a:t>Each operation costs some gas;</a:t>
            </a:r>
          </a:p>
          <a:p>
            <a:pPr algn="just"/>
            <a:r>
              <a:rPr lang="en-US" altLang="en-US" sz="2000" dirty="0">
                <a:latin typeface="Calibri" panose="020F0502020204030204" pitchFamily="34" charset="0"/>
                <a:cs typeface="Calibri" panose="020F0502020204030204" pitchFamily="34" charset="0"/>
              </a:rPr>
              <a:t>a high level fee schedule of a few operations</a:t>
            </a:r>
            <a:endParaRPr lang="en-IN" altLang="en-US" sz="2000" dirty="0">
              <a:latin typeface="Calibri" panose="020F0502020204030204" pitchFamily="34" charset="0"/>
              <a:cs typeface="Calibri" panose="020F0502020204030204" pitchFamily="34" charset="0"/>
            </a:endParaRPr>
          </a:p>
        </p:txBody>
      </p:sp>
      <p:pic>
        <p:nvPicPr>
          <p:cNvPr id="34822" name="Picture 4">
            <a:extLst>
              <a:ext uri="{FF2B5EF4-FFF2-40B4-BE49-F238E27FC236}">
                <a16:creationId xmlns:a16="http://schemas.microsoft.com/office/drawing/2014/main" id="{8BD9BEDE-838E-E399-0D1E-39C2C9E18B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8351" y="457200"/>
            <a:ext cx="3402013"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B35DA366-B166-2D10-96AE-9324FB2E071D}"/>
              </a:ext>
            </a:extLst>
          </p:cNvPr>
          <p:cNvSpPr txBox="1"/>
          <p:nvPr/>
        </p:nvSpPr>
        <p:spPr>
          <a:xfrm>
            <a:off x="486697" y="1681316"/>
            <a:ext cx="6599903" cy="400110"/>
          </a:xfrm>
          <a:prstGeom prst="rect">
            <a:avLst/>
          </a:prstGeom>
          <a:noFill/>
        </p:spPr>
        <p:txBody>
          <a:bodyPr wrap="square">
            <a:spAutoFit/>
          </a:bodyPr>
          <a:lstStyle/>
          <a:p>
            <a:pPr>
              <a:defRPr/>
            </a:pPr>
            <a:r>
              <a:rPr lang="en-US" sz="2000" dirty="0">
                <a:latin typeface="Calibri" panose="020F0502020204030204" pitchFamily="34" charset="0"/>
                <a:cs typeface="Calibri" panose="020F0502020204030204" pitchFamily="34" charset="0"/>
              </a:rPr>
              <a:t>.</a:t>
            </a:r>
          </a:p>
        </p:txBody>
      </p:sp>
      <p:sp>
        <p:nvSpPr>
          <p:cNvPr id="11" name="TextBox 10">
            <a:extLst>
              <a:ext uri="{FF2B5EF4-FFF2-40B4-BE49-F238E27FC236}">
                <a16:creationId xmlns:a16="http://schemas.microsoft.com/office/drawing/2014/main" id="{A71F4A65-676E-DAFA-7A4D-7C6827F5AA1A}"/>
              </a:ext>
            </a:extLst>
          </p:cNvPr>
          <p:cNvSpPr txBox="1"/>
          <p:nvPr/>
        </p:nvSpPr>
        <p:spPr>
          <a:xfrm>
            <a:off x="442452" y="1765330"/>
            <a:ext cx="9696040" cy="1631950"/>
          </a:xfrm>
          <a:prstGeom prst="rect">
            <a:avLst/>
          </a:prstGeom>
          <a:noFill/>
        </p:spPr>
        <p:txBody>
          <a:bodyPr wrap="square">
            <a:spAutoFit/>
          </a:bodyPr>
          <a:lstStyle/>
          <a:p>
            <a:pPr>
              <a:defRPr/>
            </a:pPr>
            <a:r>
              <a:rPr lang="en-US" sz="2000" dirty="0">
                <a:latin typeface="Calibri" panose="020F0502020204030204" pitchFamily="34" charset="0"/>
                <a:cs typeface="Calibri" panose="020F0502020204030204" pitchFamily="34" charset="0"/>
              </a:rPr>
              <a:t>Fee schedule</a:t>
            </a:r>
          </a:p>
          <a:p>
            <a:pPr>
              <a:defRPr/>
            </a:pPr>
            <a:r>
              <a:rPr lang="en-US" sz="2000" dirty="0">
                <a:latin typeface="Calibri" panose="020F0502020204030204" pitchFamily="34" charset="0"/>
                <a:cs typeface="Calibri" panose="020F0502020204030204" pitchFamily="34" charset="0"/>
              </a:rPr>
              <a:t> Gas is charged in three scenarios</a:t>
            </a:r>
          </a:p>
          <a:p>
            <a:pPr marL="342900" indent="-342900">
              <a:buFont typeface="Arial" panose="020B0604020202020204" pitchFamily="34" charset="0"/>
              <a:buChar char="•"/>
              <a:defRPr/>
            </a:pPr>
            <a:r>
              <a:rPr lang="en-US" sz="2000" dirty="0">
                <a:latin typeface="Calibri" panose="020F0502020204030204" pitchFamily="34" charset="0"/>
                <a:cs typeface="Calibri" panose="020F0502020204030204" pitchFamily="34" charset="0"/>
              </a:rPr>
              <a:t>The computation of an operation </a:t>
            </a:r>
          </a:p>
          <a:p>
            <a:pPr marL="342900" indent="-342900">
              <a:buFont typeface="Arial" panose="020B0604020202020204" pitchFamily="34" charset="0"/>
              <a:buChar char="•"/>
              <a:defRPr/>
            </a:pPr>
            <a:r>
              <a:rPr lang="en-US" sz="2000" dirty="0">
                <a:latin typeface="Calibri" panose="020F0502020204030204" pitchFamily="34" charset="0"/>
                <a:cs typeface="Calibri" panose="020F0502020204030204" pitchFamily="34" charset="0"/>
              </a:rPr>
              <a:t>For contract creation or message call</a:t>
            </a:r>
          </a:p>
          <a:p>
            <a:pPr marL="342900" indent="-342900">
              <a:buFont typeface="Arial" panose="020B0604020202020204" pitchFamily="34" charset="0"/>
              <a:buChar char="•"/>
              <a:defRPr/>
            </a:pPr>
            <a:r>
              <a:rPr lang="en-US" sz="2000" dirty="0">
                <a:latin typeface="Calibri" panose="020F0502020204030204" pitchFamily="34" charset="0"/>
                <a:cs typeface="Calibri" panose="020F0502020204030204" pitchFamily="34" charset="0"/>
              </a:rPr>
              <a:t> Increase in the usage of memory </a:t>
            </a:r>
            <a:endParaRPr lang="en-IN" sz="2000" dirty="0">
              <a:latin typeface="Calibri" panose="020F0502020204030204" pitchFamily="34" charset="0"/>
              <a:cs typeface="Calibri" panose="020F050202020403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4B48227-D925-CB30-F6BE-BE1FA6C33A6C}"/>
              </a:ext>
            </a:extLst>
          </p:cNvPr>
          <p:cNvSpPr>
            <a:spLocks noGrp="1"/>
          </p:cNvSpPr>
          <p:nvPr>
            <p:ph idx="1"/>
          </p:nvPr>
        </p:nvSpPr>
        <p:spPr>
          <a:xfrm>
            <a:off x="132735" y="1047135"/>
            <a:ext cx="11221065" cy="5604388"/>
          </a:xfrm>
        </p:spPr>
        <p:txBody>
          <a:bodyPr/>
          <a:lstStyle/>
          <a:p>
            <a:pPr algn="just"/>
            <a:r>
              <a:rPr lang="en-IN" sz="2800" b="1" dirty="0"/>
              <a:t>Analyze the given Data and evaluate the total gas cost for a transaction in Ethereum blockchain. Data “SHA3 has gas cost of 30 and current gas price is 25 </a:t>
            </a:r>
            <a:r>
              <a:rPr lang="en-IN" sz="2800" b="1" dirty="0" err="1"/>
              <a:t>Gwei</a:t>
            </a:r>
            <a:r>
              <a:rPr lang="en-IN" sz="2800" b="1" dirty="0"/>
              <a:t>” </a:t>
            </a:r>
            <a:endParaRPr lang="en-IN" b="1" dirty="0"/>
          </a:p>
        </p:txBody>
      </p:sp>
      <p:sp>
        <p:nvSpPr>
          <p:cNvPr id="6" name="Title 5">
            <a:extLst>
              <a:ext uri="{FF2B5EF4-FFF2-40B4-BE49-F238E27FC236}">
                <a16:creationId xmlns:a16="http://schemas.microsoft.com/office/drawing/2014/main" id="{D8BDC334-A8C7-3B83-5105-F0552B9FB772}"/>
              </a:ext>
            </a:extLst>
          </p:cNvPr>
          <p:cNvSpPr txBox="1">
            <a:spLocks noGrp="1"/>
          </p:cNvSpPr>
          <p:nvPr>
            <p:ph type="title"/>
          </p:nvPr>
        </p:nvSpPr>
        <p:spPr>
          <a:xfrm>
            <a:off x="1" y="352900"/>
            <a:ext cx="11353800" cy="535531"/>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Problem on Gas Price</a:t>
            </a:r>
            <a:endParaRPr lang="en-IN" sz="3200" b="1" dirty="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0B911550-9B68-C519-FC3F-3EA2B5424CC1}"/>
              </a:ext>
            </a:extLst>
          </p:cNvPr>
          <p:cNvPicPr>
            <a:picLocks noChangeAspect="1"/>
          </p:cNvPicPr>
          <p:nvPr/>
        </p:nvPicPr>
        <p:blipFill>
          <a:blip r:embed="rId2"/>
          <a:stretch>
            <a:fillRect/>
          </a:stretch>
        </p:blipFill>
        <p:spPr>
          <a:xfrm>
            <a:off x="1068078" y="2359741"/>
            <a:ext cx="9609754" cy="4450485"/>
          </a:xfrm>
          <a:prstGeom prst="rect">
            <a:avLst/>
          </a:prstGeom>
        </p:spPr>
      </p:pic>
    </p:spTree>
    <p:extLst>
      <p:ext uri="{BB962C8B-B14F-4D97-AF65-F5344CB8AC3E}">
        <p14:creationId xmlns:p14="http://schemas.microsoft.com/office/powerpoint/2010/main" val="1197577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D92E77B-E56D-ABF5-5117-E985E9D5B100}"/>
              </a:ext>
            </a:extLst>
          </p:cNvPr>
          <p:cNvSpPr>
            <a:spLocks noGrp="1" noChangeArrowheads="1"/>
          </p:cNvSpPr>
          <p:nvPr>
            <p:ph idx="1"/>
          </p:nvPr>
        </p:nvSpPr>
        <p:spPr bwMode="auto">
          <a:xfrm>
            <a:off x="189280" y="222662"/>
            <a:ext cx="1181344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Interacting with an Ethereum smart contract that updates a value in storage. The operation used is SSTORE, which has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 cost of 20,000</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when storing a new value. The current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 price is 60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Gwei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Question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What is the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gas cost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performing this transaction, in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ETH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7" name="Rectangle 2">
            <a:extLst>
              <a:ext uri="{FF2B5EF4-FFF2-40B4-BE49-F238E27FC236}">
                <a16:creationId xmlns:a16="http://schemas.microsoft.com/office/drawing/2014/main" id="{7C75C007-8A4A-4C76-00E0-06BC969371E5}"/>
              </a:ext>
            </a:extLst>
          </p:cNvPr>
          <p:cNvSpPr>
            <a:spLocks noChangeArrowheads="1"/>
          </p:cNvSpPr>
          <p:nvPr/>
        </p:nvSpPr>
        <p:spPr bwMode="auto">
          <a:xfrm>
            <a:off x="189280" y="2293665"/>
            <a:ext cx="433985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1 ETH = 1,000,000,000 </a:t>
            </a:r>
            <a:r>
              <a:rPr kumimoji="0" lang="en-US" altLang="en-US" sz="1800" b="1" i="0" u="none" strike="noStrike" cap="none" normalizeH="0" baseline="0" dirty="0" err="1">
                <a:ln>
                  <a:noFill/>
                </a:ln>
                <a:solidFill>
                  <a:schemeClr val="tx1"/>
                </a:solidFill>
                <a:effectLst/>
                <a:latin typeface="Arial" panose="020B0604020202020204" pitchFamily="34" charset="0"/>
              </a:rPr>
              <a:t>Gwei</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1 </a:t>
            </a:r>
            <a:r>
              <a:rPr kumimoji="0" lang="en-US" altLang="en-US" sz="1800" b="1" i="0" u="none" strike="noStrike" cap="none" normalizeH="0" baseline="0" dirty="0" err="1">
                <a:ln>
                  <a:noFill/>
                </a:ln>
                <a:solidFill>
                  <a:schemeClr val="tx1"/>
                </a:solidFill>
                <a:effectLst/>
                <a:latin typeface="Arial" panose="020B0604020202020204" pitchFamily="34" charset="0"/>
              </a:rPr>
              <a:t>Gwei</a:t>
            </a:r>
            <a:r>
              <a:rPr kumimoji="0" lang="en-US" altLang="en-US" sz="1800" b="1" i="0" u="none" strike="noStrike" cap="none" normalizeH="0" baseline="0" dirty="0">
                <a:ln>
                  <a:noFill/>
                </a:ln>
                <a:solidFill>
                  <a:schemeClr val="tx1"/>
                </a:solidFill>
                <a:effectLst/>
                <a:latin typeface="Arial" panose="020B0604020202020204" pitchFamily="34" charset="0"/>
              </a:rPr>
              <a:t> = 1,000,000,000 Wei = 10⁹ Wei</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1 </a:t>
            </a:r>
            <a:r>
              <a:rPr kumimoji="0" lang="en-US" altLang="en-US" sz="1800" b="1" i="0" u="none" strike="noStrike" cap="none" normalizeH="0" baseline="0" dirty="0" err="1">
                <a:ln>
                  <a:noFill/>
                </a:ln>
                <a:solidFill>
                  <a:schemeClr val="tx1"/>
                </a:solidFill>
                <a:effectLst/>
                <a:latin typeface="Arial" panose="020B0604020202020204" pitchFamily="34" charset="0"/>
              </a:rPr>
              <a:t>Gwei</a:t>
            </a:r>
            <a:r>
              <a:rPr kumimoji="0" lang="en-US" altLang="en-US" sz="1800" b="1" i="0" u="none" strike="noStrike" cap="none" normalizeH="0" baseline="0" dirty="0">
                <a:ln>
                  <a:noFill/>
                </a:ln>
                <a:solidFill>
                  <a:schemeClr val="tx1"/>
                </a:solidFill>
                <a:effectLst/>
                <a:latin typeface="Arial" panose="020B0604020202020204" pitchFamily="34" charset="0"/>
              </a:rPr>
              <a:t> = 0.000000001 ETH = 10⁻⁹ ETH</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6862DA13-8645-5FC0-0240-17375D7EC23A}"/>
              </a:ext>
            </a:extLst>
          </p:cNvPr>
          <p:cNvPicPr>
            <a:picLocks noChangeAspect="1"/>
          </p:cNvPicPr>
          <p:nvPr/>
        </p:nvPicPr>
        <p:blipFill>
          <a:blip r:embed="rId2"/>
          <a:stretch>
            <a:fillRect/>
          </a:stretch>
        </p:blipFill>
        <p:spPr>
          <a:xfrm>
            <a:off x="4647811" y="2415499"/>
            <a:ext cx="7225102" cy="4219839"/>
          </a:xfrm>
          <a:prstGeom prst="rect">
            <a:avLst/>
          </a:prstGeom>
        </p:spPr>
      </p:pic>
    </p:spTree>
    <p:extLst>
      <p:ext uri="{BB962C8B-B14F-4D97-AF65-F5344CB8AC3E}">
        <p14:creationId xmlns:p14="http://schemas.microsoft.com/office/powerpoint/2010/main" val="29145814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9342" y="0"/>
            <a:ext cx="10515600" cy="788761"/>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Messages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1" y="957943"/>
            <a:ext cx="11636828" cy="5219020"/>
          </a:xfrm>
        </p:spPr>
        <p:txBody>
          <a:bodyPr>
            <a:normAutofit/>
          </a:bodyPr>
          <a:lstStyle/>
          <a:p>
            <a:r>
              <a:rPr lang="en-IN" dirty="0"/>
              <a:t>Messages, as defined in the yellow paper, are the data and value that are passed between two accounts. </a:t>
            </a:r>
          </a:p>
          <a:p>
            <a:r>
              <a:rPr lang="en-IN" dirty="0"/>
              <a:t>A message is a data packet passed between two accounts.</a:t>
            </a:r>
          </a:p>
          <a:p>
            <a:r>
              <a:rPr lang="en-IN" dirty="0"/>
              <a:t>A message consists of the components mentioned here:</a:t>
            </a:r>
          </a:p>
          <a:p>
            <a:pPr marL="0" indent="0">
              <a:buNone/>
            </a:pPr>
            <a:r>
              <a:rPr lang="en-IN" dirty="0"/>
              <a:t>1. Sender of the message</a:t>
            </a:r>
          </a:p>
          <a:p>
            <a:pPr marL="0" indent="0">
              <a:buNone/>
            </a:pPr>
            <a:r>
              <a:rPr lang="en-IN" dirty="0"/>
              <a:t>2. Recipient of the message</a:t>
            </a:r>
          </a:p>
          <a:p>
            <a:pPr marL="0" indent="0">
              <a:buNone/>
            </a:pPr>
            <a:r>
              <a:rPr lang="en-IN" dirty="0"/>
              <a:t>3. Amount of Wei to transfer and message to the contract address</a:t>
            </a:r>
          </a:p>
          <a:p>
            <a:pPr marL="0" indent="0">
              <a:buNone/>
            </a:pPr>
            <a:r>
              <a:rPr lang="en-IN" dirty="0"/>
              <a:t>4. Optional data field (Input data for the contract)</a:t>
            </a:r>
          </a:p>
          <a:p>
            <a:pPr marL="0" indent="0">
              <a:buNone/>
            </a:pPr>
            <a:r>
              <a:rPr lang="en-IN" dirty="0"/>
              <a:t>5. Maximum amount of gas that can be consumed</a:t>
            </a:r>
          </a:p>
        </p:txBody>
      </p:sp>
    </p:spTree>
    <p:extLst>
      <p:ext uri="{BB962C8B-B14F-4D97-AF65-F5344CB8AC3E}">
        <p14:creationId xmlns:p14="http://schemas.microsoft.com/office/powerpoint/2010/main" val="38656095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297"/>
            <a:ext cx="10515600" cy="625474"/>
          </a:xfrm>
        </p:spPr>
        <p:txBody>
          <a:bodyPr>
            <a:normAutofit fontScale="90000"/>
          </a:bodyPr>
          <a:lstStyle/>
          <a:p>
            <a:pPr algn="ctr"/>
            <a:r>
              <a:rPr lang="en-IN" b="1" dirty="0">
                <a:solidFill>
                  <a:srgbClr val="FF0000"/>
                </a:solidFill>
                <a:latin typeface="Times New Roman" panose="02020603050405020304" pitchFamily="18" charset="0"/>
                <a:cs typeface="Times New Roman" panose="02020603050405020304" pitchFamily="18" charset="0"/>
              </a:rPr>
              <a:t>Mining</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55171" y="1077687"/>
            <a:ext cx="11321143" cy="5099276"/>
          </a:xfrm>
        </p:spPr>
        <p:txBody>
          <a:bodyPr>
            <a:normAutofit lnSpcReduction="10000"/>
          </a:bodyPr>
          <a:lstStyle/>
          <a:p>
            <a:pPr marL="0" indent="0" algn="just">
              <a:buNone/>
            </a:pPr>
            <a:r>
              <a:rPr lang="en-IN" dirty="0">
                <a:latin typeface="Times New Roman" panose="02020603050405020304" pitchFamily="18" charset="0"/>
                <a:cs typeface="Times New Roman" panose="02020603050405020304" pitchFamily="18" charset="0"/>
              </a:rPr>
              <a:t>Mining is the process by which new currency is added to the blockchain. This is an incentive for the miners to validate and verify blocks made up of transactions.</a:t>
            </a:r>
          </a:p>
          <a:p>
            <a:pPr marL="0" indent="0">
              <a:buNone/>
            </a:pPr>
            <a:r>
              <a:rPr lang="en-IN" dirty="0">
                <a:latin typeface="Times New Roman" panose="02020603050405020304" pitchFamily="18" charset="0"/>
                <a:cs typeface="Times New Roman" panose="02020603050405020304" pitchFamily="18" charset="0"/>
              </a:rPr>
              <a:t>At a theoretical level, a miner performs the following functions:</a:t>
            </a:r>
          </a:p>
          <a:p>
            <a:pPr marL="0" indent="0" algn="just">
              <a:buNone/>
            </a:pPr>
            <a:r>
              <a:rPr lang="en-IN" dirty="0">
                <a:latin typeface="Times New Roman" panose="02020603050405020304" pitchFamily="18" charset="0"/>
                <a:cs typeface="Times New Roman" panose="02020603050405020304" pitchFamily="18" charset="0"/>
              </a:rPr>
              <a:t>1. Listens for the transactions broadcasted on the Ethereum network and determines the transactions to be processed.</a:t>
            </a:r>
          </a:p>
          <a:p>
            <a:pPr marL="0" indent="0" algn="just">
              <a:buNone/>
            </a:pPr>
            <a:r>
              <a:rPr lang="en-IN" dirty="0">
                <a:latin typeface="Times New Roman" panose="02020603050405020304" pitchFamily="18" charset="0"/>
                <a:cs typeface="Times New Roman" panose="02020603050405020304" pitchFamily="18" charset="0"/>
              </a:rPr>
              <a:t>2. Determines stale blocks called Uncles or Ommers and includes them in the block.</a:t>
            </a:r>
          </a:p>
          <a:p>
            <a:pPr marL="0" indent="0" algn="just">
              <a:buNone/>
            </a:pPr>
            <a:r>
              <a:rPr lang="en-IN" dirty="0">
                <a:latin typeface="Times New Roman" panose="02020603050405020304" pitchFamily="18" charset="0"/>
                <a:cs typeface="Times New Roman" panose="02020603050405020304" pitchFamily="18" charset="0"/>
              </a:rPr>
              <a:t>3. Updates the account balance with the reward earned from successfully mining the block.</a:t>
            </a:r>
          </a:p>
          <a:p>
            <a:pPr marL="0" indent="0" algn="just">
              <a:buNone/>
            </a:pPr>
            <a:r>
              <a:rPr lang="en-IN" dirty="0">
                <a:latin typeface="Times New Roman" panose="02020603050405020304" pitchFamily="18" charset="0"/>
                <a:cs typeface="Times New Roman" panose="02020603050405020304" pitchFamily="18" charset="0"/>
              </a:rPr>
              <a:t>4. Finally, a valid state is computed and block is finalized, which defines the result of all state transitions.</a:t>
            </a:r>
          </a:p>
          <a:p>
            <a:endParaRPr lang="en-IN" dirty="0"/>
          </a:p>
        </p:txBody>
      </p:sp>
    </p:spTree>
    <p:extLst>
      <p:ext uri="{BB962C8B-B14F-4D97-AF65-F5344CB8AC3E}">
        <p14:creationId xmlns:p14="http://schemas.microsoft.com/office/powerpoint/2010/main" val="30971357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4107</TotalTime>
  <Words>5541</Words>
  <Application>Microsoft Office PowerPoint</Application>
  <PresentationFormat>Widescreen</PresentationFormat>
  <Paragraphs>474</Paragraphs>
  <Slides>73</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73</vt:i4>
      </vt:variant>
    </vt:vector>
  </HeadingPairs>
  <TitlesOfParts>
    <vt:vector size="83" baseType="lpstr">
      <vt:lpstr>Aptos</vt:lpstr>
      <vt:lpstr>Aptos Display</vt:lpstr>
      <vt:lpstr>Arial</vt:lpstr>
      <vt:lpstr>Calibri</vt:lpstr>
      <vt:lpstr>Cambria</vt:lpstr>
      <vt:lpstr>FreeSerifBold</vt:lpstr>
      <vt:lpstr>Symbol</vt:lpstr>
      <vt:lpstr>Times New Roman</vt:lpstr>
      <vt:lpstr>Wingdings</vt:lpstr>
      <vt:lpstr>Office Theme</vt:lpstr>
      <vt:lpstr>PowerPoint Presentation</vt:lpstr>
      <vt:lpstr>Topics covered…</vt:lpstr>
      <vt:lpstr>Introduction</vt:lpstr>
      <vt:lpstr>Ethereum clients and releases</vt:lpstr>
      <vt:lpstr>PowerPoint Presentation</vt:lpstr>
      <vt:lpstr>PowerPoint Presentation</vt:lpstr>
      <vt:lpstr>Ethereum stack</vt:lpstr>
      <vt:lpstr>PowerPoint Presentation</vt:lpstr>
      <vt:lpstr>PowerPoint Presentation</vt:lpstr>
      <vt:lpstr>PowerPoint Presentation</vt:lpstr>
      <vt:lpstr>Ethereum blockchain (Ethereum State transition function)</vt:lpstr>
      <vt:lpstr>PowerPoint Presentation</vt:lpstr>
      <vt:lpstr>PowerPoint Presentation</vt:lpstr>
      <vt:lpstr>Currency (ETH and ETC)</vt:lpstr>
      <vt:lpstr>Currency (ETH and ETC)</vt:lpstr>
      <vt:lpstr>PowerPoint Presentation</vt:lpstr>
      <vt:lpstr>Forks</vt:lpstr>
      <vt:lpstr>Gas</vt:lpstr>
      <vt:lpstr>The consensus mechanism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world state</vt:lpstr>
      <vt:lpstr>PowerPoint Presentation</vt:lpstr>
      <vt:lpstr>A Real Ethereum Transaction (RLP-encoded)</vt:lpstr>
      <vt:lpstr>PowerPoint Presentation</vt:lpstr>
      <vt:lpstr>Encoding each field in RLP:</vt:lpstr>
      <vt:lpstr>PowerPoint Presentation</vt:lpstr>
      <vt:lpstr>The Account state</vt:lpstr>
      <vt:lpstr>PowerPoint Presentation</vt:lpstr>
      <vt:lpstr>PowerPoint Presentation</vt:lpstr>
      <vt:lpstr>PowerPoint Presentation</vt:lpstr>
      <vt:lpstr>PowerPoint Presentation</vt:lpstr>
      <vt:lpstr>PowerPoint Presentation</vt:lpstr>
      <vt:lpstr>PowerPoint Presentation</vt:lpstr>
      <vt:lpstr>Transactions</vt:lpstr>
      <vt:lpstr>PowerPoint Presentation</vt:lpstr>
      <vt:lpstr>Common Transaction fields</vt:lpstr>
      <vt:lpstr>PowerPoint Presentation</vt:lpstr>
      <vt:lpstr>PowerPoint Presentation</vt:lpstr>
      <vt:lpstr>PowerPoint Presentation</vt:lpstr>
      <vt:lpstr>PowerPoint Presentation</vt:lpstr>
      <vt:lpstr>PowerPoint Presentation</vt:lpstr>
      <vt:lpstr>Contract creation transaction</vt:lpstr>
      <vt:lpstr>Message call transaction</vt:lpstr>
      <vt:lpstr>PowerPoint Presentation</vt:lpstr>
      <vt:lpstr>PowerPoint Presentation</vt:lpstr>
      <vt:lpstr>Ethereum virtual machine (EVM)</vt:lpstr>
      <vt:lpstr>PowerPoint Presentation</vt:lpstr>
      <vt:lpstr>PowerPoint Presentation</vt:lpstr>
      <vt:lpstr>Execution environment</vt:lpstr>
      <vt:lpstr>PowerPoint Presentation</vt:lpstr>
      <vt:lpstr>Machine state</vt:lpstr>
      <vt:lpstr>PowerPoint Presentation</vt:lpstr>
      <vt:lpstr> The iterator function </vt:lpstr>
      <vt:lpstr>PowerPoint Presentation</vt:lpstr>
      <vt:lpstr>Accounts</vt:lpstr>
      <vt:lpstr>PowerPoint Presentation</vt:lpstr>
      <vt:lpstr>PowerPoint Presentation</vt:lpstr>
      <vt:lpstr>PowerPoint Presentation</vt:lpstr>
      <vt:lpstr>Block</vt:lpstr>
      <vt:lpstr>PowerPoint Presentation</vt:lpstr>
      <vt:lpstr>Ether</vt:lpstr>
      <vt:lpstr>Gas</vt:lpstr>
      <vt:lpstr>PowerPoint Presentation</vt:lpstr>
      <vt:lpstr>Problem on Gas Price</vt:lpstr>
      <vt:lpstr>PowerPoint Presentation</vt:lpstr>
      <vt:lpstr>Messages</vt:lpstr>
      <vt:lpstr>Mining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Lakshmi B S</dc:creator>
  <cp:lastModifiedBy>Abdul Latif Saleem CSE</cp:lastModifiedBy>
  <cp:revision>107</cp:revision>
  <dcterms:created xsi:type="dcterms:W3CDTF">2024-11-12T21:10:06Z</dcterms:created>
  <dcterms:modified xsi:type="dcterms:W3CDTF">2025-05-13T11:45:16Z</dcterms:modified>
</cp:coreProperties>
</file>