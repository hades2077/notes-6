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72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7400" y="1776395"/>
            <a:ext cx="1446529" cy="358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2671" y="297757"/>
            <a:ext cx="8686800" cy="1137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21412" y="1218252"/>
            <a:ext cx="5650574" cy="183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5598414"/>
            <a:ext cx="3421888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134" y="2164557"/>
            <a:ext cx="6631683" cy="3574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521412" y="1218252"/>
            <a:ext cx="5650574" cy="26569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4070" marR="5080" indent="-2072005">
              <a:lnSpc>
                <a:spcPct val="153800"/>
              </a:lnSpc>
              <a:spcBef>
                <a:spcPts val="95"/>
              </a:spcBef>
            </a:pPr>
            <a:r>
              <a:rPr dirty="0"/>
              <a:t>Indian</a:t>
            </a:r>
            <a:r>
              <a:rPr spc="-175" dirty="0"/>
              <a:t> </a:t>
            </a:r>
            <a:r>
              <a:rPr dirty="0"/>
              <a:t>Knowledge</a:t>
            </a:r>
            <a:r>
              <a:rPr spc="-180" dirty="0"/>
              <a:t> </a:t>
            </a:r>
            <a:r>
              <a:rPr spc="-10" dirty="0"/>
              <a:t>System </a:t>
            </a:r>
            <a:endParaRPr lang="en-US" spc="-10" dirty="0"/>
          </a:p>
          <a:p>
            <a:pPr marL="2084070" marR="5080" indent="-2072005">
              <a:lnSpc>
                <a:spcPct val="153800"/>
              </a:lnSpc>
              <a:spcBef>
                <a:spcPts val="95"/>
              </a:spcBef>
            </a:pPr>
            <a:endParaRPr lang="en-IN" spc="-10" dirty="0"/>
          </a:p>
          <a:p>
            <a:pPr marL="2084070" marR="5080" indent="-2072005">
              <a:lnSpc>
                <a:spcPct val="153800"/>
              </a:lnSpc>
              <a:spcBef>
                <a:spcPts val="95"/>
              </a:spcBef>
            </a:pPr>
            <a:r>
              <a:rPr spc="-105" dirty="0"/>
              <a:t>UNIT</a:t>
            </a:r>
            <a:r>
              <a:rPr spc="-125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dirty="0"/>
              <a:t>Number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85" dirty="0"/>
              <a:t> </a:t>
            </a:r>
            <a:r>
              <a:rPr dirty="0"/>
              <a:t>in</a:t>
            </a:r>
            <a:r>
              <a:rPr spc="-145" dirty="0"/>
              <a:t> </a:t>
            </a:r>
            <a:r>
              <a:rPr spc="-10" dirty="0"/>
              <a:t>India-</a:t>
            </a:r>
            <a:r>
              <a:rPr spc="-130" dirty="0"/>
              <a:t> </a:t>
            </a:r>
            <a:r>
              <a:rPr spc="-10" dirty="0"/>
              <a:t>Historical Evidence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449079"/>
            <a:ext cx="9344629" cy="424731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832485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contribution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ancient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Indians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development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of </a:t>
            </a:r>
            <a:r>
              <a:rPr lang="en-US" sz="2450" spc="75" dirty="0" smtClean="0">
                <a:latin typeface="Microsoft Sans Serif"/>
                <a:cs typeface="Microsoft Sans Serif"/>
              </a:rPr>
              <a:t>m</a:t>
            </a:r>
            <a:r>
              <a:rPr sz="2450" dirty="0" smtClean="0">
                <a:latin typeface="Microsoft Sans Serif"/>
                <a:cs typeface="Microsoft Sans Serif"/>
              </a:rPr>
              <a:t>athematical</a:t>
            </a:r>
            <a:r>
              <a:rPr sz="2450" spc="105" dirty="0" smtClean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concepts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well</a:t>
            </a:r>
            <a:r>
              <a:rPr sz="2450" spc="10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known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10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acknowledged.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37846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45" dirty="0">
                <a:latin typeface="Microsoft Sans Serif"/>
                <a:cs typeface="Microsoft Sans Serif"/>
              </a:rPr>
              <a:t>Several </a:t>
            </a:r>
            <a:r>
              <a:rPr sz="2450" dirty="0">
                <a:latin typeface="Microsoft Sans Serif"/>
                <a:cs typeface="Microsoft Sans Serif"/>
              </a:rPr>
              <a:t>archaeological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excavations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provide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evidence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about 	</a:t>
            </a:r>
            <a:r>
              <a:rPr sz="2450" dirty="0">
                <a:latin typeface="Microsoft Sans Serif"/>
                <a:cs typeface="Microsoft Sans Serif"/>
              </a:rPr>
              <a:t>maturity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supremacy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mathematical</a:t>
            </a:r>
            <a:r>
              <a:rPr sz="2450" spc="5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foundations.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An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inscription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on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 temple</a:t>
            </a:r>
            <a:r>
              <a:rPr sz="2450" spc="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wall</a:t>
            </a:r>
            <a:r>
              <a:rPr sz="2450" spc="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Gwalior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dating</a:t>
            </a:r>
            <a:r>
              <a:rPr sz="2450" spc="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back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the 	</a:t>
            </a:r>
            <a:r>
              <a:rPr sz="2450" dirty="0">
                <a:latin typeface="Microsoft Sans Serif"/>
                <a:cs typeface="Microsoft Sans Serif"/>
              </a:rPr>
              <a:t>ninth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century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-229" dirty="0">
                <a:latin typeface="Microsoft Sans Serif"/>
                <a:cs typeface="Microsoft Sans Serif"/>
              </a:rPr>
              <a:t>CE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considered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oldest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recorded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example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dirty="0">
                <a:latin typeface="Microsoft Sans Serif"/>
                <a:cs typeface="Microsoft Sans Serif"/>
              </a:rPr>
              <a:t> </a:t>
            </a:r>
            <a:r>
              <a:rPr sz="2450" spc="-50" dirty="0">
                <a:latin typeface="Microsoft Sans Serif"/>
                <a:cs typeface="Microsoft Sans Serif"/>
              </a:rPr>
              <a:t>a 	</a:t>
            </a:r>
            <a:r>
              <a:rPr sz="2450" spc="-10" dirty="0">
                <a:latin typeface="Microsoft Sans Serif"/>
                <a:cs typeface="Microsoft Sans Serif"/>
              </a:rPr>
              <a:t>zero.</a:t>
            </a:r>
            <a:endParaRPr sz="24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dirty="0"/>
              <a:t>Number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85" dirty="0"/>
              <a:t> </a:t>
            </a:r>
            <a:r>
              <a:rPr dirty="0"/>
              <a:t>in</a:t>
            </a:r>
            <a:r>
              <a:rPr spc="-145" dirty="0"/>
              <a:t> </a:t>
            </a:r>
            <a:r>
              <a:rPr spc="-10" dirty="0"/>
              <a:t>India-</a:t>
            </a:r>
            <a:r>
              <a:rPr spc="-130" dirty="0"/>
              <a:t> </a:t>
            </a:r>
            <a:r>
              <a:rPr spc="-10" dirty="0"/>
              <a:t>Historical Evidence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585560"/>
            <a:ext cx="9081135" cy="292939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744220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Still,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surviving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Sanskrit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texts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reveal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rich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tradition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Indian 	</a:t>
            </a:r>
            <a:r>
              <a:rPr sz="2450" dirty="0">
                <a:latin typeface="Microsoft Sans Serif"/>
                <a:cs typeface="Microsoft Sans Serif"/>
              </a:rPr>
              <a:t>mathematical</a:t>
            </a:r>
            <a:r>
              <a:rPr sz="2450" spc="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discoveries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lasting</a:t>
            </a:r>
            <a:r>
              <a:rPr sz="2450" spc="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more</a:t>
            </a:r>
            <a:r>
              <a:rPr sz="2450" spc="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than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2,500</a:t>
            </a:r>
            <a:r>
              <a:rPr sz="2450" spc="8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years.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-65" dirty="0">
                <a:latin typeface="Microsoft Sans Serif"/>
                <a:cs typeface="Microsoft Sans Serif"/>
              </a:rPr>
              <a:t>Early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Vedic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period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(1200–600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bc),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decimal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of 	</a:t>
            </a:r>
            <a:r>
              <a:rPr sz="2450" dirty="0">
                <a:latin typeface="Microsoft Sans Serif"/>
                <a:cs typeface="Microsoft Sans Serif"/>
              </a:rPr>
              <a:t>numbers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was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already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established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India,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together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with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rules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for 	</a:t>
            </a:r>
            <a:r>
              <a:rPr sz="2450" dirty="0">
                <a:latin typeface="Microsoft Sans Serif"/>
                <a:cs typeface="Microsoft Sans Serif"/>
              </a:rPr>
              <a:t>arithmetical</a:t>
            </a:r>
            <a:r>
              <a:rPr sz="2450" spc="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operations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(ganita)</a:t>
            </a:r>
            <a:r>
              <a:rPr sz="2450" spc="10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geometry</a:t>
            </a:r>
            <a:r>
              <a:rPr sz="2450" spc="50" dirty="0">
                <a:latin typeface="Microsoft Sans Serif"/>
                <a:cs typeface="Microsoft Sans Serif"/>
              </a:rPr>
              <a:t> </a:t>
            </a:r>
            <a:r>
              <a:rPr sz="2450" spc="-50" dirty="0">
                <a:latin typeface="Microsoft Sans Serif"/>
                <a:cs typeface="Microsoft Sans Serif"/>
              </a:rPr>
              <a:t>(rekha-</a:t>
            </a:r>
            <a:r>
              <a:rPr sz="2450" spc="-10" dirty="0">
                <a:latin typeface="Microsoft Sans Serif"/>
                <a:cs typeface="Microsoft Sans Serif"/>
              </a:rPr>
              <a:t>ganita).</a:t>
            </a:r>
            <a:endParaRPr sz="24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71" y="38100"/>
            <a:ext cx="8686800" cy="11372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spc="-10" dirty="0"/>
              <a:t>Salient</a:t>
            </a:r>
            <a:r>
              <a:rPr spc="-150" dirty="0"/>
              <a:t> </a:t>
            </a:r>
            <a:r>
              <a:rPr spc="-40" dirty="0"/>
              <a:t>Features</a:t>
            </a:r>
            <a:r>
              <a:rPr spc="-95" dirty="0"/>
              <a:t> </a:t>
            </a:r>
            <a:r>
              <a:rPr spc="145" dirty="0"/>
              <a:t>of</a:t>
            </a:r>
            <a:r>
              <a:rPr spc="-140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dirty="0"/>
              <a:t>Indian</a:t>
            </a:r>
            <a:r>
              <a:rPr spc="-140" dirty="0"/>
              <a:t> </a:t>
            </a:r>
            <a:r>
              <a:rPr spc="-10" dirty="0"/>
              <a:t>Numeral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485900"/>
            <a:ext cx="9034145" cy="352019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65405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The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indian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numeral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system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has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long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history;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origin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	</a:t>
            </a:r>
            <a:r>
              <a:rPr sz="2000" dirty="0">
                <a:latin typeface="Microsoft Sans Serif"/>
                <a:cs typeface="Microsoft Sans Serif"/>
              </a:rPr>
              <a:t>evolution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 numbers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could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traced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from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time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	</a:t>
            </a:r>
            <a:r>
              <a:rPr sz="2000" dirty="0">
                <a:latin typeface="Microsoft Sans Serif"/>
                <a:cs typeface="Microsoft Sans Serif"/>
              </a:rPr>
              <a:t>Vedic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period.</a:t>
            </a:r>
            <a:endParaRPr sz="2000" dirty="0">
              <a:latin typeface="Microsoft Sans Serif"/>
              <a:cs typeface="Microsoft Sans Serif"/>
            </a:endParaRPr>
          </a:p>
          <a:p>
            <a:pPr marL="211454" marR="75565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Being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oral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tradition,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unique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unambiguous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names</a:t>
            </a:r>
            <a:r>
              <a:rPr sz="2000" spc="-1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were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30" dirty="0">
                <a:latin typeface="Microsoft Sans Serif"/>
                <a:cs typeface="Microsoft Sans Serif"/>
              </a:rPr>
              <a:t>to </a:t>
            </a:r>
            <a:r>
              <a:rPr sz="2000" dirty="0" smtClean="0">
                <a:latin typeface="Microsoft Sans Serif"/>
                <a:cs typeface="Microsoft Sans Serif"/>
              </a:rPr>
              <a:t>be</a:t>
            </a:r>
            <a:r>
              <a:rPr sz="2000" spc="25" dirty="0" smtClean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attributed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to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numbers.</a:t>
            </a:r>
            <a:endParaRPr sz="200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The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Sanskrit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language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has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unique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names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for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numbers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strating 	</a:t>
            </a:r>
            <a:r>
              <a:rPr sz="2000" spc="65" dirty="0">
                <a:latin typeface="Microsoft Sans Serif"/>
                <a:cs typeface="Microsoft Sans Serif"/>
              </a:rPr>
              <a:t>from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going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upto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very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large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numbers;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first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nine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40" dirty="0" smtClean="0">
                <a:latin typeface="Microsoft Sans Serif"/>
                <a:cs typeface="Microsoft Sans Serif"/>
              </a:rPr>
              <a:t>digits</a:t>
            </a:r>
            <a:r>
              <a:rPr lang="en-US" sz="2000" spc="40" dirty="0" smtClean="0">
                <a:latin typeface="Microsoft Sans Serif"/>
                <a:cs typeface="Microsoft Sans Serif"/>
              </a:rPr>
              <a:t> </a:t>
            </a:r>
            <a:r>
              <a:rPr sz="2000" spc="-25" dirty="0" smtClean="0">
                <a:latin typeface="Microsoft Sans Serif"/>
                <a:cs typeface="Microsoft Sans Serif"/>
              </a:rPr>
              <a:t>have</a:t>
            </a:r>
            <a:r>
              <a:rPr sz="2000" spc="-130" dirty="0" smtClean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unique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names</a:t>
            </a:r>
            <a:r>
              <a:rPr sz="2000" spc="-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(ekam,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dve,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trini,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catvari,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panca,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sat,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10" dirty="0" err="1" smtClean="0">
                <a:latin typeface="Microsoft Sans Serif"/>
                <a:cs typeface="Microsoft Sans Serif"/>
              </a:rPr>
              <a:t>sapta,asta</a:t>
            </a:r>
            <a:r>
              <a:rPr sz="2000" spc="-10" dirty="0">
                <a:latin typeface="Microsoft Sans Serif"/>
                <a:cs typeface="Microsoft Sans Serif"/>
              </a:rPr>
              <a:t>,</a:t>
            </a:r>
            <a:r>
              <a:rPr sz="2000" spc="-1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nava).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spc="-10" dirty="0"/>
              <a:t>Salient</a:t>
            </a:r>
            <a:r>
              <a:rPr spc="-150" dirty="0"/>
              <a:t> </a:t>
            </a:r>
            <a:r>
              <a:rPr spc="-40" dirty="0"/>
              <a:t>Features</a:t>
            </a:r>
            <a:r>
              <a:rPr spc="-95" dirty="0"/>
              <a:t> </a:t>
            </a:r>
            <a:r>
              <a:rPr spc="145" dirty="0"/>
              <a:t>of</a:t>
            </a:r>
            <a:r>
              <a:rPr spc="-140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dirty="0"/>
              <a:t>Indian</a:t>
            </a:r>
            <a:r>
              <a:rPr spc="-140" dirty="0"/>
              <a:t> </a:t>
            </a:r>
            <a:r>
              <a:rPr spc="-10" dirty="0"/>
              <a:t>Numeral 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730" y="1691451"/>
            <a:ext cx="8914742" cy="3893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The</a:t>
            </a:r>
            <a:r>
              <a:rPr spc="-160" dirty="0"/>
              <a:t> </a:t>
            </a:r>
            <a:r>
              <a:rPr dirty="0"/>
              <a:t>Concept</a:t>
            </a:r>
            <a:r>
              <a:rPr spc="-165" dirty="0"/>
              <a:t> </a:t>
            </a:r>
            <a:r>
              <a:rPr spc="145" dirty="0"/>
              <a:t>of</a:t>
            </a:r>
            <a:r>
              <a:rPr spc="-155" dirty="0"/>
              <a:t> </a:t>
            </a:r>
            <a:r>
              <a:rPr spc="-20" dirty="0"/>
              <a:t>Zero</a:t>
            </a:r>
            <a:r>
              <a:rPr spc="-14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55" dirty="0"/>
              <a:t>Its</a:t>
            </a:r>
            <a:r>
              <a:rPr spc="-110" dirty="0"/>
              <a:t> </a:t>
            </a:r>
            <a:r>
              <a:rPr spc="-10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257300"/>
            <a:ext cx="8950960" cy="431143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5080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concept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zero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was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established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during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period</a:t>
            </a:r>
            <a:r>
              <a:rPr sz="2450" spc="-10" dirty="0">
                <a:latin typeface="Microsoft Sans Serif"/>
                <a:cs typeface="Microsoft Sans Serif"/>
              </a:rPr>
              <a:t> 500-</a:t>
            </a:r>
            <a:r>
              <a:rPr sz="2450" spc="-25" dirty="0">
                <a:latin typeface="Microsoft Sans Serif"/>
                <a:cs typeface="Microsoft Sans Serif"/>
              </a:rPr>
              <a:t>300 	</a:t>
            </a:r>
            <a:r>
              <a:rPr sz="2450" spc="-20" dirty="0">
                <a:latin typeface="Microsoft Sans Serif"/>
                <a:cs typeface="Microsoft Sans Serif"/>
              </a:rPr>
              <a:t>BCE.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38989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Ancient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decimal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that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allowed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them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spc="30" dirty="0" smtClean="0">
                <a:latin typeface="Microsoft Sans Serif"/>
                <a:cs typeface="Microsoft Sans Serif"/>
              </a:rPr>
              <a:t>t</a:t>
            </a:r>
            <a:r>
              <a:rPr lang="en-US" sz="2450" spc="30" dirty="0" smtClean="0">
                <a:latin typeface="Microsoft Sans Serif"/>
                <a:cs typeface="Microsoft Sans Serif"/>
              </a:rPr>
              <a:t>o </a:t>
            </a:r>
            <a:r>
              <a:rPr sz="2450" dirty="0" smtClean="0">
                <a:latin typeface="Microsoft Sans Serif"/>
                <a:cs typeface="Microsoft Sans Serif"/>
              </a:rPr>
              <a:t>develop</a:t>
            </a:r>
            <a:r>
              <a:rPr sz="2450" spc="-25" dirty="0" smtClean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method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for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handling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large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numbers.</a:t>
            </a:r>
            <a:endParaRPr sz="2450" dirty="0">
              <a:latin typeface="Microsoft Sans Serif"/>
              <a:cs typeface="Microsoft Sans Serif"/>
            </a:endParaRPr>
          </a:p>
          <a:p>
            <a:pPr marL="212090" indent="-199390" algn="just">
              <a:lnSpc>
                <a:spcPct val="150000"/>
              </a:lnSpc>
              <a:spcBef>
                <a:spcPts val="535"/>
              </a:spcBef>
              <a:buChar char="•"/>
              <a:tabLst>
                <a:tab pos="212090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Brahmagupta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developed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symbol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for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zero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628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CE.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893444" indent="-199390" algn="just">
              <a:lnSpc>
                <a:spcPct val="150000"/>
              </a:lnSpc>
              <a:spcBef>
                <a:spcPts val="915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With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this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invention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zero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could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as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independent 	</a:t>
            </a:r>
            <a:r>
              <a:rPr sz="2450" dirty="0">
                <a:latin typeface="Microsoft Sans Serif"/>
                <a:cs typeface="Microsoft Sans Serif"/>
              </a:rPr>
              <a:t>numeral</a:t>
            </a:r>
            <a:r>
              <a:rPr sz="2450" spc="6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for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computational</a:t>
            </a:r>
            <a:r>
              <a:rPr sz="2450" spc="8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purposes.</a:t>
            </a:r>
            <a:endParaRPr sz="24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Large</a:t>
            </a:r>
            <a:r>
              <a:rPr spc="-114" dirty="0"/>
              <a:t> </a:t>
            </a:r>
            <a:r>
              <a:rPr dirty="0"/>
              <a:t>Numbers</a:t>
            </a:r>
            <a:r>
              <a:rPr spc="-5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their</a:t>
            </a:r>
            <a:r>
              <a:rPr spc="-7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3674" y="3081048"/>
            <a:ext cx="1631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5" dirty="0">
                <a:latin typeface="Microsoft Sans Serif"/>
                <a:cs typeface="Microsoft Sans Serif"/>
              </a:rPr>
              <a:t>i.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71" y="1648460"/>
            <a:ext cx="8331200" cy="15138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171450" indent="-199390" algn="just">
              <a:lnSpc>
                <a:spcPts val="263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Ancient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developed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systematic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approach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the 	</a:t>
            </a:r>
            <a:r>
              <a:rPr sz="2450" spc="-10" dirty="0">
                <a:latin typeface="Microsoft Sans Serif"/>
                <a:cs typeface="Microsoft Sans Serif"/>
              </a:rPr>
              <a:t>number-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names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that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describe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large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numbers.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30" dirty="0">
                <a:latin typeface="Microsoft Sans Serif"/>
                <a:cs typeface="Microsoft Sans Serif"/>
              </a:rPr>
              <a:t>Three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categories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naming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conventions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were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employed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30" dirty="0">
                <a:latin typeface="Microsoft Sans Serif"/>
                <a:cs typeface="Microsoft Sans Serif"/>
              </a:rPr>
              <a:t>to 	</a:t>
            </a:r>
            <a:r>
              <a:rPr sz="2450" dirty="0">
                <a:latin typeface="Microsoft Sans Serif"/>
                <a:cs typeface="Microsoft Sans Serif"/>
              </a:rPr>
              <a:t>develop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number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names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Sanskrit:</a:t>
            </a:r>
            <a:endParaRPr sz="245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674" y="3693691"/>
            <a:ext cx="2298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5" dirty="0">
                <a:latin typeface="Microsoft Sans Serif"/>
                <a:cs typeface="Microsoft Sans Serif"/>
              </a:rPr>
              <a:t>ii.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3674" y="4306334"/>
            <a:ext cx="29654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0" dirty="0">
                <a:latin typeface="Microsoft Sans Serif"/>
                <a:cs typeface="Microsoft Sans Serif"/>
              </a:rPr>
              <a:t>iii.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2900" y="3099400"/>
            <a:ext cx="8180070" cy="21285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algn="just">
              <a:lnSpc>
                <a:spcPts val="2190"/>
              </a:lnSpc>
              <a:spcBef>
                <a:spcPts val="450"/>
              </a:spcBef>
            </a:pPr>
            <a:r>
              <a:rPr sz="2100" dirty="0">
                <a:latin typeface="Microsoft Sans Serif"/>
                <a:cs typeface="Microsoft Sans Serif"/>
              </a:rPr>
              <a:t>All numbers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digits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55" dirty="0">
                <a:latin typeface="Microsoft Sans Serif"/>
                <a:cs typeface="Microsoft Sans Serif"/>
              </a:rPr>
              <a:t>from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0</a:t>
            </a:r>
            <a:r>
              <a:rPr sz="2100" spc="-60" dirty="0">
                <a:latin typeface="Microsoft Sans Serif"/>
                <a:cs typeface="Microsoft Sans Serif"/>
              </a:rPr>
              <a:t> </a:t>
            </a:r>
            <a:r>
              <a:rPr sz="2100" spc="60" dirty="0">
                <a:latin typeface="Microsoft Sans Serif"/>
                <a:cs typeface="Microsoft Sans Serif"/>
              </a:rPr>
              <a:t>to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9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had</a:t>
            </a:r>
            <a:r>
              <a:rPr sz="2100" spc="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unique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names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-45" dirty="0">
                <a:latin typeface="Microsoft Sans Serif"/>
                <a:cs typeface="Microsoft Sans Serif"/>
              </a:rPr>
              <a:t>(sunya,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ekam, dve,</a:t>
            </a:r>
            <a:r>
              <a:rPr sz="2100" spc="-9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trini,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catvari,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panca,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sat,</a:t>
            </a:r>
            <a:r>
              <a:rPr sz="2100" spc="-9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sapta,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asta,</a:t>
            </a:r>
            <a:r>
              <a:rPr sz="2100" spc="-9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nava).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581660" algn="just">
              <a:lnSpc>
                <a:spcPts val="2190"/>
              </a:lnSpc>
              <a:spcBef>
                <a:spcPts val="445"/>
              </a:spcBef>
            </a:pPr>
            <a:r>
              <a:rPr sz="2100" dirty="0">
                <a:latin typeface="Microsoft Sans Serif"/>
                <a:cs typeface="Microsoft Sans Serif"/>
              </a:rPr>
              <a:t>All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numbers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range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100" dirty="0">
                <a:latin typeface="Microsoft Sans Serif"/>
                <a:cs typeface="Microsoft Sans Serif"/>
              </a:rPr>
              <a:t>of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11</a:t>
            </a:r>
            <a:r>
              <a:rPr sz="2100" spc="-60" dirty="0">
                <a:latin typeface="Microsoft Sans Serif"/>
                <a:cs typeface="Microsoft Sans Serif"/>
              </a:rPr>
              <a:t> </a:t>
            </a:r>
            <a:r>
              <a:rPr sz="2100" spc="60" dirty="0">
                <a:latin typeface="Microsoft Sans Serif"/>
                <a:cs typeface="Microsoft Sans Serif"/>
              </a:rPr>
              <a:t>to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99</a:t>
            </a:r>
            <a:r>
              <a:rPr sz="2100" spc="-6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had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additive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principle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30" dirty="0">
                <a:latin typeface="Microsoft Sans Serif"/>
                <a:cs typeface="Microsoft Sans Serif"/>
              </a:rPr>
              <a:t>for </a:t>
            </a:r>
            <a:r>
              <a:rPr sz="2100" spc="-10" dirty="0">
                <a:latin typeface="Microsoft Sans Serif"/>
                <a:cs typeface="Microsoft Sans Serif"/>
              </a:rPr>
              <a:t>naming.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385445" algn="just">
              <a:lnSpc>
                <a:spcPts val="2190"/>
              </a:lnSpc>
              <a:spcBef>
                <a:spcPts val="445"/>
              </a:spcBef>
            </a:pPr>
            <a:r>
              <a:rPr sz="2100" dirty="0">
                <a:latin typeface="Microsoft Sans Serif"/>
                <a:cs typeface="Microsoft Sans Serif"/>
              </a:rPr>
              <a:t>All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numbers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100" dirty="0">
                <a:latin typeface="Microsoft Sans Serif"/>
                <a:cs typeface="Microsoft Sans Serif"/>
              </a:rPr>
              <a:t>of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higher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powers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100" dirty="0">
                <a:latin typeface="Microsoft Sans Serif"/>
                <a:cs typeface="Microsoft Sans Serif"/>
              </a:rPr>
              <a:t>of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10</a:t>
            </a:r>
            <a:r>
              <a:rPr sz="2100" spc="-6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starting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spc="60" dirty="0">
                <a:latin typeface="Microsoft Sans Serif"/>
                <a:cs typeface="Microsoft Sans Serif"/>
              </a:rPr>
              <a:t>form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102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were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named </a:t>
            </a:r>
            <a:r>
              <a:rPr sz="2100" dirty="0">
                <a:latin typeface="Microsoft Sans Serif"/>
                <a:cs typeface="Microsoft Sans Serif"/>
              </a:rPr>
              <a:t>using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multiplicative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principle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using the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unit</a:t>
            </a:r>
            <a:r>
              <a:rPr sz="2100" spc="6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digits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40" dirty="0">
                <a:latin typeface="Microsoft Sans Serif"/>
                <a:cs typeface="Microsoft Sans Serif"/>
              </a:rPr>
              <a:t> </a:t>
            </a:r>
            <a:r>
              <a:rPr sz="2100" spc="50" dirty="0">
                <a:latin typeface="Microsoft Sans Serif"/>
                <a:cs typeface="Microsoft Sans Serif"/>
              </a:rPr>
              <a:t>factor</a:t>
            </a:r>
            <a:r>
              <a:rPr sz="2100" spc="35" dirty="0">
                <a:latin typeface="Microsoft Sans Serif"/>
                <a:cs typeface="Microsoft Sans Serif"/>
              </a:rPr>
              <a:t> </a:t>
            </a:r>
            <a:r>
              <a:rPr sz="2100" spc="30" dirty="0">
                <a:latin typeface="Microsoft Sans Serif"/>
                <a:cs typeface="Microsoft Sans Serif"/>
              </a:rPr>
              <a:t>for </a:t>
            </a:r>
            <a:r>
              <a:rPr sz="2100" spc="-10" dirty="0">
                <a:latin typeface="Microsoft Sans Serif"/>
                <a:cs typeface="Microsoft Sans Serif"/>
              </a:rPr>
              <a:t>multiplication.</a:t>
            </a:r>
            <a:endParaRPr sz="2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spc="-35" dirty="0"/>
              <a:t>Unique</a:t>
            </a:r>
            <a:r>
              <a:rPr spc="-135" dirty="0"/>
              <a:t> </a:t>
            </a:r>
            <a:r>
              <a:rPr dirty="0"/>
              <a:t>approaches</a:t>
            </a:r>
            <a:r>
              <a:rPr spc="-80" dirty="0"/>
              <a:t> </a:t>
            </a:r>
            <a:r>
              <a:rPr spc="75" dirty="0"/>
              <a:t>to</a:t>
            </a:r>
            <a:r>
              <a:rPr spc="-110" dirty="0"/>
              <a:t> </a:t>
            </a:r>
            <a:r>
              <a:rPr spc="-40" dirty="0"/>
              <a:t>Represent </a:t>
            </a:r>
            <a:r>
              <a:rPr spc="-10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3674" y="3081048"/>
            <a:ext cx="1631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5" dirty="0">
                <a:latin typeface="Microsoft Sans Serif"/>
                <a:cs typeface="Microsoft Sans Serif"/>
              </a:rPr>
              <a:t>i.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71" y="1585560"/>
            <a:ext cx="8798275" cy="243528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1320165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Ancient</a:t>
            </a:r>
            <a:r>
              <a:rPr sz="2450" spc="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mathematics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seamlessly</a:t>
            </a:r>
            <a:r>
              <a:rPr sz="2450" spc="40" dirty="0">
                <a:latin typeface="Microsoft Sans Serif"/>
                <a:cs typeface="Microsoft Sans Serif"/>
              </a:rPr>
              <a:t> </a:t>
            </a:r>
            <a:r>
              <a:rPr sz="2450" spc="-10" dirty="0" smtClean="0">
                <a:latin typeface="Microsoft Sans Serif"/>
                <a:cs typeface="Microsoft Sans Serif"/>
              </a:rPr>
              <a:t>integrated</a:t>
            </a:r>
            <a:r>
              <a:rPr lang="en-US" sz="2450" spc="-10" dirty="0" smtClean="0">
                <a:latin typeface="Microsoft Sans Serif"/>
                <a:cs typeface="Microsoft Sans Serif"/>
              </a:rPr>
              <a:t> </a:t>
            </a:r>
            <a:r>
              <a:rPr sz="2450" dirty="0" smtClean="0">
                <a:latin typeface="Microsoft Sans Serif"/>
                <a:cs typeface="Microsoft Sans Serif"/>
              </a:rPr>
              <a:t>mathematics</a:t>
            </a:r>
            <a:r>
              <a:rPr sz="2450" spc="40" dirty="0" smtClean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with</a:t>
            </a:r>
            <a:r>
              <a:rPr sz="2450" spc="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literature</a:t>
            </a:r>
            <a:r>
              <a:rPr sz="2450" spc="1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11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poetry.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95" dirty="0">
                <a:latin typeface="Microsoft Sans Serif"/>
                <a:cs typeface="Microsoft Sans Serif"/>
              </a:rPr>
              <a:t>We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find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well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developed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dirty="0">
                <a:latin typeface="Microsoft Sans Serif"/>
                <a:cs typeface="Microsoft Sans Serif"/>
              </a:rPr>
              <a:t> address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this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requirement 	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discuss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two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them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here:</a:t>
            </a:r>
            <a:endParaRPr sz="245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4212" y="4208419"/>
            <a:ext cx="8166734" cy="12376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190"/>
              </a:lnSpc>
              <a:spcBef>
                <a:spcPts val="450"/>
              </a:spcBef>
            </a:pPr>
            <a:r>
              <a:rPr lang="en-US" sz="2100" b="1" spc="-35" dirty="0" err="1" smtClean="0">
                <a:latin typeface="Microsoft Sans Serif"/>
                <a:cs typeface="Microsoft Sans Serif"/>
              </a:rPr>
              <a:t>i</a:t>
            </a:r>
            <a:r>
              <a:rPr lang="en-US" sz="2100" b="1" spc="-35" dirty="0" smtClean="0">
                <a:latin typeface="Microsoft Sans Serif"/>
                <a:cs typeface="Microsoft Sans Serif"/>
              </a:rPr>
              <a:t>. </a:t>
            </a:r>
            <a:r>
              <a:rPr sz="2100" b="1" spc="-35" dirty="0" err="1" smtClean="0">
                <a:latin typeface="Microsoft Sans Serif"/>
                <a:cs typeface="Microsoft Sans Serif"/>
              </a:rPr>
              <a:t>Bhuta-Samkhya</a:t>
            </a:r>
            <a:r>
              <a:rPr sz="2100" b="1" spc="-30" dirty="0" smtClean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Microsoft Sans Serif"/>
                <a:cs typeface="Microsoft Sans Serif"/>
              </a:rPr>
              <a:t>system</a:t>
            </a:r>
            <a:r>
              <a:rPr sz="2100" b="1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system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100" dirty="0">
                <a:latin typeface="Microsoft Sans Serif"/>
                <a:cs typeface="Microsoft Sans Serif"/>
              </a:rPr>
              <a:t>of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expressing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numbers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spc="-35" dirty="0">
                <a:latin typeface="Microsoft Sans Serif"/>
                <a:cs typeface="Microsoft Sans Serif"/>
              </a:rPr>
              <a:t>by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means </a:t>
            </a:r>
            <a:r>
              <a:rPr sz="2100" spc="100" dirty="0">
                <a:latin typeface="Microsoft Sans Serif"/>
                <a:cs typeface="Microsoft Sans Serif"/>
              </a:rPr>
              <a:t>of</a:t>
            </a:r>
            <a:r>
              <a:rPr sz="2100" spc="4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words</a:t>
            </a:r>
            <a:r>
              <a:rPr sz="2100" spc="4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representing</a:t>
            </a:r>
            <a:r>
              <a:rPr sz="2100" spc="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certain</a:t>
            </a:r>
            <a:r>
              <a:rPr sz="2100" spc="4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entities.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173990">
              <a:lnSpc>
                <a:spcPts val="2190"/>
              </a:lnSpc>
              <a:spcBef>
                <a:spcPts val="445"/>
              </a:spcBef>
            </a:pPr>
            <a:r>
              <a:rPr lang="en-US" sz="2100" b="1" spc="-10" dirty="0" smtClean="0">
                <a:latin typeface="Microsoft Sans Serif"/>
                <a:cs typeface="Microsoft Sans Serif"/>
              </a:rPr>
              <a:t>ii. </a:t>
            </a:r>
            <a:r>
              <a:rPr sz="2100" b="1" spc="-10" dirty="0" err="1" smtClean="0">
                <a:latin typeface="Microsoft Sans Serif"/>
                <a:cs typeface="Microsoft Sans Serif"/>
              </a:rPr>
              <a:t>Katapayadi</a:t>
            </a:r>
            <a:r>
              <a:rPr sz="2100" b="1" spc="20" dirty="0" smtClean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Microsoft Sans Serif"/>
                <a:cs typeface="Microsoft Sans Serif"/>
              </a:rPr>
              <a:t>system</a:t>
            </a:r>
            <a:r>
              <a:rPr sz="2100" b="1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employs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technique</a:t>
            </a:r>
            <a:r>
              <a:rPr sz="2100" spc="35" dirty="0">
                <a:latin typeface="Microsoft Sans Serif"/>
                <a:cs typeface="Microsoft Sans Serif"/>
              </a:rPr>
              <a:t> </a:t>
            </a:r>
            <a:r>
              <a:rPr sz="2100" spc="60" dirty="0">
                <a:latin typeface="Microsoft Sans Serif"/>
                <a:cs typeface="Microsoft Sans Serif"/>
              </a:rPr>
              <a:t>to</a:t>
            </a:r>
            <a:r>
              <a:rPr sz="2100" spc="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convert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numerals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35" dirty="0">
                <a:latin typeface="Microsoft Sans Serif"/>
                <a:cs typeface="Microsoft Sans Serif"/>
              </a:rPr>
              <a:t>to </a:t>
            </a:r>
            <a:r>
              <a:rPr sz="2100" dirty="0">
                <a:latin typeface="Microsoft Sans Serif"/>
                <a:cs typeface="Microsoft Sans Serif"/>
              </a:rPr>
              <a:t>alphabets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using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certain </a:t>
            </a:r>
            <a:r>
              <a:rPr sz="2100" spc="-10" dirty="0">
                <a:latin typeface="Microsoft Sans Serif"/>
                <a:cs typeface="Microsoft Sans Serif"/>
              </a:rPr>
              <a:t>rules.</a:t>
            </a:r>
            <a:endParaRPr sz="2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Bhūtasaṃkhyā</a:t>
            </a:r>
            <a:r>
              <a:rPr spc="-260" dirty="0"/>
              <a:t> </a:t>
            </a:r>
            <a:r>
              <a:rPr spc="-45" dirty="0"/>
              <a:t>(</a:t>
            </a:r>
            <a:r>
              <a:rPr sz="3050" spc="-45" dirty="0">
                <a:latin typeface="Nirmala UI"/>
                <a:cs typeface="Nirmala UI"/>
              </a:rPr>
              <a:t>भूतस</a:t>
            </a:r>
            <a:r>
              <a:rPr sz="3050" spc="285" dirty="0">
                <a:latin typeface="Nirmala UI"/>
                <a:cs typeface="Nirmala UI"/>
              </a:rPr>
              <a:t> </a:t>
            </a:r>
            <a:r>
              <a:rPr sz="3050" spc="-55" dirty="0">
                <a:latin typeface="Nirmala UI"/>
                <a:cs typeface="Nirmala UI"/>
              </a:rPr>
              <a:t>या</a:t>
            </a:r>
            <a:r>
              <a:rPr spc="-55" dirty="0"/>
              <a:t>)</a:t>
            </a:r>
            <a:r>
              <a:rPr spc="-204" dirty="0"/>
              <a:t> </a:t>
            </a:r>
            <a:r>
              <a:rPr spc="-10" dirty="0"/>
              <a:t>system</a:t>
            </a:r>
            <a:endParaRPr sz="3050">
              <a:latin typeface="Nirmala UI"/>
              <a:cs typeface="Nirmala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3392" y="1266832"/>
            <a:ext cx="8966835" cy="4824398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76200" indent="-199390" algn="just">
              <a:lnSpc>
                <a:spcPct val="15000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Bhūtasaṃkhyā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(</a:t>
            </a:r>
            <a:r>
              <a:rPr sz="2000" spc="-50" dirty="0">
                <a:latin typeface="Nirmala UI"/>
                <a:cs typeface="Nirmala UI"/>
              </a:rPr>
              <a:t>भूतसं</a:t>
            </a:r>
            <a:r>
              <a:rPr sz="2000" spc="-15" dirty="0">
                <a:latin typeface="Nirmala UI"/>
                <a:cs typeface="Nirmala UI"/>
              </a:rPr>
              <a:t>  </a:t>
            </a:r>
            <a:r>
              <a:rPr sz="2000" spc="-95" dirty="0">
                <a:latin typeface="Nirmala UI"/>
                <a:cs typeface="Nirmala UI"/>
              </a:rPr>
              <a:t>या</a:t>
            </a:r>
            <a:r>
              <a:rPr sz="2000" spc="-95" dirty="0">
                <a:latin typeface="Microsoft Sans Serif"/>
                <a:cs typeface="Microsoft Sans Serif"/>
              </a:rPr>
              <a:t>)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system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method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recording 	</a:t>
            </a:r>
            <a:r>
              <a:rPr sz="2400" dirty="0">
                <a:latin typeface="Microsoft Sans Serif"/>
                <a:cs typeface="Microsoft Sans Serif"/>
              </a:rPr>
              <a:t>numbers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Sanskrit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using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common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nouns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having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connotations 	</a:t>
            </a:r>
            <a:r>
              <a:rPr sz="2400" spc="100" dirty="0">
                <a:latin typeface="Microsoft Sans Serif"/>
                <a:cs typeface="Microsoft Sans Serif"/>
              </a:rPr>
              <a:t>of</a:t>
            </a:r>
            <a:r>
              <a:rPr sz="2400" dirty="0">
                <a:latin typeface="Microsoft Sans Serif"/>
                <a:cs typeface="Microsoft Sans Serif"/>
              </a:rPr>
              <a:t> numerical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values.</a:t>
            </a:r>
            <a:endParaRPr sz="2400" dirty="0">
              <a:latin typeface="Microsoft Sans Serif"/>
              <a:cs typeface="Microsoft Sans Serif"/>
            </a:endParaRPr>
          </a:p>
          <a:p>
            <a:pPr marL="211454" marR="506095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The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method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introduced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already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astronomical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texts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in 	</a:t>
            </a:r>
            <a:r>
              <a:rPr sz="2400" spc="-10" dirty="0">
                <a:latin typeface="Microsoft Sans Serif"/>
                <a:cs typeface="Microsoft Sans Serif"/>
              </a:rPr>
              <a:t>antiquity,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it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expanded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developed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during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	</a:t>
            </a:r>
            <a:r>
              <a:rPr sz="2400" dirty="0">
                <a:latin typeface="Microsoft Sans Serif"/>
                <a:cs typeface="Microsoft Sans Serif"/>
              </a:rPr>
              <a:t>medieval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period.</a:t>
            </a:r>
            <a:endParaRPr sz="2400" dirty="0">
              <a:latin typeface="Microsoft Sans Serif"/>
              <a:cs typeface="Microsoft Sans Serif"/>
            </a:endParaRPr>
          </a:p>
          <a:p>
            <a:pPr marL="211454" marR="5080" indent="-199390" algn="just">
              <a:lnSpc>
                <a:spcPct val="15000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kind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of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rebus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system,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i="1" spc="-20" dirty="0">
                <a:latin typeface="Arial"/>
                <a:cs typeface="Arial"/>
              </a:rPr>
              <a:t>bhūtasaṃkhyā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been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	</a:t>
            </a:r>
            <a:r>
              <a:rPr sz="2400" dirty="0">
                <a:latin typeface="Microsoft Sans Serif"/>
                <a:cs typeface="Microsoft Sans Serif"/>
              </a:rPr>
              <a:t>“</a:t>
            </a:r>
            <a:r>
              <a:rPr sz="2400" b="1" dirty="0">
                <a:latin typeface="Microsoft Sans Serif"/>
                <a:cs typeface="Microsoft Sans Serif"/>
              </a:rPr>
              <a:t>concrete</a:t>
            </a:r>
            <a:r>
              <a:rPr sz="2400" b="1" spc="-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number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notation</a:t>
            </a:r>
            <a:r>
              <a:rPr sz="2400" spc="-10" dirty="0">
                <a:latin typeface="Microsoft Sans Serif"/>
                <a:cs typeface="Microsoft Sans Serif"/>
              </a:rPr>
              <a:t>”.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Bhūtasaṃkhyā</a:t>
            </a:r>
            <a:r>
              <a:rPr spc="-260" dirty="0"/>
              <a:t> </a:t>
            </a:r>
            <a:r>
              <a:rPr spc="-45" dirty="0"/>
              <a:t>(</a:t>
            </a:r>
            <a:r>
              <a:rPr sz="3050" spc="-45" dirty="0">
                <a:latin typeface="Nirmala UI"/>
                <a:cs typeface="Nirmala UI"/>
              </a:rPr>
              <a:t>भूतस</a:t>
            </a:r>
            <a:r>
              <a:rPr sz="3050" spc="285" dirty="0">
                <a:latin typeface="Nirmala UI"/>
                <a:cs typeface="Nirmala UI"/>
              </a:rPr>
              <a:t> </a:t>
            </a:r>
            <a:r>
              <a:rPr sz="3050" spc="-55" dirty="0">
                <a:latin typeface="Nirmala UI"/>
                <a:cs typeface="Nirmala UI"/>
              </a:rPr>
              <a:t>या</a:t>
            </a:r>
            <a:r>
              <a:rPr spc="-55" dirty="0"/>
              <a:t>)</a:t>
            </a:r>
            <a:r>
              <a:rPr spc="-204" dirty="0"/>
              <a:t> </a:t>
            </a:r>
            <a:r>
              <a:rPr spc="-10" dirty="0"/>
              <a:t>system</a:t>
            </a:r>
            <a:endParaRPr sz="3050">
              <a:latin typeface="Nirmala UI"/>
              <a:cs typeface="Nirmala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982" y="1485254"/>
            <a:ext cx="5565429" cy="4204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Katapayadi</a:t>
            </a:r>
            <a:r>
              <a:rPr spc="-1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585560"/>
            <a:ext cx="8745220" cy="34074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1050925" indent="-199390">
              <a:lnSpc>
                <a:spcPts val="263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Another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convert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numerals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words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30" dirty="0">
                <a:latin typeface="Microsoft Sans Serif"/>
                <a:cs typeface="Microsoft Sans Serif"/>
              </a:rPr>
              <a:t>to 	</a:t>
            </a:r>
            <a:r>
              <a:rPr sz="2450" dirty="0">
                <a:latin typeface="Microsoft Sans Serif"/>
                <a:cs typeface="Microsoft Sans Serif"/>
              </a:rPr>
              <a:t>associate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number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one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more</a:t>
            </a:r>
            <a:r>
              <a:rPr sz="2450" spc="-10" dirty="0">
                <a:latin typeface="Microsoft Sans Serif"/>
                <a:cs typeface="Microsoft Sans Serif"/>
              </a:rPr>
              <a:t> alphabets.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5080" indent="-199390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20" dirty="0">
                <a:latin typeface="Microsoft Sans Serif"/>
                <a:cs typeface="Microsoft Sans Serif"/>
              </a:rPr>
              <a:t>Using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alphabets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place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numbers,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one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can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construct 	</a:t>
            </a:r>
            <a:r>
              <a:rPr sz="2450" dirty="0">
                <a:latin typeface="Microsoft Sans Serif"/>
                <a:cs typeface="Microsoft Sans Serif"/>
              </a:rPr>
              <a:t>words,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which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by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deciphering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one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alphabet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at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time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will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reveal 	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number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expressed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word.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605155" indent="-199390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advantage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such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system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lies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representing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large 	</a:t>
            </a:r>
            <a:r>
              <a:rPr sz="2450" dirty="0">
                <a:latin typeface="Microsoft Sans Serif"/>
                <a:cs typeface="Microsoft Sans Serif"/>
              </a:rPr>
              <a:t>numbers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using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word,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which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can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be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easily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remembered.</a:t>
            </a:r>
            <a:endParaRPr sz="2450" dirty="0">
              <a:latin typeface="Microsoft Sans Serif"/>
              <a:cs typeface="Microsoft Sans Serif"/>
            </a:endParaRPr>
          </a:p>
          <a:p>
            <a:pPr marL="211454" marR="149225" indent="-199390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This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provided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very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efficient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method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presenting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results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of 	</a:t>
            </a:r>
            <a:r>
              <a:rPr sz="2450" dirty="0">
                <a:latin typeface="Microsoft Sans Serif"/>
                <a:cs typeface="Microsoft Sans Serif"/>
              </a:rPr>
              <a:t>complex</a:t>
            </a:r>
            <a:r>
              <a:rPr sz="2450" spc="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calculations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using</a:t>
            </a:r>
            <a:r>
              <a:rPr sz="2450" spc="114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number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symbols.</a:t>
            </a:r>
            <a:endParaRPr sz="24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Katapayadi</a:t>
            </a:r>
            <a:r>
              <a:rPr spc="-180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405" y="1575676"/>
            <a:ext cx="8078623" cy="32641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660"/>
              </a:spcBef>
            </a:pPr>
            <a:r>
              <a:rPr dirty="0"/>
              <a:t>Measurement</a:t>
            </a:r>
            <a:r>
              <a:rPr spc="-190" dirty="0"/>
              <a:t> </a:t>
            </a:r>
            <a:r>
              <a:rPr spc="-35" dirty="0"/>
              <a:t>For</a:t>
            </a:r>
            <a:r>
              <a:rPr spc="-150" dirty="0"/>
              <a:t> </a:t>
            </a:r>
            <a:r>
              <a:rPr spc="-20" dirty="0"/>
              <a:t>Time,</a:t>
            </a:r>
            <a:r>
              <a:rPr spc="-130" dirty="0"/>
              <a:t> </a:t>
            </a:r>
            <a:r>
              <a:rPr dirty="0"/>
              <a:t>Distance</a:t>
            </a:r>
            <a:r>
              <a:rPr spc="-185" dirty="0"/>
              <a:t> </a:t>
            </a:r>
            <a:r>
              <a:rPr spc="-25" dirty="0"/>
              <a:t>and </a:t>
            </a:r>
            <a:r>
              <a:rPr spc="-10" dirty="0"/>
              <a:t>Weight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71" y="1585560"/>
            <a:ext cx="8666480" cy="22936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1454" marR="237490" indent="-199390">
              <a:lnSpc>
                <a:spcPts val="2630"/>
              </a:lnSpc>
              <a:spcBef>
                <a:spcPts val="450"/>
              </a:spcBef>
              <a:buChar char="•"/>
              <a:tabLst>
                <a:tab pos="212725" algn="l"/>
              </a:tabLst>
            </a:pP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ancient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Indian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literature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three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fundamental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physical 	measures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for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quantifying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length,</a:t>
            </a:r>
            <a:r>
              <a:rPr sz="245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time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weight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are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found.</a:t>
            </a:r>
            <a:endParaRPr sz="2450">
              <a:latin typeface="Microsoft Sans Serif"/>
              <a:cs typeface="Microsoft Sans Serif"/>
            </a:endParaRPr>
          </a:p>
          <a:p>
            <a:pPr marL="211454" marR="274955" indent="-199390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30" dirty="0">
                <a:latin typeface="Microsoft Sans Serif"/>
                <a:cs typeface="Microsoft Sans Serif"/>
              </a:rPr>
              <a:t>There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are</a:t>
            </a:r>
            <a:r>
              <a:rPr sz="2450" spc="-25" dirty="0">
                <a:latin typeface="Microsoft Sans Serif"/>
                <a:cs typeface="Microsoft Sans Serif"/>
              </a:rPr>
              <a:t> several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sources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literatue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specifying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units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of 	</a:t>
            </a:r>
            <a:r>
              <a:rPr sz="2450" dirty="0">
                <a:latin typeface="Microsoft Sans Serif"/>
                <a:cs typeface="Microsoft Sans Serif"/>
              </a:rPr>
              <a:t>measurement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for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these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three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physical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quantities.</a:t>
            </a:r>
            <a:endParaRPr sz="2450">
              <a:latin typeface="Microsoft Sans Serif"/>
              <a:cs typeface="Microsoft Sans Serif"/>
            </a:endParaRPr>
          </a:p>
          <a:p>
            <a:pPr marL="211454" marR="5080" indent="-199390">
              <a:lnSpc>
                <a:spcPts val="2630"/>
              </a:lnSpc>
              <a:spcBef>
                <a:spcPts val="880"/>
              </a:spcBef>
              <a:buChar char="•"/>
              <a:tabLst>
                <a:tab pos="212725" algn="l"/>
              </a:tabLst>
            </a:pPr>
            <a:r>
              <a:rPr sz="2450" spc="-30" dirty="0">
                <a:latin typeface="Microsoft Sans Serif"/>
                <a:cs typeface="Microsoft Sans Serif"/>
              </a:rPr>
              <a:t>Three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generic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measures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pertaining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length,</a:t>
            </a:r>
            <a:r>
              <a:rPr sz="2450" spc="-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weight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35" dirty="0">
                <a:latin typeface="Microsoft Sans Serif"/>
                <a:cs typeface="Microsoft Sans Serif"/>
              </a:rPr>
              <a:t>time 	</a:t>
            </a:r>
            <a:r>
              <a:rPr sz="2450" dirty="0">
                <a:latin typeface="Microsoft Sans Serif"/>
                <a:cs typeface="Microsoft Sans Serif"/>
              </a:rPr>
              <a:t>could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to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measure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physical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entites.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Notion</a:t>
            </a:r>
            <a:r>
              <a:rPr spc="20" dirty="0"/>
              <a:t> </a:t>
            </a:r>
            <a:r>
              <a:rPr spc="145" dirty="0"/>
              <a:t>of</a:t>
            </a:r>
            <a:r>
              <a:rPr spc="25" dirty="0"/>
              <a:t> </a:t>
            </a:r>
            <a:r>
              <a:rPr spc="-10" dirty="0"/>
              <a:t>Paramanu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9971" y="1585560"/>
            <a:ext cx="8457565" cy="306959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24154" marR="17780" indent="-199390">
              <a:lnSpc>
                <a:spcPts val="2630"/>
              </a:lnSpc>
              <a:spcBef>
                <a:spcPts val="450"/>
              </a:spcBef>
              <a:buChar char="•"/>
              <a:tabLst>
                <a:tab pos="225425" algn="l"/>
              </a:tabLst>
            </a:pPr>
            <a:r>
              <a:rPr sz="2450" dirty="0">
                <a:latin typeface="Microsoft Sans Serif"/>
                <a:cs typeface="Microsoft Sans Serif"/>
              </a:rPr>
              <a:t>At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smallest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level,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there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fundamental </a:t>
            </a:r>
            <a:r>
              <a:rPr sz="2450" spc="-10" dirty="0">
                <a:latin typeface="Microsoft Sans Serif"/>
                <a:cs typeface="Microsoft Sans Serif"/>
              </a:rPr>
              <a:t>measure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called 	paramanu.</a:t>
            </a:r>
            <a:endParaRPr sz="2450">
              <a:latin typeface="Microsoft Sans Serif"/>
              <a:cs typeface="Microsoft Sans Serif"/>
            </a:endParaRPr>
          </a:p>
          <a:p>
            <a:pPr marL="224790" indent="-199390">
              <a:lnSpc>
                <a:spcPct val="100000"/>
              </a:lnSpc>
              <a:spcBef>
                <a:spcPts val="535"/>
              </a:spcBef>
              <a:buChar char="•"/>
              <a:tabLst>
                <a:tab pos="224790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measure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of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Paramanu</a:t>
            </a:r>
            <a:r>
              <a:rPr sz="2450" spc="-130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are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as</a:t>
            </a:r>
            <a:r>
              <a:rPr sz="2450" spc="-13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follows:</a:t>
            </a:r>
            <a:endParaRPr sz="2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450">
              <a:latin typeface="Microsoft Sans Serif"/>
              <a:cs typeface="Microsoft Sans Serif"/>
            </a:endParaRPr>
          </a:p>
          <a:p>
            <a:pPr marL="643255" algn="ctr">
              <a:lnSpc>
                <a:spcPct val="100000"/>
              </a:lnSpc>
            </a:pPr>
            <a:r>
              <a:rPr sz="2450"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Paramanu</a:t>
            </a:r>
            <a:r>
              <a:rPr sz="2450" spc="-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(length):</a:t>
            </a:r>
            <a:r>
              <a:rPr sz="2450" spc="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2.88</a:t>
            </a:r>
            <a:r>
              <a:rPr sz="2450" spc="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x</a:t>
            </a:r>
            <a:r>
              <a:rPr sz="2450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10</a:t>
            </a:r>
            <a:r>
              <a:rPr sz="2850" spc="-37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-</a:t>
            </a:r>
            <a:r>
              <a:rPr sz="2850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7</a:t>
            </a:r>
            <a:r>
              <a:rPr sz="2850" spc="142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90" dirty="0">
                <a:solidFill>
                  <a:srgbClr val="FF0000"/>
                </a:solidFill>
                <a:latin typeface="Microsoft Sans Serif"/>
                <a:cs typeface="Microsoft Sans Serif"/>
              </a:rPr>
              <a:t>mm</a:t>
            </a:r>
            <a:endParaRPr sz="2450">
              <a:latin typeface="Microsoft Sans Serif"/>
              <a:cs typeface="Microsoft Sans Serif"/>
            </a:endParaRPr>
          </a:p>
          <a:p>
            <a:pPr marL="645160" algn="ctr">
              <a:lnSpc>
                <a:spcPct val="100000"/>
              </a:lnSpc>
              <a:spcBef>
                <a:spcPts val="830"/>
              </a:spcBef>
            </a:pPr>
            <a:r>
              <a:rPr sz="2450"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Paramanu</a:t>
            </a:r>
            <a:r>
              <a:rPr sz="2450"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(weight):</a:t>
            </a:r>
            <a:r>
              <a:rPr sz="2450" spc="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5.79</a:t>
            </a:r>
            <a:r>
              <a:rPr sz="2450" spc="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x</a:t>
            </a:r>
            <a:r>
              <a:rPr sz="2450" spc="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10</a:t>
            </a:r>
            <a:r>
              <a:rPr sz="2850" spc="-37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-</a:t>
            </a:r>
            <a:r>
              <a:rPr sz="2850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5</a:t>
            </a:r>
            <a:r>
              <a:rPr sz="2850" spc="-112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g</a:t>
            </a:r>
            <a:endParaRPr sz="2450">
              <a:latin typeface="Microsoft Sans Serif"/>
              <a:cs typeface="Microsoft Sans Serif"/>
            </a:endParaRPr>
          </a:p>
          <a:p>
            <a:pPr marL="653415" algn="ctr">
              <a:lnSpc>
                <a:spcPct val="100000"/>
              </a:lnSpc>
              <a:spcBef>
                <a:spcPts val="835"/>
              </a:spcBef>
            </a:pPr>
            <a:r>
              <a:rPr sz="2450"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Paramanu</a:t>
            </a:r>
            <a:r>
              <a:rPr sz="2450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(time):</a:t>
            </a:r>
            <a:r>
              <a:rPr sz="2450" spc="5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1.31</a:t>
            </a:r>
            <a:r>
              <a:rPr sz="2450" spc="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dirty="0">
                <a:solidFill>
                  <a:srgbClr val="FF0000"/>
                </a:solidFill>
                <a:latin typeface="Microsoft Sans Serif"/>
                <a:cs typeface="Microsoft Sans Serif"/>
              </a:rPr>
              <a:t>x</a:t>
            </a:r>
            <a:r>
              <a:rPr sz="2450" spc="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10</a:t>
            </a:r>
            <a:r>
              <a:rPr sz="2850" spc="-37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-</a:t>
            </a:r>
            <a:r>
              <a:rPr sz="2850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5</a:t>
            </a:r>
            <a:r>
              <a:rPr sz="2850" spc="-82" baseline="263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seconds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Measures</a:t>
            </a:r>
            <a:r>
              <a:rPr spc="-110" dirty="0"/>
              <a:t> </a:t>
            </a:r>
            <a:r>
              <a:rPr spc="90" dirty="0"/>
              <a:t>for</a:t>
            </a:r>
            <a:r>
              <a:rPr spc="-120" dirty="0"/>
              <a:t> </a:t>
            </a:r>
            <a:r>
              <a:rPr spc="-10" dirty="0"/>
              <a:t>Length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193" y="1302601"/>
            <a:ext cx="6391736" cy="46176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</TotalTime>
  <Words>320</Words>
  <Application>Microsoft Office PowerPoint</Application>
  <PresentationFormat>Custom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Microsoft Sans Serif</vt:lpstr>
      <vt:lpstr>Nirmala UI</vt:lpstr>
      <vt:lpstr>Office Theme</vt:lpstr>
      <vt:lpstr>PowerPoint Presentation</vt:lpstr>
      <vt:lpstr>Number System in India- Historical Evidence</vt:lpstr>
      <vt:lpstr>Number System in India- Historical Evidence</vt:lpstr>
      <vt:lpstr>Salient Features of the Indian Numeral System</vt:lpstr>
      <vt:lpstr>Salient Features of the Indian Numeral System</vt:lpstr>
      <vt:lpstr>The Concept of Zero and Its Importance</vt:lpstr>
      <vt:lpstr>Large Numbers and their representation</vt:lpstr>
      <vt:lpstr>Unique approaches to Represent Numbers</vt:lpstr>
      <vt:lpstr>Bhūtasaṃkhyā (भूतस या) system</vt:lpstr>
      <vt:lpstr>Bhūtasaṃkhyā (भूतस या) system</vt:lpstr>
      <vt:lpstr>Katapayadi System</vt:lpstr>
      <vt:lpstr>Katapayadi System</vt:lpstr>
      <vt:lpstr>Measurement For Time, Distance and Weight</vt:lpstr>
      <vt:lpstr>Notion of Paramanu</vt:lpstr>
      <vt:lpstr>Measures for Length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5</cp:revision>
  <dcterms:created xsi:type="dcterms:W3CDTF">2025-02-06T14:03:49Z</dcterms:created>
  <dcterms:modified xsi:type="dcterms:W3CDTF">2025-03-21T16:37:12Z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2025-02-06T00:00:00Z</vt:filetime>
  </property>
  <property fmtid="{D5CDD505-2E9C-101B-9397-08002B2CF9AE}" pid="3" name="LastSaved">
    <vt:filetime>2025-02-06T00:00:00Z</vt:filetime>
  </property>
  <property fmtid="{D5CDD505-2E9C-101B-9397-08002B2CF9AE}" pid="4" name="Producer">
    <vt:lpwstr>macOS Version 14.5 (Build 23F79) Quartz PDFContext, AppendMode 1.1</vt:lpwstr>
  </property>
</Properties>
</file>