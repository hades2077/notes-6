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Syne" panose="020B0604020202020204" charset="0"/>
      <p:regular r:id="rId14"/>
    </p:embeddedFont>
    <p:embeddedFont>
      <p:font typeface="Syne Extra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136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75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Computational Concepts in Ancient India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793790" y="42962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281D2-9A7E-271D-E65C-06C150222772}"/>
              </a:ext>
            </a:extLst>
          </p:cNvPr>
          <p:cNvSpPr txBox="1"/>
          <p:nvPr/>
        </p:nvSpPr>
        <p:spPr>
          <a:xfrm>
            <a:off x="717590" y="6988080"/>
            <a:ext cx="262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By</a:t>
            </a:r>
          </a:p>
          <a:p>
            <a:r>
              <a:rPr lang="en-IN" sz="2400" dirty="0">
                <a:solidFill>
                  <a:schemeClr val="bg1"/>
                </a:solidFill>
              </a:rPr>
              <a:t>Yashwanth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2565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The Vedic Roots of Mathematics: Seeds of Computation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165878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Numerical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101352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Vedic texts contain early numerical systems. These texts laid the foundation for later mathematical developments.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165878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Geometric Concepts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5101352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Vedic rituals involved precise geometric constructions. These constructions demonstrate early geometric understanding.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165878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Computational Procedures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5101352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Vedic scholars developed computational procedures. They needed these procedures for astronomy and calendar-making.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A6112E-20CE-D435-1040-32B322B713A6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567" y="691039"/>
            <a:ext cx="7692866" cy="2591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The Decimal System and Zero: Indian Numeral System Revolution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5567" y="3593187"/>
            <a:ext cx="3742849" cy="2196822"/>
          </a:xfrm>
          <a:prstGeom prst="roundRect">
            <a:avLst>
              <a:gd name="adj" fmla="val 396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0475" y="3808095"/>
            <a:ext cx="331303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Decimal System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40475" y="4580334"/>
            <a:ext cx="3313033" cy="99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India invented the decimal system. It uses ten symbols to represent numbers.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75703" y="3593187"/>
            <a:ext cx="3742849" cy="2196822"/>
          </a:xfrm>
          <a:prstGeom prst="roundRect">
            <a:avLst>
              <a:gd name="adj" fmla="val 3964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0611" y="3808095"/>
            <a:ext cx="331303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Concept of Zero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90611" y="4580334"/>
            <a:ext cx="3313033" cy="99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concept of zero originated in India. Zero is both a number and a placeholder.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5567" y="5997297"/>
            <a:ext cx="7692866" cy="1541264"/>
          </a:xfrm>
          <a:prstGeom prst="roundRect">
            <a:avLst>
              <a:gd name="adj" fmla="val 564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0475" y="6212205"/>
            <a:ext cx="3922752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Positional Notation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40475" y="6660475"/>
            <a:ext cx="7263051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Positional notation enhances number representation. It assigns value based on position.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5799" y="592574"/>
            <a:ext cx="7792403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Panini's Grammar: The Dawn of Formal Language Theory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953929" y="3295769"/>
            <a:ext cx="22860" cy="4341138"/>
          </a:xfrm>
          <a:prstGeom prst="roundRect">
            <a:avLst>
              <a:gd name="adj" fmla="val 354782"/>
            </a:avLst>
          </a:prstGeom>
          <a:solidFill>
            <a:srgbClr val="6D9121"/>
          </a:solidFill>
          <a:ln/>
        </p:spPr>
      </p:sp>
      <p:sp>
        <p:nvSpPr>
          <p:cNvPr id="5" name="Shape 2"/>
          <p:cNvSpPr/>
          <p:nvPr/>
        </p:nvSpPr>
        <p:spPr>
          <a:xfrm>
            <a:off x="1159728" y="3718679"/>
            <a:ext cx="675799" cy="22860"/>
          </a:xfrm>
          <a:prstGeom prst="roundRect">
            <a:avLst>
              <a:gd name="adj" fmla="val 354782"/>
            </a:avLst>
          </a:prstGeom>
          <a:solidFill>
            <a:srgbClr val="6D9121"/>
          </a:solidFill>
          <a:ln/>
        </p:spPr>
      </p:sp>
      <p:sp>
        <p:nvSpPr>
          <p:cNvPr id="6" name="Shape 3"/>
          <p:cNvSpPr/>
          <p:nvPr/>
        </p:nvSpPr>
        <p:spPr>
          <a:xfrm>
            <a:off x="748129" y="3512939"/>
            <a:ext cx="434459" cy="434459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8742" y="3585329"/>
            <a:ext cx="153233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027396" y="3488769"/>
            <a:ext cx="2413754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Astadhyayi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27396" y="3906203"/>
            <a:ext cx="6440805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Panini's </a:t>
            </a:r>
            <a:r>
              <a:rPr lang="en-US" sz="1500" i="1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Astadhyayi</a:t>
            </a: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 is a Sanskrit grammar. It contains 4,000 rules.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9728" y="5024080"/>
            <a:ext cx="675799" cy="22860"/>
          </a:xfrm>
          <a:prstGeom prst="roundRect">
            <a:avLst>
              <a:gd name="adj" fmla="val 354782"/>
            </a:avLst>
          </a:prstGeom>
          <a:solidFill>
            <a:srgbClr val="6D9121"/>
          </a:solidFill>
          <a:ln/>
        </p:spPr>
      </p:sp>
      <p:sp>
        <p:nvSpPr>
          <p:cNvPr id="11" name="Shape 8"/>
          <p:cNvSpPr/>
          <p:nvPr/>
        </p:nvSpPr>
        <p:spPr>
          <a:xfrm>
            <a:off x="748129" y="4818340"/>
            <a:ext cx="434459" cy="434459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0043" y="4890730"/>
            <a:ext cx="290513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2027396" y="4794171"/>
            <a:ext cx="2520791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Formal Rules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27396" y="5211604"/>
            <a:ext cx="644080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Panini used formal rules to describe Sanskrit. These rules are similar to modern formal languages.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159728" y="6638449"/>
            <a:ext cx="675799" cy="22860"/>
          </a:xfrm>
          <a:prstGeom prst="roundRect">
            <a:avLst>
              <a:gd name="adj" fmla="val 354782"/>
            </a:avLst>
          </a:prstGeom>
          <a:solidFill>
            <a:srgbClr val="6D9121"/>
          </a:solidFill>
          <a:ln/>
        </p:spPr>
      </p:sp>
      <p:sp>
        <p:nvSpPr>
          <p:cNvPr id="16" name="Shape 13"/>
          <p:cNvSpPr/>
          <p:nvPr/>
        </p:nvSpPr>
        <p:spPr>
          <a:xfrm>
            <a:off x="748129" y="6432709"/>
            <a:ext cx="434459" cy="434459"/>
          </a:xfrm>
          <a:prstGeom prst="roundRect">
            <a:avLst>
              <a:gd name="adj" fmla="val 18668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2542" y="6505099"/>
            <a:ext cx="305514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027396" y="6408539"/>
            <a:ext cx="3447812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Linguistic Analysis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27396" y="6825972"/>
            <a:ext cx="644080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His work influenced linguistic analysis and computation. It is a foundation for computer science.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9344" y="544473"/>
            <a:ext cx="7758113" cy="2474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Katapayadi System: Ancient Indian Cryptography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4" y="3316010"/>
            <a:ext cx="989886" cy="14572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66171" y="3513892"/>
            <a:ext cx="3666411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Numeral Encoding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7466171" y="3941921"/>
            <a:ext cx="6471285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Katapayadi system encodes numerals using letters. It uses consonants to represent numbers.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344" y="4773216"/>
            <a:ext cx="989886" cy="14572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66171" y="4971098"/>
            <a:ext cx="2474833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Mnemonics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466171" y="5399127"/>
            <a:ext cx="6471285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It helps in creating mnemonic verses. These verses represent numerical data.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4" y="6230422"/>
            <a:ext cx="989886" cy="14572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66171" y="6428303"/>
            <a:ext cx="2746772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Cryptography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7466171" y="6856333"/>
            <a:ext cx="6471285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Katapayadi is an early form of cryptography. It hides numerical information.</a:t>
            </a:r>
            <a:endParaRPr lang="en-US" sz="1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7EFA21-3E53-71FE-AE85-3A79C990DF62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66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Jain Mathematics: Infinity and Combinatorics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11054" y="4260771"/>
            <a:ext cx="37679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Theory of Infinity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751189"/>
            <a:ext cx="3785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Jain mathematics explores infinity. They conceptualized different levels of infinity.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6065" y="4548783"/>
            <a:ext cx="15001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937790" y="3034427"/>
            <a:ext cx="33767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Combinatorics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524845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Jain texts contain early combinatorics. They analyzed permutations and combinations.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97810" y="3597712"/>
            <a:ext cx="2843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937790" y="5486995"/>
            <a:ext cx="35387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Number Theory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977414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They also contributed to number theory. This included classifications of numbers.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76784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14655" y="6323886"/>
            <a:ext cx="29896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5D91BB-F54B-0B74-1310-6AC663329E42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111" y="728901"/>
            <a:ext cx="7678579" cy="3271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Kerala School of Astronomy and Mathematics: Precursors to Calculus?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111" y="4314111"/>
            <a:ext cx="523399" cy="5233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9111" y="5046821"/>
            <a:ext cx="235017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Trigonometric Series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19111" y="5826562"/>
            <a:ext cx="2350175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Kerala school developed trigonometric series. They used it for astronomical calculations.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253" y="4314111"/>
            <a:ext cx="523399" cy="5233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83253" y="5046821"/>
            <a:ext cx="235017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Infinite Series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8883253" y="5826562"/>
            <a:ext cx="2350175" cy="133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They explored infinite series expansions. This included sine and cosine functions.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7396" y="4314111"/>
            <a:ext cx="523399" cy="5233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7396" y="5046821"/>
            <a:ext cx="2350294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Calculus Concepts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11547396" y="5826562"/>
            <a:ext cx="2350294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Some see their work as precursors to calculus. Their concepts influenced later European mathematics.</a:t>
            </a:r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EC7F57-DA29-73BE-E0BD-EEAB0A7D187B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918" y="787360"/>
            <a:ext cx="7720965" cy="254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Indian Influence on Global Mathematics and Computation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197918" y="3862149"/>
            <a:ext cx="457319" cy="457319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45912" y="3938349"/>
            <a:ext cx="161330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476" y="3862149"/>
            <a:ext cx="30983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Numeral Adoption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476" y="4619149"/>
            <a:ext cx="3098363" cy="97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decimal system spread globally. Arabic scholars then transmitted this system.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79" y="3862149"/>
            <a:ext cx="457319" cy="457319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35803" y="3938349"/>
            <a:ext cx="305753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820638" y="3862149"/>
            <a:ext cx="309836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Mathematical Influence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820638" y="4619149"/>
            <a:ext cx="3098363" cy="1301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Indian mathematics influenced European scholars. This fueled Renaissance mathematics and science.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97918" y="6352103"/>
            <a:ext cx="457319" cy="457319"/>
          </a:xfrm>
          <a:prstGeom prst="roundRect">
            <a:avLst>
              <a:gd name="adj" fmla="val 1867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5783" y="6428303"/>
            <a:ext cx="321588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858476" y="6352103"/>
            <a:ext cx="46526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Computational Legacy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58476" y="6791563"/>
            <a:ext cx="7060406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India's contributions shaped modern computation. This includes algorithms and formal language theory.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85A627-8763-203C-5D0F-23BEB12BA076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99567"/>
            <a:ext cx="130428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Critiques and Considerations: Reevaluating Historical Narratives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701659"/>
            <a:ext cx="36756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Eurocentric Bias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282803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Some narratives overlook Indian contributions. They attribute advancements solely to Europe.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4701659"/>
            <a:ext cx="3548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Source Scarcity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5282803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Limited historical sources present challenges. It makes comprehensive analysis difficult.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4701659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Interdisciplinary Research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5637133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New research reevaluates India's role. It combines history, mathematics, and linguistics.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E1B33-D07D-DE98-9A82-4F39F3E328D8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0506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Modern Relevance: Lessons from Ancient Indian Computational Thinking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70471"/>
            <a:ext cx="2173724" cy="807958"/>
          </a:xfrm>
          <a:prstGeom prst="roundRect">
            <a:avLst>
              <a:gd name="adj" fmla="val 1179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947636"/>
            <a:ext cx="15001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3997285"/>
            <a:ext cx="38173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Algorithm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80861" y="4563189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6D9121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4691777"/>
            <a:ext cx="4347567" cy="807958"/>
          </a:xfrm>
          <a:prstGeom prst="roundRect">
            <a:avLst>
              <a:gd name="adj" fmla="val 1179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224" y="4868942"/>
            <a:ext cx="2843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68171" y="4918591"/>
            <a:ext cx="36640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Formal Systems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54704" y="5484495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6D9121"/>
          </a:solidFill>
          <a:ln/>
        </p:spPr>
      </p:sp>
      <p:sp>
        <p:nvSpPr>
          <p:cNvPr id="11" name="Shape 9"/>
          <p:cNvSpPr/>
          <p:nvPr/>
        </p:nvSpPr>
        <p:spPr>
          <a:xfrm>
            <a:off x="793790" y="5613083"/>
            <a:ext cx="6521410" cy="807958"/>
          </a:xfrm>
          <a:prstGeom prst="roundRect">
            <a:avLst>
              <a:gd name="adj" fmla="val 11791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5790247"/>
            <a:ext cx="29896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42014" y="5839897"/>
            <a:ext cx="3964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Abstract Thinking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6761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India's rich heritage inspires innovation. Abstract thinking is a key capability. Formal systems and algorithm designs are critical too.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73B10A-CF49-6491-3D84-DEB5A68C7D76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4267246-9750-836B-AEF0-10738474A002}"/>
              </a:ext>
            </a:extLst>
          </p:cNvPr>
          <p:cNvSpPr/>
          <p:nvPr/>
        </p:nvSpPr>
        <p:spPr>
          <a:xfrm>
            <a:off x="2645210" y="3905251"/>
            <a:ext cx="9339979" cy="142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8800" b="1" dirty="0">
                <a:solidFill>
                  <a:srgbClr val="F0F4F1"/>
                </a:solidFill>
                <a:latin typeface="Syne Extra Bold" pitchFamily="34" charset="0"/>
              </a:rPr>
              <a:t>Thank You! </a:t>
            </a:r>
            <a:endParaRPr lang="en-US" sz="8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BA30EA-57B7-72C6-B750-5091CB0F3C3C}"/>
              </a:ext>
            </a:extLst>
          </p:cNvPr>
          <p:cNvSpPr/>
          <p:nvPr/>
        </p:nvSpPr>
        <p:spPr>
          <a:xfrm>
            <a:off x="12813175" y="7743463"/>
            <a:ext cx="1828800" cy="486137"/>
          </a:xfrm>
          <a:prstGeom prst="rect">
            <a:avLst/>
          </a:prstGeom>
          <a:solidFill>
            <a:srgbClr val="141E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91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517</Words>
  <Application>Microsoft Office PowerPoint</Application>
  <PresentationFormat>Custom</PresentationFormat>
  <Paragraphs>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Syne</vt:lpstr>
      <vt:lpstr>Syne Extra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Yashwanth S</cp:lastModifiedBy>
  <cp:revision>3</cp:revision>
  <dcterms:created xsi:type="dcterms:W3CDTF">2025-02-15T06:09:21Z</dcterms:created>
  <dcterms:modified xsi:type="dcterms:W3CDTF">2025-05-07T15:31:31Z</dcterms:modified>
</cp:coreProperties>
</file>