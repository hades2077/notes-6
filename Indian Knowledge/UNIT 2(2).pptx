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74" r:id="rId9"/>
    <p:sldId id="275" r:id="rId10"/>
    <p:sldId id="263" r:id="rId11"/>
    <p:sldId id="264" r:id="rId12"/>
    <p:sldId id="265" r:id="rId13"/>
    <p:sldId id="266" r:id="rId14"/>
    <p:sldId id="267" r:id="rId15"/>
    <p:sldId id="271" r:id="rId16"/>
    <p:sldId id="272" r:id="rId17"/>
    <p:sldId id="273" r:id="rId18"/>
    <p:sldId id="268" r:id="rId19"/>
    <p:sldId id="269" r:id="rId20"/>
    <p:sldId id="270" r:id="rId21"/>
  </p:sldIdLst>
  <p:sldSz cx="10693400" cy="6019800"/>
  <p:notesSz cx="10693400" cy="60198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90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597400" y="1776395"/>
            <a:ext cx="1446529" cy="358139"/>
          </a:xfrm>
          <a:prstGeom prst="rect">
            <a:avLst/>
          </a:prstGeom>
        </p:spPr>
        <p:txBody>
          <a:bodyPr wrap="square" lIns="0" tIns="0" rIns="0" bIns="0">
            <a:spAutoFit/>
          </a:bodyPr>
          <a:lstStyle>
            <a:lvl1pPr>
              <a:defRPr sz="3850" b="0" i="0">
                <a:solidFill>
                  <a:schemeClr val="tx1"/>
                </a:solidFill>
                <a:latin typeface="Microsoft Sans Serif"/>
                <a:cs typeface="Microsoft Sans Serif"/>
              </a:defRPr>
            </a:lvl1pPr>
          </a:lstStyle>
          <a:p>
            <a:endParaRPr/>
          </a:p>
        </p:txBody>
      </p:sp>
      <p:sp>
        <p:nvSpPr>
          <p:cNvPr id="3" name="Holder 3"/>
          <p:cNvSpPr>
            <a:spLocks noGrp="1"/>
          </p:cNvSpPr>
          <p:nvPr>
            <p:ph type="subTitle" idx="4"/>
          </p:nvPr>
        </p:nvSpPr>
        <p:spPr>
          <a:xfrm>
            <a:off x="1604010" y="3371088"/>
            <a:ext cx="7485380" cy="1504950"/>
          </a:xfrm>
          <a:prstGeom prst="rect">
            <a:avLst/>
          </a:prstGeom>
        </p:spPr>
        <p:txBody>
          <a:bodyPr wrap="square" lIns="0" tIns="0" rIns="0" bIns="0">
            <a:spAutoFit/>
          </a:bodyPr>
          <a:lstStyle>
            <a:lvl1pPr>
              <a:defRPr sz="3850"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50" b="0" i="0">
                <a:solidFill>
                  <a:schemeClr val="tx1"/>
                </a:solidFill>
                <a:latin typeface="Microsoft Sans Serif"/>
                <a:cs typeface="Microsoft Sans Serif"/>
              </a:defRPr>
            </a:lvl1pPr>
          </a:lstStyle>
          <a:p>
            <a:endParaRPr/>
          </a:p>
        </p:txBody>
      </p:sp>
      <p:sp>
        <p:nvSpPr>
          <p:cNvPr id="3" name="Holder 3"/>
          <p:cNvSpPr>
            <a:spLocks noGrp="1"/>
          </p:cNvSpPr>
          <p:nvPr>
            <p:ph type="body" idx="1"/>
          </p:nvPr>
        </p:nvSpPr>
        <p:spPr/>
        <p:txBody>
          <a:bodyPr lIns="0" tIns="0" rIns="0" bIns="0"/>
          <a:lstStyle>
            <a:lvl1pPr>
              <a:defRPr sz="3850"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50" b="0" i="0">
                <a:solidFill>
                  <a:schemeClr val="tx1"/>
                </a:solidFill>
                <a:latin typeface="Microsoft Sans Serif"/>
                <a:cs typeface="Microsoft Sans Serif"/>
              </a:defRPr>
            </a:lvl1pPr>
          </a:lstStyle>
          <a:p>
            <a:endParaRPr/>
          </a:p>
        </p:txBody>
      </p:sp>
      <p:sp>
        <p:nvSpPr>
          <p:cNvPr id="3" name="Holder 3"/>
          <p:cNvSpPr>
            <a:spLocks noGrp="1"/>
          </p:cNvSpPr>
          <p:nvPr>
            <p:ph sz="half" idx="2"/>
          </p:nvPr>
        </p:nvSpPr>
        <p:spPr>
          <a:xfrm>
            <a:off x="534670" y="1384554"/>
            <a:ext cx="4651629" cy="397306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384554"/>
            <a:ext cx="4651629" cy="397306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50" b="0" i="0">
                <a:solidFill>
                  <a:schemeClr val="tx1"/>
                </a:solidFill>
                <a:latin typeface="Microsoft Sans Serif"/>
                <a:cs typeface="Microsoft Sans Serif"/>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02671" y="297757"/>
            <a:ext cx="8686800" cy="1137285"/>
          </a:xfrm>
          <a:prstGeom prst="rect">
            <a:avLst/>
          </a:prstGeom>
        </p:spPr>
        <p:txBody>
          <a:bodyPr wrap="square" lIns="0" tIns="0" rIns="0" bIns="0">
            <a:spAutoFit/>
          </a:bodyPr>
          <a:lstStyle>
            <a:lvl1pPr>
              <a:defRPr sz="3850" b="0" i="0">
                <a:solidFill>
                  <a:schemeClr val="tx1"/>
                </a:solidFill>
                <a:latin typeface="Microsoft Sans Serif"/>
                <a:cs typeface="Microsoft Sans Serif"/>
              </a:defRPr>
            </a:lvl1pPr>
          </a:lstStyle>
          <a:p>
            <a:endParaRPr/>
          </a:p>
        </p:txBody>
      </p:sp>
      <p:sp>
        <p:nvSpPr>
          <p:cNvPr id="3" name="Holder 3"/>
          <p:cNvSpPr>
            <a:spLocks noGrp="1"/>
          </p:cNvSpPr>
          <p:nvPr>
            <p:ph type="body" idx="1"/>
          </p:nvPr>
        </p:nvSpPr>
        <p:spPr>
          <a:xfrm>
            <a:off x="2521412" y="1218252"/>
            <a:ext cx="5650574" cy="1830070"/>
          </a:xfrm>
          <a:prstGeom prst="rect">
            <a:avLst/>
          </a:prstGeom>
        </p:spPr>
        <p:txBody>
          <a:bodyPr wrap="square" lIns="0" tIns="0" rIns="0" bIns="0">
            <a:spAutoFit/>
          </a:bodyPr>
          <a:lstStyle>
            <a:lvl1pPr>
              <a:defRPr sz="3850"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a:xfrm>
            <a:off x="3635756" y="5598414"/>
            <a:ext cx="3421888" cy="30099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5598414"/>
            <a:ext cx="2459482" cy="30099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3/20/2025</a:t>
            </a:fld>
            <a:endParaRPr lang="en-US"/>
          </a:p>
        </p:txBody>
      </p:sp>
      <p:sp>
        <p:nvSpPr>
          <p:cNvPr id="6" name="Holder 6"/>
          <p:cNvSpPr>
            <a:spLocks noGrp="1"/>
          </p:cNvSpPr>
          <p:nvPr>
            <p:ph type="sldNum" sz="quarter" idx="7"/>
          </p:nvPr>
        </p:nvSpPr>
        <p:spPr>
          <a:xfrm>
            <a:off x="7699248" y="5598414"/>
            <a:ext cx="2459482" cy="30099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51134" y="2164557"/>
            <a:ext cx="6631683" cy="3574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820" rIns="0" bIns="0" rtlCol="0">
            <a:spAutoFit/>
          </a:bodyPr>
          <a:lstStyle/>
          <a:p>
            <a:pPr marL="12700" marR="5080">
              <a:lnSpc>
                <a:spcPts val="4120"/>
              </a:lnSpc>
              <a:spcBef>
                <a:spcPts val="660"/>
              </a:spcBef>
            </a:pPr>
            <a:r>
              <a:rPr dirty="0"/>
              <a:t>Number</a:t>
            </a:r>
            <a:r>
              <a:rPr spc="-114" dirty="0"/>
              <a:t> </a:t>
            </a:r>
            <a:r>
              <a:rPr dirty="0"/>
              <a:t>System</a:t>
            </a:r>
            <a:r>
              <a:rPr spc="-85" dirty="0"/>
              <a:t> </a:t>
            </a:r>
            <a:r>
              <a:rPr dirty="0"/>
              <a:t>in</a:t>
            </a:r>
            <a:r>
              <a:rPr spc="-145" dirty="0"/>
              <a:t> </a:t>
            </a:r>
            <a:r>
              <a:rPr spc="-10" dirty="0"/>
              <a:t>India-</a:t>
            </a:r>
            <a:r>
              <a:rPr spc="-130" dirty="0"/>
              <a:t> </a:t>
            </a:r>
            <a:r>
              <a:rPr spc="-10" dirty="0"/>
              <a:t>Historical Evidence</a:t>
            </a:r>
          </a:p>
        </p:txBody>
      </p:sp>
      <p:sp>
        <p:nvSpPr>
          <p:cNvPr id="3" name="object 3"/>
          <p:cNvSpPr txBox="1"/>
          <p:nvPr/>
        </p:nvSpPr>
        <p:spPr>
          <a:xfrm>
            <a:off x="802671" y="1585560"/>
            <a:ext cx="9022715" cy="2627630"/>
          </a:xfrm>
          <a:prstGeom prst="rect">
            <a:avLst/>
          </a:prstGeom>
        </p:spPr>
        <p:txBody>
          <a:bodyPr vert="horz" wrap="square" lIns="0" tIns="57150" rIns="0" bIns="0" rtlCol="0">
            <a:spAutoFit/>
          </a:bodyPr>
          <a:lstStyle/>
          <a:p>
            <a:pPr marL="211454" marR="832485" indent="-199390">
              <a:lnSpc>
                <a:spcPts val="2630"/>
              </a:lnSpc>
              <a:spcBef>
                <a:spcPts val="450"/>
              </a:spcBef>
              <a:buChar char="•"/>
              <a:tabLst>
                <a:tab pos="212725" algn="l"/>
              </a:tabLst>
            </a:pPr>
            <a:r>
              <a:rPr sz="2450" spc="-10" dirty="0">
                <a:latin typeface="Microsoft Sans Serif"/>
                <a:cs typeface="Microsoft Sans Serif"/>
              </a:rPr>
              <a:t>The</a:t>
            </a:r>
            <a:r>
              <a:rPr sz="2450" spc="20" dirty="0">
                <a:latin typeface="Microsoft Sans Serif"/>
                <a:cs typeface="Microsoft Sans Serif"/>
              </a:rPr>
              <a:t> </a:t>
            </a:r>
            <a:r>
              <a:rPr sz="2450" dirty="0">
                <a:latin typeface="Microsoft Sans Serif"/>
                <a:cs typeface="Microsoft Sans Serif"/>
              </a:rPr>
              <a:t>contribution</a:t>
            </a:r>
            <a:r>
              <a:rPr sz="2450" spc="-40" dirty="0">
                <a:latin typeface="Microsoft Sans Serif"/>
                <a:cs typeface="Microsoft Sans Serif"/>
              </a:rPr>
              <a:t> </a:t>
            </a:r>
            <a:r>
              <a:rPr sz="2450" spc="100" dirty="0">
                <a:latin typeface="Microsoft Sans Serif"/>
                <a:cs typeface="Microsoft Sans Serif"/>
              </a:rPr>
              <a:t>of</a:t>
            </a:r>
            <a:r>
              <a:rPr sz="2450" spc="30" dirty="0">
                <a:latin typeface="Microsoft Sans Serif"/>
                <a:cs typeface="Microsoft Sans Serif"/>
              </a:rPr>
              <a:t> </a:t>
            </a:r>
            <a:r>
              <a:rPr sz="2450" dirty="0">
                <a:latin typeface="Microsoft Sans Serif"/>
                <a:cs typeface="Microsoft Sans Serif"/>
              </a:rPr>
              <a:t>ancient</a:t>
            </a:r>
            <a:r>
              <a:rPr sz="2450" spc="-10" dirty="0">
                <a:latin typeface="Microsoft Sans Serif"/>
                <a:cs typeface="Microsoft Sans Serif"/>
              </a:rPr>
              <a:t> </a:t>
            </a:r>
            <a:r>
              <a:rPr sz="2450" dirty="0">
                <a:latin typeface="Microsoft Sans Serif"/>
                <a:cs typeface="Microsoft Sans Serif"/>
              </a:rPr>
              <a:t>Indians</a:t>
            </a:r>
            <a:r>
              <a:rPr sz="2450" spc="-40" dirty="0">
                <a:latin typeface="Microsoft Sans Serif"/>
                <a:cs typeface="Microsoft Sans Serif"/>
              </a:rPr>
              <a:t> </a:t>
            </a:r>
            <a:r>
              <a:rPr sz="2450" spc="55" dirty="0">
                <a:latin typeface="Microsoft Sans Serif"/>
                <a:cs typeface="Microsoft Sans Serif"/>
              </a:rPr>
              <a:t>to</a:t>
            </a:r>
            <a:r>
              <a:rPr sz="2450" spc="10" dirty="0">
                <a:latin typeface="Microsoft Sans Serif"/>
                <a:cs typeface="Microsoft Sans Serif"/>
              </a:rPr>
              <a:t> </a:t>
            </a:r>
            <a:r>
              <a:rPr sz="2450" dirty="0">
                <a:latin typeface="Microsoft Sans Serif"/>
                <a:cs typeface="Microsoft Sans Serif"/>
              </a:rPr>
              <a:t>the</a:t>
            </a:r>
            <a:r>
              <a:rPr sz="2450" spc="25" dirty="0">
                <a:latin typeface="Microsoft Sans Serif"/>
                <a:cs typeface="Microsoft Sans Serif"/>
              </a:rPr>
              <a:t> </a:t>
            </a:r>
            <a:r>
              <a:rPr sz="2450" dirty="0">
                <a:latin typeface="Microsoft Sans Serif"/>
                <a:cs typeface="Microsoft Sans Serif"/>
              </a:rPr>
              <a:t>development</a:t>
            </a:r>
            <a:r>
              <a:rPr sz="2450" spc="-15" dirty="0">
                <a:latin typeface="Microsoft Sans Serif"/>
                <a:cs typeface="Microsoft Sans Serif"/>
              </a:rPr>
              <a:t> </a:t>
            </a:r>
            <a:r>
              <a:rPr sz="2450" spc="75" dirty="0">
                <a:latin typeface="Microsoft Sans Serif"/>
                <a:cs typeface="Microsoft Sans Serif"/>
              </a:rPr>
              <a:t>of 	</a:t>
            </a:r>
            <a:r>
              <a:rPr sz="2450" dirty="0">
                <a:latin typeface="Microsoft Sans Serif"/>
                <a:cs typeface="Microsoft Sans Serif"/>
              </a:rPr>
              <a:t>mathematical</a:t>
            </a:r>
            <a:r>
              <a:rPr sz="2450" spc="105" dirty="0">
                <a:latin typeface="Microsoft Sans Serif"/>
                <a:cs typeface="Microsoft Sans Serif"/>
              </a:rPr>
              <a:t> </a:t>
            </a:r>
            <a:r>
              <a:rPr sz="2450" dirty="0">
                <a:latin typeface="Microsoft Sans Serif"/>
                <a:cs typeface="Microsoft Sans Serif"/>
              </a:rPr>
              <a:t>concepts</a:t>
            </a:r>
            <a:r>
              <a:rPr sz="2450" spc="30" dirty="0">
                <a:latin typeface="Microsoft Sans Serif"/>
                <a:cs typeface="Microsoft Sans Serif"/>
              </a:rPr>
              <a:t> </a:t>
            </a:r>
            <a:r>
              <a:rPr sz="2450" dirty="0">
                <a:latin typeface="Microsoft Sans Serif"/>
                <a:cs typeface="Microsoft Sans Serif"/>
              </a:rPr>
              <a:t>is</a:t>
            </a:r>
            <a:r>
              <a:rPr sz="2450" spc="30" dirty="0">
                <a:latin typeface="Microsoft Sans Serif"/>
                <a:cs typeface="Microsoft Sans Serif"/>
              </a:rPr>
              <a:t> </a:t>
            </a:r>
            <a:r>
              <a:rPr sz="2450" dirty="0">
                <a:latin typeface="Microsoft Sans Serif"/>
                <a:cs typeface="Microsoft Sans Serif"/>
              </a:rPr>
              <a:t>well</a:t>
            </a:r>
            <a:r>
              <a:rPr sz="2450" spc="105" dirty="0">
                <a:latin typeface="Microsoft Sans Serif"/>
                <a:cs typeface="Microsoft Sans Serif"/>
              </a:rPr>
              <a:t> </a:t>
            </a:r>
            <a:r>
              <a:rPr sz="2450" dirty="0">
                <a:latin typeface="Microsoft Sans Serif"/>
                <a:cs typeface="Microsoft Sans Serif"/>
              </a:rPr>
              <a:t>known</a:t>
            </a:r>
            <a:r>
              <a:rPr sz="2450" spc="30" dirty="0">
                <a:latin typeface="Microsoft Sans Serif"/>
                <a:cs typeface="Microsoft Sans Serif"/>
              </a:rPr>
              <a:t> </a:t>
            </a:r>
            <a:r>
              <a:rPr sz="2450" dirty="0">
                <a:latin typeface="Microsoft Sans Serif"/>
                <a:cs typeface="Microsoft Sans Serif"/>
              </a:rPr>
              <a:t>and</a:t>
            </a:r>
            <a:r>
              <a:rPr sz="2450" spc="100" dirty="0">
                <a:latin typeface="Microsoft Sans Serif"/>
                <a:cs typeface="Microsoft Sans Serif"/>
              </a:rPr>
              <a:t> </a:t>
            </a:r>
            <a:r>
              <a:rPr sz="2450" spc="-10" dirty="0">
                <a:latin typeface="Microsoft Sans Serif"/>
                <a:cs typeface="Microsoft Sans Serif"/>
              </a:rPr>
              <a:t>acknowledged.</a:t>
            </a:r>
            <a:endParaRPr sz="2450">
              <a:latin typeface="Microsoft Sans Serif"/>
              <a:cs typeface="Microsoft Sans Serif"/>
            </a:endParaRPr>
          </a:p>
          <a:p>
            <a:pPr marL="211454" marR="378460" indent="-199390">
              <a:lnSpc>
                <a:spcPts val="2630"/>
              </a:lnSpc>
              <a:spcBef>
                <a:spcPts val="880"/>
              </a:spcBef>
              <a:buChar char="•"/>
              <a:tabLst>
                <a:tab pos="212725" algn="l"/>
              </a:tabLst>
            </a:pPr>
            <a:r>
              <a:rPr sz="2450" spc="-45" dirty="0">
                <a:latin typeface="Microsoft Sans Serif"/>
                <a:cs typeface="Microsoft Sans Serif"/>
              </a:rPr>
              <a:t>Several </a:t>
            </a:r>
            <a:r>
              <a:rPr sz="2450" dirty="0">
                <a:latin typeface="Microsoft Sans Serif"/>
                <a:cs typeface="Microsoft Sans Serif"/>
              </a:rPr>
              <a:t>archaeological</a:t>
            </a:r>
            <a:r>
              <a:rPr sz="2450" spc="-40" dirty="0">
                <a:latin typeface="Microsoft Sans Serif"/>
                <a:cs typeface="Microsoft Sans Serif"/>
              </a:rPr>
              <a:t> </a:t>
            </a:r>
            <a:r>
              <a:rPr sz="2450" dirty="0">
                <a:latin typeface="Microsoft Sans Serif"/>
                <a:cs typeface="Microsoft Sans Serif"/>
              </a:rPr>
              <a:t>excavations</a:t>
            </a:r>
            <a:r>
              <a:rPr sz="2450" spc="-100" dirty="0">
                <a:latin typeface="Microsoft Sans Serif"/>
                <a:cs typeface="Microsoft Sans Serif"/>
              </a:rPr>
              <a:t> </a:t>
            </a:r>
            <a:r>
              <a:rPr sz="2450" dirty="0">
                <a:latin typeface="Microsoft Sans Serif"/>
                <a:cs typeface="Microsoft Sans Serif"/>
              </a:rPr>
              <a:t>provide</a:t>
            </a:r>
            <a:r>
              <a:rPr sz="2450" spc="-50" dirty="0">
                <a:latin typeface="Microsoft Sans Serif"/>
                <a:cs typeface="Microsoft Sans Serif"/>
              </a:rPr>
              <a:t> </a:t>
            </a:r>
            <a:r>
              <a:rPr sz="2450" dirty="0">
                <a:latin typeface="Microsoft Sans Serif"/>
                <a:cs typeface="Microsoft Sans Serif"/>
              </a:rPr>
              <a:t>evidence</a:t>
            </a:r>
            <a:r>
              <a:rPr sz="2450" spc="-45" dirty="0">
                <a:latin typeface="Microsoft Sans Serif"/>
                <a:cs typeface="Microsoft Sans Serif"/>
              </a:rPr>
              <a:t> </a:t>
            </a:r>
            <a:r>
              <a:rPr sz="2450" spc="-10" dirty="0">
                <a:latin typeface="Microsoft Sans Serif"/>
                <a:cs typeface="Microsoft Sans Serif"/>
              </a:rPr>
              <a:t>about 	</a:t>
            </a:r>
            <a:r>
              <a:rPr sz="2450" dirty="0">
                <a:latin typeface="Microsoft Sans Serif"/>
                <a:cs typeface="Microsoft Sans Serif"/>
              </a:rPr>
              <a:t>maturity</a:t>
            </a:r>
            <a:r>
              <a:rPr sz="2450" spc="10" dirty="0">
                <a:latin typeface="Microsoft Sans Serif"/>
                <a:cs typeface="Microsoft Sans Serif"/>
              </a:rPr>
              <a:t> </a:t>
            </a:r>
            <a:r>
              <a:rPr sz="2450" dirty="0">
                <a:latin typeface="Microsoft Sans Serif"/>
                <a:cs typeface="Microsoft Sans Serif"/>
              </a:rPr>
              <a:t>and</a:t>
            </a:r>
            <a:r>
              <a:rPr sz="2450" spc="55" dirty="0">
                <a:latin typeface="Microsoft Sans Serif"/>
                <a:cs typeface="Microsoft Sans Serif"/>
              </a:rPr>
              <a:t> </a:t>
            </a:r>
            <a:r>
              <a:rPr sz="2450" dirty="0">
                <a:latin typeface="Microsoft Sans Serif"/>
                <a:cs typeface="Microsoft Sans Serif"/>
              </a:rPr>
              <a:t>supremacy</a:t>
            </a:r>
            <a:r>
              <a:rPr sz="2450" spc="5" dirty="0">
                <a:latin typeface="Microsoft Sans Serif"/>
                <a:cs typeface="Microsoft Sans Serif"/>
              </a:rPr>
              <a:t> </a:t>
            </a:r>
            <a:r>
              <a:rPr sz="2450" spc="100" dirty="0">
                <a:latin typeface="Microsoft Sans Serif"/>
                <a:cs typeface="Microsoft Sans Serif"/>
              </a:rPr>
              <a:t>of</a:t>
            </a:r>
            <a:r>
              <a:rPr sz="2450" spc="60" dirty="0">
                <a:latin typeface="Microsoft Sans Serif"/>
                <a:cs typeface="Microsoft Sans Serif"/>
              </a:rPr>
              <a:t> </a:t>
            </a:r>
            <a:r>
              <a:rPr sz="2450" dirty="0">
                <a:latin typeface="Microsoft Sans Serif"/>
                <a:cs typeface="Microsoft Sans Serif"/>
              </a:rPr>
              <a:t>Indian</a:t>
            </a:r>
            <a:r>
              <a:rPr sz="2450" spc="-15" dirty="0">
                <a:latin typeface="Microsoft Sans Serif"/>
                <a:cs typeface="Microsoft Sans Serif"/>
              </a:rPr>
              <a:t> </a:t>
            </a:r>
            <a:r>
              <a:rPr sz="2450" dirty="0">
                <a:latin typeface="Microsoft Sans Serif"/>
                <a:cs typeface="Microsoft Sans Serif"/>
              </a:rPr>
              <a:t>mathematical</a:t>
            </a:r>
            <a:r>
              <a:rPr sz="2450" spc="55" dirty="0">
                <a:latin typeface="Microsoft Sans Serif"/>
                <a:cs typeface="Microsoft Sans Serif"/>
              </a:rPr>
              <a:t> </a:t>
            </a:r>
            <a:r>
              <a:rPr sz="2450" spc="-10" dirty="0">
                <a:latin typeface="Microsoft Sans Serif"/>
                <a:cs typeface="Microsoft Sans Serif"/>
              </a:rPr>
              <a:t>foundations.</a:t>
            </a:r>
            <a:endParaRPr sz="2450">
              <a:latin typeface="Microsoft Sans Serif"/>
              <a:cs typeface="Microsoft Sans Serif"/>
            </a:endParaRPr>
          </a:p>
          <a:p>
            <a:pPr marL="211454" marR="5080" indent="-199390">
              <a:lnSpc>
                <a:spcPts val="2630"/>
              </a:lnSpc>
              <a:spcBef>
                <a:spcPts val="880"/>
              </a:spcBef>
              <a:buChar char="•"/>
              <a:tabLst>
                <a:tab pos="212725" algn="l"/>
              </a:tabLst>
            </a:pPr>
            <a:r>
              <a:rPr sz="2450" spc="-10" dirty="0">
                <a:latin typeface="Microsoft Sans Serif"/>
                <a:cs typeface="Microsoft Sans Serif"/>
              </a:rPr>
              <a:t>An</a:t>
            </a:r>
            <a:r>
              <a:rPr sz="2450" spc="-25" dirty="0">
                <a:latin typeface="Microsoft Sans Serif"/>
                <a:cs typeface="Microsoft Sans Serif"/>
              </a:rPr>
              <a:t> </a:t>
            </a:r>
            <a:r>
              <a:rPr sz="2450" dirty="0">
                <a:latin typeface="Microsoft Sans Serif"/>
                <a:cs typeface="Microsoft Sans Serif"/>
              </a:rPr>
              <a:t>inscription</a:t>
            </a:r>
            <a:r>
              <a:rPr sz="2450" spc="-20" dirty="0">
                <a:latin typeface="Microsoft Sans Serif"/>
                <a:cs typeface="Microsoft Sans Serif"/>
              </a:rPr>
              <a:t> </a:t>
            </a:r>
            <a:r>
              <a:rPr sz="2450" dirty="0">
                <a:latin typeface="Microsoft Sans Serif"/>
                <a:cs typeface="Microsoft Sans Serif"/>
              </a:rPr>
              <a:t>on</a:t>
            </a:r>
            <a:r>
              <a:rPr sz="2450" spc="-20" dirty="0">
                <a:latin typeface="Microsoft Sans Serif"/>
                <a:cs typeface="Microsoft Sans Serif"/>
              </a:rPr>
              <a:t> </a:t>
            </a:r>
            <a:r>
              <a:rPr sz="2450" dirty="0">
                <a:latin typeface="Microsoft Sans Serif"/>
                <a:cs typeface="Microsoft Sans Serif"/>
              </a:rPr>
              <a:t>a temple</a:t>
            </a:r>
            <a:r>
              <a:rPr sz="2450" spc="40" dirty="0">
                <a:latin typeface="Microsoft Sans Serif"/>
                <a:cs typeface="Microsoft Sans Serif"/>
              </a:rPr>
              <a:t> </a:t>
            </a:r>
            <a:r>
              <a:rPr sz="2450" dirty="0">
                <a:latin typeface="Microsoft Sans Serif"/>
                <a:cs typeface="Microsoft Sans Serif"/>
              </a:rPr>
              <a:t>wall</a:t>
            </a:r>
            <a:r>
              <a:rPr sz="2450" spc="45" dirty="0">
                <a:latin typeface="Microsoft Sans Serif"/>
                <a:cs typeface="Microsoft Sans Serif"/>
              </a:rPr>
              <a:t> </a:t>
            </a:r>
            <a:r>
              <a:rPr sz="2450" dirty="0">
                <a:latin typeface="Microsoft Sans Serif"/>
                <a:cs typeface="Microsoft Sans Serif"/>
              </a:rPr>
              <a:t>in</a:t>
            </a:r>
            <a:r>
              <a:rPr sz="2450" spc="-20" dirty="0">
                <a:latin typeface="Microsoft Sans Serif"/>
                <a:cs typeface="Microsoft Sans Serif"/>
              </a:rPr>
              <a:t> </a:t>
            </a:r>
            <a:r>
              <a:rPr sz="2450" spc="-10" dirty="0">
                <a:latin typeface="Microsoft Sans Serif"/>
                <a:cs typeface="Microsoft Sans Serif"/>
              </a:rPr>
              <a:t>Gwalior</a:t>
            </a:r>
            <a:r>
              <a:rPr sz="2450" spc="-25" dirty="0">
                <a:latin typeface="Microsoft Sans Serif"/>
                <a:cs typeface="Microsoft Sans Serif"/>
              </a:rPr>
              <a:t> </a:t>
            </a:r>
            <a:r>
              <a:rPr sz="2450" dirty="0">
                <a:latin typeface="Microsoft Sans Serif"/>
                <a:cs typeface="Microsoft Sans Serif"/>
              </a:rPr>
              <a:t>dating</a:t>
            </a:r>
            <a:r>
              <a:rPr sz="2450" spc="55" dirty="0">
                <a:latin typeface="Microsoft Sans Serif"/>
                <a:cs typeface="Microsoft Sans Serif"/>
              </a:rPr>
              <a:t> </a:t>
            </a:r>
            <a:r>
              <a:rPr sz="2450" dirty="0">
                <a:latin typeface="Microsoft Sans Serif"/>
                <a:cs typeface="Microsoft Sans Serif"/>
              </a:rPr>
              <a:t>back</a:t>
            </a:r>
            <a:r>
              <a:rPr sz="2450" spc="5" dirty="0">
                <a:latin typeface="Microsoft Sans Serif"/>
                <a:cs typeface="Microsoft Sans Serif"/>
              </a:rPr>
              <a:t> </a:t>
            </a:r>
            <a:r>
              <a:rPr sz="2450" spc="55" dirty="0">
                <a:latin typeface="Microsoft Sans Serif"/>
                <a:cs typeface="Microsoft Sans Serif"/>
              </a:rPr>
              <a:t>to</a:t>
            </a:r>
            <a:r>
              <a:rPr sz="2450" spc="25" dirty="0">
                <a:latin typeface="Microsoft Sans Serif"/>
                <a:cs typeface="Microsoft Sans Serif"/>
              </a:rPr>
              <a:t> </a:t>
            </a:r>
            <a:r>
              <a:rPr sz="2450" spc="-25" dirty="0">
                <a:latin typeface="Microsoft Sans Serif"/>
                <a:cs typeface="Microsoft Sans Serif"/>
              </a:rPr>
              <a:t>the 	</a:t>
            </a:r>
            <a:r>
              <a:rPr sz="2450" dirty="0">
                <a:latin typeface="Microsoft Sans Serif"/>
                <a:cs typeface="Microsoft Sans Serif"/>
              </a:rPr>
              <a:t>ninth</a:t>
            </a:r>
            <a:r>
              <a:rPr sz="2450" spc="-60" dirty="0">
                <a:latin typeface="Microsoft Sans Serif"/>
                <a:cs typeface="Microsoft Sans Serif"/>
              </a:rPr>
              <a:t> </a:t>
            </a:r>
            <a:r>
              <a:rPr sz="2450" dirty="0">
                <a:latin typeface="Microsoft Sans Serif"/>
                <a:cs typeface="Microsoft Sans Serif"/>
              </a:rPr>
              <a:t>century</a:t>
            </a:r>
            <a:r>
              <a:rPr sz="2450" spc="-45" dirty="0">
                <a:latin typeface="Microsoft Sans Serif"/>
                <a:cs typeface="Microsoft Sans Serif"/>
              </a:rPr>
              <a:t> </a:t>
            </a:r>
            <a:r>
              <a:rPr sz="2450" spc="-229" dirty="0">
                <a:latin typeface="Microsoft Sans Serif"/>
                <a:cs typeface="Microsoft Sans Serif"/>
              </a:rPr>
              <a:t>CE</a:t>
            </a:r>
            <a:r>
              <a:rPr sz="2450" spc="-15" dirty="0">
                <a:latin typeface="Microsoft Sans Serif"/>
                <a:cs typeface="Microsoft Sans Serif"/>
              </a:rPr>
              <a:t> </a:t>
            </a:r>
            <a:r>
              <a:rPr sz="2450" dirty="0">
                <a:latin typeface="Microsoft Sans Serif"/>
                <a:cs typeface="Microsoft Sans Serif"/>
              </a:rPr>
              <a:t>is</a:t>
            </a:r>
            <a:r>
              <a:rPr sz="2450" spc="-65" dirty="0">
                <a:latin typeface="Microsoft Sans Serif"/>
                <a:cs typeface="Microsoft Sans Serif"/>
              </a:rPr>
              <a:t> </a:t>
            </a:r>
            <a:r>
              <a:rPr sz="2450" dirty="0">
                <a:latin typeface="Microsoft Sans Serif"/>
                <a:cs typeface="Microsoft Sans Serif"/>
              </a:rPr>
              <a:t>considered</a:t>
            </a:r>
            <a:r>
              <a:rPr sz="2450" spc="-5" dirty="0">
                <a:latin typeface="Microsoft Sans Serif"/>
                <a:cs typeface="Microsoft Sans Serif"/>
              </a:rPr>
              <a:t> </a:t>
            </a:r>
            <a:r>
              <a:rPr sz="2450" dirty="0">
                <a:latin typeface="Microsoft Sans Serif"/>
                <a:cs typeface="Microsoft Sans Serif"/>
              </a:rPr>
              <a:t>the</a:t>
            </a:r>
            <a:r>
              <a:rPr sz="2450" spc="-5" dirty="0">
                <a:latin typeface="Microsoft Sans Serif"/>
                <a:cs typeface="Microsoft Sans Serif"/>
              </a:rPr>
              <a:t> </a:t>
            </a:r>
            <a:r>
              <a:rPr sz="2450" dirty="0">
                <a:latin typeface="Microsoft Sans Serif"/>
                <a:cs typeface="Microsoft Sans Serif"/>
              </a:rPr>
              <a:t>oldest</a:t>
            </a:r>
            <a:r>
              <a:rPr sz="2450" spc="-40" dirty="0">
                <a:latin typeface="Microsoft Sans Serif"/>
                <a:cs typeface="Microsoft Sans Serif"/>
              </a:rPr>
              <a:t> </a:t>
            </a:r>
            <a:r>
              <a:rPr sz="2450" dirty="0">
                <a:latin typeface="Microsoft Sans Serif"/>
                <a:cs typeface="Microsoft Sans Serif"/>
              </a:rPr>
              <a:t>recorded</a:t>
            </a:r>
            <a:r>
              <a:rPr sz="2450" spc="-5" dirty="0">
                <a:latin typeface="Microsoft Sans Serif"/>
                <a:cs typeface="Microsoft Sans Serif"/>
              </a:rPr>
              <a:t> </a:t>
            </a:r>
            <a:r>
              <a:rPr sz="2450" dirty="0">
                <a:latin typeface="Microsoft Sans Serif"/>
                <a:cs typeface="Microsoft Sans Serif"/>
              </a:rPr>
              <a:t>example</a:t>
            </a:r>
            <a:r>
              <a:rPr sz="2450" spc="-5" dirty="0">
                <a:latin typeface="Microsoft Sans Serif"/>
                <a:cs typeface="Microsoft Sans Serif"/>
              </a:rPr>
              <a:t> </a:t>
            </a:r>
            <a:r>
              <a:rPr sz="2450" spc="100" dirty="0">
                <a:latin typeface="Microsoft Sans Serif"/>
                <a:cs typeface="Microsoft Sans Serif"/>
              </a:rPr>
              <a:t>of</a:t>
            </a:r>
            <a:r>
              <a:rPr sz="2450" dirty="0">
                <a:latin typeface="Microsoft Sans Serif"/>
                <a:cs typeface="Microsoft Sans Serif"/>
              </a:rPr>
              <a:t> </a:t>
            </a:r>
            <a:r>
              <a:rPr sz="2450" spc="-50" dirty="0">
                <a:latin typeface="Microsoft Sans Serif"/>
                <a:cs typeface="Microsoft Sans Serif"/>
              </a:rPr>
              <a:t>a 	</a:t>
            </a:r>
            <a:r>
              <a:rPr sz="2450" spc="-10" dirty="0">
                <a:latin typeface="Microsoft Sans Serif"/>
                <a:cs typeface="Microsoft Sans Serif"/>
              </a:rPr>
              <a:t>zero.</a:t>
            </a:r>
            <a:endParaRPr sz="2450">
              <a:latin typeface="Microsoft Sans Serif"/>
              <a:cs typeface="Microsoft Sans Serif"/>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820" rIns="0" bIns="0" rtlCol="0">
            <a:spAutoFit/>
          </a:bodyPr>
          <a:lstStyle/>
          <a:p>
            <a:pPr marL="12700" marR="5080">
              <a:lnSpc>
                <a:spcPts val="4120"/>
              </a:lnSpc>
              <a:spcBef>
                <a:spcPts val="660"/>
              </a:spcBef>
            </a:pPr>
            <a:r>
              <a:rPr dirty="0"/>
              <a:t>Number</a:t>
            </a:r>
            <a:r>
              <a:rPr spc="-114" dirty="0"/>
              <a:t> </a:t>
            </a:r>
            <a:r>
              <a:rPr dirty="0"/>
              <a:t>System</a:t>
            </a:r>
            <a:r>
              <a:rPr spc="-85" dirty="0"/>
              <a:t> </a:t>
            </a:r>
            <a:r>
              <a:rPr dirty="0"/>
              <a:t>in</a:t>
            </a:r>
            <a:r>
              <a:rPr spc="-145" dirty="0"/>
              <a:t> </a:t>
            </a:r>
            <a:r>
              <a:rPr spc="-10" dirty="0"/>
              <a:t>India-</a:t>
            </a:r>
            <a:r>
              <a:rPr spc="-130" dirty="0"/>
              <a:t> </a:t>
            </a:r>
            <a:r>
              <a:rPr spc="-10" dirty="0"/>
              <a:t>Historical Evidence</a:t>
            </a:r>
          </a:p>
        </p:txBody>
      </p:sp>
      <p:sp>
        <p:nvSpPr>
          <p:cNvPr id="3" name="object 3"/>
          <p:cNvSpPr txBox="1"/>
          <p:nvPr/>
        </p:nvSpPr>
        <p:spPr>
          <a:xfrm>
            <a:off x="802671" y="1585560"/>
            <a:ext cx="9081135" cy="1847850"/>
          </a:xfrm>
          <a:prstGeom prst="rect">
            <a:avLst/>
          </a:prstGeom>
        </p:spPr>
        <p:txBody>
          <a:bodyPr vert="horz" wrap="square" lIns="0" tIns="57150" rIns="0" bIns="0" rtlCol="0">
            <a:spAutoFit/>
          </a:bodyPr>
          <a:lstStyle/>
          <a:p>
            <a:pPr marL="211454" marR="744220" indent="-199390">
              <a:lnSpc>
                <a:spcPts val="2630"/>
              </a:lnSpc>
              <a:spcBef>
                <a:spcPts val="450"/>
              </a:spcBef>
              <a:buChar char="•"/>
              <a:tabLst>
                <a:tab pos="212725" algn="l"/>
              </a:tabLst>
            </a:pPr>
            <a:r>
              <a:rPr sz="2450" dirty="0">
                <a:latin typeface="Microsoft Sans Serif"/>
                <a:cs typeface="Microsoft Sans Serif"/>
              </a:rPr>
              <a:t>Still,</a:t>
            </a:r>
            <a:r>
              <a:rPr sz="2450" spc="35" dirty="0">
                <a:latin typeface="Microsoft Sans Serif"/>
                <a:cs typeface="Microsoft Sans Serif"/>
              </a:rPr>
              <a:t> </a:t>
            </a:r>
            <a:r>
              <a:rPr sz="2450" dirty="0">
                <a:latin typeface="Microsoft Sans Serif"/>
                <a:cs typeface="Microsoft Sans Serif"/>
              </a:rPr>
              <a:t>surviving</a:t>
            </a:r>
            <a:r>
              <a:rPr sz="2450" spc="15" dirty="0">
                <a:latin typeface="Microsoft Sans Serif"/>
                <a:cs typeface="Microsoft Sans Serif"/>
              </a:rPr>
              <a:t> </a:t>
            </a:r>
            <a:r>
              <a:rPr sz="2450" spc="-10" dirty="0">
                <a:latin typeface="Microsoft Sans Serif"/>
                <a:cs typeface="Microsoft Sans Serif"/>
              </a:rPr>
              <a:t>Sanskrit</a:t>
            </a:r>
            <a:r>
              <a:rPr sz="2450" spc="-30" dirty="0">
                <a:latin typeface="Microsoft Sans Serif"/>
                <a:cs typeface="Microsoft Sans Serif"/>
              </a:rPr>
              <a:t> </a:t>
            </a:r>
            <a:r>
              <a:rPr sz="2450" dirty="0">
                <a:latin typeface="Microsoft Sans Serif"/>
                <a:cs typeface="Microsoft Sans Serif"/>
              </a:rPr>
              <a:t>texts</a:t>
            </a:r>
            <a:r>
              <a:rPr sz="2450" spc="-55" dirty="0">
                <a:latin typeface="Microsoft Sans Serif"/>
                <a:cs typeface="Microsoft Sans Serif"/>
              </a:rPr>
              <a:t> </a:t>
            </a:r>
            <a:r>
              <a:rPr sz="2450" spc="-20" dirty="0">
                <a:latin typeface="Microsoft Sans Serif"/>
                <a:cs typeface="Microsoft Sans Serif"/>
              </a:rPr>
              <a:t>reveal</a:t>
            </a:r>
            <a:r>
              <a:rPr sz="2450" spc="10" dirty="0">
                <a:latin typeface="Microsoft Sans Serif"/>
                <a:cs typeface="Microsoft Sans Serif"/>
              </a:rPr>
              <a:t> </a:t>
            </a:r>
            <a:r>
              <a:rPr sz="2450" dirty="0">
                <a:latin typeface="Microsoft Sans Serif"/>
                <a:cs typeface="Microsoft Sans Serif"/>
              </a:rPr>
              <a:t>a</a:t>
            </a:r>
            <a:r>
              <a:rPr sz="2450" spc="-35" dirty="0">
                <a:latin typeface="Microsoft Sans Serif"/>
                <a:cs typeface="Microsoft Sans Serif"/>
              </a:rPr>
              <a:t> </a:t>
            </a:r>
            <a:r>
              <a:rPr sz="2450" dirty="0">
                <a:latin typeface="Microsoft Sans Serif"/>
                <a:cs typeface="Microsoft Sans Serif"/>
              </a:rPr>
              <a:t>rich</a:t>
            </a:r>
            <a:r>
              <a:rPr sz="2450" spc="-50" dirty="0">
                <a:latin typeface="Microsoft Sans Serif"/>
                <a:cs typeface="Microsoft Sans Serif"/>
              </a:rPr>
              <a:t> </a:t>
            </a:r>
            <a:r>
              <a:rPr sz="2450" dirty="0">
                <a:latin typeface="Microsoft Sans Serif"/>
                <a:cs typeface="Microsoft Sans Serif"/>
              </a:rPr>
              <a:t>tradition</a:t>
            </a:r>
            <a:r>
              <a:rPr sz="2450" spc="-55" dirty="0">
                <a:latin typeface="Microsoft Sans Serif"/>
                <a:cs typeface="Microsoft Sans Serif"/>
              </a:rPr>
              <a:t> </a:t>
            </a:r>
            <a:r>
              <a:rPr sz="2450" spc="100" dirty="0">
                <a:latin typeface="Microsoft Sans Serif"/>
                <a:cs typeface="Microsoft Sans Serif"/>
              </a:rPr>
              <a:t>of</a:t>
            </a:r>
            <a:r>
              <a:rPr sz="2450" spc="15" dirty="0">
                <a:latin typeface="Microsoft Sans Serif"/>
                <a:cs typeface="Microsoft Sans Serif"/>
              </a:rPr>
              <a:t> </a:t>
            </a:r>
            <a:r>
              <a:rPr sz="2450" spc="-10" dirty="0">
                <a:latin typeface="Microsoft Sans Serif"/>
                <a:cs typeface="Microsoft Sans Serif"/>
              </a:rPr>
              <a:t>Indian 	</a:t>
            </a:r>
            <a:r>
              <a:rPr sz="2450" dirty="0">
                <a:latin typeface="Microsoft Sans Serif"/>
                <a:cs typeface="Microsoft Sans Serif"/>
              </a:rPr>
              <a:t>mathematical</a:t>
            </a:r>
            <a:r>
              <a:rPr sz="2450" spc="80" dirty="0">
                <a:latin typeface="Microsoft Sans Serif"/>
                <a:cs typeface="Microsoft Sans Serif"/>
              </a:rPr>
              <a:t> </a:t>
            </a:r>
            <a:r>
              <a:rPr sz="2450" dirty="0">
                <a:latin typeface="Microsoft Sans Serif"/>
                <a:cs typeface="Microsoft Sans Serif"/>
              </a:rPr>
              <a:t>discoveries</a:t>
            </a:r>
            <a:r>
              <a:rPr sz="2450" spc="10" dirty="0">
                <a:latin typeface="Microsoft Sans Serif"/>
                <a:cs typeface="Microsoft Sans Serif"/>
              </a:rPr>
              <a:t> </a:t>
            </a:r>
            <a:r>
              <a:rPr sz="2450" dirty="0">
                <a:latin typeface="Microsoft Sans Serif"/>
                <a:cs typeface="Microsoft Sans Serif"/>
              </a:rPr>
              <a:t>lasting</a:t>
            </a:r>
            <a:r>
              <a:rPr sz="2450" spc="85" dirty="0">
                <a:latin typeface="Microsoft Sans Serif"/>
                <a:cs typeface="Microsoft Sans Serif"/>
              </a:rPr>
              <a:t> </a:t>
            </a:r>
            <a:r>
              <a:rPr sz="2450" dirty="0">
                <a:latin typeface="Microsoft Sans Serif"/>
                <a:cs typeface="Microsoft Sans Serif"/>
              </a:rPr>
              <a:t>more</a:t>
            </a:r>
            <a:r>
              <a:rPr sz="2450" spc="75" dirty="0">
                <a:latin typeface="Microsoft Sans Serif"/>
                <a:cs typeface="Microsoft Sans Serif"/>
              </a:rPr>
              <a:t> </a:t>
            </a:r>
            <a:r>
              <a:rPr sz="2450" dirty="0">
                <a:latin typeface="Microsoft Sans Serif"/>
                <a:cs typeface="Microsoft Sans Serif"/>
              </a:rPr>
              <a:t>than</a:t>
            </a:r>
            <a:r>
              <a:rPr sz="2450" spc="10" dirty="0">
                <a:latin typeface="Microsoft Sans Serif"/>
                <a:cs typeface="Microsoft Sans Serif"/>
              </a:rPr>
              <a:t> </a:t>
            </a:r>
            <a:r>
              <a:rPr sz="2450" dirty="0">
                <a:latin typeface="Microsoft Sans Serif"/>
                <a:cs typeface="Microsoft Sans Serif"/>
              </a:rPr>
              <a:t>2,500</a:t>
            </a:r>
            <a:r>
              <a:rPr sz="2450" spc="85" dirty="0">
                <a:latin typeface="Microsoft Sans Serif"/>
                <a:cs typeface="Microsoft Sans Serif"/>
              </a:rPr>
              <a:t> </a:t>
            </a:r>
            <a:r>
              <a:rPr sz="2450" spc="-10" dirty="0">
                <a:latin typeface="Microsoft Sans Serif"/>
                <a:cs typeface="Microsoft Sans Serif"/>
              </a:rPr>
              <a:t>years.</a:t>
            </a:r>
            <a:endParaRPr sz="2450">
              <a:latin typeface="Microsoft Sans Serif"/>
              <a:cs typeface="Microsoft Sans Serif"/>
            </a:endParaRPr>
          </a:p>
          <a:p>
            <a:pPr marL="211454" marR="5080" indent="-199390">
              <a:lnSpc>
                <a:spcPts val="2630"/>
              </a:lnSpc>
              <a:spcBef>
                <a:spcPts val="880"/>
              </a:spcBef>
              <a:buChar char="•"/>
              <a:tabLst>
                <a:tab pos="212725" algn="l"/>
              </a:tabLst>
            </a:pPr>
            <a:r>
              <a:rPr sz="2450" dirty="0">
                <a:latin typeface="Microsoft Sans Serif"/>
                <a:cs typeface="Microsoft Sans Serif"/>
              </a:rPr>
              <a:t>In</a:t>
            </a:r>
            <a:r>
              <a:rPr sz="2450" spc="-65" dirty="0">
                <a:latin typeface="Microsoft Sans Serif"/>
                <a:cs typeface="Microsoft Sans Serif"/>
              </a:rPr>
              <a:t> </a:t>
            </a:r>
            <a:r>
              <a:rPr sz="2450" dirty="0">
                <a:latin typeface="Microsoft Sans Serif"/>
                <a:cs typeface="Microsoft Sans Serif"/>
              </a:rPr>
              <a:t>the</a:t>
            </a:r>
            <a:r>
              <a:rPr sz="2450" spc="-5" dirty="0">
                <a:latin typeface="Microsoft Sans Serif"/>
                <a:cs typeface="Microsoft Sans Serif"/>
              </a:rPr>
              <a:t> </a:t>
            </a:r>
            <a:r>
              <a:rPr sz="2450" spc="-65" dirty="0">
                <a:latin typeface="Microsoft Sans Serif"/>
                <a:cs typeface="Microsoft Sans Serif"/>
              </a:rPr>
              <a:t>Early</a:t>
            </a:r>
            <a:r>
              <a:rPr sz="2450" spc="-45" dirty="0">
                <a:latin typeface="Microsoft Sans Serif"/>
                <a:cs typeface="Microsoft Sans Serif"/>
              </a:rPr>
              <a:t> </a:t>
            </a:r>
            <a:r>
              <a:rPr sz="2450" dirty="0">
                <a:latin typeface="Microsoft Sans Serif"/>
                <a:cs typeface="Microsoft Sans Serif"/>
              </a:rPr>
              <a:t>Vedic</a:t>
            </a:r>
            <a:r>
              <a:rPr sz="2450" spc="15" dirty="0">
                <a:latin typeface="Microsoft Sans Serif"/>
                <a:cs typeface="Microsoft Sans Serif"/>
              </a:rPr>
              <a:t> </a:t>
            </a:r>
            <a:r>
              <a:rPr sz="2450" dirty="0">
                <a:latin typeface="Microsoft Sans Serif"/>
                <a:cs typeface="Microsoft Sans Serif"/>
              </a:rPr>
              <a:t>period</a:t>
            </a:r>
            <a:r>
              <a:rPr sz="2450" spc="-5" dirty="0">
                <a:latin typeface="Microsoft Sans Serif"/>
                <a:cs typeface="Microsoft Sans Serif"/>
              </a:rPr>
              <a:t> </a:t>
            </a:r>
            <a:r>
              <a:rPr sz="2450" spc="125" dirty="0">
                <a:latin typeface="Microsoft Sans Serif"/>
                <a:cs typeface="Microsoft Sans Serif"/>
              </a:rPr>
              <a:t>(1200–600</a:t>
            </a:r>
            <a:r>
              <a:rPr sz="2450" spc="5" dirty="0">
                <a:latin typeface="Microsoft Sans Serif"/>
                <a:cs typeface="Microsoft Sans Serif"/>
              </a:rPr>
              <a:t> </a:t>
            </a:r>
            <a:r>
              <a:rPr sz="2450" dirty="0">
                <a:latin typeface="Microsoft Sans Serif"/>
                <a:cs typeface="Microsoft Sans Serif"/>
              </a:rPr>
              <a:t>bc),</a:t>
            </a:r>
            <a:r>
              <a:rPr sz="2450" spc="25" dirty="0">
                <a:latin typeface="Microsoft Sans Serif"/>
                <a:cs typeface="Microsoft Sans Serif"/>
              </a:rPr>
              <a:t> </a:t>
            </a:r>
            <a:r>
              <a:rPr sz="2450" dirty="0">
                <a:latin typeface="Microsoft Sans Serif"/>
                <a:cs typeface="Microsoft Sans Serif"/>
              </a:rPr>
              <a:t>a</a:t>
            </a:r>
            <a:r>
              <a:rPr sz="2450" spc="-45" dirty="0">
                <a:latin typeface="Microsoft Sans Serif"/>
                <a:cs typeface="Microsoft Sans Serif"/>
              </a:rPr>
              <a:t> </a:t>
            </a:r>
            <a:r>
              <a:rPr sz="2450" dirty="0">
                <a:latin typeface="Microsoft Sans Serif"/>
                <a:cs typeface="Microsoft Sans Serif"/>
              </a:rPr>
              <a:t>decimal</a:t>
            </a:r>
            <a:r>
              <a:rPr sz="2450" spc="5" dirty="0">
                <a:latin typeface="Microsoft Sans Serif"/>
                <a:cs typeface="Microsoft Sans Serif"/>
              </a:rPr>
              <a:t> </a:t>
            </a:r>
            <a:r>
              <a:rPr sz="2450" dirty="0">
                <a:latin typeface="Microsoft Sans Serif"/>
                <a:cs typeface="Microsoft Sans Serif"/>
              </a:rPr>
              <a:t>system</a:t>
            </a:r>
            <a:r>
              <a:rPr sz="2450" spc="15" dirty="0">
                <a:latin typeface="Microsoft Sans Serif"/>
                <a:cs typeface="Microsoft Sans Serif"/>
              </a:rPr>
              <a:t> </a:t>
            </a:r>
            <a:r>
              <a:rPr sz="2450" spc="75" dirty="0">
                <a:latin typeface="Microsoft Sans Serif"/>
                <a:cs typeface="Microsoft Sans Serif"/>
              </a:rPr>
              <a:t>of 	</a:t>
            </a:r>
            <a:r>
              <a:rPr sz="2450" dirty="0">
                <a:latin typeface="Microsoft Sans Serif"/>
                <a:cs typeface="Microsoft Sans Serif"/>
              </a:rPr>
              <a:t>numbers</a:t>
            </a:r>
            <a:r>
              <a:rPr sz="2450" spc="-65" dirty="0">
                <a:latin typeface="Microsoft Sans Serif"/>
                <a:cs typeface="Microsoft Sans Serif"/>
              </a:rPr>
              <a:t> </a:t>
            </a:r>
            <a:r>
              <a:rPr sz="2450" dirty="0">
                <a:latin typeface="Microsoft Sans Serif"/>
                <a:cs typeface="Microsoft Sans Serif"/>
              </a:rPr>
              <a:t>was</a:t>
            </a:r>
            <a:r>
              <a:rPr sz="2450" spc="-60" dirty="0">
                <a:latin typeface="Microsoft Sans Serif"/>
                <a:cs typeface="Microsoft Sans Serif"/>
              </a:rPr>
              <a:t> </a:t>
            </a:r>
            <a:r>
              <a:rPr sz="2450" spc="-25" dirty="0">
                <a:latin typeface="Microsoft Sans Serif"/>
                <a:cs typeface="Microsoft Sans Serif"/>
              </a:rPr>
              <a:t>already</a:t>
            </a:r>
            <a:r>
              <a:rPr sz="2450" spc="-45" dirty="0">
                <a:latin typeface="Microsoft Sans Serif"/>
                <a:cs typeface="Microsoft Sans Serif"/>
              </a:rPr>
              <a:t> </a:t>
            </a:r>
            <a:r>
              <a:rPr sz="2450" dirty="0">
                <a:latin typeface="Microsoft Sans Serif"/>
                <a:cs typeface="Microsoft Sans Serif"/>
              </a:rPr>
              <a:t>established</a:t>
            </a:r>
            <a:r>
              <a:rPr sz="2450" spc="5" dirty="0">
                <a:latin typeface="Microsoft Sans Serif"/>
                <a:cs typeface="Microsoft Sans Serif"/>
              </a:rPr>
              <a:t> </a:t>
            </a:r>
            <a:r>
              <a:rPr sz="2450" dirty="0">
                <a:latin typeface="Microsoft Sans Serif"/>
                <a:cs typeface="Microsoft Sans Serif"/>
              </a:rPr>
              <a:t>in</a:t>
            </a:r>
            <a:r>
              <a:rPr sz="2450" spc="-65" dirty="0">
                <a:latin typeface="Microsoft Sans Serif"/>
                <a:cs typeface="Microsoft Sans Serif"/>
              </a:rPr>
              <a:t> </a:t>
            </a:r>
            <a:r>
              <a:rPr sz="2450" spc="-10" dirty="0">
                <a:latin typeface="Microsoft Sans Serif"/>
                <a:cs typeface="Microsoft Sans Serif"/>
              </a:rPr>
              <a:t>India,</a:t>
            </a:r>
            <a:r>
              <a:rPr sz="2450" spc="25" dirty="0">
                <a:latin typeface="Microsoft Sans Serif"/>
                <a:cs typeface="Microsoft Sans Serif"/>
              </a:rPr>
              <a:t> </a:t>
            </a:r>
            <a:r>
              <a:rPr sz="2450" dirty="0">
                <a:latin typeface="Microsoft Sans Serif"/>
                <a:cs typeface="Microsoft Sans Serif"/>
              </a:rPr>
              <a:t>together</a:t>
            </a:r>
            <a:r>
              <a:rPr sz="2450" spc="-65" dirty="0">
                <a:latin typeface="Microsoft Sans Serif"/>
                <a:cs typeface="Microsoft Sans Serif"/>
              </a:rPr>
              <a:t> </a:t>
            </a:r>
            <a:r>
              <a:rPr sz="2450" dirty="0">
                <a:latin typeface="Microsoft Sans Serif"/>
                <a:cs typeface="Microsoft Sans Serif"/>
              </a:rPr>
              <a:t>with</a:t>
            </a:r>
            <a:r>
              <a:rPr sz="2450" spc="-55" dirty="0">
                <a:latin typeface="Microsoft Sans Serif"/>
                <a:cs typeface="Microsoft Sans Serif"/>
              </a:rPr>
              <a:t> </a:t>
            </a:r>
            <a:r>
              <a:rPr sz="2450" dirty="0">
                <a:latin typeface="Microsoft Sans Serif"/>
                <a:cs typeface="Microsoft Sans Serif"/>
              </a:rPr>
              <a:t>rules</a:t>
            </a:r>
            <a:r>
              <a:rPr sz="2450" spc="-60" dirty="0">
                <a:latin typeface="Microsoft Sans Serif"/>
                <a:cs typeface="Microsoft Sans Serif"/>
              </a:rPr>
              <a:t> </a:t>
            </a:r>
            <a:r>
              <a:rPr sz="2450" spc="50" dirty="0">
                <a:latin typeface="Microsoft Sans Serif"/>
                <a:cs typeface="Microsoft Sans Serif"/>
              </a:rPr>
              <a:t>for 	</a:t>
            </a:r>
            <a:r>
              <a:rPr sz="2450" dirty="0">
                <a:latin typeface="Microsoft Sans Serif"/>
                <a:cs typeface="Microsoft Sans Serif"/>
              </a:rPr>
              <a:t>arithmetical</a:t>
            </a:r>
            <a:r>
              <a:rPr sz="2450" spc="100" dirty="0">
                <a:latin typeface="Microsoft Sans Serif"/>
                <a:cs typeface="Microsoft Sans Serif"/>
              </a:rPr>
              <a:t> </a:t>
            </a:r>
            <a:r>
              <a:rPr sz="2450" dirty="0">
                <a:latin typeface="Microsoft Sans Serif"/>
                <a:cs typeface="Microsoft Sans Serif"/>
              </a:rPr>
              <a:t>operations</a:t>
            </a:r>
            <a:r>
              <a:rPr sz="2450" spc="30" dirty="0">
                <a:latin typeface="Microsoft Sans Serif"/>
                <a:cs typeface="Microsoft Sans Serif"/>
              </a:rPr>
              <a:t> </a:t>
            </a:r>
            <a:r>
              <a:rPr sz="2450" dirty="0">
                <a:latin typeface="Microsoft Sans Serif"/>
                <a:cs typeface="Microsoft Sans Serif"/>
              </a:rPr>
              <a:t>(ganita)</a:t>
            </a:r>
            <a:r>
              <a:rPr sz="2450" spc="105" dirty="0">
                <a:latin typeface="Microsoft Sans Serif"/>
                <a:cs typeface="Microsoft Sans Serif"/>
              </a:rPr>
              <a:t> </a:t>
            </a:r>
            <a:r>
              <a:rPr sz="2450" dirty="0">
                <a:latin typeface="Microsoft Sans Serif"/>
                <a:cs typeface="Microsoft Sans Serif"/>
              </a:rPr>
              <a:t>and</a:t>
            </a:r>
            <a:r>
              <a:rPr sz="2450" spc="100" dirty="0">
                <a:latin typeface="Microsoft Sans Serif"/>
                <a:cs typeface="Microsoft Sans Serif"/>
              </a:rPr>
              <a:t> </a:t>
            </a:r>
            <a:r>
              <a:rPr sz="2450" dirty="0">
                <a:latin typeface="Microsoft Sans Serif"/>
                <a:cs typeface="Microsoft Sans Serif"/>
              </a:rPr>
              <a:t>geometry</a:t>
            </a:r>
            <a:r>
              <a:rPr sz="2450" spc="50" dirty="0">
                <a:latin typeface="Microsoft Sans Serif"/>
                <a:cs typeface="Microsoft Sans Serif"/>
              </a:rPr>
              <a:t> </a:t>
            </a:r>
            <a:r>
              <a:rPr sz="2450" spc="-50" dirty="0">
                <a:latin typeface="Microsoft Sans Serif"/>
                <a:cs typeface="Microsoft Sans Serif"/>
              </a:rPr>
              <a:t>(rekha-</a:t>
            </a:r>
            <a:r>
              <a:rPr sz="2450" spc="-10" dirty="0">
                <a:latin typeface="Microsoft Sans Serif"/>
                <a:cs typeface="Microsoft Sans Serif"/>
              </a:rPr>
              <a:t>ganita).</a:t>
            </a:r>
            <a:endParaRPr sz="2450">
              <a:latin typeface="Microsoft Sans Serif"/>
              <a:cs typeface="Microsoft Sans Serif"/>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820" rIns="0" bIns="0" rtlCol="0">
            <a:spAutoFit/>
          </a:bodyPr>
          <a:lstStyle/>
          <a:p>
            <a:pPr marL="12700" marR="5080">
              <a:lnSpc>
                <a:spcPts val="4120"/>
              </a:lnSpc>
              <a:spcBef>
                <a:spcPts val="660"/>
              </a:spcBef>
            </a:pPr>
            <a:r>
              <a:rPr spc="-10" dirty="0"/>
              <a:t>Salient</a:t>
            </a:r>
            <a:r>
              <a:rPr spc="-150" dirty="0"/>
              <a:t> </a:t>
            </a:r>
            <a:r>
              <a:rPr spc="-40" dirty="0"/>
              <a:t>Features</a:t>
            </a:r>
            <a:r>
              <a:rPr spc="-95" dirty="0"/>
              <a:t> </a:t>
            </a:r>
            <a:r>
              <a:rPr spc="145" dirty="0"/>
              <a:t>of</a:t>
            </a:r>
            <a:r>
              <a:rPr spc="-140" dirty="0"/>
              <a:t> </a:t>
            </a:r>
            <a:r>
              <a:rPr dirty="0"/>
              <a:t>the</a:t>
            </a:r>
            <a:r>
              <a:rPr spc="-145" dirty="0"/>
              <a:t> </a:t>
            </a:r>
            <a:r>
              <a:rPr dirty="0"/>
              <a:t>Indian</a:t>
            </a:r>
            <a:r>
              <a:rPr spc="-140" dirty="0"/>
              <a:t> </a:t>
            </a:r>
            <a:r>
              <a:rPr spc="-10" dirty="0"/>
              <a:t>Numeral System</a:t>
            </a:r>
          </a:p>
        </p:txBody>
      </p:sp>
      <p:sp>
        <p:nvSpPr>
          <p:cNvPr id="3" name="object 3"/>
          <p:cNvSpPr txBox="1"/>
          <p:nvPr/>
        </p:nvSpPr>
        <p:spPr>
          <a:xfrm>
            <a:off x="802671" y="1585560"/>
            <a:ext cx="9034145" cy="3296285"/>
          </a:xfrm>
          <a:prstGeom prst="rect">
            <a:avLst/>
          </a:prstGeom>
        </p:spPr>
        <p:txBody>
          <a:bodyPr vert="horz" wrap="square" lIns="0" tIns="57150" rIns="0" bIns="0" rtlCol="0">
            <a:spAutoFit/>
          </a:bodyPr>
          <a:lstStyle/>
          <a:p>
            <a:pPr marL="211454" marR="65405" indent="-199390">
              <a:lnSpc>
                <a:spcPts val="2630"/>
              </a:lnSpc>
              <a:spcBef>
                <a:spcPts val="450"/>
              </a:spcBef>
              <a:buChar char="•"/>
              <a:tabLst>
                <a:tab pos="212725" algn="l"/>
              </a:tabLst>
            </a:pPr>
            <a:r>
              <a:rPr sz="2450" spc="-10" dirty="0">
                <a:latin typeface="Microsoft Sans Serif"/>
                <a:cs typeface="Microsoft Sans Serif"/>
              </a:rPr>
              <a:t>The</a:t>
            </a:r>
            <a:r>
              <a:rPr sz="2450" spc="-60" dirty="0">
                <a:latin typeface="Microsoft Sans Serif"/>
                <a:cs typeface="Microsoft Sans Serif"/>
              </a:rPr>
              <a:t> </a:t>
            </a:r>
            <a:r>
              <a:rPr sz="2450" dirty="0">
                <a:latin typeface="Microsoft Sans Serif"/>
                <a:cs typeface="Microsoft Sans Serif"/>
              </a:rPr>
              <a:t>indian</a:t>
            </a:r>
            <a:r>
              <a:rPr sz="2450" spc="-105" dirty="0">
                <a:latin typeface="Microsoft Sans Serif"/>
                <a:cs typeface="Microsoft Sans Serif"/>
              </a:rPr>
              <a:t> </a:t>
            </a:r>
            <a:r>
              <a:rPr sz="2450" dirty="0">
                <a:latin typeface="Microsoft Sans Serif"/>
                <a:cs typeface="Microsoft Sans Serif"/>
              </a:rPr>
              <a:t>numeral</a:t>
            </a:r>
            <a:r>
              <a:rPr sz="2450" spc="-50" dirty="0">
                <a:latin typeface="Microsoft Sans Serif"/>
                <a:cs typeface="Microsoft Sans Serif"/>
              </a:rPr>
              <a:t> </a:t>
            </a:r>
            <a:r>
              <a:rPr sz="2450" dirty="0">
                <a:latin typeface="Microsoft Sans Serif"/>
                <a:cs typeface="Microsoft Sans Serif"/>
              </a:rPr>
              <a:t>system</a:t>
            </a:r>
            <a:r>
              <a:rPr sz="2450" spc="-35" dirty="0">
                <a:latin typeface="Microsoft Sans Serif"/>
                <a:cs typeface="Microsoft Sans Serif"/>
              </a:rPr>
              <a:t> </a:t>
            </a:r>
            <a:r>
              <a:rPr sz="2450" dirty="0">
                <a:latin typeface="Microsoft Sans Serif"/>
                <a:cs typeface="Microsoft Sans Serif"/>
              </a:rPr>
              <a:t>has</a:t>
            </a:r>
            <a:r>
              <a:rPr sz="2450" spc="-105" dirty="0">
                <a:latin typeface="Microsoft Sans Serif"/>
                <a:cs typeface="Microsoft Sans Serif"/>
              </a:rPr>
              <a:t> </a:t>
            </a:r>
            <a:r>
              <a:rPr sz="2450" dirty="0">
                <a:latin typeface="Microsoft Sans Serif"/>
                <a:cs typeface="Microsoft Sans Serif"/>
              </a:rPr>
              <a:t>a</a:t>
            </a:r>
            <a:r>
              <a:rPr sz="2450" spc="-90" dirty="0">
                <a:latin typeface="Microsoft Sans Serif"/>
                <a:cs typeface="Microsoft Sans Serif"/>
              </a:rPr>
              <a:t> </a:t>
            </a:r>
            <a:r>
              <a:rPr sz="2450" dirty="0">
                <a:latin typeface="Microsoft Sans Serif"/>
                <a:cs typeface="Microsoft Sans Serif"/>
              </a:rPr>
              <a:t>long</a:t>
            </a:r>
            <a:r>
              <a:rPr sz="2450" spc="-45" dirty="0">
                <a:latin typeface="Microsoft Sans Serif"/>
                <a:cs typeface="Microsoft Sans Serif"/>
              </a:rPr>
              <a:t> </a:t>
            </a:r>
            <a:r>
              <a:rPr sz="2450" spc="-10" dirty="0">
                <a:latin typeface="Microsoft Sans Serif"/>
                <a:cs typeface="Microsoft Sans Serif"/>
              </a:rPr>
              <a:t>history;</a:t>
            </a:r>
            <a:r>
              <a:rPr sz="2450" spc="-60" dirty="0">
                <a:latin typeface="Microsoft Sans Serif"/>
                <a:cs typeface="Microsoft Sans Serif"/>
              </a:rPr>
              <a:t> </a:t>
            </a:r>
            <a:r>
              <a:rPr sz="2450" dirty="0">
                <a:latin typeface="Microsoft Sans Serif"/>
                <a:cs typeface="Microsoft Sans Serif"/>
              </a:rPr>
              <a:t>the</a:t>
            </a:r>
            <a:r>
              <a:rPr sz="2450" spc="-55" dirty="0">
                <a:latin typeface="Microsoft Sans Serif"/>
                <a:cs typeface="Microsoft Sans Serif"/>
              </a:rPr>
              <a:t> </a:t>
            </a:r>
            <a:r>
              <a:rPr sz="2450" dirty="0">
                <a:latin typeface="Microsoft Sans Serif"/>
                <a:cs typeface="Microsoft Sans Serif"/>
              </a:rPr>
              <a:t>origin</a:t>
            </a:r>
            <a:r>
              <a:rPr sz="2450" spc="-110" dirty="0">
                <a:latin typeface="Microsoft Sans Serif"/>
                <a:cs typeface="Microsoft Sans Serif"/>
              </a:rPr>
              <a:t> </a:t>
            </a:r>
            <a:r>
              <a:rPr sz="2450" dirty="0">
                <a:latin typeface="Microsoft Sans Serif"/>
                <a:cs typeface="Microsoft Sans Serif"/>
              </a:rPr>
              <a:t>and</a:t>
            </a:r>
            <a:r>
              <a:rPr sz="2450" spc="-50" dirty="0">
                <a:latin typeface="Microsoft Sans Serif"/>
                <a:cs typeface="Microsoft Sans Serif"/>
              </a:rPr>
              <a:t> </a:t>
            </a:r>
            <a:r>
              <a:rPr sz="2450" spc="-25" dirty="0">
                <a:latin typeface="Microsoft Sans Serif"/>
                <a:cs typeface="Microsoft Sans Serif"/>
              </a:rPr>
              <a:t>the 	</a:t>
            </a:r>
            <a:r>
              <a:rPr sz="2450" dirty="0">
                <a:latin typeface="Microsoft Sans Serif"/>
                <a:cs typeface="Microsoft Sans Serif"/>
              </a:rPr>
              <a:t>evolution</a:t>
            </a:r>
            <a:r>
              <a:rPr sz="2450" spc="-65" dirty="0">
                <a:latin typeface="Microsoft Sans Serif"/>
                <a:cs typeface="Microsoft Sans Serif"/>
              </a:rPr>
              <a:t> </a:t>
            </a:r>
            <a:r>
              <a:rPr sz="2450" spc="100" dirty="0">
                <a:latin typeface="Microsoft Sans Serif"/>
                <a:cs typeface="Microsoft Sans Serif"/>
              </a:rPr>
              <a:t>of</a:t>
            </a:r>
            <a:r>
              <a:rPr sz="2450" spc="5" dirty="0">
                <a:latin typeface="Microsoft Sans Serif"/>
                <a:cs typeface="Microsoft Sans Serif"/>
              </a:rPr>
              <a:t> </a:t>
            </a:r>
            <a:r>
              <a:rPr sz="2450" dirty="0">
                <a:latin typeface="Microsoft Sans Serif"/>
                <a:cs typeface="Microsoft Sans Serif"/>
              </a:rPr>
              <a:t>the numbers</a:t>
            </a:r>
            <a:r>
              <a:rPr sz="2450" spc="-65" dirty="0">
                <a:latin typeface="Microsoft Sans Serif"/>
                <a:cs typeface="Microsoft Sans Serif"/>
              </a:rPr>
              <a:t> </a:t>
            </a:r>
            <a:r>
              <a:rPr sz="2450" dirty="0">
                <a:latin typeface="Microsoft Sans Serif"/>
                <a:cs typeface="Microsoft Sans Serif"/>
              </a:rPr>
              <a:t>could</a:t>
            </a:r>
            <a:r>
              <a:rPr sz="2450" spc="5" dirty="0">
                <a:latin typeface="Microsoft Sans Serif"/>
                <a:cs typeface="Microsoft Sans Serif"/>
              </a:rPr>
              <a:t> </a:t>
            </a:r>
            <a:r>
              <a:rPr sz="2450" dirty="0">
                <a:latin typeface="Microsoft Sans Serif"/>
                <a:cs typeface="Microsoft Sans Serif"/>
              </a:rPr>
              <a:t>be</a:t>
            </a:r>
            <a:r>
              <a:rPr sz="2450" spc="-10" dirty="0">
                <a:latin typeface="Microsoft Sans Serif"/>
                <a:cs typeface="Microsoft Sans Serif"/>
              </a:rPr>
              <a:t> </a:t>
            </a:r>
            <a:r>
              <a:rPr sz="2450" dirty="0">
                <a:latin typeface="Microsoft Sans Serif"/>
                <a:cs typeface="Microsoft Sans Serif"/>
              </a:rPr>
              <a:t>traced</a:t>
            </a:r>
            <a:r>
              <a:rPr sz="2450" spc="5" dirty="0">
                <a:latin typeface="Microsoft Sans Serif"/>
                <a:cs typeface="Microsoft Sans Serif"/>
              </a:rPr>
              <a:t> </a:t>
            </a:r>
            <a:r>
              <a:rPr sz="2450" spc="65" dirty="0">
                <a:latin typeface="Microsoft Sans Serif"/>
                <a:cs typeface="Microsoft Sans Serif"/>
              </a:rPr>
              <a:t>from</a:t>
            </a:r>
            <a:r>
              <a:rPr sz="2450" spc="20" dirty="0">
                <a:latin typeface="Microsoft Sans Serif"/>
                <a:cs typeface="Microsoft Sans Serif"/>
              </a:rPr>
              <a:t> </a:t>
            </a:r>
            <a:r>
              <a:rPr sz="2450" dirty="0">
                <a:latin typeface="Microsoft Sans Serif"/>
                <a:cs typeface="Microsoft Sans Serif"/>
              </a:rPr>
              <a:t>the</a:t>
            </a:r>
            <a:r>
              <a:rPr sz="2450" spc="-5" dirty="0">
                <a:latin typeface="Microsoft Sans Serif"/>
                <a:cs typeface="Microsoft Sans Serif"/>
              </a:rPr>
              <a:t> </a:t>
            </a:r>
            <a:r>
              <a:rPr sz="2450" spc="55" dirty="0">
                <a:latin typeface="Microsoft Sans Serif"/>
                <a:cs typeface="Microsoft Sans Serif"/>
              </a:rPr>
              <a:t>time</a:t>
            </a:r>
            <a:r>
              <a:rPr sz="2450" spc="-5" dirty="0">
                <a:latin typeface="Microsoft Sans Serif"/>
                <a:cs typeface="Microsoft Sans Serif"/>
              </a:rPr>
              <a:t> </a:t>
            </a:r>
            <a:r>
              <a:rPr sz="2450" spc="100" dirty="0">
                <a:latin typeface="Microsoft Sans Serif"/>
                <a:cs typeface="Microsoft Sans Serif"/>
              </a:rPr>
              <a:t>of</a:t>
            </a:r>
            <a:r>
              <a:rPr sz="2450" spc="5" dirty="0">
                <a:latin typeface="Microsoft Sans Serif"/>
                <a:cs typeface="Microsoft Sans Serif"/>
              </a:rPr>
              <a:t> </a:t>
            </a:r>
            <a:r>
              <a:rPr sz="2450" spc="-25" dirty="0">
                <a:latin typeface="Microsoft Sans Serif"/>
                <a:cs typeface="Microsoft Sans Serif"/>
              </a:rPr>
              <a:t>the 	</a:t>
            </a:r>
            <a:r>
              <a:rPr sz="2450" dirty="0">
                <a:latin typeface="Microsoft Sans Serif"/>
                <a:cs typeface="Microsoft Sans Serif"/>
              </a:rPr>
              <a:t>Vedic</a:t>
            </a:r>
            <a:r>
              <a:rPr sz="2450" spc="-65" dirty="0">
                <a:latin typeface="Microsoft Sans Serif"/>
                <a:cs typeface="Microsoft Sans Serif"/>
              </a:rPr>
              <a:t> </a:t>
            </a:r>
            <a:r>
              <a:rPr sz="2450" spc="-10" dirty="0">
                <a:latin typeface="Microsoft Sans Serif"/>
                <a:cs typeface="Microsoft Sans Serif"/>
              </a:rPr>
              <a:t>period.</a:t>
            </a:r>
            <a:endParaRPr sz="2450">
              <a:latin typeface="Microsoft Sans Serif"/>
              <a:cs typeface="Microsoft Sans Serif"/>
            </a:endParaRPr>
          </a:p>
          <a:p>
            <a:pPr marL="211454" marR="75565" indent="-199390">
              <a:lnSpc>
                <a:spcPts val="2630"/>
              </a:lnSpc>
              <a:spcBef>
                <a:spcPts val="880"/>
              </a:spcBef>
              <a:buChar char="•"/>
              <a:tabLst>
                <a:tab pos="212725" algn="l"/>
              </a:tabLst>
            </a:pPr>
            <a:r>
              <a:rPr sz="2450" spc="-20" dirty="0">
                <a:latin typeface="Microsoft Sans Serif"/>
                <a:cs typeface="Microsoft Sans Serif"/>
              </a:rPr>
              <a:t>Being</a:t>
            </a:r>
            <a:r>
              <a:rPr sz="2450" spc="-80" dirty="0">
                <a:latin typeface="Microsoft Sans Serif"/>
                <a:cs typeface="Microsoft Sans Serif"/>
              </a:rPr>
              <a:t> </a:t>
            </a:r>
            <a:r>
              <a:rPr sz="2450" dirty="0">
                <a:latin typeface="Microsoft Sans Serif"/>
                <a:cs typeface="Microsoft Sans Serif"/>
              </a:rPr>
              <a:t>an</a:t>
            </a:r>
            <a:r>
              <a:rPr sz="2450" spc="-130" dirty="0">
                <a:latin typeface="Microsoft Sans Serif"/>
                <a:cs typeface="Microsoft Sans Serif"/>
              </a:rPr>
              <a:t> </a:t>
            </a:r>
            <a:r>
              <a:rPr sz="2450" dirty="0">
                <a:latin typeface="Microsoft Sans Serif"/>
                <a:cs typeface="Microsoft Sans Serif"/>
              </a:rPr>
              <a:t>oral</a:t>
            </a:r>
            <a:r>
              <a:rPr sz="2450" spc="-80" dirty="0">
                <a:latin typeface="Microsoft Sans Serif"/>
                <a:cs typeface="Microsoft Sans Serif"/>
              </a:rPr>
              <a:t> </a:t>
            </a:r>
            <a:r>
              <a:rPr sz="2450" dirty="0">
                <a:latin typeface="Microsoft Sans Serif"/>
                <a:cs typeface="Microsoft Sans Serif"/>
              </a:rPr>
              <a:t>tradition,</a:t>
            </a:r>
            <a:r>
              <a:rPr sz="2450" spc="-60" dirty="0">
                <a:latin typeface="Microsoft Sans Serif"/>
                <a:cs typeface="Microsoft Sans Serif"/>
              </a:rPr>
              <a:t> </a:t>
            </a:r>
            <a:r>
              <a:rPr sz="2450" spc="-10" dirty="0">
                <a:latin typeface="Microsoft Sans Serif"/>
                <a:cs typeface="Microsoft Sans Serif"/>
              </a:rPr>
              <a:t>unique</a:t>
            </a:r>
            <a:r>
              <a:rPr sz="2450" spc="-85" dirty="0">
                <a:latin typeface="Microsoft Sans Serif"/>
                <a:cs typeface="Microsoft Sans Serif"/>
              </a:rPr>
              <a:t> </a:t>
            </a:r>
            <a:r>
              <a:rPr sz="2450" dirty="0">
                <a:latin typeface="Microsoft Sans Serif"/>
                <a:cs typeface="Microsoft Sans Serif"/>
              </a:rPr>
              <a:t>and</a:t>
            </a:r>
            <a:r>
              <a:rPr sz="2450" spc="-80" dirty="0">
                <a:latin typeface="Microsoft Sans Serif"/>
                <a:cs typeface="Microsoft Sans Serif"/>
              </a:rPr>
              <a:t> </a:t>
            </a:r>
            <a:r>
              <a:rPr sz="2450" dirty="0">
                <a:latin typeface="Microsoft Sans Serif"/>
                <a:cs typeface="Microsoft Sans Serif"/>
              </a:rPr>
              <a:t>unambiguous</a:t>
            </a:r>
            <a:r>
              <a:rPr sz="2450" spc="-130" dirty="0">
                <a:latin typeface="Microsoft Sans Serif"/>
                <a:cs typeface="Microsoft Sans Serif"/>
              </a:rPr>
              <a:t> </a:t>
            </a:r>
            <a:r>
              <a:rPr sz="2450" dirty="0">
                <a:latin typeface="Microsoft Sans Serif"/>
                <a:cs typeface="Microsoft Sans Serif"/>
              </a:rPr>
              <a:t>names</a:t>
            </a:r>
            <a:r>
              <a:rPr sz="2450" spc="-135" dirty="0">
                <a:latin typeface="Microsoft Sans Serif"/>
                <a:cs typeface="Microsoft Sans Serif"/>
              </a:rPr>
              <a:t> </a:t>
            </a:r>
            <a:r>
              <a:rPr sz="2450" dirty="0">
                <a:latin typeface="Microsoft Sans Serif"/>
                <a:cs typeface="Microsoft Sans Serif"/>
              </a:rPr>
              <a:t>were</a:t>
            </a:r>
            <a:r>
              <a:rPr sz="2450" spc="-85" dirty="0">
                <a:latin typeface="Microsoft Sans Serif"/>
                <a:cs typeface="Microsoft Sans Serif"/>
              </a:rPr>
              <a:t> </a:t>
            </a:r>
            <a:r>
              <a:rPr sz="2450" spc="30" dirty="0">
                <a:latin typeface="Microsoft Sans Serif"/>
                <a:cs typeface="Microsoft Sans Serif"/>
              </a:rPr>
              <a:t>to 	</a:t>
            </a:r>
            <a:r>
              <a:rPr sz="2450" dirty="0">
                <a:latin typeface="Microsoft Sans Serif"/>
                <a:cs typeface="Microsoft Sans Serif"/>
              </a:rPr>
              <a:t>be</a:t>
            </a:r>
            <a:r>
              <a:rPr sz="2450" spc="25" dirty="0">
                <a:latin typeface="Microsoft Sans Serif"/>
                <a:cs typeface="Microsoft Sans Serif"/>
              </a:rPr>
              <a:t> </a:t>
            </a:r>
            <a:r>
              <a:rPr sz="2450" dirty="0">
                <a:latin typeface="Microsoft Sans Serif"/>
                <a:cs typeface="Microsoft Sans Serif"/>
              </a:rPr>
              <a:t>attributed</a:t>
            </a:r>
            <a:r>
              <a:rPr sz="2450" spc="30" dirty="0">
                <a:latin typeface="Microsoft Sans Serif"/>
                <a:cs typeface="Microsoft Sans Serif"/>
              </a:rPr>
              <a:t> </a:t>
            </a:r>
            <a:r>
              <a:rPr sz="2450" spc="55" dirty="0">
                <a:latin typeface="Microsoft Sans Serif"/>
                <a:cs typeface="Microsoft Sans Serif"/>
              </a:rPr>
              <a:t>to</a:t>
            </a:r>
            <a:r>
              <a:rPr sz="2450" spc="15" dirty="0">
                <a:latin typeface="Microsoft Sans Serif"/>
                <a:cs typeface="Microsoft Sans Serif"/>
              </a:rPr>
              <a:t> </a:t>
            </a:r>
            <a:r>
              <a:rPr sz="2450" dirty="0">
                <a:latin typeface="Microsoft Sans Serif"/>
                <a:cs typeface="Microsoft Sans Serif"/>
              </a:rPr>
              <a:t>the</a:t>
            </a:r>
            <a:r>
              <a:rPr sz="2450" spc="30" dirty="0">
                <a:latin typeface="Microsoft Sans Serif"/>
                <a:cs typeface="Microsoft Sans Serif"/>
              </a:rPr>
              <a:t> </a:t>
            </a:r>
            <a:r>
              <a:rPr sz="2450" spc="-10" dirty="0">
                <a:latin typeface="Microsoft Sans Serif"/>
                <a:cs typeface="Microsoft Sans Serif"/>
              </a:rPr>
              <a:t>numbers.</a:t>
            </a:r>
            <a:endParaRPr sz="2450">
              <a:latin typeface="Microsoft Sans Serif"/>
              <a:cs typeface="Microsoft Sans Serif"/>
            </a:endParaRPr>
          </a:p>
          <a:p>
            <a:pPr marL="211454" marR="5080" indent="-199390">
              <a:lnSpc>
                <a:spcPts val="2630"/>
              </a:lnSpc>
              <a:spcBef>
                <a:spcPts val="880"/>
              </a:spcBef>
              <a:buChar char="•"/>
              <a:tabLst>
                <a:tab pos="212725" algn="l"/>
              </a:tabLst>
            </a:pPr>
            <a:r>
              <a:rPr sz="2450" spc="-10" dirty="0">
                <a:latin typeface="Microsoft Sans Serif"/>
                <a:cs typeface="Microsoft Sans Serif"/>
              </a:rPr>
              <a:t>The</a:t>
            </a:r>
            <a:r>
              <a:rPr sz="2450" spc="-75" dirty="0">
                <a:latin typeface="Microsoft Sans Serif"/>
                <a:cs typeface="Microsoft Sans Serif"/>
              </a:rPr>
              <a:t> </a:t>
            </a:r>
            <a:r>
              <a:rPr sz="2450" spc="-10" dirty="0">
                <a:latin typeface="Microsoft Sans Serif"/>
                <a:cs typeface="Microsoft Sans Serif"/>
              </a:rPr>
              <a:t>Sanskrit</a:t>
            </a:r>
            <a:r>
              <a:rPr sz="2450" spc="-105" dirty="0">
                <a:latin typeface="Microsoft Sans Serif"/>
                <a:cs typeface="Microsoft Sans Serif"/>
              </a:rPr>
              <a:t> </a:t>
            </a:r>
            <a:r>
              <a:rPr sz="2450" spc="-10" dirty="0">
                <a:latin typeface="Microsoft Sans Serif"/>
                <a:cs typeface="Microsoft Sans Serif"/>
              </a:rPr>
              <a:t>language</a:t>
            </a:r>
            <a:r>
              <a:rPr sz="2450" spc="-75" dirty="0">
                <a:latin typeface="Microsoft Sans Serif"/>
                <a:cs typeface="Microsoft Sans Serif"/>
              </a:rPr>
              <a:t> </a:t>
            </a:r>
            <a:r>
              <a:rPr sz="2450" dirty="0">
                <a:latin typeface="Microsoft Sans Serif"/>
                <a:cs typeface="Microsoft Sans Serif"/>
              </a:rPr>
              <a:t>has</a:t>
            </a:r>
            <a:r>
              <a:rPr sz="2450" spc="-125" dirty="0">
                <a:latin typeface="Microsoft Sans Serif"/>
                <a:cs typeface="Microsoft Sans Serif"/>
              </a:rPr>
              <a:t> </a:t>
            </a:r>
            <a:r>
              <a:rPr sz="2450" spc="-10" dirty="0">
                <a:latin typeface="Microsoft Sans Serif"/>
                <a:cs typeface="Microsoft Sans Serif"/>
              </a:rPr>
              <a:t>unique</a:t>
            </a:r>
            <a:r>
              <a:rPr sz="2450" spc="-75" dirty="0">
                <a:latin typeface="Microsoft Sans Serif"/>
                <a:cs typeface="Microsoft Sans Serif"/>
              </a:rPr>
              <a:t> </a:t>
            </a:r>
            <a:r>
              <a:rPr sz="2450" dirty="0">
                <a:latin typeface="Microsoft Sans Serif"/>
                <a:cs typeface="Microsoft Sans Serif"/>
              </a:rPr>
              <a:t>names</a:t>
            </a:r>
            <a:r>
              <a:rPr sz="2450" spc="-125" dirty="0">
                <a:latin typeface="Microsoft Sans Serif"/>
                <a:cs typeface="Microsoft Sans Serif"/>
              </a:rPr>
              <a:t> </a:t>
            </a:r>
            <a:r>
              <a:rPr sz="2450" spc="75" dirty="0">
                <a:latin typeface="Microsoft Sans Serif"/>
                <a:cs typeface="Microsoft Sans Serif"/>
              </a:rPr>
              <a:t>for</a:t>
            </a:r>
            <a:r>
              <a:rPr sz="2450" spc="-125" dirty="0">
                <a:latin typeface="Microsoft Sans Serif"/>
                <a:cs typeface="Microsoft Sans Serif"/>
              </a:rPr>
              <a:t> </a:t>
            </a:r>
            <a:r>
              <a:rPr sz="2450" dirty="0">
                <a:latin typeface="Microsoft Sans Serif"/>
                <a:cs typeface="Microsoft Sans Serif"/>
              </a:rPr>
              <a:t>numbers</a:t>
            </a:r>
            <a:r>
              <a:rPr sz="2450" spc="-125" dirty="0">
                <a:latin typeface="Microsoft Sans Serif"/>
                <a:cs typeface="Microsoft Sans Serif"/>
              </a:rPr>
              <a:t> </a:t>
            </a:r>
            <a:r>
              <a:rPr sz="2450" spc="-10" dirty="0">
                <a:latin typeface="Microsoft Sans Serif"/>
                <a:cs typeface="Microsoft Sans Serif"/>
              </a:rPr>
              <a:t>strating 	</a:t>
            </a:r>
            <a:r>
              <a:rPr sz="2450" spc="65" dirty="0">
                <a:latin typeface="Microsoft Sans Serif"/>
                <a:cs typeface="Microsoft Sans Serif"/>
              </a:rPr>
              <a:t>from</a:t>
            </a:r>
            <a:r>
              <a:rPr sz="2450" spc="-20" dirty="0">
                <a:latin typeface="Microsoft Sans Serif"/>
                <a:cs typeface="Microsoft Sans Serif"/>
              </a:rPr>
              <a:t> </a:t>
            </a:r>
            <a:r>
              <a:rPr sz="2450" dirty="0">
                <a:latin typeface="Microsoft Sans Serif"/>
                <a:cs typeface="Microsoft Sans Serif"/>
              </a:rPr>
              <a:t>one</a:t>
            </a:r>
            <a:r>
              <a:rPr sz="2450" spc="-45" dirty="0">
                <a:latin typeface="Microsoft Sans Serif"/>
                <a:cs typeface="Microsoft Sans Serif"/>
              </a:rPr>
              <a:t> </a:t>
            </a:r>
            <a:r>
              <a:rPr sz="2450" dirty="0">
                <a:latin typeface="Microsoft Sans Serif"/>
                <a:cs typeface="Microsoft Sans Serif"/>
              </a:rPr>
              <a:t>and</a:t>
            </a:r>
            <a:r>
              <a:rPr sz="2450" spc="-40" dirty="0">
                <a:latin typeface="Microsoft Sans Serif"/>
                <a:cs typeface="Microsoft Sans Serif"/>
              </a:rPr>
              <a:t> </a:t>
            </a:r>
            <a:r>
              <a:rPr sz="2450" dirty="0">
                <a:latin typeface="Microsoft Sans Serif"/>
                <a:cs typeface="Microsoft Sans Serif"/>
              </a:rPr>
              <a:t>going</a:t>
            </a:r>
            <a:r>
              <a:rPr sz="2450" spc="-35" dirty="0">
                <a:latin typeface="Microsoft Sans Serif"/>
                <a:cs typeface="Microsoft Sans Serif"/>
              </a:rPr>
              <a:t> </a:t>
            </a:r>
            <a:r>
              <a:rPr sz="2450" dirty="0">
                <a:latin typeface="Microsoft Sans Serif"/>
                <a:cs typeface="Microsoft Sans Serif"/>
              </a:rPr>
              <a:t>upto</a:t>
            </a:r>
            <a:r>
              <a:rPr sz="2450" spc="-55" dirty="0">
                <a:latin typeface="Microsoft Sans Serif"/>
                <a:cs typeface="Microsoft Sans Serif"/>
              </a:rPr>
              <a:t> </a:t>
            </a:r>
            <a:r>
              <a:rPr sz="2450" spc="-20" dirty="0">
                <a:latin typeface="Microsoft Sans Serif"/>
                <a:cs typeface="Microsoft Sans Serif"/>
              </a:rPr>
              <a:t>very</a:t>
            </a:r>
            <a:r>
              <a:rPr sz="2450" spc="-75" dirty="0">
                <a:latin typeface="Microsoft Sans Serif"/>
                <a:cs typeface="Microsoft Sans Serif"/>
              </a:rPr>
              <a:t> </a:t>
            </a:r>
            <a:r>
              <a:rPr sz="2450" dirty="0">
                <a:latin typeface="Microsoft Sans Serif"/>
                <a:cs typeface="Microsoft Sans Serif"/>
              </a:rPr>
              <a:t>large</a:t>
            </a:r>
            <a:r>
              <a:rPr sz="2450" spc="-45" dirty="0">
                <a:latin typeface="Microsoft Sans Serif"/>
                <a:cs typeface="Microsoft Sans Serif"/>
              </a:rPr>
              <a:t> </a:t>
            </a:r>
            <a:r>
              <a:rPr sz="2450" spc="-10" dirty="0">
                <a:latin typeface="Microsoft Sans Serif"/>
                <a:cs typeface="Microsoft Sans Serif"/>
              </a:rPr>
              <a:t>numbers;</a:t>
            </a:r>
            <a:r>
              <a:rPr sz="2450" spc="-50" dirty="0">
                <a:latin typeface="Microsoft Sans Serif"/>
                <a:cs typeface="Microsoft Sans Serif"/>
              </a:rPr>
              <a:t> </a:t>
            </a:r>
            <a:r>
              <a:rPr sz="2450" dirty="0">
                <a:latin typeface="Microsoft Sans Serif"/>
                <a:cs typeface="Microsoft Sans Serif"/>
              </a:rPr>
              <a:t>the</a:t>
            </a:r>
            <a:r>
              <a:rPr sz="2450" spc="-40" dirty="0">
                <a:latin typeface="Microsoft Sans Serif"/>
                <a:cs typeface="Microsoft Sans Serif"/>
              </a:rPr>
              <a:t> </a:t>
            </a:r>
            <a:r>
              <a:rPr sz="2450" dirty="0">
                <a:latin typeface="Microsoft Sans Serif"/>
                <a:cs typeface="Microsoft Sans Serif"/>
              </a:rPr>
              <a:t>first</a:t>
            </a:r>
            <a:r>
              <a:rPr sz="2450" spc="-75" dirty="0">
                <a:latin typeface="Microsoft Sans Serif"/>
                <a:cs typeface="Microsoft Sans Serif"/>
              </a:rPr>
              <a:t> </a:t>
            </a:r>
            <a:r>
              <a:rPr sz="2450" dirty="0">
                <a:latin typeface="Microsoft Sans Serif"/>
                <a:cs typeface="Microsoft Sans Serif"/>
              </a:rPr>
              <a:t>nine</a:t>
            </a:r>
            <a:r>
              <a:rPr sz="2450" spc="-45" dirty="0">
                <a:latin typeface="Microsoft Sans Serif"/>
                <a:cs typeface="Microsoft Sans Serif"/>
              </a:rPr>
              <a:t> </a:t>
            </a:r>
            <a:r>
              <a:rPr sz="2450" spc="40" dirty="0">
                <a:latin typeface="Microsoft Sans Serif"/>
                <a:cs typeface="Microsoft Sans Serif"/>
              </a:rPr>
              <a:t>digits 	</a:t>
            </a:r>
            <a:r>
              <a:rPr sz="2450" spc="-25" dirty="0">
                <a:latin typeface="Microsoft Sans Serif"/>
                <a:cs typeface="Microsoft Sans Serif"/>
              </a:rPr>
              <a:t>have</a:t>
            </a:r>
            <a:r>
              <a:rPr sz="2450" spc="-130" dirty="0">
                <a:latin typeface="Microsoft Sans Serif"/>
                <a:cs typeface="Microsoft Sans Serif"/>
              </a:rPr>
              <a:t> </a:t>
            </a:r>
            <a:r>
              <a:rPr sz="2450" spc="-10" dirty="0">
                <a:latin typeface="Microsoft Sans Serif"/>
                <a:cs typeface="Microsoft Sans Serif"/>
              </a:rPr>
              <a:t>unique</a:t>
            </a:r>
            <a:r>
              <a:rPr sz="2450" spc="-125" dirty="0">
                <a:latin typeface="Microsoft Sans Serif"/>
                <a:cs typeface="Microsoft Sans Serif"/>
              </a:rPr>
              <a:t> </a:t>
            </a:r>
            <a:r>
              <a:rPr sz="2450" dirty="0">
                <a:latin typeface="Microsoft Sans Serif"/>
                <a:cs typeface="Microsoft Sans Serif"/>
              </a:rPr>
              <a:t>names</a:t>
            </a:r>
            <a:r>
              <a:rPr sz="2450" spc="-160" dirty="0">
                <a:latin typeface="Microsoft Sans Serif"/>
                <a:cs typeface="Microsoft Sans Serif"/>
              </a:rPr>
              <a:t> </a:t>
            </a:r>
            <a:r>
              <a:rPr sz="2450" dirty="0">
                <a:latin typeface="Microsoft Sans Serif"/>
                <a:cs typeface="Microsoft Sans Serif"/>
              </a:rPr>
              <a:t>(ekam,</a:t>
            </a:r>
            <a:r>
              <a:rPr sz="2450" spc="-100" dirty="0">
                <a:latin typeface="Microsoft Sans Serif"/>
                <a:cs typeface="Microsoft Sans Serif"/>
              </a:rPr>
              <a:t> </a:t>
            </a:r>
            <a:r>
              <a:rPr sz="2450" spc="-25" dirty="0">
                <a:latin typeface="Microsoft Sans Serif"/>
                <a:cs typeface="Microsoft Sans Serif"/>
              </a:rPr>
              <a:t>dve,</a:t>
            </a:r>
            <a:r>
              <a:rPr sz="2450" spc="-95" dirty="0">
                <a:latin typeface="Microsoft Sans Serif"/>
                <a:cs typeface="Microsoft Sans Serif"/>
              </a:rPr>
              <a:t> </a:t>
            </a:r>
            <a:r>
              <a:rPr sz="2450" dirty="0">
                <a:latin typeface="Microsoft Sans Serif"/>
                <a:cs typeface="Microsoft Sans Serif"/>
              </a:rPr>
              <a:t>trini,</a:t>
            </a:r>
            <a:r>
              <a:rPr sz="2450" spc="-95" dirty="0">
                <a:latin typeface="Microsoft Sans Serif"/>
                <a:cs typeface="Microsoft Sans Serif"/>
              </a:rPr>
              <a:t> </a:t>
            </a:r>
            <a:r>
              <a:rPr sz="2450" dirty="0">
                <a:latin typeface="Microsoft Sans Serif"/>
                <a:cs typeface="Microsoft Sans Serif"/>
              </a:rPr>
              <a:t>catvari,</a:t>
            </a:r>
            <a:r>
              <a:rPr sz="2450" spc="-100" dirty="0">
                <a:latin typeface="Microsoft Sans Serif"/>
                <a:cs typeface="Microsoft Sans Serif"/>
              </a:rPr>
              <a:t> </a:t>
            </a:r>
            <a:r>
              <a:rPr sz="2450" spc="-20" dirty="0">
                <a:latin typeface="Microsoft Sans Serif"/>
                <a:cs typeface="Microsoft Sans Serif"/>
              </a:rPr>
              <a:t>panca,</a:t>
            </a:r>
            <a:r>
              <a:rPr sz="2450" spc="-95" dirty="0">
                <a:latin typeface="Microsoft Sans Serif"/>
                <a:cs typeface="Microsoft Sans Serif"/>
              </a:rPr>
              <a:t> </a:t>
            </a:r>
            <a:r>
              <a:rPr sz="2450" dirty="0">
                <a:latin typeface="Microsoft Sans Serif"/>
                <a:cs typeface="Microsoft Sans Serif"/>
              </a:rPr>
              <a:t>sat,</a:t>
            </a:r>
            <a:r>
              <a:rPr sz="2450" spc="-100" dirty="0">
                <a:latin typeface="Microsoft Sans Serif"/>
                <a:cs typeface="Microsoft Sans Serif"/>
              </a:rPr>
              <a:t> </a:t>
            </a:r>
            <a:r>
              <a:rPr sz="2450" spc="-10" dirty="0">
                <a:latin typeface="Microsoft Sans Serif"/>
                <a:cs typeface="Microsoft Sans Serif"/>
              </a:rPr>
              <a:t>sapta, 	asta,</a:t>
            </a:r>
            <a:r>
              <a:rPr sz="2450" spc="-140" dirty="0">
                <a:latin typeface="Microsoft Sans Serif"/>
                <a:cs typeface="Microsoft Sans Serif"/>
              </a:rPr>
              <a:t> </a:t>
            </a:r>
            <a:r>
              <a:rPr sz="2450" spc="-10" dirty="0">
                <a:latin typeface="Microsoft Sans Serif"/>
                <a:cs typeface="Microsoft Sans Serif"/>
              </a:rPr>
              <a:t>nava).</a:t>
            </a:r>
            <a:endParaRPr sz="2450">
              <a:latin typeface="Microsoft Sans Serif"/>
              <a:cs typeface="Microsoft Sans Serif"/>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820" rIns="0" bIns="0" rtlCol="0">
            <a:spAutoFit/>
          </a:bodyPr>
          <a:lstStyle/>
          <a:p>
            <a:pPr marL="12700" marR="5080">
              <a:lnSpc>
                <a:spcPts val="4120"/>
              </a:lnSpc>
              <a:spcBef>
                <a:spcPts val="660"/>
              </a:spcBef>
            </a:pPr>
            <a:r>
              <a:rPr spc="-10" dirty="0"/>
              <a:t>Salient</a:t>
            </a:r>
            <a:r>
              <a:rPr spc="-150" dirty="0"/>
              <a:t> </a:t>
            </a:r>
            <a:r>
              <a:rPr spc="-40" dirty="0"/>
              <a:t>Features</a:t>
            </a:r>
            <a:r>
              <a:rPr spc="-95" dirty="0"/>
              <a:t> </a:t>
            </a:r>
            <a:r>
              <a:rPr spc="145" dirty="0"/>
              <a:t>of</a:t>
            </a:r>
            <a:r>
              <a:rPr spc="-140" dirty="0"/>
              <a:t> </a:t>
            </a:r>
            <a:r>
              <a:rPr dirty="0"/>
              <a:t>the</a:t>
            </a:r>
            <a:r>
              <a:rPr spc="-145" dirty="0"/>
              <a:t> </a:t>
            </a:r>
            <a:r>
              <a:rPr dirty="0"/>
              <a:t>Indian</a:t>
            </a:r>
            <a:r>
              <a:rPr spc="-140" dirty="0"/>
              <a:t> </a:t>
            </a:r>
            <a:r>
              <a:rPr spc="-10" dirty="0"/>
              <a:t>Numeral System</a:t>
            </a:r>
          </a:p>
        </p:txBody>
      </p:sp>
      <p:pic>
        <p:nvPicPr>
          <p:cNvPr id="3" name="object 3"/>
          <p:cNvPicPr/>
          <p:nvPr/>
        </p:nvPicPr>
        <p:blipFill>
          <a:blip r:embed="rId2" cstate="print"/>
          <a:stretch>
            <a:fillRect/>
          </a:stretch>
        </p:blipFill>
        <p:spPr>
          <a:xfrm>
            <a:off x="1001730" y="1691451"/>
            <a:ext cx="8914742" cy="38932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5735" rIns="0" bIns="0" rtlCol="0">
            <a:spAutoFit/>
          </a:bodyPr>
          <a:lstStyle/>
          <a:p>
            <a:pPr marL="12700">
              <a:lnSpc>
                <a:spcPct val="100000"/>
              </a:lnSpc>
              <a:spcBef>
                <a:spcPts val="110"/>
              </a:spcBef>
            </a:pPr>
            <a:r>
              <a:rPr spc="-45" dirty="0"/>
              <a:t>The</a:t>
            </a:r>
            <a:r>
              <a:rPr spc="-160" dirty="0"/>
              <a:t> </a:t>
            </a:r>
            <a:r>
              <a:rPr dirty="0"/>
              <a:t>Concept</a:t>
            </a:r>
            <a:r>
              <a:rPr spc="-165" dirty="0"/>
              <a:t> </a:t>
            </a:r>
            <a:r>
              <a:rPr spc="145" dirty="0"/>
              <a:t>of</a:t>
            </a:r>
            <a:r>
              <a:rPr spc="-155" dirty="0"/>
              <a:t> </a:t>
            </a:r>
            <a:r>
              <a:rPr spc="-20" dirty="0"/>
              <a:t>Zero</a:t>
            </a:r>
            <a:r>
              <a:rPr spc="-145" dirty="0"/>
              <a:t> </a:t>
            </a:r>
            <a:r>
              <a:rPr dirty="0"/>
              <a:t>and</a:t>
            </a:r>
            <a:r>
              <a:rPr spc="-114" dirty="0"/>
              <a:t> </a:t>
            </a:r>
            <a:r>
              <a:rPr spc="55" dirty="0"/>
              <a:t>Its</a:t>
            </a:r>
            <a:r>
              <a:rPr spc="-110" dirty="0"/>
              <a:t> </a:t>
            </a:r>
            <a:r>
              <a:rPr spc="-10" dirty="0"/>
              <a:t>Importance</a:t>
            </a:r>
          </a:p>
        </p:txBody>
      </p:sp>
      <p:sp>
        <p:nvSpPr>
          <p:cNvPr id="3" name="object 3"/>
          <p:cNvSpPr txBox="1"/>
          <p:nvPr/>
        </p:nvSpPr>
        <p:spPr>
          <a:xfrm>
            <a:off x="802671" y="1585560"/>
            <a:ext cx="8950960" cy="2739390"/>
          </a:xfrm>
          <a:prstGeom prst="rect">
            <a:avLst/>
          </a:prstGeom>
        </p:spPr>
        <p:txBody>
          <a:bodyPr vert="horz" wrap="square" lIns="0" tIns="57150" rIns="0" bIns="0" rtlCol="0">
            <a:spAutoFit/>
          </a:bodyPr>
          <a:lstStyle/>
          <a:p>
            <a:pPr marL="211454" marR="5080" indent="-199390">
              <a:lnSpc>
                <a:spcPts val="2630"/>
              </a:lnSpc>
              <a:spcBef>
                <a:spcPts val="450"/>
              </a:spcBef>
              <a:buChar char="•"/>
              <a:tabLst>
                <a:tab pos="212725" algn="l"/>
              </a:tabLst>
            </a:pPr>
            <a:r>
              <a:rPr sz="2450" spc="-10" dirty="0">
                <a:latin typeface="Microsoft Sans Serif"/>
                <a:cs typeface="Microsoft Sans Serif"/>
              </a:rPr>
              <a:t>The</a:t>
            </a:r>
            <a:r>
              <a:rPr sz="2450" spc="-20" dirty="0">
                <a:latin typeface="Microsoft Sans Serif"/>
                <a:cs typeface="Microsoft Sans Serif"/>
              </a:rPr>
              <a:t> </a:t>
            </a:r>
            <a:r>
              <a:rPr sz="2450" dirty="0">
                <a:latin typeface="Microsoft Sans Serif"/>
                <a:cs typeface="Microsoft Sans Serif"/>
              </a:rPr>
              <a:t>concept</a:t>
            </a:r>
            <a:r>
              <a:rPr sz="2450" spc="-45" dirty="0">
                <a:latin typeface="Microsoft Sans Serif"/>
                <a:cs typeface="Microsoft Sans Serif"/>
              </a:rPr>
              <a:t> </a:t>
            </a:r>
            <a:r>
              <a:rPr sz="2450" spc="100" dirty="0">
                <a:latin typeface="Microsoft Sans Serif"/>
                <a:cs typeface="Microsoft Sans Serif"/>
              </a:rPr>
              <a:t>of</a:t>
            </a:r>
            <a:r>
              <a:rPr sz="2450" spc="-5" dirty="0">
                <a:latin typeface="Microsoft Sans Serif"/>
                <a:cs typeface="Microsoft Sans Serif"/>
              </a:rPr>
              <a:t> </a:t>
            </a:r>
            <a:r>
              <a:rPr sz="2450" dirty="0">
                <a:latin typeface="Microsoft Sans Serif"/>
                <a:cs typeface="Microsoft Sans Serif"/>
              </a:rPr>
              <a:t>zero</a:t>
            </a:r>
            <a:r>
              <a:rPr sz="2450" spc="-30" dirty="0">
                <a:latin typeface="Microsoft Sans Serif"/>
                <a:cs typeface="Microsoft Sans Serif"/>
              </a:rPr>
              <a:t> </a:t>
            </a:r>
            <a:r>
              <a:rPr sz="2450" dirty="0">
                <a:latin typeface="Microsoft Sans Serif"/>
                <a:cs typeface="Microsoft Sans Serif"/>
              </a:rPr>
              <a:t>was</a:t>
            </a:r>
            <a:r>
              <a:rPr sz="2450" spc="-70" dirty="0">
                <a:latin typeface="Microsoft Sans Serif"/>
                <a:cs typeface="Microsoft Sans Serif"/>
              </a:rPr>
              <a:t> </a:t>
            </a:r>
            <a:r>
              <a:rPr sz="2450" dirty="0">
                <a:latin typeface="Microsoft Sans Serif"/>
                <a:cs typeface="Microsoft Sans Serif"/>
              </a:rPr>
              <a:t>established</a:t>
            </a:r>
            <a:r>
              <a:rPr sz="2450" spc="-10" dirty="0">
                <a:latin typeface="Microsoft Sans Serif"/>
                <a:cs typeface="Microsoft Sans Serif"/>
              </a:rPr>
              <a:t> </a:t>
            </a:r>
            <a:r>
              <a:rPr sz="2450" dirty="0">
                <a:latin typeface="Microsoft Sans Serif"/>
                <a:cs typeface="Microsoft Sans Serif"/>
              </a:rPr>
              <a:t>during</a:t>
            </a:r>
            <a:r>
              <a:rPr sz="2450" spc="-10" dirty="0">
                <a:latin typeface="Microsoft Sans Serif"/>
                <a:cs typeface="Microsoft Sans Serif"/>
              </a:rPr>
              <a:t> </a:t>
            </a:r>
            <a:r>
              <a:rPr sz="2450" dirty="0">
                <a:latin typeface="Microsoft Sans Serif"/>
                <a:cs typeface="Microsoft Sans Serif"/>
              </a:rPr>
              <a:t>the</a:t>
            </a:r>
            <a:r>
              <a:rPr sz="2450" spc="-15" dirty="0">
                <a:latin typeface="Microsoft Sans Serif"/>
                <a:cs typeface="Microsoft Sans Serif"/>
              </a:rPr>
              <a:t> </a:t>
            </a:r>
            <a:r>
              <a:rPr sz="2450" dirty="0">
                <a:latin typeface="Microsoft Sans Serif"/>
                <a:cs typeface="Microsoft Sans Serif"/>
              </a:rPr>
              <a:t>period</a:t>
            </a:r>
            <a:r>
              <a:rPr sz="2450" spc="-10" dirty="0">
                <a:latin typeface="Microsoft Sans Serif"/>
                <a:cs typeface="Microsoft Sans Serif"/>
              </a:rPr>
              <a:t> 500-</a:t>
            </a:r>
            <a:r>
              <a:rPr sz="2450" spc="-25" dirty="0">
                <a:latin typeface="Microsoft Sans Serif"/>
                <a:cs typeface="Microsoft Sans Serif"/>
              </a:rPr>
              <a:t>300 	</a:t>
            </a:r>
            <a:r>
              <a:rPr sz="2450" spc="-20" dirty="0">
                <a:latin typeface="Microsoft Sans Serif"/>
                <a:cs typeface="Microsoft Sans Serif"/>
              </a:rPr>
              <a:t>BCE.</a:t>
            </a:r>
            <a:endParaRPr sz="2450">
              <a:latin typeface="Microsoft Sans Serif"/>
              <a:cs typeface="Microsoft Sans Serif"/>
            </a:endParaRPr>
          </a:p>
          <a:p>
            <a:pPr marL="211454" marR="389890" indent="-199390">
              <a:lnSpc>
                <a:spcPts val="2630"/>
              </a:lnSpc>
              <a:spcBef>
                <a:spcPts val="880"/>
              </a:spcBef>
              <a:buChar char="•"/>
              <a:tabLst>
                <a:tab pos="212725" algn="l"/>
              </a:tabLst>
            </a:pPr>
            <a:r>
              <a:rPr sz="2450" dirty="0">
                <a:latin typeface="Microsoft Sans Serif"/>
                <a:cs typeface="Microsoft Sans Serif"/>
              </a:rPr>
              <a:t>Ancient</a:t>
            </a:r>
            <a:r>
              <a:rPr sz="2450" spc="-30" dirty="0">
                <a:latin typeface="Microsoft Sans Serif"/>
                <a:cs typeface="Microsoft Sans Serif"/>
              </a:rPr>
              <a:t> </a:t>
            </a:r>
            <a:r>
              <a:rPr sz="2450" dirty="0">
                <a:latin typeface="Microsoft Sans Serif"/>
                <a:cs typeface="Microsoft Sans Serif"/>
              </a:rPr>
              <a:t>Indians</a:t>
            </a:r>
            <a:r>
              <a:rPr sz="2450" spc="-50" dirty="0">
                <a:latin typeface="Microsoft Sans Serif"/>
                <a:cs typeface="Microsoft Sans Serif"/>
              </a:rPr>
              <a:t> </a:t>
            </a:r>
            <a:r>
              <a:rPr sz="2450" dirty="0">
                <a:latin typeface="Microsoft Sans Serif"/>
                <a:cs typeface="Microsoft Sans Serif"/>
              </a:rPr>
              <a:t>used</a:t>
            </a:r>
            <a:r>
              <a:rPr sz="2450" spc="15" dirty="0">
                <a:latin typeface="Microsoft Sans Serif"/>
                <a:cs typeface="Microsoft Sans Serif"/>
              </a:rPr>
              <a:t> </a:t>
            </a:r>
            <a:r>
              <a:rPr sz="2450" dirty="0">
                <a:latin typeface="Microsoft Sans Serif"/>
                <a:cs typeface="Microsoft Sans Serif"/>
              </a:rPr>
              <a:t>a</a:t>
            </a:r>
            <a:r>
              <a:rPr sz="2450" spc="-35" dirty="0">
                <a:latin typeface="Microsoft Sans Serif"/>
                <a:cs typeface="Microsoft Sans Serif"/>
              </a:rPr>
              <a:t> </a:t>
            </a:r>
            <a:r>
              <a:rPr sz="2450" dirty="0">
                <a:latin typeface="Microsoft Sans Serif"/>
                <a:cs typeface="Microsoft Sans Serif"/>
              </a:rPr>
              <a:t>decimal</a:t>
            </a:r>
            <a:r>
              <a:rPr sz="2450" spc="15" dirty="0">
                <a:latin typeface="Microsoft Sans Serif"/>
                <a:cs typeface="Microsoft Sans Serif"/>
              </a:rPr>
              <a:t> </a:t>
            </a:r>
            <a:r>
              <a:rPr sz="2450" dirty="0">
                <a:latin typeface="Microsoft Sans Serif"/>
                <a:cs typeface="Microsoft Sans Serif"/>
              </a:rPr>
              <a:t>System</a:t>
            </a:r>
            <a:r>
              <a:rPr sz="2450" spc="35" dirty="0">
                <a:latin typeface="Microsoft Sans Serif"/>
                <a:cs typeface="Microsoft Sans Serif"/>
              </a:rPr>
              <a:t> </a:t>
            </a:r>
            <a:r>
              <a:rPr sz="2450" dirty="0">
                <a:latin typeface="Microsoft Sans Serif"/>
                <a:cs typeface="Microsoft Sans Serif"/>
              </a:rPr>
              <a:t>that</a:t>
            </a:r>
            <a:r>
              <a:rPr sz="2450" spc="-30" dirty="0">
                <a:latin typeface="Microsoft Sans Serif"/>
                <a:cs typeface="Microsoft Sans Serif"/>
              </a:rPr>
              <a:t> </a:t>
            </a:r>
            <a:r>
              <a:rPr sz="2450" dirty="0">
                <a:latin typeface="Microsoft Sans Serif"/>
                <a:cs typeface="Microsoft Sans Serif"/>
              </a:rPr>
              <a:t>allowed</a:t>
            </a:r>
            <a:r>
              <a:rPr sz="2450" spc="15" dirty="0">
                <a:latin typeface="Microsoft Sans Serif"/>
                <a:cs typeface="Microsoft Sans Serif"/>
              </a:rPr>
              <a:t> </a:t>
            </a:r>
            <a:r>
              <a:rPr sz="2450" dirty="0">
                <a:latin typeface="Microsoft Sans Serif"/>
                <a:cs typeface="Microsoft Sans Serif"/>
              </a:rPr>
              <a:t>them</a:t>
            </a:r>
            <a:r>
              <a:rPr sz="2450" spc="30" dirty="0">
                <a:latin typeface="Microsoft Sans Serif"/>
                <a:cs typeface="Microsoft Sans Serif"/>
              </a:rPr>
              <a:t> to 	</a:t>
            </a:r>
            <a:r>
              <a:rPr sz="2450" dirty="0">
                <a:latin typeface="Microsoft Sans Serif"/>
                <a:cs typeface="Microsoft Sans Serif"/>
              </a:rPr>
              <a:t>develop</a:t>
            </a:r>
            <a:r>
              <a:rPr sz="2450" spc="-25" dirty="0">
                <a:latin typeface="Microsoft Sans Serif"/>
                <a:cs typeface="Microsoft Sans Serif"/>
              </a:rPr>
              <a:t> </a:t>
            </a:r>
            <a:r>
              <a:rPr sz="2450" dirty="0">
                <a:latin typeface="Microsoft Sans Serif"/>
                <a:cs typeface="Microsoft Sans Serif"/>
              </a:rPr>
              <a:t>a</a:t>
            </a:r>
            <a:r>
              <a:rPr sz="2450" spc="-65" dirty="0">
                <a:latin typeface="Microsoft Sans Serif"/>
                <a:cs typeface="Microsoft Sans Serif"/>
              </a:rPr>
              <a:t> </a:t>
            </a:r>
            <a:r>
              <a:rPr sz="2450" dirty="0">
                <a:latin typeface="Microsoft Sans Serif"/>
                <a:cs typeface="Microsoft Sans Serif"/>
              </a:rPr>
              <a:t>method</a:t>
            </a:r>
            <a:r>
              <a:rPr sz="2450" spc="-25" dirty="0">
                <a:latin typeface="Microsoft Sans Serif"/>
                <a:cs typeface="Microsoft Sans Serif"/>
              </a:rPr>
              <a:t> </a:t>
            </a:r>
            <a:r>
              <a:rPr sz="2450" spc="75" dirty="0">
                <a:latin typeface="Microsoft Sans Serif"/>
                <a:cs typeface="Microsoft Sans Serif"/>
              </a:rPr>
              <a:t>for</a:t>
            </a:r>
            <a:r>
              <a:rPr sz="2450" spc="-90" dirty="0">
                <a:latin typeface="Microsoft Sans Serif"/>
                <a:cs typeface="Microsoft Sans Serif"/>
              </a:rPr>
              <a:t> </a:t>
            </a:r>
            <a:r>
              <a:rPr sz="2450" dirty="0">
                <a:latin typeface="Microsoft Sans Serif"/>
                <a:cs typeface="Microsoft Sans Serif"/>
              </a:rPr>
              <a:t>handling</a:t>
            </a:r>
            <a:r>
              <a:rPr sz="2450" spc="-20" dirty="0">
                <a:latin typeface="Microsoft Sans Serif"/>
                <a:cs typeface="Microsoft Sans Serif"/>
              </a:rPr>
              <a:t> </a:t>
            </a:r>
            <a:r>
              <a:rPr sz="2450" dirty="0">
                <a:latin typeface="Microsoft Sans Serif"/>
                <a:cs typeface="Microsoft Sans Serif"/>
              </a:rPr>
              <a:t>large</a:t>
            </a:r>
            <a:r>
              <a:rPr sz="2450" spc="-30" dirty="0">
                <a:latin typeface="Microsoft Sans Serif"/>
                <a:cs typeface="Microsoft Sans Serif"/>
              </a:rPr>
              <a:t> </a:t>
            </a:r>
            <a:r>
              <a:rPr sz="2450" spc="-10" dirty="0">
                <a:latin typeface="Microsoft Sans Serif"/>
                <a:cs typeface="Microsoft Sans Serif"/>
              </a:rPr>
              <a:t>numbers.</a:t>
            </a:r>
            <a:endParaRPr sz="2450">
              <a:latin typeface="Microsoft Sans Serif"/>
              <a:cs typeface="Microsoft Sans Serif"/>
            </a:endParaRPr>
          </a:p>
          <a:p>
            <a:pPr marL="212090" indent="-199390">
              <a:lnSpc>
                <a:spcPct val="100000"/>
              </a:lnSpc>
              <a:spcBef>
                <a:spcPts val="535"/>
              </a:spcBef>
              <a:buChar char="•"/>
              <a:tabLst>
                <a:tab pos="212090" algn="l"/>
              </a:tabLst>
            </a:pPr>
            <a:r>
              <a:rPr sz="2450" spc="-10" dirty="0">
                <a:latin typeface="Microsoft Sans Serif"/>
                <a:cs typeface="Microsoft Sans Serif"/>
              </a:rPr>
              <a:t>Brahmagupta</a:t>
            </a:r>
            <a:r>
              <a:rPr sz="2450" spc="-60" dirty="0">
                <a:latin typeface="Microsoft Sans Serif"/>
                <a:cs typeface="Microsoft Sans Serif"/>
              </a:rPr>
              <a:t> </a:t>
            </a:r>
            <a:r>
              <a:rPr sz="2450" dirty="0">
                <a:latin typeface="Microsoft Sans Serif"/>
                <a:cs typeface="Microsoft Sans Serif"/>
              </a:rPr>
              <a:t>developed</a:t>
            </a:r>
            <a:r>
              <a:rPr sz="2450" spc="-15" dirty="0">
                <a:latin typeface="Microsoft Sans Serif"/>
                <a:cs typeface="Microsoft Sans Serif"/>
              </a:rPr>
              <a:t> </a:t>
            </a:r>
            <a:r>
              <a:rPr sz="2450" dirty="0">
                <a:latin typeface="Microsoft Sans Serif"/>
                <a:cs typeface="Microsoft Sans Serif"/>
              </a:rPr>
              <a:t>a</a:t>
            </a:r>
            <a:r>
              <a:rPr sz="2450" spc="-60" dirty="0">
                <a:latin typeface="Microsoft Sans Serif"/>
                <a:cs typeface="Microsoft Sans Serif"/>
              </a:rPr>
              <a:t> </a:t>
            </a:r>
            <a:r>
              <a:rPr sz="2450" dirty="0">
                <a:latin typeface="Microsoft Sans Serif"/>
                <a:cs typeface="Microsoft Sans Serif"/>
              </a:rPr>
              <a:t>symbol</a:t>
            </a:r>
            <a:r>
              <a:rPr sz="2450" spc="-15" dirty="0">
                <a:latin typeface="Microsoft Sans Serif"/>
                <a:cs typeface="Microsoft Sans Serif"/>
              </a:rPr>
              <a:t> </a:t>
            </a:r>
            <a:r>
              <a:rPr sz="2450" spc="75" dirty="0">
                <a:latin typeface="Microsoft Sans Serif"/>
                <a:cs typeface="Microsoft Sans Serif"/>
              </a:rPr>
              <a:t>for</a:t>
            </a:r>
            <a:r>
              <a:rPr sz="2450" spc="-75" dirty="0">
                <a:latin typeface="Microsoft Sans Serif"/>
                <a:cs typeface="Microsoft Sans Serif"/>
              </a:rPr>
              <a:t> </a:t>
            </a:r>
            <a:r>
              <a:rPr sz="2450" dirty="0">
                <a:latin typeface="Microsoft Sans Serif"/>
                <a:cs typeface="Microsoft Sans Serif"/>
              </a:rPr>
              <a:t>zero</a:t>
            </a:r>
            <a:r>
              <a:rPr sz="2450" spc="-35" dirty="0">
                <a:latin typeface="Microsoft Sans Serif"/>
                <a:cs typeface="Microsoft Sans Serif"/>
              </a:rPr>
              <a:t> </a:t>
            </a:r>
            <a:r>
              <a:rPr sz="2450" dirty="0">
                <a:latin typeface="Microsoft Sans Serif"/>
                <a:cs typeface="Microsoft Sans Serif"/>
              </a:rPr>
              <a:t>in</a:t>
            </a:r>
            <a:r>
              <a:rPr sz="2450" spc="-75" dirty="0">
                <a:latin typeface="Microsoft Sans Serif"/>
                <a:cs typeface="Microsoft Sans Serif"/>
              </a:rPr>
              <a:t> </a:t>
            </a:r>
            <a:r>
              <a:rPr sz="2450" dirty="0">
                <a:latin typeface="Microsoft Sans Serif"/>
                <a:cs typeface="Microsoft Sans Serif"/>
              </a:rPr>
              <a:t>628</a:t>
            </a:r>
            <a:r>
              <a:rPr sz="2450" spc="-10" dirty="0">
                <a:latin typeface="Microsoft Sans Serif"/>
                <a:cs typeface="Microsoft Sans Serif"/>
              </a:rPr>
              <a:t> </a:t>
            </a:r>
            <a:r>
              <a:rPr sz="2450" spc="-25" dirty="0">
                <a:latin typeface="Microsoft Sans Serif"/>
                <a:cs typeface="Microsoft Sans Serif"/>
              </a:rPr>
              <a:t>CE.</a:t>
            </a:r>
            <a:endParaRPr sz="2450">
              <a:latin typeface="Microsoft Sans Serif"/>
              <a:cs typeface="Microsoft Sans Serif"/>
            </a:endParaRPr>
          </a:p>
          <a:p>
            <a:pPr marL="211454" marR="893444" indent="-199390">
              <a:lnSpc>
                <a:spcPts val="2630"/>
              </a:lnSpc>
              <a:spcBef>
                <a:spcPts val="915"/>
              </a:spcBef>
              <a:buChar char="•"/>
              <a:tabLst>
                <a:tab pos="212725" algn="l"/>
              </a:tabLst>
            </a:pPr>
            <a:r>
              <a:rPr sz="2450" dirty="0">
                <a:latin typeface="Microsoft Sans Serif"/>
                <a:cs typeface="Microsoft Sans Serif"/>
              </a:rPr>
              <a:t>With</a:t>
            </a:r>
            <a:r>
              <a:rPr sz="2450" spc="-80" dirty="0">
                <a:latin typeface="Microsoft Sans Serif"/>
                <a:cs typeface="Microsoft Sans Serif"/>
              </a:rPr>
              <a:t> </a:t>
            </a:r>
            <a:r>
              <a:rPr sz="2450" dirty="0">
                <a:latin typeface="Microsoft Sans Serif"/>
                <a:cs typeface="Microsoft Sans Serif"/>
              </a:rPr>
              <a:t>this</a:t>
            </a:r>
            <a:r>
              <a:rPr sz="2450" spc="-80" dirty="0">
                <a:latin typeface="Microsoft Sans Serif"/>
                <a:cs typeface="Microsoft Sans Serif"/>
              </a:rPr>
              <a:t> </a:t>
            </a:r>
            <a:r>
              <a:rPr sz="2450" dirty="0">
                <a:latin typeface="Microsoft Sans Serif"/>
                <a:cs typeface="Microsoft Sans Serif"/>
              </a:rPr>
              <a:t>invention</a:t>
            </a:r>
            <a:r>
              <a:rPr sz="2450" spc="-80" dirty="0">
                <a:latin typeface="Microsoft Sans Serif"/>
                <a:cs typeface="Microsoft Sans Serif"/>
              </a:rPr>
              <a:t> </a:t>
            </a:r>
            <a:r>
              <a:rPr sz="2450" dirty="0">
                <a:latin typeface="Microsoft Sans Serif"/>
                <a:cs typeface="Microsoft Sans Serif"/>
              </a:rPr>
              <a:t>zero</a:t>
            </a:r>
            <a:r>
              <a:rPr sz="2450" spc="-40" dirty="0">
                <a:latin typeface="Microsoft Sans Serif"/>
                <a:cs typeface="Microsoft Sans Serif"/>
              </a:rPr>
              <a:t> </a:t>
            </a:r>
            <a:r>
              <a:rPr sz="2450" dirty="0">
                <a:latin typeface="Microsoft Sans Serif"/>
                <a:cs typeface="Microsoft Sans Serif"/>
              </a:rPr>
              <a:t>could</a:t>
            </a:r>
            <a:r>
              <a:rPr sz="2450" spc="-20" dirty="0">
                <a:latin typeface="Microsoft Sans Serif"/>
                <a:cs typeface="Microsoft Sans Serif"/>
              </a:rPr>
              <a:t> </a:t>
            </a:r>
            <a:r>
              <a:rPr sz="2450" dirty="0">
                <a:latin typeface="Microsoft Sans Serif"/>
                <a:cs typeface="Microsoft Sans Serif"/>
              </a:rPr>
              <a:t>be</a:t>
            </a:r>
            <a:r>
              <a:rPr sz="2450" spc="-25" dirty="0">
                <a:latin typeface="Microsoft Sans Serif"/>
                <a:cs typeface="Microsoft Sans Serif"/>
              </a:rPr>
              <a:t> </a:t>
            </a:r>
            <a:r>
              <a:rPr sz="2450" dirty="0">
                <a:latin typeface="Microsoft Sans Serif"/>
                <a:cs typeface="Microsoft Sans Serif"/>
              </a:rPr>
              <a:t>used</a:t>
            </a:r>
            <a:r>
              <a:rPr sz="2450" spc="-20" dirty="0">
                <a:latin typeface="Microsoft Sans Serif"/>
                <a:cs typeface="Microsoft Sans Serif"/>
              </a:rPr>
              <a:t> </a:t>
            </a:r>
            <a:r>
              <a:rPr sz="2450" dirty="0">
                <a:latin typeface="Microsoft Sans Serif"/>
                <a:cs typeface="Microsoft Sans Serif"/>
              </a:rPr>
              <a:t>as</a:t>
            </a:r>
            <a:r>
              <a:rPr sz="2450" spc="-85" dirty="0">
                <a:latin typeface="Microsoft Sans Serif"/>
                <a:cs typeface="Microsoft Sans Serif"/>
              </a:rPr>
              <a:t> </a:t>
            </a:r>
            <a:r>
              <a:rPr sz="2450" dirty="0">
                <a:latin typeface="Microsoft Sans Serif"/>
                <a:cs typeface="Microsoft Sans Serif"/>
              </a:rPr>
              <a:t>an</a:t>
            </a:r>
            <a:r>
              <a:rPr sz="2450" spc="-80" dirty="0">
                <a:latin typeface="Microsoft Sans Serif"/>
                <a:cs typeface="Microsoft Sans Serif"/>
              </a:rPr>
              <a:t> </a:t>
            </a:r>
            <a:r>
              <a:rPr sz="2450" spc="-10" dirty="0">
                <a:latin typeface="Microsoft Sans Serif"/>
                <a:cs typeface="Microsoft Sans Serif"/>
              </a:rPr>
              <a:t>independent 	</a:t>
            </a:r>
            <a:r>
              <a:rPr sz="2450" dirty="0">
                <a:latin typeface="Microsoft Sans Serif"/>
                <a:cs typeface="Microsoft Sans Serif"/>
              </a:rPr>
              <a:t>numeral</a:t>
            </a:r>
            <a:r>
              <a:rPr sz="2450" spc="65" dirty="0">
                <a:latin typeface="Microsoft Sans Serif"/>
                <a:cs typeface="Microsoft Sans Serif"/>
              </a:rPr>
              <a:t> </a:t>
            </a:r>
            <a:r>
              <a:rPr sz="2450" spc="75" dirty="0">
                <a:latin typeface="Microsoft Sans Serif"/>
                <a:cs typeface="Microsoft Sans Serif"/>
              </a:rPr>
              <a:t>for</a:t>
            </a:r>
            <a:r>
              <a:rPr sz="2450" spc="5" dirty="0">
                <a:latin typeface="Microsoft Sans Serif"/>
                <a:cs typeface="Microsoft Sans Serif"/>
              </a:rPr>
              <a:t> </a:t>
            </a:r>
            <a:r>
              <a:rPr sz="2450" dirty="0">
                <a:latin typeface="Microsoft Sans Serif"/>
                <a:cs typeface="Microsoft Sans Serif"/>
              </a:rPr>
              <a:t>computational</a:t>
            </a:r>
            <a:r>
              <a:rPr sz="2450" spc="80" dirty="0">
                <a:latin typeface="Microsoft Sans Serif"/>
                <a:cs typeface="Microsoft Sans Serif"/>
              </a:rPr>
              <a:t> </a:t>
            </a:r>
            <a:r>
              <a:rPr sz="2450" spc="-10" dirty="0">
                <a:latin typeface="Microsoft Sans Serif"/>
                <a:cs typeface="Microsoft Sans Serif"/>
              </a:rPr>
              <a:t>purposes.</a:t>
            </a:r>
            <a:endParaRPr sz="2450">
              <a:latin typeface="Microsoft Sans Serif"/>
              <a:cs typeface="Microsoft Sans Serif"/>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5735" rIns="0" bIns="0" rtlCol="0">
            <a:spAutoFit/>
          </a:bodyPr>
          <a:lstStyle/>
          <a:p>
            <a:pPr marL="12700">
              <a:lnSpc>
                <a:spcPct val="100000"/>
              </a:lnSpc>
              <a:spcBef>
                <a:spcPts val="110"/>
              </a:spcBef>
            </a:pPr>
            <a:r>
              <a:rPr dirty="0"/>
              <a:t>Large</a:t>
            </a:r>
            <a:r>
              <a:rPr spc="-114" dirty="0"/>
              <a:t> </a:t>
            </a:r>
            <a:r>
              <a:rPr dirty="0"/>
              <a:t>Numbers</a:t>
            </a:r>
            <a:r>
              <a:rPr spc="-55" dirty="0"/>
              <a:t> </a:t>
            </a:r>
            <a:r>
              <a:rPr dirty="0"/>
              <a:t>and</a:t>
            </a:r>
            <a:r>
              <a:rPr spc="-70" dirty="0"/>
              <a:t> </a:t>
            </a:r>
            <a:r>
              <a:rPr dirty="0"/>
              <a:t>their</a:t>
            </a:r>
            <a:r>
              <a:rPr spc="-70" dirty="0"/>
              <a:t> </a:t>
            </a:r>
            <a:r>
              <a:rPr spc="-10" dirty="0"/>
              <a:t>representation</a:t>
            </a:r>
          </a:p>
        </p:txBody>
      </p:sp>
      <p:sp>
        <p:nvSpPr>
          <p:cNvPr id="3" name="object 3"/>
          <p:cNvSpPr txBox="1"/>
          <p:nvPr/>
        </p:nvSpPr>
        <p:spPr>
          <a:xfrm>
            <a:off x="1203674" y="3081048"/>
            <a:ext cx="163195" cy="346710"/>
          </a:xfrm>
          <a:prstGeom prst="rect">
            <a:avLst/>
          </a:prstGeom>
        </p:spPr>
        <p:txBody>
          <a:bodyPr vert="horz" wrap="square" lIns="0" tIns="13335" rIns="0" bIns="0" rtlCol="0">
            <a:spAutoFit/>
          </a:bodyPr>
          <a:lstStyle/>
          <a:p>
            <a:pPr marL="12700">
              <a:lnSpc>
                <a:spcPct val="100000"/>
              </a:lnSpc>
              <a:spcBef>
                <a:spcPts val="105"/>
              </a:spcBef>
            </a:pPr>
            <a:r>
              <a:rPr sz="2100" spc="-25" dirty="0">
                <a:latin typeface="Microsoft Sans Serif"/>
                <a:cs typeface="Microsoft Sans Serif"/>
              </a:rPr>
              <a:t>i.</a:t>
            </a:r>
            <a:endParaRPr sz="2100">
              <a:latin typeface="Microsoft Sans Serif"/>
              <a:cs typeface="Microsoft Sans Serif"/>
            </a:endParaRPr>
          </a:p>
        </p:txBody>
      </p:sp>
      <p:sp>
        <p:nvSpPr>
          <p:cNvPr id="4" name="object 4"/>
          <p:cNvSpPr txBox="1"/>
          <p:nvPr/>
        </p:nvSpPr>
        <p:spPr>
          <a:xfrm>
            <a:off x="802671" y="1585560"/>
            <a:ext cx="8331200" cy="1513840"/>
          </a:xfrm>
          <a:prstGeom prst="rect">
            <a:avLst/>
          </a:prstGeom>
        </p:spPr>
        <p:txBody>
          <a:bodyPr vert="horz" wrap="square" lIns="0" tIns="57150" rIns="0" bIns="0" rtlCol="0">
            <a:spAutoFit/>
          </a:bodyPr>
          <a:lstStyle/>
          <a:p>
            <a:pPr marL="211454" marR="171450" indent="-199390">
              <a:lnSpc>
                <a:spcPts val="2630"/>
              </a:lnSpc>
              <a:spcBef>
                <a:spcPts val="450"/>
              </a:spcBef>
              <a:buChar char="•"/>
              <a:tabLst>
                <a:tab pos="212725" algn="l"/>
              </a:tabLst>
            </a:pPr>
            <a:r>
              <a:rPr sz="2450" dirty="0">
                <a:latin typeface="Microsoft Sans Serif"/>
                <a:cs typeface="Microsoft Sans Serif"/>
              </a:rPr>
              <a:t>Ancient</a:t>
            </a:r>
            <a:r>
              <a:rPr sz="2450" spc="-40" dirty="0">
                <a:latin typeface="Microsoft Sans Serif"/>
                <a:cs typeface="Microsoft Sans Serif"/>
              </a:rPr>
              <a:t> </a:t>
            </a:r>
            <a:r>
              <a:rPr sz="2450" dirty="0">
                <a:latin typeface="Microsoft Sans Serif"/>
                <a:cs typeface="Microsoft Sans Serif"/>
              </a:rPr>
              <a:t>Indians</a:t>
            </a:r>
            <a:r>
              <a:rPr sz="2450" spc="-60" dirty="0">
                <a:latin typeface="Microsoft Sans Serif"/>
                <a:cs typeface="Microsoft Sans Serif"/>
              </a:rPr>
              <a:t> </a:t>
            </a:r>
            <a:r>
              <a:rPr sz="2450" dirty="0">
                <a:latin typeface="Microsoft Sans Serif"/>
                <a:cs typeface="Microsoft Sans Serif"/>
              </a:rPr>
              <a:t>developed</a:t>
            </a:r>
            <a:r>
              <a:rPr sz="2450" spc="5" dirty="0">
                <a:latin typeface="Microsoft Sans Serif"/>
                <a:cs typeface="Microsoft Sans Serif"/>
              </a:rPr>
              <a:t> </a:t>
            </a:r>
            <a:r>
              <a:rPr sz="2450" dirty="0">
                <a:latin typeface="Microsoft Sans Serif"/>
                <a:cs typeface="Microsoft Sans Serif"/>
              </a:rPr>
              <a:t>a</a:t>
            </a:r>
            <a:r>
              <a:rPr sz="2450" spc="-45" dirty="0">
                <a:latin typeface="Microsoft Sans Serif"/>
                <a:cs typeface="Microsoft Sans Serif"/>
              </a:rPr>
              <a:t> </a:t>
            </a:r>
            <a:r>
              <a:rPr sz="2450" dirty="0">
                <a:latin typeface="Microsoft Sans Serif"/>
                <a:cs typeface="Microsoft Sans Serif"/>
              </a:rPr>
              <a:t>systematic</a:t>
            </a:r>
            <a:r>
              <a:rPr sz="2450" spc="15" dirty="0">
                <a:latin typeface="Microsoft Sans Serif"/>
                <a:cs typeface="Microsoft Sans Serif"/>
              </a:rPr>
              <a:t> </a:t>
            </a:r>
            <a:r>
              <a:rPr sz="2450" dirty="0">
                <a:latin typeface="Microsoft Sans Serif"/>
                <a:cs typeface="Microsoft Sans Serif"/>
              </a:rPr>
              <a:t>approach</a:t>
            </a:r>
            <a:r>
              <a:rPr sz="2450" spc="-60" dirty="0">
                <a:latin typeface="Microsoft Sans Serif"/>
                <a:cs typeface="Microsoft Sans Serif"/>
              </a:rPr>
              <a:t> </a:t>
            </a:r>
            <a:r>
              <a:rPr sz="2450" spc="55" dirty="0">
                <a:latin typeface="Microsoft Sans Serif"/>
                <a:cs typeface="Microsoft Sans Serif"/>
              </a:rPr>
              <a:t>to</a:t>
            </a:r>
            <a:r>
              <a:rPr sz="2450" spc="-15" dirty="0">
                <a:latin typeface="Microsoft Sans Serif"/>
                <a:cs typeface="Microsoft Sans Serif"/>
              </a:rPr>
              <a:t> </a:t>
            </a:r>
            <a:r>
              <a:rPr sz="2450" spc="-25" dirty="0">
                <a:latin typeface="Microsoft Sans Serif"/>
                <a:cs typeface="Microsoft Sans Serif"/>
              </a:rPr>
              <a:t>the 	</a:t>
            </a:r>
            <a:r>
              <a:rPr sz="2450" spc="-10" dirty="0">
                <a:latin typeface="Microsoft Sans Serif"/>
                <a:cs typeface="Microsoft Sans Serif"/>
              </a:rPr>
              <a:t>number-</a:t>
            </a:r>
            <a:r>
              <a:rPr sz="2450" spc="-45" dirty="0">
                <a:latin typeface="Microsoft Sans Serif"/>
                <a:cs typeface="Microsoft Sans Serif"/>
              </a:rPr>
              <a:t> </a:t>
            </a:r>
            <a:r>
              <a:rPr sz="2450" dirty="0">
                <a:latin typeface="Microsoft Sans Serif"/>
                <a:cs typeface="Microsoft Sans Serif"/>
              </a:rPr>
              <a:t>names</a:t>
            </a:r>
            <a:r>
              <a:rPr sz="2450" spc="-100" dirty="0">
                <a:latin typeface="Microsoft Sans Serif"/>
                <a:cs typeface="Microsoft Sans Serif"/>
              </a:rPr>
              <a:t> </a:t>
            </a:r>
            <a:r>
              <a:rPr sz="2450" dirty="0">
                <a:latin typeface="Microsoft Sans Serif"/>
                <a:cs typeface="Microsoft Sans Serif"/>
              </a:rPr>
              <a:t>that</a:t>
            </a:r>
            <a:r>
              <a:rPr sz="2450" spc="-80" dirty="0">
                <a:latin typeface="Microsoft Sans Serif"/>
                <a:cs typeface="Microsoft Sans Serif"/>
              </a:rPr>
              <a:t> </a:t>
            </a:r>
            <a:r>
              <a:rPr sz="2450" dirty="0">
                <a:latin typeface="Microsoft Sans Serif"/>
                <a:cs typeface="Microsoft Sans Serif"/>
              </a:rPr>
              <a:t>they</a:t>
            </a:r>
            <a:r>
              <a:rPr sz="2450" spc="-85" dirty="0">
                <a:latin typeface="Microsoft Sans Serif"/>
                <a:cs typeface="Microsoft Sans Serif"/>
              </a:rPr>
              <a:t> </a:t>
            </a:r>
            <a:r>
              <a:rPr sz="2450" dirty="0">
                <a:latin typeface="Microsoft Sans Serif"/>
                <a:cs typeface="Microsoft Sans Serif"/>
              </a:rPr>
              <a:t>used</a:t>
            </a:r>
            <a:r>
              <a:rPr sz="2450" spc="-45" dirty="0">
                <a:latin typeface="Microsoft Sans Serif"/>
                <a:cs typeface="Microsoft Sans Serif"/>
              </a:rPr>
              <a:t> </a:t>
            </a:r>
            <a:r>
              <a:rPr sz="2450" spc="55" dirty="0">
                <a:latin typeface="Microsoft Sans Serif"/>
                <a:cs typeface="Microsoft Sans Serif"/>
              </a:rPr>
              <a:t>to</a:t>
            </a:r>
            <a:r>
              <a:rPr sz="2450" spc="-60" dirty="0">
                <a:latin typeface="Microsoft Sans Serif"/>
                <a:cs typeface="Microsoft Sans Serif"/>
              </a:rPr>
              <a:t> </a:t>
            </a:r>
            <a:r>
              <a:rPr sz="2450" dirty="0">
                <a:latin typeface="Microsoft Sans Serif"/>
                <a:cs typeface="Microsoft Sans Serif"/>
              </a:rPr>
              <a:t>describe</a:t>
            </a:r>
            <a:r>
              <a:rPr sz="2450" spc="-50" dirty="0">
                <a:latin typeface="Microsoft Sans Serif"/>
                <a:cs typeface="Microsoft Sans Serif"/>
              </a:rPr>
              <a:t> </a:t>
            </a:r>
            <a:r>
              <a:rPr sz="2450" dirty="0">
                <a:latin typeface="Microsoft Sans Serif"/>
                <a:cs typeface="Microsoft Sans Serif"/>
              </a:rPr>
              <a:t>large</a:t>
            </a:r>
            <a:r>
              <a:rPr sz="2450" spc="-50" dirty="0">
                <a:latin typeface="Microsoft Sans Serif"/>
                <a:cs typeface="Microsoft Sans Serif"/>
              </a:rPr>
              <a:t> </a:t>
            </a:r>
            <a:r>
              <a:rPr sz="2450" spc="-10" dirty="0">
                <a:latin typeface="Microsoft Sans Serif"/>
                <a:cs typeface="Microsoft Sans Serif"/>
              </a:rPr>
              <a:t>numbers.</a:t>
            </a:r>
            <a:endParaRPr sz="2450">
              <a:latin typeface="Microsoft Sans Serif"/>
              <a:cs typeface="Microsoft Sans Serif"/>
            </a:endParaRPr>
          </a:p>
          <a:p>
            <a:pPr marL="211454" marR="5080" indent="-199390">
              <a:lnSpc>
                <a:spcPts val="2630"/>
              </a:lnSpc>
              <a:spcBef>
                <a:spcPts val="880"/>
              </a:spcBef>
              <a:buChar char="•"/>
              <a:tabLst>
                <a:tab pos="212725" algn="l"/>
              </a:tabLst>
            </a:pPr>
            <a:r>
              <a:rPr sz="2450" spc="-30" dirty="0">
                <a:latin typeface="Microsoft Sans Serif"/>
                <a:cs typeface="Microsoft Sans Serif"/>
              </a:rPr>
              <a:t>Three</a:t>
            </a:r>
            <a:r>
              <a:rPr sz="2450" spc="-25" dirty="0">
                <a:latin typeface="Microsoft Sans Serif"/>
                <a:cs typeface="Microsoft Sans Serif"/>
              </a:rPr>
              <a:t> </a:t>
            </a:r>
            <a:r>
              <a:rPr sz="2450" dirty="0">
                <a:latin typeface="Microsoft Sans Serif"/>
                <a:cs typeface="Microsoft Sans Serif"/>
              </a:rPr>
              <a:t>categories</a:t>
            </a:r>
            <a:r>
              <a:rPr sz="2450" spc="-75" dirty="0">
                <a:latin typeface="Microsoft Sans Serif"/>
                <a:cs typeface="Microsoft Sans Serif"/>
              </a:rPr>
              <a:t> </a:t>
            </a:r>
            <a:r>
              <a:rPr sz="2450" spc="100" dirty="0">
                <a:latin typeface="Microsoft Sans Serif"/>
                <a:cs typeface="Microsoft Sans Serif"/>
              </a:rPr>
              <a:t>of</a:t>
            </a:r>
            <a:r>
              <a:rPr sz="2450" spc="-10" dirty="0">
                <a:latin typeface="Microsoft Sans Serif"/>
                <a:cs typeface="Microsoft Sans Serif"/>
              </a:rPr>
              <a:t> </a:t>
            </a:r>
            <a:r>
              <a:rPr sz="2450" dirty="0">
                <a:latin typeface="Microsoft Sans Serif"/>
                <a:cs typeface="Microsoft Sans Serif"/>
              </a:rPr>
              <a:t>naming</a:t>
            </a:r>
            <a:r>
              <a:rPr sz="2450" spc="-10" dirty="0">
                <a:latin typeface="Microsoft Sans Serif"/>
                <a:cs typeface="Microsoft Sans Serif"/>
              </a:rPr>
              <a:t> </a:t>
            </a:r>
            <a:r>
              <a:rPr sz="2450" dirty="0">
                <a:latin typeface="Microsoft Sans Serif"/>
                <a:cs typeface="Microsoft Sans Serif"/>
              </a:rPr>
              <a:t>conventions</a:t>
            </a:r>
            <a:r>
              <a:rPr sz="2450" spc="-75" dirty="0">
                <a:latin typeface="Microsoft Sans Serif"/>
                <a:cs typeface="Microsoft Sans Serif"/>
              </a:rPr>
              <a:t> </a:t>
            </a:r>
            <a:r>
              <a:rPr sz="2450" dirty="0">
                <a:latin typeface="Microsoft Sans Serif"/>
                <a:cs typeface="Microsoft Sans Serif"/>
              </a:rPr>
              <a:t>were</a:t>
            </a:r>
            <a:r>
              <a:rPr sz="2450" spc="-20" dirty="0">
                <a:latin typeface="Microsoft Sans Serif"/>
                <a:cs typeface="Microsoft Sans Serif"/>
              </a:rPr>
              <a:t> </a:t>
            </a:r>
            <a:r>
              <a:rPr sz="2450" dirty="0">
                <a:latin typeface="Microsoft Sans Serif"/>
                <a:cs typeface="Microsoft Sans Serif"/>
              </a:rPr>
              <a:t>employed</a:t>
            </a:r>
            <a:r>
              <a:rPr sz="2450" spc="-15" dirty="0">
                <a:latin typeface="Microsoft Sans Serif"/>
                <a:cs typeface="Microsoft Sans Serif"/>
              </a:rPr>
              <a:t> </a:t>
            </a:r>
            <a:r>
              <a:rPr sz="2450" spc="30" dirty="0">
                <a:latin typeface="Microsoft Sans Serif"/>
                <a:cs typeface="Microsoft Sans Serif"/>
              </a:rPr>
              <a:t>to 	</a:t>
            </a:r>
            <a:r>
              <a:rPr sz="2450" dirty="0">
                <a:latin typeface="Microsoft Sans Serif"/>
                <a:cs typeface="Microsoft Sans Serif"/>
              </a:rPr>
              <a:t>develop</a:t>
            </a:r>
            <a:r>
              <a:rPr sz="2450" spc="-15" dirty="0">
                <a:latin typeface="Microsoft Sans Serif"/>
                <a:cs typeface="Microsoft Sans Serif"/>
              </a:rPr>
              <a:t> </a:t>
            </a:r>
            <a:r>
              <a:rPr sz="2450" dirty="0">
                <a:latin typeface="Microsoft Sans Serif"/>
                <a:cs typeface="Microsoft Sans Serif"/>
              </a:rPr>
              <a:t>the</a:t>
            </a:r>
            <a:r>
              <a:rPr sz="2450" spc="-20" dirty="0">
                <a:latin typeface="Microsoft Sans Serif"/>
                <a:cs typeface="Microsoft Sans Serif"/>
              </a:rPr>
              <a:t> </a:t>
            </a:r>
            <a:r>
              <a:rPr sz="2450" dirty="0">
                <a:latin typeface="Microsoft Sans Serif"/>
                <a:cs typeface="Microsoft Sans Serif"/>
              </a:rPr>
              <a:t>number</a:t>
            </a:r>
            <a:r>
              <a:rPr sz="2450" spc="-75" dirty="0">
                <a:latin typeface="Microsoft Sans Serif"/>
                <a:cs typeface="Microsoft Sans Serif"/>
              </a:rPr>
              <a:t> </a:t>
            </a:r>
            <a:r>
              <a:rPr sz="2450" dirty="0">
                <a:latin typeface="Microsoft Sans Serif"/>
                <a:cs typeface="Microsoft Sans Serif"/>
              </a:rPr>
              <a:t>names</a:t>
            </a:r>
            <a:r>
              <a:rPr sz="2450" spc="-80" dirty="0">
                <a:latin typeface="Microsoft Sans Serif"/>
                <a:cs typeface="Microsoft Sans Serif"/>
              </a:rPr>
              <a:t> </a:t>
            </a:r>
            <a:r>
              <a:rPr sz="2450" dirty="0">
                <a:latin typeface="Microsoft Sans Serif"/>
                <a:cs typeface="Microsoft Sans Serif"/>
              </a:rPr>
              <a:t>in</a:t>
            </a:r>
            <a:r>
              <a:rPr sz="2450" spc="-75" dirty="0">
                <a:latin typeface="Microsoft Sans Serif"/>
                <a:cs typeface="Microsoft Sans Serif"/>
              </a:rPr>
              <a:t> </a:t>
            </a:r>
            <a:r>
              <a:rPr sz="2450" spc="-10" dirty="0">
                <a:latin typeface="Microsoft Sans Serif"/>
                <a:cs typeface="Microsoft Sans Serif"/>
              </a:rPr>
              <a:t>Sanskrit:</a:t>
            </a:r>
            <a:endParaRPr sz="2450">
              <a:latin typeface="Microsoft Sans Serif"/>
              <a:cs typeface="Microsoft Sans Serif"/>
            </a:endParaRPr>
          </a:p>
        </p:txBody>
      </p:sp>
      <p:sp>
        <p:nvSpPr>
          <p:cNvPr id="5" name="object 5"/>
          <p:cNvSpPr txBox="1"/>
          <p:nvPr/>
        </p:nvSpPr>
        <p:spPr>
          <a:xfrm>
            <a:off x="1203674" y="3693691"/>
            <a:ext cx="229870" cy="346710"/>
          </a:xfrm>
          <a:prstGeom prst="rect">
            <a:avLst/>
          </a:prstGeom>
        </p:spPr>
        <p:txBody>
          <a:bodyPr vert="horz" wrap="square" lIns="0" tIns="13335" rIns="0" bIns="0" rtlCol="0">
            <a:spAutoFit/>
          </a:bodyPr>
          <a:lstStyle/>
          <a:p>
            <a:pPr marL="12700">
              <a:lnSpc>
                <a:spcPct val="100000"/>
              </a:lnSpc>
              <a:spcBef>
                <a:spcPts val="105"/>
              </a:spcBef>
            </a:pPr>
            <a:r>
              <a:rPr sz="2100" spc="-25" dirty="0">
                <a:latin typeface="Microsoft Sans Serif"/>
                <a:cs typeface="Microsoft Sans Serif"/>
              </a:rPr>
              <a:t>ii.</a:t>
            </a:r>
            <a:endParaRPr sz="2100">
              <a:latin typeface="Microsoft Sans Serif"/>
              <a:cs typeface="Microsoft Sans Serif"/>
            </a:endParaRPr>
          </a:p>
        </p:txBody>
      </p:sp>
      <p:sp>
        <p:nvSpPr>
          <p:cNvPr id="6" name="object 6"/>
          <p:cNvSpPr txBox="1"/>
          <p:nvPr/>
        </p:nvSpPr>
        <p:spPr>
          <a:xfrm>
            <a:off x="1203674" y="4306334"/>
            <a:ext cx="296545" cy="346710"/>
          </a:xfrm>
          <a:prstGeom prst="rect">
            <a:avLst/>
          </a:prstGeom>
        </p:spPr>
        <p:txBody>
          <a:bodyPr vert="horz" wrap="square" lIns="0" tIns="13335" rIns="0" bIns="0" rtlCol="0">
            <a:spAutoFit/>
          </a:bodyPr>
          <a:lstStyle/>
          <a:p>
            <a:pPr marL="12700">
              <a:lnSpc>
                <a:spcPct val="100000"/>
              </a:lnSpc>
              <a:spcBef>
                <a:spcPts val="105"/>
              </a:spcBef>
            </a:pPr>
            <a:r>
              <a:rPr sz="2100" spc="-20" dirty="0">
                <a:latin typeface="Microsoft Sans Serif"/>
                <a:cs typeface="Microsoft Sans Serif"/>
              </a:rPr>
              <a:t>iii.</a:t>
            </a:r>
            <a:endParaRPr sz="2100">
              <a:latin typeface="Microsoft Sans Serif"/>
              <a:cs typeface="Microsoft Sans Serif"/>
            </a:endParaRPr>
          </a:p>
        </p:txBody>
      </p:sp>
      <p:sp>
        <p:nvSpPr>
          <p:cNvPr id="7" name="object 7"/>
          <p:cNvSpPr txBox="1"/>
          <p:nvPr/>
        </p:nvSpPr>
        <p:spPr>
          <a:xfrm>
            <a:off x="1704927" y="3092883"/>
            <a:ext cx="8180070" cy="2128520"/>
          </a:xfrm>
          <a:prstGeom prst="rect">
            <a:avLst/>
          </a:prstGeom>
        </p:spPr>
        <p:txBody>
          <a:bodyPr vert="horz" wrap="square" lIns="0" tIns="57150" rIns="0" bIns="0" rtlCol="0">
            <a:spAutoFit/>
          </a:bodyPr>
          <a:lstStyle/>
          <a:p>
            <a:pPr marL="12700" marR="5080">
              <a:lnSpc>
                <a:spcPts val="2190"/>
              </a:lnSpc>
              <a:spcBef>
                <a:spcPts val="450"/>
              </a:spcBef>
            </a:pPr>
            <a:r>
              <a:rPr sz="2100" dirty="0">
                <a:latin typeface="Microsoft Sans Serif"/>
                <a:cs typeface="Microsoft Sans Serif"/>
              </a:rPr>
              <a:t>All numbers</a:t>
            </a:r>
            <a:r>
              <a:rPr sz="2100" spc="-50" dirty="0">
                <a:latin typeface="Microsoft Sans Serif"/>
                <a:cs typeface="Microsoft Sans Serif"/>
              </a:rPr>
              <a:t> </a:t>
            </a:r>
            <a:r>
              <a:rPr sz="2100" dirty="0">
                <a:latin typeface="Microsoft Sans Serif"/>
                <a:cs typeface="Microsoft Sans Serif"/>
              </a:rPr>
              <a:t>in</a:t>
            </a:r>
            <a:r>
              <a:rPr sz="2100" spc="-45" dirty="0">
                <a:latin typeface="Microsoft Sans Serif"/>
                <a:cs typeface="Microsoft Sans Serif"/>
              </a:rPr>
              <a:t> </a:t>
            </a:r>
            <a:r>
              <a:rPr sz="2100" dirty="0">
                <a:latin typeface="Microsoft Sans Serif"/>
                <a:cs typeface="Microsoft Sans Serif"/>
              </a:rPr>
              <a:t>the</a:t>
            </a:r>
            <a:r>
              <a:rPr sz="2100" spc="10" dirty="0">
                <a:latin typeface="Microsoft Sans Serif"/>
                <a:cs typeface="Microsoft Sans Serif"/>
              </a:rPr>
              <a:t> </a:t>
            </a:r>
            <a:r>
              <a:rPr sz="2100" dirty="0">
                <a:latin typeface="Microsoft Sans Serif"/>
                <a:cs typeface="Microsoft Sans Serif"/>
              </a:rPr>
              <a:t>digits</a:t>
            </a:r>
            <a:r>
              <a:rPr sz="2100" spc="-50" dirty="0">
                <a:latin typeface="Microsoft Sans Serif"/>
                <a:cs typeface="Microsoft Sans Serif"/>
              </a:rPr>
              <a:t> </a:t>
            </a:r>
            <a:r>
              <a:rPr sz="2100" spc="55" dirty="0">
                <a:latin typeface="Microsoft Sans Serif"/>
                <a:cs typeface="Microsoft Sans Serif"/>
              </a:rPr>
              <a:t>from</a:t>
            </a:r>
            <a:r>
              <a:rPr sz="2100" spc="-15" dirty="0">
                <a:latin typeface="Microsoft Sans Serif"/>
                <a:cs typeface="Microsoft Sans Serif"/>
              </a:rPr>
              <a:t> </a:t>
            </a:r>
            <a:r>
              <a:rPr sz="2100" dirty="0">
                <a:latin typeface="Microsoft Sans Serif"/>
                <a:cs typeface="Microsoft Sans Serif"/>
              </a:rPr>
              <a:t>0</a:t>
            </a:r>
            <a:r>
              <a:rPr sz="2100" spc="-60" dirty="0">
                <a:latin typeface="Microsoft Sans Serif"/>
                <a:cs typeface="Microsoft Sans Serif"/>
              </a:rPr>
              <a:t> </a:t>
            </a:r>
            <a:r>
              <a:rPr sz="2100" spc="60" dirty="0">
                <a:latin typeface="Microsoft Sans Serif"/>
                <a:cs typeface="Microsoft Sans Serif"/>
              </a:rPr>
              <a:t>to</a:t>
            </a:r>
            <a:r>
              <a:rPr sz="2100" spc="20" dirty="0">
                <a:latin typeface="Microsoft Sans Serif"/>
                <a:cs typeface="Microsoft Sans Serif"/>
              </a:rPr>
              <a:t> </a:t>
            </a:r>
            <a:r>
              <a:rPr sz="2100" dirty="0">
                <a:latin typeface="Microsoft Sans Serif"/>
                <a:cs typeface="Microsoft Sans Serif"/>
              </a:rPr>
              <a:t>9</a:t>
            </a:r>
            <a:r>
              <a:rPr sz="2100" spc="-55" dirty="0">
                <a:latin typeface="Microsoft Sans Serif"/>
                <a:cs typeface="Microsoft Sans Serif"/>
              </a:rPr>
              <a:t> </a:t>
            </a:r>
            <a:r>
              <a:rPr sz="2100" dirty="0">
                <a:latin typeface="Microsoft Sans Serif"/>
                <a:cs typeface="Microsoft Sans Serif"/>
              </a:rPr>
              <a:t>had</a:t>
            </a:r>
            <a:r>
              <a:rPr sz="2100" spc="25" dirty="0">
                <a:latin typeface="Microsoft Sans Serif"/>
                <a:cs typeface="Microsoft Sans Serif"/>
              </a:rPr>
              <a:t> </a:t>
            </a:r>
            <a:r>
              <a:rPr sz="2100" dirty="0">
                <a:latin typeface="Microsoft Sans Serif"/>
                <a:cs typeface="Microsoft Sans Serif"/>
              </a:rPr>
              <a:t>unique</a:t>
            </a:r>
            <a:r>
              <a:rPr sz="2100" spc="15" dirty="0">
                <a:latin typeface="Microsoft Sans Serif"/>
                <a:cs typeface="Microsoft Sans Serif"/>
              </a:rPr>
              <a:t> </a:t>
            </a:r>
            <a:r>
              <a:rPr sz="2100" dirty="0">
                <a:latin typeface="Microsoft Sans Serif"/>
                <a:cs typeface="Microsoft Sans Serif"/>
              </a:rPr>
              <a:t>names</a:t>
            </a:r>
            <a:r>
              <a:rPr sz="2100" spc="-50" dirty="0">
                <a:latin typeface="Microsoft Sans Serif"/>
                <a:cs typeface="Microsoft Sans Serif"/>
              </a:rPr>
              <a:t> </a:t>
            </a:r>
            <a:r>
              <a:rPr sz="2100" spc="-45" dirty="0">
                <a:latin typeface="Microsoft Sans Serif"/>
                <a:cs typeface="Microsoft Sans Serif"/>
              </a:rPr>
              <a:t>(sunya,</a:t>
            </a:r>
            <a:r>
              <a:rPr sz="2100" spc="10" dirty="0">
                <a:latin typeface="Microsoft Sans Serif"/>
                <a:cs typeface="Microsoft Sans Serif"/>
              </a:rPr>
              <a:t> </a:t>
            </a:r>
            <a:r>
              <a:rPr sz="2100" spc="-10" dirty="0">
                <a:latin typeface="Microsoft Sans Serif"/>
                <a:cs typeface="Microsoft Sans Serif"/>
              </a:rPr>
              <a:t>ekam, dve,</a:t>
            </a:r>
            <a:r>
              <a:rPr sz="2100" spc="-95" dirty="0">
                <a:latin typeface="Microsoft Sans Serif"/>
                <a:cs typeface="Microsoft Sans Serif"/>
              </a:rPr>
              <a:t> </a:t>
            </a:r>
            <a:r>
              <a:rPr sz="2100" dirty="0">
                <a:latin typeface="Microsoft Sans Serif"/>
                <a:cs typeface="Microsoft Sans Serif"/>
              </a:rPr>
              <a:t>trini,</a:t>
            </a:r>
            <a:r>
              <a:rPr sz="2100" spc="-90" dirty="0">
                <a:latin typeface="Microsoft Sans Serif"/>
                <a:cs typeface="Microsoft Sans Serif"/>
              </a:rPr>
              <a:t> </a:t>
            </a:r>
            <a:r>
              <a:rPr sz="2100" dirty="0">
                <a:latin typeface="Microsoft Sans Serif"/>
                <a:cs typeface="Microsoft Sans Serif"/>
              </a:rPr>
              <a:t>catvari,</a:t>
            </a:r>
            <a:r>
              <a:rPr sz="2100" spc="-90" dirty="0">
                <a:latin typeface="Microsoft Sans Serif"/>
                <a:cs typeface="Microsoft Sans Serif"/>
              </a:rPr>
              <a:t> </a:t>
            </a:r>
            <a:r>
              <a:rPr sz="2100" spc="-25" dirty="0">
                <a:latin typeface="Microsoft Sans Serif"/>
                <a:cs typeface="Microsoft Sans Serif"/>
              </a:rPr>
              <a:t>panca,</a:t>
            </a:r>
            <a:r>
              <a:rPr sz="2100" spc="-90" dirty="0">
                <a:latin typeface="Microsoft Sans Serif"/>
                <a:cs typeface="Microsoft Sans Serif"/>
              </a:rPr>
              <a:t> </a:t>
            </a:r>
            <a:r>
              <a:rPr sz="2100" dirty="0">
                <a:latin typeface="Microsoft Sans Serif"/>
                <a:cs typeface="Microsoft Sans Serif"/>
              </a:rPr>
              <a:t>sat,</a:t>
            </a:r>
            <a:r>
              <a:rPr sz="2100" spc="-95" dirty="0">
                <a:latin typeface="Microsoft Sans Serif"/>
                <a:cs typeface="Microsoft Sans Serif"/>
              </a:rPr>
              <a:t> </a:t>
            </a:r>
            <a:r>
              <a:rPr sz="2100" spc="-10" dirty="0">
                <a:latin typeface="Microsoft Sans Serif"/>
                <a:cs typeface="Microsoft Sans Serif"/>
              </a:rPr>
              <a:t>sapta,</a:t>
            </a:r>
            <a:r>
              <a:rPr sz="2100" spc="-90" dirty="0">
                <a:latin typeface="Microsoft Sans Serif"/>
                <a:cs typeface="Microsoft Sans Serif"/>
              </a:rPr>
              <a:t> </a:t>
            </a:r>
            <a:r>
              <a:rPr sz="2100" dirty="0">
                <a:latin typeface="Microsoft Sans Serif"/>
                <a:cs typeface="Microsoft Sans Serif"/>
              </a:rPr>
              <a:t>asta,</a:t>
            </a:r>
            <a:r>
              <a:rPr sz="2100" spc="-90" dirty="0">
                <a:latin typeface="Microsoft Sans Serif"/>
                <a:cs typeface="Microsoft Sans Serif"/>
              </a:rPr>
              <a:t> </a:t>
            </a:r>
            <a:r>
              <a:rPr sz="2100" spc="-10" dirty="0">
                <a:latin typeface="Microsoft Sans Serif"/>
                <a:cs typeface="Microsoft Sans Serif"/>
              </a:rPr>
              <a:t>nava).</a:t>
            </a:r>
            <a:endParaRPr sz="2100">
              <a:latin typeface="Microsoft Sans Serif"/>
              <a:cs typeface="Microsoft Sans Serif"/>
            </a:endParaRPr>
          </a:p>
          <a:p>
            <a:pPr marL="12700" marR="581660">
              <a:lnSpc>
                <a:spcPts val="2190"/>
              </a:lnSpc>
              <a:spcBef>
                <a:spcPts val="445"/>
              </a:spcBef>
            </a:pPr>
            <a:r>
              <a:rPr sz="2100" dirty="0">
                <a:latin typeface="Microsoft Sans Serif"/>
                <a:cs typeface="Microsoft Sans Serif"/>
              </a:rPr>
              <a:t>All</a:t>
            </a:r>
            <a:r>
              <a:rPr sz="2100" spc="-5" dirty="0">
                <a:latin typeface="Microsoft Sans Serif"/>
                <a:cs typeface="Microsoft Sans Serif"/>
              </a:rPr>
              <a:t> </a:t>
            </a:r>
            <a:r>
              <a:rPr sz="2100" dirty="0">
                <a:latin typeface="Microsoft Sans Serif"/>
                <a:cs typeface="Microsoft Sans Serif"/>
              </a:rPr>
              <a:t>numbers</a:t>
            </a:r>
            <a:r>
              <a:rPr sz="2100" spc="-55" dirty="0">
                <a:latin typeface="Microsoft Sans Serif"/>
                <a:cs typeface="Microsoft Sans Serif"/>
              </a:rPr>
              <a:t> </a:t>
            </a:r>
            <a:r>
              <a:rPr sz="2100" dirty="0">
                <a:latin typeface="Microsoft Sans Serif"/>
                <a:cs typeface="Microsoft Sans Serif"/>
              </a:rPr>
              <a:t>in</a:t>
            </a:r>
            <a:r>
              <a:rPr sz="2100" spc="-50" dirty="0">
                <a:latin typeface="Microsoft Sans Serif"/>
                <a:cs typeface="Microsoft Sans Serif"/>
              </a:rPr>
              <a:t> </a:t>
            </a:r>
            <a:r>
              <a:rPr sz="2100" dirty="0">
                <a:latin typeface="Microsoft Sans Serif"/>
                <a:cs typeface="Microsoft Sans Serif"/>
              </a:rPr>
              <a:t>the</a:t>
            </a:r>
            <a:r>
              <a:rPr sz="2100" spc="5" dirty="0">
                <a:latin typeface="Microsoft Sans Serif"/>
                <a:cs typeface="Microsoft Sans Serif"/>
              </a:rPr>
              <a:t> </a:t>
            </a:r>
            <a:r>
              <a:rPr sz="2100" spc="-20" dirty="0">
                <a:latin typeface="Microsoft Sans Serif"/>
                <a:cs typeface="Microsoft Sans Serif"/>
              </a:rPr>
              <a:t>range</a:t>
            </a:r>
            <a:r>
              <a:rPr sz="2100" spc="10" dirty="0">
                <a:latin typeface="Microsoft Sans Serif"/>
                <a:cs typeface="Microsoft Sans Serif"/>
              </a:rPr>
              <a:t> </a:t>
            </a:r>
            <a:r>
              <a:rPr sz="2100" spc="100" dirty="0">
                <a:latin typeface="Microsoft Sans Serif"/>
                <a:cs typeface="Microsoft Sans Serif"/>
              </a:rPr>
              <a:t>of</a:t>
            </a:r>
            <a:r>
              <a:rPr sz="2100" spc="-50" dirty="0">
                <a:latin typeface="Microsoft Sans Serif"/>
                <a:cs typeface="Microsoft Sans Serif"/>
              </a:rPr>
              <a:t> </a:t>
            </a:r>
            <a:r>
              <a:rPr sz="2100" dirty="0">
                <a:latin typeface="Microsoft Sans Serif"/>
                <a:cs typeface="Microsoft Sans Serif"/>
              </a:rPr>
              <a:t>11</a:t>
            </a:r>
            <a:r>
              <a:rPr sz="2100" spc="-60" dirty="0">
                <a:latin typeface="Microsoft Sans Serif"/>
                <a:cs typeface="Microsoft Sans Serif"/>
              </a:rPr>
              <a:t> </a:t>
            </a:r>
            <a:r>
              <a:rPr sz="2100" spc="60" dirty="0">
                <a:latin typeface="Microsoft Sans Serif"/>
                <a:cs typeface="Microsoft Sans Serif"/>
              </a:rPr>
              <a:t>to</a:t>
            </a:r>
            <a:r>
              <a:rPr sz="2100" spc="10" dirty="0">
                <a:latin typeface="Microsoft Sans Serif"/>
                <a:cs typeface="Microsoft Sans Serif"/>
              </a:rPr>
              <a:t> </a:t>
            </a:r>
            <a:r>
              <a:rPr sz="2100" dirty="0">
                <a:latin typeface="Microsoft Sans Serif"/>
                <a:cs typeface="Microsoft Sans Serif"/>
              </a:rPr>
              <a:t>99</a:t>
            </a:r>
            <a:r>
              <a:rPr sz="2100" spc="-60" dirty="0">
                <a:latin typeface="Microsoft Sans Serif"/>
                <a:cs typeface="Microsoft Sans Serif"/>
              </a:rPr>
              <a:t> </a:t>
            </a:r>
            <a:r>
              <a:rPr sz="2100" dirty="0">
                <a:latin typeface="Microsoft Sans Serif"/>
                <a:cs typeface="Microsoft Sans Serif"/>
              </a:rPr>
              <a:t>had</a:t>
            </a:r>
            <a:r>
              <a:rPr sz="2100" spc="20" dirty="0">
                <a:latin typeface="Microsoft Sans Serif"/>
                <a:cs typeface="Microsoft Sans Serif"/>
              </a:rPr>
              <a:t> </a:t>
            </a:r>
            <a:r>
              <a:rPr sz="2100" dirty="0">
                <a:latin typeface="Microsoft Sans Serif"/>
                <a:cs typeface="Microsoft Sans Serif"/>
              </a:rPr>
              <a:t>an</a:t>
            </a:r>
            <a:r>
              <a:rPr sz="2100" spc="-50" dirty="0">
                <a:latin typeface="Microsoft Sans Serif"/>
                <a:cs typeface="Microsoft Sans Serif"/>
              </a:rPr>
              <a:t> </a:t>
            </a:r>
            <a:r>
              <a:rPr sz="2100" dirty="0">
                <a:latin typeface="Microsoft Sans Serif"/>
                <a:cs typeface="Microsoft Sans Serif"/>
              </a:rPr>
              <a:t>additive</a:t>
            </a:r>
            <a:r>
              <a:rPr sz="2100" spc="10" dirty="0">
                <a:latin typeface="Microsoft Sans Serif"/>
                <a:cs typeface="Microsoft Sans Serif"/>
              </a:rPr>
              <a:t> </a:t>
            </a:r>
            <a:r>
              <a:rPr sz="2100" dirty="0">
                <a:latin typeface="Microsoft Sans Serif"/>
                <a:cs typeface="Microsoft Sans Serif"/>
              </a:rPr>
              <a:t>principle</a:t>
            </a:r>
            <a:r>
              <a:rPr sz="2100" spc="5" dirty="0">
                <a:latin typeface="Microsoft Sans Serif"/>
                <a:cs typeface="Microsoft Sans Serif"/>
              </a:rPr>
              <a:t> </a:t>
            </a:r>
            <a:r>
              <a:rPr sz="2100" spc="30" dirty="0">
                <a:latin typeface="Microsoft Sans Serif"/>
                <a:cs typeface="Microsoft Sans Serif"/>
              </a:rPr>
              <a:t>for </a:t>
            </a:r>
            <a:r>
              <a:rPr sz="2100" spc="-10" dirty="0">
                <a:latin typeface="Microsoft Sans Serif"/>
                <a:cs typeface="Microsoft Sans Serif"/>
              </a:rPr>
              <a:t>naming.</a:t>
            </a:r>
            <a:endParaRPr sz="2100">
              <a:latin typeface="Microsoft Sans Serif"/>
              <a:cs typeface="Microsoft Sans Serif"/>
            </a:endParaRPr>
          </a:p>
          <a:p>
            <a:pPr marL="12700" marR="385445">
              <a:lnSpc>
                <a:spcPts val="2190"/>
              </a:lnSpc>
              <a:spcBef>
                <a:spcPts val="445"/>
              </a:spcBef>
            </a:pPr>
            <a:r>
              <a:rPr sz="2100" dirty="0">
                <a:latin typeface="Microsoft Sans Serif"/>
                <a:cs typeface="Microsoft Sans Serif"/>
              </a:rPr>
              <a:t>All</a:t>
            </a:r>
            <a:r>
              <a:rPr sz="2100" spc="-5" dirty="0">
                <a:latin typeface="Microsoft Sans Serif"/>
                <a:cs typeface="Microsoft Sans Serif"/>
              </a:rPr>
              <a:t> </a:t>
            </a:r>
            <a:r>
              <a:rPr sz="2100" dirty="0">
                <a:latin typeface="Microsoft Sans Serif"/>
                <a:cs typeface="Microsoft Sans Serif"/>
              </a:rPr>
              <a:t>numbers</a:t>
            </a:r>
            <a:r>
              <a:rPr sz="2100" spc="-50" dirty="0">
                <a:latin typeface="Microsoft Sans Serif"/>
                <a:cs typeface="Microsoft Sans Serif"/>
              </a:rPr>
              <a:t> </a:t>
            </a:r>
            <a:r>
              <a:rPr sz="2100" spc="100" dirty="0">
                <a:latin typeface="Microsoft Sans Serif"/>
                <a:cs typeface="Microsoft Sans Serif"/>
              </a:rPr>
              <a:t>of</a:t>
            </a:r>
            <a:r>
              <a:rPr sz="2100" spc="-45" dirty="0">
                <a:latin typeface="Microsoft Sans Serif"/>
                <a:cs typeface="Microsoft Sans Serif"/>
              </a:rPr>
              <a:t> </a:t>
            </a:r>
            <a:r>
              <a:rPr sz="2100" dirty="0">
                <a:latin typeface="Microsoft Sans Serif"/>
                <a:cs typeface="Microsoft Sans Serif"/>
              </a:rPr>
              <a:t>higher</a:t>
            </a:r>
            <a:r>
              <a:rPr sz="2100" spc="-30" dirty="0">
                <a:latin typeface="Microsoft Sans Serif"/>
                <a:cs typeface="Microsoft Sans Serif"/>
              </a:rPr>
              <a:t> </a:t>
            </a:r>
            <a:r>
              <a:rPr sz="2100" dirty="0">
                <a:latin typeface="Microsoft Sans Serif"/>
                <a:cs typeface="Microsoft Sans Serif"/>
              </a:rPr>
              <a:t>powers</a:t>
            </a:r>
            <a:r>
              <a:rPr sz="2100" spc="-50" dirty="0">
                <a:latin typeface="Microsoft Sans Serif"/>
                <a:cs typeface="Microsoft Sans Serif"/>
              </a:rPr>
              <a:t> </a:t>
            </a:r>
            <a:r>
              <a:rPr sz="2100" spc="100" dirty="0">
                <a:latin typeface="Microsoft Sans Serif"/>
                <a:cs typeface="Microsoft Sans Serif"/>
              </a:rPr>
              <a:t>of</a:t>
            </a:r>
            <a:r>
              <a:rPr sz="2100" spc="-45" dirty="0">
                <a:latin typeface="Microsoft Sans Serif"/>
                <a:cs typeface="Microsoft Sans Serif"/>
              </a:rPr>
              <a:t> </a:t>
            </a:r>
            <a:r>
              <a:rPr sz="2100" dirty="0">
                <a:latin typeface="Microsoft Sans Serif"/>
                <a:cs typeface="Microsoft Sans Serif"/>
              </a:rPr>
              <a:t>10</a:t>
            </a:r>
            <a:r>
              <a:rPr sz="2100" spc="-60" dirty="0">
                <a:latin typeface="Microsoft Sans Serif"/>
                <a:cs typeface="Microsoft Sans Serif"/>
              </a:rPr>
              <a:t> </a:t>
            </a:r>
            <a:r>
              <a:rPr sz="2100" dirty="0">
                <a:latin typeface="Microsoft Sans Serif"/>
                <a:cs typeface="Microsoft Sans Serif"/>
              </a:rPr>
              <a:t>starting</a:t>
            </a:r>
            <a:r>
              <a:rPr sz="2100" spc="-55" dirty="0">
                <a:latin typeface="Microsoft Sans Serif"/>
                <a:cs typeface="Microsoft Sans Serif"/>
              </a:rPr>
              <a:t> </a:t>
            </a:r>
            <a:r>
              <a:rPr sz="2100" spc="60" dirty="0">
                <a:latin typeface="Microsoft Sans Serif"/>
                <a:cs typeface="Microsoft Sans Serif"/>
              </a:rPr>
              <a:t>form</a:t>
            </a:r>
            <a:r>
              <a:rPr sz="2100" spc="-25" dirty="0">
                <a:latin typeface="Microsoft Sans Serif"/>
                <a:cs typeface="Microsoft Sans Serif"/>
              </a:rPr>
              <a:t> </a:t>
            </a:r>
            <a:r>
              <a:rPr sz="2100" dirty="0">
                <a:latin typeface="Microsoft Sans Serif"/>
                <a:cs typeface="Microsoft Sans Serif"/>
              </a:rPr>
              <a:t>102</a:t>
            </a:r>
            <a:r>
              <a:rPr sz="2100" spc="-55" dirty="0">
                <a:latin typeface="Microsoft Sans Serif"/>
                <a:cs typeface="Microsoft Sans Serif"/>
              </a:rPr>
              <a:t> </a:t>
            </a:r>
            <a:r>
              <a:rPr sz="2100" dirty="0">
                <a:latin typeface="Microsoft Sans Serif"/>
                <a:cs typeface="Microsoft Sans Serif"/>
              </a:rPr>
              <a:t>were</a:t>
            </a:r>
            <a:r>
              <a:rPr sz="2100" spc="10" dirty="0">
                <a:latin typeface="Microsoft Sans Serif"/>
                <a:cs typeface="Microsoft Sans Serif"/>
              </a:rPr>
              <a:t> </a:t>
            </a:r>
            <a:r>
              <a:rPr sz="2100" spc="-10" dirty="0">
                <a:latin typeface="Microsoft Sans Serif"/>
                <a:cs typeface="Microsoft Sans Serif"/>
              </a:rPr>
              <a:t>named </a:t>
            </a:r>
            <a:r>
              <a:rPr sz="2100" dirty="0">
                <a:latin typeface="Microsoft Sans Serif"/>
                <a:cs typeface="Microsoft Sans Serif"/>
              </a:rPr>
              <a:t>using</a:t>
            </a:r>
            <a:r>
              <a:rPr sz="2100" spc="-5" dirty="0">
                <a:latin typeface="Microsoft Sans Serif"/>
                <a:cs typeface="Microsoft Sans Serif"/>
              </a:rPr>
              <a:t> </a:t>
            </a:r>
            <a:r>
              <a:rPr sz="2100" dirty="0">
                <a:latin typeface="Microsoft Sans Serif"/>
                <a:cs typeface="Microsoft Sans Serif"/>
              </a:rPr>
              <a:t>multiplicative</a:t>
            </a:r>
            <a:r>
              <a:rPr sz="2100" spc="75" dirty="0">
                <a:latin typeface="Microsoft Sans Serif"/>
                <a:cs typeface="Microsoft Sans Serif"/>
              </a:rPr>
              <a:t> </a:t>
            </a:r>
            <a:r>
              <a:rPr sz="2100" dirty="0">
                <a:latin typeface="Microsoft Sans Serif"/>
                <a:cs typeface="Microsoft Sans Serif"/>
              </a:rPr>
              <a:t>principle</a:t>
            </a:r>
            <a:r>
              <a:rPr sz="2100" spc="75" dirty="0">
                <a:latin typeface="Microsoft Sans Serif"/>
                <a:cs typeface="Microsoft Sans Serif"/>
              </a:rPr>
              <a:t> </a:t>
            </a:r>
            <a:r>
              <a:rPr sz="2100" dirty="0">
                <a:latin typeface="Microsoft Sans Serif"/>
                <a:cs typeface="Microsoft Sans Serif"/>
              </a:rPr>
              <a:t>using the</a:t>
            </a:r>
            <a:r>
              <a:rPr sz="2100" spc="75" dirty="0">
                <a:latin typeface="Microsoft Sans Serif"/>
                <a:cs typeface="Microsoft Sans Serif"/>
              </a:rPr>
              <a:t> </a:t>
            </a:r>
            <a:r>
              <a:rPr sz="2100" dirty="0">
                <a:latin typeface="Microsoft Sans Serif"/>
                <a:cs typeface="Microsoft Sans Serif"/>
              </a:rPr>
              <a:t>unit</a:t>
            </a:r>
            <a:r>
              <a:rPr sz="2100" spc="60" dirty="0">
                <a:latin typeface="Microsoft Sans Serif"/>
                <a:cs typeface="Microsoft Sans Serif"/>
              </a:rPr>
              <a:t> </a:t>
            </a:r>
            <a:r>
              <a:rPr sz="2100" dirty="0">
                <a:latin typeface="Microsoft Sans Serif"/>
                <a:cs typeface="Microsoft Sans Serif"/>
              </a:rPr>
              <a:t>digits</a:t>
            </a:r>
            <a:r>
              <a:rPr sz="2100" spc="5" dirty="0">
                <a:latin typeface="Microsoft Sans Serif"/>
                <a:cs typeface="Microsoft Sans Serif"/>
              </a:rPr>
              <a:t> </a:t>
            </a:r>
            <a:r>
              <a:rPr sz="2100" dirty="0">
                <a:latin typeface="Microsoft Sans Serif"/>
                <a:cs typeface="Microsoft Sans Serif"/>
              </a:rPr>
              <a:t>as</a:t>
            </a:r>
            <a:r>
              <a:rPr sz="2100" spc="5" dirty="0">
                <a:latin typeface="Microsoft Sans Serif"/>
                <a:cs typeface="Microsoft Sans Serif"/>
              </a:rPr>
              <a:t> </a:t>
            </a:r>
            <a:r>
              <a:rPr sz="2100" dirty="0">
                <a:latin typeface="Microsoft Sans Serif"/>
                <a:cs typeface="Microsoft Sans Serif"/>
              </a:rPr>
              <a:t>a</a:t>
            </a:r>
            <a:r>
              <a:rPr sz="2100" spc="40" dirty="0">
                <a:latin typeface="Microsoft Sans Serif"/>
                <a:cs typeface="Microsoft Sans Serif"/>
              </a:rPr>
              <a:t> </a:t>
            </a:r>
            <a:r>
              <a:rPr sz="2100" spc="50" dirty="0">
                <a:latin typeface="Microsoft Sans Serif"/>
                <a:cs typeface="Microsoft Sans Serif"/>
              </a:rPr>
              <a:t>factor</a:t>
            </a:r>
            <a:r>
              <a:rPr sz="2100" spc="35" dirty="0">
                <a:latin typeface="Microsoft Sans Serif"/>
                <a:cs typeface="Microsoft Sans Serif"/>
              </a:rPr>
              <a:t> </a:t>
            </a:r>
            <a:r>
              <a:rPr sz="2100" spc="30" dirty="0">
                <a:latin typeface="Microsoft Sans Serif"/>
                <a:cs typeface="Microsoft Sans Serif"/>
              </a:rPr>
              <a:t>for </a:t>
            </a:r>
            <a:r>
              <a:rPr sz="2100" spc="-10" dirty="0">
                <a:latin typeface="Microsoft Sans Serif"/>
                <a:cs typeface="Microsoft Sans Serif"/>
              </a:rPr>
              <a:t>multiplication.</a:t>
            </a:r>
            <a:endParaRPr sz="2100">
              <a:latin typeface="Microsoft Sans Serif"/>
              <a:cs typeface="Microsoft Sans Serif"/>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5F1BCD-96FA-8BA5-0226-E88A8AFB011D}"/>
              </a:ext>
            </a:extLst>
          </p:cNvPr>
          <p:cNvSpPr txBox="1"/>
          <p:nvPr/>
        </p:nvSpPr>
        <p:spPr>
          <a:xfrm>
            <a:off x="467753" y="147578"/>
            <a:ext cx="8991600" cy="2862322"/>
          </a:xfrm>
          <a:prstGeom prst="rect">
            <a:avLst/>
          </a:prstGeom>
          <a:noFill/>
        </p:spPr>
        <p:txBody>
          <a:bodyPr wrap="square">
            <a:spAutoFit/>
          </a:bodyPr>
          <a:lstStyle/>
          <a:p>
            <a:pPr>
              <a:buNone/>
            </a:pPr>
            <a:r>
              <a:rPr lang="en-US" b="1" dirty="0"/>
              <a:t>Early Use of Decimal System in Ancient India:</a:t>
            </a:r>
          </a:p>
          <a:p>
            <a:pPr>
              <a:buNone/>
            </a:pPr>
            <a:endParaRPr lang="en-US" b="1" dirty="0"/>
          </a:p>
          <a:p>
            <a:pPr>
              <a:buFont typeface="Arial" panose="020B0604020202020204" pitchFamily="34" charset="0"/>
              <a:buChar char="•"/>
            </a:pPr>
            <a:r>
              <a:rPr lang="en-US" b="1" dirty="0"/>
              <a:t>Vedic and Post-Vedic Texts</a:t>
            </a:r>
            <a:r>
              <a:rPr lang="en-US" dirty="0"/>
              <a:t>: Early Indian texts, such as the Vedas and later works in </a:t>
            </a:r>
            <a:r>
              <a:rPr lang="en-US" b="1" dirty="0"/>
              <a:t>Sanskrit</a:t>
            </a:r>
            <a:r>
              <a:rPr lang="en-US" dirty="0"/>
              <a:t>, did not use a fully developed decimal numeral system but recognized the importance of large numbers and multiples of ten. Numbers were expressed in terms of powers of 10, and their representations were used in rituals, astronomy, and more.</a:t>
            </a:r>
          </a:p>
          <a:p>
            <a:pPr>
              <a:buFont typeface="Arial" panose="020B0604020202020204" pitchFamily="34" charset="0"/>
              <a:buChar char="•"/>
            </a:pPr>
            <a:endParaRPr lang="en-US" dirty="0"/>
          </a:p>
          <a:p>
            <a:pPr>
              <a:buFont typeface="Arial" panose="020B0604020202020204" pitchFamily="34" charset="0"/>
              <a:buChar char="•"/>
            </a:pPr>
            <a:r>
              <a:rPr lang="en-US" b="1" dirty="0" err="1"/>
              <a:t>Sulba</a:t>
            </a:r>
            <a:r>
              <a:rPr lang="en-US" b="1" dirty="0"/>
              <a:t> Sutras (around 800-500 BCE)</a:t>
            </a:r>
            <a:r>
              <a:rPr lang="en-US" dirty="0"/>
              <a:t>: These texts, which deal with the construction of altars for Vedic rituals, contain early references to geometric concepts and measurements that implicitly utilize the decimal system in their calculations.</a:t>
            </a:r>
          </a:p>
        </p:txBody>
      </p:sp>
      <p:sp>
        <p:nvSpPr>
          <p:cNvPr id="7" name="TextBox 6">
            <a:extLst>
              <a:ext uri="{FF2B5EF4-FFF2-40B4-BE49-F238E27FC236}">
                <a16:creationId xmlns:a16="http://schemas.microsoft.com/office/drawing/2014/main" id="{0934496F-A6F8-5A1E-686C-7B3D2B1BEE47}"/>
              </a:ext>
            </a:extLst>
          </p:cNvPr>
          <p:cNvSpPr txBox="1"/>
          <p:nvPr/>
        </p:nvSpPr>
        <p:spPr>
          <a:xfrm>
            <a:off x="392446" y="2992192"/>
            <a:ext cx="9526253" cy="2862322"/>
          </a:xfrm>
          <a:prstGeom prst="rect">
            <a:avLst/>
          </a:prstGeom>
          <a:noFill/>
        </p:spPr>
        <p:txBody>
          <a:bodyPr wrap="square">
            <a:spAutoFit/>
          </a:bodyPr>
          <a:lstStyle/>
          <a:p>
            <a:pPr>
              <a:buNone/>
            </a:pPr>
            <a:r>
              <a:rPr lang="en-US" b="1" dirty="0"/>
              <a:t>The Development of the Indian Decimal Place-Value System:</a:t>
            </a:r>
          </a:p>
          <a:p>
            <a:pPr>
              <a:buNone/>
            </a:pPr>
            <a:endParaRPr lang="en-US" b="1" dirty="0"/>
          </a:p>
          <a:p>
            <a:pPr>
              <a:buFont typeface="Arial" panose="020B0604020202020204" pitchFamily="34" charset="0"/>
              <a:buChar char="•"/>
            </a:pPr>
            <a:r>
              <a:rPr lang="en-US" dirty="0"/>
              <a:t>The </a:t>
            </a:r>
            <a:r>
              <a:rPr lang="en-US" b="1" dirty="0"/>
              <a:t>decimal place-value system</a:t>
            </a:r>
            <a:r>
              <a:rPr lang="en-US" dirty="0"/>
              <a:t> is a significant contribution of ancient Indian mathematics, particularly with the </a:t>
            </a:r>
            <a:r>
              <a:rPr lang="en-US" b="1" dirty="0"/>
              <a:t>invention of zero</a:t>
            </a:r>
            <a:r>
              <a:rPr lang="en-US" dirty="0"/>
              <a:t> as a place-holder and its role in the representation of large numbers.</a:t>
            </a:r>
          </a:p>
          <a:p>
            <a:pPr>
              <a:buFont typeface="Arial" panose="020B0604020202020204" pitchFamily="34" charset="0"/>
              <a:buChar char="•"/>
            </a:pPr>
            <a:r>
              <a:rPr lang="en-US" dirty="0"/>
              <a:t>The earliest known use of the decimal system, including the </a:t>
            </a:r>
            <a:r>
              <a:rPr lang="en-US" b="1" dirty="0"/>
              <a:t>use of zero</a:t>
            </a:r>
            <a:r>
              <a:rPr lang="en-US" dirty="0"/>
              <a:t> and </a:t>
            </a:r>
            <a:r>
              <a:rPr lang="en-US" b="1" dirty="0"/>
              <a:t>place value</a:t>
            </a:r>
            <a:r>
              <a:rPr lang="en-US" dirty="0"/>
              <a:t>, can be found in ancient Indian texts dating back to the 5th and 6th centuries CE.</a:t>
            </a:r>
          </a:p>
          <a:p>
            <a:pPr>
              <a:buFont typeface="Arial" panose="020B0604020202020204" pitchFamily="34" charset="0"/>
              <a:buChar char="•"/>
            </a:pPr>
            <a:r>
              <a:rPr lang="en-US" dirty="0"/>
              <a:t>The most notable contributions were made by mathematicians and scholars such as </a:t>
            </a:r>
            <a:r>
              <a:rPr lang="en-US" b="1" dirty="0"/>
              <a:t>Brahmagupta</a:t>
            </a:r>
            <a:r>
              <a:rPr lang="en-US" dirty="0"/>
              <a:t> and </a:t>
            </a:r>
            <a:r>
              <a:rPr lang="en-US" b="1" dirty="0"/>
              <a:t>Aryabhata</a:t>
            </a:r>
            <a:r>
              <a:rPr lang="en-US" dirty="0"/>
              <a:t>, who codified mathematical concepts that relied on the use of the decimal system.</a:t>
            </a:r>
          </a:p>
        </p:txBody>
      </p:sp>
    </p:spTree>
    <p:extLst>
      <p:ext uri="{BB962C8B-B14F-4D97-AF65-F5344CB8AC3E}">
        <p14:creationId xmlns:p14="http://schemas.microsoft.com/office/powerpoint/2010/main" val="1453440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5263BA-21A8-26F5-0036-30841D5DA44C}"/>
              </a:ext>
            </a:extLst>
          </p:cNvPr>
          <p:cNvSpPr txBox="1"/>
          <p:nvPr/>
        </p:nvSpPr>
        <p:spPr>
          <a:xfrm>
            <a:off x="393700" y="468061"/>
            <a:ext cx="9906000" cy="3693319"/>
          </a:xfrm>
          <a:prstGeom prst="rect">
            <a:avLst/>
          </a:prstGeom>
          <a:noFill/>
        </p:spPr>
        <p:txBody>
          <a:bodyPr wrap="square">
            <a:spAutoFit/>
          </a:bodyPr>
          <a:lstStyle/>
          <a:p>
            <a:pPr>
              <a:buNone/>
            </a:pPr>
            <a:r>
              <a:rPr lang="en-US" b="1" dirty="0"/>
              <a:t>Significance of the Decimal System in IKS:</a:t>
            </a:r>
          </a:p>
          <a:p>
            <a:pPr>
              <a:buNone/>
            </a:pPr>
            <a:endParaRPr lang="en-US" b="1" dirty="0"/>
          </a:p>
          <a:p>
            <a:pPr>
              <a:buFont typeface="Arial" panose="020B0604020202020204" pitchFamily="34" charset="0"/>
              <a:buChar char="•"/>
            </a:pPr>
            <a:r>
              <a:rPr lang="en-US" b="1" dirty="0"/>
              <a:t>Mathematical Foundations</a:t>
            </a:r>
            <a:r>
              <a:rPr lang="en-US" dirty="0"/>
              <a:t>: The Indian decimal system provided the foundation for complex calculations in astronomy, physics, and engineering. It revolutionized the way numbers were used, facilitating more advanced mathematics, algebra, and calculus.</a:t>
            </a:r>
          </a:p>
          <a:p>
            <a:pPr>
              <a:buFont typeface="Arial" panose="020B0604020202020204" pitchFamily="34" charset="0"/>
              <a:buChar char="•"/>
            </a:pPr>
            <a:endParaRPr lang="en-US" dirty="0"/>
          </a:p>
          <a:p>
            <a:pPr>
              <a:buFont typeface="Arial" panose="020B0604020202020204" pitchFamily="34" charset="0"/>
              <a:buChar char="•"/>
            </a:pPr>
            <a:r>
              <a:rPr lang="en-US" b="1" dirty="0"/>
              <a:t>Cultural and Philosophical Importance</a:t>
            </a:r>
            <a:r>
              <a:rPr lang="en-US" dirty="0"/>
              <a:t>: The development of zero, as well as the place value system, had deep philosophical and metaphysical implications in Indian thought, where concepts of nothingness, infinity, and the cyclical nature of the universe were discussed extensively in Hindu and Buddhist </a:t>
            </a:r>
            <a:r>
              <a:rPr lang="en-US"/>
              <a:t>philosophy.</a:t>
            </a:r>
          </a:p>
          <a:p>
            <a:pPr>
              <a:buFont typeface="Arial" panose="020B0604020202020204" pitchFamily="34" charset="0"/>
              <a:buChar char="•"/>
            </a:pPr>
            <a:endParaRPr lang="en-US" dirty="0"/>
          </a:p>
          <a:p>
            <a:pPr>
              <a:buFont typeface="Arial" panose="020B0604020202020204" pitchFamily="34" charset="0"/>
              <a:buChar char="•"/>
            </a:pPr>
            <a:r>
              <a:rPr lang="en-US" b="1" dirty="0"/>
              <a:t>Practical Use</a:t>
            </a:r>
            <a:r>
              <a:rPr lang="en-US" dirty="0"/>
              <a:t>: The decimal system allowed for precise measurements and was widely used in commerce, trade, and administration, helping to advance Indian economies and cultures.</a:t>
            </a:r>
          </a:p>
        </p:txBody>
      </p:sp>
    </p:spTree>
    <p:extLst>
      <p:ext uri="{BB962C8B-B14F-4D97-AF65-F5344CB8AC3E}">
        <p14:creationId xmlns:p14="http://schemas.microsoft.com/office/powerpoint/2010/main" val="767763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820" rIns="0" bIns="0" rtlCol="0">
            <a:spAutoFit/>
          </a:bodyPr>
          <a:lstStyle/>
          <a:p>
            <a:pPr marL="12700" marR="5080">
              <a:lnSpc>
                <a:spcPts val="4120"/>
              </a:lnSpc>
              <a:spcBef>
                <a:spcPts val="660"/>
              </a:spcBef>
            </a:pPr>
            <a:r>
              <a:rPr spc="-35" dirty="0"/>
              <a:t>Unique</a:t>
            </a:r>
            <a:r>
              <a:rPr spc="-135" dirty="0"/>
              <a:t> </a:t>
            </a:r>
            <a:r>
              <a:rPr dirty="0"/>
              <a:t>approaches</a:t>
            </a:r>
            <a:r>
              <a:rPr spc="-80" dirty="0"/>
              <a:t> </a:t>
            </a:r>
            <a:r>
              <a:rPr spc="75" dirty="0"/>
              <a:t>to</a:t>
            </a:r>
            <a:r>
              <a:rPr spc="-110" dirty="0"/>
              <a:t> </a:t>
            </a:r>
            <a:r>
              <a:rPr spc="-40" dirty="0"/>
              <a:t>Represent </a:t>
            </a:r>
            <a:r>
              <a:rPr spc="-10" dirty="0"/>
              <a:t>Numbers</a:t>
            </a:r>
          </a:p>
        </p:txBody>
      </p:sp>
      <p:sp>
        <p:nvSpPr>
          <p:cNvPr id="3" name="object 3"/>
          <p:cNvSpPr txBox="1"/>
          <p:nvPr/>
        </p:nvSpPr>
        <p:spPr>
          <a:xfrm>
            <a:off x="1203674" y="3081048"/>
            <a:ext cx="163195" cy="346710"/>
          </a:xfrm>
          <a:prstGeom prst="rect">
            <a:avLst/>
          </a:prstGeom>
        </p:spPr>
        <p:txBody>
          <a:bodyPr vert="horz" wrap="square" lIns="0" tIns="13335" rIns="0" bIns="0" rtlCol="0">
            <a:spAutoFit/>
          </a:bodyPr>
          <a:lstStyle/>
          <a:p>
            <a:pPr marL="12700">
              <a:lnSpc>
                <a:spcPct val="100000"/>
              </a:lnSpc>
              <a:spcBef>
                <a:spcPts val="105"/>
              </a:spcBef>
            </a:pPr>
            <a:r>
              <a:rPr sz="2100" spc="-25" dirty="0">
                <a:latin typeface="Microsoft Sans Serif"/>
                <a:cs typeface="Microsoft Sans Serif"/>
              </a:rPr>
              <a:t>i.</a:t>
            </a:r>
            <a:endParaRPr sz="2100">
              <a:latin typeface="Microsoft Sans Serif"/>
              <a:cs typeface="Microsoft Sans Serif"/>
            </a:endParaRPr>
          </a:p>
        </p:txBody>
      </p:sp>
      <p:sp>
        <p:nvSpPr>
          <p:cNvPr id="4" name="object 4"/>
          <p:cNvSpPr txBox="1"/>
          <p:nvPr/>
        </p:nvSpPr>
        <p:spPr>
          <a:xfrm>
            <a:off x="802671" y="1585560"/>
            <a:ext cx="8517255" cy="1513840"/>
          </a:xfrm>
          <a:prstGeom prst="rect">
            <a:avLst/>
          </a:prstGeom>
        </p:spPr>
        <p:txBody>
          <a:bodyPr vert="horz" wrap="square" lIns="0" tIns="57150" rIns="0" bIns="0" rtlCol="0">
            <a:spAutoFit/>
          </a:bodyPr>
          <a:lstStyle/>
          <a:p>
            <a:pPr marL="211454" marR="1320165" indent="-199390">
              <a:lnSpc>
                <a:spcPts val="2630"/>
              </a:lnSpc>
              <a:spcBef>
                <a:spcPts val="450"/>
              </a:spcBef>
              <a:buChar char="•"/>
              <a:tabLst>
                <a:tab pos="212725" algn="l"/>
              </a:tabLst>
            </a:pPr>
            <a:r>
              <a:rPr sz="2450" dirty="0">
                <a:latin typeface="Microsoft Sans Serif"/>
                <a:cs typeface="Microsoft Sans Serif"/>
              </a:rPr>
              <a:t>Ancient</a:t>
            </a:r>
            <a:r>
              <a:rPr sz="2450" spc="50" dirty="0">
                <a:latin typeface="Microsoft Sans Serif"/>
                <a:cs typeface="Microsoft Sans Serif"/>
              </a:rPr>
              <a:t> </a:t>
            </a:r>
            <a:r>
              <a:rPr sz="2450" dirty="0">
                <a:latin typeface="Microsoft Sans Serif"/>
                <a:cs typeface="Microsoft Sans Serif"/>
              </a:rPr>
              <a:t>Indian</a:t>
            </a:r>
            <a:r>
              <a:rPr sz="2450" spc="20" dirty="0">
                <a:latin typeface="Microsoft Sans Serif"/>
                <a:cs typeface="Microsoft Sans Serif"/>
              </a:rPr>
              <a:t> </a:t>
            </a:r>
            <a:r>
              <a:rPr sz="2450" dirty="0">
                <a:latin typeface="Microsoft Sans Serif"/>
                <a:cs typeface="Microsoft Sans Serif"/>
              </a:rPr>
              <a:t>mathematics</a:t>
            </a:r>
            <a:r>
              <a:rPr sz="2450" spc="20" dirty="0">
                <a:latin typeface="Microsoft Sans Serif"/>
                <a:cs typeface="Microsoft Sans Serif"/>
              </a:rPr>
              <a:t> </a:t>
            </a:r>
            <a:r>
              <a:rPr sz="2450" dirty="0">
                <a:latin typeface="Microsoft Sans Serif"/>
                <a:cs typeface="Microsoft Sans Serif"/>
              </a:rPr>
              <a:t>seamlessly</a:t>
            </a:r>
            <a:r>
              <a:rPr sz="2450" spc="40" dirty="0">
                <a:latin typeface="Microsoft Sans Serif"/>
                <a:cs typeface="Microsoft Sans Serif"/>
              </a:rPr>
              <a:t> </a:t>
            </a:r>
            <a:r>
              <a:rPr sz="2450" spc="-10" dirty="0">
                <a:latin typeface="Microsoft Sans Serif"/>
                <a:cs typeface="Microsoft Sans Serif"/>
              </a:rPr>
              <a:t>integrated 	</a:t>
            </a:r>
            <a:r>
              <a:rPr sz="2450" dirty="0">
                <a:latin typeface="Microsoft Sans Serif"/>
                <a:cs typeface="Microsoft Sans Serif"/>
              </a:rPr>
              <a:t>mathematics</a:t>
            </a:r>
            <a:r>
              <a:rPr sz="2450" spc="40" dirty="0">
                <a:latin typeface="Microsoft Sans Serif"/>
                <a:cs typeface="Microsoft Sans Serif"/>
              </a:rPr>
              <a:t> </a:t>
            </a:r>
            <a:r>
              <a:rPr sz="2450" dirty="0">
                <a:latin typeface="Microsoft Sans Serif"/>
                <a:cs typeface="Microsoft Sans Serif"/>
              </a:rPr>
              <a:t>with</a:t>
            </a:r>
            <a:r>
              <a:rPr sz="2450" spc="45" dirty="0">
                <a:latin typeface="Microsoft Sans Serif"/>
                <a:cs typeface="Microsoft Sans Serif"/>
              </a:rPr>
              <a:t> </a:t>
            </a:r>
            <a:r>
              <a:rPr sz="2450" dirty="0">
                <a:latin typeface="Microsoft Sans Serif"/>
                <a:cs typeface="Microsoft Sans Serif"/>
              </a:rPr>
              <a:t>literature</a:t>
            </a:r>
            <a:r>
              <a:rPr sz="2450" spc="110" dirty="0">
                <a:latin typeface="Microsoft Sans Serif"/>
                <a:cs typeface="Microsoft Sans Serif"/>
              </a:rPr>
              <a:t> </a:t>
            </a:r>
            <a:r>
              <a:rPr sz="2450" dirty="0">
                <a:latin typeface="Microsoft Sans Serif"/>
                <a:cs typeface="Microsoft Sans Serif"/>
              </a:rPr>
              <a:t>and</a:t>
            </a:r>
            <a:r>
              <a:rPr sz="2450" spc="110" dirty="0">
                <a:latin typeface="Microsoft Sans Serif"/>
                <a:cs typeface="Microsoft Sans Serif"/>
              </a:rPr>
              <a:t> </a:t>
            </a:r>
            <a:r>
              <a:rPr sz="2450" spc="-10" dirty="0">
                <a:latin typeface="Microsoft Sans Serif"/>
                <a:cs typeface="Microsoft Sans Serif"/>
              </a:rPr>
              <a:t>poetry.</a:t>
            </a:r>
            <a:endParaRPr sz="2450">
              <a:latin typeface="Microsoft Sans Serif"/>
              <a:cs typeface="Microsoft Sans Serif"/>
            </a:endParaRPr>
          </a:p>
          <a:p>
            <a:pPr marL="211454" marR="5080" indent="-199390">
              <a:lnSpc>
                <a:spcPts val="2630"/>
              </a:lnSpc>
              <a:spcBef>
                <a:spcPts val="880"/>
              </a:spcBef>
              <a:buChar char="•"/>
              <a:tabLst>
                <a:tab pos="212725" algn="l"/>
              </a:tabLst>
            </a:pPr>
            <a:r>
              <a:rPr sz="2450" spc="-95" dirty="0">
                <a:latin typeface="Microsoft Sans Serif"/>
                <a:cs typeface="Microsoft Sans Serif"/>
              </a:rPr>
              <a:t>We</a:t>
            </a:r>
            <a:r>
              <a:rPr sz="2450" spc="10" dirty="0">
                <a:latin typeface="Microsoft Sans Serif"/>
                <a:cs typeface="Microsoft Sans Serif"/>
              </a:rPr>
              <a:t> </a:t>
            </a:r>
            <a:r>
              <a:rPr sz="2450" dirty="0">
                <a:latin typeface="Microsoft Sans Serif"/>
                <a:cs typeface="Microsoft Sans Serif"/>
              </a:rPr>
              <a:t>find</a:t>
            </a:r>
            <a:r>
              <a:rPr sz="2450" spc="20" dirty="0">
                <a:latin typeface="Microsoft Sans Serif"/>
                <a:cs typeface="Microsoft Sans Serif"/>
              </a:rPr>
              <a:t> </a:t>
            </a:r>
            <a:r>
              <a:rPr sz="2450" dirty="0">
                <a:latin typeface="Microsoft Sans Serif"/>
                <a:cs typeface="Microsoft Sans Serif"/>
              </a:rPr>
              <a:t>well</a:t>
            </a:r>
            <a:r>
              <a:rPr sz="2450" spc="15" dirty="0">
                <a:latin typeface="Microsoft Sans Serif"/>
                <a:cs typeface="Microsoft Sans Serif"/>
              </a:rPr>
              <a:t> </a:t>
            </a:r>
            <a:r>
              <a:rPr sz="2450" dirty="0">
                <a:latin typeface="Microsoft Sans Serif"/>
                <a:cs typeface="Microsoft Sans Serif"/>
              </a:rPr>
              <a:t>developed</a:t>
            </a:r>
            <a:r>
              <a:rPr sz="2450" spc="20" dirty="0">
                <a:latin typeface="Microsoft Sans Serif"/>
                <a:cs typeface="Microsoft Sans Serif"/>
              </a:rPr>
              <a:t> </a:t>
            </a:r>
            <a:r>
              <a:rPr sz="2450" dirty="0">
                <a:latin typeface="Microsoft Sans Serif"/>
                <a:cs typeface="Microsoft Sans Serif"/>
              </a:rPr>
              <a:t>systems</a:t>
            </a:r>
            <a:r>
              <a:rPr sz="2450" spc="-50" dirty="0">
                <a:latin typeface="Microsoft Sans Serif"/>
                <a:cs typeface="Microsoft Sans Serif"/>
              </a:rPr>
              <a:t> </a:t>
            </a:r>
            <a:r>
              <a:rPr sz="2450" spc="55" dirty="0">
                <a:latin typeface="Microsoft Sans Serif"/>
                <a:cs typeface="Microsoft Sans Serif"/>
              </a:rPr>
              <a:t>to</a:t>
            </a:r>
            <a:r>
              <a:rPr sz="2450" dirty="0">
                <a:latin typeface="Microsoft Sans Serif"/>
                <a:cs typeface="Microsoft Sans Serif"/>
              </a:rPr>
              <a:t> address</a:t>
            </a:r>
            <a:r>
              <a:rPr sz="2450" spc="-45" dirty="0">
                <a:latin typeface="Microsoft Sans Serif"/>
                <a:cs typeface="Microsoft Sans Serif"/>
              </a:rPr>
              <a:t> </a:t>
            </a:r>
            <a:r>
              <a:rPr sz="2450" dirty="0">
                <a:latin typeface="Microsoft Sans Serif"/>
                <a:cs typeface="Microsoft Sans Serif"/>
              </a:rPr>
              <a:t>this</a:t>
            </a:r>
            <a:r>
              <a:rPr sz="2450" spc="-50" dirty="0">
                <a:latin typeface="Microsoft Sans Serif"/>
                <a:cs typeface="Microsoft Sans Serif"/>
              </a:rPr>
              <a:t> </a:t>
            </a:r>
            <a:r>
              <a:rPr sz="2450" spc="-10" dirty="0">
                <a:latin typeface="Microsoft Sans Serif"/>
                <a:cs typeface="Microsoft Sans Serif"/>
              </a:rPr>
              <a:t>requirement 	</a:t>
            </a:r>
            <a:r>
              <a:rPr sz="2450" dirty="0">
                <a:latin typeface="Microsoft Sans Serif"/>
                <a:cs typeface="Microsoft Sans Serif"/>
              </a:rPr>
              <a:t>and</a:t>
            </a:r>
            <a:r>
              <a:rPr sz="2450" spc="10" dirty="0">
                <a:latin typeface="Microsoft Sans Serif"/>
                <a:cs typeface="Microsoft Sans Serif"/>
              </a:rPr>
              <a:t> </a:t>
            </a:r>
            <a:r>
              <a:rPr sz="2450" dirty="0">
                <a:latin typeface="Microsoft Sans Serif"/>
                <a:cs typeface="Microsoft Sans Serif"/>
              </a:rPr>
              <a:t>discuss</a:t>
            </a:r>
            <a:r>
              <a:rPr sz="2450" spc="-55" dirty="0">
                <a:latin typeface="Microsoft Sans Serif"/>
                <a:cs typeface="Microsoft Sans Serif"/>
              </a:rPr>
              <a:t> </a:t>
            </a:r>
            <a:r>
              <a:rPr sz="2450" spc="60" dirty="0">
                <a:latin typeface="Microsoft Sans Serif"/>
                <a:cs typeface="Microsoft Sans Serif"/>
              </a:rPr>
              <a:t>two</a:t>
            </a:r>
            <a:r>
              <a:rPr sz="2450" spc="-5" dirty="0">
                <a:latin typeface="Microsoft Sans Serif"/>
                <a:cs typeface="Microsoft Sans Serif"/>
              </a:rPr>
              <a:t> </a:t>
            </a:r>
            <a:r>
              <a:rPr sz="2450" spc="100" dirty="0">
                <a:latin typeface="Microsoft Sans Serif"/>
                <a:cs typeface="Microsoft Sans Serif"/>
              </a:rPr>
              <a:t>of</a:t>
            </a:r>
            <a:r>
              <a:rPr sz="2450" spc="15" dirty="0">
                <a:latin typeface="Microsoft Sans Serif"/>
                <a:cs typeface="Microsoft Sans Serif"/>
              </a:rPr>
              <a:t> </a:t>
            </a:r>
            <a:r>
              <a:rPr sz="2450" dirty="0">
                <a:latin typeface="Microsoft Sans Serif"/>
                <a:cs typeface="Microsoft Sans Serif"/>
              </a:rPr>
              <a:t>them</a:t>
            </a:r>
            <a:r>
              <a:rPr sz="2450" spc="35" dirty="0">
                <a:latin typeface="Microsoft Sans Serif"/>
                <a:cs typeface="Microsoft Sans Serif"/>
              </a:rPr>
              <a:t> </a:t>
            </a:r>
            <a:r>
              <a:rPr sz="2450" spc="-10" dirty="0">
                <a:latin typeface="Microsoft Sans Serif"/>
                <a:cs typeface="Microsoft Sans Serif"/>
              </a:rPr>
              <a:t>here:</a:t>
            </a:r>
            <a:endParaRPr sz="2450">
              <a:latin typeface="Microsoft Sans Serif"/>
              <a:cs typeface="Microsoft Sans Serif"/>
            </a:endParaRPr>
          </a:p>
        </p:txBody>
      </p:sp>
      <p:sp>
        <p:nvSpPr>
          <p:cNvPr id="5" name="object 5"/>
          <p:cNvSpPr txBox="1"/>
          <p:nvPr/>
        </p:nvSpPr>
        <p:spPr>
          <a:xfrm>
            <a:off x="1203674" y="3693691"/>
            <a:ext cx="229870" cy="346710"/>
          </a:xfrm>
          <a:prstGeom prst="rect">
            <a:avLst/>
          </a:prstGeom>
        </p:spPr>
        <p:txBody>
          <a:bodyPr vert="horz" wrap="square" lIns="0" tIns="13335" rIns="0" bIns="0" rtlCol="0">
            <a:spAutoFit/>
          </a:bodyPr>
          <a:lstStyle/>
          <a:p>
            <a:pPr marL="12700">
              <a:lnSpc>
                <a:spcPct val="100000"/>
              </a:lnSpc>
              <a:spcBef>
                <a:spcPts val="105"/>
              </a:spcBef>
            </a:pPr>
            <a:r>
              <a:rPr sz="2100" spc="-25" dirty="0">
                <a:latin typeface="Microsoft Sans Serif"/>
                <a:cs typeface="Microsoft Sans Serif"/>
              </a:rPr>
              <a:t>ii.</a:t>
            </a:r>
            <a:endParaRPr sz="2100">
              <a:latin typeface="Microsoft Sans Serif"/>
              <a:cs typeface="Microsoft Sans Serif"/>
            </a:endParaRPr>
          </a:p>
        </p:txBody>
      </p:sp>
      <p:sp>
        <p:nvSpPr>
          <p:cNvPr id="6" name="object 6"/>
          <p:cNvSpPr txBox="1"/>
          <p:nvPr/>
        </p:nvSpPr>
        <p:spPr>
          <a:xfrm>
            <a:off x="1704927" y="3092883"/>
            <a:ext cx="8166734" cy="1237615"/>
          </a:xfrm>
          <a:prstGeom prst="rect">
            <a:avLst/>
          </a:prstGeom>
        </p:spPr>
        <p:txBody>
          <a:bodyPr vert="horz" wrap="square" lIns="0" tIns="57150" rIns="0" bIns="0" rtlCol="0">
            <a:spAutoFit/>
          </a:bodyPr>
          <a:lstStyle/>
          <a:p>
            <a:pPr marL="12700" marR="5080">
              <a:lnSpc>
                <a:spcPts val="2190"/>
              </a:lnSpc>
              <a:spcBef>
                <a:spcPts val="450"/>
              </a:spcBef>
            </a:pPr>
            <a:r>
              <a:rPr sz="2100" spc="-35" dirty="0">
                <a:latin typeface="Microsoft Sans Serif"/>
                <a:cs typeface="Microsoft Sans Serif"/>
              </a:rPr>
              <a:t>Bhuta-Samkhya</a:t>
            </a:r>
            <a:r>
              <a:rPr sz="2100" spc="-30" dirty="0">
                <a:latin typeface="Microsoft Sans Serif"/>
                <a:cs typeface="Microsoft Sans Serif"/>
              </a:rPr>
              <a:t> </a:t>
            </a:r>
            <a:r>
              <a:rPr sz="2100" dirty="0">
                <a:latin typeface="Microsoft Sans Serif"/>
                <a:cs typeface="Microsoft Sans Serif"/>
              </a:rPr>
              <a:t>system</a:t>
            </a:r>
            <a:r>
              <a:rPr sz="2100" spc="-30" dirty="0">
                <a:latin typeface="Microsoft Sans Serif"/>
                <a:cs typeface="Microsoft Sans Serif"/>
              </a:rPr>
              <a:t> </a:t>
            </a:r>
            <a:r>
              <a:rPr sz="2100" dirty="0">
                <a:latin typeface="Microsoft Sans Serif"/>
                <a:cs typeface="Microsoft Sans Serif"/>
              </a:rPr>
              <a:t>is</a:t>
            </a:r>
            <a:r>
              <a:rPr sz="2100" spc="-55" dirty="0">
                <a:latin typeface="Microsoft Sans Serif"/>
                <a:cs typeface="Microsoft Sans Serif"/>
              </a:rPr>
              <a:t> </a:t>
            </a:r>
            <a:r>
              <a:rPr sz="2100" dirty="0">
                <a:latin typeface="Microsoft Sans Serif"/>
                <a:cs typeface="Microsoft Sans Serif"/>
              </a:rPr>
              <a:t>a</a:t>
            </a:r>
            <a:r>
              <a:rPr sz="2100" spc="-30" dirty="0">
                <a:latin typeface="Microsoft Sans Serif"/>
                <a:cs typeface="Microsoft Sans Serif"/>
              </a:rPr>
              <a:t> </a:t>
            </a:r>
            <a:r>
              <a:rPr sz="2100" dirty="0">
                <a:latin typeface="Microsoft Sans Serif"/>
                <a:cs typeface="Microsoft Sans Serif"/>
              </a:rPr>
              <a:t>system</a:t>
            </a:r>
            <a:r>
              <a:rPr sz="2100" spc="-25" dirty="0">
                <a:latin typeface="Microsoft Sans Serif"/>
                <a:cs typeface="Microsoft Sans Serif"/>
              </a:rPr>
              <a:t> </a:t>
            </a:r>
            <a:r>
              <a:rPr sz="2100" spc="100" dirty="0">
                <a:latin typeface="Microsoft Sans Serif"/>
                <a:cs typeface="Microsoft Sans Serif"/>
              </a:rPr>
              <a:t>of</a:t>
            </a:r>
            <a:r>
              <a:rPr sz="2100" spc="-55" dirty="0">
                <a:latin typeface="Microsoft Sans Serif"/>
                <a:cs typeface="Microsoft Sans Serif"/>
              </a:rPr>
              <a:t> </a:t>
            </a:r>
            <a:r>
              <a:rPr sz="2100" spc="-10" dirty="0">
                <a:latin typeface="Microsoft Sans Serif"/>
                <a:cs typeface="Microsoft Sans Serif"/>
              </a:rPr>
              <a:t>expressing</a:t>
            </a:r>
            <a:r>
              <a:rPr sz="2100" spc="-65" dirty="0">
                <a:latin typeface="Microsoft Sans Serif"/>
                <a:cs typeface="Microsoft Sans Serif"/>
              </a:rPr>
              <a:t> </a:t>
            </a:r>
            <a:r>
              <a:rPr sz="2100" dirty="0">
                <a:latin typeface="Microsoft Sans Serif"/>
                <a:cs typeface="Microsoft Sans Serif"/>
              </a:rPr>
              <a:t>numbers</a:t>
            </a:r>
            <a:r>
              <a:rPr sz="2100" spc="-55" dirty="0">
                <a:latin typeface="Microsoft Sans Serif"/>
                <a:cs typeface="Microsoft Sans Serif"/>
              </a:rPr>
              <a:t> </a:t>
            </a:r>
            <a:r>
              <a:rPr sz="2100" spc="-35" dirty="0">
                <a:latin typeface="Microsoft Sans Serif"/>
                <a:cs typeface="Microsoft Sans Serif"/>
              </a:rPr>
              <a:t>by</a:t>
            </a:r>
            <a:r>
              <a:rPr sz="2100" spc="-55" dirty="0">
                <a:latin typeface="Microsoft Sans Serif"/>
                <a:cs typeface="Microsoft Sans Serif"/>
              </a:rPr>
              <a:t> </a:t>
            </a:r>
            <a:r>
              <a:rPr sz="2100" spc="-10" dirty="0">
                <a:latin typeface="Microsoft Sans Serif"/>
                <a:cs typeface="Microsoft Sans Serif"/>
              </a:rPr>
              <a:t>means </a:t>
            </a:r>
            <a:r>
              <a:rPr sz="2100" spc="100" dirty="0">
                <a:latin typeface="Microsoft Sans Serif"/>
                <a:cs typeface="Microsoft Sans Serif"/>
              </a:rPr>
              <a:t>of</a:t>
            </a:r>
            <a:r>
              <a:rPr sz="2100" spc="40" dirty="0">
                <a:latin typeface="Microsoft Sans Serif"/>
                <a:cs typeface="Microsoft Sans Serif"/>
              </a:rPr>
              <a:t> </a:t>
            </a:r>
            <a:r>
              <a:rPr sz="2100" dirty="0">
                <a:latin typeface="Microsoft Sans Serif"/>
                <a:cs typeface="Microsoft Sans Serif"/>
              </a:rPr>
              <a:t>words</a:t>
            </a:r>
            <a:r>
              <a:rPr sz="2100" spc="40" dirty="0">
                <a:latin typeface="Microsoft Sans Serif"/>
                <a:cs typeface="Microsoft Sans Serif"/>
              </a:rPr>
              <a:t> </a:t>
            </a:r>
            <a:r>
              <a:rPr sz="2100" spc="-10" dirty="0">
                <a:latin typeface="Microsoft Sans Serif"/>
                <a:cs typeface="Microsoft Sans Serif"/>
              </a:rPr>
              <a:t>representing</a:t>
            </a:r>
            <a:r>
              <a:rPr sz="2100" spc="30" dirty="0">
                <a:latin typeface="Microsoft Sans Serif"/>
                <a:cs typeface="Microsoft Sans Serif"/>
              </a:rPr>
              <a:t> </a:t>
            </a:r>
            <a:r>
              <a:rPr sz="2100" dirty="0">
                <a:latin typeface="Microsoft Sans Serif"/>
                <a:cs typeface="Microsoft Sans Serif"/>
              </a:rPr>
              <a:t>certain</a:t>
            </a:r>
            <a:r>
              <a:rPr sz="2100" spc="45" dirty="0">
                <a:latin typeface="Microsoft Sans Serif"/>
                <a:cs typeface="Microsoft Sans Serif"/>
              </a:rPr>
              <a:t> </a:t>
            </a:r>
            <a:r>
              <a:rPr sz="2100" spc="-10" dirty="0">
                <a:latin typeface="Microsoft Sans Serif"/>
                <a:cs typeface="Microsoft Sans Serif"/>
              </a:rPr>
              <a:t>entities.</a:t>
            </a:r>
            <a:endParaRPr sz="2100">
              <a:latin typeface="Microsoft Sans Serif"/>
              <a:cs typeface="Microsoft Sans Serif"/>
            </a:endParaRPr>
          </a:p>
          <a:p>
            <a:pPr marL="12700" marR="173990">
              <a:lnSpc>
                <a:spcPts val="2190"/>
              </a:lnSpc>
              <a:spcBef>
                <a:spcPts val="445"/>
              </a:spcBef>
            </a:pPr>
            <a:r>
              <a:rPr sz="2100" spc="-10" dirty="0">
                <a:latin typeface="Microsoft Sans Serif"/>
                <a:cs typeface="Microsoft Sans Serif"/>
              </a:rPr>
              <a:t>Katapayadi</a:t>
            </a:r>
            <a:r>
              <a:rPr sz="2100" spc="20" dirty="0">
                <a:latin typeface="Microsoft Sans Serif"/>
                <a:cs typeface="Microsoft Sans Serif"/>
              </a:rPr>
              <a:t> </a:t>
            </a:r>
            <a:r>
              <a:rPr sz="2100" dirty="0">
                <a:latin typeface="Microsoft Sans Serif"/>
                <a:cs typeface="Microsoft Sans Serif"/>
              </a:rPr>
              <a:t>system</a:t>
            </a:r>
            <a:r>
              <a:rPr sz="2100" spc="-5" dirty="0">
                <a:latin typeface="Microsoft Sans Serif"/>
                <a:cs typeface="Microsoft Sans Serif"/>
              </a:rPr>
              <a:t> </a:t>
            </a:r>
            <a:r>
              <a:rPr sz="2100" dirty="0">
                <a:latin typeface="Microsoft Sans Serif"/>
                <a:cs typeface="Microsoft Sans Serif"/>
              </a:rPr>
              <a:t>employs</a:t>
            </a:r>
            <a:r>
              <a:rPr sz="2100" spc="-30" dirty="0">
                <a:latin typeface="Microsoft Sans Serif"/>
                <a:cs typeface="Microsoft Sans Serif"/>
              </a:rPr>
              <a:t> </a:t>
            </a:r>
            <a:r>
              <a:rPr sz="2100" dirty="0">
                <a:latin typeface="Microsoft Sans Serif"/>
                <a:cs typeface="Microsoft Sans Serif"/>
              </a:rPr>
              <a:t>a</a:t>
            </a:r>
            <a:r>
              <a:rPr sz="2100" spc="-5" dirty="0">
                <a:latin typeface="Microsoft Sans Serif"/>
                <a:cs typeface="Microsoft Sans Serif"/>
              </a:rPr>
              <a:t> </a:t>
            </a:r>
            <a:r>
              <a:rPr sz="2100" dirty="0">
                <a:latin typeface="Microsoft Sans Serif"/>
                <a:cs typeface="Microsoft Sans Serif"/>
              </a:rPr>
              <a:t>technique</a:t>
            </a:r>
            <a:r>
              <a:rPr sz="2100" spc="35" dirty="0">
                <a:latin typeface="Microsoft Sans Serif"/>
                <a:cs typeface="Microsoft Sans Serif"/>
              </a:rPr>
              <a:t> </a:t>
            </a:r>
            <a:r>
              <a:rPr sz="2100" spc="60" dirty="0">
                <a:latin typeface="Microsoft Sans Serif"/>
                <a:cs typeface="Microsoft Sans Serif"/>
              </a:rPr>
              <a:t>to</a:t>
            </a:r>
            <a:r>
              <a:rPr sz="2100" spc="35" dirty="0">
                <a:latin typeface="Microsoft Sans Serif"/>
                <a:cs typeface="Microsoft Sans Serif"/>
              </a:rPr>
              <a:t> </a:t>
            </a:r>
            <a:r>
              <a:rPr sz="2100" dirty="0">
                <a:latin typeface="Microsoft Sans Serif"/>
                <a:cs typeface="Microsoft Sans Serif"/>
              </a:rPr>
              <a:t>convert</a:t>
            </a:r>
            <a:r>
              <a:rPr sz="2100" spc="20" dirty="0">
                <a:latin typeface="Microsoft Sans Serif"/>
                <a:cs typeface="Microsoft Sans Serif"/>
              </a:rPr>
              <a:t> </a:t>
            </a:r>
            <a:r>
              <a:rPr sz="2100" dirty="0">
                <a:latin typeface="Microsoft Sans Serif"/>
                <a:cs typeface="Microsoft Sans Serif"/>
              </a:rPr>
              <a:t>the</a:t>
            </a:r>
            <a:r>
              <a:rPr sz="2100" spc="30" dirty="0">
                <a:latin typeface="Microsoft Sans Serif"/>
                <a:cs typeface="Microsoft Sans Serif"/>
              </a:rPr>
              <a:t> </a:t>
            </a:r>
            <a:r>
              <a:rPr sz="2100" dirty="0">
                <a:latin typeface="Microsoft Sans Serif"/>
                <a:cs typeface="Microsoft Sans Serif"/>
              </a:rPr>
              <a:t>numerals</a:t>
            </a:r>
            <a:r>
              <a:rPr sz="2100" spc="-35" dirty="0">
                <a:latin typeface="Microsoft Sans Serif"/>
                <a:cs typeface="Microsoft Sans Serif"/>
              </a:rPr>
              <a:t> </a:t>
            </a:r>
            <a:r>
              <a:rPr sz="2100" spc="35" dirty="0">
                <a:latin typeface="Microsoft Sans Serif"/>
                <a:cs typeface="Microsoft Sans Serif"/>
              </a:rPr>
              <a:t>to </a:t>
            </a:r>
            <a:r>
              <a:rPr sz="2100" dirty="0">
                <a:latin typeface="Microsoft Sans Serif"/>
                <a:cs typeface="Microsoft Sans Serif"/>
              </a:rPr>
              <a:t>alphabets</a:t>
            </a:r>
            <a:r>
              <a:rPr sz="2100" spc="-10" dirty="0">
                <a:latin typeface="Microsoft Sans Serif"/>
                <a:cs typeface="Microsoft Sans Serif"/>
              </a:rPr>
              <a:t> </a:t>
            </a:r>
            <a:r>
              <a:rPr sz="2100" dirty="0">
                <a:latin typeface="Microsoft Sans Serif"/>
                <a:cs typeface="Microsoft Sans Serif"/>
              </a:rPr>
              <a:t>using</a:t>
            </a:r>
            <a:r>
              <a:rPr sz="2100" spc="-10" dirty="0">
                <a:latin typeface="Microsoft Sans Serif"/>
                <a:cs typeface="Microsoft Sans Serif"/>
              </a:rPr>
              <a:t> </a:t>
            </a:r>
            <a:r>
              <a:rPr sz="2100" dirty="0">
                <a:latin typeface="Microsoft Sans Serif"/>
                <a:cs typeface="Microsoft Sans Serif"/>
              </a:rPr>
              <a:t>certain </a:t>
            </a:r>
            <a:r>
              <a:rPr sz="2100" spc="-10" dirty="0">
                <a:latin typeface="Microsoft Sans Serif"/>
                <a:cs typeface="Microsoft Sans Serif"/>
              </a:rPr>
              <a:t>rules.</a:t>
            </a:r>
            <a:endParaRPr sz="2100">
              <a:latin typeface="Microsoft Sans Serif"/>
              <a:cs typeface="Microsoft Sans Serif"/>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5735" rIns="0" bIns="0" rtlCol="0">
            <a:spAutoFit/>
          </a:bodyPr>
          <a:lstStyle/>
          <a:p>
            <a:pPr marL="12700">
              <a:lnSpc>
                <a:spcPct val="100000"/>
              </a:lnSpc>
              <a:spcBef>
                <a:spcPts val="110"/>
              </a:spcBef>
            </a:pPr>
            <a:r>
              <a:rPr dirty="0"/>
              <a:t>Bhūtasaṃkhyā</a:t>
            </a:r>
            <a:r>
              <a:rPr spc="-260" dirty="0"/>
              <a:t> </a:t>
            </a:r>
            <a:r>
              <a:rPr spc="-45" dirty="0"/>
              <a:t>(</a:t>
            </a:r>
            <a:r>
              <a:rPr sz="3050" spc="-45" dirty="0">
                <a:latin typeface="Nirmala UI"/>
                <a:cs typeface="Nirmala UI"/>
              </a:rPr>
              <a:t>भूतस</a:t>
            </a:r>
            <a:r>
              <a:rPr sz="3050" spc="285" dirty="0">
                <a:latin typeface="Nirmala UI"/>
                <a:cs typeface="Nirmala UI"/>
              </a:rPr>
              <a:t> </a:t>
            </a:r>
            <a:r>
              <a:rPr sz="3050" spc="-55" dirty="0">
                <a:latin typeface="Nirmala UI"/>
                <a:cs typeface="Nirmala UI"/>
              </a:rPr>
              <a:t>या</a:t>
            </a:r>
            <a:r>
              <a:rPr spc="-55" dirty="0"/>
              <a:t>)</a:t>
            </a:r>
            <a:r>
              <a:rPr spc="-204" dirty="0"/>
              <a:t> </a:t>
            </a:r>
            <a:r>
              <a:rPr spc="-10" dirty="0"/>
              <a:t>system</a:t>
            </a:r>
            <a:endParaRPr sz="3050">
              <a:latin typeface="Nirmala UI"/>
              <a:cs typeface="Nirmala UI"/>
            </a:endParaRPr>
          </a:p>
        </p:txBody>
      </p:sp>
      <p:sp>
        <p:nvSpPr>
          <p:cNvPr id="3" name="object 3"/>
          <p:cNvSpPr txBox="1"/>
          <p:nvPr/>
        </p:nvSpPr>
        <p:spPr>
          <a:xfrm>
            <a:off x="802671" y="1585560"/>
            <a:ext cx="8966835" cy="2961640"/>
          </a:xfrm>
          <a:prstGeom prst="rect">
            <a:avLst/>
          </a:prstGeom>
        </p:spPr>
        <p:txBody>
          <a:bodyPr vert="horz" wrap="square" lIns="0" tIns="57150" rIns="0" bIns="0" rtlCol="0">
            <a:spAutoFit/>
          </a:bodyPr>
          <a:lstStyle/>
          <a:p>
            <a:pPr marL="211454" marR="76200" indent="-199390">
              <a:lnSpc>
                <a:spcPts val="2630"/>
              </a:lnSpc>
              <a:spcBef>
                <a:spcPts val="450"/>
              </a:spcBef>
              <a:buChar char="•"/>
              <a:tabLst>
                <a:tab pos="212725" algn="l"/>
              </a:tabLst>
            </a:pPr>
            <a:r>
              <a:rPr sz="2450" spc="-25" dirty="0">
                <a:latin typeface="Microsoft Sans Serif"/>
                <a:cs typeface="Microsoft Sans Serif"/>
              </a:rPr>
              <a:t>Bhūtasaṃkhyā</a:t>
            </a:r>
            <a:r>
              <a:rPr sz="2450" spc="-90" dirty="0">
                <a:latin typeface="Microsoft Sans Serif"/>
                <a:cs typeface="Microsoft Sans Serif"/>
              </a:rPr>
              <a:t> </a:t>
            </a:r>
            <a:r>
              <a:rPr sz="2100" spc="-50" dirty="0">
                <a:latin typeface="Microsoft Sans Serif"/>
                <a:cs typeface="Microsoft Sans Serif"/>
              </a:rPr>
              <a:t>(</a:t>
            </a:r>
            <a:r>
              <a:rPr sz="2300" spc="-50" dirty="0">
                <a:latin typeface="Nirmala UI"/>
                <a:cs typeface="Nirmala UI"/>
              </a:rPr>
              <a:t>भूतसं</a:t>
            </a:r>
            <a:r>
              <a:rPr sz="2300" spc="-15" dirty="0">
                <a:latin typeface="Nirmala UI"/>
                <a:cs typeface="Nirmala UI"/>
              </a:rPr>
              <a:t>  </a:t>
            </a:r>
            <a:r>
              <a:rPr sz="2300" spc="-95" dirty="0">
                <a:latin typeface="Nirmala UI"/>
                <a:cs typeface="Nirmala UI"/>
              </a:rPr>
              <a:t>या</a:t>
            </a:r>
            <a:r>
              <a:rPr sz="2100" spc="-95" dirty="0">
                <a:latin typeface="Microsoft Sans Serif"/>
                <a:cs typeface="Microsoft Sans Serif"/>
              </a:rPr>
              <a:t>)</a:t>
            </a:r>
            <a:r>
              <a:rPr sz="2100" spc="-60" dirty="0">
                <a:latin typeface="Microsoft Sans Serif"/>
                <a:cs typeface="Microsoft Sans Serif"/>
              </a:rPr>
              <a:t> </a:t>
            </a:r>
            <a:r>
              <a:rPr sz="2450" dirty="0">
                <a:latin typeface="Microsoft Sans Serif"/>
                <a:cs typeface="Microsoft Sans Serif"/>
              </a:rPr>
              <a:t>system</a:t>
            </a:r>
            <a:r>
              <a:rPr sz="2450" spc="-20" dirty="0">
                <a:latin typeface="Microsoft Sans Serif"/>
                <a:cs typeface="Microsoft Sans Serif"/>
              </a:rPr>
              <a:t> </a:t>
            </a:r>
            <a:r>
              <a:rPr sz="2450" dirty="0">
                <a:latin typeface="Microsoft Sans Serif"/>
                <a:cs typeface="Microsoft Sans Serif"/>
              </a:rPr>
              <a:t>is</a:t>
            </a:r>
            <a:r>
              <a:rPr sz="2450" spc="-90" dirty="0">
                <a:latin typeface="Microsoft Sans Serif"/>
                <a:cs typeface="Microsoft Sans Serif"/>
              </a:rPr>
              <a:t> </a:t>
            </a:r>
            <a:r>
              <a:rPr sz="2450" dirty="0">
                <a:latin typeface="Microsoft Sans Serif"/>
                <a:cs typeface="Microsoft Sans Serif"/>
              </a:rPr>
              <a:t>a</a:t>
            </a:r>
            <a:r>
              <a:rPr sz="2450" spc="-75" dirty="0">
                <a:latin typeface="Microsoft Sans Serif"/>
                <a:cs typeface="Microsoft Sans Serif"/>
              </a:rPr>
              <a:t> </a:t>
            </a:r>
            <a:r>
              <a:rPr sz="2450" dirty="0">
                <a:latin typeface="Microsoft Sans Serif"/>
                <a:cs typeface="Microsoft Sans Serif"/>
              </a:rPr>
              <a:t>method</a:t>
            </a:r>
            <a:r>
              <a:rPr sz="2450" spc="-40" dirty="0">
                <a:latin typeface="Microsoft Sans Serif"/>
                <a:cs typeface="Microsoft Sans Serif"/>
              </a:rPr>
              <a:t> </a:t>
            </a:r>
            <a:r>
              <a:rPr sz="2450" spc="100" dirty="0">
                <a:latin typeface="Microsoft Sans Serif"/>
                <a:cs typeface="Microsoft Sans Serif"/>
              </a:rPr>
              <a:t>of</a:t>
            </a:r>
            <a:r>
              <a:rPr sz="2450" spc="-30" dirty="0">
                <a:latin typeface="Microsoft Sans Serif"/>
                <a:cs typeface="Microsoft Sans Serif"/>
              </a:rPr>
              <a:t> </a:t>
            </a:r>
            <a:r>
              <a:rPr sz="2450" spc="-10" dirty="0">
                <a:latin typeface="Microsoft Sans Serif"/>
                <a:cs typeface="Microsoft Sans Serif"/>
              </a:rPr>
              <a:t>recording 	</a:t>
            </a:r>
            <a:r>
              <a:rPr sz="2450" dirty="0">
                <a:latin typeface="Microsoft Sans Serif"/>
                <a:cs typeface="Microsoft Sans Serif"/>
              </a:rPr>
              <a:t>numbers</a:t>
            </a:r>
            <a:r>
              <a:rPr sz="2450" spc="-114" dirty="0">
                <a:latin typeface="Microsoft Sans Serif"/>
                <a:cs typeface="Microsoft Sans Serif"/>
              </a:rPr>
              <a:t> </a:t>
            </a:r>
            <a:r>
              <a:rPr sz="2450" dirty="0">
                <a:latin typeface="Microsoft Sans Serif"/>
                <a:cs typeface="Microsoft Sans Serif"/>
              </a:rPr>
              <a:t>in</a:t>
            </a:r>
            <a:r>
              <a:rPr sz="2450" spc="-110" dirty="0">
                <a:latin typeface="Microsoft Sans Serif"/>
                <a:cs typeface="Microsoft Sans Serif"/>
              </a:rPr>
              <a:t> </a:t>
            </a:r>
            <a:r>
              <a:rPr sz="2450" spc="-10" dirty="0">
                <a:latin typeface="Microsoft Sans Serif"/>
                <a:cs typeface="Microsoft Sans Serif"/>
              </a:rPr>
              <a:t>Sanskrit</a:t>
            </a:r>
            <a:r>
              <a:rPr sz="2450" spc="-85" dirty="0">
                <a:latin typeface="Microsoft Sans Serif"/>
                <a:cs typeface="Microsoft Sans Serif"/>
              </a:rPr>
              <a:t> </a:t>
            </a:r>
            <a:r>
              <a:rPr sz="2450" dirty="0">
                <a:latin typeface="Microsoft Sans Serif"/>
                <a:cs typeface="Microsoft Sans Serif"/>
              </a:rPr>
              <a:t>using</a:t>
            </a:r>
            <a:r>
              <a:rPr sz="2450" spc="-50" dirty="0">
                <a:latin typeface="Microsoft Sans Serif"/>
                <a:cs typeface="Microsoft Sans Serif"/>
              </a:rPr>
              <a:t> </a:t>
            </a:r>
            <a:r>
              <a:rPr sz="2450" spc="65" dirty="0">
                <a:latin typeface="Microsoft Sans Serif"/>
                <a:cs typeface="Microsoft Sans Serif"/>
              </a:rPr>
              <a:t>common</a:t>
            </a:r>
            <a:r>
              <a:rPr sz="2450" spc="-114" dirty="0">
                <a:latin typeface="Microsoft Sans Serif"/>
                <a:cs typeface="Microsoft Sans Serif"/>
              </a:rPr>
              <a:t> </a:t>
            </a:r>
            <a:r>
              <a:rPr sz="2450" spc="-10" dirty="0">
                <a:latin typeface="Microsoft Sans Serif"/>
                <a:cs typeface="Microsoft Sans Serif"/>
              </a:rPr>
              <a:t>nouns</a:t>
            </a:r>
            <a:r>
              <a:rPr sz="2450" spc="-110" dirty="0">
                <a:latin typeface="Microsoft Sans Serif"/>
                <a:cs typeface="Microsoft Sans Serif"/>
              </a:rPr>
              <a:t> </a:t>
            </a:r>
            <a:r>
              <a:rPr sz="2450" dirty="0">
                <a:latin typeface="Microsoft Sans Serif"/>
                <a:cs typeface="Microsoft Sans Serif"/>
              </a:rPr>
              <a:t>having</a:t>
            </a:r>
            <a:r>
              <a:rPr sz="2450" spc="-50" dirty="0">
                <a:latin typeface="Microsoft Sans Serif"/>
                <a:cs typeface="Microsoft Sans Serif"/>
              </a:rPr>
              <a:t> </a:t>
            </a:r>
            <a:r>
              <a:rPr sz="2450" spc="-10" dirty="0">
                <a:latin typeface="Microsoft Sans Serif"/>
                <a:cs typeface="Microsoft Sans Serif"/>
              </a:rPr>
              <a:t>connotations 	</a:t>
            </a:r>
            <a:r>
              <a:rPr sz="2450" spc="100" dirty="0">
                <a:latin typeface="Microsoft Sans Serif"/>
                <a:cs typeface="Microsoft Sans Serif"/>
              </a:rPr>
              <a:t>of</a:t>
            </a:r>
            <a:r>
              <a:rPr sz="2450" dirty="0">
                <a:latin typeface="Microsoft Sans Serif"/>
                <a:cs typeface="Microsoft Sans Serif"/>
              </a:rPr>
              <a:t> numerical</a:t>
            </a:r>
            <a:r>
              <a:rPr sz="2450" spc="5" dirty="0">
                <a:latin typeface="Microsoft Sans Serif"/>
                <a:cs typeface="Microsoft Sans Serif"/>
              </a:rPr>
              <a:t> </a:t>
            </a:r>
            <a:r>
              <a:rPr sz="2450" spc="-10" dirty="0">
                <a:latin typeface="Microsoft Sans Serif"/>
                <a:cs typeface="Microsoft Sans Serif"/>
              </a:rPr>
              <a:t>values.</a:t>
            </a:r>
            <a:endParaRPr sz="2450">
              <a:latin typeface="Microsoft Sans Serif"/>
              <a:cs typeface="Microsoft Sans Serif"/>
            </a:endParaRPr>
          </a:p>
          <a:p>
            <a:pPr marL="211454" marR="506095" indent="-199390">
              <a:lnSpc>
                <a:spcPts val="2630"/>
              </a:lnSpc>
              <a:spcBef>
                <a:spcPts val="880"/>
              </a:spcBef>
              <a:buChar char="•"/>
              <a:tabLst>
                <a:tab pos="212725" algn="l"/>
              </a:tabLst>
            </a:pPr>
            <a:r>
              <a:rPr sz="2450" spc="-10" dirty="0">
                <a:latin typeface="Microsoft Sans Serif"/>
                <a:cs typeface="Microsoft Sans Serif"/>
              </a:rPr>
              <a:t>The</a:t>
            </a:r>
            <a:r>
              <a:rPr sz="2450" spc="55" dirty="0">
                <a:latin typeface="Microsoft Sans Serif"/>
                <a:cs typeface="Microsoft Sans Serif"/>
              </a:rPr>
              <a:t> </a:t>
            </a:r>
            <a:r>
              <a:rPr sz="2450" dirty="0">
                <a:latin typeface="Microsoft Sans Serif"/>
                <a:cs typeface="Microsoft Sans Serif"/>
              </a:rPr>
              <a:t>method</a:t>
            </a:r>
            <a:r>
              <a:rPr sz="2450" spc="65" dirty="0">
                <a:latin typeface="Microsoft Sans Serif"/>
                <a:cs typeface="Microsoft Sans Serif"/>
              </a:rPr>
              <a:t> </a:t>
            </a:r>
            <a:r>
              <a:rPr sz="2450" dirty="0">
                <a:latin typeface="Microsoft Sans Serif"/>
                <a:cs typeface="Microsoft Sans Serif"/>
              </a:rPr>
              <a:t>was</a:t>
            </a:r>
            <a:r>
              <a:rPr sz="2450" spc="-10" dirty="0">
                <a:latin typeface="Microsoft Sans Serif"/>
                <a:cs typeface="Microsoft Sans Serif"/>
              </a:rPr>
              <a:t> </a:t>
            </a:r>
            <a:r>
              <a:rPr sz="2450" dirty="0">
                <a:latin typeface="Microsoft Sans Serif"/>
                <a:cs typeface="Microsoft Sans Serif"/>
              </a:rPr>
              <a:t>introduced</a:t>
            </a:r>
            <a:r>
              <a:rPr sz="2450" spc="65" dirty="0">
                <a:latin typeface="Microsoft Sans Serif"/>
                <a:cs typeface="Microsoft Sans Serif"/>
              </a:rPr>
              <a:t> </a:t>
            </a:r>
            <a:r>
              <a:rPr sz="2450" spc="-25" dirty="0">
                <a:latin typeface="Microsoft Sans Serif"/>
                <a:cs typeface="Microsoft Sans Serif"/>
              </a:rPr>
              <a:t>already</a:t>
            </a:r>
            <a:r>
              <a:rPr sz="2450" spc="15" dirty="0">
                <a:latin typeface="Microsoft Sans Serif"/>
                <a:cs typeface="Microsoft Sans Serif"/>
              </a:rPr>
              <a:t> </a:t>
            </a:r>
            <a:r>
              <a:rPr sz="2450" dirty="0">
                <a:latin typeface="Microsoft Sans Serif"/>
                <a:cs typeface="Microsoft Sans Serif"/>
              </a:rPr>
              <a:t>in</a:t>
            </a:r>
            <a:r>
              <a:rPr sz="2450" spc="-5" dirty="0">
                <a:latin typeface="Microsoft Sans Serif"/>
                <a:cs typeface="Microsoft Sans Serif"/>
              </a:rPr>
              <a:t> </a:t>
            </a:r>
            <a:r>
              <a:rPr sz="2450" dirty="0">
                <a:latin typeface="Microsoft Sans Serif"/>
                <a:cs typeface="Microsoft Sans Serif"/>
              </a:rPr>
              <a:t>astronomical</a:t>
            </a:r>
            <a:r>
              <a:rPr sz="2450" spc="65" dirty="0">
                <a:latin typeface="Microsoft Sans Serif"/>
                <a:cs typeface="Microsoft Sans Serif"/>
              </a:rPr>
              <a:t> </a:t>
            </a:r>
            <a:r>
              <a:rPr sz="2450" dirty="0">
                <a:latin typeface="Microsoft Sans Serif"/>
                <a:cs typeface="Microsoft Sans Serif"/>
              </a:rPr>
              <a:t>texts</a:t>
            </a:r>
            <a:r>
              <a:rPr sz="2450" spc="-10" dirty="0">
                <a:latin typeface="Microsoft Sans Serif"/>
                <a:cs typeface="Microsoft Sans Serif"/>
              </a:rPr>
              <a:t> </a:t>
            </a:r>
            <a:r>
              <a:rPr sz="2450" spc="-25" dirty="0">
                <a:latin typeface="Microsoft Sans Serif"/>
                <a:cs typeface="Microsoft Sans Serif"/>
              </a:rPr>
              <a:t>in 	</a:t>
            </a:r>
            <a:r>
              <a:rPr sz="2450" spc="-10" dirty="0">
                <a:latin typeface="Microsoft Sans Serif"/>
                <a:cs typeface="Microsoft Sans Serif"/>
              </a:rPr>
              <a:t>antiquity,</a:t>
            </a:r>
            <a:r>
              <a:rPr sz="2450" spc="-35" dirty="0">
                <a:latin typeface="Microsoft Sans Serif"/>
                <a:cs typeface="Microsoft Sans Serif"/>
              </a:rPr>
              <a:t> </a:t>
            </a:r>
            <a:r>
              <a:rPr sz="2450" dirty="0">
                <a:latin typeface="Microsoft Sans Serif"/>
                <a:cs typeface="Microsoft Sans Serif"/>
              </a:rPr>
              <a:t>but</a:t>
            </a:r>
            <a:r>
              <a:rPr sz="2450" spc="-85" dirty="0">
                <a:latin typeface="Microsoft Sans Serif"/>
                <a:cs typeface="Microsoft Sans Serif"/>
              </a:rPr>
              <a:t> </a:t>
            </a:r>
            <a:r>
              <a:rPr sz="2450" spc="85" dirty="0">
                <a:latin typeface="Microsoft Sans Serif"/>
                <a:cs typeface="Microsoft Sans Serif"/>
              </a:rPr>
              <a:t>it</a:t>
            </a:r>
            <a:r>
              <a:rPr sz="2450" spc="-85" dirty="0">
                <a:latin typeface="Microsoft Sans Serif"/>
                <a:cs typeface="Microsoft Sans Serif"/>
              </a:rPr>
              <a:t> </a:t>
            </a:r>
            <a:r>
              <a:rPr sz="2450" dirty="0">
                <a:latin typeface="Microsoft Sans Serif"/>
                <a:cs typeface="Microsoft Sans Serif"/>
              </a:rPr>
              <a:t>was</a:t>
            </a:r>
            <a:r>
              <a:rPr sz="2450" spc="-110" dirty="0">
                <a:latin typeface="Microsoft Sans Serif"/>
                <a:cs typeface="Microsoft Sans Serif"/>
              </a:rPr>
              <a:t> </a:t>
            </a:r>
            <a:r>
              <a:rPr sz="2450" spc="-10" dirty="0">
                <a:latin typeface="Microsoft Sans Serif"/>
                <a:cs typeface="Microsoft Sans Serif"/>
              </a:rPr>
              <a:t>expanded</a:t>
            </a:r>
            <a:r>
              <a:rPr sz="2450" spc="-55" dirty="0">
                <a:latin typeface="Microsoft Sans Serif"/>
                <a:cs typeface="Microsoft Sans Serif"/>
              </a:rPr>
              <a:t> </a:t>
            </a:r>
            <a:r>
              <a:rPr sz="2450" dirty="0">
                <a:latin typeface="Microsoft Sans Serif"/>
                <a:cs typeface="Microsoft Sans Serif"/>
              </a:rPr>
              <a:t>and</a:t>
            </a:r>
            <a:r>
              <a:rPr sz="2450" spc="-55" dirty="0">
                <a:latin typeface="Microsoft Sans Serif"/>
                <a:cs typeface="Microsoft Sans Serif"/>
              </a:rPr>
              <a:t> </a:t>
            </a:r>
            <a:r>
              <a:rPr sz="2450" dirty="0">
                <a:latin typeface="Microsoft Sans Serif"/>
                <a:cs typeface="Microsoft Sans Serif"/>
              </a:rPr>
              <a:t>developed</a:t>
            </a:r>
            <a:r>
              <a:rPr sz="2450" spc="-55" dirty="0">
                <a:latin typeface="Microsoft Sans Serif"/>
                <a:cs typeface="Microsoft Sans Serif"/>
              </a:rPr>
              <a:t> </a:t>
            </a:r>
            <a:r>
              <a:rPr sz="2450" dirty="0">
                <a:latin typeface="Microsoft Sans Serif"/>
                <a:cs typeface="Microsoft Sans Serif"/>
              </a:rPr>
              <a:t>during</a:t>
            </a:r>
            <a:r>
              <a:rPr sz="2450" spc="-45" dirty="0">
                <a:latin typeface="Microsoft Sans Serif"/>
                <a:cs typeface="Microsoft Sans Serif"/>
              </a:rPr>
              <a:t> </a:t>
            </a:r>
            <a:r>
              <a:rPr sz="2450" spc="-25" dirty="0">
                <a:latin typeface="Microsoft Sans Serif"/>
                <a:cs typeface="Microsoft Sans Serif"/>
              </a:rPr>
              <a:t>the 	</a:t>
            </a:r>
            <a:r>
              <a:rPr sz="2450" dirty="0">
                <a:latin typeface="Microsoft Sans Serif"/>
                <a:cs typeface="Microsoft Sans Serif"/>
              </a:rPr>
              <a:t>medieval</a:t>
            </a:r>
            <a:r>
              <a:rPr sz="2450" spc="20" dirty="0">
                <a:latin typeface="Microsoft Sans Serif"/>
                <a:cs typeface="Microsoft Sans Serif"/>
              </a:rPr>
              <a:t> </a:t>
            </a:r>
            <a:r>
              <a:rPr sz="2450" spc="-10" dirty="0">
                <a:latin typeface="Microsoft Sans Serif"/>
                <a:cs typeface="Microsoft Sans Serif"/>
              </a:rPr>
              <a:t>period.</a:t>
            </a:r>
            <a:endParaRPr sz="2450">
              <a:latin typeface="Microsoft Sans Serif"/>
              <a:cs typeface="Microsoft Sans Serif"/>
            </a:endParaRPr>
          </a:p>
          <a:p>
            <a:pPr marL="211454" marR="5080" indent="-199390">
              <a:lnSpc>
                <a:spcPts val="2630"/>
              </a:lnSpc>
              <a:spcBef>
                <a:spcPts val="880"/>
              </a:spcBef>
              <a:buChar char="•"/>
              <a:tabLst>
                <a:tab pos="212725" algn="l"/>
              </a:tabLst>
            </a:pPr>
            <a:r>
              <a:rPr sz="2450" dirty="0">
                <a:latin typeface="Microsoft Sans Serif"/>
                <a:cs typeface="Microsoft Sans Serif"/>
              </a:rPr>
              <a:t>A</a:t>
            </a:r>
            <a:r>
              <a:rPr sz="2450" spc="-90" dirty="0">
                <a:latin typeface="Microsoft Sans Serif"/>
                <a:cs typeface="Microsoft Sans Serif"/>
              </a:rPr>
              <a:t> </a:t>
            </a:r>
            <a:r>
              <a:rPr sz="2450" dirty="0">
                <a:latin typeface="Microsoft Sans Serif"/>
                <a:cs typeface="Microsoft Sans Serif"/>
              </a:rPr>
              <a:t>kind</a:t>
            </a:r>
            <a:r>
              <a:rPr sz="2450" spc="-45" dirty="0">
                <a:latin typeface="Microsoft Sans Serif"/>
                <a:cs typeface="Microsoft Sans Serif"/>
              </a:rPr>
              <a:t> </a:t>
            </a:r>
            <a:r>
              <a:rPr sz="2450" spc="100" dirty="0">
                <a:latin typeface="Microsoft Sans Serif"/>
                <a:cs typeface="Microsoft Sans Serif"/>
              </a:rPr>
              <a:t>of</a:t>
            </a:r>
            <a:r>
              <a:rPr sz="2450" spc="-40" dirty="0">
                <a:latin typeface="Microsoft Sans Serif"/>
                <a:cs typeface="Microsoft Sans Serif"/>
              </a:rPr>
              <a:t> </a:t>
            </a:r>
            <a:r>
              <a:rPr sz="2450" spc="-10" dirty="0">
                <a:latin typeface="Microsoft Sans Serif"/>
                <a:cs typeface="Microsoft Sans Serif"/>
              </a:rPr>
              <a:t>rebus</a:t>
            </a:r>
            <a:r>
              <a:rPr sz="2450" spc="-105" dirty="0">
                <a:latin typeface="Microsoft Sans Serif"/>
                <a:cs typeface="Microsoft Sans Serif"/>
              </a:rPr>
              <a:t> </a:t>
            </a:r>
            <a:r>
              <a:rPr sz="2450" dirty="0">
                <a:latin typeface="Microsoft Sans Serif"/>
                <a:cs typeface="Microsoft Sans Serif"/>
              </a:rPr>
              <a:t>system,</a:t>
            </a:r>
            <a:r>
              <a:rPr sz="2450" spc="-20" dirty="0">
                <a:latin typeface="Microsoft Sans Serif"/>
                <a:cs typeface="Microsoft Sans Serif"/>
              </a:rPr>
              <a:t> </a:t>
            </a:r>
            <a:r>
              <a:rPr sz="2500" i="1" spc="-20" dirty="0">
                <a:latin typeface="Arial"/>
                <a:cs typeface="Arial"/>
              </a:rPr>
              <a:t>bhūtasaṃkhyā</a:t>
            </a:r>
            <a:r>
              <a:rPr sz="2500" i="1" spc="-105" dirty="0">
                <a:latin typeface="Arial"/>
                <a:cs typeface="Arial"/>
              </a:rPr>
              <a:t> </a:t>
            </a:r>
            <a:r>
              <a:rPr sz="2450" dirty="0">
                <a:latin typeface="Microsoft Sans Serif"/>
                <a:cs typeface="Microsoft Sans Serif"/>
              </a:rPr>
              <a:t>has</a:t>
            </a:r>
            <a:r>
              <a:rPr sz="2450" spc="-105" dirty="0">
                <a:latin typeface="Microsoft Sans Serif"/>
                <a:cs typeface="Microsoft Sans Serif"/>
              </a:rPr>
              <a:t> </a:t>
            </a:r>
            <a:r>
              <a:rPr sz="2450" dirty="0">
                <a:latin typeface="Microsoft Sans Serif"/>
                <a:cs typeface="Microsoft Sans Serif"/>
              </a:rPr>
              <a:t>also</a:t>
            </a:r>
            <a:r>
              <a:rPr sz="2450" spc="-60" dirty="0">
                <a:latin typeface="Microsoft Sans Serif"/>
                <a:cs typeface="Microsoft Sans Serif"/>
              </a:rPr>
              <a:t> </a:t>
            </a:r>
            <a:r>
              <a:rPr sz="2450" spc="-10" dirty="0">
                <a:latin typeface="Microsoft Sans Serif"/>
                <a:cs typeface="Microsoft Sans Serif"/>
              </a:rPr>
              <a:t>been</a:t>
            </a:r>
            <a:r>
              <a:rPr sz="2450" spc="-100" dirty="0">
                <a:latin typeface="Microsoft Sans Serif"/>
                <a:cs typeface="Microsoft Sans Serif"/>
              </a:rPr>
              <a:t> </a:t>
            </a:r>
            <a:r>
              <a:rPr sz="2450" dirty="0">
                <a:latin typeface="Microsoft Sans Serif"/>
                <a:cs typeface="Microsoft Sans Serif"/>
              </a:rPr>
              <a:t>called</a:t>
            </a:r>
            <a:r>
              <a:rPr sz="2450" spc="-45" dirty="0">
                <a:latin typeface="Microsoft Sans Serif"/>
                <a:cs typeface="Microsoft Sans Serif"/>
              </a:rPr>
              <a:t> </a:t>
            </a:r>
            <a:r>
              <a:rPr sz="2450" spc="-25" dirty="0">
                <a:latin typeface="Microsoft Sans Serif"/>
                <a:cs typeface="Microsoft Sans Serif"/>
              </a:rPr>
              <a:t>the 	</a:t>
            </a:r>
            <a:r>
              <a:rPr sz="2450" dirty="0">
                <a:latin typeface="Microsoft Sans Serif"/>
                <a:cs typeface="Microsoft Sans Serif"/>
              </a:rPr>
              <a:t>“concrete</a:t>
            </a:r>
            <a:r>
              <a:rPr sz="2450" spc="-5" dirty="0">
                <a:latin typeface="Microsoft Sans Serif"/>
                <a:cs typeface="Microsoft Sans Serif"/>
              </a:rPr>
              <a:t> </a:t>
            </a:r>
            <a:r>
              <a:rPr sz="2450" dirty="0">
                <a:latin typeface="Microsoft Sans Serif"/>
                <a:cs typeface="Microsoft Sans Serif"/>
              </a:rPr>
              <a:t>number</a:t>
            </a:r>
            <a:r>
              <a:rPr sz="2450" spc="-50" dirty="0">
                <a:latin typeface="Microsoft Sans Serif"/>
                <a:cs typeface="Microsoft Sans Serif"/>
              </a:rPr>
              <a:t> </a:t>
            </a:r>
            <a:r>
              <a:rPr sz="2450" spc="-10" dirty="0">
                <a:latin typeface="Microsoft Sans Serif"/>
                <a:cs typeface="Microsoft Sans Serif"/>
              </a:rPr>
              <a:t>notation”.</a:t>
            </a:r>
            <a:endParaRPr sz="2450">
              <a:latin typeface="Microsoft Sans Serif"/>
              <a:cs typeface="Microsoft Sans Serif"/>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5735" rIns="0" bIns="0" rtlCol="0">
            <a:spAutoFit/>
          </a:bodyPr>
          <a:lstStyle/>
          <a:p>
            <a:pPr marL="12700">
              <a:lnSpc>
                <a:spcPct val="100000"/>
              </a:lnSpc>
              <a:spcBef>
                <a:spcPts val="110"/>
              </a:spcBef>
            </a:pPr>
            <a:r>
              <a:rPr dirty="0"/>
              <a:t>Bhūtasaṃkhyā</a:t>
            </a:r>
            <a:r>
              <a:rPr spc="-260" dirty="0"/>
              <a:t> </a:t>
            </a:r>
            <a:r>
              <a:rPr spc="-45" dirty="0"/>
              <a:t>(</a:t>
            </a:r>
            <a:r>
              <a:rPr sz="3050" spc="-45" dirty="0">
                <a:latin typeface="Nirmala UI"/>
                <a:cs typeface="Nirmala UI"/>
              </a:rPr>
              <a:t>भूतस</a:t>
            </a:r>
            <a:r>
              <a:rPr sz="3050" spc="285" dirty="0">
                <a:latin typeface="Nirmala UI"/>
                <a:cs typeface="Nirmala UI"/>
              </a:rPr>
              <a:t> </a:t>
            </a:r>
            <a:r>
              <a:rPr sz="3050" spc="-55" dirty="0">
                <a:latin typeface="Nirmala UI"/>
                <a:cs typeface="Nirmala UI"/>
              </a:rPr>
              <a:t>या</a:t>
            </a:r>
            <a:r>
              <a:rPr spc="-55" dirty="0"/>
              <a:t>)</a:t>
            </a:r>
            <a:r>
              <a:rPr spc="-204" dirty="0"/>
              <a:t> </a:t>
            </a:r>
            <a:r>
              <a:rPr spc="-10" dirty="0"/>
              <a:t>system</a:t>
            </a:r>
            <a:endParaRPr sz="3050">
              <a:latin typeface="Nirmala UI"/>
              <a:cs typeface="Nirmala UI"/>
            </a:endParaRPr>
          </a:p>
        </p:txBody>
      </p:sp>
      <p:pic>
        <p:nvPicPr>
          <p:cNvPr id="3" name="object 3"/>
          <p:cNvPicPr/>
          <p:nvPr/>
        </p:nvPicPr>
        <p:blipFill>
          <a:blip r:embed="rId2" cstate="print"/>
          <a:stretch>
            <a:fillRect/>
          </a:stretch>
        </p:blipFill>
        <p:spPr>
          <a:xfrm>
            <a:off x="2162982" y="1485254"/>
            <a:ext cx="5565429" cy="42040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5735" rIns="0" bIns="0" rtlCol="0">
            <a:spAutoFit/>
          </a:bodyPr>
          <a:lstStyle/>
          <a:p>
            <a:pPr marL="12700">
              <a:lnSpc>
                <a:spcPct val="100000"/>
              </a:lnSpc>
              <a:spcBef>
                <a:spcPts val="110"/>
              </a:spcBef>
            </a:pPr>
            <a:r>
              <a:rPr dirty="0"/>
              <a:t>Katapayadi</a:t>
            </a:r>
            <a:r>
              <a:rPr spc="-180" dirty="0"/>
              <a:t> </a:t>
            </a:r>
            <a:r>
              <a:rPr spc="-10" dirty="0"/>
              <a:t>System</a:t>
            </a:r>
          </a:p>
        </p:txBody>
      </p:sp>
      <p:sp>
        <p:nvSpPr>
          <p:cNvPr id="3" name="object 3"/>
          <p:cNvSpPr txBox="1"/>
          <p:nvPr/>
        </p:nvSpPr>
        <p:spPr>
          <a:xfrm>
            <a:off x="802671" y="1585560"/>
            <a:ext cx="8745220" cy="3407410"/>
          </a:xfrm>
          <a:prstGeom prst="rect">
            <a:avLst/>
          </a:prstGeom>
        </p:spPr>
        <p:txBody>
          <a:bodyPr vert="horz" wrap="square" lIns="0" tIns="57150" rIns="0" bIns="0" rtlCol="0">
            <a:spAutoFit/>
          </a:bodyPr>
          <a:lstStyle/>
          <a:p>
            <a:pPr marL="211454" marR="1050925" indent="-199390">
              <a:lnSpc>
                <a:spcPts val="2630"/>
              </a:lnSpc>
              <a:spcBef>
                <a:spcPts val="450"/>
              </a:spcBef>
              <a:buChar char="•"/>
              <a:tabLst>
                <a:tab pos="212725" algn="l"/>
              </a:tabLst>
            </a:pPr>
            <a:r>
              <a:rPr sz="2450" spc="-10" dirty="0">
                <a:latin typeface="Microsoft Sans Serif"/>
                <a:cs typeface="Microsoft Sans Serif"/>
              </a:rPr>
              <a:t>Another</a:t>
            </a:r>
            <a:r>
              <a:rPr sz="2450" spc="-70" dirty="0">
                <a:latin typeface="Microsoft Sans Serif"/>
                <a:cs typeface="Microsoft Sans Serif"/>
              </a:rPr>
              <a:t> </a:t>
            </a:r>
            <a:r>
              <a:rPr sz="2450" dirty="0">
                <a:latin typeface="Microsoft Sans Serif"/>
                <a:cs typeface="Microsoft Sans Serif"/>
              </a:rPr>
              <a:t>System</a:t>
            </a:r>
            <a:r>
              <a:rPr sz="2450" spc="15" dirty="0">
                <a:latin typeface="Microsoft Sans Serif"/>
                <a:cs typeface="Microsoft Sans Serif"/>
              </a:rPr>
              <a:t> </a:t>
            </a:r>
            <a:r>
              <a:rPr sz="2450" spc="55" dirty="0">
                <a:latin typeface="Microsoft Sans Serif"/>
                <a:cs typeface="Microsoft Sans Serif"/>
              </a:rPr>
              <a:t>to</a:t>
            </a:r>
            <a:r>
              <a:rPr sz="2450" spc="-25" dirty="0">
                <a:latin typeface="Microsoft Sans Serif"/>
                <a:cs typeface="Microsoft Sans Serif"/>
              </a:rPr>
              <a:t> </a:t>
            </a:r>
            <a:r>
              <a:rPr sz="2450" dirty="0">
                <a:latin typeface="Microsoft Sans Serif"/>
                <a:cs typeface="Microsoft Sans Serif"/>
              </a:rPr>
              <a:t>convert</a:t>
            </a:r>
            <a:r>
              <a:rPr sz="2450" spc="-40" dirty="0">
                <a:latin typeface="Microsoft Sans Serif"/>
                <a:cs typeface="Microsoft Sans Serif"/>
              </a:rPr>
              <a:t> </a:t>
            </a:r>
            <a:r>
              <a:rPr sz="2450" dirty="0">
                <a:latin typeface="Microsoft Sans Serif"/>
                <a:cs typeface="Microsoft Sans Serif"/>
              </a:rPr>
              <a:t>the</a:t>
            </a:r>
            <a:r>
              <a:rPr sz="2450" spc="-10" dirty="0">
                <a:latin typeface="Microsoft Sans Serif"/>
                <a:cs typeface="Microsoft Sans Serif"/>
              </a:rPr>
              <a:t> </a:t>
            </a:r>
            <a:r>
              <a:rPr sz="2450" dirty="0">
                <a:latin typeface="Microsoft Sans Serif"/>
                <a:cs typeface="Microsoft Sans Serif"/>
              </a:rPr>
              <a:t>numerals</a:t>
            </a:r>
            <a:r>
              <a:rPr sz="2450" spc="-70" dirty="0">
                <a:latin typeface="Microsoft Sans Serif"/>
                <a:cs typeface="Microsoft Sans Serif"/>
              </a:rPr>
              <a:t> </a:t>
            </a:r>
            <a:r>
              <a:rPr sz="2450" spc="55" dirty="0">
                <a:latin typeface="Microsoft Sans Serif"/>
                <a:cs typeface="Microsoft Sans Serif"/>
              </a:rPr>
              <a:t>to</a:t>
            </a:r>
            <a:r>
              <a:rPr sz="2450" spc="-20" dirty="0">
                <a:latin typeface="Microsoft Sans Serif"/>
                <a:cs typeface="Microsoft Sans Serif"/>
              </a:rPr>
              <a:t> </a:t>
            </a:r>
            <a:r>
              <a:rPr sz="2450" dirty="0">
                <a:latin typeface="Microsoft Sans Serif"/>
                <a:cs typeface="Microsoft Sans Serif"/>
              </a:rPr>
              <a:t>words</a:t>
            </a:r>
            <a:r>
              <a:rPr sz="2450" spc="-70" dirty="0">
                <a:latin typeface="Microsoft Sans Serif"/>
                <a:cs typeface="Microsoft Sans Serif"/>
              </a:rPr>
              <a:t> </a:t>
            </a:r>
            <a:r>
              <a:rPr sz="2450" dirty="0">
                <a:latin typeface="Microsoft Sans Serif"/>
                <a:cs typeface="Microsoft Sans Serif"/>
              </a:rPr>
              <a:t>is</a:t>
            </a:r>
            <a:r>
              <a:rPr sz="2450" spc="-65" dirty="0">
                <a:latin typeface="Microsoft Sans Serif"/>
                <a:cs typeface="Microsoft Sans Serif"/>
              </a:rPr>
              <a:t> </a:t>
            </a:r>
            <a:r>
              <a:rPr sz="2450" spc="30" dirty="0">
                <a:latin typeface="Microsoft Sans Serif"/>
                <a:cs typeface="Microsoft Sans Serif"/>
              </a:rPr>
              <a:t>to 	</a:t>
            </a:r>
            <a:r>
              <a:rPr sz="2450" dirty="0">
                <a:latin typeface="Microsoft Sans Serif"/>
                <a:cs typeface="Microsoft Sans Serif"/>
              </a:rPr>
              <a:t>associate</a:t>
            </a:r>
            <a:r>
              <a:rPr sz="2450" spc="-25" dirty="0">
                <a:latin typeface="Microsoft Sans Serif"/>
                <a:cs typeface="Microsoft Sans Serif"/>
              </a:rPr>
              <a:t> </a:t>
            </a:r>
            <a:r>
              <a:rPr sz="2450" dirty="0">
                <a:latin typeface="Microsoft Sans Serif"/>
                <a:cs typeface="Microsoft Sans Serif"/>
              </a:rPr>
              <a:t>a</a:t>
            </a:r>
            <a:r>
              <a:rPr sz="2450" spc="-50" dirty="0">
                <a:latin typeface="Microsoft Sans Serif"/>
                <a:cs typeface="Microsoft Sans Serif"/>
              </a:rPr>
              <a:t> </a:t>
            </a:r>
            <a:r>
              <a:rPr sz="2450" dirty="0">
                <a:latin typeface="Microsoft Sans Serif"/>
                <a:cs typeface="Microsoft Sans Serif"/>
              </a:rPr>
              <a:t>number</a:t>
            </a:r>
            <a:r>
              <a:rPr sz="2450" spc="-75" dirty="0">
                <a:latin typeface="Microsoft Sans Serif"/>
                <a:cs typeface="Microsoft Sans Serif"/>
              </a:rPr>
              <a:t> </a:t>
            </a:r>
            <a:r>
              <a:rPr sz="2450" spc="55" dirty="0">
                <a:latin typeface="Microsoft Sans Serif"/>
                <a:cs typeface="Microsoft Sans Serif"/>
              </a:rPr>
              <a:t>to</a:t>
            </a:r>
            <a:r>
              <a:rPr sz="2450" spc="-25" dirty="0">
                <a:latin typeface="Microsoft Sans Serif"/>
                <a:cs typeface="Microsoft Sans Serif"/>
              </a:rPr>
              <a:t> </a:t>
            </a:r>
            <a:r>
              <a:rPr sz="2450" dirty="0">
                <a:latin typeface="Microsoft Sans Serif"/>
                <a:cs typeface="Microsoft Sans Serif"/>
              </a:rPr>
              <a:t>one</a:t>
            </a:r>
            <a:r>
              <a:rPr sz="2450" spc="-10" dirty="0">
                <a:latin typeface="Microsoft Sans Serif"/>
                <a:cs typeface="Microsoft Sans Serif"/>
              </a:rPr>
              <a:t> </a:t>
            </a:r>
            <a:r>
              <a:rPr sz="2450" dirty="0">
                <a:latin typeface="Microsoft Sans Serif"/>
                <a:cs typeface="Microsoft Sans Serif"/>
              </a:rPr>
              <a:t>or</a:t>
            </a:r>
            <a:r>
              <a:rPr sz="2450" spc="-75" dirty="0">
                <a:latin typeface="Microsoft Sans Serif"/>
                <a:cs typeface="Microsoft Sans Serif"/>
              </a:rPr>
              <a:t> </a:t>
            </a:r>
            <a:r>
              <a:rPr sz="2450" dirty="0">
                <a:latin typeface="Microsoft Sans Serif"/>
                <a:cs typeface="Microsoft Sans Serif"/>
              </a:rPr>
              <a:t>more</a:t>
            </a:r>
            <a:r>
              <a:rPr sz="2450" spc="-10" dirty="0">
                <a:latin typeface="Microsoft Sans Serif"/>
                <a:cs typeface="Microsoft Sans Serif"/>
              </a:rPr>
              <a:t> alphabets.</a:t>
            </a:r>
            <a:endParaRPr sz="2450">
              <a:latin typeface="Microsoft Sans Serif"/>
              <a:cs typeface="Microsoft Sans Serif"/>
            </a:endParaRPr>
          </a:p>
          <a:p>
            <a:pPr marL="211454" marR="5080" indent="-199390">
              <a:lnSpc>
                <a:spcPts val="2630"/>
              </a:lnSpc>
              <a:spcBef>
                <a:spcPts val="880"/>
              </a:spcBef>
              <a:buChar char="•"/>
              <a:tabLst>
                <a:tab pos="212725" algn="l"/>
              </a:tabLst>
            </a:pPr>
            <a:r>
              <a:rPr sz="2450" spc="-20" dirty="0">
                <a:latin typeface="Microsoft Sans Serif"/>
                <a:cs typeface="Microsoft Sans Serif"/>
              </a:rPr>
              <a:t>Using</a:t>
            </a:r>
            <a:r>
              <a:rPr sz="2450" spc="-45" dirty="0">
                <a:latin typeface="Microsoft Sans Serif"/>
                <a:cs typeface="Microsoft Sans Serif"/>
              </a:rPr>
              <a:t> </a:t>
            </a:r>
            <a:r>
              <a:rPr sz="2450" dirty="0">
                <a:latin typeface="Microsoft Sans Serif"/>
                <a:cs typeface="Microsoft Sans Serif"/>
              </a:rPr>
              <a:t>the</a:t>
            </a:r>
            <a:r>
              <a:rPr sz="2450" spc="-50" dirty="0">
                <a:latin typeface="Microsoft Sans Serif"/>
                <a:cs typeface="Microsoft Sans Serif"/>
              </a:rPr>
              <a:t> </a:t>
            </a:r>
            <a:r>
              <a:rPr sz="2450" dirty="0">
                <a:latin typeface="Microsoft Sans Serif"/>
                <a:cs typeface="Microsoft Sans Serif"/>
              </a:rPr>
              <a:t>alphabets</a:t>
            </a:r>
            <a:r>
              <a:rPr sz="2450" spc="-100" dirty="0">
                <a:latin typeface="Microsoft Sans Serif"/>
                <a:cs typeface="Microsoft Sans Serif"/>
              </a:rPr>
              <a:t> </a:t>
            </a:r>
            <a:r>
              <a:rPr sz="2450" dirty="0">
                <a:latin typeface="Microsoft Sans Serif"/>
                <a:cs typeface="Microsoft Sans Serif"/>
              </a:rPr>
              <a:t>in</a:t>
            </a:r>
            <a:r>
              <a:rPr sz="2450" spc="-105" dirty="0">
                <a:latin typeface="Microsoft Sans Serif"/>
                <a:cs typeface="Microsoft Sans Serif"/>
              </a:rPr>
              <a:t> </a:t>
            </a:r>
            <a:r>
              <a:rPr sz="2450" dirty="0">
                <a:latin typeface="Microsoft Sans Serif"/>
                <a:cs typeface="Microsoft Sans Serif"/>
              </a:rPr>
              <a:t>place</a:t>
            </a:r>
            <a:r>
              <a:rPr sz="2450" spc="-50" dirty="0">
                <a:latin typeface="Microsoft Sans Serif"/>
                <a:cs typeface="Microsoft Sans Serif"/>
              </a:rPr>
              <a:t> </a:t>
            </a:r>
            <a:r>
              <a:rPr sz="2450" spc="100" dirty="0">
                <a:latin typeface="Microsoft Sans Serif"/>
                <a:cs typeface="Microsoft Sans Serif"/>
              </a:rPr>
              <a:t>of</a:t>
            </a:r>
            <a:r>
              <a:rPr sz="2450" spc="-40" dirty="0">
                <a:latin typeface="Microsoft Sans Serif"/>
                <a:cs typeface="Microsoft Sans Serif"/>
              </a:rPr>
              <a:t> </a:t>
            </a:r>
            <a:r>
              <a:rPr sz="2450" spc="-10" dirty="0">
                <a:latin typeface="Microsoft Sans Serif"/>
                <a:cs typeface="Microsoft Sans Serif"/>
              </a:rPr>
              <a:t>numbers,</a:t>
            </a:r>
            <a:r>
              <a:rPr sz="2450" spc="-25" dirty="0">
                <a:latin typeface="Microsoft Sans Serif"/>
                <a:cs typeface="Microsoft Sans Serif"/>
              </a:rPr>
              <a:t> </a:t>
            </a:r>
            <a:r>
              <a:rPr sz="2450" dirty="0">
                <a:latin typeface="Microsoft Sans Serif"/>
                <a:cs typeface="Microsoft Sans Serif"/>
              </a:rPr>
              <a:t>one</a:t>
            </a:r>
            <a:r>
              <a:rPr sz="2450" spc="-50" dirty="0">
                <a:latin typeface="Microsoft Sans Serif"/>
                <a:cs typeface="Microsoft Sans Serif"/>
              </a:rPr>
              <a:t> </a:t>
            </a:r>
            <a:r>
              <a:rPr sz="2450" dirty="0">
                <a:latin typeface="Microsoft Sans Serif"/>
                <a:cs typeface="Microsoft Sans Serif"/>
              </a:rPr>
              <a:t>can</a:t>
            </a:r>
            <a:r>
              <a:rPr sz="2450" spc="-100" dirty="0">
                <a:latin typeface="Microsoft Sans Serif"/>
                <a:cs typeface="Microsoft Sans Serif"/>
              </a:rPr>
              <a:t> </a:t>
            </a:r>
            <a:r>
              <a:rPr sz="2450" spc="-10" dirty="0">
                <a:latin typeface="Microsoft Sans Serif"/>
                <a:cs typeface="Microsoft Sans Serif"/>
              </a:rPr>
              <a:t>construct 	</a:t>
            </a:r>
            <a:r>
              <a:rPr sz="2450" dirty="0">
                <a:latin typeface="Microsoft Sans Serif"/>
                <a:cs typeface="Microsoft Sans Serif"/>
              </a:rPr>
              <a:t>words,</a:t>
            </a:r>
            <a:r>
              <a:rPr sz="2450" spc="15" dirty="0">
                <a:latin typeface="Microsoft Sans Serif"/>
                <a:cs typeface="Microsoft Sans Serif"/>
              </a:rPr>
              <a:t> </a:t>
            </a:r>
            <a:r>
              <a:rPr sz="2450" dirty="0">
                <a:latin typeface="Microsoft Sans Serif"/>
                <a:cs typeface="Microsoft Sans Serif"/>
              </a:rPr>
              <a:t>which</a:t>
            </a:r>
            <a:r>
              <a:rPr sz="2450" spc="-75" dirty="0">
                <a:latin typeface="Microsoft Sans Serif"/>
                <a:cs typeface="Microsoft Sans Serif"/>
              </a:rPr>
              <a:t> </a:t>
            </a:r>
            <a:r>
              <a:rPr sz="2450" dirty="0">
                <a:latin typeface="Microsoft Sans Serif"/>
                <a:cs typeface="Microsoft Sans Serif"/>
              </a:rPr>
              <a:t>by</a:t>
            </a:r>
            <a:r>
              <a:rPr sz="2450" spc="-50" dirty="0">
                <a:latin typeface="Microsoft Sans Serif"/>
                <a:cs typeface="Microsoft Sans Serif"/>
              </a:rPr>
              <a:t> </a:t>
            </a:r>
            <a:r>
              <a:rPr sz="2450" dirty="0">
                <a:latin typeface="Microsoft Sans Serif"/>
                <a:cs typeface="Microsoft Sans Serif"/>
              </a:rPr>
              <a:t>deciphering</a:t>
            </a:r>
            <a:r>
              <a:rPr sz="2450" spc="-10" dirty="0">
                <a:latin typeface="Microsoft Sans Serif"/>
                <a:cs typeface="Microsoft Sans Serif"/>
              </a:rPr>
              <a:t> </a:t>
            </a:r>
            <a:r>
              <a:rPr sz="2450" dirty="0">
                <a:latin typeface="Microsoft Sans Serif"/>
                <a:cs typeface="Microsoft Sans Serif"/>
              </a:rPr>
              <a:t>one</a:t>
            </a:r>
            <a:r>
              <a:rPr sz="2450" spc="-15" dirty="0">
                <a:latin typeface="Microsoft Sans Serif"/>
                <a:cs typeface="Microsoft Sans Serif"/>
              </a:rPr>
              <a:t> </a:t>
            </a:r>
            <a:r>
              <a:rPr sz="2450" dirty="0">
                <a:latin typeface="Microsoft Sans Serif"/>
                <a:cs typeface="Microsoft Sans Serif"/>
              </a:rPr>
              <a:t>alphabet</a:t>
            </a:r>
            <a:r>
              <a:rPr sz="2450" spc="-50" dirty="0">
                <a:latin typeface="Microsoft Sans Serif"/>
                <a:cs typeface="Microsoft Sans Serif"/>
              </a:rPr>
              <a:t> </a:t>
            </a:r>
            <a:r>
              <a:rPr sz="2450" dirty="0">
                <a:latin typeface="Microsoft Sans Serif"/>
                <a:cs typeface="Microsoft Sans Serif"/>
              </a:rPr>
              <a:t>at</a:t>
            </a:r>
            <a:r>
              <a:rPr sz="2450" spc="-45" dirty="0">
                <a:latin typeface="Microsoft Sans Serif"/>
                <a:cs typeface="Microsoft Sans Serif"/>
              </a:rPr>
              <a:t> </a:t>
            </a:r>
            <a:r>
              <a:rPr sz="2450" dirty="0">
                <a:latin typeface="Microsoft Sans Serif"/>
                <a:cs typeface="Microsoft Sans Serif"/>
              </a:rPr>
              <a:t>a</a:t>
            </a:r>
            <a:r>
              <a:rPr sz="2450" spc="-55" dirty="0">
                <a:latin typeface="Microsoft Sans Serif"/>
                <a:cs typeface="Microsoft Sans Serif"/>
              </a:rPr>
              <a:t> </a:t>
            </a:r>
            <a:r>
              <a:rPr sz="2450" spc="55" dirty="0">
                <a:latin typeface="Microsoft Sans Serif"/>
                <a:cs typeface="Microsoft Sans Serif"/>
              </a:rPr>
              <a:t>time</a:t>
            </a:r>
            <a:r>
              <a:rPr sz="2450" spc="-15" dirty="0">
                <a:latin typeface="Microsoft Sans Serif"/>
                <a:cs typeface="Microsoft Sans Serif"/>
              </a:rPr>
              <a:t> </a:t>
            </a:r>
            <a:r>
              <a:rPr sz="2450" dirty="0">
                <a:latin typeface="Microsoft Sans Serif"/>
                <a:cs typeface="Microsoft Sans Serif"/>
              </a:rPr>
              <a:t>will</a:t>
            </a:r>
            <a:r>
              <a:rPr sz="2450" spc="-15" dirty="0">
                <a:latin typeface="Microsoft Sans Serif"/>
                <a:cs typeface="Microsoft Sans Serif"/>
              </a:rPr>
              <a:t> </a:t>
            </a:r>
            <a:r>
              <a:rPr sz="2450" spc="-10" dirty="0">
                <a:latin typeface="Microsoft Sans Serif"/>
                <a:cs typeface="Microsoft Sans Serif"/>
              </a:rPr>
              <a:t>reveal 	</a:t>
            </a:r>
            <a:r>
              <a:rPr sz="2450" dirty="0">
                <a:latin typeface="Microsoft Sans Serif"/>
                <a:cs typeface="Microsoft Sans Serif"/>
              </a:rPr>
              <a:t>the</a:t>
            </a:r>
            <a:r>
              <a:rPr sz="2450" spc="-40" dirty="0">
                <a:latin typeface="Microsoft Sans Serif"/>
                <a:cs typeface="Microsoft Sans Serif"/>
              </a:rPr>
              <a:t> </a:t>
            </a:r>
            <a:r>
              <a:rPr sz="2450" dirty="0">
                <a:latin typeface="Microsoft Sans Serif"/>
                <a:cs typeface="Microsoft Sans Serif"/>
              </a:rPr>
              <a:t>number</a:t>
            </a:r>
            <a:r>
              <a:rPr sz="2450" spc="-95" dirty="0">
                <a:latin typeface="Microsoft Sans Serif"/>
                <a:cs typeface="Microsoft Sans Serif"/>
              </a:rPr>
              <a:t> </a:t>
            </a:r>
            <a:r>
              <a:rPr sz="2450" spc="-10" dirty="0">
                <a:latin typeface="Microsoft Sans Serif"/>
                <a:cs typeface="Microsoft Sans Serif"/>
              </a:rPr>
              <a:t>expressed</a:t>
            </a:r>
            <a:r>
              <a:rPr sz="2450" spc="-35" dirty="0">
                <a:latin typeface="Microsoft Sans Serif"/>
                <a:cs typeface="Microsoft Sans Serif"/>
              </a:rPr>
              <a:t> </a:t>
            </a:r>
            <a:r>
              <a:rPr sz="2450" dirty="0">
                <a:latin typeface="Microsoft Sans Serif"/>
                <a:cs typeface="Microsoft Sans Serif"/>
              </a:rPr>
              <a:t>in</a:t>
            </a:r>
            <a:r>
              <a:rPr sz="2450" spc="-95" dirty="0">
                <a:latin typeface="Microsoft Sans Serif"/>
                <a:cs typeface="Microsoft Sans Serif"/>
              </a:rPr>
              <a:t> </a:t>
            </a:r>
            <a:r>
              <a:rPr sz="2450" dirty="0">
                <a:latin typeface="Microsoft Sans Serif"/>
                <a:cs typeface="Microsoft Sans Serif"/>
              </a:rPr>
              <a:t>the</a:t>
            </a:r>
            <a:r>
              <a:rPr sz="2450" spc="-40" dirty="0">
                <a:latin typeface="Microsoft Sans Serif"/>
                <a:cs typeface="Microsoft Sans Serif"/>
              </a:rPr>
              <a:t> </a:t>
            </a:r>
            <a:r>
              <a:rPr sz="2450" spc="-10" dirty="0">
                <a:latin typeface="Microsoft Sans Serif"/>
                <a:cs typeface="Microsoft Sans Serif"/>
              </a:rPr>
              <a:t>word.</a:t>
            </a:r>
            <a:endParaRPr sz="2450">
              <a:latin typeface="Microsoft Sans Serif"/>
              <a:cs typeface="Microsoft Sans Serif"/>
            </a:endParaRPr>
          </a:p>
          <a:p>
            <a:pPr marL="211454" marR="605155" indent="-199390">
              <a:lnSpc>
                <a:spcPts val="2630"/>
              </a:lnSpc>
              <a:spcBef>
                <a:spcPts val="880"/>
              </a:spcBef>
              <a:buChar char="•"/>
              <a:tabLst>
                <a:tab pos="212725" algn="l"/>
              </a:tabLst>
            </a:pPr>
            <a:r>
              <a:rPr sz="2450" spc="-10" dirty="0">
                <a:latin typeface="Microsoft Sans Serif"/>
                <a:cs typeface="Microsoft Sans Serif"/>
              </a:rPr>
              <a:t>The</a:t>
            </a:r>
            <a:r>
              <a:rPr sz="2450" spc="-45" dirty="0">
                <a:latin typeface="Microsoft Sans Serif"/>
                <a:cs typeface="Microsoft Sans Serif"/>
              </a:rPr>
              <a:t> </a:t>
            </a:r>
            <a:r>
              <a:rPr sz="2450" dirty="0">
                <a:latin typeface="Microsoft Sans Serif"/>
                <a:cs typeface="Microsoft Sans Serif"/>
              </a:rPr>
              <a:t>advantage</a:t>
            </a:r>
            <a:r>
              <a:rPr sz="2450" spc="-45" dirty="0">
                <a:latin typeface="Microsoft Sans Serif"/>
                <a:cs typeface="Microsoft Sans Serif"/>
              </a:rPr>
              <a:t> </a:t>
            </a:r>
            <a:r>
              <a:rPr sz="2450" spc="100" dirty="0">
                <a:latin typeface="Microsoft Sans Serif"/>
                <a:cs typeface="Microsoft Sans Serif"/>
              </a:rPr>
              <a:t>of</a:t>
            </a:r>
            <a:r>
              <a:rPr sz="2450" spc="-35" dirty="0">
                <a:latin typeface="Microsoft Sans Serif"/>
                <a:cs typeface="Microsoft Sans Serif"/>
              </a:rPr>
              <a:t> </a:t>
            </a:r>
            <a:r>
              <a:rPr sz="2450" dirty="0">
                <a:latin typeface="Microsoft Sans Serif"/>
                <a:cs typeface="Microsoft Sans Serif"/>
              </a:rPr>
              <a:t>such</a:t>
            </a:r>
            <a:r>
              <a:rPr sz="2450" spc="-90" dirty="0">
                <a:latin typeface="Microsoft Sans Serif"/>
                <a:cs typeface="Microsoft Sans Serif"/>
              </a:rPr>
              <a:t> </a:t>
            </a:r>
            <a:r>
              <a:rPr sz="2450" dirty="0">
                <a:latin typeface="Microsoft Sans Serif"/>
                <a:cs typeface="Microsoft Sans Serif"/>
              </a:rPr>
              <a:t>a</a:t>
            </a:r>
            <a:r>
              <a:rPr sz="2450" spc="-80" dirty="0">
                <a:latin typeface="Microsoft Sans Serif"/>
                <a:cs typeface="Microsoft Sans Serif"/>
              </a:rPr>
              <a:t> </a:t>
            </a:r>
            <a:r>
              <a:rPr sz="2450" dirty="0">
                <a:latin typeface="Microsoft Sans Serif"/>
                <a:cs typeface="Microsoft Sans Serif"/>
              </a:rPr>
              <a:t>system</a:t>
            </a:r>
            <a:r>
              <a:rPr sz="2450" spc="-15" dirty="0">
                <a:latin typeface="Microsoft Sans Serif"/>
                <a:cs typeface="Microsoft Sans Serif"/>
              </a:rPr>
              <a:t> </a:t>
            </a:r>
            <a:r>
              <a:rPr sz="2450" dirty="0">
                <a:latin typeface="Microsoft Sans Serif"/>
                <a:cs typeface="Microsoft Sans Serif"/>
              </a:rPr>
              <a:t>lies</a:t>
            </a:r>
            <a:r>
              <a:rPr sz="2450" spc="-100" dirty="0">
                <a:latin typeface="Microsoft Sans Serif"/>
                <a:cs typeface="Microsoft Sans Serif"/>
              </a:rPr>
              <a:t> </a:t>
            </a:r>
            <a:r>
              <a:rPr sz="2450" dirty="0">
                <a:latin typeface="Microsoft Sans Serif"/>
                <a:cs typeface="Microsoft Sans Serif"/>
              </a:rPr>
              <a:t>in</a:t>
            </a:r>
            <a:r>
              <a:rPr sz="2450" spc="-95" dirty="0">
                <a:latin typeface="Microsoft Sans Serif"/>
                <a:cs typeface="Microsoft Sans Serif"/>
              </a:rPr>
              <a:t> </a:t>
            </a:r>
            <a:r>
              <a:rPr sz="2450" spc="-10" dirty="0">
                <a:latin typeface="Microsoft Sans Serif"/>
                <a:cs typeface="Microsoft Sans Serif"/>
              </a:rPr>
              <a:t>representing</a:t>
            </a:r>
            <a:r>
              <a:rPr sz="2450" spc="-35" dirty="0">
                <a:latin typeface="Microsoft Sans Serif"/>
                <a:cs typeface="Microsoft Sans Serif"/>
              </a:rPr>
              <a:t> </a:t>
            </a:r>
            <a:r>
              <a:rPr sz="2450" spc="-10" dirty="0">
                <a:latin typeface="Microsoft Sans Serif"/>
                <a:cs typeface="Microsoft Sans Serif"/>
              </a:rPr>
              <a:t>large 	</a:t>
            </a:r>
            <a:r>
              <a:rPr sz="2450" dirty="0">
                <a:latin typeface="Microsoft Sans Serif"/>
                <a:cs typeface="Microsoft Sans Serif"/>
              </a:rPr>
              <a:t>numbers</a:t>
            </a:r>
            <a:r>
              <a:rPr sz="2450" spc="-110" dirty="0">
                <a:latin typeface="Microsoft Sans Serif"/>
                <a:cs typeface="Microsoft Sans Serif"/>
              </a:rPr>
              <a:t> </a:t>
            </a:r>
            <a:r>
              <a:rPr sz="2450" dirty="0">
                <a:latin typeface="Microsoft Sans Serif"/>
                <a:cs typeface="Microsoft Sans Serif"/>
              </a:rPr>
              <a:t>using</a:t>
            </a:r>
            <a:r>
              <a:rPr sz="2450" spc="-45" dirty="0">
                <a:latin typeface="Microsoft Sans Serif"/>
                <a:cs typeface="Microsoft Sans Serif"/>
              </a:rPr>
              <a:t> </a:t>
            </a:r>
            <a:r>
              <a:rPr sz="2450" dirty="0">
                <a:latin typeface="Microsoft Sans Serif"/>
                <a:cs typeface="Microsoft Sans Serif"/>
              </a:rPr>
              <a:t>a</a:t>
            </a:r>
            <a:r>
              <a:rPr sz="2450" spc="-85" dirty="0">
                <a:latin typeface="Microsoft Sans Serif"/>
                <a:cs typeface="Microsoft Sans Serif"/>
              </a:rPr>
              <a:t> </a:t>
            </a:r>
            <a:r>
              <a:rPr sz="2450" dirty="0">
                <a:latin typeface="Microsoft Sans Serif"/>
                <a:cs typeface="Microsoft Sans Serif"/>
              </a:rPr>
              <a:t>word,</a:t>
            </a:r>
            <a:r>
              <a:rPr sz="2450" spc="-25" dirty="0">
                <a:latin typeface="Microsoft Sans Serif"/>
                <a:cs typeface="Microsoft Sans Serif"/>
              </a:rPr>
              <a:t> </a:t>
            </a:r>
            <a:r>
              <a:rPr sz="2450" dirty="0">
                <a:latin typeface="Microsoft Sans Serif"/>
                <a:cs typeface="Microsoft Sans Serif"/>
              </a:rPr>
              <a:t>which</a:t>
            </a:r>
            <a:r>
              <a:rPr sz="2450" spc="-100" dirty="0">
                <a:latin typeface="Microsoft Sans Serif"/>
                <a:cs typeface="Microsoft Sans Serif"/>
              </a:rPr>
              <a:t> </a:t>
            </a:r>
            <a:r>
              <a:rPr sz="2450" dirty="0">
                <a:latin typeface="Microsoft Sans Serif"/>
                <a:cs typeface="Microsoft Sans Serif"/>
              </a:rPr>
              <a:t>can</a:t>
            </a:r>
            <a:r>
              <a:rPr sz="2450" spc="-105" dirty="0">
                <a:latin typeface="Microsoft Sans Serif"/>
                <a:cs typeface="Microsoft Sans Serif"/>
              </a:rPr>
              <a:t> </a:t>
            </a:r>
            <a:r>
              <a:rPr sz="2450" dirty="0">
                <a:latin typeface="Microsoft Sans Serif"/>
                <a:cs typeface="Microsoft Sans Serif"/>
              </a:rPr>
              <a:t>be</a:t>
            </a:r>
            <a:r>
              <a:rPr sz="2450" spc="-55" dirty="0">
                <a:latin typeface="Microsoft Sans Serif"/>
                <a:cs typeface="Microsoft Sans Serif"/>
              </a:rPr>
              <a:t> </a:t>
            </a:r>
            <a:r>
              <a:rPr sz="2450" dirty="0">
                <a:latin typeface="Microsoft Sans Serif"/>
                <a:cs typeface="Microsoft Sans Serif"/>
              </a:rPr>
              <a:t>easily</a:t>
            </a:r>
            <a:r>
              <a:rPr sz="2450" spc="-85" dirty="0">
                <a:latin typeface="Microsoft Sans Serif"/>
                <a:cs typeface="Microsoft Sans Serif"/>
              </a:rPr>
              <a:t> </a:t>
            </a:r>
            <a:r>
              <a:rPr sz="2450" spc="-10" dirty="0">
                <a:latin typeface="Microsoft Sans Serif"/>
                <a:cs typeface="Microsoft Sans Serif"/>
              </a:rPr>
              <a:t>remembered.</a:t>
            </a:r>
            <a:endParaRPr sz="2450">
              <a:latin typeface="Microsoft Sans Serif"/>
              <a:cs typeface="Microsoft Sans Serif"/>
            </a:endParaRPr>
          </a:p>
          <a:p>
            <a:pPr marL="211454" marR="149225" indent="-199390">
              <a:lnSpc>
                <a:spcPts val="2630"/>
              </a:lnSpc>
              <a:spcBef>
                <a:spcPts val="880"/>
              </a:spcBef>
              <a:buChar char="•"/>
              <a:tabLst>
                <a:tab pos="212725" algn="l"/>
              </a:tabLst>
            </a:pPr>
            <a:r>
              <a:rPr sz="2450" dirty="0">
                <a:latin typeface="Microsoft Sans Serif"/>
                <a:cs typeface="Microsoft Sans Serif"/>
              </a:rPr>
              <a:t>This</a:t>
            </a:r>
            <a:r>
              <a:rPr sz="2450" spc="-50" dirty="0">
                <a:latin typeface="Microsoft Sans Serif"/>
                <a:cs typeface="Microsoft Sans Serif"/>
              </a:rPr>
              <a:t> </a:t>
            </a:r>
            <a:r>
              <a:rPr sz="2450" dirty="0">
                <a:latin typeface="Microsoft Sans Serif"/>
                <a:cs typeface="Microsoft Sans Serif"/>
              </a:rPr>
              <a:t>provided</a:t>
            </a:r>
            <a:r>
              <a:rPr sz="2450" spc="20" dirty="0">
                <a:latin typeface="Microsoft Sans Serif"/>
                <a:cs typeface="Microsoft Sans Serif"/>
              </a:rPr>
              <a:t> </a:t>
            </a:r>
            <a:r>
              <a:rPr sz="2450" dirty="0">
                <a:latin typeface="Microsoft Sans Serif"/>
                <a:cs typeface="Microsoft Sans Serif"/>
              </a:rPr>
              <a:t>a</a:t>
            </a:r>
            <a:r>
              <a:rPr sz="2450" spc="-30" dirty="0">
                <a:latin typeface="Microsoft Sans Serif"/>
                <a:cs typeface="Microsoft Sans Serif"/>
              </a:rPr>
              <a:t> </a:t>
            </a:r>
            <a:r>
              <a:rPr sz="2450" spc="-20" dirty="0">
                <a:latin typeface="Microsoft Sans Serif"/>
                <a:cs typeface="Microsoft Sans Serif"/>
              </a:rPr>
              <a:t>very</a:t>
            </a:r>
            <a:r>
              <a:rPr sz="2450" spc="-25" dirty="0">
                <a:latin typeface="Microsoft Sans Serif"/>
                <a:cs typeface="Microsoft Sans Serif"/>
              </a:rPr>
              <a:t> </a:t>
            </a:r>
            <a:r>
              <a:rPr sz="2450" dirty="0">
                <a:latin typeface="Microsoft Sans Serif"/>
                <a:cs typeface="Microsoft Sans Serif"/>
              </a:rPr>
              <a:t>efficient</a:t>
            </a:r>
            <a:r>
              <a:rPr sz="2450" spc="-20" dirty="0">
                <a:latin typeface="Microsoft Sans Serif"/>
                <a:cs typeface="Microsoft Sans Serif"/>
              </a:rPr>
              <a:t> </a:t>
            </a:r>
            <a:r>
              <a:rPr sz="2450" dirty="0">
                <a:latin typeface="Microsoft Sans Serif"/>
                <a:cs typeface="Microsoft Sans Serif"/>
              </a:rPr>
              <a:t>method</a:t>
            </a:r>
            <a:r>
              <a:rPr sz="2450" spc="15" dirty="0">
                <a:latin typeface="Microsoft Sans Serif"/>
                <a:cs typeface="Microsoft Sans Serif"/>
              </a:rPr>
              <a:t> </a:t>
            </a:r>
            <a:r>
              <a:rPr sz="2450" spc="100" dirty="0">
                <a:latin typeface="Microsoft Sans Serif"/>
                <a:cs typeface="Microsoft Sans Serif"/>
              </a:rPr>
              <a:t>of</a:t>
            </a:r>
            <a:r>
              <a:rPr sz="2450" spc="25" dirty="0">
                <a:latin typeface="Microsoft Sans Serif"/>
                <a:cs typeface="Microsoft Sans Serif"/>
              </a:rPr>
              <a:t> </a:t>
            </a:r>
            <a:r>
              <a:rPr sz="2450" dirty="0">
                <a:latin typeface="Microsoft Sans Serif"/>
                <a:cs typeface="Microsoft Sans Serif"/>
              </a:rPr>
              <a:t>presenting</a:t>
            </a:r>
            <a:r>
              <a:rPr sz="2450" spc="20" dirty="0">
                <a:latin typeface="Microsoft Sans Serif"/>
                <a:cs typeface="Microsoft Sans Serif"/>
              </a:rPr>
              <a:t> </a:t>
            </a:r>
            <a:r>
              <a:rPr sz="2450" dirty="0">
                <a:latin typeface="Microsoft Sans Serif"/>
                <a:cs typeface="Microsoft Sans Serif"/>
              </a:rPr>
              <a:t>results</a:t>
            </a:r>
            <a:r>
              <a:rPr sz="2450" spc="-50" dirty="0">
                <a:latin typeface="Microsoft Sans Serif"/>
                <a:cs typeface="Microsoft Sans Serif"/>
              </a:rPr>
              <a:t> </a:t>
            </a:r>
            <a:r>
              <a:rPr sz="2450" spc="75" dirty="0">
                <a:latin typeface="Microsoft Sans Serif"/>
                <a:cs typeface="Microsoft Sans Serif"/>
              </a:rPr>
              <a:t>of 	</a:t>
            </a:r>
            <a:r>
              <a:rPr sz="2450" dirty="0">
                <a:latin typeface="Microsoft Sans Serif"/>
                <a:cs typeface="Microsoft Sans Serif"/>
              </a:rPr>
              <a:t>complex</a:t>
            </a:r>
            <a:r>
              <a:rPr sz="2450" spc="85" dirty="0">
                <a:latin typeface="Microsoft Sans Serif"/>
                <a:cs typeface="Microsoft Sans Serif"/>
              </a:rPr>
              <a:t> </a:t>
            </a:r>
            <a:r>
              <a:rPr sz="2450" dirty="0">
                <a:latin typeface="Microsoft Sans Serif"/>
                <a:cs typeface="Microsoft Sans Serif"/>
              </a:rPr>
              <a:t>calculations</a:t>
            </a:r>
            <a:r>
              <a:rPr sz="2450" spc="35" dirty="0">
                <a:latin typeface="Microsoft Sans Serif"/>
                <a:cs typeface="Microsoft Sans Serif"/>
              </a:rPr>
              <a:t> </a:t>
            </a:r>
            <a:r>
              <a:rPr sz="2450" dirty="0">
                <a:latin typeface="Microsoft Sans Serif"/>
                <a:cs typeface="Microsoft Sans Serif"/>
              </a:rPr>
              <a:t>using</a:t>
            </a:r>
            <a:r>
              <a:rPr sz="2450" spc="114" dirty="0">
                <a:latin typeface="Microsoft Sans Serif"/>
                <a:cs typeface="Microsoft Sans Serif"/>
              </a:rPr>
              <a:t> </a:t>
            </a:r>
            <a:r>
              <a:rPr sz="2450" dirty="0">
                <a:latin typeface="Microsoft Sans Serif"/>
                <a:cs typeface="Microsoft Sans Serif"/>
              </a:rPr>
              <a:t>number</a:t>
            </a:r>
            <a:r>
              <a:rPr sz="2450" spc="35" dirty="0">
                <a:latin typeface="Microsoft Sans Serif"/>
                <a:cs typeface="Microsoft Sans Serif"/>
              </a:rPr>
              <a:t> </a:t>
            </a:r>
            <a:r>
              <a:rPr sz="2450" spc="-10" dirty="0">
                <a:latin typeface="Microsoft Sans Serif"/>
                <a:cs typeface="Microsoft Sans Serif"/>
              </a:rPr>
              <a:t>symbols.</a:t>
            </a:r>
            <a:endParaRPr sz="2450">
              <a:latin typeface="Microsoft Sans Serif"/>
              <a:cs typeface="Microsoft Sans Serif"/>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5735" rIns="0" bIns="0" rtlCol="0">
            <a:spAutoFit/>
          </a:bodyPr>
          <a:lstStyle/>
          <a:p>
            <a:pPr marL="12700">
              <a:lnSpc>
                <a:spcPct val="100000"/>
              </a:lnSpc>
              <a:spcBef>
                <a:spcPts val="110"/>
              </a:spcBef>
            </a:pPr>
            <a:r>
              <a:rPr dirty="0"/>
              <a:t>Katapayadi</a:t>
            </a:r>
            <a:r>
              <a:rPr spc="-180" dirty="0"/>
              <a:t> </a:t>
            </a:r>
            <a:r>
              <a:rPr spc="-10" dirty="0"/>
              <a:t>System</a:t>
            </a:r>
          </a:p>
        </p:txBody>
      </p:sp>
      <p:pic>
        <p:nvPicPr>
          <p:cNvPr id="3" name="object 3"/>
          <p:cNvPicPr/>
          <p:nvPr/>
        </p:nvPicPr>
        <p:blipFill>
          <a:blip r:embed="rId2" cstate="print"/>
          <a:stretch>
            <a:fillRect/>
          </a:stretch>
        </p:blipFill>
        <p:spPr>
          <a:xfrm>
            <a:off x="1302405" y="1575676"/>
            <a:ext cx="8078623" cy="326418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66B99-D9F5-78C0-648B-63FB8641D810}"/>
              </a:ext>
            </a:extLst>
          </p:cNvPr>
          <p:cNvSpPr>
            <a:spLocks noGrp="1"/>
          </p:cNvSpPr>
          <p:nvPr>
            <p:ph type="title"/>
          </p:nvPr>
        </p:nvSpPr>
        <p:spPr>
          <a:xfrm>
            <a:off x="802671" y="297757"/>
            <a:ext cx="8686800" cy="592470"/>
          </a:xfrm>
        </p:spPr>
        <p:txBody>
          <a:bodyPr/>
          <a:lstStyle/>
          <a:p>
            <a:r>
              <a:rPr lang="en-US" dirty="0"/>
              <a:t>Pingala</a:t>
            </a:r>
            <a:endParaRPr lang="en-IN" dirty="0"/>
          </a:p>
        </p:txBody>
      </p:sp>
      <p:sp>
        <p:nvSpPr>
          <p:cNvPr id="4" name="TextBox 3">
            <a:extLst>
              <a:ext uri="{FF2B5EF4-FFF2-40B4-BE49-F238E27FC236}">
                <a16:creationId xmlns:a16="http://schemas.microsoft.com/office/drawing/2014/main" id="{60BDE21B-3964-BEFE-F420-ED2EA4EE4C40}"/>
              </a:ext>
            </a:extLst>
          </p:cNvPr>
          <p:cNvSpPr txBox="1"/>
          <p:nvPr/>
        </p:nvSpPr>
        <p:spPr>
          <a:xfrm>
            <a:off x="393699" y="1028700"/>
            <a:ext cx="9525001" cy="923330"/>
          </a:xfrm>
          <a:prstGeom prst="rect">
            <a:avLst/>
          </a:prstGeom>
          <a:noFill/>
        </p:spPr>
        <p:txBody>
          <a:bodyPr wrap="square">
            <a:spAutoFit/>
          </a:bodyPr>
          <a:lstStyle/>
          <a:p>
            <a:r>
              <a:rPr lang="en-US" dirty="0"/>
              <a:t>Pingala, in the context of the </a:t>
            </a:r>
            <a:r>
              <a:rPr lang="en-US" b="1" dirty="0"/>
              <a:t>Indian Knowledge System (IKS)</a:t>
            </a:r>
            <a:r>
              <a:rPr lang="en-US" dirty="0"/>
              <a:t>, is a significant figure, particularly known for his contributions to </a:t>
            </a:r>
            <a:r>
              <a:rPr lang="en-US" b="1" dirty="0"/>
              <a:t>Sanskrit prosody</a:t>
            </a:r>
            <a:r>
              <a:rPr lang="en-US" dirty="0"/>
              <a:t> (the study of poetic meter and rhythm) and early developments in mathematics, specifically the </a:t>
            </a:r>
            <a:r>
              <a:rPr lang="en-US" b="1" dirty="0"/>
              <a:t>binary numeral system</a:t>
            </a:r>
            <a:r>
              <a:rPr lang="en-US" dirty="0"/>
              <a:t>.</a:t>
            </a:r>
            <a:endParaRPr lang="en-IN" dirty="0"/>
          </a:p>
        </p:txBody>
      </p:sp>
      <p:sp>
        <p:nvSpPr>
          <p:cNvPr id="6" name="TextBox 5">
            <a:extLst>
              <a:ext uri="{FF2B5EF4-FFF2-40B4-BE49-F238E27FC236}">
                <a16:creationId xmlns:a16="http://schemas.microsoft.com/office/drawing/2014/main" id="{4676C419-35B4-FF58-91CF-F22486587124}"/>
              </a:ext>
            </a:extLst>
          </p:cNvPr>
          <p:cNvSpPr txBox="1"/>
          <p:nvPr/>
        </p:nvSpPr>
        <p:spPr>
          <a:xfrm>
            <a:off x="393699" y="2171700"/>
            <a:ext cx="5344732" cy="369332"/>
          </a:xfrm>
          <a:prstGeom prst="rect">
            <a:avLst/>
          </a:prstGeom>
          <a:noFill/>
        </p:spPr>
        <p:txBody>
          <a:bodyPr wrap="square">
            <a:spAutoFit/>
          </a:bodyPr>
          <a:lstStyle/>
          <a:p>
            <a:r>
              <a:rPr lang="en-IN" dirty="0"/>
              <a:t>1. </a:t>
            </a:r>
            <a:r>
              <a:rPr lang="en-IN" b="1" dirty="0"/>
              <a:t>Sanskrit Prosody (</a:t>
            </a:r>
            <a:r>
              <a:rPr lang="en-IN" b="1" dirty="0" err="1"/>
              <a:t>Chandas</a:t>
            </a:r>
            <a:r>
              <a:rPr lang="en-IN" b="1" dirty="0"/>
              <a:t>)</a:t>
            </a:r>
            <a:r>
              <a:rPr lang="en-IN" dirty="0"/>
              <a:t>:</a:t>
            </a:r>
          </a:p>
        </p:txBody>
      </p:sp>
      <p:sp>
        <p:nvSpPr>
          <p:cNvPr id="8" name="TextBox 7">
            <a:extLst>
              <a:ext uri="{FF2B5EF4-FFF2-40B4-BE49-F238E27FC236}">
                <a16:creationId xmlns:a16="http://schemas.microsoft.com/office/drawing/2014/main" id="{314B94C4-2763-C16C-6EB7-EBD39133C544}"/>
              </a:ext>
            </a:extLst>
          </p:cNvPr>
          <p:cNvSpPr txBox="1"/>
          <p:nvPr/>
        </p:nvSpPr>
        <p:spPr>
          <a:xfrm>
            <a:off x="622300" y="2760702"/>
            <a:ext cx="9296400" cy="2862322"/>
          </a:xfrm>
          <a:prstGeom prst="rect">
            <a:avLst/>
          </a:prstGeom>
          <a:noFill/>
        </p:spPr>
        <p:txBody>
          <a:bodyPr wrap="square">
            <a:spAutoFit/>
          </a:bodyPr>
          <a:lstStyle/>
          <a:p>
            <a:pPr>
              <a:buNone/>
            </a:pPr>
            <a:r>
              <a:rPr lang="en-US" dirty="0"/>
              <a:t>It  is most famous for his work in the field of </a:t>
            </a:r>
            <a:r>
              <a:rPr lang="en-US" b="1" dirty="0" err="1"/>
              <a:t>chandas</a:t>
            </a:r>
            <a:r>
              <a:rPr lang="en-US" dirty="0"/>
              <a:t> or </a:t>
            </a:r>
            <a:r>
              <a:rPr lang="en-US" b="1" dirty="0"/>
              <a:t>Sanskrit prosody</a:t>
            </a:r>
            <a:r>
              <a:rPr lang="en-US" dirty="0"/>
              <a:t>. </a:t>
            </a:r>
          </a:p>
          <a:p>
            <a:pPr>
              <a:buNone/>
            </a:pPr>
            <a:r>
              <a:rPr lang="en-US" dirty="0"/>
              <a:t>He wrote a treatise called the </a:t>
            </a:r>
            <a:r>
              <a:rPr lang="en-US" i="1" dirty="0" err="1"/>
              <a:t>Chandaḥśāstra</a:t>
            </a:r>
            <a:r>
              <a:rPr lang="en-US" dirty="0"/>
              <a:t>, which is one of the earliest texts to systematically explain the structure of poetic meters in Sanskrit. His analysis was based on syllable lengths, which were categorized into </a:t>
            </a:r>
            <a:r>
              <a:rPr lang="en-US" b="1" dirty="0"/>
              <a:t>short</a:t>
            </a:r>
            <a:r>
              <a:rPr lang="en-US" dirty="0"/>
              <a:t> (</a:t>
            </a:r>
            <a:r>
              <a:rPr lang="en-US" dirty="0" err="1"/>
              <a:t>laghu</a:t>
            </a:r>
            <a:r>
              <a:rPr lang="en-US" dirty="0"/>
              <a:t>) and </a:t>
            </a:r>
            <a:r>
              <a:rPr lang="en-US" b="1" dirty="0"/>
              <a:t>long</a:t>
            </a:r>
            <a:r>
              <a:rPr lang="en-US" dirty="0"/>
              <a:t> (guru) syllables. This work was vital for the study and creation of poetic forms in Sanskrit literature, like Vedic hymns, which follow strict metrical patterns.</a:t>
            </a:r>
          </a:p>
          <a:p>
            <a:pPr>
              <a:buNone/>
            </a:pPr>
            <a:endParaRPr lang="en-US" dirty="0"/>
          </a:p>
          <a:p>
            <a:pPr>
              <a:buFont typeface="Arial" panose="020B0604020202020204" pitchFamily="34" charset="0"/>
              <a:buChar char="•"/>
            </a:pPr>
            <a:r>
              <a:rPr lang="en-US" b="1" dirty="0"/>
              <a:t>Laghu and Guru</a:t>
            </a:r>
            <a:r>
              <a:rPr lang="en-US" dirty="0"/>
              <a:t>: Pingala classified syllables into two categories, </a:t>
            </a:r>
            <a:r>
              <a:rPr lang="en-US" b="1" dirty="0" err="1"/>
              <a:t>laghu</a:t>
            </a:r>
            <a:r>
              <a:rPr lang="en-US" dirty="0"/>
              <a:t> (short) and </a:t>
            </a:r>
            <a:r>
              <a:rPr lang="en-US" b="1" dirty="0"/>
              <a:t>guru</a:t>
            </a:r>
            <a:r>
              <a:rPr lang="en-US" dirty="0"/>
              <a:t> (long). These became the foundation for different meter patterns in classical Sanskrit poetry.</a:t>
            </a:r>
          </a:p>
        </p:txBody>
      </p:sp>
    </p:spTree>
    <p:extLst>
      <p:ext uri="{BB962C8B-B14F-4D97-AF65-F5344CB8AC3E}">
        <p14:creationId xmlns:p14="http://schemas.microsoft.com/office/powerpoint/2010/main" val="3125611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AD9F60-0BB1-AC9B-1622-A3629DD9E8D5}"/>
              </a:ext>
            </a:extLst>
          </p:cNvPr>
          <p:cNvSpPr txBox="1"/>
          <p:nvPr/>
        </p:nvSpPr>
        <p:spPr>
          <a:xfrm>
            <a:off x="469900" y="745060"/>
            <a:ext cx="9829800" cy="3416320"/>
          </a:xfrm>
          <a:prstGeom prst="rect">
            <a:avLst/>
          </a:prstGeom>
          <a:noFill/>
        </p:spPr>
        <p:txBody>
          <a:bodyPr wrap="square">
            <a:spAutoFit/>
          </a:bodyPr>
          <a:lstStyle/>
          <a:p>
            <a:pPr>
              <a:buNone/>
            </a:pPr>
            <a:r>
              <a:rPr lang="en-US" b="1" dirty="0"/>
              <a:t>2. Mathematics and the Binary System:</a:t>
            </a:r>
          </a:p>
          <a:p>
            <a:pPr>
              <a:buNone/>
            </a:pPr>
            <a:endParaRPr lang="en-US" b="1" dirty="0"/>
          </a:p>
          <a:p>
            <a:pPr>
              <a:buNone/>
            </a:pPr>
            <a:r>
              <a:rPr lang="en-US" dirty="0"/>
              <a:t>Pingala’s work also laid the groundwork for </a:t>
            </a:r>
            <a:r>
              <a:rPr lang="en-US" b="1" dirty="0"/>
              <a:t>binary mathematics</a:t>
            </a:r>
            <a:r>
              <a:rPr lang="en-US" dirty="0"/>
              <a:t>, which is incredibly significant in the development of modern computing. In his text, </a:t>
            </a:r>
            <a:r>
              <a:rPr lang="en-US" i="1" dirty="0" err="1"/>
              <a:t>Chandaḥśāstra</a:t>
            </a:r>
            <a:r>
              <a:rPr lang="en-US" dirty="0"/>
              <a:t>, Pingala used a binary-like system to represent different combinations of syllables (short and long). </a:t>
            </a:r>
          </a:p>
          <a:p>
            <a:pPr>
              <a:buNone/>
            </a:pPr>
            <a:endParaRPr lang="en-US" dirty="0"/>
          </a:p>
          <a:p>
            <a:pPr marL="285750" indent="-285750">
              <a:buFont typeface="Arial" panose="020B0604020202020204" pitchFamily="34" charset="0"/>
              <a:buChar char="•"/>
            </a:pPr>
            <a:r>
              <a:rPr lang="en-US" dirty="0"/>
              <a:t>He described the arrangement of syllables as a </a:t>
            </a:r>
            <a:r>
              <a:rPr lang="en-US" b="1" dirty="0"/>
              <a:t>binary sequence</a:t>
            </a:r>
            <a:r>
              <a:rPr lang="en-US" dirty="0"/>
              <a:t>—similar to how modern computers represent data using binary digits (0s and 1s).</a:t>
            </a:r>
          </a:p>
          <a:p>
            <a:pPr marL="285750" indent="-285750">
              <a:buFont typeface="Arial" panose="020B0604020202020204" pitchFamily="34" charset="0"/>
              <a:buChar char="•"/>
            </a:pPr>
            <a:r>
              <a:rPr lang="en-US" dirty="0"/>
              <a:t>This system involved combinations of short and long syllables, where the short syllable was represented by a "0" and the long syllable by a "1".</a:t>
            </a:r>
          </a:p>
          <a:p>
            <a:pPr marL="285750" indent="-285750">
              <a:buFont typeface="Arial" panose="020B0604020202020204" pitchFamily="34" charset="0"/>
              <a:buChar char="•"/>
            </a:pPr>
            <a:r>
              <a:rPr lang="en-US" dirty="0"/>
              <a:t> This is considered an early form of binary coding, which would later become fundamental in the development of digital technology.</a:t>
            </a:r>
          </a:p>
        </p:txBody>
      </p:sp>
    </p:spTree>
    <p:extLst>
      <p:ext uri="{BB962C8B-B14F-4D97-AF65-F5344CB8AC3E}">
        <p14:creationId xmlns:p14="http://schemas.microsoft.com/office/powerpoint/2010/main" val="883753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F06C11-FB00-8151-4824-0A6A4491E710}"/>
              </a:ext>
            </a:extLst>
          </p:cNvPr>
          <p:cNvSpPr txBox="1"/>
          <p:nvPr/>
        </p:nvSpPr>
        <p:spPr>
          <a:xfrm>
            <a:off x="546100" y="419100"/>
            <a:ext cx="9372600" cy="1754326"/>
          </a:xfrm>
          <a:prstGeom prst="rect">
            <a:avLst/>
          </a:prstGeom>
          <a:noFill/>
        </p:spPr>
        <p:txBody>
          <a:bodyPr wrap="square">
            <a:spAutoFit/>
          </a:bodyPr>
          <a:lstStyle/>
          <a:p>
            <a:pPr>
              <a:buNone/>
            </a:pPr>
            <a:r>
              <a:rPr lang="en-US" b="1" dirty="0"/>
              <a:t>3. Fibonacci Sequence:</a:t>
            </a:r>
          </a:p>
          <a:p>
            <a:pPr>
              <a:buNone/>
            </a:pPr>
            <a:endParaRPr lang="en-US" b="1" dirty="0"/>
          </a:p>
          <a:p>
            <a:r>
              <a:rPr lang="en-US" dirty="0"/>
              <a:t>Pingala’s work also hinted at a </a:t>
            </a:r>
            <a:r>
              <a:rPr lang="en-US" b="1" dirty="0"/>
              <a:t>mathematical sequence</a:t>
            </a:r>
            <a:r>
              <a:rPr lang="en-US" dirty="0"/>
              <a:t> that resembles the Fibonacci sequence. The arrangement of syllables in metrical patterns followed a structure that could be interpreted as a Fibonacci-like progression. This aspect of his work links ancient Indian knowledge to modern mathematical discoveries.</a:t>
            </a:r>
          </a:p>
        </p:txBody>
      </p:sp>
      <p:sp>
        <p:nvSpPr>
          <p:cNvPr id="6" name="TextBox 5">
            <a:extLst>
              <a:ext uri="{FF2B5EF4-FFF2-40B4-BE49-F238E27FC236}">
                <a16:creationId xmlns:a16="http://schemas.microsoft.com/office/drawing/2014/main" id="{8EEB1D0A-EC95-0669-6C7F-C03919D86830}"/>
              </a:ext>
            </a:extLst>
          </p:cNvPr>
          <p:cNvSpPr txBox="1"/>
          <p:nvPr/>
        </p:nvSpPr>
        <p:spPr>
          <a:xfrm>
            <a:off x="850900" y="2628900"/>
            <a:ext cx="9220200" cy="1200329"/>
          </a:xfrm>
          <a:prstGeom prst="rect">
            <a:avLst/>
          </a:prstGeom>
          <a:noFill/>
        </p:spPr>
        <p:txBody>
          <a:bodyPr wrap="square">
            <a:spAutoFit/>
          </a:bodyPr>
          <a:lstStyle/>
          <a:p>
            <a:r>
              <a:rPr lang="en-US" dirty="0"/>
              <a:t>Therefore Pingala’s contributions to the Indian Knowledge System reflect a unique intersection of </a:t>
            </a:r>
            <a:r>
              <a:rPr lang="en-US" b="1" dirty="0"/>
              <a:t>mathematics</a:t>
            </a:r>
            <a:r>
              <a:rPr lang="en-US" dirty="0"/>
              <a:t>, </a:t>
            </a:r>
            <a:r>
              <a:rPr lang="en-US" b="1" dirty="0"/>
              <a:t>linguistics</a:t>
            </a:r>
            <a:r>
              <a:rPr lang="en-US" dirty="0"/>
              <a:t>, and </a:t>
            </a:r>
            <a:r>
              <a:rPr lang="en-US" b="1" dirty="0"/>
              <a:t>culture</a:t>
            </a:r>
            <a:r>
              <a:rPr lang="en-US" dirty="0"/>
              <a:t>. </a:t>
            </a:r>
          </a:p>
          <a:p>
            <a:r>
              <a:rPr lang="en-US" dirty="0"/>
              <a:t>His pioneering work in prosody and the binary system has left a lasting legacy on both the intellectual traditions of ancient India and the modern world’s technological advances.</a:t>
            </a:r>
            <a:endParaRPr lang="en-IN" dirty="0"/>
          </a:p>
        </p:txBody>
      </p:sp>
    </p:spTree>
    <p:extLst>
      <p:ext uri="{BB962C8B-B14F-4D97-AF65-F5344CB8AC3E}">
        <p14:creationId xmlns:p14="http://schemas.microsoft.com/office/powerpoint/2010/main" val="2808359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3820" rIns="0" bIns="0" rtlCol="0">
            <a:spAutoFit/>
          </a:bodyPr>
          <a:lstStyle/>
          <a:p>
            <a:pPr marL="12700" marR="5080">
              <a:lnSpc>
                <a:spcPts val="4120"/>
              </a:lnSpc>
              <a:spcBef>
                <a:spcPts val="660"/>
              </a:spcBef>
            </a:pPr>
            <a:r>
              <a:rPr dirty="0"/>
              <a:t>Measurement</a:t>
            </a:r>
            <a:r>
              <a:rPr spc="-190" dirty="0"/>
              <a:t> </a:t>
            </a:r>
            <a:r>
              <a:rPr spc="-35" dirty="0"/>
              <a:t>For</a:t>
            </a:r>
            <a:r>
              <a:rPr spc="-150" dirty="0"/>
              <a:t> </a:t>
            </a:r>
            <a:r>
              <a:rPr spc="-20" dirty="0"/>
              <a:t>Time,</a:t>
            </a:r>
            <a:r>
              <a:rPr spc="-130" dirty="0"/>
              <a:t> </a:t>
            </a:r>
            <a:r>
              <a:rPr dirty="0"/>
              <a:t>Distance</a:t>
            </a:r>
            <a:r>
              <a:rPr spc="-185" dirty="0"/>
              <a:t> </a:t>
            </a:r>
            <a:r>
              <a:rPr spc="-25" dirty="0"/>
              <a:t>and </a:t>
            </a:r>
            <a:r>
              <a:rPr spc="-10" dirty="0"/>
              <a:t>Weight</a:t>
            </a:r>
          </a:p>
        </p:txBody>
      </p:sp>
      <p:sp>
        <p:nvSpPr>
          <p:cNvPr id="3" name="object 3"/>
          <p:cNvSpPr txBox="1"/>
          <p:nvPr/>
        </p:nvSpPr>
        <p:spPr>
          <a:xfrm>
            <a:off x="802671" y="1585560"/>
            <a:ext cx="8666480" cy="2293620"/>
          </a:xfrm>
          <a:prstGeom prst="rect">
            <a:avLst/>
          </a:prstGeom>
        </p:spPr>
        <p:txBody>
          <a:bodyPr vert="horz" wrap="square" lIns="0" tIns="57150" rIns="0" bIns="0" rtlCol="0">
            <a:spAutoFit/>
          </a:bodyPr>
          <a:lstStyle/>
          <a:p>
            <a:pPr marL="211454" marR="237490" indent="-199390">
              <a:lnSpc>
                <a:spcPts val="2630"/>
              </a:lnSpc>
              <a:spcBef>
                <a:spcPts val="450"/>
              </a:spcBef>
              <a:buChar char="•"/>
              <a:tabLst>
                <a:tab pos="212725" algn="l"/>
              </a:tabLst>
            </a:pPr>
            <a:r>
              <a:rPr sz="2450" dirty="0">
                <a:latin typeface="Microsoft Sans Serif"/>
                <a:cs typeface="Microsoft Sans Serif"/>
              </a:rPr>
              <a:t>In</a:t>
            </a:r>
            <a:r>
              <a:rPr sz="2450" spc="-80" dirty="0">
                <a:latin typeface="Microsoft Sans Serif"/>
                <a:cs typeface="Microsoft Sans Serif"/>
              </a:rPr>
              <a:t> </a:t>
            </a:r>
            <a:r>
              <a:rPr sz="2450" dirty="0">
                <a:latin typeface="Microsoft Sans Serif"/>
                <a:cs typeface="Microsoft Sans Serif"/>
              </a:rPr>
              <a:t>the</a:t>
            </a:r>
            <a:r>
              <a:rPr sz="2450" spc="-25" dirty="0">
                <a:latin typeface="Microsoft Sans Serif"/>
                <a:cs typeface="Microsoft Sans Serif"/>
              </a:rPr>
              <a:t> </a:t>
            </a:r>
            <a:r>
              <a:rPr sz="2450" dirty="0">
                <a:latin typeface="Microsoft Sans Serif"/>
                <a:cs typeface="Microsoft Sans Serif"/>
              </a:rPr>
              <a:t>ancient</a:t>
            </a:r>
            <a:r>
              <a:rPr sz="2450" spc="-55" dirty="0">
                <a:latin typeface="Microsoft Sans Serif"/>
                <a:cs typeface="Microsoft Sans Serif"/>
              </a:rPr>
              <a:t> </a:t>
            </a:r>
            <a:r>
              <a:rPr sz="2450" dirty="0">
                <a:latin typeface="Microsoft Sans Serif"/>
                <a:cs typeface="Microsoft Sans Serif"/>
              </a:rPr>
              <a:t>Indian</a:t>
            </a:r>
            <a:r>
              <a:rPr sz="2450" spc="-80" dirty="0">
                <a:latin typeface="Microsoft Sans Serif"/>
                <a:cs typeface="Microsoft Sans Serif"/>
              </a:rPr>
              <a:t> </a:t>
            </a:r>
            <a:r>
              <a:rPr sz="2450" dirty="0">
                <a:latin typeface="Microsoft Sans Serif"/>
                <a:cs typeface="Microsoft Sans Serif"/>
              </a:rPr>
              <a:t>literature</a:t>
            </a:r>
            <a:r>
              <a:rPr sz="2450" spc="-25" dirty="0">
                <a:latin typeface="Microsoft Sans Serif"/>
                <a:cs typeface="Microsoft Sans Serif"/>
              </a:rPr>
              <a:t> </a:t>
            </a:r>
            <a:r>
              <a:rPr sz="2450" dirty="0">
                <a:latin typeface="Microsoft Sans Serif"/>
                <a:cs typeface="Microsoft Sans Serif"/>
              </a:rPr>
              <a:t>three</a:t>
            </a:r>
            <a:r>
              <a:rPr sz="2450" spc="-25" dirty="0">
                <a:latin typeface="Microsoft Sans Serif"/>
                <a:cs typeface="Microsoft Sans Serif"/>
              </a:rPr>
              <a:t> </a:t>
            </a:r>
            <a:r>
              <a:rPr sz="2450" dirty="0">
                <a:latin typeface="Microsoft Sans Serif"/>
                <a:cs typeface="Microsoft Sans Serif"/>
              </a:rPr>
              <a:t>fundamental</a:t>
            </a:r>
            <a:r>
              <a:rPr sz="2450" spc="-15" dirty="0">
                <a:latin typeface="Microsoft Sans Serif"/>
                <a:cs typeface="Microsoft Sans Serif"/>
              </a:rPr>
              <a:t> </a:t>
            </a:r>
            <a:r>
              <a:rPr sz="2450" spc="-10" dirty="0">
                <a:latin typeface="Microsoft Sans Serif"/>
                <a:cs typeface="Microsoft Sans Serif"/>
              </a:rPr>
              <a:t>physical 	measures</a:t>
            </a:r>
            <a:r>
              <a:rPr sz="2450" spc="-85" dirty="0">
                <a:latin typeface="Microsoft Sans Serif"/>
                <a:cs typeface="Microsoft Sans Serif"/>
              </a:rPr>
              <a:t> </a:t>
            </a:r>
            <a:r>
              <a:rPr sz="2450" spc="75" dirty="0">
                <a:latin typeface="Microsoft Sans Serif"/>
                <a:cs typeface="Microsoft Sans Serif"/>
              </a:rPr>
              <a:t>for</a:t>
            </a:r>
            <a:r>
              <a:rPr sz="2450" spc="-85" dirty="0">
                <a:latin typeface="Microsoft Sans Serif"/>
                <a:cs typeface="Microsoft Sans Serif"/>
              </a:rPr>
              <a:t> </a:t>
            </a:r>
            <a:r>
              <a:rPr sz="2450" dirty="0">
                <a:latin typeface="Microsoft Sans Serif"/>
                <a:cs typeface="Microsoft Sans Serif"/>
              </a:rPr>
              <a:t>quantifying</a:t>
            </a:r>
            <a:r>
              <a:rPr sz="2450" spc="-20" dirty="0">
                <a:latin typeface="Microsoft Sans Serif"/>
                <a:cs typeface="Microsoft Sans Serif"/>
              </a:rPr>
              <a:t> </a:t>
            </a:r>
            <a:r>
              <a:rPr sz="2450" spc="-10" dirty="0">
                <a:latin typeface="Microsoft Sans Serif"/>
                <a:cs typeface="Microsoft Sans Serif"/>
              </a:rPr>
              <a:t>length,</a:t>
            </a:r>
            <a:r>
              <a:rPr sz="2450" dirty="0">
                <a:latin typeface="Microsoft Sans Serif"/>
                <a:cs typeface="Microsoft Sans Serif"/>
              </a:rPr>
              <a:t> </a:t>
            </a:r>
            <a:r>
              <a:rPr sz="2450" spc="55" dirty="0">
                <a:latin typeface="Microsoft Sans Serif"/>
                <a:cs typeface="Microsoft Sans Serif"/>
              </a:rPr>
              <a:t>time</a:t>
            </a:r>
            <a:r>
              <a:rPr sz="2450" spc="-30" dirty="0">
                <a:latin typeface="Microsoft Sans Serif"/>
                <a:cs typeface="Microsoft Sans Serif"/>
              </a:rPr>
              <a:t> </a:t>
            </a:r>
            <a:r>
              <a:rPr sz="2450" dirty="0">
                <a:latin typeface="Microsoft Sans Serif"/>
                <a:cs typeface="Microsoft Sans Serif"/>
              </a:rPr>
              <a:t>and</a:t>
            </a:r>
            <a:r>
              <a:rPr sz="2450" spc="-25" dirty="0">
                <a:latin typeface="Microsoft Sans Serif"/>
                <a:cs typeface="Microsoft Sans Serif"/>
              </a:rPr>
              <a:t> </a:t>
            </a:r>
            <a:r>
              <a:rPr sz="2450" dirty="0">
                <a:latin typeface="Microsoft Sans Serif"/>
                <a:cs typeface="Microsoft Sans Serif"/>
              </a:rPr>
              <a:t>weight</a:t>
            </a:r>
            <a:r>
              <a:rPr sz="2450" spc="-60" dirty="0">
                <a:latin typeface="Microsoft Sans Serif"/>
                <a:cs typeface="Microsoft Sans Serif"/>
              </a:rPr>
              <a:t> </a:t>
            </a:r>
            <a:r>
              <a:rPr sz="2450" spc="-20" dirty="0">
                <a:latin typeface="Microsoft Sans Serif"/>
                <a:cs typeface="Microsoft Sans Serif"/>
              </a:rPr>
              <a:t>are</a:t>
            </a:r>
            <a:r>
              <a:rPr sz="2450" spc="-25" dirty="0">
                <a:latin typeface="Microsoft Sans Serif"/>
                <a:cs typeface="Microsoft Sans Serif"/>
              </a:rPr>
              <a:t> </a:t>
            </a:r>
            <a:r>
              <a:rPr sz="2450" spc="-10" dirty="0">
                <a:latin typeface="Microsoft Sans Serif"/>
                <a:cs typeface="Microsoft Sans Serif"/>
              </a:rPr>
              <a:t>found.</a:t>
            </a:r>
            <a:endParaRPr sz="2450">
              <a:latin typeface="Microsoft Sans Serif"/>
              <a:cs typeface="Microsoft Sans Serif"/>
            </a:endParaRPr>
          </a:p>
          <a:p>
            <a:pPr marL="211454" marR="274955" indent="-199390">
              <a:lnSpc>
                <a:spcPts val="2630"/>
              </a:lnSpc>
              <a:spcBef>
                <a:spcPts val="880"/>
              </a:spcBef>
              <a:buChar char="•"/>
              <a:tabLst>
                <a:tab pos="212725" algn="l"/>
              </a:tabLst>
            </a:pPr>
            <a:r>
              <a:rPr sz="2450" spc="-30" dirty="0">
                <a:latin typeface="Microsoft Sans Serif"/>
                <a:cs typeface="Microsoft Sans Serif"/>
              </a:rPr>
              <a:t>There</a:t>
            </a:r>
            <a:r>
              <a:rPr sz="2450" spc="-25" dirty="0">
                <a:latin typeface="Microsoft Sans Serif"/>
                <a:cs typeface="Microsoft Sans Serif"/>
              </a:rPr>
              <a:t> </a:t>
            </a:r>
            <a:r>
              <a:rPr sz="2450" spc="-20" dirty="0">
                <a:latin typeface="Microsoft Sans Serif"/>
                <a:cs typeface="Microsoft Sans Serif"/>
              </a:rPr>
              <a:t>are</a:t>
            </a:r>
            <a:r>
              <a:rPr sz="2450" spc="-25" dirty="0">
                <a:latin typeface="Microsoft Sans Serif"/>
                <a:cs typeface="Microsoft Sans Serif"/>
              </a:rPr>
              <a:t> several</a:t>
            </a:r>
            <a:r>
              <a:rPr sz="2450" spc="-20" dirty="0">
                <a:latin typeface="Microsoft Sans Serif"/>
                <a:cs typeface="Microsoft Sans Serif"/>
              </a:rPr>
              <a:t> </a:t>
            </a:r>
            <a:r>
              <a:rPr sz="2450" dirty="0">
                <a:latin typeface="Microsoft Sans Serif"/>
                <a:cs typeface="Microsoft Sans Serif"/>
              </a:rPr>
              <a:t>sources</a:t>
            </a:r>
            <a:r>
              <a:rPr sz="2450" spc="-80" dirty="0">
                <a:latin typeface="Microsoft Sans Serif"/>
                <a:cs typeface="Microsoft Sans Serif"/>
              </a:rPr>
              <a:t> </a:t>
            </a:r>
            <a:r>
              <a:rPr sz="2450" dirty="0">
                <a:latin typeface="Microsoft Sans Serif"/>
                <a:cs typeface="Microsoft Sans Serif"/>
              </a:rPr>
              <a:t>in</a:t>
            </a:r>
            <a:r>
              <a:rPr sz="2450" spc="-75" dirty="0">
                <a:latin typeface="Microsoft Sans Serif"/>
                <a:cs typeface="Microsoft Sans Serif"/>
              </a:rPr>
              <a:t> </a:t>
            </a:r>
            <a:r>
              <a:rPr sz="2450" dirty="0">
                <a:latin typeface="Microsoft Sans Serif"/>
                <a:cs typeface="Microsoft Sans Serif"/>
              </a:rPr>
              <a:t>the</a:t>
            </a:r>
            <a:r>
              <a:rPr sz="2450" spc="-25" dirty="0">
                <a:latin typeface="Microsoft Sans Serif"/>
                <a:cs typeface="Microsoft Sans Serif"/>
              </a:rPr>
              <a:t> </a:t>
            </a:r>
            <a:r>
              <a:rPr sz="2450" dirty="0">
                <a:latin typeface="Microsoft Sans Serif"/>
                <a:cs typeface="Microsoft Sans Serif"/>
              </a:rPr>
              <a:t>literatue</a:t>
            </a:r>
            <a:r>
              <a:rPr sz="2450" spc="-25" dirty="0">
                <a:latin typeface="Microsoft Sans Serif"/>
                <a:cs typeface="Microsoft Sans Serif"/>
              </a:rPr>
              <a:t> </a:t>
            </a:r>
            <a:r>
              <a:rPr sz="2450" dirty="0">
                <a:latin typeface="Microsoft Sans Serif"/>
                <a:cs typeface="Microsoft Sans Serif"/>
              </a:rPr>
              <a:t>specifying</a:t>
            </a:r>
            <a:r>
              <a:rPr sz="2450" spc="-15" dirty="0">
                <a:latin typeface="Microsoft Sans Serif"/>
                <a:cs typeface="Microsoft Sans Serif"/>
              </a:rPr>
              <a:t> </a:t>
            </a:r>
            <a:r>
              <a:rPr sz="2450" dirty="0">
                <a:latin typeface="Microsoft Sans Serif"/>
                <a:cs typeface="Microsoft Sans Serif"/>
              </a:rPr>
              <a:t>units</a:t>
            </a:r>
            <a:r>
              <a:rPr sz="2450" spc="-75" dirty="0">
                <a:latin typeface="Microsoft Sans Serif"/>
                <a:cs typeface="Microsoft Sans Serif"/>
              </a:rPr>
              <a:t> </a:t>
            </a:r>
            <a:r>
              <a:rPr sz="2450" spc="75" dirty="0">
                <a:latin typeface="Microsoft Sans Serif"/>
                <a:cs typeface="Microsoft Sans Serif"/>
              </a:rPr>
              <a:t>of 	</a:t>
            </a:r>
            <a:r>
              <a:rPr sz="2450" dirty="0">
                <a:latin typeface="Microsoft Sans Serif"/>
                <a:cs typeface="Microsoft Sans Serif"/>
              </a:rPr>
              <a:t>measurement</a:t>
            </a:r>
            <a:r>
              <a:rPr sz="2450" spc="-95" dirty="0">
                <a:latin typeface="Microsoft Sans Serif"/>
                <a:cs typeface="Microsoft Sans Serif"/>
              </a:rPr>
              <a:t> </a:t>
            </a:r>
            <a:r>
              <a:rPr sz="2450" spc="75" dirty="0">
                <a:latin typeface="Microsoft Sans Serif"/>
                <a:cs typeface="Microsoft Sans Serif"/>
              </a:rPr>
              <a:t>for</a:t>
            </a:r>
            <a:r>
              <a:rPr sz="2450" spc="-110" dirty="0">
                <a:latin typeface="Microsoft Sans Serif"/>
                <a:cs typeface="Microsoft Sans Serif"/>
              </a:rPr>
              <a:t> </a:t>
            </a:r>
            <a:r>
              <a:rPr sz="2450" dirty="0">
                <a:latin typeface="Microsoft Sans Serif"/>
                <a:cs typeface="Microsoft Sans Serif"/>
              </a:rPr>
              <a:t>these</a:t>
            </a:r>
            <a:r>
              <a:rPr sz="2450" spc="-65" dirty="0">
                <a:latin typeface="Microsoft Sans Serif"/>
                <a:cs typeface="Microsoft Sans Serif"/>
              </a:rPr>
              <a:t> </a:t>
            </a:r>
            <a:r>
              <a:rPr sz="2450" dirty="0">
                <a:latin typeface="Microsoft Sans Serif"/>
                <a:cs typeface="Microsoft Sans Serif"/>
              </a:rPr>
              <a:t>three</a:t>
            </a:r>
            <a:r>
              <a:rPr sz="2450" spc="-60" dirty="0">
                <a:latin typeface="Microsoft Sans Serif"/>
                <a:cs typeface="Microsoft Sans Serif"/>
              </a:rPr>
              <a:t> </a:t>
            </a:r>
            <a:r>
              <a:rPr sz="2450" dirty="0">
                <a:latin typeface="Microsoft Sans Serif"/>
                <a:cs typeface="Microsoft Sans Serif"/>
              </a:rPr>
              <a:t>physical</a:t>
            </a:r>
            <a:r>
              <a:rPr sz="2450" spc="-60" dirty="0">
                <a:latin typeface="Microsoft Sans Serif"/>
                <a:cs typeface="Microsoft Sans Serif"/>
              </a:rPr>
              <a:t> </a:t>
            </a:r>
            <a:r>
              <a:rPr sz="2450" spc="-10" dirty="0">
                <a:latin typeface="Microsoft Sans Serif"/>
                <a:cs typeface="Microsoft Sans Serif"/>
              </a:rPr>
              <a:t>quantities.</a:t>
            </a:r>
            <a:endParaRPr sz="2450">
              <a:latin typeface="Microsoft Sans Serif"/>
              <a:cs typeface="Microsoft Sans Serif"/>
            </a:endParaRPr>
          </a:p>
          <a:p>
            <a:pPr marL="211454" marR="5080" indent="-199390">
              <a:lnSpc>
                <a:spcPts val="2630"/>
              </a:lnSpc>
              <a:spcBef>
                <a:spcPts val="880"/>
              </a:spcBef>
              <a:buChar char="•"/>
              <a:tabLst>
                <a:tab pos="212725" algn="l"/>
              </a:tabLst>
            </a:pPr>
            <a:r>
              <a:rPr sz="2450" spc="-30" dirty="0">
                <a:latin typeface="Microsoft Sans Serif"/>
                <a:cs typeface="Microsoft Sans Serif"/>
              </a:rPr>
              <a:t>Three</a:t>
            </a:r>
            <a:r>
              <a:rPr sz="2450" spc="-50" dirty="0">
                <a:latin typeface="Microsoft Sans Serif"/>
                <a:cs typeface="Microsoft Sans Serif"/>
              </a:rPr>
              <a:t> </a:t>
            </a:r>
            <a:r>
              <a:rPr sz="2450" dirty="0">
                <a:latin typeface="Microsoft Sans Serif"/>
                <a:cs typeface="Microsoft Sans Serif"/>
              </a:rPr>
              <a:t>generic</a:t>
            </a:r>
            <a:r>
              <a:rPr sz="2450" spc="-35" dirty="0">
                <a:latin typeface="Microsoft Sans Serif"/>
                <a:cs typeface="Microsoft Sans Serif"/>
              </a:rPr>
              <a:t> </a:t>
            </a:r>
            <a:r>
              <a:rPr sz="2450" spc="-10" dirty="0">
                <a:latin typeface="Microsoft Sans Serif"/>
                <a:cs typeface="Microsoft Sans Serif"/>
              </a:rPr>
              <a:t>measures</a:t>
            </a:r>
            <a:r>
              <a:rPr sz="2450" spc="-100" dirty="0">
                <a:latin typeface="Microsoft Sans Serif"/>
                <a:cs typeface="Microsoft Sans Serif"/>
              </a:rPr>
              <a:t> </a:t>
            </a:r>
            <a:r>
              <a:rPr sz="2450" dirty="0">
                <a:latin typeface="Microsoft Sans Serif"/>
                <a:cs typeface="Microsoft Sans Serif"/>
              </a:rPr>
              <a:t>pertaining</a:t>
            </a:r>
            <a:r>
              <a:rPr sz="2450" spc="-40" dirty="0">
                <a:latin typeface="Microsoft Sans Serif"/>
                <a:cs typeface="Microsoft Sans Serif"/>
              </a:rPr>
              <a:t> </a:t>
            </a:r>
            <a:r>
              <a:rPr sz="2450" spc="55" dirty="0">
                <a:latin typeface="Microsoft Sans Serif"/>
                <a:cs typeface="Microsoft Sans Serif"/>
              </a:rPr>
              <a:t>to</a:t>
            </a:r>
            <a:r>
              <a:rPr sz="2450" spc="-55" dirty="0">
                <a:latin typeface="Microsoft Sans Serif"/>
                <a:cs typeface="Microsoft Sans Serif"/>
              </a:rPr>
              <a:t> </a:t>
            </a:r>
            <a:r>
              <a:rPr sz="2450" spc="-10" dirty="0">
                <a:latin typeface="Microsoft Sans Serif"/>
                <a:cs typeface="Microsoft Sans Serif"/>
              </a:rPr>
              <a:t>length,</a:t>
            </a:r>
            <a:r>
              <a:rPr sz="2450" spc="-20" dirty="0">
                <a:latin typeface="Microsoft Sans Serif"/>
                <a:cs typeface="Microsoft Sans Serif"/>
              </a:rPr>
              <a:t> </a:t>
            </a:r>
            <a:r>
              <a:rPr sz="2450" dirty="0">
                <a:latin typeface="Microsoft Sans Serif"/>
                <a:cs typeface="Microsoft Sans Serif"/>
              </a:rPr>
              <a:t>weight</a:t>
            </a:r>
            <a:r>
              <a:rPr sz="2450" spc="-80" dirty="0">
                <a:latin typeface="Microsoft Sans Serif"/>
                <a:cs typeface="Microsoft Sans Serif"/>
              </a:rPr>
              <a:t> </a:t>
            </a:r>
            <a:r>
              <a:rPr sz="2450" dirty="0">
                <a:latin typeface="Microsoft Sans Serif"/>
                <a:cs typeface="Microsoft Sans Serif"/>
              </a:rPr>
              <a:t>and</a:t>
            </a:r>
            <a:r>
              <a:rPr sz="2450" spc="-40" dirty="0">
                <a:latin typeface="Microsoft Sans Serif"/>
                <a:cs typeface="Microsoft Sans Serif"/>
              </a:rPr>
              <a:t> </a:t>
            </a:r>
            <a:r>
              <a:rPr sz="2450" spc="35" dirty="0">
                <a:latin typeface="Microsoft Sans Serif"/>
                <a:cs typeface="Microsoft Sans Serif"/>
              </a:rPr>
              <a:t>time 	</a:t>
            </a:r>
            <a:r>
              <a:rPr sz="2450" dirty="0">
                <a:latin typeface="Microsoft Sans Serif"/>
                <a:cs typeface="Microsoft Sans Serif"/>
              </a:rPr>
              <a:t>could</a:t>
            </a:r>
            <a:r>
              <a:rPr sz="2450" spc="-40" dirty="0">
                <a:latin typeface="Microsoft Sans Serif"/>
                <a:cs typeface="Microsoft Sans Serif"/>
              </a:rPr>
              <a:t> </a:t>
            </a:r>
            <a:r>
              <a:rPr sz="2450" dirty="0">
                <a:latin typeface="Microsoft Sans Serif"/>
                <a:cs typeface="Microsoft Sans Serif"/>
              </a:rPr>
              <a:t>be</a:t>
            </a:r>
            <a:r>
              <a:rPr sz="2450" spc="-45" dirty="0">
                <a:latin typeface="Microsoft Sans Serif"/>
                <a:cs typeface="Microsoft Sans Serif"/>
              </a:rPr>
              <a:t> </a:t>
            </a:r>
            <a:r>
              <a:rPr sz="2450" dirty="0">
                <a:latin typeface="Microsoft Sans Serif"/>
                <a:cs typeface="Microsoft Sans Serif"/>
              </a:rPr>
              <a:t>used</a:t>
            </a:r>
            <a:r>
              <a:rPr sz="2450" spc="-40" dirty="0">
                <a:latin typeface="Microsoft Sans Serif"/>
                <a:cs typeface="Microsoft Sans Serif"/>
              </a:rPr>
              <a:t> </a:t>
            </a:r>
            <a:r>
              <a:rPr sz="2450" spc="55" dirty="0">
                <a:latin typeface="Microsoft Sans Serif"/>
                <a:cs typeface="Microsoft Sans Serif"/>
              </a:rPr>
              <a:t>to</a:t>
            </a:r>
            <a:r>
              <a:rPr sz="2450" spc="-50" dirty="0">
                <a:latin typeface="Microsoft Sans Serif"/>
                <a:cs typeface="Microsoft Sans Serif"/>
              </a:rPr>
              <a:t> </a:t>
            </a:r>
            <a:r>
              <a:rPr sz="2450" spc="-10" dirty="0">
                <a:latin typeface="Microsoft Sans Serif"/>
                <a:cs typeface="Microsoft Sans Serif"/>
              </a:rPr>
              <a:t>measure</a:t>
            </a:r>
            <a:r>
              <a:rPr sz="2450" spc="-45" dirty="0">
                <a:latin typeface="Microsoft Sans Serif"/>
                <a:cs typeface="Microsoft Sans Serif"/>
              </a:rPr>
              <a:t> </a:t>
            </a:r>
            <a:r>
              <a:rPr sz="2450" dirty="0">
                <a:latin typeface="Microsoft Sans Serif"/>
                <a:cs typeface="Microsoft Sans Serif"/>
              </a:rPr>
              <a:t>physical</a:t>
            </a:r>
            <a:r>
              <a:rPr sz="2450" spc="-40" dirty="0">
                <a:latin typeface="Microsoft Sans Serif"/>
                <a:cs typeface="Microsoft Sans Serif"/>
              </a:rPr>
              <a:t> </a:t>
            </a:r>
            <a:r>
              <a:rPr sz="2450" spc="-10" dirty="0">
                <a:latin typeface="Microsoft Sans Serif"/>
                <a:cs typeface="Microsoft Sans Serif"/>
              </a:rPr>
              <a:t>entites.</a:t>
            </a:r>
            <a:endParaRPr sz="2450">
              <a:latin typeface="Microsoft Sans Serif"/>
              <a:cs typeface="Microsoft Sans Serif"/>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5735" rIns="0" bIns="0" rtlCol="0">
            <a:spAutoFit/>
          </a:bodyPr>
          <a:lstStyle/>
          <a:p>
            <a:pPr marL="12700">
              <a:lnSpc>
                <a:spcPct val="100000"/>
              </a:lnSpc>
              <a:spcBef>
                <a:spcPts val="110"/>
              </a:spcBef>
            </a:pPr>
            <a:r>
              <a:rPr dirty="0"/>
              <a:t>Notion</a:t>
            </a:r>
            <a:r>
              <a:rPr spc="20" dirty="0"/>
              <a:t> </a:t>
            </a:r>
            <a:r>
              <a:rPr spc="145" dirty="0"/>
              <a:t>of</a:t>
            </a:r>
            <a:r>
              <a:rPr spc="25" dirty="0"/>
              <a:t> </a:t>
            </a:r>
            <a:r>
              <a:rPr spc="-10" dirty="0"/>
              <a:t>Paramanu</a:t>
            </a:r>
          </a:p>
        </p:txBody>
      </p:sp>
      <p:sp>
        <p:nvSpPr>
          <p:cNvPr id="3" name="object 3"/>
          <p:cNvSpPr txBox="1"/>
          <p:nvPr/>
        </p:nvSpPr>
        <p:spPr>
          <a:xfrm>
            <a:off x="789971" y="1585560"/>
            <a:ext cx="8457565" cy="3069590"/>
          </a:xfrm>
          <a:prstGeom prst="rect">
            <a:avLst/>
          </a:prstGeom>
        </p:spPr>
        <p:txBody>
          <a:bodyPr vert="horz" wrap="square" lIns="0" tIns="57150" rIns="0" bIns="0" rtlCol="0">
            <a:spAutoFit/>
          </a:bodyPr>
          <a:lstStyle/>
          <a:p>
            <a:pPr marL="224154" marR="17780" indent="-199390">
              <a:lnSpc>
                <a:spcPts val="2630"/>
              </a:lnSpc>
              <a:spcBef>
                <a:spcPts val="450"/>
              </a:spcBef>
              <a:buChar char="•"/>
              <a:tabLst>
                <a:tab pos="225425" algn="l"/>
              </a:tabLst>
            </a:pPr>
            <a:r>
              <a:rPr sz="2450" dirty="0">
                <a:latin typeface="Microsoft Sans Serif"/>
                <a:cs typeface="Microsoft Sans Serif"/>
              </a:rPr>
              <a:t>At</a:t>
            </a:r>
            <a:r>
              <a:rPr sz="2450" spc="-40" dirty="0">
                <a:latin typeface="Microsoft Sans Serif"/>
                <a:cs typeface="Microsoft Sans Serif"/>
              </a:rPr>
              <a:t> </a:t>
            </a:r>
            <a:r>
              <a:rPr sz="2450" dirty="0">
                <a:latin typeface="Microsoft Sans Serif"/>
                <a:cs typeface="Microsoft Sans Serif"/>
              </a:rPr>
              <a:t>the</a:t>
            </a:r>
            <a:r>
              <a:rPr sz="2450" spc="-5" dirty="0">
                <a:latin typeface="Microsoft Sans Serif"/>
                <a:cs typeface="Microsoft Sans Serif"/>
              </a:rPr>
              <a:t> </a:t>
            </a:r>
            <a:r>
              <a:rPr sz="2450" dirty="0">
                <a:latin typeface="Microsoft Sans Serif"/>
                <a:cs typeface="Microsoft Sans Serif"/>
              </a:rPr>
              <a:t>smallest</a:t>
            </a:r>
            <a:r>
              <a:rPr sz="2450" spc="-35" dirty="0">
                <a:latin typeface="Microsoft Sans Serif"/>
                <a:cs typeface="Microsoft Sans Serif"/>
              </a:rPr>
              <a:t> </a:t>
            </a:r>
            <a:r>
              <a:rPr sz="2450" spc="-20" dirty="0">
                <a:latin typeface="Microsoft Sans Serif"/>
                <a:cs typeface="Microsoft Sans Serif"/>
              </a:rPr>
              <a:t>level,</a:t>
            </a:r>
            <a:r>
              <a:rPr sz="2450" spc="30" dirty="0">
                <a:latin typeface="Microsoft Sans Serif"/>
                <a:cs typeface="Microsoft Sans Serif"/>
              </a:rPr>
              <a:t> </a:t>
            </a:r>
            <a:r>
              <a:rPr sz="2450" dirty="0">
                <a:latin typeface="Microsoft Sans Serif"/>
                <a:cs typeface="Microsoft Sans Serif"/>
              </a:rPr>
              <a:t>there</a:t>
            </a:r>
            <a:r>
              <a:rPr sz="2450" spc="-10" dirty="0">
                <a:latin typeface="Microsoft Sans Serif"/>
                <a:cs typeface="Microsoft Sans Serif"/>
              </a:rPr>
              <a:t> </a:t>
            </a:r>
            <a:r>
              <a:rPr sz="2450" dirty="0">
                <a:latin typeface="Microsoft Sans Serif"/>
                <a:cs typeface="Microsoft Sans Serif"/>
              </a:rPr>
              <a:t>is</a:t>
            </a:r>
            <a:r>
              <a:rPr sz="2450" spc="-60" dirty="0">
                <a:latin typeface="Microsoft Sans Serif"/>
                <a:cs typeface="Microsoft Sans Serif"/>
              </a:rPr>
              <a:t> </a:t>
            </a:r>
            <a:r>
              <a:rPr sz="2450" dirty="0">
                <a:latin typeface="Microsoft Sans Serif"/>
                <a:cs typeface="Microsoft Sans Serif"/>
              </a:rPr>
              <a:t>a</a:t>
            </a:r>
            <a:r>
              <a:rPr sz="2450" spc="-40" dirty="0">
                <a:latin typeface="Microsoft Sans Serif"/>
                <a:cs typeface="Microsoft Sans Serif"/>
              </a:rPr>
              <a:t> </a:t>
            </a:r>
            <a:r>
              <a:rPr sz="2450" dirty="0">
                <a:latin typeface="Microsoft Sans Serif"/>
                <a:cs typeface="Microsoft Sans Serif"/>
              </a:rPr>
              <a:t>fundamental </a:t>
            </a:r>
            <a:r>
              <a:rPr sz="2450" spc="-10" dirty="0">
                <a:latin typeface="Microsoft Sans Serif"/>
                <a:cs typeface="Microsoft Sans Serif"/>
              </a:rPr>
              <a:t>measure</a:t>
            </a:r>
            <a:r>
              <a:rPr sz="2450" spc="-5" dirty="0">
                <a:latin typeface="Microsoft Sans Serif"/>
                <a:cs typeface="Microsoft Sans Serif"/>
              </a:rPr>
              <a:t> </a:t>
            </a:r>
            <a:r>
              <a:rPr sz="2450" spc="-10" dirty="0">
                <a:latin typeface="Microsoft Sans Serif"/>
                <a:cs typeface="Microsoft Sans Serif"/>
              </a:rPr>
              <a:t>called 	paramanu.</a:t>
            </a:r>
            <a:endParaRPr sz="2450">
              <a:latin typeface="Microsoft Sans Serif"/>
              <a:cs typeface="Microsoft Sans Serif"/>
            </a:endParaRPr>
          </a:p>
          <a:p>
            <a:pPr marL="224790" indent="-199390">
              <a:lnSpc>
                <a:spcPct val="100000"/>
              </a:lnSpc>
              <a:spcBef>
                <a:spcPts val="535"/>
              </a:spcBef>
              <a:buChar char="•"/>
              <a:tabLst>
                <a:tab pos="224790" algn="l"/>
              </a:tabLst>
            </a:pPr>
            <a:r>
              <a:rPr sz="2450" spc="-10" dirty="0">
                <a:latin typeface="Microsoft Sans Serif"/>
                <a:cs typeface="Microsoft Sans Serif"/>
              </a:rPr>
              <a:t>The</a:t>
            </a:r>
            <a:r>
              <a:rPr sz="2450" spc="-85" dirty="0">
                <a:latin typeface="Microsoft Sans Serif"/>
                <a:cs typeface="Microsoft Sans Serif"/>
              </a:rPr>
              <a:t> </a:t>
            </a:r>
            <a:r>
              <a:rPr sz="2450" spc="-10" dirty="0">
                <a:latin typeface="Microsoft Sans Serif"/>
                <a:cs typeface="Microsoft Sans Serif"/>
              </a:rPr>
              <a:t>measure</a:t>
            </a:r>
            <a:r>
              <a:rPr sz="2450" spc="-80" dirty="0">
                <a:latin typeface="Microsoft Sans Serif"/>
                <a:cs typeface="Microsoft Sans Serif"/>
              </a:rPr>
              <a:t> </a:t>
            </a:r>
            <a:r>
              <a:rPr sz="2450" spc="100" dirty="0">
                <a:latin typeface="Microsoft Sans Serif"/>
                <a:cs typeface="Microsoft Sans Serif"/>
              </a:rPr>
              <a:t>of</a:t>
            </a:r>
            <a:r>
              <a:rPr sz="2450" spc="-75" dirty="0">
                <a:latin typeface="Microsoft Sans Serif"/>
                <a:cs typeface="Microsoft Sans Serif"/>
              </a:rPr>
              <a:t> </a:t>
            </a:r>
            <a:r>
              <a:rPr sz="2450" spc="-30" dirty="0">
                <a:latin typeface="Microsoft Sans Serif"/>
                <a:cs typeface="Microsoft Sans Serif"/>
              </a:rPr>
              <a:t>Paramanu</a:t>
            </a:r>
            <a:r>
              <a:rPr sz="2450" spc="-130" dirty="0">
                <a:latin typeface="Microsoft Sans Serif"/>
                <a:cs typeface="Microsoft Sans Serif"/>
              </a:rPr>
              <a:t> </a:t>
            </a:r>
            <a:r>
              <a:rPr sz="2450" spc="-20" dirty="0">
                <a:latin typeface="Microsoft Sans Serif"/>
                <a:cs typeface="Microsoft Sans Serif"/>
              </a:rPr>
              <a:t>are</a:t>
            </a:r>
            <a:r>
              <a:rPr sz="2450" spc="-80" dirty="0">
                <a:latin typeface="Microsoft Sans Serif"/>
                <a:cs typeface="Microsoft Sans Serif"/>
              </a:rPr>
              <a:t> </a:t>
            </a:r>
            <a:r>
              <a:rPr sz="2450" dirty="0">
                <a:latin typeface="Microsoft Sans Serif"/>
                <a:cs typeface="Microsoft Sans Serif"/>
              </a:rPr>
              <a:t>as</a:t>
            </a:r>
            <a:r>
              <a:rPr sz="2450" spc="-130" dirty="0">
                <a:latin typeface="Microsoft Sans Serif"/>
                <a:cs typeface="Microsoft Sans Serif"/>
              </a:rPr>
              <a:t> </a:t>
            </a:r>
            <a:r>
              <a:rPr sz="2450" spc="-10" dirty="0">
                <a:latin typeface="Microsoft Sans Serif"/>
                <a:cs typeface="Microsoft Sans Serif"/>
              </a:rPr>
              <a:t>follows:</a:t>
            </a:r>
            <a:endParaRPr sz="2450">
              <a:latin typeface="Microsoft Sans Serif"/>
              <a:cs typeface="Microsoft Sans Serif"/>
            </a:endParaRPr>
          </a:p>
          <a:p>
            <a:pPr>
              <a:lnSpc>
                <a:spcPct val="100000"/>
              </a:lnSpc>
              <a:spcBef>
                <a:spcPts val="1625"/>
              </a:spcBef>
            </a:pPr>
            <a:endParaRPr sz="2450">
              <a:latin typeface="Microsoft Sans Serif"/>
              <a:cs typeface="Microsoft Sans Serif"/>
            </a:endParaRPr>
          </a:p>
          <a:p>
            <a:pPr marL="643255" algn="ctr">
              <a:lnSpc>
                <a:spcPct val="100000"/>
              </a:lnSpc>
            </a:pPr>
            <a:r>
              <a:rPr sz="2450" spc="-30" dirty="0">
                <a:solidFill>
                  <a:srgbClr val="FF0000"/>
                </a:solidFill>
                <a:latin typeface="Microsoft Sans Serif"/>
                <a:cs typeface="Microsoft Sans Serif"/>
              </a:rPr>
              <a:t>Paramanu</a:t>
            </a:r>
            <a:r>
              <a:rPr sz="2450" spc="-60" dirty="0">
                <a:solidFill>
                  <a:srgbClr val="FF0000"/>
                </a:solidFill>
                <a:latin typeface="Microsoft Sans Serif"/>
                <a:cs typeface="Microsoft Sans Serif"/>
              </a:rPr>
              <a:t> </a:t>
            </a:r>
            <a:r>
              <a:rPr sz="2450" dirty="0">
                <a:solidFill>
                  <a:srgbClr val="FF0000"/>
                </a:solidFill>
                <a:latin typeface="Microsoft Sans Serif"/>
                <a:cs typeface="Microsoft Sans Serif"/>
              </a:rPr>
              <a:t>(length):</a:t>
            </a:r>
            <a:r>
              <a:rPr sz="2450" spc="5" dirty="0">
                <a:solidFill>
                  <a:srgbClr val="FF0000"/>
                </a:solidFill>
                <a:latin typeface="Microsoft Sans Serif"/>
                <a:cs typeface="Microsoft Sans Serif"/>
              </a:rPr>
              <a:t> </a:t>
            </a:r>
            <a:r>
              <a:rPr sz="2450" dirty="0">
                <a:solidFill>
                  <a:srgbClr val="FF0000"/>
                </a:solidFill>
                <a:latin typeface="Microsoft Sans Serif"/>
                <a:cs typeface="Microsoft Sans Serif"/>
              </a:rPr>
              <a:t>2.88</a:t>
            </a:r>
            <a:r>
              <a:rPr sz="2450" spc="5" dirty="0">
                <a:solidFill>
                  <a:srgbClr val="FF0000"/>
                </a:solidFill>
                <a:latin typeface="Microsoft Sans Serif"/>
                <a:cs typeface="Microsoft Sans Serif"/>
              </a:rPr>
              <a:t> </a:t>
            </a:r>
            <a:r>
              <a:rPr sz="2450" dirty="0">
                <a:solidFill>
                  <a:srgbClr val="FF0000"/>
                </a:solidFill>
                <a:latin typeface="Microsoft Sans Serif"/>
                <a:cs typeface="Microsoft Sans Serif"/>
              </a:rPr>
              <a:t>x</a:t>
            </a:r>
            <a:r>
              <a:rPr sz="2450" spc="-15" dirty="0">
                <a:solidFill>
                  <a:srgbClr val="FF0000"/>
                </a:solidFill>
                <a:latin typeface="Microsoft Sans Serif"/>
                <a:cs typeface="Microsoft Sans Serif"/>
              </a:rPr>
              <a:t> </a:t>
            </a:r>
            <a:r>
              <a:rPr sz="2450" spc="-25" dirty="0">
                <a:solidFill>
                  <a:srgbClr val="FF0000"/>
                </a:solidFill>
                <a:latin typeface="Microsoft Sans Serif"/>
                <a:cs typeface="Microsoft Sans Serif"/>
              </a:rPr>
              <a:t>10</a:t>
            </a:r>
            <a:r>
              <a:rPr sz="2850" spc="-37" baseline="26315" dirty="0">
                <a:solidFill>
                  <a:srgbClr val="FF0000"/>
                </a:solidFill>
                <a:latin typeface="Microsoft Sans Serif"/>
                <a:cs typeface="Microsoft Sans Serif"/>
              </a:rPr>
              <a:t>-</a:t>
            </a:r>
            <a:r>
              <a:rPr sz="2850" baseline="26315" dirty="0">
                <a:solidFill>
                  <a:srgbClr val="FF0000"/>
                </a:solidFill>
                <a:latin typeface="Microsoft Sans Serif"/>
                <a:cs typeface="Microsoft Sans Serif"/>
              </a:rPr>
              <a:t>7</a:t>
            </a:r>
            <a:r>
              <a:rPr sz="2850" spc="142" baseline="26315" dirty="0">
                <a:solidFill>
                  <a:srgbClr val="FF0000"/>
                </a:solidFill>
                <a:latin typeface="Microsoft Sans Serif"/>
                <a:cs typeface="Microsoft Sans Serif"/>
              </a:rPr>
              <a:t> </a:t>
            </a:r>
            <a:r>
              <a:rPr sz="2450" spc="90" dirty="0">
                <a:solidFill>
                  <a:srgbClr val="FF0000"/>
                </a:solidFill>
                <a:latin typeface="Microsoft Sans Serif"/>
                <a:cs typeface="Microsoft Sans Serif"/>
              </a:rPr>
              <a:t>mm</a:t>
            </a:r>
            <a:endParaRPr sz="2450">
              <a:latin typeface="Microsoft Sans Serif"/>
              <a:cs typeface="Microsoft Sans Serif"/>
            </a:endParaRPr>
          </a:p>
          <a:p>
            <a:pPr marL="645160" algn="ctr">
              <a:lnSpc>
                <a:spcPct val="100000"/>
              </a:lnSpc>
              <a:spcBef>
                <a:spcPts val="830"/>
              </a:spcBef>
            </a:pPr>
            <a:r>
              <a:rPr sz="2450" spc="-30" dirty="0">
                <a:solidFill>
                  <a:srgbClr val="FF0000"/>
                </a:solidFill>
                <a:latin typeface="Microsoft Sans Serif"/>
                <a:cs typeface="Microsoft Sans Serif"/>
              </a:rPr>
              <a:t>Paramanu</a:t>
            </a:r>
            <a:r>
              <a:rPr sz="2450" spc="-35" dirty="0">
                <a:solidFill>
                  <a:srgbClr val="FF0000"/>
                </a:solidFill>
                <a:latin typeface="Microsoft Sans Serif"/>
                <a:cs typeface="Microsoft Sans Serif"/>
              </a:rPr>
              <a:t> </a:t>
            </a:r>
            <a:r>
              <a:rPr sz="2450" dirty="0">
                <a:solidFill>
                  <a:srgbClr val="FF0000"/>
                </a:solidFill>
                <a:latin typeface="Microsoft Sans Serif"/>
                <a:cs typeface="Microsoft Sans Serif"/>
              </a:rPr>
              <a:t>(weight):</a:t>
            </a:r>
            <a:r>
              <a:rPr sz="2450" spc="25" dirty="0">
                <a:solidFill>
                  <a:srgbClr val="FF0000"/>
                </a:solidFill>
                <a:latin typeface="Microsoft Sans Serif"/>
                <a:cs typeface="Microsoft Sans Serif"/>
              </a:rPr>
              <a:t> </a:t>
            </a:r>
            <a:r>
              <a:rPr sz="2450" dirty="0">
                <a:solidFill>
                  <a:srgbClr val="FF0000"/>
                </a:solidFill>
                <a:latin typeface="Microsoft Sans Serif"/>
                <a:cs typeface="Microsoft Sans Serif"/>
              </a:rPr>
              <a:t>5.79</a:t>
            </a:r>
            <a:r>
              <a:rPr sz="2450" spc="30" dirty="0">
                <a:solidFill>
                  <a:srgbClr val="FF0000"/>
                </a:solidFill>
                <a:latin typeface="Microsoft Sans Serif"/>
                <a:cs typeface="Microsoft Sans Serif"/>
              </a:rPr>
              <a:t> </a:t>
            </a:r>
            <a:r>
              <a:rPr sz="2450" dirty="0">
                <a:solidFill>
                  <a:srgbClr val="FF0000"/>
                </a:solidFill>
                <a:latin typeface="Microsoft Sans Serif"/>
                <a:cs typeface="Microsoft Sans Serif"/>
              </a:rPr>
              <a:t>x</a:t>
            </a:r>
            <a:r>
              <a:rPr sz="2450" spc="15" dirty="0">
                <a:solidFill>
                  <a:srgbClr val="FF0000"/>
                </a:solidFill>
                <a:latin typeface="Microsoft Sans Serif"/>
                <a:cs typeface="Microsoft Sans Serif"/>
              </a:rPr>
              <a:t> </a:t>
            </a:r>
            <a:r>
              <a:rPr sz="2450" spc="-25" dirty="0">
                <a:solidFill>
                  <a:srgbClr val="FF0000"/>
                </a:solidFill>
                <a:latin typeface="Microsoft Sans Serif"/>
                <a:cs typeface="Microsoft Sans Serif"/>
              </a:rPr>
              <a:t>10</a:t>
            </a:r>
            <a:r>
              <a:rPr sz="2850" spc="-37" baseline="26315" dirty="0">
                <a:solidFill>
                  <a:srgbClr val="FF0000"/>
                </a:solidFill>
                <a:latin typeface="Microsoft Sans Serif"/>
                <a:cs typeface="Microsoft Sans Serif"/>
              </a:rPr>
              <a:t>-</a:t>
            </a:r>
            <a:r>
              <a:rPr sz="2850" baseline="26315" dirty="0">
                <a:solidFill>
                  <a:srgbClr val="FF0000"/>
                </a:solidFill>
                <a:latin typeface="Microsoft Sans Serif"/>
                <a:cs typeface="Microsoft Sans Serif"/>
              </a:rPr>
              <a:t>5</a:t>
            </a:r>
            <a:r>
              <a:rPr sz="2850" spc="-112" baseline="26315" dirty="0">
                <a:solidFill>
                  <a:srgbClr val="FF0000"/>
                </a:solidFill>
                <a:latin typeface="Microsoft Sans Serif"/>
                <a:cs typeface="Microsoft Sans Serif"/>
              </a:rPr>
              <a:t> </a:t>
            </a:r>
            <a:r>
              <a:rPr sz="2450" spc="-50" dirty="0">
                <a:solidFill>
                  <a:srgbClr val="FF0000"/>
                </a:solidFill>
                <a:latin typeface="Microsoft Sans Serif"/>
                <a:cs typeface="Microsoft Sans Serif"/>
              </a:rPr>
              <a:t>g</a:t>
            </a:r>
            <a:endParaRPr sz="2450">
              <a:latin typeface="Microsoft Sans Serif"/>
              <a:cs typeface="Microsoft Sans Serif"/>
            </a:endParaRPr>
          </a:p>
          <a:p>
            <a:pPr marL="653415" algn="ctr">
              <a:lnSpc>
                <a:spcPct val="100000"/>
              </a:lnSpc>
              <a:spcBef>
                <a:spcPts val="835"/>
              </a:spcBef>
            </a:pPr>
            <a:r>
              <a:rPr sz="2450" spc="-30" dirty="0">
                <a:solidFill>
                  <a:srgbClr val="FF0000"/>
                </a:solidFill>
                <a:latin typeface="Microsoft Sans Serif"/>
                <a:cs typeface="Microsoft Sans Serif"/>
              </a:rPr>
              <a:t>Paramanu</a:t>
            </a:r>
            <a:r>
              <a:rPr sz="2450" spc="-15" dirty="0">
                <a:solidFill>
                  <a:srgbClr val="FF0000"/>
                </a:solidFill>
                <a:latin typeface="Microsoft Sans Serif"/>
                <a:cs typeface="Microsoft Sans Serif"/>
              </a:rPr>
              <a:t> </a:t>
            </a:r>
            <a:r>
              <a:rPr sz="2450" dirty="0">
                <a:solidFill>
                  <a:srgbClr val="FF0000"/>
                </a:solidFill>
                <a:latin typeface="Microsoft Sans Serif"/>
                <a:cs typeface="Microsoft Sans Serif"/>
              </a:rPr>
              <a:t>(time):</a:t>
            </a:r>
            <a:r>
              <a:rPr sz="2450" spc="50" dirty="0">
                <a:solidFill>
                  <a:srgbClr val="FF0000"/>
                </a:solidFill>
                <a:latin typeface="Microsoft Sans Serif"/>
                <a:cs typeface="Microsoft Sans Serif"/>
              </a:rPr>
              <a:t> </a:t>
            </a:r>
            <a:r>
              <a:rPr sz="2450" dirty="0">
                <a:solidFill>
                  <a:srgbClr val="FF0000"/>
                </a:solidFill>
                <a:latin typeface="Microsoft Sans Serif"/>
                <a:cs typeface="Microsoft Sans Serif"/>
              </a:rPr>
              <a:t>1.31</a:t>
            </a:r>
            <a:r>
              <a:rPr sz="2450" spc="55" dirty="0">
                <a:solidFill>
                  <a:srgbClr val="FF0000"/>
                </a:solidFill>
                <a:latin typeface="Microsoft Sans Serif"/>
                <a:cs typeface="Microsoft Sans Serif"/>
              </a:rPr>
              <a:t> </a:t>
            </a:r>
            <a:r>
              <a:rPr sz="2450" dirty="0">
                <a:solidFill>
                  <a:srgbClr val="FF0000"/>
                </a:solidFill>
                <a:latin typeface="Microsoft Sans Serif"/>
                <a:cs typeface="Microsoft Sans Serif"/>
              </a:rPr>
              <a:t>x</a:t>
            </a:r>
            <a:r>
              <a:rPr sz="2450" spc="35" dirty="0">
                <a:solidFill>
                  <a:srgbClr val="FF0000"/>
                </a:solidFill>
                <a:latin typeface="Microsoft Sans Serif"/>
                <a:cs typeface="Microsoft Sans Serif"/>
              </a:rPr>
              <a:t> </a:t>
            </a:r>
            <a:r>
              <a:rPr sz="2450" spc="-25" dirty="0">
                <a:solidFill>
                  <a:srgbClr val="FF0000"/>
                </a:solidFill>
                <a:latin typeface="Microsoft Sans Serif"/>
                <a:cs typeface="Microsoft Sans Serif"/>
              </a:rPr>
              <a:t>10</a:t>
            </a:r>
            <a:r>
              <a:rPr sz="2850" spc="-37" baseline="26315" dirty="0">
                <a:solidFill>
                  <a:srgbClr val="FF0000"/>
                </a:solidFill>
                <a:latin typeface="Microsoft Sans Serif"/>
                <a:cs typeface="Microsoft Sans Serif"/>
              </a:rPr>
              <a:t>-</a:t>
            </a:r>
            <a:r>
              <a:rPr sz="2850" baseline="26315" dirty="0">
                <a:solidFill>
                  <a:srgbClr val="FF0000"/>
                </a:solidFill>
                <a:latin typeface="Microsoft Sans Serif"/>
                <a:cs typeface="Microsoft Sans Serif"/>
              </a:rPr>
              <a:t>5</a:t>
            </a:r>
            <a:r>
              <a:rPr sz="2850" spc="-82" baseline="26315" dirty="0">
                <a:solidFill>
                  <a:srgbClr val="FF0000"/>
                </a:solidFill>
                <a:latin typeface="Microsoft Sans Serif"/>
                <a:cs typeface="Microsoft Sans Serif"/>
              </a:rPr>
              <a:t> </a:t>
            </a:r>
            <a:r>
              <a:rPr sz="2450" spc="-10" dirty="0">
                <a:solidFill>
                  <a:srgbClr val="FF0000"/>
                </a:solidFill>
                <a:latin typeface="Microsoft Sans Serif"/>
                <a:cs typeface="Microsoft Sans Serif"/>
              </a:rPr>
              <a:t>seconds</a:t>
            </a:r>
            <a:endParaRPr sz="2450">
              <a:latin typeface="Microsoft Sans Serif"/>
              <a:cs typeface="Microsoft Sans Serif"/>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5735" rIns="0" bIns="0" rtlCol="0">
            <a:spAutoFit/>
          </a:bodyPr>
          <a:lstStyle/>
          <a:p>
            <a:pPr marL="12700">
              <a:lnSpc>
                <a:spcPct val="100000"/>
              </a:lnSpc>
              <a:spcBef>
                <a:spcPts val="110"/>
              </a:spcBef>
            </a:pPr>
            <a:r>
              <a:rPr dirty="0"/>
              <a:t>Measures</a:t>
            </a:r>
            <a:r>
              <a:rPr spc="-110" dirty="0"/>
              <a:t> </a:t>
            </a:r>
            <a:r>
              <a:rPr spc="90" dirty="0"/>
              <a:t>for</a:t>
            </a:r>
            <a:r>
              <a:rPr spc="-120" dirty="0"/>
              <a:t> </a:t>
            </a:r>
            <a:r>
              <a:rPr spc="-10" dirty="0"/>
              <a:t>Length</a:t>
            </a:r>
          </a:p>
        </p:txBody>
      </p:sp>
      <p:pic>
        <p:nvPicPr>
          <p:cNvPr id="3" name="object 3"/>
          <p:cNvPicPr/>
          <p:nvPr/>
        </p:nvPicPr>
        <p:blipFill>
          <a:blip r:embed="rId2" cstate="print"/>
          <a:stretch>
            <a:fillRect/>
          </a:stretch>
        </p:blipFill>
        <p:spPr>
          <a:xfrm>
            <a:off x="1859193" y="1302601"/>
            <a:ext cx="6391736" cy="46176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TotalTime>
  <Words>1536</Words>
  <Application>Microsoft Office PowerPoint</Application>
  <PresentationFormat>Custom</PresentationFormat>
  <Paragraphs>92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Microsoft Sans Serif</vt:lpstr>
      <vt:lpstr>Nirmala UI</vt:lpstr>
      <vt:lpstr>Office Theme</vt:lpstr>
      <vt:lpstr>PowerPoint Presentation</vt:lpstr>
      <vt:lpstr>Number System in India- Historical Evidence</vt:lpstr>
      <vt:lpstr>Number System in India- Historical Evidence</vt:lpstr>
      <vt:lpstr>Salient Features of the Indian Numeral System</vt:lpstr>
      <vt:lpstr>Salient Features of the Indian Numeral System</vt:lpstr>
      <vt:lpstr>The Concept of Zero and Its Importance</vt:lpstr>
      <vt:lpstr>Large Numbers and their representation</vt:lpstr>
      <vt:lpstr>PowerPoint Presentation</vt:lpstr>
      <vt:lpstr>PowerPoint Presentation</vt:lpstr>
      <vt:lpstr>Unique approaches to Represent Numbers</vt:lpstr>
      <vt:lpstr>Bhūtasaṃkhyā (भूतस या) system</vt:lpstr>
      <vt:lpstr>Bhūtasaṃkhyā (भूतस या) system</vt:lpstr>
      <vt:lpstr>Katapayadi System</vt:lpstr>
      <vt:lpstr>Katapayadi System</vt:lpstr>
      <vt:lpstr>Pingala</vt:lpstr>
      <vt:lpstr>PowerPoint Presentation</vt:lpstr>
      <vt:lpstr>PowerPoint Presentation</vt:lpstr>
      <vt:lpstr>Measurement For Time, Distance and Weight</vt:lpstr>
      <vt:lpstr>Notion of Paramanu</vt:lpstr>
      <vt:lpstr>Measures for Length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Sireesha CSE</cp:lastModifiedBy>
  <cp:revision>12</cp:revision>
  <dcterms:created xsi:type="dcterms:W3CDTF">2025-02-06T14:03:49Z</dcterms:created>
  <dcterms:modified xsi:type="dcterms:W3CDTF">2025-03-20T14:20:18Z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2025-02-06T00:00:00Z</vt:filetime>
  </property>
  <property fmtid="{D5CDD505-2E9C-101B-9397-08002B2CF9AE}" pid="3" name="LastSaved">
    <vt:filetime>2025-02-06T00:00:00Z</vt:filetime>
  </property>
  <property fmtid="{D5CDD505-2E9C-101B-9397-08002B2CF9AE}" pid="4" name="Producer">
    <vt:lpwstr>macOS Version 14.5 (Build 23F79) Quartz PDFContext, AppendMode 1.1</vt:lpwstr>
  </property>
</Properties>
</file>