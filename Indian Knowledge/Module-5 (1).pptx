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9FBF-85A3-20DE-A87E-C2243D986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EDD5E-6C7D-10DF-ECCE-A869A3CB6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D8705-7E6D-5B58-9618-C87DDB05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7651E-E517-C1E7-35D6-7334B274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79D69-CDB7-53B3-BE68-FED68DF0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12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0D9D-2BF3-AB4D-330D-33AEF133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98D8-2341-9FAC-18B9-ABF4F300E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32B96-E3D9-E83A-D712-EF5DCBD2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7C074-2A9D-4193-D539-FFCA1A5C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D5A32-F069-E709-52D4-D5DA3D7A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80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BC1E-7192-A39A-415D-26644FE92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1C270-1743-A3A6-2BFE-282B7EBF5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58C3A-A1ED-DBDC-9CBD-6EE71E10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0E02-ECC8-D44D-B22F-D39F58A7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7B16D-2AEF-00FC-5155-7A960E0B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9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AABD-A4B4-080D-D726-9C10452D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DE5F-F85C-730D-3791-AFF3DB187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9A891-3F51-DA63-0585-EDE1FFB0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E8752-8D83-BD84-95AC-A41418D5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2A1B5-26D5-C224-ECF0-94C28D64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DA0D6-76D6-D321-DA99-AF70F76D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9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CC66-17A0-5CBD-1C87-9943BA25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17357-9628-149E-D6DF-DDDAE4B7F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3359D-252B-1B76-27CF-E91F2EDB7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ED657-B781-0B26-7DCB-A853BEE2F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170A80-4689-F0E2-C40E-36396A610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602346-6F26-FDAD-5DE1-F937D6B6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5904F-BBDB-8E1F-6B70-E5CDCCF3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B8EB2-BBD0-CF2A-0C43-1A10B6C1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88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0F87-F174-8C70-769C-1A3F1DEE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630A4-7960-8BCE-6671-BBD9E028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0C36A-52EF-8F46-CF54-180B8697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8934B-4D83-6CFA-6C50-9CABFE5D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38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AA94D-6712-B95F-3AB0-06E5F1ED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E6F49-0580-9839-9C41-EB4D1537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46D65-818D-D0CC-CD79-B639E8D2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5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11CD-36BC-DEED-B731-F308F1D1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76ABE-04C4-7541-A5F0-1C8FB097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AE831-8E0C-7A9A-8457-7D4821918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D02F3-77FB-839D-87D2-A7AD0E65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965E1-4A3F-AEB3-4005-7A2CA298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6F01B-4074-19AD-23F1-CFA4FA07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90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25A8-7791-CC7A-E2D0-5B9EDBA1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469D4-E315-9AE5-0906-633055745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51481-0C05-F822-F666-583AFCBDE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92E92-321B-C41D-0B16-8658B588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04690-2FDA-BBA8-DAEB-B067B0B8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E2315-17EF-4022-05C7-1B1CEE10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23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5EFC-2F5E-B8AF-7084-7D3AA198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8C281-9EB3-F9E9-3196-0175E9C96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6D82C-9E3D-A1C3-2B90-9589C4DD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D7D10-D2FF-4922-0C6A-1BE1B23F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1CF36-2708-8DCC-8CA2-2724911D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44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5F2B9-4428-06E8-90DF-B1BBB168B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7F08F-31C0-327E-E849-0D7327265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BD271-14CD-0734-EA0D-9F71AF51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AD6C3-7A06-F88A-5DCB-FBAF09DF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8104A-61FD-7B9E-CE44-96F16F36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7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1D0BF-0045-1703-B5C8-94386C67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632BB-B4B9-0CB4-4328-87B6C682F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04A2D-982B-99F3-9F2C-E7275FCF7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3B259-AF26-4659-ABDB-4C5A59A6783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EACEE-CB55-5CE0-92A5-E40815802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C17E1-AC3B-34D1-5AD5-837D3C0BF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959B3-9B43-4E4A-99D7-B740F2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5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6F54-F8CB-A589-61A6-D9B144AF5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MODULE – V </a:t>
            </a:r>
            <a:br>
              <a:rPr lang="en-US"/>
            </a:br>
            <a:r>
              <a:rPr lang="en-US"/>
              <a:t>Traditional Knowledge in Professional domain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43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B2A4-5436-8A9B-8933-A155BDDE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78" y="220252"/>
            <a:ext cx="10515600" cy="460785"/>
          </a:xfrm>
        </p:spPr>
        <p:txBody>
          <a:bodyPr>
            <a:normAutofit fontScale="90000"/>
          </a:bodyPr>
          <a:lstStyle/>
          <a:p>
            <a:r>
              <a:rPr lang="en-IN" dirty="0"/>
              <a:t>Town planning and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A9C4-F3EB-F2BD-7C06-DBE2693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3"/>
            <a:ext cx="11176000" cy="1845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reflect deep-rooted principles of sustainability, community, spirituality, and harmony with nature. These systems, often overlooked in modern urban development, offer valuable insights into creating livable, resilient, and culturally meaningful settlements.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B7F70-F882-8967-9F30-19CE42F6D65C}"/>
              </a:ext>
            </a:extLst>
          </p:cNvPr>
          <p:cNvSpPr txBox="1"/>
          <p:nvPr/>
        </p:nvSpPr>
        <p:spPr>
          <a:xfrm>
            <a:off x="457200" y="2730500"/>
            <a:ext cx="1051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Arthashastra</a:t>
            </a:r>
            <a:r>
              <a:rPr lang="en-US" dirty="0"/>
              <a:t> in Town Planning</a:t>
            </a:r>
          </a:p>
          <a:p>
            <a:r>
              <a:rPr lang="en-US" b="1" dirty="0" err="1"/>
              <a:t>Arthashastra</a:t>
            </a:r>
            <a:r>
              <a:rPr lang="en-US" dirty="0"/>
              <a:t>, attributed to </a:t>
            </a:r>
            <a:r>
              <a:rPr lang="en-US" b="1" dirty="0"/>
              <a:t>Kautilya (Chanakya)</a:t>
            </a:r>
            <a:r>
              <a:rPr lang="en-US" dirty="0"/>
              <a:t> around the 4th century BCE, is a foundational Indian treatise on statecraft, economics, and military strategy. It also offers one of the earliest documented frameworks for </a:t>
            </a:r>
            <a:r>
              <a:rPr lang="en-US" b="1" dirty="0"/>
              <a:t>urban planning and architecture</a:t>
            </a:r>
            <a:r>
              <a:rPr lang="en-US" dirty="0"/>
              <a:t> in ancient India. The town planning ideas in the </a:t>
            </a:r>
            <a:r>
              <a:rPr lang="en-US" i="1" dirty="0" err="1"/>
              <a:t>Arthashastra</a:t>
            </a:r>
            <a:r>
              <a:rPr lang="en-US" dirty="0"/>
              <a:t> are remarkably systematic, functional, and ahead of their time.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Aspects of Town Planning in the </a:t>
            </a:r>
            <a:r>
              <a:rPr lang="en-US" b="1" dirty="0" err="1"/>
              <a:t>Arthashastra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Site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Towns should be located near natural resources (water, fertile land, forests).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Emphasis on strategic defensibility and trade routes.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Consideration of climatic conditions and disease avoidance.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08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11AF2-E4FE-06C1-A86D-90330EDD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174" y="516194"/>
            <a:ext cx="11046542" cy="634180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City Structure and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Fortification</a:t>
            </a:r>
            <a:r>
              <a:rPr lang="en-US" dirty="0"/>
              <a:t>: Cities were to be </a:t>
            </a:r>
            <a:r>
              <a:rPr lang="en-US" b="1" dirty="0"/>
              <a:t>fortified with ramparts, moats, and gates</a:t>
            </a:r>
            <a:r>
              <a:rPr lang="en-US" dirty="0"/>
              <a:t>. The fort (</a:t>
            </a:r>
            <a:r>
              <a:rPr lang="en-US" dirty="0" err="1"/>
              <a:t>durga</a:t>
            </a:r>
            <a:r>
              <a:rPr lang="en-US" dirty="0"/>
              <a:t>) was the nucleus of the 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Rectangular Grid System</a:t>
            </a:r>
            <a:r>
              <a:rPr lang="en-US" dirty="0"/>
              <a:t>: The </a:t>
            </a:r>
            <a:r>
              <a:rPr lang="en-US" dirty="0" err="1"/>
              <a:t>Arthashastra</a:t>
            </a:r>
            <a:r>
              <a:rPr lang="en-US" dirty="0"/>
              <a:t> recommends </a:t>
            </a:r>
            <a:r>
              <a:rPr lang="en-US" b="1" dirty="0"/>
              <a:t>a regular layout</a:t>
            </a:r>
            <a:r>
              <a:rPr lang="en-US" dirty="0"/>
              <a:t>, often interpreted as a </a:t>
            </a:r>
            <a:r>
              <a:rPr lang="en-US" b="1" dirty="0"/>
              <a:t>grid-based plan</a:t>
            </a:r>
            <a:r>
              <a:rPr lang="en-US" dirty="0"/>
              <a:t> — straight roads intersecting at right angles.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Zoning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Residential zones</a:t>
            </a:r>
            <a:r>
              <a:rPr lang="en-US" dirty="0"/>
              <a:t> for different castes and professions.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Market areas</a:t>
            </a:r>
            <a:r>
              <a:rPr lang="en-US" dirty="0"/>
              <a:t> placed centrally for accessibility.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Administrative zones</a:t>
            </a:r>
            <a:r>
              <a:rPr lang="en-US" dirty="0"/>
              <a:t> for state offices, treasuries, and the palace.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Military zones</a:t>
            </a:r>
            <a:r>
              <a:rPr lang="en-US" dirty="0"/>
              <a:t> for barracks, weapon stores, and guard towers.</a:t>
            </a:r>
          </a:p>
          <a:p>
            <a:pPr>
              <a:buNone/>
            </a:pPr>
            <a:r>
              <a:rPr lang="en-US" b="1" dirty="0"/>
              <a:t>3. Infrastructure and Utilities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Roads</a:t>
            </a:r>
            <a:r>
              <a:rPr lang="en-US" dirty="0"/>
              <a:t>: Well-planned wide roads and smaller lanes; importance of cleanliness and maintenance emphasized.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Water Management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Construction of </a:t>
            </a:r>
            <a:r>
              <a:rPr lang="en-US" b="1" dirty="0"/>
              <a:t>wells, canals, reservoirs, and drainage systems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Rainwater harvesting encouraged.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Waste Management</a:t>
            </a:r>
            <a:r>
              <a:rPr lang="en-US" dirty="0"/>
              <a:t>: </a:t>
            </a:r>
            <a:r>
              <a:rPr lang="en-US" dirty="0" err="1"/>
              <a:t>Arthashastra</a:t>
            </a:r>
            <a:r>
              <a:rPr lang="en-US" dirty="0"/>
              <a:t> prescribes designated areas for waste disposal and strict penalties for public littering or pollution.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10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0162-8160-4BE9-27CB-CBD3C0291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280219"/>
            <a:ext cx="10778613" cy="5896744"/>
          </a:xfrm>
        </p:spPr>
        <p:txBody>
          <a:bodyPr/>
          <a:lstStyle/>
          <a:p>
            <a:pPr>
              <a:buNone/>
            </a:pPr>
            <a:r>
              <a:rPr lang="en-US" b="1" dirty="0"/>
              <a:t>4. Safety and Surveillance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Watchtowers and secret agents</a:t>
            </a:r>
            <a:r>
              <a:rPr lang="en-US" dirty="0"/>
              <a:t> to monitor crime, corruption, or rebellion.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Residential registers and movement tracking within the town.</a:t>
            </a:r>
          </a:p>
          <a:p>
            <a:pPr>
              <a:buNone/>
            </a:pPr>
            <a:r>
              <a:rPr lang="en-US" b="1" dirty="0"/>
              <a:t>5. Public Amenities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Hospitals, schools, temples, and gardens</a:t>
            </a:r>
            <a:r>
              <a:rPr lang="en-US" dirty="0"/>
              <a:t> were recommended as part of public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Markets</a:t>
            </a:r>
            <a:r>
              <a:rPr lang="en-US" dirty="0"/>
              <a:t> regulated for fair trade, weights and measures.</a:t>
            </a:r>
          </a:p>
          <a:p>
            <a:pPr>
              <a:buNone/>
            </a:pPr>
            <a:r>
              <a:rPr lang="en-US" b="1" dirty="0"/>
              <a:t>6. Disaster Preparedness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city should be prepared for </a:t>
            </a:r>
            <a:r>
              <a:rPr lang="en-US" b="1" dirty="0"/>
              <a:t>fire, floods, enemy attack</a:t>
            </a:r>
            <a:r>
              <a:rPr lang="en-US" dirty="0"/>
              <a:t>, and famine — including maintaining emergency stores of grain and arms.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6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621187-ECD4-5085-2388-877C1768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13" t="19220" r="40123" b="15174"/>
          <a:stretch/>
        </p:blipFill>
        <p:spPr>
          <a:xfrm>
            <a:off x="948248" y="-1"/>
            <a:ext cx="9154397" cy="71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37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3FE5-F54C-38FE-AA83-885A36B4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12" y="247139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Raja Dharma (</a:t>
            </a:r>
            <a:r>
              <a:rPr lang="en-US" dirty="0" err="1"/>
              <a:t>Arthashastra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A4F4A-F071-0AF1-417F-2BB50D3D3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96" y="881728"/>
            <a:ext cx="11107995" cy="56111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Raja Dharma in the Artha Shastra</a:t>
            </a:r>
            <a:r>
              <a:rPr lang="en-US" dirty="0"/>
              <a:t> refers to the duties and responsibilities of a king as described by Kautilya (also known as Chanakya or </a:t>
            </a:r>
            <a:r>
              <a:rPr lang="en-US" dirty="0" err="1"/>
              <a:t>Vishnugupta</a:t>
            </a:r>
            <a:r>
              <a:rPr lang="en-US" dirty="0"/>
              <a:t>). The </a:t>
            </a:r>
            <a:r>
              <a:rPr lang="en-US" i="1" dirty="0"/>
              <a:t>Artha Shastra</a:t>
            </a:r>
            <a:r>
              <a:rPr lang="en-US" dirty="0"/>
              <a:t>, written around the 4th century BCE, is a foundational text of political science and governance in ancient India. "Raja Dharma" specifically focuses on the ethical and administrative obligations of the ruler in maintaining order, prosperity, and justice.</a:t>
            </a:r>
          </a:p>
          <a:p>
            <a:pPr marL="514350" indent="-514350">
              <a:buAutoNum type="arabicPeriod"/>
            </a:pPr>
            <a:r>
              <a:rPr lang="en-IN" dirty="0"/>
              <a:t>Raksha</a:t>
            </a:r>
          </a:p>
          <a:p>
            <a:pPr marL="514350" indent="-514350">
              <a:buAutoNum type="arabicPeriod"/>
            </a:pPr>
            <a:r>
              <a:rPr lang="en-IN" dirty="0" err="1"/>
              <a:t>Vyavahara</a:t>
            </a:r>
            <a:endParaRPr lang="en-IN" dirty="0"/>
          </a:p>
          <a:p>
            <a:pPr marL="514350" indent="-514350">
              <a:buAutoNum type="arabicPeriod"/>
            </a:pPr>
            <a:r>
              <a:rPr lang="en-IN" dirty="0" err="1"/>
              <a:t>Palana</a:t>
            </a:r>
            <a:endParaRPr lang="en-IN" dirty="0"/>
          </a:p>
          <a:p>
            <a:pPr marL="514350" indent="-514350">
              <a:buAutoNum type="arabicPeriod"/>
            </a:pPr>
            <a:r>
              <a:rPr lang="en-IN" dirty="0"/>
              <a:t>Kosha</a:t>
            </a:r>
          </a:p>
          <a:p>
            <a:pPr marL="514350" indent="-514350">
              <a:buAutoNum type="arabicPeriod"/>
            </a:pPr>
            <a:r>
              <a:rPr lang="en-IN" dirty="0"/>
              <a:t>Danda Niti</a:t>
            </a:r>
          </a:p>
          <a:p>
            <a:pPr marL="514350" indent="-514350">
              <a:buAutoNum type="arabicPeriod"/>
            </a:pPr>
            <a:r>
              <a:rPr lang="en-IN" dirty="0"/>
              <a:t>Espionage and Diplomacy</a:t>
            </a:r>
          </a:p>
          <a:p>
            <a:pPr marL="514350" indent="-514350">
              <a:buAutoNum type="arabicPeriod"/>
            </a:pPr>
            <a:r>
              <a:rPr lang="en-IN" dirty="0"/>
              <a:t>Advisor and Ministerial Governance</a:t>
            </a:r>
          </a:p>
          <a:p>
            <a:pPr marL="514350" indent="-514350">
              <a:buAutoNum type="arabicPeriod"/>
            </a:pPr>
            <a:r>
              <a:rPr lang="en-IN" dirty="0"/>
              <a:t>Moral Conduct and Self-Discipline</a:t>
            </a:r>
          </a:p>
        </p:txBody>
      </p:sp>
    </p:spTree>
    <p:extLst>
      <p:ext uri="{BB962C8B-B14F-4D97-AF65-F5344CB8AC3E}">
        <p14:creationId xmlns:p14="http://schemas.microsoft.com/office/powerpoint/2010/main" val="338315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A6D1-57A4-C849-FAF0-3597168BB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of Raja Dharma in </a:t>
            </a:r>
            <a:r>
              <a:rPr lang="en-US" dirty="0" err="1"/>
              <a:t>Arthashastra</a:t>
            </a:r>
            <a:r>
              <a:rPr lang="en-US" dirty="0"/>
              <a:t> vs </a:t>
            </a:r>
            <a:r>
              <a:rPr lang="en-US" dirty="0" err="1"/>
              <a:t>Manusmriti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640EE9-B67F-CC47-BA13-F993F81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108332"/>
              </p:ext>
            </p:extLst>
          </p:nvPr>
        </p:nvGraphicFramePr>
        <p:xfrm>
          <a:off x="353961" y="1415846"/>
          <a:ext cx="10999836" cy="4823364"/>
        </p:xfrm>
        <a:graphic>
          <a:graphicData uri="http://schemas.openxmlformats.org/drawingml/2006/table">
            <a:tbl>
              <a:tblPr/>
              <a:tblGrid>
                <a:gridCol w="3666612">
                  <a:extLst>
                    <a:ext uri="{9D8B030D-6E8A-4147-A177-3AD203B41FA5}">
                      <a16:colId xmlns:a16="http://schemas.microsoft.com/office/drawing/2014/main" val="3327148690"/>
                    </a:ext>
                  </a:extLst>
                </a:gridCol>
                <a:gridCol w="3666612">
                  <a:extLst>
                    <a:ext uri="{9D8B030D-6E8A-4147-A177-3AD203B41FA5}">
                      <a16:colId xmlns:a16="http://schemas.microsoft.com/office/drawing/2014/main" val="2719254402"/>
                    </a:ext>
                  </a:extLst>
                </a:gridCol>
                <a:gridCol w="3666612">
                  <a:extLst>
                    <a:ext uri="{9D8B030D-6E8A-4147-A177-3AD203B41FA5}">
                      <a16:colId xmlns:a16="http://schemas.microsoft.com/office/drawing/2014/main" val="3710827668"/>
                    </a:ext>
                  </a:extLst>
                </a:gridCol>
              </a:tblGrid>
              <a:tr h="230523">
                <a:tc>
                  <a:txBody>
                    <a:bodyPr/>
                    <a:lstStyle/>
                    <a:p>
                      <a:r>
                        <a:rPr lang="en-IN" sz="1100"/>
                        <a:t>Aspect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Artha Shastra (Kautilya)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/>
                        <a:t>Manusmriti (Manu)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001295"/>
                  </a:ext>
                </a:extLst>
              </a:tr>
              <a:tr h="400611">
                <a:tc>
                  <a:txBody>
                    <a:bodyPr/>
                    <a:lstStyle/>
                    <a:p>
                      <a:r>
                        <a:rPr lang="en-IN" sz="1100" b="1"/>
                        <a:t>Nature of the Text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Secular, pragmatic treatise on politics and economics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Religious-legal code rooted in Dharma (moral law)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768545"/>
                  </a:ext>
                </a:extLst>
              </a:tr>
              <a:tr h="400611">
                <a:tc>
                  <a:txBody>
                    <a:bodyPr/>
                    <a:lstStyle/>
                    <a:p>
                      <a:r>
                        <a:rPr lang="en-IN" sz="1100" b="1"/>
                        <a:t>Focus of Raja Dharma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Practical governance, administration, and statecraft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Upholding Dharma, caste duties, and moral justice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328222"/>
                  </a:ext>
                </a:extLst>
              </a:tr>
              <a:tr h="400611">
                <a:tc>
                  <a:txBody>
                    <a:bodyPr/>
                    <a:lstStyle/>
                    <a:p>
                      <a:r>
                        <a:rPr lang="en-IN" sz="1100" b="1"/>
                        <a:t>Role of the King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Strategic ruler focused on law, order, prosperity, and power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Moral and spiritual guardian enforcing divine law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27396"/>
                  </a:ext>
                </a:extLst>
              </a:tr>
              <a:tr h="405103">
                <a:tc>
                  <a:txBody>
                    <a:bodyPr/>
                    <a:lstStyle/>
                    <a:p>
                      <a:r>
                        <a:rPr lang="en-IN" sz="1100" b="1"/>
                        <a:t>Justice (Vyavahara)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Justice serves state stability; based on evidence and reason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Justice must align with Dharma Shastras and caste laws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799328"/>
                  </a:ext>
                </a:extLst>
              </a:tr>
              <a:tr h="405103">
                <a:tc>
                  <a:txBody>
                    <a:bodyPr/>
                    <a:lstStyle/>
                    <a:p>
                      <a:r>
                        <a:rPr lang="en-US" sz="1100" b="1"/>
                        <a:t>Use of Punishment (Danda Niti)</a:t>
                      </a:r>
                      <a:endParaRPr lang="en-US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Central to maintaining order and discipline; scientifically applied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 divine tool to protect righteousness and deter sin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83389"/>
                  </a:ext>
                </a:extLst>
              </a:tr>
              <a:tr h="400611">
                <a:tc>
                  <a:txBody>
                    <a:bodyPr/>
                    <a:lstStyle/>
                    <a:p>
                      <a:r>
                        <a:rPr lang="en-IN" sz="1100" b="1"/>
                        <a:t>Welfare of the People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Economic development, fair taxation, infrastructure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Ensure moral order and caste-based duties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744712"/>
                  </a:ext>
                </a:extLst>
              </a:tr>
              <a:tr h="400611">
                <a:tc>
                  <a:txBody>
                    <a:bodyPr/>
                    <a:lstStyle/>
                    <a:p>
                      <a:r>
                        <a:rPr lang="en-IN" sz="1100" b="1"/>
                        <a:t>Spying and Espionage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Encouraged as a key tool of internal and external control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Not emphasized; considered morally questionable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934421"/>
                  </a:ext>
                </a:extLst>
              </a:tr>
              <a:tr h="573255">
                <a:tc>
                  <a:txBody>
                    <a:bodyPr/>
                    <a:lstStyle/>
                    <a:p>
                      <a:r>
                        <a:rPr lang="en-IN" sz="1100" b="1"/>
                        <a:t>Military and Diplomacy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Realpolitik: war, alliances, espionage based on state interest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Emphasis on righteous war (Dharma Yuddha)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282936"/>
                  </a:ext>
                </a:extLst>
              </a:tr>
              <a:tr h="400611">
                <a:tc>
                  <a:txBody>
                    <a:bodyPr/>
                    <a:lstStyle/>
                    <a:p>
                      <a:r>
                        <a:rPr lang="en-IN" sz="1100" b="1"/>
                        <a:t>Ministers and Counsel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Governance through trained advisors and experts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Advisers should be Brahmins; spiritual wisdom valued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434408"/>
                  </a:ext>
                </a:extLst>
              </a:tr>
              <a:tr h="405103">
                <a:tc>
                  <a:txBody>
                    <a:bodyPr/>
                    <a:lstStyle/>
                    <a:p>
                      <a:r>
                        <a:rPr lang="en-IN" sz="1100" b="1"/>
                        <a:t>Religious Role of King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Minimal; religion is secondary to political power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Strong; king must uphold Vedic rituals and Brahmin supremacy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509371"/>
                  </a:ext>
                </a:extLst>
              </a:tr>
              <a:tr h="400611">
                <a:tc>
                  <a:txBody>
                    <a:bodyPr/>
                    <a:lstStyle/>
                    <a:p>
                      <a:r>
                        <a:rPr lang="en-IN" sz="1100" b="1"/>
                        <a:t>Taxation and Revenue</a:t>
                      </a:r>
                      <a:endParaRPr lang="en-IN" sz="1100"/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Taxes based on productivity; economy-centric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Taxes should maintain Brahmins and societal order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565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0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D177-86C1-826D-6C11-5ED6517F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>
            <a:normAutofit fontScale="90000"/>
          </a:bodyPr>
          <a:lstStyle/>
          <a:p>
            <a:r>
              <a:rPr lang="en-IN" dirty="0"/>
              <a:t>Kautilya </a:t>
            </a:r>
            <a:r>
              <a:rPr lang="en-IN" dirty="0" err="1"/>
              <a:t>Arthashastra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D2572-D769-5D48-930F-74B85773A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229"/>
            <a:ext cx="10515600" cy="49287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administrative setup in Kautilya’s Artha Shastra</a:t>
            </a:r>
            <a:r>
              <a:rPr lang="en-US" dirty="0"/>
              <a:t> is one of the most detailed and sophisticated models of governance found in ancient Indian literature. It outlines a </a:t>
            </a:r>
            <a:r>
              <a:rPr lang="en-US" b="1" dirty="0"/>
              <a:t>centralized, hierarchical bureaucracy</a:t>
            </a:r>
            <a:r>
              <a:rPr lang="en-US" dirty="0"/>
              <a:t> designed to ensure efficient governance, control, and economic prosperity.</a:t>
            </a:r>
          </a:p>
          <a:p>
            <a:pPr marL="514350" indent="-514350">
              <a:buAutoNum type="arabicPeriod"/>
            </a:pPr>
            <a:r>
              <a:rPr lang="en-IN" dirty="0"/>
              <a:t>Raja</a:t>
            </a:r>
            <a:endParaRPr lang="en-US" dirty="0"/>
          </a:p>
          <a:p>
            <a:pPr marL="514350" indent="-514350">
              <a:buAutoNum type="arabicPeriod"/>
            </a:pPr>
            <a:r>
              <a:rPr lang="en-IN" dirty="0"/>
              <a:t>Mantri Parishad</a:t>
            </a:r>
            <a:endParaRPr lang="en-US" dirty="0"/>
          </a:p>
          <a:p>
            <a:pPr marL="514350" indent="-514350">
              <a:buAutoNum type="arabicPeriod"/>
            </a:pPr>
            <a:r>
              <a:rPr lang="en-IN" dirty="0" err="1"/>
              <a:t>Amatyas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IN" dirty="0"/>
              <a:t>Tirthas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IN" dirty="0"/>
              <a:t>Provincial Administration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IN" dirty="0"/>
              <a:t>District and Village Administration</a:t>
            </a:r>
          </a:p>
          <a:p>
            <a:pPr marL="514350" indent="-514350">
              <a:buAutoNum type="arabicPeriod"/>
            </a:pPr>
            <a:r>
              <a:rPr lang="en-IN" dirty="0" err="1"/>
              <a:t>Gudhapurusha</a:t>
            </a:r>
            <a:endParaRPr lang="en-IN" dirty="0"/>
          </a:p>
          <a:p>
            <a:pPr marL="514350" indent="-514350">
              <a:buAutoNum type="arabicPeriod"/>
            </a:pPr>
            <a:r>
              <a:rPr lang="en-IN" dirty="0"/>
              <a:t>Justice System</a:t>
            </a:r>
          </a:p>
          <a:p>
            <a:pPr marL="514350" indent="-514350">
              <a:buAutoNum type="arabicPeriod"/>
            </a:pPr>
            <a:r>
              <a:rPr lang="en-IN" dirty="0"/>
              <a:t>Revenue and Taxation</a:t>
            </a:r>
          </a:p>
        </p:txBody>
      </p:sp>
    </p:spTree>
    <p:extLst>
      <p:ext uri="{BB962C8B-B14F-4D97-AF65-F5344CB8AC3E}">
        <p14:creationId xmlns:p14="http://schemas.microsoft.com/office/powerpoint/2010/main" val="3248147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EF26B-86DD-4A6B-EDFC-276A0E34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1218"/>
          </a:xfrm>
        </p:spPr>
        <p:txBody>
          <a:bodyPr>
            <a:normAutofit fontScale="90000"/>
          </a:bodyPr>
          <a:lstStyle/>
          <a:p>
            <a:r>
              <a:rPr lang="en-IN" dirty="0"/>
              <a:t>Health and Disease treatment on </a:t>
            </a:r>
            <a:r>
              <a:rPr lang="en-US" dirty="0"/>
              <a:t>Unani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39943-BB2F-2FB9-B811-A76E2075D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1277257"/>
            <a:ext cx="10932886" cy="4899706"/>
          </a:xfrm>
        </p:spPr>
        <p:txBody>
          <a:bodyPr/>
          <a:lstStyle/>
          <a:p>
            <a:pPr>
              <a:buNone/>
            </a:pPr>
            <a:r>
              <a:rPr lang="en-US" dirty="0"/>
              <a:t>Unani is based on </a:t>
            </a:r>
            <a:r>
              <a:rPr lang="en-US" b="1" dirty="0"/>
              <a:t>four bodily humors</a:t>
            </a:r>
            <a:r>
              <a:rPr lang="en-US" dirty="0"/>
              <a:t> (</a:t>
            </a:r>
            <a:r>
              <a:rPr lang="en-US" i="1" dirty="0" err="1"/>
              <a:t>Akhlat</a:t>
            </a:r>
            <a:r>
              <a:rPr lang="en-US" dirty="0"/>
              <a:t>), and health is defined as the </a:t>
            </a:r>
            <a:r>
              <a:rPr lang="en-US" b="1" dirty="0"/>
              <a:t>balance</a:t>
            </a:r>
            <a:r>
              <a:rPr lang="en-US" dirty="0"/>
              <a:t> of these: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Dam (Blood)</a:t>
            </a:r>
            <a:r>
              <a:rPr lang="en-US" dirty="0"/>
              <a:t> – Hot &amp; Moist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Balgham</a:t>
            </a:r>
            <a:r>
              <a:rPr lang="en-US" b="1" dirty="0"/>
              <a:t> (Phlegm)</a:t>
            </a:r>
            <a:r>
              <a:rPr lang="en-US" dirty="0"/>
              <a:t> – Cold &amp; Moist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Safra (Yellow Bile)</a:t>
            </a:r>
            <a:r>
              <a:rPr lang="en-US" dirty="0"/>
              <a:t> – Hot &amp; Dry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Sauda (Black Bile)</a:t>
            </a:r>
            <a:r>
              <a:rPr lang="en-US" dirty="0"/>
              <a:t> – Cold &amp; Dry</a:t>
            </a:r>
          </a:p>
          <a:p>
            <a:r>
              <a:rPr lang="en-US" dirty="0"/>
              <a:t>Each person has a </a:t>
            </a:r>
            <a:r>
              <a:rPr lang="en-US" b="1" dirty="0"/>
              <a:t>temperament (Mizaj)</a:t>
            </a:r>
            <a:r>
              <a:rPr lang="en-US" dirty="0"/>
              <a:t> influenced by these humors, and treatment aims to </a:t>
            </a:r>
            <a:r>
              <a:rPr lang="en-US" b="1" dirty="0"/>
              <a:t>correct imbalances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729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626C0-17BF-CF4B-0294-73506AAE7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13" y="382474"/>
            <a:ext cx="10657115" cy="601832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IN" dirty="0"/>
              <a:t>Tahaffuz-e-Sehat</a:t>
            </a:r>
          </a:p>
          <a:p>
            <a:pPr marL="514350" indent="-514350">
              <a:buAutoNum type="arabicPeriod"/>
            </a:pPr>
            <a:r>
              <a:rPr lang="en-IN" dirty="0"/>
              <a:t>Ilaj</a:t>
            </a:r>
          </a:p>
          <a:p>
            <a:pPr marL="514350" indent="-514350">
              <a:buAutoNum type="alphaLcPeriod"/>
            </a:pPr>
            <a:r>
              <a:rPr lang="en-IN" dirty="0"/>
              <a:t>Ilaj </a:t>
            </a:r>
            <a:r>
              <a:rPr lang="en-IN" dirty="0" err="1"/>
              <a:t>bil</a:t>
            </a:r>
            <a:r>
              <a:rPr lang="en-IN" dirty="0"/>
              <a:t> </a:t>
            </a:r>
            <a:r>
              <a:rPr lang="en-IN" dirty="0" err="1"/>
              <a:t>Tadbeer</a:t>
            </a:r>
            <a:endParaRPr lang="en-IN" dirty="0"/>
          </a:p>
          <a:p>
            <a:pPr marL="514350" indent="-514350">
              <a:buAutoNum type="alphaLcPeriod"/>
            </a:pPr>
            <a:r>
              <a:rPr lang="en-IN" dirty="0"/>
              <a:t>Ilaj </a:t>
            </a:r>
            <a:r>
              <a:rPr lang="en-IN" dirty="0" err="1"/>
              <a:t>bil</a:t>
            </a:r>
            <a:r>
              <a:rPr lang="en-IN" dirty="0"/>
              <a:t> </a:t>
            </a:r>
            <a:r>
              <a:rPr lang="en-IN" dirty="0" err="1"/>
              <a:t>Ghiza</a:t>
            </a:r>
            <a:endParaRPr lang="en-IN" dirty="0"/>
          </a:p>
          <a:p>
            <a:pPr marL="514350" indent="-514350">
              <a:buAutoNum type="alphaLcPeriod"/>
            </a:pPr>
            <a:r>
              <a:rPr lang="en-IN" dirty="0"/>
              <a:t>Ilaj </a:t>
            </a:r>
            <a:r>
              <a:rPr lang="en-IN" dirty="0" err="1"/>
              <a:t>bil</a:t>
            </a:r>
            <a:r>
              <a:rPr lang="en-IN" dirty="0"/>
              <a:t> Dawa</a:t>
            </a:r>
          </a:p>
          <a:p>
            <a:pPr marL="514350" indent="-514350">
              <a:buAutoNum type="alphaLcPeriod"/>
            </a:pPr>
            <a:r>
              <a:rPr lang="en-IN" dirty="0"/>
              <a:t>Ilaj </a:t>
            </a:r>
            <a:r>
              <a:rPr lang="en-IN" dirty="0" err="1"/>
              <a:t>bil</a:t>
            </a:r>
            <a:r>
              <a:rPr lang="en-IN" dirty="0"/>
              <a:t> Yad</a:t>
            </a:r>
          </a:p>
          <a:p>
            <a:pPr marL="0" indent="0">
              <a:buNone/>
            </a:pPr>
            <a:r>
              <a:rPr lang="en-IN" dirty="0"/>
              <a:t>3. Humma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Unani system</a:t>
            </a:r>
            <a:r>
              <a:rPr lang="en-US" dirty="0"/>
              <a:t> maintains health through </a:t>
            </a:r>
            <a:r>
              <a:rPr lang="en-US" b="1" dirty="0"/>
              <a:t>lifestyle regulation and natural balance</a:t>
            </a:r>
            <a:r>
              <a:rPr lang="en-US" dirty="0"/>
              <a:t>, and treats disease by </a:t>
            </a:r>
            <a:r>
              <a:rPr lang="en-US" b="1" dirty="0"/>
              <a:t>restoring humoral equilibrium</a:t>
            </a:r>
            <a:r>
              <a:rPr lang="en-US" dirty="0"/>
              <a:t>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Preventive care (Six essentials)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Natural treatments (diet, regimen, drugs)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Emphasis on individual temperament and balance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936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E04D-8B7A-8C1B-8E4A-F55A6A06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</p:spPr>
        <p:txBody>
          <a:bodyPr/>
          <a:lstStyle/>
          <a:p>
            <a:r>
              <a:rPr lang="en-US" dirty="0"/>
              <a:t>Indian Epics- Public Administration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555A-BBA8-7BA4-667E-1041255A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14" y="1471840"/>
            <a:ext cx="10515600" cy="109174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IN" b="1" dirty="0"/>
              <a:t>Ramayana</a:t>
            </a:r>
          </a:p>
          <a:p>
            <a:pPr marL="514350" indent="-514350">
              <a:buAutoNum type="arabicPeriod"/>
            </a:pPr>
            <a:r>
              <a:rPr lang="en-IN" b="1" dirty="0"/>
              <a:t>Mahabharata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6B33E6-67AB-8F8A-4AE4-AED41FFE9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938726"/>
              </p:ext>
            </p:extLst>
          </p:nvPr>
        </p:nvGraphicFramePr>
        <p:xfrm>
          <a:off x="838200" y="2563586"/>
          <a:ext cx="10515600" cy="4206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155839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88326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Theme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93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Dharma (Ethical Duty)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Rulers must uphold righteousness above personal gain.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50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Rajadharma (Duty of Kings)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Protect people, punish the wicked, and ensure justice and prosperity.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67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People-Centric Governance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Welfare of citizens is central; rulers are </a:t>
                      </a:r>
                      <a:r>
                        <a:rPr lang="en-US" b="1"/>
                        <a:t>servants of the people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091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Advisor System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Emphasis on wise counsel (e.g., Vasishtha, Vidura, Bhishma).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70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Decentralization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Local administration and village-level self-governance are encouraged.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56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Accountability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Kings are answerable to divine law, sages, and public conscience.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52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98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041C-A66B-1E48-84AA-D942B72D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018"/>
          </a:xfrm>
        </p:spPr>
        <p:txBody>
          <a:bodyPr/>
          <a:lstStyle/>
          <a:p>
            <a:r>
              <a:rPr lang="en-IN" dirty="0"/>
              <a:t>Ancient India- Treasury and State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17F1-D89E-F703-1116-D7885252C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b="1" dirty="0"/>
              <a:t>Ancient India</a:t>
            </a:r>
            <a:r>
              <a:rPr lang="en-US" dirty="0"/>
              <a:t>, the </a:t>
            </a:r>
            <a:r>
              <a:rPr lang="en-US" b="1" dirty="0"/>
              <a:t>treasury (Kosha)</a:t>
            </a:r>
            <a:r>
              <a:rPr lang="en-US" dirty="0"/>
              <a:t> and </a:t>
            </a:r>
            <a:r>
              <a:rPr lang="en-US" b="1" dirty="0"/>
              <a:t>state economy</a:t>
            </a:r>
            <a:r>
              <a:rPr lang="en-US" dirty="0"/>
              <a:t> were crucial elements of governance, especially as described in texts like the </a:t>
            </a:r>
            <a:r>
              <a:rPr lang="en-US" b="1" dirty="0"/>
              <a:t>Artha Shastra</a:t>
            </a:r>
            <a:r>
              <a:rPr lang="en-US" dirty="0"/>
              <a:t>, </a:t>
            </a:r>
            <a:r>
              <a:rPr lang="en-US" b="1" dirty="0" err="1"/>
              <a:t>Manusmriti</a:t>
            </a:r>
            <a:r>
              <a:rPr lang="en-US" dirty="0"/>
              <a:t>, and the </a:t>
            </a:r>
            <a:r>
              <a:rPr lang="en-US" b="1" dirty="0"/>
              <a:t>Indian epics</a:t>
            </a:r>
            <a:r>
              <a:rPr lang="en-US" dirty="0"/>
              <a:t>. The system was well-organized, revenue-driven, and linked closely with agriculture, trade, and ethical governance.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46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EC56-4F93-4E08-DF6D-6DAB6FEE6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6057"/>
            <a:ext cx="10515600" cy="56109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1. The Treasury (Kosha)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Kosha</a:t>
            </a:r>
            <a:r>
              <a:rPr lang="en-US" dirty="0"/>
              <a:t> was the </a:t>
            </a:r>
            <a:r>
              <a:rPr lang="en-US" b="1" dirty="0"/>
              <a:t>financial backbone</a:t>
            </a:r>
            <a:r>
              <a:rPr lang="en-US" dirty="0"/>
              <a:t> of the kingdom.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was </a:t>
            </a:r>
            <a:r>
              <a:rPr lang="en-US" b="1" dirty="0"/>
              <a:t>maintained by the king</a:t>
            </a:r>
            <a:r>
              <a:rPr lang="en-US" dirty="0"/>
              <a:t>, advised by the </a:t>
            </a:r>
            <a:r>
              <a:rPr lang="en-US" b="1" dirty="0"/>
              <a:t>Koshaadhyaksha</a:t>
            </a:r>
            <a:r>
              <a:rPr lang="en-US" dirty="0"/>
              <a:t> (Superintendent of Treasury).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Funds were used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Military expenses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Infrastructure (roads, irrigation)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Public welfare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Salaries of officials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Diplomatic missions and festivals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682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C28016-D936-199E-8A5C-A150AE3B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172534"/>
              </p:ext>
            </p:extLst>
          </p:nvPr>
        </p:nvGraphicFramePr>
        <p:xfrm>
          <a:off x="838200" y="1480888"/>
          <a:ext cx="10515600" cy="28346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421838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02376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84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Land Revenue (Bhaga)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Main source; share of agricultural produce, usually 1/6th.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747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Trade and Commerce Taxes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Customs duties, tolls, and merchant taxes.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8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Mines and Forests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Revenue from minerals, salt, and timber.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42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Tributes and Fines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Payments from vassal states and judicial fines.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38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Cattle and Animal Wealth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Taxes on livestock and dairy.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00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State Monopolies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Salt, alcohol, metals, and arms production.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487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18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8997-A3B8-49E8-85E3-DDD5016B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400"/>
            <a:ext cx="10515600" cy="577056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State Economy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economy was </a:t>
            </a:r>
            <a:r>
              <a:rPr lang="en-US" b="1" dirty="0"/>
              <a:t>agrarian</a:t>
            </a:r>
            <a:r>
              <a:rPr lang="en-US" dirty="0"/>
              <a:t>, but also supported by </a:t>
            </a:r>
            <a:r>
              <a:rPr lang="en-US" b="1" dirty="0"/>
              <a:t>trade, crafts, and industry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Emphasis on </a:t>
            </a:r>
            <a:r>
              <a:rPr lang="en-US" b="1" dirty="0"/>
              <a:t>self-sufficiency</a:t>
            </a:r>
            <a:r>
              <a:rPr lang="en-US" dirty="0"/>
              <a:t>, local production, and </a:t>
            </a:r>
            <a:r>
              <a:rPr lang="en-US" b="1" dirty="0"/>
              <a:t>ethical trade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981E8E-69C8-FECD-B69D-C46F8BB66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348030"/>
              </p:ext>
            </p:extLst>
          </p:nvPr>
        </p:nvGraphicFramePr>
        <p:xfrm>
          <a:off x="838200" y="2885440"/>
          <a:ext cx="10515600" cy="35661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045228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89077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04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Agriculture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State invested in irrigation, seeds, and land reforms.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18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Industry and Crafts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State promoted weavers, blacksmiths, potters through guilds (Shrenis).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575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Trade (Vanijya)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Both inland and maritime trade flourished. Ports like Lothal and Bharuch were vital.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85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Banking and Loans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Moneylenders existed; interest rates were regulated by law.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629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Coinage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Coins (e.g., punch-marked coins) made of silver, gold, and copper were in circulation.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322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58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D48F5-E675-571C-BA71-28C8E5136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5429"/>
            <a:ext cx="10515600" cy="5741534"/>
          </a:xfrm>
        </p:spPr>
        <p:txBody>
          <a:bodyPr/>
          <a:lstStyle/>
          <a:p>
            <a:pPr>
              <a:buNone/>
            </a:pPr>
            <a:r>
              <a:rPr lang="en-US" b="1" dirty="0"/>
              <a:t>Management and Accountability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Auditors</a:t>
            </a:r>
            <a:r>
              <a:rPr lang="en-US" dirty="0"/>
              <a:t> ensured that state funds were not misused.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Regular inspections</a:t>
            </a:r>
            <a:r>
              <a:rPr lang="en-US" dirty="0"/>
              <a:t> of treasuries, markets, and granaries.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Punishment for embezzlement</a:t>
            </a:r>
            <a:r>
              <a:rPr lang="en-US" dirty="0"/>
              <a:t> was severe under Kautilya’s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Surplus was </a:t>
            </a:r>
            <a:r>
              <a:rPr lang="en-US" b="1" dirty="0"/>
              <a:t>stored in emergency reserves</a:t>
            </a:r>
            <a:r>
              <a:rPr lang="en-US" dirty="0"/>
              <a:t> for famines or wars.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Philosophy of Economy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Economy served the </a:t>
            </a:r>
            <a:r>
              <a:rPr lang="en-US" b="1" dirty="0"/>
              <a:t>Dharma of the ruler</a:t>
            </a:r>
            <a:r>
              <a:rPr lang="en-US" dirty="0"/>
              <a:t>: welfare of subjects.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prosperous state was seen as one where </a:t>
            </a:r>
            <a:r>
              <a:rPr lang="en-US" b="1" dirty="0"/>
              <a:t>people are productive, taxes are fair</a:t>
            </a:r>
            <a:r>
              <a:rPr lang="en-US" dirty="0"/>
              <a:t>, and the treasury is full.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408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7893-A784-E563-2496-5F53E2674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304"/>
          </a:xfrm>
        </p:spPr>
        <p:txBody>
          <a:bodyPr>
            <a:normAutofit fontScale="90000"/>
          </a:bodyPr>
          <a:lstStyle/>
          <a:p>
            <a:r>
              <a:rPr lang="en-US" dirty="0"/>
              <a:t>Siddha System for Treating Human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472F-DF2A-EC99-9579-CB82BB2AC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53330"/>
            <a:ext cx="11353800" cy="545226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Siddha medicine is based on the belief that </a:t>
            </a:r>
            <a:r>
              <a:rPr lang="en-US" b="1" dirty="0"/>
              <a:t>the body is composed of the five elements (</a:t>
            </a:r>
            <a:r>
              <a:rPr lang="en-US" b="1" dirty="0" err="1"/>
              <a:t>Panchabootham</a:t>
            </a:r>
            <a:r>
              <a:rPr lang="en-US" b="1" dirty="0"/>
              <a:t>):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Earth (Prithvi)</a:t>
            </a:r>
          </a:p>
          <a:p>
            <a:pPr>
              <a:buFont typeface="+mj-lt"/>
              <a:buAutoNum type="arabicPeriod"/>
            </a:pPr>
            <a:r>
              <a:rPr lang="en-US" dirty="0"/>
              <a:t>Water (Appu)</a:t>
            </a:r>
          </a:p>
          <a:p>
            <a:pPr>
              <a:buFont typeface="+mj-lt"/>
              <a:buAutoNum type="arabicPeriod"/>
            </a:pPr>
            <a:r>
              <a:rPr lang="en-US" dirty="0"/>
              <a:t>Fire (Thee)</a:t>
            </a:r>
          </a:p>
          <a:p>
            <a:pPr>
              <a:buFont typeface="+mj-lt"/>
              <a:buAutoNum type="arabicPeriod"/>
            </a:pPr>
            <a:r>
              <a:rPr lang="en-US" dirty="0"/>
              <a:t>Air (Vayu)</a:t>
            </a:r>
          </a:p>
          <a:p>
            <a:pPr>
              <a:buFont typeface="+mj-lt"/>
              <a:buAutoNum type="arabicPeriod"/>
            </a:pPr>
            <a:r>
              <a:rPr lang="en-US" dirty="0"/>
              <a:t>Space (</a:t>
            </a:r>
            <a:r>
              <a:rPr lang="en-US" dirty="0" err="1"/>
              <a:t>Akasam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These elements combine to form </a:t>
            </a:r>
            <a:r>
              <a:rPr lang="en-IN" b="1" dirty="0"/>
              <a:t>three </a:t>
            </a:r>
            <a:r>
              <a:rPr lang="en-IN" b="1" dirty="0" err="1"/>
              <a:t>humors</a:t>
            </a:r>
            <a:r>
              <a:rPr lang="en-IN" b="1" dirty="0"/>
              <a:t> (</a:t>
            </a:r>
            <a:r>
              <a:rPr lang="en-IN" b="1" dirty="0" err="1"/>
              <a:t>Mukkuttram</a:t>
            </a:r>
            <a:r>
              <a:rPr lang="en-IN" b="1" dirty="0"/>
              <a:t>)</a:t>
            </a:r>
            <a:r>
              <a:rPr lang="en-IN" dirty="0"/>
              <a:t> that govern bodily functions: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/>
              <a:t>Vatham</a:t>
            </a:r>
            <a:r>
              <a:rPr lang="en-IN" dirty="0"/>
              <a:t> (Air + Space): Controls movement.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/>
              <a:t>Pitham</a:t>
            </a:r>
            <a:r>
              <a:rPr lang="en-IN" dirty="0"/>
              <a:t> (Fire): Governs metabolism and digestion.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/>
              <a:t>Kapham</a:t>
            </a:r>
            <a:r>
              <a:rPr lang="en-IN" dirty="0"/>
              <a:t> (Earth + Water): Maintains stability and structure.</a:t>
            </a:r>
          </a:p>
          <a:p>
            <a:r>
              <a:rPr lang="en-IN" b="1" dirty="0"/>
              <a:t>Health = Balance of </a:t>
            </a:r>
            <a:r>
              <a:rPr lang="en-IN" b="1" dirty="0" err="1"/>
              <a:t>Mukkuttram</a:t>
            </a:r>
            <a:br>
              <a:rPr lang="en-IN" dirty="0"/>
            </a:br>
            <a:r>
              <a:rPr lang="en-IN" b="1" dirty="0"/>
              <a:t>Disease = Imbalance of </a:t>
            </a:r>
            <a:r>
              <a:rPr lang="en-IN" b="1" dirty="0" err="1"/>
              <a:t>Mukkuttram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218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320F-5A6E-530D-33D6-A4A6B0B78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400"/>
            <a:ext cx="10515600" cy="57705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/>
              <a:t>Diagnosis (</a:t>
            </a:r>
            <a:r>
              <a:rPr lang="en-IN" b="1" dirty="0" err="1"/>
              <a:t>Noigal</a:t>
            </a:r>
            <a:r>
              <a:rPr lang="en-IN" b="1" dirty="0"/>
              <a:t> </a:t>
            </a:r>
            <a:r>
              <a:rPr lang="en-IN" b="1" dirty="0" err="1"/>
              <a:t>Neralvu</a:t>
            </a:r>
            <a:r>
              <a:rPr lang="en-IN" b="1" dirty="0"/>
              <a:t> Murai)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Diagnosis is both </a:t>
            </a:r>
            <a:r>
              <a:rPr lang="en-IN" b="1" dirty="0"/>
              <a:t>physical and spiritual</a:t>
            </a:r>
            <a:r>
              <a:rPr lang="en-IN" dirty="0"/>
              <a:t> and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Pulse reading (Nadi Pariksha)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Observation of tongue, eyes, urine, stool, voice, and skin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Evaluation of patient’s lifestyle and temperament (Udal </a:t>
            </a:r>
            <a:r>
              <a:rPr lang="en-IN" dirty="0" err="1"/>
              <a:t>Kattugal</a:t>
            </a:r>
            <a:r>
              <a:rPr lang="en-IN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lvl="1" indent="0">
              <a:buNone/>
            </a:pPr>
            <a:r>
              <a:rPr lang="en-IN" b="1" dirty="0"/>
              <a:t>Treatment Principles </a:t>
            </a:r>
            <a:endParaRPr lang="en-IN" dirty="0"/>
          </a:p>
          <a:p>
            <a:pPr marL="914400" lvl="1" indent="-457200">
              <a:buAutoNum type="arabicPeriod"/>
            </a:pPr>
            <a:r>
              <a:rPr lang="en-IN" dirty="0" err="1"/>
              <a:t>Unavu</a:t>
            </a:r>
            <a:r>
              <a:rPr lang="en-IN" dirty="0"/>
              <a:t> Maruthuvam</a:t>
            </a:r>
          </a:p>
          <a:p>
            <a:pPr marL="914400" lvl="1" indent="-457200">
              <a:buAutoNum type="arabicPeriod"/>
            </a:pPr>
            <a:r>
              <a:rPr lang="en-IN" dirty="0" err="1"/>
              <a:t>Mooligai</a:t>
            </a:r>
            <a:r>
              <a:rPr lang="en-IN" dirty="0"/>
              <a:t> Maruthuvam</a:t>
            </a:r>
          </a:p>
          <a:p>
            <a:pPr marL="914400" lvl="1" indent="-457200">
              <a:buAutoNum type="arabicPeriod"/>
            </a:pPr>
            <a:r>
              <a:rPr lang="en-IN" dirty="0" err="1"/>
              <a:t>Thathu</a:t>
            </a:r>
            <a:r>
              <a:rPr lang="en-IN" dirty="0"/>
              <a:t> Maruthuvam</a:t>
            </a:r>
          </a:p>
          <a:p>
            <a:pPr marL="914400" lvl="1" indent="-457200">
              <a:buAutoNum type="arabicPeriod"/>
            </a:pPr>
            <a:r>
              <a:rPr lang="en-IN" dirty="0"/>
              <a:t>Yoga and </a:t>
            </a:r>
            <a:r>
              <a:rPr lang="en-IN" dirty="0" err="1"/>
              <a:t>Kayakalpa</a:t>
            </a:r>
            <a:endParaRPr lang="en-IN" dirty="0"/>
          </a:p>
          <a:p>
            <a:pPr marL="914400" lvl="1" indent="-457200">
              <a:buAutoNum type="arabicPeriod"/>
            </a:pPr>
            <a:r>
              <a:rPr lang="en-IN" dirty="0" err="1"/>
              <a:t>Sirappu</a:t>
            </a:r>
            <a:r>
              <a:rPr lang="en-IN" dirty="0"/>
              <a:t> Maruthuvam</a:t>
            </a:r>
          </a:p>
          <a:p>
            <a:pPr marL="914400" lvl="1" indent="-457200">
              <a:buAutoNum type="arabicPeriod"/>
            </a:pPr>
            <a:r>
              <a:rPr lang="en-IN" dirty="0" err="1"/>
              <a:t>Varmam</a:t>
            </a:r>
            <a:r>
              <a:rPr lang="en-IN" dirty="0"/>
              <a:t> and </a:t>
            </a:r>
            <a:r>
              <a:rPr lang="en-IN" dirty="0" err="1"/>
              <a:t>Uzhichil</a:t>
            </a:r>
            <a:endParaRPr lang="en-IN" dirty="0"/>
          </a:p>
          <a:p>
            <a:pPr marL="914400" lvl="1" indent="-457200">
              <a:buAutoNum type="arabicPeriod"/>
            </a:pPr>
            <a:r>
              <a:rPr lang="en-IN" dirty="0" err="1"/>
              <a:t>Parpam</a:t>
            </a:r>
            <a:r>
              <a:rPr lang="en-IN" dirty="0"/>
              <a:t>, </a:t>
            </a:r>
            <a:r>
              <a:rPr lang="en-IN" dirty="0" err="1"/>
              <a:t>Chendooram</a:t>
            </a:r>
            <a:endParaRPr lang="en-IN" dirty="0"/>
          </a:p>
          <a:p>
            <a:pPr marL="914400" lvl="1" indent="-457200">
              <a:buAutoNum type="arabicPeriod"/>
            </a:pPr>
            <a:r>
              <a:rPr lang="en-US" dirty="0" err="1"/>
              <a:t>Dinacharya</a:t>
            </a:r>
            <a:r>
              <a:rPr lang="en-US" dirty="0"/>
              <a:t> and seasonal routine </a:t>
            </a:r>
            <a:r>
              <a:rPr lang="en-US" dirty="0" err="1"/>
              <a:t>Ritucharya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768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116B-03BD-04FD-EF3B-4ED19843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Kautilya's Artha Shastra-</a:t>
            </a:r>
            <a:r>
              <a:rPr lang="en-US" b="1" dirty="0" err="1"/>
              <a:t>Saptaanga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0E077F-C785-5A76-3FD4-42DEE1FCF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152202"/>
              </p:ext>
            </p:extLst>
          </p:nvPr>
        </p:nvGraphicFramePr>
        <p:xfrm>
          <a:off x="1190171" y="1320800"/>
          <a:ext cx="9927771" cy="4864079"/>
        </p:xfrm>
        <a:graphic>
          <a:graphicData uri="http://schemas.openxmlformats.org/drawingml/2006/table">
            <a:tbl>
              <a:tblPr/>
              <a:tblGrid>
                <a:gridCol w="3309257">
                  <a:extLst>
                    <a:ext uri="{9D8B030D-6E8A-4147-A177-3AD203B41FA5}">
                      <a16:colId xmlns:a16="http://schemas.microsoft.com/office/drawing/2014/main" val="745815609"/>
                    </a:ext>
                  </a:extLst>
                </a:gridCol>
                <a:gridCol w="3309257">
                  <a:extLst>
                    <a:ext uri="{9D8B030D-6E8A-4147-A177-3AD203B41FA5}">
                      <a16:colId xmlns:a16="http://schemas.microsoft.com/office/drawing/2014/main" val="2367216417"/>
                    </a:ext>
                  </a:extLst>
                </a:gridCol>
                <a:gridCol w="3309257">
                  <a:extLst>
                    <a:ext uri="{9D8B030D-6E8A-4147-A177-3AD203B41FA5}">
                      <a16:colId xmlns:a16="http://schemas.microsoft.com/office/drawing/2014/main" val="2215154121"/>
                    </a:ext>
                  </a:extLst>
                </a:gridCol>
              </a:tblGrid>
              <a:tr h="226094">
                <a:tc>
                  <a:txBody>
                    <a:bodyPr/>
                    <a:lstStyle/>
                    <a:p>
                      <a:r>
                        <a:rPr lang="en-IN" sz="1000"/>
                        <a:t>No.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Element (Sanskrit)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Meaning / Role in Governance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561032"/>
                  </a:ext>
                </a:extLst>
              </a:tr>
              <a:tr h="735315">
                <a:tc>
                  <a:txBody>
                    <a:bodyPr/>
                    <a:lstStyle/>
                    <a:p>
                      <a:r>
                        <a:rPr lang="en-IN" sz="1000"/>
                        <a:t>1.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Swamin</a:t>
                      </a:r>
                      <a:r>
                        <a:rPr lang="en-IN" sz="1000"/>
                        <a:t> (The King/Ruler)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The head of the state who governs according to Dharma; responsible for security, justice, and welfare.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244703"/>
                  </a:ext>
                </a:extLst>
              </a:tr>
              <a:tr h="565575">
                <a:tc>
                  <a:txBody>
                    <a:bodyPr/>
                    <a:lstStyle/>
                    <a:p>
                      <a:r>
                        <a:rPr lang="en-IN" sz="1000"/>
                        <a:t>2.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Amatya</a:t>
                      </a:r>
                      <a:r>
                        <a:rPr lang="en-IN" sz="1000"/>
                        <a:t> (Ministers/Officials)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Well-trained advisors and administrators who assist in governance and policy execution.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033045"/>
                  </a:ext>
                </a:extLst>
              </a:tr>
              <a:tr h="565575">
                <a:tc>
                  <a:txBody>
                    <a:bodyPr/>
                    <a:lstStyle/>
                    <a:p>
                      <a:r>
                        <a:rPr lang="en-IN" sz="1000"/>
                        <a:t>3.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Janapada</a:t>
                      </a:r>
                      <a:r>
                        <a:rPr lang="en-IN" sz="1000"/>
                        <a:t> (Territory &amp; People)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The land and its population; includes citizens' welfare, productivity, and protection.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94398"/>
                  </a:ext>
                </a:extLst>
              </a:tr>
              <a:tr h="735315">
                <a:tc>
                  <a:txBody>
                    <a:bodyPr/>
                    <a:lstStyle/>
                    <a:p>
                      <a:r>
                        <a:rPr lang="en-IN" sz="1000"/>
                        <a:t>4.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Durga</a:t>
                      </a:r>
                      <a:r>
                        <a:rPr lang="en-IN" sz="1000"/>
                        <a:t> (Fortified Capital)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The administrative and military center; emphasizes town planning, defense, and infrastructure.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770416"/>
                  </a:ext>
                </a:extLst>
              </a:tr>
              <a:tr h="735315">
                <a:tc>
                  <a:txBody>
                    <a:bodyPr/>
                    <a:lstStyle/>
                    <a:p>
                      <a:r>
                        <a:rPr lang="en-IN" sz="1000"/>
                        <a:t>5.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Kosha</a:t>
                      </a:r>
                      <a:r>
                        <a:rPr lang="en-IN" sz="1000"/>
                        <a:t> (Treasury)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State finances; supports administration, welfare programs, defense, and economic development.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948580"/>
                  </a:ext>
                </a:extLst>
              </a:tr>
              <a:tr h="735315">
                <a:tc>
                  <a:txBody>
                    <a:bodyPr/>
                    <a:lstStyle/>
                    <a:p>
                      <a:r>
                        <a:rPr lang="en-IN" sz="1000"/>
                        <a:t>6.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Danda</a:t>
                      </a:r>
                      <a:r>
                        <a:rPr lang="en-IN" sz="1000"/>
                        <a:t> (Law and Force)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The system of justice and law enforcement; ensures order through fair punishment and discipline.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07793"/>
                  </a:ext>
                </a:extLst>
              </a:tr>
              <a:tr h="565575">
                <a:tc>
                  <a:txBody>
                    <a:bodyPr/>
                    <a:lstStyle/>
                    <a:p>
                      <a:r>
                        <a:rPr lang="en-IN" sz="1000"/>
                        <a:t>7.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Mitra</a:t>
                      </a:r>
                      <a:r>
                        <a:rPr lang="en-IN" sz="1000"/>
                        <a:t> (Ally)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Foreign relations and diplomacy; allies support defense, trade, and political stability.</a:t>
                      </a:r>
                    </a:p>
                  </a:txBody>
                  <a:tcPr marL="50597" marR="50597" marT="25298" marB="25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772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50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1768</Words>
  <Application>Microsoft Office PowerPoint</Application>
  <PresentationFormat>Widescreen</PresentationFormat>
  <Paragraphs>230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MODULE – V  Traditional Knowledge in Professional domain</vt:lpstr>
      <vt:lpstr>Town planning and architecture</vt:lpstr>
      <vt:lpstr>PowerPoint Presentation</vt:lpstr>
      <vt:lpstr>PowerPoint Presentation</vt:lpstr>
      <vt:lpstr>PowerPoint Presentation</vt:lpstr>
      <vt:lpstr>Raja Dharma (Arthashastra)</vt:lpstr>
      <vt:lpstr>Comparison of Raja Dharma in Arthashastra vs Manusmriti</vt:lpstr>
      <vt:lpstr>Kautilya Arthashastra</vt:lpstr>
      <vt:lpstr>Health and Disease treatment on Unani</vt:lpstr>
      <vt:lpstr>PowerPoint Presentation</vt:lpstr>
      <vt:lpstr>Indian Epics- Public Administration </vt:lpstr>
      <vt:lpstr>Ancient India- Treasury and State Economy</vt:lpstr>
      <vt:lpstr>PowerPoint Presentation</vt:lpstr>
      <vt:lpstr>PowerPoint Presentation</vt:lpstr>
      <vt:lpstr>PowerPoint Presentation</vt:lpstr>
      <vt:lpstr>PowerPoint Presentation</vt:lpstr>
      <vt:lpstr>Siddha System for Treating Human Diseases</vt:lpstr>
      <vt:lpstr>PowerPoint Presentation</vt:lpstr>
      <vt:lpstr>Kautilya's Artha Shastra-Saptaanga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Sireesha CSE</dc:creator>
  <cp:lastModifiedBy>Sireesha CSE</cp:lastModifiedBy>
  <cp:revision>38</cp:revision>
  <dcterms:created xsi:type="dcterms:W3CDTF">2025-05-07T06:35:03Z</dcterms:created>
  <dcterms:modified xsi:type="dcterms:W3CDTF">2025-05-10T14:48:18Z</dcterms:modified>
</cp:coreProperties>
</file>