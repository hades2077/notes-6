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99" r:id="rId22"/>
    <p:sldId id="300" r:id="rId23"/>
    <p:sldId id="301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302" r:id="rId48"/>
    <p:sldId id="303" r:id="rId49"/>
    <p:sldId id="304" r:id="rId50"/>
    <p:sldId id="305" r:id="rId51"/>
    <p:sldId id="306" r:id="rId52"/>
    <p:sldId id="307" r:id="rId5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91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676"/>
            <a:ext cx="1012063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93493"/>
            <a:ext cx="10358755" cy="4674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66085" y="1647266"/>
            <a:ext cx="6268720" cy="179451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 marR="5080" indent="-8255" algn="ctr">
              <a:lnSpc>
                <a:spcPct val="90000"/>
              </a:lnSpc>
              <a:spcBef>
                <a:spcPts val="635"/>
              </a:spcBef>
            </a:pPr>
            <a:r>
              <a:rPr dirty="0"/>
              <a:t>Indian</a:t>
            </a:r>
            <a:r>
              <a:rPr spc="-90" dirty="0"/>
              <a:t> </a:t>
            </a:r>
            <a:r>
              <a:rPr spc="-10" dirty="0"/>
              <a:t>Knowledge</a:t>
            </a:r>
            <a:r>
              <a:rPr spc="-75" dirty="0"/>
              <a:t> </a:t>
            </a:r>
            <a:r>
              <a:rPr spc="-10" dirty="0"/>
              <a:t>System </a:t>
            </a:r>
            <a:r>
              <a:rPr sz="3600" dirty="0"/>
              <a:t>Engineering</a:t>
            </a:r>
            <a:r>
              <a:rPr sz="3600" spc="-85" dirty="0"/>
              <a:t> </a:t>
            </a:r>
            <a:r>
              <a:rPr sz="3600" dirty="0"/>
              <a:t>and</a:t>
            </a:r>
            <a:r>
              <a:rPr sz="3600" spc="-85" dirty="0"/>
              <a:t> </a:t>
            </a:r>
            <a:r>
              <a:rPr sz="3600" spc="-30" dirty="0"/>
              <a:t>Technology</a:t>
            </a:r>
            <a:r>
              <a:rPr sz="3600" spc="-95" dirty="0"/>
              <a:t> </a:t>
            </a:r>
            <a:r>
              <a:rPr sz="3600" dirty="0"/>
              <a:t>in</a:t>
            </a:r>
            <a:r>
              <a:rPr sz="3600" spc="-90" dirty="0"/>
              <a:t> </a:t>
            </a:r>
            <a:r>
              <a:rPr sz="3600" spc="-25" dirty="0"/>
              <a:t>IKS </a:t>
            </a:r>
            <a:r>
              <a:rPr dirty="0"/>
              <a:t>UNIT</a:t>
            </a:r>
            <a:r>
              <a:rPr spc="-20" dirty="0"/>
              <a:t> </a:t>
            </a:r>
            <a:r>
              <a:rPr spc="-50" dirty="0"/>
              <a:t>4</a:t>
            </a:r>
            <a:endParaRPr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Engineering and </a:t>
            </a:r>
            <a:r>
              <a:rPr spc="-35" dirty="0"/>
              <a:t>Technology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358120" cy="301117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715" indent="-227965" algn="just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Science,</a:t>
            </a:r>
            <a:r>
              <a:rPr sz="2800" spc="3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Engineering</a:t>
            </a:r>
            <a:r>
              <a:rPr sz="2800" spc="4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4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Technology</a:t>
            </a:r>
            <a:r>
              <a:rPr sz="2800" spc="4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4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4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buzzwords</a:t>
            </a:r>
            <a:r>
              <a:rPr sz="2800" spc="3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4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39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last 	</a:t>
            </a:r>
            <a:r>
              <a:rPr sz="2800" dirty="0">
                <a:latin typeface="Calibri"/>
                <a:cs typeface="Calibri"/>
              </a:rPr>
              <a:t>two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centuries.</a:t>
            </a:r>
            <a:endParaRPr sz="2800">
              <a:latin typeface="Calibri"/>
              <a:cs typeface="Calibri"/>
            </a:endParaRPr>
          </a:p>
          <a:p>
            <a:pPr marL="240029" marR="6350" indent="-227965" algn="just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Everything</a:t>
            </a:r>
            <a:r>
              <a:rPr sz="2800" spc="1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learn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our</a:t>
            </a:r>
            <a:r>
              <a:rPr sz="2800" spc="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educational</a:t>
            </a:r>
            <a:r>
              <a:rPr sz="2800" spc="1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system</a:t>
            </a:r>
            <a:r>
              <a:rPr sz="2800" spc="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today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</a:t>
            </a:r>
            <a:r>
              <a:rPr sz="2800" spc="1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&amp;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</a:t>
            </a:r>
            <a:r>
              <a:rPr sz="2800" spc="1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its 	</a:t>
            </a:r>
            <a:r>
              <a:rPr sz="2800" dirty="0">
                <a:latin typeface="Calibri"/>
                <a:cs typeface="Calibri"/>
              </a:rPr>
              <a:t>origin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west.</a:t>
            </a:r>
            <a:endParaRPr sz="2800">
              <a:latin typeface="Calibri"/>
              <a:cs typeface="Calibri"/>
            </a:endParaRPr>
          </a:p>
          <a:p>
            <a:pPr marL="239395" marR="5080" indent="-227329" algn="just">
              <a:lnSpc>
                <a:spcPts val="303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There</a:t>
            </a:r>
            <a:r>
              <a:rPr sz="2800" spc="3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have</a:t>
            </a:r>
            <a:r>
              <a:rPr sz="2800" spc="3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been</a:t>
            </a:r>
            <a:r>
              <a:rPr sz="2800" spc="3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more</a:t>
            </a:r>
            <a:r>
              <a:rPr sz="2800" spc="3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activities</a:t>
            </a:r>
            <a:r>
              <a:rPr sz="2800" spc="3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3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3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Indian</a:t>
            </a:r>
            <a:r>
              <a:rPr sz="2800" spc="3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</a:t>
            </a:r>
            <a:r>
              <a:rPr sz="2800" spc="3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&amp;</a:t>
            </a:r>
            <a:r>
              <a:rPr sz="2800" spc="3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</a:t>
            </a:r>
            <a:r>
              <a:rPr sz="2800" spc="3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sector,</a:t>
            </a:r>
            <a:r>
              <a:rPr sz="2800" spc="3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3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we 	</a:t>
            </a:r>
            <a:r>
              <a:rPr sz="2800" dirty="0">
                <a:latin typeface="Calibri"/>
                <a:cs typeface="Calibri"/>
              </a:rPr>
              <a:t>seem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catching up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 cutting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edge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technology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10" dirty="0">
                <a:latin typeface="Calibri"/>
                <a:cs typeface="Calibri"/>
              </a:rPr>
              <a:t> world 	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great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difficulty.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-15" dirty="0"/>
              <a:t> </a:t>
            </a:r>
            <a:r>
              <a:rPr dirty="0"/>
              <a:t>Indian</a:t>
            </a:r>
            <a:r>
              <a:rPr spc="-10" dirty="0"/>
              <a:t> </a:t>
            </a:r>
            <a:r>
              <a:rPr dirty="0"/>
              <a:t>S</a:t>
            </a:r>
            <a:r>
              <a:rPr spc="-10" dirty="0"/>
              <a:t>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T</a:t>
            </a:r>
            <a:r>
              <a:rPr spc="-5" dirty="0"/>
              <a:t> </a:t>
            </a:r>
            <a:r>
              <a:rPr spc="-10" dirty="0"/>
              <a:t>Heritage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359390" cy="35725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  <a:tab pos="1313815" algn="l"/>
                <a:tab pos="2999740" algn="l"/>
                <a:tab pos="3669029" algn="l"/>
                <a:tab pos="4011929" algn="l"/>
                <a:tab pos="4728210" algn="l"/>
                <a:tab pos="6094095" algn="l"/>
                <a:tab pos="7572375" algn="l"/>
                <a:tab pos="8389620" algn="l"/>
                <a:tab pos="9044940" algn="l"/>
              </a:tabLst>
            </a:pPr>
            <a:r>
              <a:rPr sz="2800" spc="-10" dirty="0">
                <a:latin typeface="Calibri"/>
                <a:cs typeface="Calibri"/>
              </a:rPr>
              <a:t>Indian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civilization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has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0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rich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heritage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spanning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over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recorded 	</a:t>
            </a:r>
            <a:r>
              <a:rPr sz="2800" dirty="0">
                <a:latin typeface="Calibri"/>
                <a:cs typeface="Calibri"/>
              </a:rPr>
              <a:t>history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last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two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millennia.</a:t>
            </a:r>
            <a:endParaRPr sz="2800">
              <a:latin typeface="Calibri"/>
              <a:cs typeface="Calibri"/>
            </a:endParaRPr>
          </a:p>
          <a:p>
            <a:pPr marL="240029" marR="6985" indent="-227965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  <a:tab pos="2094230" algn="l"/>
                <a:tab pos="2483485" algn="l"/>
                <a:tab pos="4257040" algn="l"/>
                <a:tab pos="5126355" algn="l"/>
                <a:tab pos="5871210" algn="l"/>
                <a:tab pos="6316345" algn="l"/>
                <a:tab pos="7529830" algn="l"/>
                <a:tab pos="8581390" algn="l"/>
                <a:tab pos="9806940" algn="l"/>
              </a:tabLst>
            </a:pPr>
            <a:r>
              <a:rPr sz="2800" spc="-10" dirty="0">
                <a:latin typeface="Calibri"/>
                <a:cs typeface="Calibri"/>
              </a:rPr>
              <a:t>Engineering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0" dirty="0">
                <a:latin typeface="Calibri"/>
                <a:cs typeface="Calibri"/>
              </a:rPr>
              <a:t>&amp;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Technology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were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part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ancient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Indian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society.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dirty="0">
                <a:latin typeface="Calibri"/>
                <a:cs typeface="Calibri"/>
              </a:rPr>
              <a:t>evidence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could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following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three:</a:t>
            </a:r>
            <a:endParaRPr sz="2800">
              <a:latin typeface="Calibri"/>
              <a:cs typeface="Calibri"/>
            </a:endParaRPr>
          </a:p>
          <a:p>
            <a:pPr marL="927100" marR="8255" lvl="1" indent="-457200">
              <a:lnSpc>
                <a:spcPts val="2590"/>
              </a:lnSpc>
              <a:spcBef>
                <a:spcPts val="525"/>
              </a:spcBef>
              <a:buAutoNum type="alphaLcParenR"/>
              <a:tabLst>
                <a:tab pos="927100" algn="l"/>
              </a:tabLst>
            </a:pPr>
            <a:r>
              <a:rPr sz="2400" dirty="0">
                <a:latin typeface="Calibri"/>
                <a:cs typeface="Calibri"/>
              </a:rPr>
              <a:t>The archaeological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evidence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shows how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&amp; T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ought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been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deployed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ancient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times.</a:t>
            </a:r>
            <a:endParaRPr sz="2400">
              <a:latin typeface="Calibri"/>
              <a:cs typeface="Calibri"/>
            </a:endParaRPr>
          </a:p>
          <a:p>
            <a:pPr marL="927100" marR="6350" lvl="1" indent="-457200">
              <a:lnSpc>
                <a:spcPts val="2590"/>
              </a:lnSpc>
              <a:spcBef>
                <a:spcPts val="509"/>
              </a:spcBef>
              <a:buAutoNum type="alphaLcParenR"/>
              <a:tabLst>
                <a:tab pos="927100" algn="l"/>
              </a:tabLst>
            </a:pPr>
            <a:r>
              <a:rPr sz="2400" dirty="0">
                <a:latin typeface="Calibri"/>
                <a:cs typeface="Calibri"/>
              </a:rPr>
              <a:t>Living</a:t>
            </a:r>
            <a:r>
              <a:rPr sz="2400" spc="3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examples</a:t>
            </a:r>
            <a:r>
              <a:rPr sz="2400" spc="3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3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physical</a:t>
            </a:r>
            <a:r>
              <a:rPr sz="2400" spc="3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entities</a:t>
            </a:r>
            <a:r>
              <a:rPr sz="2400" spc="3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3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</a:t>
            </a:r>
            <a:r>
              <a:rPr sz="2400" spc="3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3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3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3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3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good</a:t>
            </a:r>
            <a:r>
              <a:rPr sz="2400" spc="3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3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&amp;</a:t>
            </a:r>
            <a:r>
              <a:rPr sz="2400" spc="37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T </a:t>
            </a:r>
            <a:r>
              <a:rPr sz="2400" spc="-10" dirty="0">
                <a:latin typeface="Calibri"/>
                <a:cs typeface="Calibri"/>
              </a:rPr>
              <a:t>practices</a:t>
            </a:r>
            <a:endParaRPr sz="2400">
              <a:latin typeface="Calibri"/>
              <a:cs typeface="Calibri"/>
            </a:endParaRPr>
          </a:p>
          <a:p>
            <a:pPr marL="927100" lvl="1" indent="-457200">
              <a:lnSpc>
                <a:spcPct val="100000"/>
              </a:lnSpc>
              <a:spcBef>
                <a:spcPts val="180"/>
              </a:spcBef>
              <a:buAutoNum type="alphaLcParenR"/>
              <a:tabLst>
                <a:tab pos="927100" algn="l"/>
              </a:tabLst>
            </a:pPr>
            <a:r>
              <a:rPr sz="2400" dirty="0">
                <a:latin typeface="Calibri"/>
                <a:cs typeface="Calibri"/>
              </a:rPr>
              <a:t>Literary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resources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pointing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&amp;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ancient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times.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-15" dirty="0"/>
              <a:t> </a:t>
            </a:r>
            <a:r>
              <a:rPr dirty="0"/>
              <a:t>Indian</a:t>
            </a:r>
            <a:r>
              <a:rPr spc="-10" dirty="0"/>
              <a:t> </a:t>
            </a:r>
            <a:r>
              <a:rPr dirty="0"/>
              <a:t>S</a:t>
            </a:r>
            <a:r>
              <a:rPr spc="-10" dirty="0"/>
              <a:t>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T</a:t>
            </a:r>
            <a:r>
              <a:rPr spc="-5" dirty="0"/>
              <a:t> </a:t>
            </a:r>
            <a:r>
              <a:rPr spc="-10" dirty="0"/>
              <a:t>Heritage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360660" cy="416369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 algn="just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India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known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its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vibrant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cultural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diversity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long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history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of 	</a:t>
            </a:r>
            <a:r>
              <a:rPr sz="2800" spc="-10" dirty="0">
                <a:latin typeface="Calibri"/>
                <a:cs typeface="Calibri"/>
              </a:rPr>
              <a:t>developments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science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technology.</a:t>
            </a:r>
            <a:endParaRPr sz="2800">
              <a:latin typeface="Calibri"/>
              <a:cs typeface="Calibri"/>
            </a:endParaRPr>
          </a:p>
          <a:p>
            <a:pPr marL="240029" marR="5715" indent="-227965" algn="just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Basics</a:t>
            </a:r>
            <a:r>
              <a:rPr sz="2800" spc="42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42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mathematics,</a:t>
            </a:r>
            <a:r>
              <a:rPr sz="2800" spc="41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astronomy,</a:t>
            </a:r>
            <a:r>
              <a:rPr sz="2800" spc="42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medicine,</a:t>
            </a:r>
            <a:r>
              <a:rPr sz="2800" spc="42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metallurgy,</a:t>
            </a:r>
            <a:r>
              <a:rPr sz="2800" spc="415" dirty="0">
                <a:latin typeface="Calibri"/>
                <a:cs typeface="Calibri"/>
              </a:rPr>
              <a:t>  </a:t>
            </a:r>
            <a:r>
              <a:rPr sz="2800" spc="-20" dirty="0">
                <a:latin typeface="Calibri"/>
                <a:cs typeface="Calibri"/>
              </a:rPr>
              <a:t>ship 	</a:t>
            </a:r>
            <a:r>
              <a:rPr sz="2800" dirty="0">
                <a:latin typeface="Calibri"/>
                <a:cs typeface="Calibri"/>
              </a:rPr>
              <a:t>building,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town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planning,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harvesting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water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power,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textiles,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technical 	</a:t>
            </a:r>
            <a:r>
              <a:rPr sz="2800" dirty="0">
                <a:latin typeface="Calibri"/>
                <a:cs typeface="Calibri"/>
              </a:rPr>
              <a:t>craft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were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parts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cultural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life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India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thousands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years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ago.</a:t>
            </a:r>
            <a:endParaRPr sz="2800">
              <a:latin typeface="Calibri"/>
              <a:cs typeface="Calibri"/>
            </a:endParaRPr>
          </a:p>
          <a:p>
            <a:pPr marL="240029" marR="6350" indent="-227965" algn="just">
              <a:lnSpc>
                <a:spcPct val="90000"/>
              </a:lnSpc>
              <a:spcBef>
                <a:spcPts val="96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Some</a:t>
            </a:r>
            <a:r>
              <a:rPr sz="2800" spc="3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4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40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basic</a:t>
            </a:r>
            <a:r>
              <a:rPr sz="2800" spc="4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discoveries</a:t>
            </a:r>
            <a:r>
              <a:rPr sz="2800" spc="4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4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mathematics</a:t>
            </a:r>
            <a:r>
              <a:rPr sz="2800" spc="40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were</a:t>
            </a:r>
            <a:r>
              <a:rPr sz="2800" spc="4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made</a:t>
            </a:r>
            <a:r>
              <a:rPr sz="2800" spc="4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409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India. 	</a:t>
            </a:r>
            <a:r>
              <a:rPr sz="2800" dirty="0">
                <a:latin typeface="Calibri"/>
                <a:cs typeface="Calibri"/>
              </a:rPr>
              <a:t>Invention,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assimilation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modification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techniques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processes 	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various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fields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science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technology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continue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even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today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with 	</a:t>
            </a:r>
            <a:r>
              <a:rPr sz="2800" dirty="0">
                <a:latin typeface="Calibri"/>
                <a:cs typeface="Calibri"/>
              </a:rPr>
              <a:t>greater</a:t>
            </a:r>
            <a:r>
              <a:rPr sz="2800" spc="6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vigour</a:t>
            </a:r>
            <a:r>
              <a:rPr sz="2800" spc="6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3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3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nation</a:t>
            </a:r>
            <a:r>
              <a:rPr sz="2800" spc="3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marches</a:t>
            </a:r>
            <a:r>
              <a:rPr sz="2800" spc="3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ahead</a:t>
            </a:r>
            <a:r>
              <a:rPr sz="2800" spc="3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become</a:t>
            </a:r>
            <a:r>
              <a:rPr sz="2800" spc="3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30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strong 	</a:t>
            </a:r>
            <a:r>
              <a:rPr sz="2800" dirty="0">
                <a:latin typeface="Calibri"/>
                <a:cs typeface="Calibri"/>
              </a:rPr>
              <a:t>country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world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science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technology.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-15" dirty="0"/>
              <a:t> </a:t>
            </a:r>
            <a:r>
              <a:rPr dirty="0"/>
              <a:t>Indian</a:t>
            </a:r>
            <a:r>
              <a:rPr spc="-10" dirty="0"/>
              <a:t> </a:t>
            </a:r>
            <a:r>
              <a:rPr dirty="0"/>
              <a:t>S</a:t>
            </a:r>
            <a:r>
              <a:rPr spc="-10" dirty="0"/>
              <a:t>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T</a:t>
            </a:r>
            <a:r>
              <a:rPr spc="-5" dirty="0"/>
              <a:t> </a:t>
            </a:r>
            <a:r>
              <a:rPr spc="-10" dirty="0"/>
              <a:t>Heritage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359390" cy="3653154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029" marR="5080" indent="-227965" algn="just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3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story</a:t>
            </a:r>
            <a:r>
              <a:rPr sz="2800" spc="3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3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ancient</a:t>
            </a:r>
            <a:r>
              <a:rPr sz="2800" spc="3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Indian</a:t>
            </a:r>
            <a:r>
              <a:rPr sz="2800" spc="3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science</a:t>
            </a:r>
            <a:r>
              <a:rPr sz="2800" spc="3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3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technology</a:t>
            </a:r>
            <a:r>
              <a:rPr sz="2800" spc="3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development</a:t>
            </a:r>
            <a:r>
              <a:rPr sz="2800" spc="3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is 	</a:t>
            </a:r>
            <a:r>
              <a:rPr sz="2800" dirty="0">
                <a:latin typeface="Calibri"/>
                <a:cs typeface="Calibri"/>
              </a:rPr>
              <a:t>presented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here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through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sections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physical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concepts,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mathematics, 	</a:t>
            </a:r>
            <a:r>
              <a:rPr sz="2800" dirty="0">
                <a:latin typeface="Calibri"/>
                <a:cs typeface="Calibri"/>
              </a:rPr>
              <a:t>astronomy,</a:t>
            </a:r>
            <a:r>
              <a:rPr sz="2800" spc="3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metals</a:t>
            </a:r>
            <a:r>
              <a:rPr sz="2800" spc="3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3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metallurgy,</a:t>
            </a:r>
            <a:r>
              <a:rPr sz="2800" spc="3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town</a:t>
            </a:r>
            <a:r>
              <a:rPr sz="2800" spc="3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planning</a:t>
            </a:r>
            <a:r>
              <a:rPr sz="2800" spc="3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3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architecture, 	</a:t>
            </a:r>
            <a:r>
              <a:rPr sz="2800" dirty="0">
                <a:latin typeface="Calibri"/>
                <a:cs typeface="Calibri"/>
              </a:rPr>
              <a:t>technical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crafts,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coin</a:t>
            </a:r>
            <a:r>
              <a:rPr sz="2800" spc="2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minting,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water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technology,</a:t>
            </a:r>
            <a:r>
              <a:rPr sz="2800" spc="22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medicine,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maritime 	</a:t>
            </a:r>
            <a:r>
              <a:rPr sz="2800" dirty="0">
                <a:latin typeface="Calibri"/>
                <a:cs typeface="Calibri"/>
              </a:rPr>
              <a:t>activities,</a:t>
            </a:r>
            <a:r>
              <a:rPr sz="2800" spc="35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glass</a:t>
            </a:r>
            <a:r>
              <a:rPr sz="2800" spc="36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technology,</a:t>
            </a:r>
            <a:r>
              <a:rPr sz="2800" spc="36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perfumery,</a:t>
            </a:r>
            <a:r>
              <a:rPr sz="2800" spc="35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earth</a:t>
            </a:r>
            <a:r>
              <a:rPr sz="2800" spc="36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sciences,</a:t>
            </a:r>
            <a:r>
              <a:rPr sz="2800" spc="355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musical 	instruments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agriculture.</a:t>
            </a:r>
            <a:endParaRPr sz="2800">
              <a:latin typeface="Calibri"/>
              <a:cs typeface="Calibri"/>
            </a:endParaRPr>
          </a:p>
          <a:p>
            <a:pPr marL="240029" marR="6985" indent="-227965" algn="just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26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exhibition</a:t>
            </a:r>
            <a:r>
              <a:rPr sz="2800" spc="26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portrays</a:t>
            </a:r>
            <a:r>
              <a:rPr sz="2800" spc="26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5000</a:t>
            </a:r>
            <a:r>
              <a:rPr sz="2800" spc="2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years</a:t>
            </a:r>
            <a:r>
              <a:rPr sz="2800" spc="26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26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Science</a:t>
            </a:r>
            <a:r>
              <a:rPr sz="2800" spc="26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254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Technology 	</a:t>
            </a:r>
            <a:r>
              <a:rPr sz="2800" dirty="0">
                <a:latin typeface="Calibri"/>
                <a:cs typeface="Calibri"/>
              </a:rPr>
              <a:t>Heritage</a:t>
            </a:r>
            <a:r>
              <a:rPr sz="2800" spc="5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5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India</a:t>
            </a:r>
            <a:r>
              <a:rPr sz="2800" spc="5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through</a:t>
            </a:r>
            <a:r>
              <a:rPr sz="2800" spc="5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varied</a:t>
            </a:r>
            <a:r>
              <a:rPr sz="2800" spc="5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period</a:t>
            </a:r>
            <a:r>
              <a:rPr sz="2800" spc="5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setting</a:t>
            </a:r>
            <a:r>
              <a:rPr sz="2800" spc="5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dioramas,</a:t>
            </a:r>
            <a:r>
              <a:rPr sz="2800" spc="6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models, 	interactive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exhibits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multimedia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kiosks.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-15" dirty="0"/>
              <a:t> </a:t>
            </a:r>
            <a:r>
              <a:rPr dirty="0"/>
              <a:t>Indian</a:t>
            </a:r>
            <a:r>
              <a:rPr spc="-10" dirty="0"/>
              <a:t> </a:t>
            </a:r>
            <a:r>
              <a:rPr dirty="0"/>
              <a:t>S</a:t>
            </a:r>
            <a:r>
              <a:rPr spc="-10" dirty="0"/>
              <a:t>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T</a:t>
            </a:r>
            <a:r>
              <a:rPr spc="-5" dirty="0"/>
              <a:t> </a:t>
            </a:r>
            <a:r>
              <a:rPr spc="-10" dirty="0"/>
              <a:t>Heritage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362565" cy="429006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029" marR="5080" indent="-227965" algn="just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  <a:tab pos="2583815" algn="l"/>
                <a:tab pos="4286250" algn="l"/>
                <a:tab pos="5774055" algn="l"/>
                <a:tab pos="7636509" algn="l"/>
                <a:tab pos="9648825" algn="l"/>
              </a:tabLst>
            </a:pPr>
            <a:r>
              <a:rPr sz="2800" dirty="0">
                <a:latin typeface="Calibri"/>
                <a:cs typeface="Calibri"/>
              </a:rPr>
              <a:t>Mining</a:t>
            </a:r>
            <a:r>
              <a:rPr sz="2800" spc="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5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extraction</a:t>
            </a:r>
            <a:r>
              <a:rPr sz="2800" spc="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5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valuable</a:t>
            </a:r>
            <a:r>
              <a:rPr sz="2800" spc="5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minerals</a:t>
            </a:r>
            <a:r>
              <a:rPr sz="2800" spc="5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other</a:t>
            </a:r>
            <a:r>
              <a:rPr sz="2800" spc="50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geological 	materials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from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Earth,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usually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from 	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body,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lode,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vein,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seam,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reef,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placer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deposit.</a:t>
            </a:r>
            <a:endParaRPr sz="2800" dirty="0">
              <a:latin typeface="Calibri"/>
              <a:cs typeface="Calibri"/>
            </a:endParaRPr>
          </a:p>
          <a:p>
            <a:pPr marL="240029" marR="13970" indent="-227965" algn="just">
              <a:lnSpc>
                <a:spcPts val="3020"/>
              </a:lnSpc>
              <a:spcBef>
                <a:spcPts val="105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3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history</a:t>
            </a:r>
            <a:r>
              <a:rPr sz="2800" spc="3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3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metallurgy</a:t>
            </a:r>
            <a:r>
              <a:rPr sz="2800" spc="3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3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3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Indian</a:t>
            </a:r>
            <a:r>
              <a:rPr sz="2800" spc="3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subcontinent</a:t>
            </a:r>
            <a:r>
              <a:rPr sz="2800" spc="3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began</a:t>
            </a:r>
            <a:r>
              <a:rPr sz="2800" spc="3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prior</a:t>
            </a:r>
            <a:r>
              <a:rPr sz="2800" spc="32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to 	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3rd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millennium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BCE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continued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well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British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Raj</a:t>
            </a:r>
            <a:r>
              <a:rPr lang="en-US" sz="2800" spc="-20" dirty="0">
                <a:latin typeface="Calibri"/>
                <a:cs typeface="Calibri"/>
              </a:rPr>
              <a:t>ya</a:t>
            </a:r>
            <a:r>
              <a:rPr sz="2800" spc="-2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0029" marR="8890" indent="-227965" algn="just">
              <a:lnSpc>
                <a:spcPct val="89600"/>
              </a:lnSpc>
              <a:spcBef>
                <a:spcPts val="975"/>
              </a:spcBef>
              <a:buFont typeface="Arial MT"/>
              <a:buChar char="•"/>
              <a:tabLst>
                <a:tab pos="241300" algn="l"/>
                <a:tab pos="1837055" algn="l"/>
                <a:tab pos="3713479" algn="l"/>
                <a:tab pos="5335270" algn="l"/>
                <a:tab pos="7552690" algn="l"/>
                <a:tab pos="9702165" algn="l"/>
              </a:tabLst>
            </a:pPr>
            <a:r>
              <a:rPr sz="2800" dirty="0">
                <a:latin typeface="Calibri"/>
                <a:cs typeface="Calibri"/>
              </a:rPr>
              <a:t>Metals</a:t>
            </a:r>
            <a:r>
              <a:rPr sz="2800" spc="2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2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related</a:t>
            </a:r>
            <a:r>
              <a:rPr sz="2800" spc="2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concepts</a:t>
            </a:r>
            <a:r>
              <a:rPr sz="2800" spc="2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were</a:t>
            </a:r>
            <a:r>
              <a:rPr sz="2800" spc="2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mentioned</a:t>
            </a:r>
            <a:r>
              <a:rPr sz="2800" spc="2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2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various</a:t>
            </a:r>
            <a:r>
              <a:rPr sz="2800" spc="2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early</a:t>
            </a:r>
            <a:r>
              <a:rPr sz="2800" spc="2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Vedic 	</a:t>
            </a:r>
            <a:r>
              <a:rPr sz="2800" spc="-25" dirty="0">
                <a:latin typeface="Calibri"/>
                <a:cs typeface="Calibri"/>
              </a:rPr>
              <a:t>age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texts.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Rigveda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already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uses 	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Sanskrit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term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Ayas(</a:t>
            </a:r>
            <a:r>
              <a:rPr sz="2800" dirty="0">
                <a:latin typeface="Nirmala UI"/>
                <a:cs typeface="Nirmala UI"/>
              </a:rPr>
              <a:t>आयस</a:t>
            </a:r>
            <a:r>
              <a:rPr sz="2800" dirty="0">
                <a:latin typeface="Calibri"/>
                <a:cs typeface="Calibri"/>
              </a:rPr>
              <a:t>)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(metal).</a:t>
            </a:r>
            <a:endParaRPr sz="2800" dirty="0">
              <a:latin typeface="Calibri"/>
              <a:cs typeface="Calibri"/>
            </a:endParaRPr>
          </a:p>
          <a:p>
            <a:pPr marL="239395" marR="8255" indent="-227329" algn="just">
              <a:lnSpc>
                <a:spcPts val="303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Indian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cultural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commercial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contacts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Near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East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 	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Greco-</a:t>
            </a:r>
            <a:r>
              <a:rPr sz="2800" dirty="0">
                <a:latin typeface="Calibri"/>
                <a:cs typeface="Calibri"/>
              </a:rPr>
              <a:t>Roman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world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enabled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exchange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metallurgic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sciences.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-15" dirty="0"/>
              <a:t> </a:t>
            </a:r>
            <a:r>
              <a:rPr dirty="0"/>
              <a:t>Indian</a:t>
            </a:r>
            <a:r>
              <a:rPr spc="-10" dirty="0"/>
              <a:t> </a:t>
            </a:r>
            <a:r>
              <a:rPr dirty="0"/>
              <a:t>S</a:t>
            </a:r>
            <a:r>
              <a:rPr spc="-10" dirty="0"/>
              <a:t>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T</a:t>
            </a:r>
            <a:r>
              <a:rPr spc="-5" dirty="0"/>
              <a:t> </a:t>
            </a:r>
            <a:r>
              <a:rPr spc="-10" dirty="0"/>
              <a:t>Heritage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359390" cy="262699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  <a:tab pos="680085" algn="l"/>
                <a:tab pos="1326515" algn="l"/>
                <a:tab pos="2266315" algn="l"/>
                <a:tab pos="3220720" algn="l"/>
                <a:tab pos="3812540" algn="l"/>
                <a:tab pos="4536440" algn="l"/>
                <a:tab pos="5598795" algn="l"/>
                <a:tab pos="7280275" algn="l"/>
                <a:tab pos="7747634" algn="l"/>
                <a:tab pos="8679180" algn="l"/>
                <a:tab pos="9683750" algn="l"/>
              </a:tabLst>
            </a:pPr>
            <a:r>
              <a:rPr sz="2800" spc="-25" dirty="0">
                <a:latin typeface="Calibri"/>
                <a:cs typeface="Calibri"/>
              </a:rPr>
              <a:t>In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Vedic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texts,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35" dirty="0">
                <a:latin typeface="Calibri"/>
                <a:cs typeface="Calibri"/>
              </a:rPr>
              <a:t>we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find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ample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references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Gold,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Silver,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iron, 	</a:t>
            </a:r>
            <a:r>
              <a:rPr sz="2800" dirty="0">
                <a:latin typeface="Calibri"/>
                <a:cs typeface="Calibri"/>
              </a:rPr>
              <a:t>copper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their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alloys.</a:t>
            </a:r>
            <a:endParaRPr sz="2800">
              <a:latin typeface="Calibri"/>
              <a:cs typeface="Calibri"/>
            </a:endParaRPr>
          </a:p>
          <a:p>
            <a:pPr marL="240029" marR="7620" indent="-227965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Indian</a:t>
            </a:r>
            <a:r>
              <a:rPr sz="2800" spc="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metal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smiths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were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adept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alloy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technology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they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could 	</a:t>
            </a:r>
            <a:r>
              <a:rPr sz="2800" dirty="0">
                <a:latin typeface="Calibri"/>
                <a:cs typeface="Calibri"/>
              </a:rPr>
              <a:t>produce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alloys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controlled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composition.</a:t>
            </a:r>
            <a:endParaRPr sz="2800">
              <a:latin typeface="Calibri"/>
              <a:cs typeface="Calibri"/>
            </a:endParaRPr>
          </a:p>
          <a:p>
            <a:pPr marL="239395" marR="5715" indent="-227329">
              <a:lnSpc>
                <a:spcPts val="303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  <a:tab pos="1496695" algn="l"/>
                <a:tab pos="2692400" algn="l"/>
                <a:tab pos="4359275" algn="l"/>
                <a:tab pos="5194935" algn="l"/>
                <a:tab pos="5650230" algn="l"/>
                <a:tab pos="6880859" algn="l"/>
                <a:tab pos="7516495" algn="l"/>
                <a:tab pos="8918575" algn="l"/>
                <a:tab pos="9615170" algn="l"/>
              </a:tabLst>
            </a:pPr>
            <a:r>
              <a:rPr sz="2800" spc="-10" dirty="0">
                <a:latin typeface="Calibri"/>
                <a:cs typeface="Calibri"/>
              </a:rPr>
              <a:t>Ancient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Indians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developed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skills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explore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ore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deposite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and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mine 	</a:t>
            </a:r>
            <a:r>
              <a:rPr sz="2800" dirty="0">
                <a:latin typeface="Calibri"/>
                <a:cs typeface="Calibri"/>
              </a:rPr>
              <a:t>portions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remunerative.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Metals</a:t>
            </a:r>
            <a:r>
              <a:rPr spc="-90" dirty="0"/>
              <a:t> </a:t>
            </a:r>
            <a:r>
              <a:rPr dirty="0"/>
              <a:t>and</a:t>
            </a:r>
            <a:r>
              <a:rPr spc="-90" dirty="0"/>
              <a:t> </a:t>
            </a:r>
            <a:r>
              <a:rPr dirty="0"/>
              <a:t>Metalworking</a:t>
            </a:r>
            <a:r>
              <a:rPr spc="-85" dirty="0"/>
              <a:t> </a:t>
            </a:r>
            <a:r>
              <a:rPr spc="-30" dirty="0"/>
              <a:t>Technology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In</a:t>
            </a:r>
            <a:r>
              <a:rPr spc="-5" dirty="0"/>
              <a:t> </a:t>
            </a:r>
            <a:r>
              <a:rPr dirty="0"/>
              <a:t>many ways,</a:t>
            </a:r>
            <a:r>
              <a:rPr spc="5" dirty="0"/>
              <a:t> </a:t>
            </a:r>
            <a:r>
              <a:rPr dirty="0"/>
              <a:t>the</a:t>
            </a:r>
            <a:r>
              <a:rPr spc="5" dirty="0"/>
              <a:t> </a:t>
            </a:r>
            <a:r>
              <a:rPr dirty="0"/>
              <a:t>usage of metals</a:t>
            </a:r>
            <a:r>
              <a:rPr spc="5" dirty="0"/>
              <a:t> </a:t>
            </a:r>
            <a:r>
              <a:rPr dirty="0"/>
              <a:t>in antiquity</a:t>
            </a:r>
            <a:r>
              <a:rPr spc="5" dirty="0"/>
              <a:t> </a:t>
            </a:r>
            <a:r>
              <a:rPr dirty="0"/>
              <a:t>is</a:t>
            </a:r>
            <a:r>
              <a:rPr spc="5" dirty="0"/>
              <a:t> </a:t>
            </a:r>
            <a:r>
              <a:rPr dirty="0"/>
              <a:t>tied</a:t>
            </a:r>
            <a:r>
              <a:rPr spc="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dirty="0"/>
              <a:t>the</a:t>
            </a:r>
            <a:r>
              <a:rPr spc="5" dirty="0"/>
              <a:t> </a:t>
            </a:r>
            <a:r>
              <a:rPr dirty="0"/>
              <a:t>history</a:t>
            </a:r>
            <a:r>
              <a:rPr spc="-15" dirty="0"/>
              <a:t> </a:t>
            </a:r>
            <a:r>
              <a:rPr spc="-25" dirty="0"/>
              <a:t>of 	</a:t>
            </a:r>
            <a:r>
              <a:rPr spc="-10" dirty="0"/>
              <a:t>civilization.</a:t>
            </a:r>
          </a:p>
          <a:p>
            <a:pPr marL="240029" marR="5715" indent="-227965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  <a:tab pos="1381125" algn="l"/>
                <a:tab pos="2222500" algn="l"/>
                <a:tab pos="3103880" algn="l"/>
                <a:tab pos="4030345" algn="l"/>
                <a:tab pos="5142865" algn="l"/>
                <a:tab pos="5601970" algn="l"/>
                <a:tab pos="6773545" algn="l"/>
                <a:tab pos="8011795" algn="l"/>
                <a:tab pos="8462645" algn="l"/>
                <a:tab pos="9330055" algn="l"/>
              </a:tabLst>
            </a:pPr>
            <a:r>
              <a:rPr spc="-10" dirty="0"/>
              <a:t>Metals</a:t>
            </a:r>
            <a:r>
              <a:rPr dirty="0"/>
              <a:t>	</a:t>
            </a:r>
            <a:r>
              <a:rPr spc="-20" dirty="0"/>
              <a:t>have</a:t>
            </a:r>
            <a:r>
              <a:rPr dirty="0"/>
              <a:t>	</a:t>
            </a:r>
            <a:r>
              <a:rPr spc="-20" dirty="0"/>
              <a:t>been</a:t>
            </a:r>
            <a:r>
              <a:rPr dirty="0"/>
              <a:t>	</a:t>
            </a:r>
            <a:r>
              <a:rPr spc="-10" dirty="0"/>
              <a:t>given</a:t>
            </a:r>
            <a:r>
              <a:rPr dirty="0"/>
              <a:t>	</a:t>
            </a:r>
            <a:r>
              <a:rPr spc="-10" dirty="0"/>
              <a:t>names</a:t>
            </a:r>
            <a:r>
              <a:rPr dirty="0"/>
              <a:t>	</a:t>
            </a:r>
            <a:r>
              <a:rPr spc="-25" dirty="0"/>
              <a:t>to</a:t>
            </a:r>
            <a:r>
              <a:rPr dirty="0"/>
              <a:t>	</a:t>
            </a:r>
            <a:r>
              <a:rPr spc="-10" dirty="0"/>
              <a:t>several</a:t>
            </a:r>
            <a:r>
              <a:rPr dirty="0"/>
              <a:t>	</a:t>
            </a:r>
            <a:r>
              <a:rPr spc="-10" dirty="0"/>
              <a:t>periods</a:t>
            </a:r>
            <a:r>
              <a:rPr dirty="0"/>
              <a:t>	</a:t>
            </a:r>
            <a:r>
              <a:rPr spc="-25" dirty="0"/>
              <a:t>of</a:t>
            </a:r>
            <a:r>
              <a:rPr dirty="0"/>
              <a:t>	</a:t>
            </a:r>
            <a:r>
              <a:rPr spc="-10" dirty="0"/>
              <a:t>early</a:t>
            </a:r>
            <a:r>
              <a:rPr dirty="0"/>
              <a:t>	</a:t>
            </a:r>
            <a:r>
              <a:rPr spc="-10" dirty="0"/>
              <a:t>human 	civilization.</a:t>
            </a:r>
          </a:p>
          <a:p>
            <a:pPr marL="239395" marR="6350" indent="-227329">
              <a:lnSpc>
                <a:spcPts val="303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  <a:tab pos="917575" algn="l"/>
                <a:tab pos="1937385" algn="l"/>
                <a:tab pos="2381250" algn="l"/>
                <a:tab pos="3521075" algn="l"/>
                <a:tab pos="4624705" algn="l"/>
                <a:tab pos="5812155" algn="l"/>
                <a:tab pos="6122670" algn="l"/>
                <a:tab pos="6975475" algn="l"/>
                <a:tab pos="8260080" algn="l"/>
                <a:tab pos="8695690" algn="l"/>
                <a:tab pos="9799320" algn="l"/>
              </a:tabLst>
            </a:pPr>
            <a:r>
              <a:rPr spc="-25" dirty="0"/>
              <a:t>The</a:t>
            </a:r>
            <a:r>
              <a:rPr dirty="0"/>
              <a:t>	</a:t>
            </a:r>
            <a:r>
              <a:rPr spc="-10" dirty="0"/>
              <a:t>ability</a:t>
            </a:r>
            <a:r>
              <a:rPr dirty="0"/>
              <a:t>	</a:t>
            </a:r>
            <a:r>
              <a:rPr spc="-25" dirty="0"/>
              <a:t>to</a:t>
            </a:r>
            <a:r>
              <a:rPr dirty="0"/>
              <a:t>	</a:t>
            </a:r>
            <a:r>
              <a:rPr spc="-10" dirty="0"/>
              <a:t>extract</a:t>
            </a:r>
            <a:r>
              <a:rPr dirty="0"/>
              <a:t>	</a:t>
            </a:r>
            <a:r>
              <a:rPr spc="-10" dirty="0"/>
              <a:t>metals</a:t>
            </a:r>
            <a:r>
              <a:rPr dirty="0"/>
              <a:t>	</a:t>
            </a:r>
            <a:r>
              <a:rPr spc="-10" dirty="0"/>
              <a:t>yielded</a:t>
            </a:r>
            <a:r>
              <a:rPr dirty="0"/>
              <a:t>	</a:t>
            </a:r>
            <a:r>
              <a:rPr spc="-50" dirty="0"/>
              <a:t>a</a:t>
            </a:r>
            <a:r>
              <a:rPr dirty="0"/>
              <a:t>	</a:t>
            </a:r>
            <a:r>
              <a:rPr spc="-10" dirty="0"/>
              <a:t>large</a:t>
            </a:r>
            <a:r>
              <a:rPr dirty="0"/>
              <a:t>	</a:t>
            </a:r>
            <a:r>
              <a:rPr spc="-10" dirty="0"/>
              <a:t>number</a:t>
            </a:r>
            <a:r>
              <a:rPr dirty="0"/>
              <a:t>	</a:t>
            </a:r>
            <a:r>
              <a:rPr spc="-25" dirty="0"/>
              <a:t>of</a:t>
            </a:r>
            <a:r>
              <a:rPr dirty="0"/>
              <a:t>	</a:t>
            </a:r>
            <a:r>
              <a:rPr spc="-10" dirty="0"/>
              <a:t>metals</a:t>
            </a:r>
            <a:r>
              <a:rPr dirty="0"/>
              <a:t>	</a:t>
            </a:r>
            <a:r>
              <a:rPr spc="-25" dirty="0"/>
              <a:t>and 	</a:t>
            </a:r>
            <a:r>
              <a:rPr dirty="0"/>
              <a:t>ushered</a:t>
            </a:r>
            <a:r>
              <a:rPr spc="-40" dirty="0"/>
              <a:t> </a:t>
            </a:r>
            <a:r>
              <a:rPr dirty="0"/>
              <a:t>in</a:t>
            </a:r>
            <a:r>
              <a:rPr spc="-50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dirty="0"/>
              <a:t>number</a:t>
            </a:r>
            <a:r>
              <a:rPr spc="-30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dirty="0"/>
              <a:t>changes</a:t>
            </a:r>
            <a:r>
              <a:rPr spc="-55" dirty="0"/>
              <a:t> </a:t>
            </a:r>
            <a:r>
              <a:rPr dirty="0"/>
              <a:t>in</a:t>
            </a:r>
            <a:r>
              <a:rPr spc="-55" dirty="0"/>
              <a:t> </a:t>
            </a:r>
            <a:r>
              <a:rPr dirty="0"/>
              <a:t>human</a:t>
            </a:r>
            <a:r>
              <a:rPr spc="-30" dirty="0"/>
              <a:t> </a:t>
            </a:r>
            <a:r>
              <a:rPr spc="-10" dirty="0"/>
              <a:t>society.</a:t>
            </a:r>
          </a:p>
          <a:p>
            <a:pPr marL="240029" marR="6350" indent="-227965">
              <a:lnSpc>
                <a:spcPts val="3020"/>
              </a:lnSpc>
              <a:spcBef>
                <a:spcPts val="995"/>
              </a:spcBef>
              <a:buFont typeface="Arial MT"/>
              <a:buChar char="•"/>
              <a:tabLst>
                <a:tab pos="241300" algn="l"/>
                <a:tab pos="596265" algn="l"/>
                <a:tab pos="2024380" algn="l"/>
                <a:tab pos="3559175" algn="l"/>
                <a:tab pos="4505960" algn="l"/>
                <a:tab pos="6028690" algn="l"/>
                <a:tab pos="7369809" algn="l"/>
                <a:tab pos="8061959" algn="l"/>
                <a:tab pos="9002395" algn="l"/>
                <a:tab pos="10034270" algn="l"/>
              </a:tabLst>
            </a:pPr>
            <a:r>
              <a:rPr spc="-25" dirty="0"/>
              <a:t>It</a:t>
            </a:r>
            <a:r>
              <a:rPr dirty="0"/>
              <a:t>	</a:t>
            </a:r>
            <a:r>
              <a:rPr spc="-10" dirty="0"/>
              <a:t>provided</a:t>
            </a:r>
            <a:r>
              <a:rPr dirty="0"/>
              <a:t>	</a:t>
            </a:r>
            <a:r>
              <a:rPr spc="-10" dirty="0"/>
              <a:t>weapons,</a:t>
            </a:r>
            <a:r>
              <a:rPr dirty="0"/>
              <a:t>	</a:t>
            </a:r>
            <a:r>
              <a:rPr spc="-10" dirty="0"/>
              <a:t>tools,</a:t>
            </a:r>
            <a:r>
              <a:rPr dirty="0"/>
              <a:t>	</a:t>
            </a:r>
            <a:r>
              <a:rPr spc="-10" dirty="0"/>
              <a:t>jewellery,</a:t>
            </a:r>
            <a:r>
              <a:rPr dirty="0"/>
              <a:t>	</a:t>
            </a:r>
            <a:r>
              <a:rPr spc="-10" dirty="0"/>
              <a:t>utensils,</a:t>
            </a:r>
            <a:r>
              <a:rPr dirty="0"/>
              <a:t>	</a:t>
            </a:r>
            <a:r>
              <a:rPr spc="-25" dirty="0"/>
              <a:t>and</a:t>
            </a:r>
            <a:r>
              <a:rPr dirty="0"/>
              <a:t>	</a:t>
            </a:r>
            <a:r>
              <a:rPr spc="-10" dirty="0"/>
              <a:t>other</a:t>
            </a:r>
            <a:r>
              <a:rPr dirty="0"/>
              <a:t>	</a:t>
            </a:r>
            <a:r>
              <a:rPr spc="-10" dirty="0"/>
              <a:t>items,</a:t>
            </a:r>
            <a:r>
              <a:rPr dirty="0"/>
              <a:t>	</a:t>
            </a:r>
            <a:r>
              <a:rPr spc="-25" dirty="0"/>
              <a:t>as 	</a:t>
            </a:r>
            <a:r>
              <a:rPr dirty="0"/>
              <a:t>well</a:t>
            </a:r>
            <a:r>
              <a:rPr spc="-95" dirty="0"/>
              <a:t> </a:t>
            </a:r>
            <a:r>
              <a:rPr dirty="0"/>
              <a:t>as</a:t>
            </a:r>
            <a:r>
              <a:rPr spc="-75" dirty="0"/>
              <a:t> </a:t>
            </a:r>
            <a:r>
              <a:rPr dirty="0"/>
              <a:t>enriching</a:t>
            </a:r>
            <a:r>
              <a:rPr spc="-55" dirty="0"/>
              <a:t> </a:t>
            </a:r>
            <a:r>
              <a:rPr dirty="0"/>
              <a:t>cultural</a:t>
            </a:r>
            <a:r>
              <a:rPr spc="-50" dirty="0"/>
              <a:t> </a:t>
            </a:r>
            <a:r>
              <a:rPr spc="-10" dirty="0"/>
              <a:t>life.</a:t>
            </a:r>
          </a:p>
          <a:p>
            <a:pPr marL="240029" marR="6985" indent="-227965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The</a:t>
            </a:r>
            <a:r>
              <a:rPr spc="220" dirty="0"/>
              <a:t> </a:t>
            </a:r>
            <a:r>
              <a:rPr dirty="0"/>
              <a:t>Seven</a:t>
            </a:r>
            <a:r>
              <a:rPr spc="229" dirty="0"/>
              <a:t> </a:t>
            </a:r>
            <a:r>
              <a:rPr dirty="0"/>
              <a:t>metals</a:t>
            </a:r>
            <a:r>
              <a:rPr spc="225" dirty="0"/>
              <a:t> </a:t>
            </a:r>
            <a:r>
              <a:rPr dirty="0"/>
              <a:t>of</a:t>
            </a:r>
            <a:r>
              <a:rPr spc="235" dirty="0"/>
              <a:t> </a:t>
            </a:r>
            <a:r>
              <a:rPr dirty="0"/>
              <a:t>antiquity</a:t>
            </a:r>
            <a:r>
              <a:rPr spc="240" dirty="0"/>
              <a:t> </a:t>
            </a:r>
            <a:r>
              <a:rPr dirty="0"/>
              <a:t>are</a:t>
            </a:r>
            <a:r>
              <a:rPr spc="229" dirty="0"/>
              <a:t> </a:t>
            </a:r>
            <a:r>
              <a:rPr dirty="0"/>
              <a:t>gold,</a:t>
            </a:r>
            <a:r>
              <a:rPr spc="235" dirty="0"/>
              <a:t> </a:t>
            </a:r>
            <a:r>
              <a:rPr spc="-10" dirty="0"/>
              <a:t>copper,</a:t>
            </a:r>
            <a:r>
              <a:rPr spc="240" dirty="0"/>
              <a:t> </a:t>
            </a:r>
            <a:r>
              <a:rPr dirty="0"/>
              <a:t>silver,</a:t>
            </a:r>
            <a:r>
              <a:rPr spc="225" dirty="0"/>
              <a:t> </a:t>
            </a:r>
            <a:r>
              <a:rPr dirty="0"/>
              <a:t>lead,</a:t>
            </a:r>
            <a:r>
              <a:rPr spc="229" dirty="0"/>
              <a:t> </a:t>
            </a:r>
            <a:r>
              <a:rPr dirty="0"/>
              <a:t>tin,</a:t>
            </a:r>
            <a:r>
              <a:rPr spc="240" dirty="0"/>
              <a:t> </a:t>
            </a:r>
            <a:r>
              <a:rPr spc="-20" dirty="0"/>
              <a:t>iron 	</a:t>
            </a:r>
            <a:r>
              <a:rPr dirty="0"/>
              <a:t>and</a:t>
            </a:r>
            <a:r>
              <a:rPr spc="-45" dirty="0"/>
              <a:t> </a:t>
            </a:r>
            <a:r>
              <a:rPr spc="-10" dirty="0"/>
              <a:t>mercury.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Metals</a:t>
            </a:r>
            <a:r>
              <a:rPr spc="-90" dirty="0"/>
              <a:t> </a:t>
            </a:r>
            <a:r>
              <a:rPr dirty="0"/>
              <a:t>and</a:t>
            </a:r>
            <a:r>
              <a:rPr spc="-90" dirty="0"/>
              <a:t> </a:t>
            </a:r>
            <a:r>
              <a:rPr dirty="0"/>
              <a:t>Metalworking</a:t>
            </a:r>
            <a:r>
              <a:rPr spc="-85" dirty="0"/>
              <a:t> </a:t>
            </a:r>
            <a:r>
              <a:rPr spc="-30" dirty="0"/>
              <a:t>Technology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358755" cy="262699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2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first</a:t>
            </a:r>
            <a:r>
              <a:rPr sz="2800" spc="2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</a:t>
            </a:r>
            <a:r>
              <a:rPr sz="2800" spc="2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2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crucible</a:t>
            </a:r>
            <a:r>
              <a:rPr sz="2800" spc="2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steel</a:t>
            </a:r>
            <a:r>
              <a:rPr sz="2800" spc="2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was</a:t>
            </a:r>
            <a:r>
              <a:rPr sz="2800" spc="2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wootz,</a:t>
            </a:r>
            <a:r>
              <a:rPr sz="2800" spc="2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developed</a:t>
            </a:r>
            <a:r>
              <a:rPr sz="2800" spc="2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2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India</a:t>
            </a:r>
            <a:r>
              <a:rPr sz="2800" spc="2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some 	</a:t>
            </a:r>
            <a:r>
              <a:rPr sz="2800" dirty="0">
                <a:latin typeface="Calibri"/>
                <a:cs typeface="Calibri"/>
              </a:rPr>
              <a:t>time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around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300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BCE.</a:t>
            </a:r>
            <a:endParaRPr sz="2800">
              <a:latin typeface="Calibri"/>
              <a:cs typeface="Calibri"/>
            </a:endParaRPr>
          </a:p>
          <a:p>
            <a:pPr marL="240029" marR="5715" indent="-227965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  <a:tab pos="694055" algn="l"/>
                <a:tab pos="1212215" algn="l"/>
                <a:tab pos="2980055" algn="l"/>
                <a:tab pos="3639820" algn="l"/>
                <a:tab pos="4391660" algn="l"/>
                <a:tab pos="5129530" algn="l"/>
                <a:tab pos="6181090" algn="l"/>
                <a:tab pos="6998334" algn="l"/>
                <a:tab pos="7872730" algn="l"/>
                <a:tab pos="8593455" algn="l"/>
                <a:tab pos="9443085" algn="l"/>
              </a:tabLst>
            </a:pPr>
            <a:r>
              <a:rPr sz="2800" spc="-25" dirty="0">
                <a:latin typeface="Calibri"/>
                <a:cs typeface="Calibri"/>
              </a:rPr>
              <a:t>In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its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production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iron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was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mixed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with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glass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and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then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slowly 	</a:t>
            </a:r>
            <a:r>
              <a:rPr sz="2800" dirty="0">
                <a:latin typeface="Calibri"/>
                <a:cs typeface="Calibri"/>
              </a:rPr>
              <a:t>heated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cooled.</a:t>
            </a:r>
            <a:endParaRPr sz="2800">
              <a:latin typeface="Calibri"/>
              <a:cs typeface="Calibri"/>
            </a:endParaRPr>
          </a:p>
          <a:p>
            <a:pPr marL="239395" marR="5080" indent="-227329">
              <a:lnSpc>
                <a:spcPts val="303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As</a:t>
            </a:r>
            <a:r>
              <a:rPr sz="2800" spc="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mixture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cooled</a:t>
            </a:r>
            <a:r>
              <a:rPr sz="2800" spc="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glass</a:t>
            </a:r>
            <a:r>
              <a:rPr sz="2800" spc="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would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bond</a:t>
            </a:r>
            <a:r>
              <a:rPr sz="2800" spc="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impurities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steel 	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float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surface,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leaving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steel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considerably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purer.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Metals:</a:t>
            </a:r>
            <a:r>
              <a:rPr spc="-110" dirty="0"/>
              <a:t> </a:t>
            </a:r>
            <a:r>
              <a:rPr spc="-10" dirty="0"/>
              <a:t>Brass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  <a:tab pos="1205865" algn="l"/>
                <a:tab pos="1974214" algn="l"/>
                <a:tab pos="2870200" algn="l"/>
                <a:tab pos="3347720" algn="l"/>
                <a:tab pos="4447540" algn="l"/>
                <a:tab pos="5199380" algn="l"/>
                <a:tab pos="7176134" algn="l"/>
                <a:tab pos="7653655" algn="l"/>
                <a:tab pos="8341995" algn="l"/>
                <a:tab pos="9036050" algn="l"/>
                <a:tab pos="9790430" algn="l"/>
              </a:tabLst>
            </a:pPr>
            <a:r>
              <a:rPr spc="-10" dirty="0"/>
              <a:t>Brass</a:t>
            </a:r>
            <a:r>
              <a:rPr dirty="0"/>
              <a:t>	</a:t>
            </a:r>
            <a:r>
              <a:rPr spc="-25" dirty="0"/>
              <a:t>was</a:t>
            </a:r>
            <a:r>
              <a:rPr dirty="0"/>
              <a:t>	</a:t>
            </a:r>
            <a:r>
              <a:rPr spc="-20" dirty="0"/>
              <a:t>used</a:t>
            </a:r>
            <a:r>
              <a:rPr dirty="0"/>
              <a:t>	</a:t>
            </a:r>
            <a:r>
              <a:rPr spc="-25" dirty="0"/>
              <a:t>in</a:t>
            </a:r>
            <a:r>
              <a:rPr dirty="0"/>
              <a:t>	</a:t>
            </a:r>
            <a:r>
              <a:rPr spc="-10" dirty="0"/>
              <a:t>Lothal</a:t>
            </a:r>
            <a:r>
              <a:rPr dirty="0"/>
              <a:t>	</a:t>
            </a:r>
            <a:r>
              <a:rPr spc="-25" dirty="0"/>
              <a:t>and</a:t>
            </a:r>
            <a:r>
              <a:rPr dirty="0"/>
              <a:t>	</a:t>
            </a:r>
            <a:r>
              <a:rPr spc="-10" dirty="0"/>
              <a:t>Atranjikhera</a:t>
            </a:r>
            <a:r>
              <a:rPr dirty="0"/>
              <a:t>	</a:t>
            </a:r>
            <a:r>
              <a:rPr spc="-25" dirty="0"/>
              <a:t>in</a:t>
            </a:r>
            <a:r>
              <a:rPr dirty="0"/>
              <a:t>	</a:t>
            </a:r>
            <a:r>
              <a:rPr spc="-25" dirty="0"/>
              <a:t>the</a:t>
            </a:r>
            <a:r>
              <a:rPr dirty="0"/>
              <a:t>	</a:t>
            </a:r>
            <a:r>
              <a:rPr spc="-25" dirty="0"/>
              <a:t>3rd</a:t>
            </a:r>
            <a:r>
              <a:rPr dirty="0"/>
              <a:t>	</a:t>
            </a:r>
            <a:r>
              <a:rPr spc="-25" dirty="0"/>
              <a:t>and</a:t>
            </a:r>
            <a:r>
              <a:rPr dirty="0"/>
              <a:t>	</a:t>
            </a:r>
            <a:r>
              <a:rPr spc="-25" dirty="0"/>
              <a:t>2nd 	</a:t>
            </a:r>
            <a:r>
              <a:rPr dirty="0"/>
              <a:t>millennium</a:t>
            </a:r>
            <a:r>
              <a:rPr spc="-120" dirty="0"/>
              <a:t> </a:t>
            </a:r>
            <a:r>
              <a:rPr spc="-20" dirty="0"/>
              <a:t>BCE.</a:t>
            </a:r>
          </a:p>
          <a:p>
            <a:pPr marL="240029" marR="5080" indent="-227965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Brass</a:t>
            </a:r>
            <a:r>
              <a:rPr spc="35" dirty="0"/>
              <a:t> </a:t>
            </a:r>
            <a:r>
              <a:rPr dirty="0"/>
              <a:t>and</a:t>
            </a:r>
            <a:r>
              <a:rPr spc="45" dirty="0"/>
              <a:t> </a:t>
            </a:r>
            <a:r>
              <a:rPr dirty="0"/>
              <a:t>probably</a:t>
            </a:r>
            <a:r>
              <a:rPr spc="35" dirty="0"/>
              <a:t> </a:t>
            </a:r>
            <a:r>
              <a:rPr dirty="0"/>
              <a:t>zinc</a:t>
            </a:r>
            <a:r>
              <a:rPr spc="45" dirty="0"/>
              <a:t> </a:t>
            </a:r>
            <a:r>
              <a:rPr dirty="0"/>
              <a:t>was</a:t>
            </a:r>
            <a:r>
              <a:rPr spc="45" dirty="0"/>
              <a:t> </a:t>
            </a:r>
            <a:r>
              <a:rPr dirty="0"/>
              <a:t>also</a:t>
            </a:r>
            <a:r>
              <a:rPr spc="40" dirty="0"/>
              <a:t> </a:t>
            </a:r>
            <a:r>
              <a:rPr dirty="0"/>
              <a:t>found</a:t>
            </a:r>
            <a:r>
              <a:rPr spc="40" dirty="0"/>
              <a:t> </a:t>
            </a:r>
            <a:r>
              <a:rPr dirty="0"/>
              <a:t>at</a:t>
            </a:r>
            <a:r>
              <a:rPr spc="35" dirty="0"/>
              <a:t> </a:t>
            </a:r>
            <a:r>
              <a:rPr dirty="0"/>
              <a:t>Taxila</a:t>
            </a:r>
            <a:r>
              <a:rPr spc="40" dirty="0"/>
              <a:t> </a:t>
            </a:r>
            <a:r>
              <a:rPr dirty="0"/>
              <a:t>in</a:t>
            </a:r>
            <a:r>
              <a:rPr spc="40" dirty="0"/>
              <a:t> </a:t>
            </a:r>
            <a:r>
              <a:rPr dirty="0"/>
              <a:t>4th</a:t>
            </a:r>
            <a:r>
              <a:rPr spc="30" dirty="0"/>
              <a:t> </a:t>
            </a:r>
            <a:r>
              <a:rPr dirty="0"/>
              <a:t>to</a:t>
            </a:r>
            <a:r>
              <a:rPr spc="40" dirty="0"/>
              <a:t> </a:t>
            </a:r>
            <a:r>
              <a:rPr dirty="0"/>
              <a:t>3rd</a:t>
            </a:r>
            <a:r>
              <a:rPr spc="50" dirty="0"/>
              <a:t> </a:t>
            </a:r>
            <a:r>
              <a:rPr spc="-10" dirty="0"/>
              <a:t>century 	</a:t>
            </a:r>
            <a:r>
              <a:rPr dirty="0"/>
              <a:t>BCE</a:t>
            </a:r>
            <a:r>
              <a:rPr spc="-5" dirty="0"/>
              <a:t> </a:t>
            </a:r>
            <a:r>
              <a:rPr spc="-10" dirty="0"/>
              <a:t>contexts.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Metals:</a:t>
            </a:r>
            <a:r>
              <a:rPr spc="-135" dirty="0"/>
              <a:t> </a:t>
            </a:r>
            <a:r>
              <a:rPr spc="-10" dirty="0"/>
              <a:t>Copper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360660" cy="467423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7620" indent="-227965" algn="just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Copper</a:t>
            </a:r>
            <a:r>
              <a:rPr sz="2800" spc="3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technology</a:t>
            </a:r>
            <a:r>
              <a:rPr sz="2800" spc="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may</a:t>
            </a:r>
            <a:r>
              <a:rPr sz="2800" spc="3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date</a:t>
            </a:r>
            <a:r>
              <a:rPr sz="2800" spc="3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back</a:t>
            </a:r>
            <a:r>
              <a:rPr sz="2800" spc="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4th</a:t>
            </a:r>
            <a:r>
              <a:rPr sz="2800" spc="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millennium</a:t>
            </a:r>
            <a:r>
              <a:rPr sz="2800" spc="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BCE</a:t>
            </a:r>
            <a:r>
              <a:rPr sz="2800" spc="40" dirty="0">
                <a:latin typeface="Calibri"/>
                <a:cs typeface="Calibri"/>
              </a:rPr>
              <a:t>  </a:t>
            </a:r>
            <a:r>
              <a:rPr sz="2800" spc="-25" dirty="0">
                <a:latin typeface="Calibri"/>
                <a:cs typeface="Calibri"/>
              </a:rPr>
              <a:t>in 	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Himalaya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region.</a:t>
            </a:r>
            <a:endParaRPr sz="2800">
              <a:latin typeface="Calibri"/>
              <a:cs typeface="Calibri"/>
            </a:endParaRPr>
          </a:p>
          <a:p>
            <a:pPr marL="240029" marR="7620" indent="-227965" algn="just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It</a:t>
            </a:r>
            <a:r>
              <a:rPr sz="2800" spc="5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5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5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first</a:t>
            </a:r>
            <a:r>
              <a:rPr sz="2800" spc="5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element</a:t>
            </a:r>
            <a:r>
              <a:rPr sz="2800" spc="5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5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5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discovered</a:t>
            </a:r>
            <a:r>
              <a:rPr sz="2800" spc="5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5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metallurgy,</a:t>
            </a:r>
            <a:r>
              <a:rPr sz="2800" spc="5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Copper</a:t>
            </a:r>
            <a:r>
              <a:rPr sz="2800" spc="5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 	</a:t>
            </a:r>
            <a:r>
              <a:rPr sz="2800" dirty="0">
                <a:latin typeface="Calibri"/>
                <a:cs typeface="Calibri"/>
              </a:rPr>
              <a:t>its</a:t>
            </a:r>
            <a:r>
              <a:rPr sz="2800" spc="5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alloys</a:t>
            </a:r>
            <a:r>
              <a:rPr sz="2800" spc="6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were</a:t>
            </a:r>
            <a:r>
              <a:rPr sz="2800" spc="6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also</a:t>
            </a:r>
            <a:r>
              <a:rPr sz="2800" spc="6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5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6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create</a:t>
            </a:r>
            <a:r>
              <a:rPr sz="2800" spc="6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copper-</a:t>
            </a:r>
            <a:r>
              <a:rPr sz="2800" dirty="0">
                <a:latin typeface="Calibri"/>
                <a:cs typeface="Calibri"/>
              </a:rPr>
              <a:t>bronze</a:t>
            </a:r>
            <a:r>
              <a:rPr sz="2800" spc="6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images</a:t>
            </a:r>
            <a:r>
              <a:rPr sz="2800" spc="5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such</a:t>
            </a:r>
            <a:r>
              <a:rPr sz="2800" spc="6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as 	</a:t>
            </a:r>
            <a:r>
              <a:rPr sz="2800" dirty="0">
                <a:latin typeface="Calibri"/>
                <a:cs typeface="Calibri"/>
              </a:rPr>
              <a:t>Buddhas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Hindu/Mahayana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Buddhist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deities.</a:t>
            </a:r>
            <a:endParaRPr sz="2800">
              <a:latin typeface="Calibri"/>
              <a:cs typeface="Calibri"/>
            </a:endParaRPr>
          </a:p>
          <a:p>
            <a:pPr marL="240029" marR="5715" indent="-227965" algn="just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Collections</a:t>
            </a:r>
            <a:r>
              <a:rPr sz="2800" spc="2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2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archaeological</a:t>
            </a:r>
            <a:r>
              <a:rPr sz="2800" spc="2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texts</a:t>
            </a:r>
            <a:r>
              <a:rPr sz="2800" spc="2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3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9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copper-</a:t>
            </a:r>
            <a:r>
              <a:rPr sz="2800" dirty="0">
                <a:latin typeface="Calibri"/>
                <a:cs typeface="Calibri"/>
              </a:rPr>
              <a:t>plates</a:t>
            </a:r>
            <a:r>
              <a:rPr sz="2800" spc="2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2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rock- 	</a:t>
            </a:r>
            <a:r>
              <a:rPr sz="2800" dirty="0">
                <a:latin typeface="Calibri"/>
                <a:cs typeface="Calibri"/>
              </a:rPr>
              <a:t>inscriptions</a:t>
            </a:r>
            <a:r>
              <a:rPr sz="2800" spc="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have</a:t>
            </a:r>
            <a:r>
              <a:rPr sz="2800" spc="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been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compiled</a:t>
            </a:r>
            <a:r>
              <a:rPr sz="2800" spc="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published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Archaeological 	</a:t>
            </a:r>
            <a:r>
              <a:rPr sz="2800" dirty="0">
                <a:latin typeface="Calibri"/>
                <a:cs typeface="Calibri"/>
              </a:rPr>
              <a:t>Survey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India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during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past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century.</a:t>
            </a:r>
            <a:endParaRPr sz="2800">
              <a:latin typeface="Calibri"/>
              <a:cs typeface="Calibri"/>
            </a:endParaRPr>
          </a:p>
          <a:p>
            <a:pPr marL="239395" marR="5080" indent="-227329" algn="just">
              <a:lnSpc>
                <a:spcPct val="90000"/>
              </a:lnSpc>
              <a:spcBef>
                <a:spcPts val="9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earliest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known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copper-</a:t>
            </a:r>
            <a:r>
              <a:rPr sz="2800" dirty="0">
                <a:latin typeface="Calibri"/>
                <a:cs typeface="Calibri"/>
              </a:rPr>
              <a:t>plate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known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Sohgaura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copper-</a:t>
            </a:r>
            <a:r>
              <a:rPr sz="2800" spc="-10" dirty="0">
                <a:latin typeface="Calibri"/>
                <a:cs typeface="Calibri"/>
              </a:rPr>
              <a:t>plate 	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Maurya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record that mentions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famine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relief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efforts.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 is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 of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dirty="0">
                <a:latin typeface="Calibri"/>
                <a:cs typeface="Calibri"/>
              </a:rPr>
              <a:t>very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few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pre-</a:t>
            </a:r>
            <a:r>
              <a:rPr sz="2800" dirty="0">
                <a:latin typeface="Calibri"/>
                <a:cs typeface="Calibri"/>
              </a:rPr>
              <a:t>Ashoka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Brahmi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inscriptions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India.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Metals:</a:t>
            </a:r>
            <a:r>
              <a:rPr spc="-65" dirty="0"/>
              <a:t> </a:t>
            </a:r>
            <a:r>
              <a:rPr dirty="0"/>
              <a:t>Gold</a:t>
            </a:r>
            <a:r>
              <a:rPr spc="-3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10" dirty="0"/>
              <a:t>silver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3574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  <a:tab pos="1014094" algn="l"/>
                <a:tab pos="2407285" algn="l"/>
                <a:tab pos="3265170" algn="l"/>
                <a:tab pos="4368800" algn="l"/>
                <a:tab pos="4902200" algn="l"/>
                <a:tab pos="5621655" algn="l"/>
                <a:tab pos="6962775" algn="l"/>
                <a:tab pos="8029575" algn="l"/>
                <a:tab pos="8989695" algn="l"/>
                <a:tab pos="10075545" algn="l"/>
              </a:tabLst>
            </a:pPr>
            <a:r>
              <a:rPr sz="2800" spc="-2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deepest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gold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mines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Ancient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world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were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found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in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2090890"/>
            <a:ext cx="10359390" cy="322453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775"/>
              </a:spcBef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Maski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region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Karnataka.</a:t>
            </a:r>
            <a:endParaRPr sz="2800">
              <a:latin typeface="Calibri"/>
              <a:cs typeface="Calibri"/>
            </a:endParaRPr>
          </a:p>
          <a:p>
            <a:pPr marL="240029" marR="5715" indent="-227965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  <a:tab pos="1237615" algn="l"/>
                <a:tab pos="2124710" algn="l"/>
                <a:tab pos="3357879" algn="l"/>
                <a:tab pos="4279900" algn="l"/>
                <a:tab pos="5312410" algn="l"/>
                <a:tab pos="5746750" algn="l"/>
                <a:tab pos="7394575" algn="l"/>
                <a:tab pos="8364855" algn="l"/>
                <a:tab pos="9394190" algn="l"/>
                <a:tab pos="9862185" algn="l"/>
              </a:tabLst>
            </a:pPr>
            <a:r>
              <a:rPr sz="2800" spc="-10" dirty="0">
                <a:latin typeface="Calibri"/>
                <a:cs typeface="Calibri"/>
              </a:rPr>
              <a:t>There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were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ancient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silver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mines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in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northwest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India.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Dated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dirty="0">
                <a:latin typeface="Calibri"/>
                <a:cs typeface="Calibri"/>
              </a:rPr>
              <a:t>middle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1st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millennium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BCE.</a:t>
            </a:r>
            <a:endParaRPr sz="2800">
              <a:latin typeface="Calibri"/>
              <a:cs typeface="Calibri"/>
            </a:endParaRPr>
          </a:p>
          <a:p>
            <a:pPr marL="239395" marR="5715" indent="-227329">
              <a:lnSpc>
                <a:spcPts val="303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Gold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silver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were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also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making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utensils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royal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family 	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nobilities.</a:t>
            </a:r>
            <a:endParaRPr sz="2800">
              <a:latin typeface="Calibri"/>
              <a:cs typeface="Calibri"/>
            </a:endParaRPr>
          </a:p>
          <a:p>
            <a:pPr marL="240029" marR="5080" indent="-227965">
              <a:lnSpc>
                <a:spcPts val="302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  <a:tab pos="909955" algn="l"/>
                <a:tab pos="1754505" algn="l"/>
                <a:tab pos="2763520" algn="l"/>
                <a:tab pos="3632200" algn="l"/>
                <a:tab pos="4597400" algn="l"/>
                <a:tab pos="5683885" algn="l"/>
                <a:tab pos="6409690" algn="l"/>
                <a:tab pos="7266305" algn="l"/>
                <a:tab pos="8217534" algn="l"/>
                <a:tab pos="9049385" algn="l"/>
                <a:tab pos="9801225" algn="l"/>
              </a:tabLst>
            </a:pPr>
            <a:r>
              <a:rPr sz="2800" spc="-2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royal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family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wore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costly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fabrics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that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were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made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from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gold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and 	</a:t>
            </a:r>
            <a:r>
              <a:rPr sz="2800" dirty="0">
                <a:latin typeface="Calibri"/>
                <a:cs typeface="Calibri"/>
              </a:rPr>
              <a:t>silver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fibres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embroidered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woven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fabrics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dress.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Metals:</a:t>
            </a:r>
            <a:r>
              <a:rPr spc="-110" dirty="0"/>
              <a:t> </a:t>
            </a:r>
            <a:r>
              <a:rPr spc="-20" dirty="0"/>
              <a:t>Zinc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918"/>
            <a:ext cx="10358755" cy="4119879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0665" indent="-227965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Zinc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extracted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India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early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4th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3rd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century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BCE.</a:t>
            </a:r>
            <a:endParaRPr sz="2800">
              <a:latin typeface="Calibri"/>
              <a:cs typeface="Calibri"/>
            </a:endParaRPr>
          </a:p>
          <a:p>
            <a:pPr marL="239395" marR="5715" indent="-227329" algn="just">
              <a:lnSpc>
                <a:spcPct val="900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Zinc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production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may</a:t>
            </a:r>
            <a:r>
              <a:rPr sz="2800" spc="22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have</a:t>
            </a:r>
            <a:r>
              <a:rPr sz="2800" spc="2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begun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India,</a:t>
            </a:r>
            <a:r>
              <a:rPr sz="2800" spc="2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2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ancient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northwestern 	</a:t>
            </a:r>
            <a:r>
              <a:rPr sz="2800" dirty="0">
                <a:latin typeface="Calibri"/>
                <a:cs typeface="Calibri"/>
              </a:rPr>
              <a:t>India</a:t>
            </a:r>
            <a:r>
              <a:rPr sz="2800" spc="6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6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earliest</a:t>
            </a:r>
            <a:r>
              <a:rPr sz="2800" spc="6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known</a:t>
            </a:r>
            <a:r>
              <a:rPr sz="2800" spc="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civilization</a:t>
            </a:r>
            <a:r>
              <a:rPr sz="2800" spc="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produced</a:t>
            </a:r>
            <a:r>
              <a:rPr sz="2800" spc="6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zinc</a:t>
            </a:r>
            <a:r>
              <a:rPr sz="2800" spc="7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65" dirty="0">
                <a:latin typeface="Calibri"/>
                <a:cs typeface="Calibri"/>
              </a:rPr>
              <a:t>  </a:t>
            </a:r>
            <a:r>
              <a:rPr sz="2800" spc="-25" dirty="0">
                <a:latin typeface="Calibri"/>
                <a:cs typeface="Calibri"/>
              </a:rPr>
              <a:t>an 	</a:t>
            </a:r>
            <a:r>
              <a:rPr sz="2800" dirty="0">
                <a:latin typeface="Calibri"/>
                <a:cs typeface="Calibri"/>
              </a:rPr>
              <a:t>industrial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scale.</a:t>
            </a:r>
            <a:endParaRPr sz="2800">
              <a:latin typeface="Calibri"/>
              <a:cs typeface="Calibri"/>
            </a:endParaRPr>
          </a:p>
          <a:p>
            <a:pPr marL="239395" marR="5080" indent="-227329" algn="just">
              <a:lnSpc>
                <a:spcPts val="303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3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distillation</a:t>
            </a:r>
            <a:r>
              <a:rPr sz="2800" spc="3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technique</a:t>
            </a:r>
            <a:r>
              <a:rPr sz="2800" spc="3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was</a:t>
            </a:r>
            <a:r>
              <a:rPr sz="2800" spc="4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developed</a:t>
            </a:r>
            <a:r>
              <a:rPr sz="2800" spc="3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around</a:t>
            </a:r>
            <a:r>
              <a:rPr sz="2800" spc="3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1200</a:t>
            </a:r>
            <a:r>
              <a:rPr sz="2800" spc="3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CE</a:t>
            </a:r>
            <a:r>
              <a:rPr sz="2800" spc="3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</a:t>
            </a:r>
            <a:r>
              <a:rPr sz="2800" spc="3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Zawar 	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Rajasthan.</a:t>
            </a:r>
            <a:endParaRPr sz="2800">
              <a:latin typeface="Calibri"/>
              <a:cs typeface="Calibri"/>
            </a:endParaRPr>
          </a:p>
          <a:p>
            <a:pPr marL="240665" indent="-227965" algn="just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Arthashastra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describes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production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zinc.</a:t>
            </a:r>
            <a:endParaRPr sz="2800">
              <a:latin typeface="Calibri"/>
              <a:cs typeface="Calibri"/>
            </a:endParaRPr>
          </a:p>
          <a:p>
            <a:pPr marL="239395" marR="6350" indent="-227329" algn="just">
              <a:lnSpc>
                <a:spcPts val="303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4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Rasaratnakara</a:t>
            </a:r>
            <a:r>
              <a:rPr sz="2800" spc="4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45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Nagarjuna</a:t>
            </a:r>
            <a:r>
              <a:rPr sz="2800" spc="45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describes</a:t>
            </a:r>
            <a:r>
              <a:rPr sz="2800" spc="4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45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production</a:t>
            </a:r>
            <a:r>
              <a:rPr sz="2800" spc="45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4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brass 	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zinc.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Metals:</a:t>
            </a:r>
            <a:r>
              <a:rPr spc="-135" dirty="0"/>
              <a:t> </a:t>
            </a:r>
            <a:r>
              <a:rPr spc="-20" dirty="0"/>
              <a:t>Iron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715" indent="-227965" algn="just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Recent</a:t>
            </a:r>
            <a:r>
              <a:rPr spc="535" dirty="0"/>
              <a:t> </a:t>
            </a:r>
            <a:r>
              <a:rPr dirty="0"/>
              <a:t>excavations</a:t>
            </a:r>
            <a:r>
              <a:rPr spc="540" dirty="0"/>
              <a:t> </a:t>
            </a:r>
            <a:r>
              <a:rPr dirty="0"/>
              <a:t>in</a:t>
            </a:r>
            <a:r>
              <a:rPr spc="545" dirty="0"/>
              <a:t> </a:t>
            </a:r>
            <a:r>
              <a:rPr dirty="0"/>
              <a:t>Middle</a:t>
            </a:r>
            <a:r>
              <a:rPr spc="555" dirty="0"/>
              <a:t> </a:t>
            </a:r>
            <a:r>
              <a:rPr dirty="0"/>
              <a:t>Ganges</a:t>
            </a:r>
            <a:r>
              <a:rPr spc="535" dirty="0"/>
              <a:t> </a:t>
            </a:r>
            <a:r>
              <a:rPr dirty="0"/>
              <a:t>Valley</a:t>
            </a:r>
            <a:r>
              <a:rPr spc="530" dirty="0"/>
              <a:t> </a:t>
            </a:r>
            <a:r>
              <a:rPr dirty="0"/>
              <a:t>show</a:t>
            </a:r>
            <a:r>
              <a:rPr spc="535" dirty="0"/>
              <a:t> </a:t>
            </a:r>
            <a:r>
              <a:rPr dirty="0"/>
              <a:t>iron</a:t>
            </a:r>
            <a:r>
              <a:rPr spc="535" dirty="0"/>
              <a:t> </a:t>
            </a:r>
            <a:r>
              <a:rPr dirty="0"/>
              <a:t>working</a:t>
            </a:r>
            <a:r>
              <a:rPr spc="540" dirty="0"/>
              <a:t> </a:t>
            </a:r>
            <a:r>
              <a:rPr spc="-25" dirty="0"/>
              <a:t>in 	</a:t>
            </a:r>
            <a:r>
              <a:rPr dirty="0"/>
              <a:t>India</a:t>
            </a:r>
            <a:r>
              <a:rPr spc="-35" dirty="0"/>
              <a:t> </a:t>
            </a:r>
            <a:r>
              <a:rPr dirty="0"/>
              <a:t>may</a:t>
            </a:r>
            <a:r>
              <a:rPr spc="-50" dirty="0"/>
              <a:t> </a:t>
            </a:r>
            <a:r>
              <a:rPr dirty="0"/>
              <a:t>have</a:t>
            </a:r>
            <a:r>
              <a:rPr spc="-45" dirty="0"/>
              <a:t> </a:t>
            </a:r>
            <a:r>
              <a:rPr dirty="0"/>
              <a:t>begun</a:t>
            </a:r>
            <a:r>
              <a:rPr spc="-20" dirty="0"/>
              <a:t> </a:t>
            </a:r>
            <a:r>
              <a:rPr dirty="0"/>
              <a:t>as</a:t>
            </a:r>
            <a:r>
              <a:rPr spc="-45" dirty="0"/>
              <a:t> </a:t>
            </a:r>
            <a:r>
              <a:rPr dirty="0"/>
              <a:t>early</a:t>
            </a:r>
            <a:r>
              <a:rPr spc="-45" dirty="0"/>
              <a:t> </a:t>
            </a:r>
            <a:r>
              <a:rPr dirty="0"/>
              <a:t>as</a:t>
            </a:r>
            <a:r>
              <a:rPr spc="-45" dirty="0"/>
              <a:t> </a:t>
            </a:r>
            <a:r>
              <a:rPr dirty="0"/>
              <a:t>1800</a:t>
            </a:r>
            <a:r>
              <a:rPr spc="-10" dirty="0"/>
              <a:t> </a:t>
            </a:r>
            <a:r>
              <a:rPr spc="-20" dirty="0"/>
              <a:t>BCE.</a:t>
            </a:r>
          </a:p>
          <a:p>
            <a:pPr marL="240029" marR="6985" indent="-227965" algn="just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In</a:t>
            </a:r>
            <a:r>
              <a:rPr spc="114" dirty="0"/>
              <a:t> </a:t>
            </a:r>
            <a:r>
              <a:rPr dirty="0"/>
              <a:t>the</a:t>
            </a:r>
            <a:r>
              <a:rPr spc="114" dirty="0"/>
              <a:t> </a:t>
            </a:r>
            <a:r>
              <a:rPr dirty="0"/>
              <a:t>5th</a:t>
            </a:r>
            <a:r>
              <a:rPr spc="125" dirty="0"/>
              <a:t> </a:t>
            </a:r>
            <a:r>
              <a:rPr dirty="0"/>
              <a:t>century</a:t>
            </a:r>
            <a:r>
              <a:rPr spc="120" dirty="0"/>
              <a:t> </a:t>
            </a:r>
            <a:r>
              <a:rPr dirty="0"/>
              <a:t>BCE,</a:t>
            </a:r>
            <a:r>
              <a:rPr spc="114" dirty="0"/>
              <a:t> </a:t>
            </a:r>
            <a:r>
              <a:rPr dirty="0"/>
              <a:t>the</a:t>
            </a:r>
            <a:r>
              <a:rPr spc="114" dirty="0"/>
              <a:t> </a:t>
            </a:r>
            <a:r>
              <a:rPr dirty="0"/>
              <a:t>Greek</a:t>
            </a:r>
            <a:r>
              <a:rPr spc="114" dirty="0"/>
              <a:t> </a:t>
            </a:r>
            <a:r>
              <a:rPr dirty="0"/>
              <a:t>historian</a:t>
            </a:r>
            <a:r>
              <a:rPr spc="130" dirty="0"/>
              <a:t> </a:t>
            </a:r>
            <a:r>
              <a:rPr dirty="0"/>
              <a:t>Herodotus</a:t>
            </a:r>
            <a:r>
              <a:rPr spc="110" dirty="0"/>
              <a:t> </a:t>
            </a:r>
            <a:r>
              <a:rPr dirty="0"/>
              <a:t>observed</a:t>
            </a:r>
            <a:r>
              <a:rPr spc="120" dirty="0"/>
              <a:t> </a:t>
            </a:r>
            <a:r>
              <a:rPr spc="-20" dirty="0"/>
              <a:t>that 	</a:t>
            </a:r>
            <a:r>
              <a:rPr dirty="0"/>
              <a:t>"Indian</a:t>
            </a:r>
            <a:r>
              <a:rPr spc="-65" dirty="0"/>
              <a:t> </a:t>
            </a:r>
            <a:r>
              <a:rPr dirty="0"/>
              <a:t>and</a:t>
            </a:r>
            <a:r>
              <a:rPr spc="-80" dirty="0"/>
              <a:t> </a:t>
            </a:r>
            <a:r>
              <a:rPr dirty="0"/>
              <a:t>the</a:t>
            </a:r>
            <a:r>
              <a:rPr spc="-80" dirty="0"/>
              <a:t> </a:t>
            </a:r>
            <a:r>
              <a:rPr spc="-10" dirty="0"/>
              <a:t>Persian</a:t>
            </a:r>
            <a:r>
              <a:rPr spc="-65" dirty="0"/>
              <a:t> </a:t>
            </a:r>
            <a:r>
              <a:rPr dirty="0"/>
              <a:t>army</a:t>
            </a:r>
            <a:r>
              <a:rPr spc="-90" dirty="0"/>
              <a:t> </a:t>
            </a:r>
            <a:r>
              <a:rPr dirty="0"/>
              <a:t>used</a:t>
            </a:r>
            <a:r>
              <a:rPr spc="-65" dirty="0"/>
              <a:t> </a:t>
            </a:r>
            <a:r>
              <a:rPr dirty="0"/>
              <a:t>arrows</a:t>
            </a:r>
            <a:r>
              <a:rPr spc="-90" dirty="0"/>
              <a:t> </a:t>
            </a:r>
            <a:r>
              <a:rPr dirty="0"/>
              <a:t>tipped</a:t>
            </a:r>
            <a:r>
              <a:rPr spc="-55" dirty="0"/>
              <a:t> </a:t>
            </a:r>
            <a:r>
              <a:rPr dirty="0"/>
              <a:t>with</a:t>
            </a:r>
            <a:r>
              <a:rPr spc="-75" dirty="0"/>
              <a:t> </a:t>
            </a:r>
            <a:r>
              <a:rPr spc="-10" dirty="0"/>
              <a:t>iron.“</a:t>
            </a:r>
          </a:p>
          <a:p>
            <a:pPr marL="239395" marR="6350" indent="-227329" algn="just">
              <a:lnSpc>
                <a:spcPts val="303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Ancient</a:t>
            </a:r>
            <a:r>
              <a:rPr spc="310" dirty="0"/>
              <a:t> </a:t>
            </a:r>
            <a:r>
              <a:rPr dirty="0"/>
              <a:t>Romansused</a:t>
            </a:r>
            <a:r>
              <a:rPr spc="340" dirty="0"/>
              <a:t> </a:t>
            </a:r>
            <a:r>
              <a:rPr dirty="0"/>
              <a:t>armour</a:t>
            </a:r>
            <a:r>
              <a:rPr spc="325" dirty="0"/>
              <a:t> </a:t>
            </a:r>
            <a:r>
              <a:rPr dirty="0"/>
              <a:t>and</a:t>
            </a:r>
            <a:r>
              <a:rPr spc="315" dirty="0"/>
              <a:t> </a:t>
            </a:r>
            <a:r>
              <a:rPr dirty="0"/>
              <a:t>cutlery</a:t>
            </a:r>
            <a:r>
              <a:rPr spc="315" dirty="0"/>
              <a:t> </a:t>
            </a:r>
            <a:r>
              <a:rPr dirty="0"/>
              <a:t>made</a:t>
            </a:r>
            <a:r>
              <a:rPr spc="310" dirty="0"/>
              <a:t> </a:t>
            </a:r>
            <a:r>
              <a:rPr dirty="0"/>
              <a:t>of</a:t>
            </a:r>
            <a:r>
              <a:rPr spc="320" dirty="0"/>
              <a:t> </a:t>
            </a:r>
            <a:r>
              <a:rPr dirty="0"/>
              <a:t>Indian</a:t>
            </a:r>
            <a:r>
              <a:rPr spc="310" dirty="0"/>
              <a:t> </a:t>
            </a:r>
            <a:r>
              <a:rPr dirty="0"/>
              <a:t>iron.</a:t>
            </a:r>
            <a:r>
              <a:rPr spc="330" dirty="0"/>
              <a:t> </a:t>
            </a:r>
            <a:r>
              <a:rPr spc="-10" dirty="0"/>
              <a:t>Pliny 	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Elder</a:t>
            </a:r>
            <a:r>
              <a:rPr spc="-65" dirty="0"/>
              <a:t> </a:t>
            </a:r>
            <a:r>
              <a:rPr dirty="0"/>
              <a:t>also</a:t>
            </a:r>
            <a:r>
              <a:rPr spc="-45" dirty="0"/>
              <a:t> </a:t>
            </a:r>
            <a:r>
              <a:rPr spc="-10" dirty="0"/>
              <a:t>mentioned</a:t>
            </a:r>
            <a:r>
              <a:rPr spc="-40" dirty="0"/>
              <a:t> </a:t>
            </a:r>
            <a:r>
              <a:rPr dirty="0"/>
              <a:t>Indian</a:t>
            </a:r>
            <a:r>
              <a:rPr spc="-35" dirty="0"/>
              <a:t> </a:t>
            </a:r>
            <a:r>
              <a:rPr spc="-10" dirty="0"/>
              <a:t>iron.</a:t>
            </a:r>
          </a:p>
          <a:p>
            <a:pPr marL="240029" marR="5080" indent="-227965" algn="just">
              <a:lnSpc>
                <a:spcPts val="3020"/>
              </a:lnSpc>
              <a:spcBef>
                <a:spcPts val="99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Muhammad</a:t>
            </a:r>
            <a:r>
              <a:rPr spc="35" dirty="0"/>
              <a:t> </a:t>
            </a:r>
            <a:r>
              <a:rPr spc="-10" dirty="0"/>
              <a:t>al-</a:t>
            </a:r>
            <a:r>
              <a:rPr dirty="0"/>
              <a:t>Idrisi</a:t>
            </a:r>
            <a:r>
              <a:rPr spc="30" dirty="0"/>
              <a:t> </a:t>
            </a:r>
            <a:r>
              <a:rPr dirty="0"/>
              <a:t>wrote</a:t>
            </a:r>
            <a:r>
              <a:rPr spc="30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dirty="0"/>
              <a:t>Hindus</a:t>
            </a:r>
            <a:r>
              <a:rPr spc="35" dirty="0"/>
              <a:t> </a:t>
            </a:r>
            <a:r>
              <a:rPr dirty="0"/>
              <a:t>excelled</a:t>
            </a:r>
            <a:r>
              <a:rPr spc="30" dirty="0"/>
              <a:t> </a:t>
            </a:r>
            <a:r>
              <a:rPr dirty="0"/>
              <a:t>in</a:t>
            </a:r>
            <a:r>
              <a:rPr spc="35" dirty="0"/>
              <a:t>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manufacture</a:t>
            </a:r>
            <a:r>
              <a:rPr spc="35" dirty="0"/>
              <a:t> </a:t>
            </a:r>
            <a:r>
              <a:rPr spc="-25" dirty="0"/>
              <a:t>of 	</a:t>
            </a:r>
            <a:r>
              <a:rPr dirty="0"/>
              <a:t>iron,</a:t>
            </a:r>
            <a:r>
              <a:rPr spc="145" dirty="0"/>
              <a:t> </a:t>
            </a:r>
            <a:r>
              <a:rPr dirty="0"/>
              <a:t>and</a:t>
            </a:r>
            <a:r>
              <a:rPr spc="150" dirty="0"/>
              <a:t> </a:t>
            </a:r>
            <a:r>
              <a:rPr dirty="0"/>
              <a:t>that</a:t>
            </a:r>
            <a:r>
              <a:rPr spc="155" dirty="0"/>
              <a:t> </a:t>
            </a:r>
            <a:r>
              <a:rPr dirty="0"/>
              <a:t>it</a:t>
            </a:r>
            <a:r>
              <a:rPr spc="160" dirty="0"/>
              <a:t> </a:t>
            </a:r>
            <a:r>
              <a:rPr dirty="0"/>
              <a:t>would</a:t>
            </a:r>
            <a:r>
              <a:rPr spc="150" dirty="0"/>
              <a:t> </a:t>
            </a:r>
            <a:r>
              <a:rPr dirty="0"/>
              <a:t>be</a:t>
            </a:r>
            <a:r>
              <a:rPr spc="155" dirty="0"/>
              <a:t> </a:t>
            </a:r>
            <a:r>
              <a:rPr dirty="0"/>
              <a:t>impossible</a:t>
            </a:r>
            <a:r>
              <a:rPr spc="155" dirty="0"/>
              <a:t> </a:t>
            </a:r>
            <a:r>
              <a:rPr dirty="0"/>
              <a:t>to</a:t>
            </a:r>
            <a:r>
              <a:rPr spc="165" dirty="0"/>
              <a:t> </a:t>
            </a:r>
            <a:r>
              <a:rPr dirty="0"/>
              <a:t>find</a:t>
            </a:r>
            <a:r>
              <a:rPr spc="150" dirty="0"/>
              <a:t> </a:t>
            </a:r>
            <a:r>
              <a:rPr dirty="0"/>
              <a:t>anything</a:t>
            </a:r>
            <a:r>
              <a:rPr spc="150" dirty="0"/>
              <a:t> </a:t>
            </a:r>
            <a:r>
              <a:rPr dirty="0"/>
              <a:t>to</a:t>
            </a:r>
            <a:r>
              <a:rPr spc="160" dirty="0"/>
              <a:t> </a:t>
            </a:r>
            <a:r>
              <a:rPr dirty="0"/>
              <a:t>surpass</a:t>
            </a:r>
            <a:r>
              <a:rPr spc="155" dirty="0"/>
              <a:t> </a:t>
            </a:r>
            <a:r>
              <a:rPr spc="-25" dirty="0"/>
              <a:t>the 	</a:t>
            </a:r>
            <a:r>
              <a:rPr dirty="0"/>
              <a:t>edge</a:t>
            </a:r>
            <a:r>
              <a:rPr spc="-85" dirty="0"/>
              <a:t> </a:t>
            </a:r>
            <a:r>
              <a:rPr dirty="0"/>
              <a:t>from</a:t>
            </a:r>
            <a:r>
              <a:rPr spc="-75" dirty="0"/>
              <a:t> </a:t>
            </a:r>
            <a:r>
              <a:rPr dirty="0"/>
              <a:t>Hindwani</a:t>
            </a:r>
            <a:r>
              <a:rPr spc="-55" dirty="0"/>
              <a:t> </a:t>
            </a:r>
            <a:r>
              <a:rPr spc="-10" dirty="0"/>
              <a:t>steel.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Wootz</a:t>
            </a:r>
            <a:r>
              <a:rPr spc="-114" dirty="0"/>
              <a:t> </a:t>
            </a:r>
            <a:r>
              <a:rPr dirty="0"/>
              <a:t>and</a:t>
            </a:r>
            <a:r>
              <a:rPr spc="-110" dirty="0"/>
              <a:t> </a:t>
            </a:r>
            <a:r>
              <a:rPr spc="-10" dirty="0"/>
              <a:t>steel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029" marR="5080" indent="-227965" algn="just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The</a:t>
            </a:r>
            <a:r>
              <a:rPr spc="275" dirty="0"/>
              <a:t> </a:t>
            </a:r>
            <a:r>
              <a:rPr dirty="0"/>
              <a:t>first</a:t>
            </a:r>
            <a:r>
              <a:rPr spc="270" dirty="0"/>
              <a:t> </a:t>
            </a:r>
            <a:r>
              <a:rPr dirty="0"/>
              <a:t>form</a:t>
            </a:r>
            <a:r>
              <a:rPr spc="275" dirty="0"/>
              <a:t> </a:t>
            </a:r>
            <a:r>
              <a:rPr dirty="0"/>
              <a:t>of</a:t>
            </a:r>
            <a:r>
              <a:rPr spc="275" dirty="0"/>
              <a:t> </a:t>
            </a:r>
            <a:r>
              <a:rPr dirty="0"/>
              <a:t>crucible</a:t>
            </a:r>
            <a:r>
              <a:rPr spc="280" dirty="0"/>
              <a:t> </a:t>
            </a:r>
            <a:r>
              <a:rPr dirty="0"/>
              <a:t>steel</a:t>
            </a:r>
            <a:r>
              <a:rPr spc="270" dirty="0"/>
              <a:t> </a:t>
            </a:r>
            <a:r>
              <a:rPr dirty="0"/>
              <a:t>was</a:t>
            </a:r>
            <a:r>
              <a:rPr spc="280" dirty="0"/>
              <a:t> </a:t>
            </a:r>
            <a:r>
              <a:rPr dirty="0"/>
              <a:t>wootz,</a:t>
            </a:r>
            <a:r>
              <a:rPr spc="275" dirty="0"/>
              <a:t> </a:t>
            </a:r>
            <a:r>
              <a:rPr dirty="0"/>
              <a:t>developed</a:t>
            </a:r>
            <a:r>
              <a:rPr spc="260" dirty="0"/>
              <a:t> </a:t>
            </a:r>
            <a:r>
              <a:rPr dirty="0"/>
              <a:t>in</a:t>
            </a:r>
            <a:r>
              <a:rPr spc="275" dirty="0"/>
              <a:t> </a:t>
            </a:r>
            <a:r>
              <a:rPr dirty="0"/>
              <a:t>India</a:t>
            </a:r>
            <a:r>
              <a:rPr spc="280" dirty="0"/>
              <a:t> </a:t>
            </a:r>
            <a:r>
              <a:rPr spc="-20" dirty="0"/>
              <a:t>some 	</a:t>
            </a:r>
            <a:r>
              <a:rPr dirty="0"/>
              <a:t>time</a:t>
            </a:r>
            <a:r>
              <a:rPr spc="325" dirty="0"/>
              <a:t>  </a:t>
            </a:r>
            <a:r>
              <a:rPr dirty="0"/>
              <a:t>around</a:t>
            </a:r>
            <a:r>
              <a:rPr spc="340" dirty="0"/>
              <a:t>  </a:t>
            </a:r>
            <a:r>
              <a:rPr dirty="0"/>
              <a:t>300</a:t>
            </a:r>
            <a:r>
              <a:rPr spc="340" dirty="0"/>
              <a:t>  </a:t>
            </a:r>
            <a:r>
              <a:rPr dirty="0"/>
              <a:t>BCE.</a:t>
            </a:r>
            <a:r>
              <a:rPr spc="330" dirty="0"/>
              <a:t>  </a:t>
            </a:r>
            <a:r>
              <a:rPr dirty="0"/>
              <a:t>In</a:t>
            </a:r>
            <a:r>
              <a:rPr spc="340" dirty="0"/>
              <a:t>  </a:t>
            </a:r>
            <a:r>
              <a:rPr dirty="0"/>
              <a:t>its</a:t>
            </a:r>
            <a:r>
              <a:rPr spc="335" dirty="0"/>
              <a:t>  </a:t>
            </a:r>
            <a:r>
              <a:rPr dirty="0"/>
              <a:t>production</a:t>
            </a:r>
            <a:r>
              <a:rPr spc="335" dirty="0"/>
              <a:t>  </a:t>
            </a:r>
            <a:r>
              <a:rPr dirty="0"/>
              <a:t>the</a:t>
            </a:r>
            <a:r>
              <a:rPr spc="335" dirty="0"/>
              <a:t>  </a:t>
            </a:r>
            <a:r>
              <a:rPr dirty="0"/>
              <a:t>iron</a:t>
            </a:r>
            <a:r>
              <a:rPr spc="335" dirty="0"/>
              <a:t>  </a:t>
            </a:r>
            <a:r>
              <a:rPr dirty="0"/>
              <a:t>was</a:t>
            </a:r>
            <a:r>
              <a:rPr spc="335" dirty="0"/>
              <a:t>  </a:t>
            </a:r>
            <a:r>
              <a:rPr spc="-10" dirty="0"/>
              <a:t>mixed 	</a:t>
            </a:r>
            <a:r>
              <a:rPr dirty="0"/>
              <a:t>with</a:t>
            </a:r>
            <a:r>
              <a:rPr spc="-65" dirty="0"/>
              <a:t> </a:t>
            </a:r>
            <a:r>
              <a:rPr dirty="0"/>
              <a:t>glass</a:t>
            </a:r>
            <a:r>
              <a:rPr spc="-7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then</a:t>
            </a:r>
            <a:r>
              <a:rPr spc="-55" dirty="0"/>
              <a:t> </a:t>
            </a:r>
            <a:r>
              <a:rPr dirty="0"/>
              <a:t>slowly</a:t>
            </a:r>
            <a:r>
              <a:rPr spc="-75" dirty="0"/>
              <a:t> </a:t>
            </a:r>
            <a:r>
              <a:rPr dirty="0"/>
              <a:t>heated</a:t>
            </a:r>
            <a:r>
              <a:rPr spc="-65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dirty="0"/>
              <a:t>then</a:t>
            </a:r>
            <a:r>
              <a:rPr spc="-55" dirty="0"/>
              <a:t> </a:t>
            </a:r>
            <a:r>
              <a:rPr spc="-10" dirty="0"/>
              <a:t>cooled.</a:t>
            </a:r>
          </a:p>
          <a:p>
            <a:pPr marL="240029" marR="5080" indent="-227965" algn="just">
              <a:lnSpc>
                <a:spcPts val="3020"/>
              </a:lnSpc>
              <a:spcBef>
                <a:spcPts val="105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As</a:t>
            </a:r>
            <a:r>
              <a:rPr spc="70" dirty="0"/>
              <a:t> </a:t>
            </a:r>
            <a:r>
              <a:rPr dirty="0"/>
              <a:t>the</a:t>
            </a:r>
            <a:r>
              <a:rPr spc="60" dirty="0"/>
              <a:t> </a:t>
            </a:r>
            <a:r>
              <a:rPr dirty="0"/>
              <a:t>mixture</a:t>
            </a:r>
            <a:r>
              <a:rPr spc="75" dirty="0"/>
              <a:t> </a:t>
            </a:r>
            <a:r>
              <a:rPr dirty="0"/>
              <a:t>cooled</a:t>
            </a:r>
            <a:r>
              <a:rPr spc="70" dirty="0"/>
              <a:t> </a:t>
            </a:r>
            <a:r>
              <a:rPr dirty="0"/>
              <a:t>the</a:t>
            </a:r>
            <a:r>
              <a:rPr spc="75" dirty="0"/>
              <a:t> </a:t>
            </a:r>
            <a:r>
              <a:rPr dirty="0"/>
              <a:t>glass</a:t>
            </a:r>
            <a:r>
              <a:rPr spc="75" dirty="0"/>
              <a:t> </a:t>
            </a:r>
            <a:r>
              <a:rPr dirty="0"/>
              <a:t>would</a:t>
            </a:r>
            <a:r>
              <a:rPr spc="75" dirty="0"/>
              <a:t> </a:t>
            </a:r>
            <a:r>
              <a:rPr dirty="0"/>
              <a:t>bond</a:t>
            </a:r>
            <a:r>
              <a:rPr spc="80" dirty="0"/>
              <a:t> </a:t>
            </a:r>
            <a:r>
              <a:rPr dirty="0"/>
              <a:t>to</a:t>
            </a:r>
            <a:r>
              <a:rPr spc="75" dirty="0"/>
              <a:t> </a:t>
            </a:r>
            <a:r>
              <a:rPr dirty="0"/>
              <a:t>impurities</a:t>
            </a:r>
            <a:r>
              <a:rPr spc="65" dirty="0"/>
              <a:t> </a:t>
            </a:r>
            <a:r>
              <a:rPr dirty="0"/>
              <a:t>in</a:t>
            </a:r>
            <a:r>
              <a:rPr spc="85" dirty="0"/>
              <a:t> </a:t>
            </a:r>
            <a:r>
              <a:rPr dirty="0"/>
              <a:t>the</a:t>
            </a:r>
            <a:r>
              <a:rPr spc="70" dirty="0"/>
              <a:t> </a:t>
            </a:r>
            <a:r>
              <a:rPr spc="-10" dirty="0"/>
              <a:t>steel 	</a:t>
            </a:r>
            <a:r>
              <a:rPr dirty="0"/>
              <a:t>and</a:t>
            </a:r>
            <a:r>
              <a:rPr spc="-55" dirty="0"/>
              <a:t> </a:t>
            </a:r>
            <a:r>
              <a:rPr dirty="0"/>
              <a:t>then</a:t>
            </a:r>
            <a:r>
              <a:rPr spc="-45" dirty="0"/>
              <a:t> </a:t>
            </a:r>
            <a:r>
              <a:rPr dirty="0"/>
              <a:t>float</a:t>
            </a:r>
            <a:r>
              <a:rPr spc="-60" dirty="0"/>
              <a:t> </a:t>
            </a:r>
            <a:r>
              <a:rPr dirty="0"/>
              <a:t>to</a:t>
            </a:r>
            <a:r>
              <a:rPr spc="-7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dirty="0"/>
              <a:t>surface,</a:t>
            </a:r>
            <a:r>
              <a:rPr spc="-45" dirty="0"/>
              <a:t> </a:t>
            </a:r>
            <a:r>
              <a:rPr dirty="0"/>
              <a:t>leaving</a:t>
            </a:r>
            <a:r>
              <a:rPr spc="-75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dirty="0"/>
              <a:t>steel</a:t>
            </a:r>
            <a:r>
              <a:rPr spc="-65" dirty="0"/>
              <a:t> </a:t>
            </a:r>
            <a:r>
              <a:rPr spc="-10" dirty="0"/>
              <a:t>considerably</a:t>
            </a:r>
            <a:r>
              <a:rPr spc="-55" dirty="0"/>
              <a:t> </a:t>
            </a:r>
            <a:r>
              <a:rPr spc="-10" dirty="0"/>
              <a:t>purer.</a:t>
            </a:r>
          </a:p>
          <a:p>
            <a:pPr marL="240029" marR="6350" indent="-227965" algn="just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As</a:t>
            </a:r>
            <a:r>
              <a:rPr spc="515" dirty="0"/>
              <a:t> </a:t>
            </a:r>
            <a:r>
              <a:rPr dirty="0"/>
              <a:t>early</a:t>
            </a:r>
            <a:r>
              <a:rPr spc="505" dirty="0"/>
              <a:t> </a:t>
            </a:r>
            <a:r>
              <a:rPr dirty="0"/>
              <a:t>as</a:t>
            </a:r>
            <a:r>
              <a:rPr spc="520" dirty="0"/>
              <a:t> </a:t>
            </a:r>
            <a:r>
              <a:rPr dirty="0"/>
              <a:t>the</a:t>
            </a:r>
            <a:r>
              <a:rPr spc="509" dirty="0"/>
              <a:t> </a:t>
            </a:r>
            <a:r>
              <a:rPr dirty="0"/>
              <a:t>17th</a:t>
            </a:r>
            <a:r>
              <a:rPr spc="515" dirty="0"/>
              <a:t> </a:t>
            </a:r>
            <a:r>
              <a:rPr dirty="0"/>
              <a:t>century,</a:t>
            </a:r>
            <a:r>
              <a:rPr spc="535" dirty="0"/>
              <a:t> </a:t>
            </a:r>
            <a:r>
              <a:rPr dirty="0"/>
              <a:t>Europeans</a:t>
            </a:r>
            <a:r>
              <a:rPr spc="515" dirty="0"/>
              <a:t> </a:t>
            </a:r>
            <a:r>
              <a:rPr dirty="0"/>
              <a:t>knew</a:t>
            </a:r>
            <a:r>
              <a:rPr spc="530" dirty="0"/>
              <a:t> </a:t>
            </a:r>
            <a:r>
              <a:rPr dirty="0"/>
              <a:t>of</a:t>
            </a:r>
            <a:r>
              <a:rPr spc="500" dirty="0"/>
              <a:t> </a:t>
            </a:r>
            <a:r>
              <a:rPr dirty="0"/>
              <a:t>India's</a:t>
            </a:r>
            <a:r>
              <a:rPr spc="500" dirty="0"/>
              <a:t> </a:t>
            </a:r>
            <a:r>
              <a:rPr dirty="0"/>
              <a:t>ability</a:t>
            </a:r>
            <a:r>
              <a:rPr spc="500" dirty="0"/>
              <a:t> </a:t>
            </a:r>
            <a:r>
              <a:rPr spc="-25" dirty="0"/>
              <a:t>to 	</a:t>
            </a:r>
            <a:r>
              <a:rPr dirty="0"/>
              <a:t>make</a:t>
            </a:r>
            <a:r>
              <a:rPr spc="165" dirty="0"/>
              <a:t> </a:t>
            </a:r>
            <a:r>
              <a:rPr dirty="0"/>
              <a:t>crucible</a:t>
            </a:r>
            <a:r>
              <a:rPr spc="185" dirty="0"/>
              <a:t> </a:t>
            </a:r>
            <a:r>
              <a:rPr dirty="0"/>
              <a:t>steel</a:t>
            </a:r>
            <a:r>
              <a:rPr spc="165" dirty="0"/>
              <a:t> </a:t>
            </a:r>
            <a:r>
              <a:rPr dirty="0"/>
              <a:t>from</a:t>
            </a:r>
            <a:r>
              <a:rPr spc="170" dirty="0"/>
              <a:t> </a:t>
            </a:r>
            <a:r>
              <a:rPr dirty="0"/>
              <a:t>reports</a:t>
            </a:r>
            <a:r>
              <a:rPr spc="190" dirty="0"/>
              <a:t> </a:t>
            </a:r>
            <a:r>
              <a:rPr dirty="0"/>
              <a:t>brought</a:t>
            </a:r>
            <a:r>
              <a:rPr spc="185" dirty="0"/>
              <a:t> </a:t>
            </a:r>
            <a:r>
              <a:rPr dirty="0"/>
              <a:t>back</a:t>
            </a:r>
            <a:r>
              <a:rPr spc="185" dirty="0"/>
              <a:t> </a:t>
            </a:r>
            <a:r>
              <a:rPr dirty="0"/>
              <a:t>by</a:t>
            </a:r>
            <a:r>
              <a:rPr spc="175" dirty="0"/>
              <a:t> </a:t>
            </a:r>
            <a:r>
              <a:rPr dirty="0"/>
              <a:t>travelers</a:t>
            </a:r>
            <a:r>
              <a:rPr spc="175" dirty="0"/>
              <a:t> </a:t>
            </a:r>
            <a:r>
              <a:rPr dirty="0"/>
              <a:t>who</a:t>
            </a:r>
            <a:r>
              <a:rPr spc="180" dirty="0"/>
              <a:t> </a:t>
            </a:r>
            <a:r>
              <a:rPr spc="-25" dirty="0"/>
              <a:t>had 	</a:t>
            </a:r>
            <a:r>
              <a:rPr dirty="0"/>
              <a:t>observed</a:t>
            </a:r>
            <a:r>
              <a:rPr spc="-65" dirty="0"/>
              <a:t> </a:t>
            </a:r>
            <a:r>
              <a:rPr dirty="0"/>
              <a:t>the</a:t>
            </a:r>
            <a:r>
              <a:rPr spc="-85" dirty="0"/>
              <a:t> </a:t>
            </a:r>
            <a:r>
              <a:rPr dirty="0"/>
              <a:t>process</a:t>
            </a:r>
            <a:r>
              <a:rPr spc="-70" dirty="0"/>
              <a:t> </a:t>
            </a:r>
            <a:r>
              <a:rPr dirty="0"/>
              <a:t>at</a:t>
            </a:r>
            <a:r>
              <a:rPr spc="-85" dirty="0"/>
              <a:t> </a:t>
            </a:r>
            <a:r>
              <a:rPr dirty="0"/>
              <a:t>several</a:t>
            </a:r>
            <a:r>
              <a:rPr spc="-85" dirty="0"/>
              <a:t> </a:t>
            </a:r>
            <a:r>
              <a:rPr dirty="0"/>
              <a:t>places</a:t>
            </a:r>
            <a:r>
              <a:rPr spc="-90" dirty="0"/>
              <a:t> </a:t>
            </a:r>
            <a:r>
              <a:rPr dirty="0"/>
              <a:t>in</a:t>
            </a:r>
            <a:r>
              <a:rPr spc="-65" dirty="0"/>
              <a:t> </a:t>
            </a:r>
            <a:r>
              <a:rPr dirty="0"/>
              <a:t>southern</a:t>
            </a:r>
            <a:r>
              <a:rPr spc="-65" dirty="0"/>
              <a:t> </a:t>
            </a:r>
            <a:r>
              <a:rPr spc="-10" dirty="0"/>
              <a:t>India.</a:t>
            </a:r>
          </a:p>
          <a:p>
            <a:pPr marL="239395" marR="5715" indent="-227329" algn="just">
              <a:lnSpc>
                <a:spcPts val="303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Several</a:t>
            </a:r>
            <a:r>
              <a:rPr spc="190" dirty="0"/>
              <a:t>  </a:t>
            </a:r>
            <a:r>
              <a:rPr dirty="0"/>
              <a:t>attempts</a:t>
            </a:r>
            <a:r>
              <a:rPr spc="200" dirty="0"/>
              <a:t>  </a:t>
            </a:r>
            <a:r>
              <a:rPr dirty="0"/>
              <a:t>were</a:t>
            </a:r>
            <a:r>
              <a:rPr spc="195" dirty="0"/>
              <a:t>  </a:t>
            </a:r>
            <a:r>
              <a:rPr dirty="0"/>
              <a:t>made</a:t>
            </a:r>
            <a:r>
              <a:rPr spc="190" dirty="0"/>
              <a:t>  </a:t>
            </a:r>
            <a:r>
              <a:rPr dirty="0"/>
              <a:t>to</a:t>
            </a:r>
            <a:r>
              <a:rPr spc="195" dirty="0"/>
              <a:t>  </a:t>
            </a:r>
            <a:r>
              <a:rPr dirty="0"/>
              <a:t>import</a:t>
            </a:r>
            <a:r>
              <a:rPr spc="190" dirty="0"/>
              <a:t>  </a:t>
            </a:r>
            <a:r>
              <a:rPr dirty="0"/>
              <a:t>the</a:t>
            </a:r>
            <a:r>
              <a:rPr spc="190" dirty="0"/>
              <a:t>  </a:t>
            </a:r>
            <a:r>
              <a:rPr dirty="0"/>
              <a:t>process,</a:t>
            </a:r>
            <a:r>
              <a:rPr spc="195" dirty="0"/>
              <a:t>  </a:t>
            </a:r>
            <a:r>
              <a:rPr dirty="0"/>
              <a:t>but</a:t>
            </a:r>
            <a:r>
              <a:rPr spc="190" dirty="0"/>
              <a:t>  </a:t>
            </a:r>
            <a:r>
              <a:rPr spc="-10" dirty="0"/>
              <a:t>failed 	</a:t>
            </a:r>
            <a:r>
              <a:rPr dirty="0"/>
              <a:t>because</a:t>
            </a:r>
            <a:r>
              <a:rPr spc="-90" dirty="0"/>
              <a:t> </a:t>
            </a:r>
            <a:r>
              <a:rPr dirty="0"/>
              <a:t>the</a:t>
            </a:r>
            <a:r>
              <a:rPr spc="-85" dirty="0"/>
              <a:t> </a:t>
            </a:r>
            <a:r>
              <a:rPr dirty="0"/>
              <a:t>exact</a:t>
            </a:r>
            <a:r>
              <a:rPr spc="-85" dirty="0"/>
              <a:t> </a:t>
            </a:r>
            <a:r>
              <a:rPr dirty="0"/>
              <a:t>technique</a:t>
            </a:r>
            <a:r>
              <a:rPr spc="-75" dirty="0"/>
              <a:t> </a:t>
            </a:r>
            <a:r>
              <a:rPr spc="-10" dirty="0"/>
              <a:t>remained</a:t>
            </a:r>
            <a:r>
              <a:rPr spc="-85" dirty="0"/>
              <a:t> </a:t>
            </a:r>
            <a:r>
              <a:rPr dirty="0"/>
              <a:t>a</a:t>
            </a:r>
            <a:r>
              <a:rPr spc="-85" dirty="0"/>
              <a:t> </a:t>
            </a:r>
            <a:r>
              <a:rPr spc="-10" dirty="0"/>
              <a:t>mystery.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6474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Wootz</a:t>
            </a:r>
            <a:r>
              <a:rPr spc="-114" dirty="0"/>
              <a:t> </a:t>
            </a:r>
            <a:r>
              <a:rPr dirty="0"/>
              <a:t>and</a:t>
            </a:r>
            <a:r>
              <a:rPr spc="-110" dirty="0"/>
              <a:t> </a:t>
            </a:r>
            <a:r>
              <a:rPr spc="-10" dirty="0"/>
              <a:t>steel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029" marR="5080" indent="-227965" algn="just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The</a:t>
            </a:r>
            <a:r>
              <a:rPr spc="275" dirty="0"/>
              <a:t> </a:t>
            </a:r>
            <a:r>
              <a:rPr dirty="0"/>
              <a:t>first</a:t>
            </a:r>
            <a:r>
              <a:rPr spc="270" dirty="0"/>
              <a:t> </a:t>
            </a:r>
            <a:r>
              <a:rPr dirty="0"/>
              <a:t>form</a:t>
            </a:r>
            <a:r>
              <a:rPr spc="275" dirty="0"/>
              <a:t> </a:t>
            </a:r>
            <a:r>
              <a:rPr dirty="0"/>
              <a:t>of</a:t>
            </a:r>
            <a:r>
              <a:rPr spc="275" dirty="0"/>
              <a:t> </a:t>
            </a:r>
            <a:r>
              <a:rPr dirty="0"/>
              <a:t>crucible</a:t>
            </a:r>
            <a:r>
              <a:rPr spc="280" dirty="0"/>
              <a:t> </a:t>
            </a:r>
            <a:r>
              <a:rPr dirty="0"/>
              <a:t>steel</a:t>
            </a:r>
            <a:r>
              <a:rPr spc="270" dirty="0"/>
              <a:t> </a:t>
            </a:r>
            <a:r>
              <a:rPr dirty="0"/>
              <a:t>was</a:t>
            </a:r>
            <a:r>
              <a:rPr spc="280" dirty="0"/>
              <a:t> </a:t>
            </a:r>
            <a:r>
              <a:rPr dirty="0"/>
              <a:t>wootz,</a:t>
            </a:r>
            <a:r>
              <a:rPr spc="275" dirty="0"/>
              <a:t> </a:t>
            </a:r>
            <a:r>
              <a:rPr dirty="0"/>
              <a:t>developed</a:t>
            </a:r>
            <a:r>
              <a:rPr spc="260" dirty="0"/>
              <a:t> </a:t>
            </a:r>
            <a:r>
              <a:rPr dirty="0"/>
              <a:t>in</a:t>
            </a:r>
            <a:r>
              <a:rPr spc="275" dirty="0"/>
              <a:t> </a:t>
            </a:r>
            <a:r>
              <a:rPr dirty="0"/>
              <a:t>India</a:t>
            </a:r>
            <a:r>
              <a:rPr spc="280" dirty="0"/>
              <a:t> </a:t>
            </a:r>
            <a:r>
              <a:rPr spc="-20" dirty="0"/>
              <a:t>some 	</a:t>
            </a:r>
            <a:r>
              <a:rPr dirty="0"/>
              <a:t>time</a:t>
            </a:r>
            <a:r>
              <a:rPr spc="325" dirty="0"/>
              <a:t>  </a:t>
            </a:r>
            <a:r>
              <a:rPr dirty="0"/>
              <a:t>around</a:t>
            </a:r>
            <a:r>
              <a:rPr spc="340" dirty="0"/>
              <a:t>  </a:t>
            </a:r>
            <a:r>
              <a:rPr dirty="0"/>
              <a:t>300</a:t>
            </a:r>
            <a:r>
              <a:rPr spc="340" dirty="0"/>
              <a:t>  </a:t>
            </a:r>
            <a:r>
              <a:rPr dirty="0"/>
              <a:t>BCE.</a:t>
            </a:r>
            <a:r>
              <a:rPr spc="330" dirty="0"/>
              <a:t>  </a:t>
            </a:r>
            <a:r>
              <a:rPr dirty="0"/>
              <a:t>In</a:t>
            </a:r>
            <a:r>
              <a:rPr spc="340" dirty="0"/>
              <a:t>  </a:t>
            </a:r>
            <a:r>
              <a:rPr dirty="0"/>
              <a:t>its</a:t>
            </a:r>
            <a:r>
              <a:rPr spc="335" dirty="0"/>
              <a:t>  </a:t>
            </a:r>
            <a:r>
              <a:rPr dirty="0"/>
              <a:t>production</a:t>
            </a:r>
            <a:r>
              <a:rPr spc="335" dirty="0"/>
              <a:t>  </a:t>
            </a:r>
            <a:r>
              <a:rPr dirty="0"/>
              <a:t>the</a:t>
            </a:r>
            <a:r>
              <a:rPr spc="335" dirty="0"/>
              <a:t>  </a:t>
            </a:r>
            <a:r>
              <a:rPr dirty="0"/>
              <a:t>iron</a:t>
            </a:r>
            <a:r>
              <a:rPr spc="335" dirty="0"/>
              <a:t>  </a:t>
            </a:r>
            <a:r>
              <a:rPr dirty="0"/>
              <a:t>was</a:t>
            </a:r>
            <a:r>
              <a:rPr spc="335" dirty="0"/>
              <a:t>  </a:t>
            </a:r>
            <a:r>
              <a:rPr spc="-10" dirty="0"/>
              <a:t>mixed 	</a:t>
            </a:r>
            <a:r>
              <a:rPr dirty="0"/>
              <a:t>with</a:t>
            </a:r>
            <a:r>
              <a:rPr spc="-65" dirty="0"/>
              <a:t> </a:t>
            </a:r>
            <a:r>
              <a:rPr dirty="0"/>
              <a:t>glass</a:t>
            </a:r>
            <a:r>
              <a:rPr spc="-7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then</a:t>
            </a:r>
            <a:r>
              <a:rPr spc="-55" dirty="0"/>
              <a:t> </a:t>
            </a:r>
            <a:r>
              <a:rPr dirty="0"/>
              <a:t>slowly</a:t>
            </a:r>
            <a:r>
              <a:rPr spc="-75" dirty="0"/>
              <a:t> </a:t>
            </a:r>
            <a:r>
              <a:rPr dirty="0"/>
              <a:t>heated</a:t>
            </a:r>
            <a:r>
              <a:rPr spc="-65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dirty="0"/>
              <a:t>then</a:t>
            </a:r>
            <a:r>
              <a:rPr spc="-55" dirty="0"/>
              <a:t> </a:t>
            </a:r>
            <a:r>
              <a:rPr spc="-10" dirty="0"/>
              <a:t>cooled.</a:t>
            </a:r>
          </a:p>
          <a:p>
            <a:pPr marL="240029" marR="5080" indent="-227965" algn="just">
              <a:lnSpc>
                <a:spcPts val="3020"/>
              </a:lnSpc>
              <a:spcBef>
                <a:spcPts val="105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As</a:t>
            </a:r>
            <a:r>
              <a:rPr spc="70" dirty="0"/>
              <a:t> </a:t>
            </a:r>
            <a:r>
              <a:rPr dirty="0"/>
              <a:t>the</a:t>
            </a:r>
            <a:r>
              <a:rPr spc="60" dirty="0"/>
              <a:t> </a:t>
            </a:r>
            <a:r>
              <a:rPr dirty="0"/>
              <a:t>mixture</a:t>
            </a:r>
            <a:r>
              <a:rPr spc="75" dirty="0"/>
              <a:t> </a:t>
            </a:r>
            <a:r>
              <a:rPr dirty="0"/>
              <a:t>cooled</a:t>
            </a:r>
            <a:r>
              <a:rPr spc="70" dirty="0"/>
              <a:t> </a:t>
            </a:r>
            <a:r>
              <a:rPr dirty="0"/>
              <a:t>the</a:t>
            </a:r>
            <a:r>
              <a:rPr spc="75" dirty="0"/>
              <a:t> </a:t>
            </a:r>
            <a:r>
              <a:rPr dirty="0"/>
              <a:t>glass</a:t>
            </a:r>
            <a:r>
              <a:rPr spc="75" dirty="0"/>
              <a:t> </a:t>
            </a:r>
            <a:r>
              <a:rPr dirty="0"/>
              <a:t>would</a:t>
            </a:r>
            <a:r>
              <a:rPr spc="75" dirty="0"/>
              <a:t> </a:t>
            </a:r>
            <a:r>
              <a:rPr dirty="0"/>
              <a:t>bond</a:t>
            </a:r>
            <a:r>
              <a:rPr spc="80" dirty="0"/>
              <a:t> </a:t>
            </a:r>
            <a:r>
              <a:rPr dirty="0"/>
              <a:t>to</a:t>
            </a:r>
            <a:r>
              <a:rPr spc="75" dirty="0"/>
              <a:t> </a:t>
            </a:r>
            <a:r>
              <a:rPr dirty="0"/>
              <a:t>impurities</a:t>
            </a:r>
            <a:r>
              <a:rPr spc="65" dirty="0"/>
              <a:t> </a:t>
            </a:r>
            <a:r>
              <a:rPr dirty="0"/>
              <a:t>in</a:t>
            </a:r>
            <a:r>
              <a:rPr spc="85" dirty="0"/>
              <a:t> </a:t>
            </a:r>
            <a:r>
              <a:rPr dirty="0"/>
              <a:t>the</a:t>
            </a:r>
            <a:r>
              <a:rPr spc="70" dirty="0"/>
              <a:t> </a:t>
            </a:r>
            <a:r>
              <a:rPr spc="-10" dirty="0"/>
              <a:t>steel 	</a:t>
            </a:r>
            <a:r>
              <a:rPr dirty="0"/>
              <a:t>and</a:t>
            </a:r>
            <a:r>
              <a:rPr spc="-55" dirty="0"/>
              <a:t> </a:t>
            </a:r>
            <a:r>
              <a:rPr dirty="0"/>
              <a:t>then</a:t>
            </a:r>
            <a:r>
              <a:rPr spc="-45" dirty="0"/>
              <a:t> </a:t>
            </a:r>
            <a:r>
              <a:rPr dirty="0"/>
              <a:t>float</a:t>
            </a:r>
            <a:r>
              <a:rPr spc="-60" dirty="0"/>
              <a:t> </a:t>
            </a:r>
            <a:r>
              <a:rPr dirty="0"/>
              <a:t>to</a:t>
            </a:r>
            <a:r>
              <a:rPr spc="-7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dirty="0"/>
              <a:t>surface,</a:t>
            </a:r>
            <a:r>
              <a:rPr spc="-45" dirty="0"/>
              <a:t> </a:t>
            </a:r>
            <a:r>
              <a:rPr dirty="0"/>
              <a:t>leaving</a:t>
            </a:r>
            <a:r>
              <a:rPr spc="-75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dirty="0"/>
              <a:t>steel</a:t>
            </a:r>
            <a:r>
              <a:rPr spc="-65" dirty="0"/>
              <a:t> </a:t>
            </a:r>
            <a:r>
              <a:rPr spc="-10" dirty="0"/>
              <a:t>considerably</a:t>
            </a:r>
            <a:r>
              <a:rPr spc="-55" dirty="0"/>
              <a:t> </a:t>
            </a:r>
            <a:r>
              <a:rPr spc="-10" dirty="0"/>
              <a:t>purer.</a:t>
            </a:r>
          </a:p>
          <a:p>
            <a:pPr marL="240029" marR="6350" indent="-227965" algn="just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As</a:t>
            </a:r>
            <a:r>
              <a:rPr spc="515" dirty="0"/>
              <a:t> </a:t>
            </a:r>
            <a:r>
              <a:rPr dirty="0"/>
              <a:t>early</a:t>
            </a:r>
            <a:r>
              <a:rPr spc="505" dirty="0"/>
              <a:t> </a:t>
            </a:r>
            <a:r>
              <a:rPr dirty="0"/>
              <a:t>as</a:t>
            </a:r>
            <a:r>
              <a:rPr spc="520" dirty="0"/>
              <a:t> </a:t>
            </a:r>
            <a:r>
              <a:rPr dirty="0"/>
              <a:t>the</a:t>
            </a:r>
            <a:r>
              <a:rPr spc="509" dirty="0"/>
              <a:t> </a:t>
            </a:r>
            <a:r>
              <a:rPr dirty="0"/>
              <a:t>17th</a:t>
            </a:r>
            <a:r>
              <a:rPr spc="515" dirty="0"/>
              <a:t> </a:t>
            </a:r>
            <a:r>
              <a:rPr dirty="0"/>
              <a:t>century,</a:t>
            </a:r>
            <a:r>
              <a:rPr spc="535" dirty="0"/>
              <a:t> </a:t>
            </a:r>
            <a:r>
              <a:rPr dirty="0"/>
              <a:t>Europeans</a:t>
            </a:r>
            <a:r>
              <a:rPr spc="515" dirty="0"/>
              <a:t> </a:t>
            </a:r>
            <a:r>
              <a:rPr dirty="0"/>
              <a:t>knew</a:t>
            </a:r>
            <a:r>
              <a:rPr spc="530" dirty="0"/>
              <a:t> </a:t>
            </a:r>
            <a:r>
              <a:rPr dirty="0"/>
              <a:t>of</a:t>
            </a:r>
            <a:r>
              <a:rPr spc="500" dirty="0"/>
              <a:t> </a:t>
            </a:r>
            <a:r>
              <a:rPr dirty="0"/>
              <a:t>India's</a:t>
            </a:r>
            <a:r>
              <a:rPr spc="500" dirty="0"/>
              <a:t> </a:t>
            </a:r>
            <a:r>
              <a:rPr dirty="0"/>
              <a:t>ability</a:t>
            </a:r>
            <a:r>
              <a:rPr spc="500" dirty="0"/>
              <a:t> </a:t>
            </a:r>
            <a:r>
              <a:rPr spc="-25" dirty="0"/>
              <a:t>to 	</a:t>
            </a:r>
            <a:r>
              <a:rPr dirty="0"/>
              <a:t>make</a:t>
            </a:r>
            <a:r>
              <a:rPr spc="165" dirty="0"/>
              <a:t> </a:t>
            </a:r>
            <a:r>
              <a:rPr dirty="0"/>
              <a:t>crucible</a:t>
            </a:r>
            <a:r>
              <a:rPr spc="185" dirty="0"/>
              <a:t> </a:t>
            </a:r>
            <a:r>
              <a:rPr dirty="0"/>
              <a:t>steel</a:t>
            </a:r>
            <a:r>
              <a:rPr spc="165" dirty="0"/>
              <a:t> </a:t>
            </a:r>
            <a:r>
              <a:rPr dirty="0"/>
              <a:t>from</a:t>
            </a:r>
            <a:r>
              <a:rPr spc="170" dirty="0"/>
              <a:t> </a:t>
            </a:r>
            <a:r>
              <a:rPr dirty="0"/>
              <a:t>reports</a:t>
            </a:r>
            <a:r>
              <a:rPr spc="190" dirty="0"/>
              <a:t> </a:t>
            </a:r>
            <a:r>
              <a:rPr dirty="0"/>
              <a:t>brought</a:t>
            </a:r>
            <a:r>
              <a:rPr spc="185" dirty="0"/>
              <a:t> </a:t>
            </a:r>
            <a:r>
              <a:rPr dirty="0"/>
              <a:t>back</a:t>
            </a:r>
            <a:r>
              <a:rPr spc="185" dirty="0"/>
              <a:t> </a:t>
            </a:r>
            <a:r>
              <a:rPr dirty="0"/>
              <a:t>by</a:t>
            </a:r>
            <a:r>
              <a:rPr spc="175" dirty="0"/>
              <a:t> </a:t>
            </a:r>
            <a:r>
              <a:rPr dirty="0"/>
              <a:t>travelers</a:t>
            </a:r>
            <a:r>
              <a:rPr spc="175" dirty="0"/>
              <a:t> </a:t>
            </a:r>
            <a:r>
              <a:rPr dirty="0"/>
              <a:t>who</a:t>
            </a:r>
            <a:r>
              <a:rPr spc="180" dirty="0"/>
              <a:t> </a:t>
            </a:r>
            <a:r>
              <a:rPr spc="-25" dirty="0"/>
              <a:t>had 	</a:t>
            </a:r>
            <a:r>
              <a:rPr dirty="0"/>
              <a:t>observed</a:t>
            </a:r>
            <a:r>
              <a:rPr spc="-65" dirty="0"/>
              <a:t> </a:t>
            </a:r>
            <a:r>
              <a:rPr dirty="0"/>
              <a:t>the</a:t>
            </a:r>
            <a:r>
              <a:rPr spc="-85" dirty="0"/>
              <a:t> </a:t>
            </a:r>
            <a:r>
              <a:rPr dirty="0"/>
              <a:t>process</a:t>
            </a:r>
            <a:r>
              <a:rPr spc="-70" dirty="0"/>
              <a:t> </a:t>
            </a:r>
            <a:r>
              <a:rPr dirty="0"/>
              <a:t>at</a:t>
            </a:r>
            <a:r>
              <a:rPr spc="-85" dirty="0"/>
              <a:t> </a:t>
            </a:r>
            <a:r>
              <a:rPr dirty="0"/>
              <a:t>several</a:t>
            </a:r>
            <a:r>
              <a:rPr spc="-85" dirty="0"/>
              <a:t> </a:t>
            </a:r>
            <a:r>
              <a:rPr dirty="0"/>
              <a:t>places</a:t>
            </a:r>
            <a:r>
              <a:rPr spc="-90" dirty="0"/>
              <a:t> </a:t>
            </a:r>
            <a:r>
              <a:rPr dirty="0"/>
              <a:t>in</a:t>
            </a:r>
            <a:r>
              <a:rPr spc="-65" dirty="0"/>
              <a:t> </a:t>
            </a:r>
            <a:r>
              <a:rPr dirty="0"/>
              <a:t>southern</a:t>
            </a:r>
            <a:r>
              <a:rPr spc="-65" dirty="0"/>
              <a:t> </a:t>
            </a:r>
            <a:r>
              <a:rPr spc="-10" dirty="0"/>
              <a:t>India.</a:t>
            </a:r>
          </a:p>
          <a:p>
            <a:pPr marL="239395" marR="5715" indent="-227329" algn="just">
              <a:lnSpc>
                <a:spcPts val="303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Several</a:t>
            </a:r>
            <a:r>
              <a:rPr spc="190" dirty="0"/>
              <a:t>  </a:t>
            </a:r>
            <a:r>
              <a:rPr dirty="0"/>
              <a:t>attempts</a:t>
            </a:r>
            <a:r>
              <a:rPr spc="200" dirty="0"/>
              <a:t>  </a:t>
            </a:r>
            <a:r>
              <a:rPr dirty="0"/>
              <a:t>were</a:t>
            </a:r>
            <a:r>
              <a:rPr spc="195" dirty="0"/>
              <a:t>  </a:t>
            </a:r>
            <a:r>
              <a:rPr dirty="0"/>
              <a:t>made</a:t>
            </a:r>
            <a:r>
              <a:rPr spc="190" dirty="0"/>
              <a:t>  </a:t>
            </a:r>
            <a:r>
              <a:rPr dirty="0"/>
              <a:t>to</a:t>
            </a:r>
            <a:r>
              <a:rPr spc="195" dirty="0"/>
              <a:t>  </a:t>
            </a:r>
            <a:r>
              <a:rPr dirty="0"/>
              <a:t>import</a:t>
            </a:r>
            <a:r>
              <a:rPr spc="190" dirty="0"/>
              <a:t>  </a:t>
            </a:r>
            <a:r>
              <a:rPr dirty="0"/>
              <a:t>the</a:t>
            </a:r>
            <a:r>
              <a:rPr spc="190" dirty="0"/>
              <a:t>  </a:t>
            </a:r>
            <a:r>
              <a:rPr dirty="0"/>
              <a:t>process,</a:t>
            </a:r>
            <a:r>
              <a:rPr spc="195" dirty="0"/>
              <a:t>  </a:t>
            </a:r>
            <a:r>
              <a:rPr dirty="0"/>
              <a:t>but</a:t>
            </a:r>
            <a:r>
              <a:rPr spc="190" dirty="0"/>
              <a:t>  </a:t>
            </a:r>
            <a:r>
              <a:rPr spc="-10" dirty="0"/>
              <a:t>failed 	</a:t>
            </a:r>
            <a:r>
              <a:rPr dirty="0"/>
              <a:t>because</a:t>
            </a:r>
            <a:r>
              <a:rPr spc="-90" dirty="0"/>
              <a:t> </a:t>
            </a:r>
            <a:r>
              <a:rPr dirty="0"/>
              <a:t>the</a:t>
            </a:r>
            <a:r>
              <a:rPr spc="-85" dirty="0"/>
              <a:t> </a:t>
            </a:r>
            <a:r>
              <a:rPr dirty="0"/>
              <a:t>exact</a:t>
            </a:r>
            <a:r>
              <a:rPr spc="-85" dirty="0"/>
              <a:t> </a:t>
            </a:r>
            <a:r>
              <a:rPr dirty="0"/>
              <a:t>technique</a:t>
            </a:r>
            <a:r>
              <a:rPr spc="-75" dirty="0"/>
              <a:t> </a:t>
            </a:r>
            <a:r>
              <a:rPr spc="-10" dirty="0"/>
              <a:t>remained</a:t>
            </a:r>
            <a:r>
              <a:rPr spc="-85" dirty="0"/>
              <a:t> </a:t>
            </a:r>
            <a:r>
              <a:rPr dirty="0"/>
              <a:t>a</a:t>
            </a:r>
            <a:r>
              <a:rPr spc="-85" dirty="0"/>
              <a:t> </a:t>
            </a:r>
            <a:r>
              <a:rPr spc="-10" dirty="0"/>
              <a:t>mystery.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Manufacture</a:t>
            </a:r>
            <a:r>
              <a:rPr spc="-105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spc="-10" dirty="0"/>
              <a:t>Steel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358120" cy="42900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715" indent="-227965" algn="just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Varahamihira</a:t>
            </a:r>
            <a:r>
              <a:rPr sz="2800" spc="2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(550</a:t>
            </a:r>
            <a:r>
              <a:rPr sz="2800" spc="2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CE)</a:t>
            </a:r>
            <a:r>
              <a:rPr sz="2800" spc="2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2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Brhat-</a:t>
            </a:r>
            <a:r>
              <a:rPr sz="2800" dirty="0">
                <a:latin typeface="Calibri"/>
                <a:cs typeface="Calibri"/>
              </a:rPr>
              <a:t>Samhita</a:t>
            </a:r>
            <a:r>
              <a:rPr sz="2800" spc="2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discussed</a:t>
            </a:r>
            <a:r>
              <a:rPr sz="2800" spc="3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processes</a:t>
            </a:r>
            <a:r>
              <a:rPr sz="2800" spc="2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 	</a:t>
            </a:r>
            <a:r>
              <a:rPr sz="2800" spc="-10" dirty="0">
                <a:latin typeface="Calibri"/>
                <a:cs typeface="Calibri"/>
              </a:rPr>
              <a:t>carburization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hardening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iron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swords.</a:t>
            </a:r>
            <a:endParaRPr sz="2800">
              <a:latin typeface="Calibri"/>
              <a:cs typeface="Calibri"/>
            </a:endParaRPr>
          </a:p>
          <a:p>
            <a:pPr marL="240029" marR="5080" indent="-227965" algn="just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European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method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cementation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using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charcoal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take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six 	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3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seven</a:t>
            </a:r>
            <a:r>
              <a:rPr sz="2800" spc="3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days,</a:t>
            </a:r>
            <a:r>
              <a:rPr sz="2800" spc="3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3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even</a:t>
            </a:r>
            <a:r>
              <a:rPr sz="2800" spc="3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fourteen</a:t>
            </a:r>
            <a:r>
              <a:rPr sz="2800" spc="3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3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twenty</a:t>
            </a:r>
            <a:r>
              <a:rPr sz="2800" spc="3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days,</a:t>
            </a:r>
            <a:r>
              <a:rPr sz="2800" spc="3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while</a:t>
            </a:r>
            <a:r>
              <a:rPr sz="2800" spc="3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3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Indian 	</a:t>
            </a:r>
            <a:r>
              <a:rPr sz="2800" dirty="0">
                <a:latin typeface="Calibri"/>
                <a:cs typeface="Calibri"/>
              </a:rPr>
              <a:t>process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takes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only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four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six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hours.</a:t>
            </a:r>
            <a:endParaRPr sz="2800">
              <a:latin typeface="Calibri"/>
              <a:cs typeface="Calibri"/>
            </a:endParaRPr>
          </a:p>
          <a:p>
            <a:pPr marL="240029" marR="5080" indent="-227965" algn="just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Steel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25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made</a:t>
            </a:r>
            <a:r>
              <a:rPr sz="2800" spc="2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2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iron</a:t>
            </a:r>
            <a:r>
              <a:rPr sz="2800" spc="2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ore,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2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compound</a:t>
            </a:r>
            <a:r>
              <a:rPr sz="2800" spc="2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2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iron,</a:t>
            </a:r>
            <a:r>
              <a:rPr sz="2800" spc="2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oxygen</a:t>
            </a:r>
            <a:r>
              <a:rPr sz="2800" spc="25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25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other 	</a:t>
            </a:r>
            <a:r>
              <a:rPr sz="2800" dirty="0">
                <a:latin typeface="Calibri"/>
                <a:cs typeface="Calibri"/>
              </a:rPr>
              <a:t>minerals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occurs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nature.</a:t>
            </a:r>
            <a:endParaRPr sz="2800">
              <a:latin typeface="Calibri"/>
              <a:cs typeface="Calibri"/>
            </a:endParaRPr>
          </a:p>
          <a:p>
            <a:pPr marL="240029" marR="5715" indent="-227965" algn="just">
              <a:lnSpc>
                <a:spcPct val="90000"/>
              </a:lnSpc>
              <a:spcBef>
                <a:spcPts val="95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2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raw</a:t>
            </a:r>
            <a:r>
              <a:rPr sz="2800" spc="3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materials</a:t>
            </a:r>
            <a:r>
              <a:rPr sz="2800" spc="2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3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steelmaking</a:t>
            </a:r>
            <a:r>
              <a:rPr sz="2800" spc="2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2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mined</a:t>
            </a:r>
            <a:r>
              <a:rPr sz="2800" spc="3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3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then</a:t>
            </a:r>
            <a:r>
              <a:rPr sz="2800" spc="3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transformed 	</a:t>
            </a:r>
            <a:r>
              <a:rPr sz="2800" dirty="0">
                <a:latin typeface="Calibri"/>
                <a:cs typeface="Calibri"/>
              </a:rPr>
              <a:t>into</a:t>
            </a:r>
            <a:r>
              <a:rPr sz="2800" spc="12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steel</a:t>
            </a:r>
            <a:r>
              <a:rPr sz="2800" spc="114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using</a:t>
            </a:r>
            <a:r>
              <a:rPr sz="2800" spc="114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two</a:t>
            </a:r>
            <a:r>
              <a:rPr sz="2800" spc="12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different</a:t>
            </a:r>
            <a:r>
              <a:rPr sz="2800" spc="12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processes:</a:t>
            </a:r>
            <a:r>
              <a:rPr sz="2800" spc="12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2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blast</a:t>
            </a:r>
            <a:r>
              <a:rPr sz="2800" spc="120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furnace/basic 	oxygen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furnace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route,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electric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arc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furnace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route.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86620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885565" algn="l"/>
              </a:tabLst>
            </a:pPr>
            <a:r>
              <a:rPr dirty="0"/>
              <a:t>Lost</a:t>
            </a:r>
            <a:r>
              <a:rPr spc="-95" dirty="0"/>
              <a:t> </a:t>
            </a:r>
            <a:r>
              <a:rPr dirty="0"/>
              <a:t>wax</a:t>
            </a:r>
            <a:r>
              <a:rPr spc="-100" dirty="0"/>
              <a:t> </a:t>
            </a:r>
            <a:r>
              <a:rPr spc="-10" dirty="0"/>
              <a:t>casting</a:t>
            </a:r>
            <a:r>
              <a:rPr dirty="0"/>
              <a:t>	of</a:t>
            </a:r>
            <a:r>
              <a:rPr spc="-10" dirty="0"/>
              <a:t> </a:t>
            </a:r>
            <a:r>
              <a:rPr dirty="0"/>
              <a:t>Idols and</a:t>
            </a:r>
            <a:r>
              <a:rPr spc="15" dirty="0"/>
              <a:t> </a:t>
            </a:r>
            <a:r>
              <a:rPr spc="-10" dirty="0"/>
              <a:t>Artefacts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360025" cy="41636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029" marR="5715" indent="-227965" algn="just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Lost-</a:t>
            </a:r>
            <a:r>
              <a:rPr sz="2800" dirty="0">
                <a:latin typeface="Calibri"/>
                <a:cs typeface="Calibri"/>
              </a:rPr>
              <a:t>wax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casting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(also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called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"investment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casting",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"precision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casting", 	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cire</a:t>
            </a:r>
            <a:r>
              <a:rPr sz="2800" spc="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perdue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been</a:t>
            </a:r>
            <a:r>
              <a:rPr sz="2800" spc="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adopted</a:t>
            </a:r>
            <a:r>
              <a:rPr sz="2800" spc="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into</a:t>
            </a:r>
            <a:r>
              <a:rPr sz="2800" spc="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English</a:t>
            </a:r>
            <a:r>
              <a:rPr sz="2800" spc="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French, 	</a:t>
            </a:r>
            <a:r>
              <a:rPr sz="2800" dirty="0">
                <a:latin typeface="Calibri"/>
                <a:cs typeface="Calibri"/>
              </a:rPr>
              <a:t>pronounced</a:t>
            </a:r>
            <a:r>
              <a:rPr sz="2800" spc="5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6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5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process</a:t>
            </a:r>
            <a:r>
              <a:rPr sz="2800" spc="6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5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6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6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duplicate</a:t>
            </a:r>
            <a:r>
              <a:rPr sz="2800" spc="5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metal</a:t>
            </a:r>
            <a:r>
              <a:rPr sz="2800" spc="45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sculpture 	</a:t>
            </a:r>
            <a:r>
              <a:rPr sz="2800" dirty="0">
                <a:latin typeface="Calibri"/>
                <a:cs typeface="Calibri"/>
              </a:rPr>
              <a:t>(often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silver,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gold,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brass,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bronze)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cast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original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sculpture. 	Intricate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works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achieved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method.</a:t>
            </a:r>
            <a:endParaRPr sz="2800">
              <a:latin typeface="Calibri"/>
              <a:cs typeface="Calibri"/>
            </a:endParaRPr>
          </a:p>
          <a:p>
            <a:pPr marL="240029" marR="5080" indent="-227965" algn="just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8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oldest</a:t>
            </a:r>
            <a:r>
              <a:rPr sz="2800" spc="8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known</a:t>
            </a:r>
            <a:r>
              <a:rPr sz="2800" spc="9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examples</a:t>
            </a:r>
            <a:r>
              <a:rPr sz="2800" spc="9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8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8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technique</a:t>
            </a:r>
            <a:r>
              <a:rPr sz="2800" spc="9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80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approximately 	6,500-</a:t>
            </a:r>
            <a:r>
              <a:rPr sz="2800" spc="-20" dirty="0">
                <a:latin typeface="Calibri"/>
                <a:cs typeface="Calibri"/>
              </a:rPr>
              <a:t>year-</a:t>
            </a:r>
            <a:r>
              <a:rPr sz="2800" dirty="0">
                <a:latin typeface="Calibri"/>
                <a:cs typeface="Calibri"/>
              </a:rPr>
              <a:t>old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(4550–4450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BC)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 attributed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gold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artefacts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found 	</a:t>
            </a:r>
            <a:r>
              <a:rPr sz="2800" dirty="0">
                <a:latin typeface="Calibri"/>
                <a:cs typeface="Calibri"/>
              </a:rPr>
              <a:t>at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Bulgaria's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Varna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Necropolis.</a:t>
            </a:r>
            <a:endParaRPr sz="2800">
              <a:latin typeface="Calibri"/>
              <a:cs typeface="Calibri"/>
            </a:endParaRPr>
          </a:p>
          <a:p>
            <a:pPr marL="239395" marR="6985" indent="-227329" algn="just">
              <a:lnSpc>
                <a:spcPts val="303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copper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amulet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Mehrgarh,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Indus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Valley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civilization,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Pakistan, 	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dated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circa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4,000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BC.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86620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885565" algn="l"/>
              </a:tabLst>
            </a:pPr>
            <a:r>
              <a:rPr dirty="0"/>
              <a:t>Lost</a:t>
            </a:r>
            <a:r>
              <a:rPr spc="-95" dirty="0"/>
              <a:t> </a:t>
            </a:r>
            <a:r>
              <a:rPr dirty="0"/>
              <a:t>wax</a:t>
            </a:r>
            <a:r>
              <a:rPr spc="-100" dirty="0"/>
              <a:t> </a:t>
            </a:r>
            <a:r>
              <a:rPr spc="-10" dirty="0"/>
              <a:t>casting</a:t>
            </a:r>
            <a:r>
              <a:rPr dirty="0"/>
              <a:t>	of</a:t>
            </a:r>
            <a:r>
              <a:rPr spc="-10" dirty="0"/>
              <a:t> </a:t>
            </a:r>
            <a:r>
              <a:rPr dirty="0"/>
              <a:t>Idols and</a:t>
            </a:r>
            <a:r>
              <a:rPr spc="15" dirty="0"/>
              <a:t> </a:t>
            </a:r>
            <a:r>
              <a:rPr spc="-10" dirty="0"/>
              <a:t>Artefacts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029" marR="5080" indent="-227965" algn="just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Cast</a:t>
            </a:r>
            <a:r>
              <a:rPr spc="220" dirty="0"/>
              <a:t> </a:t>
            </a:r>
            <a:r>
              <a:rPr dirty="0"/>
              <a:t>copper</a:t>
            </a:r>
            <a:r>
              <a:rPr spc="225" dirty="0"/>
              <a:t> </a:t>
            </a:r>
            <a:r>
              <a:rPr dirty="0"/>
              <a:t>objects,</a:t>
            </a:r>
            <a:r>
              <a:rPr spc="240" dirty="0"/>
              <a:t> </a:t>
            </a:r>
            <a:r>
              <a:rPr dirty="0"/>
              <a:t>found</a:t>
            </a:r>
            <a:r>
              <a:rPr spc="225" dirty="0"/>
              <a:t> </a:t>
            </a:r>
            <a:r>
              <a:rPr dirty="0"/>
              <a:t>in</a:t>
            </a:r>
            <a:r>
              <a:rPr spc="229" dirty="0"/>
              <a:t> </a:t>
            </a:r>
            <a:r>
              <a:rPr dirty="0"/>
              <a:t>the</a:t>
            </a:r>
            <a:r>
              <a:rPr spc="225" dirty="0"/>
              <a:t> </a:t>
            </a:r>
            <a:r>
              <a:rPr dirty="0"/>
              <a:t>Nahal</a:t>
            </a:r>
            <a:r>
              <a:rPr spc="220" dirty="0"/>
              <a:t> </a:t>
            </a:r>
            <a:r>
              <a:rPr dirty="0"/>
              <a:t>Mishmar</a:t>
            </a:r>
            <a:r>
              <a:rPr spc="229" dirty="0"/>
              <a:t> </a:t>
            </a:r>
            <a:r>
              <a:rPr dirty="0"/>
              <a:t>hoard</a:t>
            </a:r>
            <a:r>
              <a:rPr spc="210" dirty="0"/>
              <a:t> </a:t>
            </a:r>
            <a:r>
              <a:rPr dirty="0"/>
              <a:t>in</a:t>
            </a:r>
            <a:r>
              <a:rPr spc="229" dirty="0"/>
              <a:t> </a:t>
            </a:r>
            <a:r>
              <a:rPr spc="-10" dirty="0"/>
              <a:t>southern 	</a:t>
            </a:r>
            <a:r>
              <a:rPr dirty="0"/>
              <a:t>Israel,</a:t>
            </a:r>
            <a:r>
              <a:rPr spc="370" dirty="0"/>
              <a:t> </a:t>
            </a:r>
            <a:r>
              <a:rPr dirty="0"/>
              <a:t>which</a:t>
            </a:r>
            <a:r>
              <a:rPr spc="390" dirty="0"/>
              <a:t> </a:t>
            </a:r>
            <a:r>
              <a:rPr dirty="0"/>
              <a:t>belong</a:t>
            </a:r>
            <a:r>
              <a:rPr spc="365" dirty="0"/>
              <a:t> </a:t>
            </a:r>
            <a:r>
              <a:rPr dirty="0"/>
              <a:t>to</a:t>
            </a:r>
            <a:r>
              <a:rPr spc="380" dirty="0"/>
              <a:t> </a:t>
            </a:r>
            <a:r>
              <a:rPr dirty="0"/>
              <a:t>the</a:t>
            </a:r>
            <a:r>
              <a:rPr spc="375" dirty="0"/>
              <a:t> </a:t>
            </a:r>
            <a:r>
              <a:rPr dirty="0"/>
              <a:t>Chalcolithic</a:t>
            </a:r>
            <a:r>
              <a:rPr spc="390" dirty="0"/>
              <a:t> </a:t>
            </a:r>
            <a:r>
              <a:rPr dirty="0"/>
              <a:t>period</a:t>
            </a:r>
            <a:r>
              <a:rPr spc="395" dirty="0"/>
              <a:t> </a:t>
            </a:r>
            <a:r>
              <a:rPr dirty="0"/>
              <a:t>(4500–3500</a:t>
            </a:r>
            <a:r>
              <a:rPr spc="395" dirty="0"/>
              <a:t> </a:t>
            </a:r>
            <a:r>
              <a:rPr dirty="0"/>
              <a:t>BC),</a:t>
            </a:r>
            <a:r>
              <a:rPr spc="375" dirty="0"/>
              <a:t> </a:t>
            </a:r>
            <a:r>
              <a:rPr spc="-25" dirty="0"/>
              <a:t>are 	</a:t>
            </a:r>
            <a:r>
              <a:rPr dirty="0"/>
              <a:t>estimated,</a:t>
            </a:r>
            <a:r>
              <a:rPr spc="420" dirty="0"/>
              <a:t> </a:t>
            </a:r>
            <a:r>
              <a:rPr dirty="0"/>
              <a:t>from</a:t>
            </a:r>
            <a:r>
              <a:rPr spc="430" dirty="0"/>
              <a:t> </a:t>
            </a:r>
            <a:r>
              <a:rPr spc="-10" dirty="0"/>
              <a:t>carbon-</a:t>
            </a:r>
            <a:r>
              <a:rPr dirty="0"/>
              <a:t>14</a:t>
            </a:r>
            <a:r>
              <a:rPr spc="434" dirty="0"/>
              <a:t> </a:t>
            </a:r>
            <a:r>
              <a:rPr dirty="0"/>
              <a:t>dating,</a:t>
            </a:r>
            <a:r>
              <a:rPr spc="420" dirty="0"/>
              <a:t> </a:t>
            </a:r>
            <a:r>
              <a:rPr dirty="0"/>
              <a:t>to</a:t>
            </a:r>
            <a:r>
              <a:rPr spc="430" dirty="0"/>
              <a:t> </a:t>
            </a:r>
            <a:r>
              <a:rPr dirty="0"/>
              <a:t>date</a:t>
            </a:r>
            <a:r>
              <a:rPr spc="420" dirty="0"/>
              <a:t> </a:t>
            </a:r>
            <a:r>
              <a:rPr dirty="0"/>
              <a:t>to</a:t>
            </a:r>
            <a:r>
              <a:rPr spc="420" dirty="0"/>
              <a:t> </a:t>
            </a:r>
            <a:r>
              <a:rPr dirty="0"/>
              <a:t>circa</a:t>
            </a:r>
            <a:r>
              <a:rPr spc="420" dirty="0"/>
              <a:t> </a:t>
            </a:r>
            <a:r>
              <a:rPr dirty="0"/>
              <a:t>3500</a:t>
            </a:r>
            <a:r>
              <a:rPr spc="430" dirty="0"/>
              <a:t> </a:t>
            </a:r>
            <a:r>
              <a:rPr dirty="0"/>
              <a:t>BC.</a:t>
            </a:r>
            <a:r>
              <a:rPr spc="420" dirty="0"/>
              <a:t> </a:t>
            </a:r>
            <a:r>
              <a:rPr spc="-10" dirty="0"/>
              <a:t>Other 	</a:t>
            </a:r>
            <a:r>
              <a:rPr dirty="0"/>
              <a:t>examples</a:t>
            </a:r>
            <a:r>
              <a:rPr spc="40" dirty="0"/>
              <a:t> </a:t>
            </a:r>
            <a:r>
              <a:rPr dirty="0"/>
              <a:t>from</a:t>
            </a:r>
            <a:r>
              <a:rPr spc="35" dirty="0"/>
              <a:t> </a:t>
            </a:r>
            <a:r>
              <a:rPr dirty="0"/>
              <a:t>somewhat</a:t>
            </a:r>
            <a:r>
              <a:rPr spc="30" dirty="0"/>
              <a:t> </a:t>
            </a:r>
            <a:r>
              <a:rPr dirty="0"/>
              <a:t>later</a:t>
            </a:r>
            <a:r>
              <a:rPr spc="35" dirty="0"/>
              <a:t> </a:t>
            </a:r>
            <a:r>
              <a:rPr dirty="0"/>
              <a:t>periods</a:t>
            </a:r>
            <a:r>
              <a:rPr spc="35" dirty="0"/>
              <a:t> </a:t>
            </a:r>
            <a:r>
              <a:rPr dirty="0"/>
              <a:t>are</a:t>
            </a:r>
            <a:r>
              <a:rPr spc="40" dirty="0"/>
              <a:t> </a:t>
            </a:r>
            <a:r>
              <a:rPr dirty="0"/>
              <a:t>from</a:t>
            </a:r>
            <a:r>
              <a:rPr spc="35" dirty="0"/>
              <a:t> </a:t>
            </a:r>
            <a:r>
              <a:rPr dirty="0"/>
              <a:t>Mesopotamia</a:t>
            </a:r>
            <a:r>
              <a:rPr spc="45" dirty="0"/>
              <a:t> </a:t>
            </a:r>
            <a:r>
              <a:rPr dirty="0"/>
              <a:t>in</a:t>
            </a:r>
            <a:r>
              <a:rPr spc="30" dirty="0"/>
              <a:t> </a:t>
            </a:r>
            <a:r>
              <a:rPr spc="-25" dirty="0"/>
              <a:t>the 	</a:t>
            </a:r>
            <a:r>
              <a:rPr dirty="0"/>
              <a:t>third</a:t>
            </a:r>
            <a:r>
              <a:rPr spc="-100" dirty="0"/>
              <a:t> </a:t>
            </a:r>
            <a:r>
              <a:rPr dirty="0"/>
              <a:t>millennium</a:t>
            </a:r>
            <a:r>
              <a:rPr spc="-85" dirty="0"/>
              <a:t> </a:t>
            </a:r>
            <a:r>
              <a:rPr spc="-25" dirty="0"/>
              <a:t>BC.</a:t>
            </a:r>
          </a:p>
          <a:p>
            <a:pPr marL="240029" marR="6985" indent="-227965" algn="just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spc="-25" dirty="0"/>
              <a:t>Lost-</a:t>
            </a:r>
            <a:r>
              <a:rPr dirty="0"/>
              <a:t>wax</a:t>
            </a:r>
            <a:r>
              <a:rPr spc="440" dirty="0"/>
              <a:t> </a:t>
            </a:r>
            <a:r>
              <a:rPr dirty="0"/>
              <a:t>casting</a:t>
            </a:r>
            <a:r>
              <a:rPr spc="445" dirty="0"/>
              <a:t> </a:t>
            </a:r>
            <a:r>
              <a:rPr dirty="0"/>
              <a:t>was</a:t>
            </a:r>
            <a:r>
              <a:rPr spc="440" dirty="0"/>
              <a:t> </a:t>
            </a:r>
            <a:r>
              <a:rPr dirty="0"/>
              <a:t>widespread</a:t>
            </a:r>
            <a:r>
              <a:rPr spc="455" dirty="0"/>
              <a:t> </a:t>
            </a:r>
            <a:r>
              <a:rPr dirty="0"/>
              <a:t>in</a:t>
            </a:r>
            <a:r>
              <a:rPr spc="434" dirty="0"/>
              <a:t> </a:t>
            </a:r>
            <a:r>
              <a:rPr dirty="0"/>
              <a:t>Europe</a:t>
            </a:r>
            <a:r>
              <a:rPr spc="450" dirty="0"/>
              <a:t> </a:t>
            </a:r>
            <a:r>
              <a:rPr dirty="0"/>
              <a:t>until</a:t>
            </a:r>
            <a:r>
              <a:rPr spc="430" dirty="0"/>
              <a:t> </a:t>
            </a:r>
            <a:r>
              <a:rPr dirty="0"/>
              <a:t>the</a:t>
            </a:r>
            <a:r>
              <a:rPr spc="445" dirty="0"/>
              <a:t> </a:t>
            </a:r>
            <a:r>
              <a:rPr dirty="0"/>
              <a:t>18th</a:t>
            </a:r>
            <a:r>
              <a:rPr spc="440" dirty="0"/>
              <a:t> </a:t>
            </a:r>
            <a:r>
              <a:rPr spc="-10" dirty="0"/>
              <a:t>century, 	</a:t>
            </a:r>
            <a:r>
              <a:rPr dirty="0"/>
              <a:t>when</a:t>
            </a:r>
            <a:r>
              <a:rPr spc="-65" dirty="0"/>
              <a:t> </a:t>
            </a:r>
            <a:r>
              <a:rPr dirty="0"/>
              <a:t>a</a:t>
            </a:r>
            <a:r>
              <a:rPr spc="-70" dirty="0"/>
              <a:t> </a:t>
            </a:r>
            <a:r>
              <a:rPr spc="-10" dirty="0"/>
              <a:t>piece-</a:t>
            </a:r>
            <a:r>
              <a:rPr dirty="0"/>
              <a:t>moulding</a:t>
            </a:r>
            <a:r>
              <a:rPr spc="-30" dirty="0"/>
              <a:t> </a:t>
            </a:r>
            <a:r>
              <a:rPr dirty="0"/>
              <a:t>process</a:t>
            </a:r>
            <a:r>
              <a:rPr spc="-45" dirty="0"/>
              <a:t> </a:t>
            </a:r>
            <a:r>
              <a:rPr dirty="0"/>
              <a:t>came</a:t>
            </a:r>
            <a:r>
              <a:rPr spc="-70" dirty="0"/>
              <a:t> </a:t>
            </a:r>
            <a:r>
              <a:rPr dirty="0"/>
              <a:t>to</a:t>
            </a:r>
            <a:r>
              <a:rPr spc="-70" dirty="0"/>
              <a:t> </a:t>
            </a:r>
            <a:r>
              <a:rPr spc="-10" dirty="0"/>
              <a:t>predominate.</a:t>
            </a:r>
          </a:p>
          <a:p>
            <a:pPr marL="240029" marR="5715" indent="-227965" algn="just">
              <a:lnSpc>
                <a:spcPct val="90000"/>
              </a:lnSpc>
              <a:spcBef>
                <a:spcPts val="95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The</a:t>
            </a:r>
            <a:r>
              <a:rPr spc="395" dirty="0"/>
              <a:t>  </a:t>
            </a:r>
            <a:r>
              <a:rPr dirty="0"/>
              <a:t>steps</a:t>
            </a:r>
            <a:r>
              <a:rPr spc="395" dirty="0"/>
              <a:t>  </a:t>
            </a:r>
            <a:r>
              <a:rPr dirty="0"/>
              <a:t>used</a:t>
            </a:r>
            <a:r>
              <a:rPr spc="390" dirty="0"/>
              <a:t>  </a:t>
            </a:r>
            <a:r>
              <a:rPr dirty="0"/>
              <a:t>in</a:t>
            </a:r>
            <a:r>
              <a:rPr spc="390" dirty="0"/>
              <a:t>  </a:t>
            </a:r>
            <a:r>
              <a:rPr dirty="0"/>
              <a:t>casting</a:t>
            </a:r>
            <a:r>
              <a:rPr spc="400" dirty="0"/>
              <a:t>  </a:t>
            </a:r>
            <a:r>
              <a:rPr dirty="0"/>
              <a:t>small</a:t>
            </a:r>
            <a:r>
              <a:rPr spc="390" dirty="0"/>
              <a:t>  </a:t>
            </a:r>
            <a:r>
              <a:rPr dirty="0"/>
              <a:t>bronze</a:t>
            </a:r>
            <a:r>
              <a:rPr spc="390" dirty="0"/>
              <a:t>  </a:t>
            </a:r>
            <a:r>
              <a:rPr dirty="0"/>
              <a:t>sculptures</a:t>
            </a:r>
            <a:r>
              <a:rPr spc="395" dirty="0"/>
              <a:t>  </a:t>
            </a:r>
            <a:r>
              <a:rPr dirty="0"/>
              <a:t>are</a:t>
            </a:r>
            <a:r>
              <a:rPr spc="390" dirty="0"/>
              <a:t>  </a:t>
            </a:r>
            <a:r>
              <a:rPr spc="-10" dirty="0"/>
              <a:t>fairly 	</a:t>
            </a:r>
            <a:r>
              <a:rPr dirty="0"/>
              <a:t>standardized,</a:t>
            </a:r>
            <a:r>
              <a:rPr spc="165" dirty="0"/>
              <a:t>  </a:t>
            </a:r>
            <a:r>
              <a:rPr dirty="0"/>
              <a:t>though</a:t>
            </a:r>
            <a:r>
              <a:rPr spc="175" dirty="0"/>
              <a:t>  </a:t>
            </a:r>
            <a:r>
              <a:rPr dirty="0"/>
              <a:t>the</a:t>
            </a:r>
            <a:r>
              <a:rPr spc="170" dirty="0"/>
              <a:t>  </a:t>
            </a:r>
            <a:r>
              <a:rPr dirty="0"/>
              <a:t>process</a:t>
            </a:r>
            <a:r>
              <a:rPr spc="170" dirty="0"/>
              <a:t>  </a:t>
            </a:r>
            <a:r>
              <a:rPr dirty="0"/>
              <a:t>today</a:t>
            </a:r>
            <a:r>
              <a:rPr spc="170" dirty="0"/>
              <a:t>  </a:t>
            </a:r>
            <a:r>
              <a:rPr dirty="0"/>
              <a:t>varies</a:t>
            </a:r>
            <a:r>
              <a:rPr spc="170" dirty="0"/>
              <a:t>  </a:t>
            </a:r>
            <a:r>
              <a:rPr dirty="0"/>
              <a:t>from</a:t>
            </a:r>
            <a:r>
              <a:rPr spc="170" dirty="0"/>
              <a:t>  </a:t>
            </a:r>
            <a:r>
              <a:rPr dirty="0"/>
              <a:t>foundry</a:t>
            </a:r>
            <a:r>
              <a:rPr spc="170" dirty="0"/>
              <a:t>  </a:t>
            </a:r>
            <a:r>
              <a:rPr spc="-25" dirty="0"/>
              <a:t>to 	</a:t>
            </a:r>
            <a:r>
              <a:rPr spc="-10" dirty="0"/>
              <a:t>foundry.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8228"/>
            <a:ext cx="9681845" cy="13004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dirty="0"/>
              <a:t>Apparatuses</a:t>
            </a:r>
            <a:r>
              <a:rPr spc="-100" dirty="0"/>
              <a:t> </a:t>
            </a:r>
            <a:r>
              <a:rPr dirty="0"/>
              <a:t>used</a:t>
            </a:r>
            <a:r>
              <a:rPr spc="-75" dirty="0"/>
              <a:t> </a:t>
            </a:r>
            <a:r>
              <a:rPr dirty="0"/>
              <a:t>for</a:t>
            </a:r>
            <a:r>
              <a:rPr spc="-75" dirty="0"/>
              <a:t> </a:t>
            </a:r>
            <a:r>
              <a:rPr dirty="0"/>
              <a:t>Extraction</a:t>
            </a:r>
            <a:r>
              <a:rPr spc="-75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spc="-10" dirty="0"/>
              <a:t>Metallic Components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356850" cy="4237057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We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shall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see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brief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some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apparatuses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found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ancient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Indian 	Laboratory.</a:t>
            </a:r>
            <a:endParaRPr sz="2800" dirty="0">
              <a:latin typeface="Calibri"/>
              <a:cs typeface="Calibri"/>
            </a:endParaRPr>
          </a:p>
          <a:p>
            <a:pPr marL="711835" lvl="1" indent="-244475">
              <a:lnSpc>
                <a:spcPct val="100000"/>
              </a:lnSpc>
              <a:spcBef>
                <a:spcPts val="204"/>
              </a:spcBef>
              <a:buSzPct val="95833"/>
              <a:buFont typeface="Wingdings"/>
              <a:buChar char=""/>
              <a:tabLst>
                <a:tab pos="711835" algn="l"/>
              </a:tabLst>
            </a:pPr>
            <a:r>
              <a:rPr sz="2400" spc="-10" dirty="0">
                <a:latin typeface="Calibri"/>
                <a:cs typeface="Calibri"/>
              </a:rPr>
              <a:t>Dola-yantra</a:t>
            </a:r>
            <a:endParaRPr lang="en-US" sz="2400" spc="-10" dirty="0">
              <a:latin typeface="Calibri"/>
              <a:cs typeface="Calibri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Used for </a:t>
            </a:r>
            <a:r>
              <a:rPr lang="en-IN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boiling substances</a:t>
            </a:r>
            <a:r>
              <a:rPr lang="en-IN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liquid, especially during </a:t>
            </a:r>
            <a:r>
              <a:rPr lang="en-IN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bhavana</a:t>
            </a:r>
            <a:r>
              <a:rPr lang="en-IN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sz="20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levigation</a:t>
            </a:r>
            <a:r>
              <a:rPr lang="en-IN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and </a:t>
            </a:r>
            <a:r>
              <a:rPr lang="en-IN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extraction</a:t>
            </a:r>
            <a:r>
              <a:rPr lang="en-IN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active ingredients from herbs or minerals.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Design:</a:t>
            </a:r>
            <a:r>
              <a:rPr lang="en-IN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metallic or earthen vessel filled with liquid, with a suspended pouch (usually cloth) containing the substance. The setup is gently heated.</a:t>
            </a:r>
            <a:endParaRPr lang="en-IN" sz="20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Modern Parallel:</a:t>
            </a:r>
            <a:r>
              <a:rPr lang="en-IN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Like a </a:t>
            </a:r>
            <a:r>
              <a:rPr lang="en-IN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decoction extractor</a:t>
            </a:r>
            <a:r>
              <a:rPr lang="en-IN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suspension-based infuser</a:t>
            </a:r>
            <a:r>
              <a:rPr lang="en-IN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67360" lvl="1">
              <a:lnSpc>
                <a:spcPct val="100000"/>
              </a:lnSpc>
              <a:spcBef>
                <a:spcPts val="204"/>
              </a:spcBef>
              <a:buSzPct val="95833"/>
              <a:tabLst>
                <a:tab pos="711835" algn="l"/>
              </a:tabLst>
            </a:pP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05043-805F-2030-1D7F-942D2CE1D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622" y="152400"/>
            <a:ext cx="10358755" cy="3120406"/>
          </a:xfrm>
        </p:spPr>
        <p:txBody>
          <a:bodyPr/>
          <a:lstStyle/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20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000" b="1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Svedani</a:t>
            </a:r>
            <a:r>
              <a:rPr lang="en-IN" sz="20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Yantra</a:t>
            </a:r>
            <a:r>
              <a:rPr lang="en-IN" sz="20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sz="2000" b="1" dirty="0" err="1">
                <a:solidFill>
                  <a:srgbClr val="000000"/>
                </a:solidFill>
                <a:effectLst/>
                <a:latin typeface="Nirmala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स्वेदनि</a:t>
            </a:r>
            <a:r>
              <a:rPr lang="en-IN" sz="20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err="1">
                <a:solidFill>
                  <a:srgbClr val="000000"/>
                </a:solidFill>
                <a:effectLst/>
                <a:latin typeface="Nirmala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यंत्र</a:t>
            </a:r>
            <a:r>
              <a:rPr lang="en-IN" sz="20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Used for </a:t>
            </a:r>
            <a:r>
              <a:rPr lang="en-IN" sz="20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steam processing</a:t>
            </a:r>
            <a:r>
              <a:rPr lang="en-IN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sz="20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svedana</a:t>
            </a:r>
            <a:r>
              <a:rPr lang="en-IN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 particularly to detoxify metals, minerals, and herbs.</a:t>
            </a:r>
            <a:endParaRPr lang="en-IN" sz="20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Design:</a:t>
            </a:r>
            <a:r>
              <a:rPr lang="en-IN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vessel for boiling water or other liquids, with materials placed above it in a chamber to be exposed to steam.</a:t>
            </a:r>
            <a:endParaRPr lang="en-IN" sz="20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Modern Parallel:</a:t>
            </a:r>
            <a:r>
              <a:rPr lang="en-IN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Similar to a </a:t>
            </a:r>
            <a:r>
              <a:rPr lang="en-IN" sz="20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steam chamber</a:t>
            </a:r>
            <a:r>
              <a:rPr lang="en-IN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sz="20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herbal steamer</a:t>
            </a:r>
            <a:r>
              <a:rPr lang="en-IN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E7FD66-0A70-2420-0519-133C9D97629B}"/>
              </a:ext>
            </a:extLst>
          </p:cNvPr>
          <p:cNvSpPr txBox="1"/>
          <p:nvPr/>
        </p:nvSpPr>
        <p:spPr>
          <a:xfrm>
            <a:off x="614634" y="3585195"/>
            <a:ext cx="10668000" cy="2658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000" b="1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Pātana</a:t>
            </a:r>
            <a:r>
              <a:rPr lang="en-IN" sz="20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Yantra (</a:t>
            </a:r>
            <a:r>
              <a:rPr lang="en-IN" sz="2000" b="1" dirty="0" err="1">
                <a:solidFill>
                  <a:srgbClr val="000000"/>
                </a:solidFill>
                <a:effectLst/>
                <a:latin typeface="Nirmala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पातन</a:t>
            </a:r>
            <a:r>
              <a:rPr lang="en-IN" sz="20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err="1">
                <a:solidFill>
                  <a:srgbClr val="000000"/>
                </a:solidFill>
                <a:effectLst/>
                <a:latin typeface="Nirmala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यंत्र</a:t>
            </a:r>
            <a:r>
              <a:rPr lang="en-IN" sz="20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Designed for </a:t>
            </a:r>
            <a:r>
              <a:rPr lang="en-IN" sz="20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distillation or sublimation</a:t>
            </a:r>
            <a:r>
              <a:rPr lang="en-IN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mercury and other volatile substances.</a:t>
            </a:r>
            <a:endParaRPr lang="en-IN" sz="20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Design:</a:t>
            </a:r>
            <a:r>
              <a:rPr lang="en-IN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Involves two vessels – one containing the substance to be heated and another to collect </a:t>
            </a:r>
            <a:r>
              <a:rPr lang="en-IN" sz="20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vapors</a:t>
            </a:r>
            <a:r>
              <a:rPr lang="en-IN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after condensation.</a:t>
            </a:r>
            <a:endParaRPr lang="en-IN" sz="20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Modern Parallel:</a:t>
            </a:r>
            <a:r>
              <a:rPr lang="en-IN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Comparable to a </a:t>
            </a:r>
            <a:r>
              <a:rPr lang="en-IN" sz="20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distillation apparatus</a:t>
            </a:r>
            <a:r>
              <a:rPr lang="en-IN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40961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C383CC-EBA8-9399-A264-6A85B50B2A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10358755" cy="2566408"/>
          </a:xfrm>
        </p:spPr>
        <p:txBody>
          <a:bodyPr/>
          <a:lstStyle/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20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Dheki Yantra (</a:t>
            </a:r>
            <a:r>
              <a:rPr lang="en-IN" sz="2000" b="1" dirty="0" err="1">
                <a:solidFill>
                  <a:srgbClr val="000000"/>
                </a:solidFill>
                <a:effectLst/>
                <a:latin typeface="Nirmala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ढेकी</a:t>
            </a:r>
            <a:r>
              <a:rPr lang="en-IN" sz="20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err="1">
                <a:solidFill>
                  <a:srgbClr val="000000"/>
                </a:solidFill>
                <a:effectLst/>
                <a:latin typeface="Nirmala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यंत्र</a:t>
            </a:r>
            <a:r>
              <a:rPr lang="en-IN" sz="20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IN" sz="20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mechanical device for pounding</a:t>
            </a:r>
            <a:r>
              <a:rPr lang="en-IN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grains or herbs.</a:t>
            </a:r>
            <a:endParaRPr lang="en-IN" sz="20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Design:</a:t>
            </a:r>
            <a:r>
              <a:rPr lang="en-IN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large wooden lever system operated manually (often with the foot) to pound or crush materials.</a:t>
            </a:r>
            <a:endParaRPr lang="en-IN" sz="20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Modern Parallel:</a:t>
            </a:r>
            <a:r>
              <a:rPr lang="en-IN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Like a </a:t>
            </a:r>
            <a:r>
              <a:rPr lang="en-IN" sz="20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manual mortar-pestle</a:t>
            </a:r>
            <a:r>
              <a:rPr lang="en-IN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sz="20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foot-operated pounder</a:t>
            </a:r>
            <a:r>
              <a:rPr lang="en-IN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4D95A4-BC8D-A0D6-A016-4735F2EEDE2E}"/>
              </a:ext>
            </a:extLst>
          </p:cNvPr>
          <p:cNvSpPr txBox="1"/>
          <p:nvPr/>
        </p:nvSpPr>
        <p:spPr>
          <a:xfrm>
            <a:off x="645477" y="3805364"/>
            <a:ext cx="9982200" cy="2658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2000" b="1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Vāluka</a:t>
            </a:r>
            <a:r>
              <a:rPr lang="en-IN" sz="20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Yantra (</a:t>
            </a:r>
            <a:r>
              <a:rPr lang="en-IN" sz="2000" b="1" dirty="0" err="1">
                <a:solidFill>
                  <a:srgbClr val="000000"/>
                </a:solidFill>
                <a:effectLst/>
                <a:latin typeface="Nirmala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वालुक</a:t>
            </a:r>
            <a:r>
              <a:rPr lang="en-IN" sz="20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err="1">
                <a:solidFill>
                  <a:srgbClr val="000000"/>
                </a:solidFill>
                <a:effectLst/>
                <a:latin typeface="Nirmala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यंत्र</a:t>
            </a:r>
            <a:r>
              <a:rPr lang="en-IN" sz="20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Used for </a:t>
            </a:r>
            <a:r>
              <a:rPr lang="en-IN" sz="20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gentle and uniform heating</a:t>
            </a:r>
            <a:r>
              <a:rPr lang="en-IN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by embedding the processing vessel in </a:t>
            </a:r>
            <a:r>
              <a:rPr lang="en-IN" sz="20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hot sand</a:t>
            </a:r>
            <a:r>
              <a:rPr lang="en-IN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Design:</a:t>
            </a:r>
            <a:r>
              <a:rPr lang="en-IN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Heating done indirectly using a sand bath to avoid burning or overheating.</a:t>
            </a:r>
            <a:endParaRPr lang="en-I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Modern Parallel:</a:t>
            </a:r>
            <a:r>
              <a:rPr lang="en-IN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Analogous to a </a:t>
            </a:r>
            <a:r>
              <a:rPr lang="en-IN" sz="20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sand bath heater</a:t>
            </a:r>
            <a:r>
              <a:rPr lang="en-IN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modern labs.</a:t>
            </a:r>
            <a:endParaRPr lang="en-I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82807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A3C2F1-D89B-C2C8-C28B-D8AED2283B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622" y="1295400"/>
            <a:ext cx="10358755" cy="3572068"/>
          </a:xfrm>
        </p:spPr>
        <p:txBody>
          <a:bodyPr/>
          <a:lstStyle/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24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400" b="1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Dhūpa</a:t>
            </a:r>
            <a:r>
              <a:rPr lang="en-IN" sz="24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Yantra (</a:t>
            </a:r>
            <a:r>
              <a:rPr lang="en-IN" sz="2400" b="1" dirty="0" err="1">
                <a:solidFill>
                  <a:srgbClr val="000000"/>
                </a:solidFill>
                <a:effectLst/>
                <a:latin typeface="Nirmala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धूप</a:t>
            </a:r>
            <a:r>
              <a:rPr lang="en-IN" sz="24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 err="1">
                <a:solidFill>
                  <a:srgbClr val="000000"/>
                </a:solidFill>
                <a:effectLst/>
                <a:latin typeface="Nirmala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यंत्र</a:t>
            </a:r>
            <a:r>
              <a:rPr lang="en-IN" sz="24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sz="24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Used for </a:t>
            </a:r>
            <a:r>
              <a:rPr lang="en-IN" sz="24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fumigation or vapor treatment</a:t>
            </a:r>
            <a:r>
              <a:rPr lang="en-IN" sz="24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—a key part of purification and medicinal processes.</a:t>
            </a:r>
            <a:endParaRPr lang="en-IN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Design:</a:t>
            </a:r>
            <a:r>
              <a:rPr lang="en-IN" sz="24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Substances are placed over a heat source to generate fumes that are directed into a chamber or container holding the target material.</a:t>
            </a:r>
            <a:endParaRPr lang="en-IN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Modern Parallel:</a:t>
            </a:r>
            <a:r>
              <a:rPr lang="en-IN" sz="24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Similar to a </a:t>
            </a:r>
            <a:r>
              <a:rPr lang="en-IN" sz="24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fumigation chamber</a:t>
            </a:r>
            <a:r>
              <a:rPr lang="en-IN" sz="24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sz="24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smoke infuser</a:t>
            </a:r>
            <a:r>
              <a:rPr lang="en-IN" sz="24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6084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Literary</a:t>
            </a:r>
            <a:r>
              <a:rPr spc="-90" dirty="0"/>
              <a:t> </a:t>
            </a:r>
            <a:r>
              <a:rPr dirty="0"/>
              <a:t>sources</a:t>
            </a:r>
            <a:r>
              <a:rPr spc="-65" dirty="0"/>
              <a:t> </a:t>
            </a:r>
            <a:r>
              <a:rPr dirty="0"/>
              <a:t>for</a:t>
            </a:r>
            <a:r>
              <a:rPr spc="-60" dirty="0"/>
              <a:t> </a:t>
            </a:r>
            <a:r>
              <a:rPr dirty="0"/>
              <a:t>Science</a:t>
            </a:r>
            <a:r>
              <a:rPr spc="-50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spc="-30" dirty="0"/>
              <a:t>Technology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6350" indent="-227965" algn="just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One</a:t>
            </a:r>
            <a:r>
              <a:rPr spc="85" dirty="0"/>
              <a:t> </a:t>
            </a:r>
            <a:r>
              <a:rPr dirty="0"/>
              <a:t>of</a:t>
            </a:r>
            <a:r>
              <a:rPr spc="90" dirty="0"/>
              <a:t> </a:t>
            </a:r>
            <a:r>
              <a:rPr dirty="0"/>
              <a:t>the</a:t>
            </a:r>
            <a:r>
              <a:rPr spc="105" dirty="0"/>
              <a:t> </a:t>
            </a:r>
            <a:r>
              <a:rPr dirty="0"/>
              <a:t>oldest</a:t>
            </a:r>
            <a:r>
              <a:rPr spc="95" dirty="0"/>
              <a:t> </a:t>
            </a:r>
            <a:r>
              <a:rPr dirty="0"/>
              <a:t>civilizations</a:t>
            </a:r>
            <a:r>
              <a:rPr spc="120" dirty="0"/>
              <a:t> </a:t>
            </a:r>
            <a:r>
              <a:rPr dirty="0"/>
              <a:t>in</a:t>
            </a:r>
            <a:r>
              <a:rPr spc="90" dirty="0"/>
              <a:t> </a:t>
            </a:r>
            <a:r>
              <a:rPr dirty="0"/>
              <a:t>the</a:t>
            </a:r>
            <a:r>
              <a:rPr spc="90" dirty="0"/>
              <a:t> </a:t>
            </a:r>
            <a:r>
              <a:rPr dirty="0"/>
              <a:t>world,</a:t>
            </a:r>
            <a:r>
              <a:rPr spc="100" dirty="0"/>
              <a:t> </a:t>
            </a:r>
            <a:r>
              <a:rPr dirty="0"/>
              <a:t>the</a:t>
            </a:r>
            <a:r>
              <a:rPr spc="95" dirty="0"/>
              <a:t> </a:t>
            </a:r>
            <a:r>
              <a:rPr dirty="0"/>
              <a:t>Indian</a:t>
            </a:r>
            <a:r>
              <a:rPr spc="100" dirty="0"/>
              <a:t> </a:t>
            </a:r>
            <a:r>
              <a:rPr dirty="0"/>
              <a:t>civilization</a:t>
            </a:r>
            <a:r>
              <a:rPr spc="100" dirty="0"/>
              <a:t> </a:t>
            </a:r>
            <a:r>
              <a:rPr spc="-25" dirty="0"/>
              <a:t>has 	</a:t>
            </a:r>
            <a:r>
              <a:rPr dirty="0"/>
              <a:t>a</a:t>
            </a:r>
            <a:r>
              <a:rPr spc="-60" dirty="0"/>
              <a:t> </a:t>
            </a:r>
            <a:r>
              <a:rPr dirty="0"/>
              <a:t>strong</a:t>
            </a:r>
            <a:r>
              <a:rPr spc="-45" dirty="0"/>
              <a:t> </a:t>
            </a:r>
            <a:r>
              <a:rPr dirty="0"/>
              <a:t>tradition</a:t>
            </a:r>
            <a:r>
              <a:rPr spc="-45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science</a:t>
            </a:r>
            <a:r>
              <a:rPr spc="-40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technology.</a:t>
            </a:r>
          </a:p>
          <a:p>
            <a:pPr marL="240029" marR="5080" indent="-227965" algn="just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Ancient</a:t>
            </a:r>
            <a:r>
              <a:rPr spc="590" dirty="0"/>
              <a:t> </a:t>
            </a:r>
            <a:r>
              <a:rPr dirty="0"/>
              <a:t>India</a:t>
            </a:r>
            <a:r>
              <a:rPr spc="580" dirty="0"/>
              <a:t> </a:t>
            </a:r>
            <a:r>
              <a:rPr dirty="0"/>
              <a:t>was</a:t>
            </a:r>
            <a:r>
              <a:rPr spc="595" dirty="0"/>
              <a:t> </a:t>
            </a:r>
            <a:r>
              <a:rPr dirty="0"/>
              <a:t>a</a:t>
            </a:r>
            <a:r>
              <a:rPr spc="585" dirty="0"/>
              <a:t> </a:t>
            </a:r>
            <a:r>
              <a:rPr dirty="0"/>
              <a:t>land</a:t>
            </a:r>
            <a:r>
              <a:rPr spc="580" dirty="0"/>
              <a:t> </a:t>
            </a:r>
            <a:r>
              <a:rPr dirty="0"/>
              <a:t>of</a:t>
            </a:r>
            <a:r>
              <a:rPr spc="595" dirty="0"/>
              <a:t> </a:t>
            </a:r>
            <a:r>
              <a:rPr dirty="0"/>
              <a:t>sages</a:t>
            </a:r>
            <a:r>
              <a:rPr spc="585" dirty="0"/>
              <a:t> </a:t>
            </a:r>
            <a:r>
              <a:rPr dirty="0"/>
              <a:t>and</a:t>
            </a:r>
            <a:r>
              <a:rPr spc="595" dirty="0"/>
              <a:t> </a:t>
            </a:r>
            <a:r>
              <a:rPr dirty="0"/>
              <a:t>seers</a:t>
            </a:r>
            <a:r>
              <a:rPr spc="580" dirty="0"/>
              <a:t> </a:t>
            </a:r>
            <a:r>
              <a:rPr dirty="0"/>
              <a:t>as</a:t>
            </a:r>
            <a:r>
              <a:rPr spc="605" dirty="0"/>
              <a:t> </a:t>
            </a:r>
            <a:r>
              <a:rPr dirty="0"/>
              <a:t>well</a:t>
            </a:r>
            <a:r>
              <a:rPr spc="565" dirty="0"/>
              <a:t> </a:t>
            </a:r>
            <a:r>
              <a:rPr dirty="0"/>
              <a:t>as</a:t>
            </a:r>
            <a:r>
              <a:rPr spc="580" dirty="0"/>
              <a:t> </a:t>
            </a:r>
            <a:r>
              <a:rPr dirty="0"/>
              <a:t>a</a:t>
            </a:r>
            <a:r>
              <a:rPr spc="600" dirty="0"/>
              <a:t> </a:t>
            </a:r>
            <a:r>
              <a:rPr dirty="0"/>
              <a:t>land</a:t>
            </a:r>
            <a:r>
              <a:rPr spc="580" dirty="0"/>
              <a:t> </a:t>
            </a:r>
            <a:r>
              <a:rPr spc="-25" dirty="0"/>
              <a:t>of 	</a:t>
            </a:r>
            <a:r>
              <a:rPr dirty="0"/>
              <a:t>scholars</a:t>
            </a:r>
            <a:r>
              <a:rPr spc="-85" dirty="0"/>
              <a:t> </a:t>
            </a:r>
            <a:r>
              <a:rPr dirty="0"/>
              <a:t>and</a:t>
            </a:r>
            <a:r>
              <a:rPr spc="-80" dirty="0"/>
              <a:t> </a:t>
            </a:r>
            <a:r>
              <a:rPr spc="-10" dirty="0"/>
              <a:t>scientists.</a:t>
            </a:r>
          </a:p>
          <a:p>
            <a:pPr marL="239395" marR="5715" indent="-227329" algn="just">
              <a:lnSpc>
                <a:spcPct val="90000"/>
              </a:lnSpc>
              <a:spcBef>
                <a:spcPts val="9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Research</a:t>
            </a:r>
            <a:r>
              <a:rPr spc="180" dirty="0"/>
              <a:t> </a:t>
            </a:r>
            <a:r>
              <a:rPr dirty="0"/>
              <a:t>has</a:t>
            </a:r>
            <a:r>
              <a:rPr spc="195" dirty="0"/>
              <a:t> </a:t>
            </a:r>
            <a:r>
              <a:rPr dirty="0"/>
              <a:t>shown</a:t>
            </a:r>
            <a:r>
              <a:rPr spc="185" dirty="0"/>
              <a:t> </a:t>
            </a:r>
            <a:r>
              <a:rPr dirty="0"/>
              <a:t>that</a:t>
            </a:r>
            <a:r>
              <a:rPr spc="185" dirty="0"/>
              <a:t> </a:t>
            </a:r>
            <a:r>
              <a:rPr dirty="0"/>
              <a:t>from</a:t>
            </a:r>
            <a:r>
              <a:rPr spc="185" dirty="0"/>
              <a:t> </a:t>
            </a:r>
            <a:r>
              <a:rPr dirty="0"/>
              <a:t>making</a:t>
            </a:r>
            <a:r>
              <a:rPr spc="185" dirty="0"/>
              <a:t> </a:t>
            </a:r>
            <a:r>
              <a:rPr dirty="0"/>
              <a:t>the</a:t>
            </a:r>
            <a:r>
              <a:rPr spc="185" dirty="0"/>
              <a:t> </a:t>
            </a:r>
            <a:r>
              <a:rPr dirty="0"/>
              <a:t>best</a:t>
            </a:r>
            <a:r>
              <a:rPr spc="200" dirty="0"/>
              <a:t> </a:t>
            </a:r>
            <a:r>
              <a:rPr dirty="0"/>
              <a:t>steel</a:t>
            </a:r>
            <a:r>
              <a:rPr spc="175" dirty="0"/>
              <a:t> </a:t>
            </a:r>
            <a:r>
              <a:rPr dirty="0"/>
              <a:t>in</a:t>
            </a:r>
            <a:r>
              <a:rPr spc="180" dirty="0"/>
              <a:t> </a:t>
            </a:r>
            <a:r>
              <a:rPr dirty="0"/>
              <a:t>the</a:t>
            </a:r>
            <a:r>
              <a:rPr spc="190" dirty="0"/>
              <a:t> </a:t>
            </a:r>
            <a:r>
              <a:rPr dirty="0"/>
              <a:t>world</a:t>
            </a:r>
            <a:r>
              <a:rPr spc="175" dirty="0"/>
              <a:t> </a:t>
            </a:r>
            <a:r>
              <a:rPr spc="-25" dirty="0"/>
              <a:t>to 	</a:t>
            </a:r>
            <a:r>
              <a:rPr dirty="0"/>
              <a:t>teaching</a:t>
            </a:r>
            <a:r>
              <a:rPr spc="385" dirty="0"/>
              <a:t> </a:t>
            </a:r>
            <a:r>
              <a:rPr dirty="0"/>
              <a:t>the</a:t>
            </a:r>
            <a:r>
              <a:rPr spc="390" dirty="0"/>
              <a:t> </a:t>
            </a:r>
            <a:r>
              <a:rPr dirty="0"/>
              <a:t>world</a:t>
            </a:r>
            <a:r>
              <a:rPr spc="385" dirty="0"/>
              <a:t> </a:t>
            </a:r>
            <a:r>
              <a:rPr dirty="0"/>
              <a:t>to</a:t>
            </a:r>
            <a:r>
              <a:rPr spc="395" dirty="0"/>
              <a:t> </a:t>
            </a:r>
            <a:r>
              <a:rPr dirty="0"/>
              <a:t>count,</a:t>
            </a:r>
            <a:r>
              <a:rPr spc="409" dirty="0"/>
              <a:t> </a:t>
            </a:r>
            <a:r>
              <a:rPr dirty="0"/>
              <a:t>India</a:t>
            </a:r>
            <a:r>
              <a:rPr spc="395" dirty="0"/>
              <a:t> </a:t>
            </a:r>
            <a:r>
              <a:rPr dirty="0"/>
              <a:t>was</a:t>
            </a:r>
            <a:r>
              <a:rPr spc="400" dirty="0"/>
              <a:t> </a:t>
            </a:r>
            <a:r>
              <a:rPr dirty="0"/>
              <a:t>actively</a:t>
            </a:r>
            <a:r>
              <a:rPr spc="395" dirty="0"/>
              <a:t> </a:t>
            </a:r>
            <a:r>
              <a:rPr dirty="0"/>
              <a:t>contributing</a:t>
            </a:r>
            <a:r>
              <a:rPr spc="420" dirty="0"/>
              <a:t> </a:t>
            </a:r>
            <a:r>
              <a:rPr dirty="0"/>
              <a:t>to</a:t>
            </a:r>
            <a:r>
              <a:rPr spc="390" dirty="0"/>
              <a:t> </a:t>
            </a:r>
            <a:r>
              <a:rPr spc="-25" dirty="0"/>
              <a:t>the 	</a:t>
            </a:r>
            <a:r>
              <a:rPr dirty="0"/>
              <a:t>field</a:t>
            </a:r>
            <a:r>
              <a:rPr spc="265" dirty="0"/>
              <a:t>  </a:t>
            </a:r>
            <a:r>
              <a:rPr dirty="0"/>
              <a:t>of</a:t>
            </a:r>
            <a:r>
              <a:rPr spc="280" dirty="0"/>
              <a:t>  </a:t>
            </a:r>
            <a:r>
              <a:rPr dirty="0"/>
              <a:t>science</a:t>
            </a:r>
            <a:r>
              <a:rPr spc="275" dirty="0"/>
              <a:t>  </a:t>
            </a:r>
            <a:r>
              <a:rPr dirty="0"/>
              <a:t>and</a:t>
            </a:r>
            <a:r>
              <a:rPr spc="275" dirty="0"/>
              <a:t>  </a:t>
            </a:r>
            <a:r>
              <a:rPr dirty="0"/>
              <a:t>technology</a:t>
            </a:r>
            <a:r>
              <a:rPr spc="275" dirty="0"/>
              <a:t>  </a:t>
            </a:r>
            <a:r>
              <a:rPr dirty="0"/>
              <a:t>centuries</a:t>
            </a:r>
            <a:r>
              <a:rPr spc="270" dirty="0"/>
              <a:t>  </a:t>
            </a:r>
            <a:r>
              <a:rPr dirty="0"/>
              <a:t>long</a:t>
            </a:r>
            <a:r>
              <a:rPr spc="280" dirty="0"/>
              <a:t>  </a:t>
            </a:r>
            <a:r>
              <a:rPr dirty="0"/>
              <a:t>before</a:t>
            </a:r>
            <a:r>
              <a:rPr spc="270" dirty="0"/>
              <a:t>  </a:t>
            </a:r>
            <a:r>
              <a:rPr spc="-10" dirty="0"/>
              <a:t>modern 	laboratories</a:t>
            </a:r>
            <a:r>
              <a:rPr spc="-70" dirty="0"/>
              <a:t> </a:t>
            </a:r>
            <a:r>
              <a:rPr dirty="0"/>
              <a:t>were</a:t>
            </a:r>
            <a:r>
              <a:rPr spc="-85" dirty="0"/>
              <a:t> </a:t>
            </a:r>
            <a:r>
              <a:rPr dirty="0"/>
              <a:t>set</a:t>
            </a:r>
            <a:r>
              <a:rPr spc="-70" dirty="0"/>
              <a:t> </a:t>
            </a:r>
            <a:r>
              <a:rPr spc="-25" dirty="0"/>
              <a:t>up.</a:t>
            </a:r>
          </a:p>
          <a:p>
            <a:pPr marL="239395" marR="5080" indent="-227329" algn="just">
              <a:lnSpc>
                <a:spcPct val="9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Many</a:t>
            </a:r>
            <a:r>
              <a:rPr spc="-45" dirty="0"/>
              <a:t> </a:t>
            </a:r>
            <a:r>
              <a:rPr dirty="0"/>
              <a:t>theories</a:t>
            </a:r>
            <a:r>
              <a:rPr spc="-35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techniques</a:t>
            </a:r>
            <a:r>
              <a:rPr spc="-30" dirty="0"/>
              <a:t> </a:t>
            </a:r>
            <a:r>
              <a:rPr dirty="0"/>
              <a:t>discovered</a:t>
            </a:r>
            <a:r>
              <a:rPr spc="-30" dirty="0"/>
              <a:t> </a:t>
            </a:r>
            <a:r>
              <a:rPr dirty="0"/>
              <a:t>by</a:t>
            </a:r>
            <a:r>
              <a:rPr spc="-4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ancient</a:t>
            </a:r>
            <a:r>
              <a:rPr spc="-25" dirty="0"/>
              <a:t> </a:t>
            </a:r>
            <a:r>
              <a:rPr dirty="0"/>
              <a:t>Indians</a:t>
            </a:r>
            <a:r>
              <a:rPr spc="-25" dirty="0"/>
              <a:t> </a:t>
            </a:r>
            <a:r>
              <a:rPr spc="-20" dirty="0"/>
              <a:t>have 	</a:t>
            </a:r>
            <a:r>
              <a:rPr dirty="0"/>
              <a:t>created</a:t>
            </a:r>
            <a:r>
              <a:rPr spc="240" dirty="0"/>
              <a:t> </a:t>
            </a:r>
            <a:r>
              <a:rPr dirty="0"/>
              <a:t>and</a:t>
            </a:r>
            <a:r>
              <a:rPr spc="250" dirty="0"/>
              <a:t> </a:t>
            </a:r>
            <a:r>
              <a:rPr dirty="0"/>
              <a:t>strengthened</a:t>
            </a:r>
            <a:r>
              <a:rPr spc="250" dirty="0"/>
              <a:t> </a:t>
            </a:r>
            <a:r>
              <a:rPr dirty="0"/>
              <a:t>the</a:t>
            </a:r>
            <a:r>
              <a:rPr spc="254" dirty="0"/>
              <a:t> </a:t>
            </a:r>
            <a:r>
              <a:rPr dirty="0"/>
              <a:t>fundamentals</a:t>
            </a:r>
            <a:r>
              <a:rPr spc="250" dirty="0"/>
              <a:t> </a:t>
            </a:r>
            <a:r>
              <a:rPr dirty="0"/>
              <a:t>of</a:t>
            </a:r>
            <a:r>
              <a:rPr spc="250" dirty="0"/>
              <a:t> </a:t>
            </a:r>
            <a:r>
              <a:rPr dirty="0"/>
              <a:t>modern</a:t>
            </a:r>
            <a:r>
              <a:rPr spc="260" dirty="0"/>
              <a:t> </a:t>
            </a:r>
            <a:r>
              <a:rPr dirty="0"/>
              <a:t>science</a:t>
            </a:r>
            <a:r>
              <a:rPr spc="240" dirty="0"/>
              <a:t> </a:t>
            </a:r>
            <a:r>
              <a:rPr spc="-25" dirty="0"/>
              <a:t>and 	</a:t>
            </a:r>
            <a:r>
              <a:rPr spc="-10" dirty="0"/>
              <a:t>technology.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Achievements</a:t>
            </a:r>
            <a:r>
              <a:rPr spc="-30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science</a:t>
            </a:r>
            <a:r>
              <a:rPr spc="-3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ancient</a:t>
            </a:r>
            <a:r>
              <a:rPr spc="-30" dirty="0"/>
              <a:t> </a:t>
            </a:r>
            <a:r>
              <a:rPr spc="-10" dirty="0"/>
              <a:t>India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360660" cy="339534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029" marR="5080" indent="-227965" algn="just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Indian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science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come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long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way</a:t>
            </a:r>
            <a:r>
              <a:rPr sz="2800" spc="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sculpture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bronze 	</a:t>
            </a:r>
            <a:r>
              <a:rPr sz="2800" dirty="0">
                <a:latin typeface="Calibri"/>
                <a:cs typeface="Calibri"/>
              </a:rPr>
              <a:t>dancer</a:t>
            </a:r>
            <a:r>
              <a:rPr sz="2800" spc="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5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advanced</a:t>
            </a:r>
            <a:r>
              <a:rPr sz="2800" spc="5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urbanization</a:t>
            </a:r>
            <a:r>
              <a:rPr sz="2800" spc="5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found</a:t>
            </a:r>
            <a:r>
              <a:rPr sz="2800" spc="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5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Indus</a:t>
            </a:r>
            <a:r>
              <a:rPr sz="2800" spc="60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Valley 	Civilization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exploration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surface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moon.</a:t>
            </a:r>
            <a:endParaRPr sz="2800">
              <a:latin typeface="Calibri"/>
              <a:cs typeface="Calibri"/>
            </a:endParaRPr>
          </a:p>
          <a:p>
            <a:pPr marL="240029" marR="5080" indent="-227965" algn="just">
              <a:lnSpc>
                <a:spcPct val="9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Today,</a:t>
            </a:r>
            <a:r>
              <a:rPr sz="2800" spc="6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India</a:t>
            </a:r>
            <a:r>
              <a:rPr sz="2800" spc="6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6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famous</a:t>
            </a:r>
            <a:r>
              <a:rPr sz="2800" spc="6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</a:t>
            </a:r>
            <a:r>
              <a:rPr sz="2800" spc="6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over</a:t>
            </a:r>
            <a:r>
              <a:rPr sz="2800" spc="6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6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world</a:t>
            </a:r>
            <a:r>
              <a:rPr sz="2800" spc="6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due</a:t>
            </a:r>
            <a:r>
              <a:rPr sz="2800" spc="6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6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ISRO,</a:t>
            </a:r>
            <a:r>
              <a:rPr sz="2800" spc="6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DRDO,</a:t>
            </a:r>
            <a:r>
              <a:rPr sz="2800" spc="6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IT 	</a:t>
            </a:r>
            <a:r>
              <a:rPr sz="2800" dirty="0">
                <a:latin typeface="Calibri"/>
                <a:cs typeface="Calibri"/>
              </a:rPr>
              <a:t>sectors,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but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ancient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India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also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advanced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point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view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of 	</a:t>
            </a:r>
            <a:r>
              <a:rPr sz="2800" dirty="0">
                <a:latin typeface="Calibri"/>
                <a:cs typeface="Calibri"/>
              </a:rPr>
              <a:t>science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technology.</a:t>
            </a:r>
            <a:endParaRPr sz="2800">
              <a:latin typeface="Calibri"/>
              <a:cs typeface="Calibri"/>
            </a:endParaRPr>
          </a:p>
          <a:p>
            <a:pPr marL="240029" marR="6985" indent="-227965" algn="just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India</a:t>
            </a:r>
            <a:r>
              <a:rPr sz="2800" spc="4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4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achieved</a:t>
            </a:r>
            <a:r>
              <a:rPr sz="2800" spc="47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significant</a:t>
            </a:r>
            <a:r>
              <a:rPr sz="2800" spc="46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achievements</a:t>
            </a:r>
            <a:r>
              <a:rPr sz="2800" spc="48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4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4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fields</a:t>
            </a:r>
            <a:r>
              <a:rPr sz="2800" spc="465" dirty="0">
                <a:latin typeface="Calibri"/>
                <a:cs typeface="Calibri"/>
              </a:rPr>
              <a:t>  </a:t>
            </a:r>
            <a:r>
              <a:rPr sz="2800" spc="-25" dirty="0">
                <a:latin typeface="Calibri"/>
                <a:cs typeface="Calibri"/>
              </a:rPr>
              <a:t>of 	</a:t>
            </a:r>
            <a:r>
              <a:rPr sz="2800" spc="-10" dirty="0">
                <a:latin typeface="Calibri"/>
                <a:cs typeface="Calibri"/>
              </a:rPr>
              <a:t>Mathematics,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Physics,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Medicine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ancient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India.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Achievements</a:t>
            </a:r>
            <a:r>
              <a:rPr spc="-15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Field</a:t>
            </a:r>
            <a:r>
              <a:rPr spc="-3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10" dirty="0"/>
              <a:t>mathematics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029" marR="5080" indent="-227965" algn="just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Indus</a:t>
            </a:r>
            <a:r>
              <a:rPr spc="640" dirty="0"/>
              <a:t>  </a:t>
            </a:r>
            <a:r>
              <a:rPr dirty="0"/>
              <a:t>Valley</a:t>
            </a:r>
            <a:r>
              <a:rPr spc="635" dirty="0"/>
              <a:t>  </a:t>
            </a:r>
            <a:r>
              <a:rPr dirty="0"/>
              <a:t>Civilization</a:t>
            </a:r>
            <a:r>
              <a:rPr spc="630" dirty="0"/>
              <a:t>  </a:t>
            </a:r>
            <a:r>
              <a:rPr dirty="0"/>
              <a:t>was</a:t>
            </a:r>
            <a:r>
              <a:rPr spc="640" dirty="0"/>
              <a:t>  </a:t>
            </a:r>
            <a:r>
              <a:rPr dirty="0"/>
              <a:t>a</a:t>
            </a:r>
            <a:r>
              <a:rPr spc="645" dirty="0"/>
              <a:t>  </a:t>
            </a:r>
            <a:r>
              <a:rPr spc="-20" dirty="0"/>
              <a:t>business-</a:t>
            </a:r>
            <a:r>
              <a:rPr dirty="0"/>
              <a:t>oriented</a:t>
            </a:r>
            <a:r>
              <a:rPr spc="640" dirty="0"/>
              <a:t>  </a:t>
            </a:r>
            <a:r>
              <a:rPr spc="-10" dirty="0"/>
              <a:t>civilization. 	</a:t>
            </a:r>
            <a:r>
              <a:rPr dirty="0"/>
              <a:t>Therefore,</a:t>
            </a:r>
            <a:r>
              <a:rPr spc="40" dirty="0"/>
              <a:t>  </a:t>
            </a:r>
            <a:r>
              <a:rPr dirty="0"/>
              <a:t>weighing</a:t>
            </a:r>
            <a:r>
              <a:rPr spc="35" dirty="0"/>
              <a:t>  </a:t>
            </a:r>
            <a:r>
              <a:rPr dirty="0"/>
              <a:t>systems</a:t>
            </a:r>
            <a:r>
              <a:rPr spc="50" dirty="0"/>
              <a:t>  </a:t>
            </a:r>
            <a:r>
              <a:rPr dirty="0"/>
              <a:t>were</a:t>
            </a:r>
            <a:r>
              <a:rPr spc="45" dirty="0"/>
              <a:t>  </a:t>
            </a:r>
            <a:r>
              <a:rPr dirty="0"/>
              <a:t>developed</a:t>
            </a:r>
            <a:r>
              <a:rPr spc="40" dirty="0"/>
              <a:t>  </a:t>
            </a:r>
            <a:r>
              <a:rPr dirty="0"/>
              <a:t>there.</a:t>
            </a:r>
            <a:r>
              <a:rPr spc="45" dirty="0"/>
              <a:t>  </a:t>
            </a:r>
            <a:r>
              <a:rPr dirty="0"/>
              <a:t>According</a:t>
            </a:r>
            <a:r>
              <a:rPr spc="35" dirty="0"/>
              <a:t>  </a:t>
            </a:r>
            <a:r>
              <a:rPr spc="-25" dirty="0"/>
              <a:t>to 	</a:t>
            </a:r>
            <a:r>
              <a:rPr dirty="0"/>
              <a:t>archaeologists,</a:t>
            </a:r>
            <a:r>
              <a:rPr spc="100" dirty="0"/>
              <a:t> </a:t>
            </a:r>
            <a:r>
              <a:rPr dirty="0"/>
              <a:t>in</a:t>
            </a:r>
            <a:r>
              <a:rPr spc="110" dirty="0"/>
              <a:t> </a:t>
            </a:r>
            <a:r>
              <a:rPr dirty="0"/>
              <a:t>the</a:t>
            </a:r>
            <a:r>
              <a:rPr spc="120" dirty="0"/>
              <a:t> </a:t>
            </a:r>
            <a:r>
              <a:rPr dirty="0"/>
              <a:t>Indus</a:t>
            </a:r>
            <a:r>
              <a:rPr spc="110" dirty="0"/>
              <a:t> </a:t>
            </a:r>
            <a:r>
              <a:rPr dirty="0"/>
              <a:t>Valley</a:t>
            </a:r>
            <a:r>
              <a:rPr spc="110" dirty="0"/>
              <a:t> </a:t>
            </a:r>
            <a:r>
              <a:rPr dirty="0"/>
              <a:t>Civilization,</a:t>
            </a:r>
            <a:r>
              <a:rPr spc="114" dirty="0"/>
              <a:t> </a:t>
            </a:r>
            <a:r>
              <a:rPr dirty="0"/>
              <a:t>a</a:t>
            </a:r>
            <a:r>
              <a:rPr spc="114" dirty="0"/>
              <a:t> </a:t>
            </a:r>
            <a:r>
              <a:rPr dirty="0"/>
              <a:t>system</a:t>
            </a:r>
            <a:r>
              <a:rPr spc="105" dirty="0"/>
              <a:t> </a:t>
            </a:r>
            <a:r>
              <a:rPr dirty="0"/>
              <a:t>of</a:t>
            </a:r>
            <a:r>
              <a:rPr spc="114" dirty="0"/>
              <a:t> </a:t>
            </a:r>
            <a:r>
              <a:rPr dirty="0"/>
              <a:t>scale</a:t>
            </a:r>
            <a:r>
              <a:rPr spc="114" dirty="0"/>
              <a:t> </a:t>
            </a:r>
            <a:r>
              <a:rPr spc="-10" dirty="0"/>
              <a:t>ratio 	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16</a:t>
            </a:r>
            <a:r>
              <a:rPr spc="-30" dirty="0"/>
              <a:t> </a:t>
            </a:r>
            <a:r>
              <a:rPr dirty="0"/>
              <a:t>was</a:t>
            </a:r>
            <a:r>
              <a:rPr spc="-25" dirty="0"/>
              <a:t> </a:t>
            </a:r>
            <a:r>
              <a:rPr spc="-10" dirty="0"/>
              <a:t>developed.</a:t>
            </a:r>
          </a:p>
          <a:p>
            <a:pPr marL="240665" indent="-227965" algn="just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/>
              <a:t>The</a:t>
            </a:r>
            <a:r>
              <a:rPr spc="-80" dirty="0"/>
              <a:t> </a:t>
            </a:r>
            <a:r>
              <a:rPr spc="-20" dirty="0"/>
              <a:t>Yajurveda</a:t>
            </a:r>
            <a:r>
              <a:rPr spc="-60" dirty="0"/>
              <a:t> </a:t>
            </a:r>
            <a:r>
              <a:rPr dirty="0"/>
              <a:t>describes</a:t>
            </a:r>
            <a:r>
              <a:rPr spc="-75" dirty="0"/>
              <a:t> </a:t>
            </a:r>
            <a:r>
              <a:rPr dirty="0"/>
              <a:t>numbers</a:t>
            </a:r>
            <a:r>
              <a:rPr spc="-35" dirty="0"/>
              <a:t> </a:t>
            </a:r>
            <a:r>
              <a:rPr dirty="0"/>
              <a:t>up</a:t>
            </a:r>
            <a:r>
              <a:rPr spc="-60" dirty="0"/>
              <a:t> </a:t>
            </a:r>
            <a:r>
              <a:rPr dirty="0"/>
              <a:t>to</a:t>
            </a:r>
            <a:r>
              <a:rPr spc="-70" dirty="0"/>
              <a:t> </a:t>
            </a:r>
            <a:r>
              <a:rPr dirty="0"/>
              <a:t>10</a:t>
            </a:r>
            <a:r>
              <a:rPr spc="-55" dirty="0"/>
              <a:t> </a:t>
            </a:r>
            <a:r>
              <a:rPr spc="-10" dirty="0"/>
              <a:t>Kharab.</a:t>
            </a:r>
          </a:p>
          <a:p>
            <a:pPr marL="240029" marR="7620" indent="-227965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  <a:tab pos="927100" algn="l"/>
                <a:tab pos="1801495" algn="l"/>
                <a:tab pos="3317240" algn="l"/>
                <a:tab pos="4611370" algn="l"/>
                <a:tab pos="5055870" algn="l"/>
                <a:tab pos="5687060" algn="l"/>
                <a:tab pos="6965950" algn="l"/>
                <a:tab pos="8116570" algn="l"/>
                <a:tab pos="8554085" algn="l"/>
                <a:tab pos="9004935" algn="l"/>
                <a:tab pos="9443085" algn="l"/>
                <a:tab pos="9859010" algn="l"/>
              </a:tabLst>
            </a:pPr>
            <a:r>
              <a:rPr spc="-25" dirty="0"/>
              <a:t>The</a:t>
            </a:r>
            <a:r>
              <a:rPr dirty="0"/>
              <a:t>	</a:t>
            </a:r>
            <a:r>
              <a:rPr spc="-20" dirty="0"/>
              <a:t>most</a:t>
            </a:r>
            <a:r>
              <a:rPr dirty="0"/>
              <a:t>	</a:t>
            </a:r>
            <a:r>
              <a:rPr spc="-10" dirty="0"/>
              <a:t>prevalent</a:t>
            </a:r>
            <a:r>
              <a:rPr dirty="0"/>
              <a:t>	</a:t>
            </a:r>
            <a:r>
              <a:rPr spc="-10" dirty="0"/>
              <a:t>number</a:t>
            </a:r>
            <a:r>
              <a:rPr dirty="0"/>
              <a:t>	</a:t>
            </a:r>
            <a:r>
              <a:rPr spc="-25" dirty="0"/>
              <a:t>of</a:t>
            </a:r>
            <a:r>
              <a:rPr dirty="0"/>
              <a:t>	</a:t>
            </a:r>
            <a:r>
              <a:rPr spc="-25" dirty="0"/>
              <a:t>the</a:t>
            </a:r>
            <a:r>
              <a:rPr dirty="0"/>
              <a:t>	</a:t>
            </a:r>
            <a:r>
              <a:rPr spc="-10" dirty="0"/>
              <a:t>decimal</a:t>
            </a:r>
            <a:r>
              <a:rPr dirty="0"/>
              <a:t>	</a:t>
            </a:r>
            <a:r>
              <a:rPr spc="-10" dirty="0"/>
              <a:t>system</a:t>
            </a:r>
            <a:r>
              <a:rPr dirty="0"/>
              <a:t>	</a:t>
            </a:r>
            <a:r>
              <a:rPr spc="-25" dirty="0"/>
              <a:t>(0</a:t>
            </a:r>
            <a:r>
              <a:rPr dirty="0"/>
              <a:t>	</a:t>
            </a:r>
            <a:r>
              <a:rPr spc="-25" dirty="0"/>
              <a:t>to</a:t>
            </a:r>
            <a:r>
              <a:rPr dirty="0"/>
              <a:t>	</a:t>
            </a:r>
            <a:r>
              <a:rPr spc="-25" dirty="0"/>
              <a:t>9)</a:t>
            </a:r>
            <a:r>
              <a:rPr dirty="0"/>
              <a:t>	</a:t>
            </a:r>
            <a:r>
              <a:rPr spc="-25" dirty="0"/>
              <a:t>in</a:t>
            </a:r>
            <a:r>
              <a:rPr dirty="0"/>
              <a:t>	</a:t>
            </a:r>
            <a:r>
              <a:rPr spc="-25" dirty="0"/>
              <a:t>the 	</a:t>
            </a:r>
            <a:r>
              <a:rPr dirty="0"/>
              <a:t>present</a:t>
            </a:r>
            <a:r>
              <a:rPr spc="-90" dirty="0"/>
              <a:t> </a:t>
            </a:r>
            <a:r>
              <a:rPr dirty="0"/>
              <a:t>world</a:t>
            </a:r>
            <a:r>
              <a:rPr spc="-105" dirty="0"/>
              <a:t> </a:t>
            </a:r>
            <a:r>
              <a:rPr dirty="0"/>
              <a:t>was</a:t>
            </a:r>
            <a:r>
              <a:rPr spc="-105" dirty="0"/>
              <a:t> </a:t>
            </a:r>
            <a:r>
              <a:rPr spc="-10" dirty="0"/>
              <a:t>invented</a:t>
            </a:r>
            <a:r>
              <a:rPr spc="-90" dirty="0"/>
              <a:t> </a:t>
            </a:r>
            <a:r>
              <a:rPr dirty="0"/>
              <a:t>in</a:t>
            </a:r>
            <a:r>
              <a:rPr spc="-105" dirty="0"/>
              <a:t> </a:t>
            </a:r>
            <a:r>
              <a:rPr spc="-10" dirty="0"/>
              <a:t>India.</a:t>
            </a:r>
          </a:p>
          <a:p>
            <a:pPr marL="240029" marR="5715" indent="-227965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The</a:t>
            </a:r>
            <a:r>
              <a:rPr spc="-55" dirty="0"/>
              <a:t> </a:t>
            </a:r>
            <a:r>
              <a:rPr dirty="0"/>
              <a:t>description</a:t>
            </a:r>
            <a:r>
              <a:rPr spc="-3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innumerable</a:t>
            </a:r>
            <a:r>
              <a:rPr spc="-55" dirty="0"/>
              <a:t> </a:t>
            </a:r>
            <a:r>
              <a:rPr dirty="0"/>
              <a:t>(Infinity)</a:t>
            </a:r>
            <a:r>
              <a:rPr spc="-40" dirty="0"/>
              <a:t> </a:t>
            </a:r>
            <a:r>
              <a:rPr dirty="0"/>
              <a:t>is</a:t>
            </a:r>
            <a:r>
              <a:rPr spc="-50" dirty="0"/>
              <a:t> </a:t>
            </a:r>
            <a:r>
              <a:rPr dirty="0"/>
              <a:t>firstly</a:t>
            </a:r>
            <a:r>
              <a:rPr spc="-55" dirty="0"/>
              <a:t> </a:t>
            </a:r>
            <a:r>
              <a:rPr dirty="0"/>
              <a:t>found</a:t>
            </a:r>
            <a:r>
              <a:rPr spc="-45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spc="-20" dirty="0"/>
              <a:t>Jain 	</a:t>
            </a:r>
            <a:r>
              <a:rPr dirty="0"/>
              <a:t>text</a:t>
            </a:r>
            <a:r>
              <a:rPr spc="-105" dirty="0"/>
              <a:t> </a:t>
            </a:r>
            <a:r>
              <a:rPr spc="-10" dirty="0"/>
              <a:t>"Anuyogdwar".</a:t>
            </a:r>
          </a:p>
          <a:p>
            <a:pPr marL="240665" indent="-227965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/>
              <a:t>Geometry</a:t>
            </a:r>
            <a:r>
              <a:rPr spc="-65" dirty="0"/>
              <a:t> </a:t>
            </a:r>
            <a:r>
              <a:rPr dirty="0"/>
              <a:t>is</a:t>
            </a:r>
            <a:r>
              <a:rPr spc="-45" dirty="0"/>
              <a:t> </a:t>
            </a:r>
            <a:r>
              <a:rPr dirty="0"/>
              <a:t>described</a:t>
            </a:r>
            <a:r>
              <a:rPr spc="-35" dirty="0"/>
              <a:t> </a:t>
            </a:r>
            <a:r>
              <a:rPr dirty="0"/>
              <a:t>in</a:t>
            </a:r>
            <a:r>
              <a:rPr spc="-55" dirty="0"/>
              <a:t> </a:t>
            </a:r>
            <a:r>
              <a:rPr spc="-20" dirty="0"/>
              <a:t>Vedang</a:t>
            </a:r>
            <a:r>
              <a:rPr spc="-50" dirty="0"/>
              <a:t> </a:t>
            </a:r>
            <a:r>
              <a:rPr spc="-10" dirty="0"/>
              <a:t>literature.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Achievements</a:t>
            </a:r>
            <a:r>
              <a:rPr spc="-15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Field</a:t>
            </a:r>
            <a:r>
              <a:rPr spc="-3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10" dirty="0"/>
              <a:t>mathematics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359390" cy="339534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6350" indent="-227965" algn="just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2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knowledge</a:t>
            </a:r>
            <a:r>
              <a:rPr sz="2800" spc="2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2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description</a:t>
            </a:r>
            <a:r>
              <a:rPr sz="2800" spc="3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2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trigonometry</a:t>
            </a:r>
            <a:r>
              <a:rPr sz="2800" spc="2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2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Varahamihira’s 	</a:t>
            </a:r>
            <a:r>
              <a:rPr sz="2800" dirty="0">
                <a:latin typeface="Calibri"/>
                <a:cs typeface="Calibri"/>
              </a:rPr>
              <a:t>'Surya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Siddhanta'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(sixth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century),</a:t>
            </a:r>
            <a:endParaRPr sz="2800">
              <a:latin typeface="Calibri"/>
              <a:cs typeface="Calibri"/>
            </a:endParaRPr>
          </a:p>
          <a:p>
            <a:pPr marL="240029" marR="6350" indent="-227965" algn="just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Brahmagupta</a:t>
            </a:r>
            <a:r>
              <a:rPr sz="2800" spc="5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also</a:t>
            </a:r>
            <a:r>
              <a:rPr sz="2800" spc="5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provided</a:t>
            </a:r>
            <a:r>
              <a:rPr sz="2800" spc="4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sufficient</a:t>
            </a:r>
            <a:r>
              <a:rPr sz="2800" spc="4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information</a:t>
            </a:r>
            <a:r>
              <a:rPr sz="2800" spc="5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5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trigonometry 	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also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constructed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sine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table.</a:t>
            </a:r>
            <a:endParaRPr sz="2800">
              <a:latin typeface="Calibri"/>
              <a:cs typeface="Calibri"/>
            </a:endParaRPr>
          </a:p>
          <a:p>
            <a:pPr marL="239395" marR="5080" indent="-227329" algn="just">
              <a:lnSpc>
                <a:spcPct val="90000"/>
              </a:lnSpc>
              <a:spcBef>
                <a:spcPts val="9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Famous</a:t>
            </a:r>
            <a:r>
              <a:rPr sz="2800" spc="595" dirty="0">
                <a:latin typeface="Calibri"/>
                <a:cs typeface="Calibri"/>
              </a:rPr>
              <a:t>    </a:t>
            </a:r>
            <a:r>
              <a:rPr sz="2800" dirty="0">
                <a:latin typeface="Calibri"/>
                <a:cs typeface="Calibri"/>
              </a:rPr>
              <a:t>mathematicians</a:t>
            </a:r>
            <a:r>
              <a:rPr sz="2800" spc="600" dirty="0">
                <a:latin typeface="Calibri"/>
                <a:cs typeface="Calibri"/>
              </a:rPr>
              <a:t>    </a:t>
            </a:r>
            <a:r>
              <a:rPr sz="2800" dirty="0">
                <a:latin typeface="Calibri"/>
                <a:cs typeface="Calibri"/>
              </a:rPr>
              <a:t>like</a:t>
            </a:r>
            <a:r>
              <a:rPr sz="2800" spc="595" dirty="0">
                <a:latin typeface="Calibri"/>
                <a:cs typeface="Calibri"/>
              </a:rPr>
              <a:t>    </a:t>
            </a:r>
            <a:r>
              <a:rPr sz="2800" dirty="0">
                <a:latin typeface="Calibri"/>
                <a:cs typeface="Calibri"/>
              </a:rPr>
              <a:t>Aryabhata,</a:t>
            </a:r>
            <a:r>
              <a:rPr sz="2800" spc="600" dirty="0">
                <a:latin typeface="Calibri"/>
                <a:cs typeface="Calibri"/>
              </a:rPr>
              <a:t>    </a:t>
            </a:r>
            <a:r>
              <a:rPr sz="2800" spc="-10" dirty="0">
                <a:latin typeface="Calibri"/>
                <a:cs typeface="Calibri"/>
              </a:rPr>
              <a:t>Brahmagupta, 	</a:t>
            </a:r>
            <a:r>
              <a:rPr sz="2800" dirty="0">
                <a:latin typeface="Calibri"/>
                <a:cs typeface="Calibri"/>
              </a:rPr>
              <a:t>Bhaskaracharya,</a:t>
            </a:r>
            <a:r>
              <a:rPr sz="2800" spc="6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Sridharacharya,</a:t>
            </a:r>
            <a:r>
              <a:rPr sz="2800" spc="6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etc.</a:t>
            </a:r>
            <a:r>
              <a:rPr sz="2800" spc="6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also</a:t>
            </a:r>
            <a:r>
              <a:rPr sz="2800" spc="6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had</a:t>
            </a:r>
            <a:r>
              <a:rPr sz="2800" spc="6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great</a:t>
            </a:r>
            <a:r>
              <a:rPr sz="2800" spc="6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proficiency</a:t>
            </a:r>
            <a:r>
              <a:rPr sz="2800" spc="6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in 	</a:t>
            </a:r>
            <a:r>
              <a:rPr sz="2800" dirty="0">
                <a:latin typeface="Calibri"/>
                <a:cs typeface="Calibri"/>
              </a:rPr>
              <a:t>algebra.</a:t>
            </a:r>
            <a:r>
              <a:rPr sz="2800" spc="229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29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greatest</a:t>
            </a:r>
            <a:r>
              <a:rPr sz="2800" spc="229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achievement</a:t>
            </a:r>
            <a:r>
              <a:rPr sz="2800" spc="23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23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29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field</a:t>
            </a:r>
            <a:r>
              <a:rPr sz="2800" spc="229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229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algebra</a:t>
            </a:r>
            <a:r>
              <a:rPr sz="2800" spc="235" dirty="0">
                <a:latin typeface="Calibri"/>
                <a:cs typeface="Calibri"/>
              </a:rPr>
              <a:t>  </a:t>
            </a:r>
            <a:r>
              <a:rPr sz="2800" spc="-25" dirty="0">
                <a:latin typeface="Calibri"/>
                <a:cs typeface="Calibri"/>
              </a:rPr>
              <a:t>was 	</a:t>
            </a:r>
            <a:r>
              <a:rPr sz="2800" spc="-20" dirty="0">
                <a:latin typeface="Calibri"/>
                <a:cs typeface="Calibri"/>
              </a:rPr>
              <a:t>Brahmagupta's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solution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square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equation.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Achievements</a:t>
            </a:r>
            <a:r>
              <a:rPr spc="-15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Field</a:t>
            </a:r>
            <a:r>
              <a:rPr spc="-3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10" dirty="0"/>
              <a:t>Astronomy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360025" cy="339534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029" marR="5080" indent="-227965" algn="just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Indian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astronomy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thought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have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originated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Vedas.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dirty="0">
                <a:latin typeface="Calibri"/>
                <a:cs typeface="Calibri"/>
              </a:rPr>
              <a:t>use</a:t>
            </a:r>
            <a:r>
              <a:rPr sz="2800" spc="2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22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astrology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2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Vedang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literature</a:t>
            </a:r>
            <a:r>
              <a:rPr sz="2800" spc="2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was</a:t>
            </a:r>
            <a:r>
              <a:rPr sz="2800" spc="2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based</a:t>
            </a:r>
            <a:r>
              <a:rPr sz="2800" spc="25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22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principles</a:t>
            </a:r>
            <a:r>
              <a:rPr sz="2800" spc="24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of 	</a:t>
            </a:r>
            <a:r>
              <a:rPr sz="2800" spc="-10" dirty="0">
                <a:latin typeface="Calibri"/>
                <a:cs typeface="Calibri"/>
              </a:rPr>
              <a:t>astronomy.</a:t>
            </a:r>
            <a:endParaRPr sz="2800">
              <a:latin typeface="Calibri"/>
              <a:cs typeface="Calibri"/>
            </a:endParaRPr>
          </a:p>
          <a:p>
            <a:pPr marL="240029" marR="6350" indent="-227965" algn="just">
              <a:lnSpc>
                <a:spcPct val="9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Indian</a:t>
            </a:r>
            <a:r>
              <a:rPr sz="2800" spc="3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scientist</a:t>
            </a:r>
            <a:r>
              <a:rPr sz="2800" spc="3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Aryabhatta</a:t>
            </a:r>
            <a:r>
              <a:rPr sz="2800" spc="3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told</a:t>
            </a:r>
            <a:r>
              <a:rPr sz="2800" spc="3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3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circular</a:t>
            </a:r>
            <a:r>
              <a:rPr sz="2800" spc="3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shape</a:t>
            </a:r>
            <a:r>
              <a:rPr sz="2800" spc="3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3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3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Earth</a:t>
            </a:r>
            <a:r>
              <a:rPr sz="2800" spc="3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 	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4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principle</a:t>
            </a:r>
            <a:r>
              <a:rPr sz="2800" spc="4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4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circling</a:t>
            </a:r>
            <a:r>
              <a:rPr sz="2800" spc="4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43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its</a:t>
            </a:r>
            <a:r>
              <a:rPr sz="2800" spc="4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axis.</a:t>
            </a:r>
            <a:r>
              <a:rPr sz="2800" spc="4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After</a:t>
            </a:r>
            <a:r>
              <a:rPr sz="2800" spc="4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that,</a:t>
            </a:r>
            <a:r>
              <a:rPr sz="2800" spc="4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43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famous</a:t>
            </a:r>
            <a:r>
              <a:rPr sz="2800" spc="4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German 	astronomer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Copernicus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give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theory.</a:t>
            </a:r>
            <a:endParaRPr sz="2800">
              <a:latin typeface="Calibri"/>
              <a:cs typeface="Calibri"/>
            </a:endParaRPr>
          </a:p>
          <a:p>
            <a:pPr marL="240029" marR="6350" indent="-227965" algn="just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Brahmagupta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confirmed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Earth's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gravitational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theory</a:t>
            </a:r>
            <a:r>
              <a:rPr sz="2800" spc="1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even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before 	</a:t>
            </a:r>
            <a:r>
              <a:rPr sz="2800" dirty="0">
                <a:latin typeface="Calibri"/>
                <a:cs typeface="Calibri"/>
              </a:rPr>
              <a:t>Sir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Isaac</a:t>
            </a:r>
            <a:r>
              <a:rPr sz="2800" spc="-10" dirty="0">
                <a:latin typeface="Calibri"/>
                <a:cs typeface="Calibri"/>
              </a:rPr>
              <a:t> Newton.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16939" y="1793493"/>
            <a:ext cx="10358120" cy="30111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029" marR="5080" indent="-227965" algn="just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People</a:t>
            </a:r>
            <a:r>
              <a:rPr sz="2800" spc="5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5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Harappan</a:t>
            </a:r>
            <a:r>
              <a:rPr sz="2800" spc="5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culture</a:t>
            </a:r>
            <a:r>
              <a:rPr sz="2800" spc="5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5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familiar</a:t>
            </a:r>
            <a:r>
              <a:rPr sz="2800" spc="5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5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geometry.</a:t>
            </a:r>
            <a:r>
              <a:rPr sz="2800" spc="5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5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brick 	</a:t>
            </a:r>
            <a:r>
              <a:rPr sz="2800" dirty="0">
                <a:latin typeface="Calibri"/>
                <a:cs typeface="Calibri"/>
              </a:rPr>
              <a:t>formation,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construction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buildings,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cutting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off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roads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right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angles 	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proof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people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period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knew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geometry.</a:t>
            </a:r>
            <a:endParaRPr sz="2800">
              <a:latin typeface="Calibri"/>
              <a:cs typeface="Calibri"/>
            </a:endParaRPr>
          </a:p>
          <a:p>
            <a:pPr marL="240029" marR="8255" indent="-227965" algn="just">
              <a:lnSpc>
                <a:spcPts val="3020"/>
              </a:lnSpc>
              <a:spcBef>
                <a:spcPts val="105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In</a:t>
            </a:r>
            <a:r>
              <a:rPr sz="2800" spc="3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3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Vedic</a:t>
            </a:r>
            <a:r>
              <a:rPr sz="2800" spc="3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period</a:t>
            </a:r>
            <a:r>
              <a:rPr sz="2800" spc="3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3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Aryans</a:t>
            </a:r>
            <a:r>
              <a:rPr sz="2800" spc="3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3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3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knowledge</a:t>
            </a:r>
            <a:r>
              <a:rPr sz="2800" spc="3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3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geometry</a:t>
            </a:r>
            <a:r>
              <a:rPr sz="2800" spc="3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to 	</a:t>
            </a:r>
            <a:r>
              <a:rPr sz="2800" dirty="0">
                <a:latin typeface="Calibri"/>
                <a:cs typeface="Calibri"/>
              </a:rPr>
              <a:t>make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altars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yajna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also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mentioned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Vedang.</a:t>
            </a:r>
            <a:endParaRPr sz="2800">
              <a:latin typeface="Calibri"/>
              <a:cs typeface="Calibri"/>
            </a:endParaRPr>
          </a:p>
          <a:p>
            <a:pPr marL="240029" marR="5715" indent="-227965" algn="just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Aryabhatta</a:t>
            </a:r>
            <a:r>
              <a:rPr sz="2800" spc="18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18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established</a:t>
            </a:r>
            <a:r>
              <a:rPr sz="2800" spc="18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8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value</a:t>
            </a:r>
            <a:r>
              <a:rPr sz="2800" spc="17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18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7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ratio</a:t>
            </a:r>
            <a:r>
              <a:rPr sz="2800" spc="17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"pie"</a:t>
            </a:r>
            <a:r>
              <a:rPr sz="2800" spc="18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175" dirty="0">
                <a:latin typeface="Calibri"/>
                <a:cs typeface="Calibri"/>
              </a:rPr>
              <a:t> 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spc="-20" dirty="0">
                <a:latin typeface="Calibri"/>
                <a:cs typeface="Calibri"/>
              </a:rPr>
              <a:t>circumference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diameter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circle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3.1416.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6D96D05-36CF-AE0C-734A-43F89F10D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Achievements in the field of Geometry</a:t>
            </a:r>
            <a:endParaRPr lang="en-IN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Achievements</a:t>
            </a:r>
            <a:r>
              <a:rPr spc="-30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Field</a:t>
            </a:r>
            <a:r>
              <a:rPr spc="-9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Medical</a:t>
            </a:r>
            <a:r>
              <a:rPr spc="-45" dirty="0"/>
              <a:t> </a:t>
            </a:r>
            <a:r>
              <a:rPr spc="-10" dirty="0"/>
              <a:t>Science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505838"/>
            <a:ext cx="10359390" cy="493204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029" marR="5080" indent="-227965" algn="just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First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written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knowledge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about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Indian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system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medicine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found 	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18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'Atharvaveda'.</a:t>
            </a:r>
            <a:r>
              <a:rPr sz="2800" spc="18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8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treatment</a:t>
            </a:r>
            <a:r>
              <a:rPr sz="2800" spc="18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18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various</a:t>
            </a:r>
            <a:r>
              <a:rPr sz="2800" spc="19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diseases</a:t>
            </a:r>
            <a:r>
              <a:rPr sz="2800" spc="18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19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given</a:t>
            </a:r>
            <a:r>
              <a:rPr sz="2800" spc="185" dirty="0">
                <a:latin typeface="Calibri"/>
                <a:cs typeface="Calibri"/>
              </a:rPr>
              <a:t>  </a:t>
            </a:r>
            <a:r>
              <a:rPr sz="2800" spc="-25" dirty="0">
                <a:latin typeface="Calibri"/>
                <a:cs typeface="Calibri"/>
              </a:rPr>
              <a:t>in 	</a:t>
            </a:r>
            <a:r>
              <a:rPr sz="2800" dirty="0">
                <a:latin typeface="Calibri"/>
                <a:cs typeface="Calibri"/>
              </a:rPr>
              <a:t>Atharvaveda's</a:t>
            </a:r>
            <a:r>
              <a:rPr sz="2800" spc="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'Bhaisjya</a:t>
            </a:r>
            <a:r>
              <a:rPr sz="2800" spc="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Sutra'.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detailed</a:t>
            </a:r>
            <a:r>
              <a:rPr sz="2800" spc="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description</a:t>
            </a:r>
            <a:r>
              <a:rPr sz="2800" spc="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found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10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dirty="0">
                <a:latin typeface="Calibri"/>
                <a:cs typeface="Calibri"/>
              </a:rPr>
              <a:t>topics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general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medicine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mental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medicine.</a:t>
            </a:r>
            <a:endParaRPr sz="2800">
              <a:latin typeface="Calibri"/>
              <a:cs typeface="Calibri"/>
            </a:endParaRPr>
          </a:p>
          <a:p>
            <a:pPr marL="240029" marR="6985" indent="-227965" algn="just">
              <a:lnSpc>
                <a:spcPts val="3020"/>
              </a:lnSpc>
              <a:spcBef>
                <a:spcPts val="105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'Sushruta</a:t>
            </a:r>
            <a:r>
              <a:rPr sz="2800" spc="49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Samhita',</a:t>
            </a:r>
            <a:r>
              <a:rPr sz="2800" spc="484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'Charaksamhita'</a:t>
            </a:r>
            <a:r>
              <a:rPr sz="2800" spc="484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484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authentic</a:t>
            </a:r>
            <a:r>
              <a:rPr sz="2800" spc="48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490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world- 	</a:t>
            </a:r>
            <a:r>
              <a:rPr sz="2800" dirty="0">
                <a:latin typeface="Calibri"/>
                <a:cs typeface="Calibri"/>
              </a:rPr>
              <a:t>renowned</a:t>
            </a:r>
            <a:r>
              <a:rPr sz="2800" spc="5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texts</a:t>
            </a:r>
            <a:r>
              <a:rPr sz="2800" spc="5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5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5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medical</a:t>
            </a:r>
            <a:r>
              <a:rPr sz="2800" spc="5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science</a:t>
            </a:r>
            <a:r>
              <a:rPr sz="2800" spc="5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5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ancient</a:t>
            </a:r>
            <a:r>
              <a:rPr sz="2800" spc="5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India.</a:t>
            </a:r>
            <a:r>
              <a:rPr sz="2800" spc="5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'Sushruta 	</a:t>
            </a:r>
            <a:r>
              <a:rPr sz="2800" dirty="0">
                <a:latin typeface="Calibri"/>
                <a:cs typeface="Calibri"/>
              </a:rPr>
              <a:t>Samhita'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describes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8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types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surgery.</a:t>
            </a:r>
            <a:endParaRPr sz="2800">
              <a:latin typeface="Calibri"/>
              <a:cs typeface="Calibri"/>
            </a:endParaRPr>
          </a:p>
          <a:p>
            <a:pPr marL="240029" marR="5080" indent="-227965" algn="just">
              <a:lnSpc>
                <a:spcPct val="90000"/>
              </a:lnSpc>
              <a:spcBef>
                <a:spcPts val="96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Along</a:t>
            </a:r>
            <a:r>
              <a:rPr sz="2800" spc="1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1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treatment</a:t>
            </a:r>
            <a:r>
              <a:rPr sz="2800" spc="1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1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humans,</a:t>
            </a:r>
            <a:r>
              <a:rPr sz="2800" spc="15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science</a:t>
            </a:r>
            <a:r>
              <a:rPr sz="2800" spc="1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145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veterinary 	</a:t>
            </a:r>
            <a:r>
              <a:rPr sz="2800" dirty="0">
                <a:latin typeface="Calibri"/>
                <a:cs typeface="Calibri"/>
              </a:rPr>
              <a:t>medicine</a:t>
            </a:r>
            <a:r>
              <a:rPr sz="2800" spc="4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was</a:t>
            </a:r>
            <a:r>
              <a:rPr sz="2800" spc="4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also</a:t>
            </a:r>
            <a:r>
              <a:rPr sz="2800" spc="4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developed</a:t>
            </a:r>
            <a:r>
              <a:rPr sz="2800" spc="4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4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India</a:t>
            </a:r>
            <a:r>
              <a:rPr sz="2800" spc="4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since</a:t>
            </a:r>
            <a:r>
              <a:rPr sz="2800" spc="4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ancient</a:t>
            </a:r>
            <a:r>
              <a:rPr sz="2800" spc="4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4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texts</a:t>
            </a:r>
            <a:r>
              <a:rPr sz="2800" spc="4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46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	</a:t>
            </a:r>
            <a:r>
              <a:rPr sz="2800" dirty="0">
                <a:latin typeface="Calibri"/>
                <a:cs typeface="Calibri"/>
              </a:rPr>
              <a:t>Veterinarian</a:t>
            </a:r>
            <a:r>
              <a:rPr sz="2800" spc="5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named</a:t>
            </a:r>
            <a:r>
              <a:rPr sz="2800" spc="6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'Shalihotra'</a:t>
            </a:r>
            <a:r>
              <a:rPr sz="2800" spc="5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5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available</a:t>
            </a:r>
            <a:r>
              <a:rPr sz="2800" spc="5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6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Ayurveda,</a:t>
            </a:r>
            <a:r>
              <a:rPr sz="2800" spc="55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'Ashva 	</a:t>
            </a:r>
            <a:r>
              <a:rPr sz="2800" dirty="0">
                <a:latin typeface="Calibri"/>
                <a:cs typeface="Calibri"/>
              </a:rPr>
              <a:t>Symptoms'</a:t>
            </a:r>
            <a:r>
              <a:rPr sz="2800" spc="1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1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'Ashwa</a:t>
            </a:r>
            <a:r>
              <a:rPr sz="2800" spc="18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Praja'.</a:t>
            </a:r>
            <a:r>
              <a:rPr sz="2800" spc="1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These</a:t>
            </a:r>
            <a:r>
              <a:rPr sz="2800" spc="1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include</a:t>
            </a:r>
            <a:r>
              <a:rPr sz="2800" spc="1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7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description</a:t>
            </a:r>
            <a:r>
              <a:rPr sz="2800" spc="175" dirty="0">
                <a:latin typeface="Calibri"/>
                <a:cs typeface="Calibri"/>
              </a:rPr>
              <a:t>  </a:t>
            </a:r>
            <a:r>
              <a:rPr sz="2800" spc="-25" dirty="0">
                <a:latin typeface="Calibri"/>
                <a:cs typeface="Calibri"/>
              </a:rPr>
              <a:t>of 	</a:t>
            </a:r>
            <a:r>
              <a:rPr sz="2800" dirty="0">
                <a:latin typeface="Calibri"/>
                <a:cs typeface="Calibri"/>
              </a:rPr>
              <a:t>diseases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horses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medicines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their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treatment.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8228"/>
            <a:ext cx="10149840" cy="13004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dirty="0"/>
              <a:t>Achievements</a:t>
            </a:r>
            <a:r>
              <a:rPr spc="-35" dirty="0"/>
              <a:t> </a:t>
            </a:r>
            <a:r>
              <a:rPr dirty="0"/>
              <a:t>in</a:t>
            </a:r>
            <a:r>
              <a:rPr spc="-50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Field</a:t>
            </a:r>
            <a:r>
              <a:rPr spc="-8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Engineering</a:t>
            </a:r>
            <a:r>
              <a:rPr spc="-65" dirty="0"/>
              <a:t> </a:t>
            </a:r>
            <a:r>
              <a:rPr spc="-25" dirty="0"/>
              <a:t>and </a:t>
            </a:r>
            <a:r>
              <a:rPr spc="-1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58188"/>
            <a:ext cx="10361295" cy="3395979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39395" marR="6985" indent="-227329" algn="just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From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Indus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Valley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Civilization,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India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was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pioneer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field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of 	</a:t>
            </a:r>
            <a:r>
              <a:rPr sz="2800" dirty="0">
                <a:latin typeface="Calibri"/>
                <a:cs typeface="Calibri"/>
              </a:rPr>
              <a:t>architecture.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urban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system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Indus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inspiration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dirty="0">
                <a:latin typeface="Calibri"/>
                <a:cs typeface="Calibri"/>
              </a:rPr>
              <a:t>present</a:t>
            </a:r>
            <a:r>
              <a:rPr sz="2800" spc="-1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cities.</a:t>
            </a:r>
            <a:endParaRPr sz="2800">
              <a:latin typeface="Calibri"/>
              <a:cs typeface="Calibri"/>
            </a:endParaRPr>
          </a:p>
          <a:p>
            <a:pPr marL="240029" marR="5080" indent="-227965" algn="just">
              <a:lnSpc>
                <a:spcPct val="900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Buildings,</a:t>
            </a:r>
            <a:r>
              <a:rPr sz="2800" spc="3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pillars,</a:t>
            </a:r>
            <a:r>
              <a:rPr sz="2800" spc="3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cave</a:t>
            </a:r>
            <a:r>
              <a:rPr sz="2800" spc="3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construction,</a:t>
            </a:r>
            <a:r>
              <a:rPr sz="2800" spc="3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chaitya</a:t>
            </a:r>
            <a:r>
              <a:rPr sz="2800" spc="3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construction</a:t>
            </a:r>
            <a:r>
              <a:rPr sz="2800" spc="3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during</a:t>
            </a:r>
            <a:r>
              <a:rPr sz="2800" spc="3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dirty="0">
                <a:latin typeface="Calibri"/>
                <a:cs typeface="Calibri"/>
              </a:rPr>
              <a:t>Mahajanapada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period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Maurya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period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examples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advanced 	architecture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India.</a:t>
            </a:r>
            <a:endParaRPr sz="2800">
              <a:latin typeface="Calibri"/>
              <a:cs typeface="Calibri"/>
            </a:endParaRPr>
          </a:p>
          <a:p>
            <a:pPr marL="240029" marR="9525" indent="-227965" algn="just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Ancient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India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advanced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series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temples.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Kailashnath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temple 	</a:t>
            </a:r>
            <a:r>
              <a:rPr sz="2800" dirty="0">
                <a:latin typeface="Calibri"/>
                <a:cs typeface="Calibri"/>
              </a:rPr>
              <a:t>built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hillside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great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specimen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engineering.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Achievements</a:t>
            </a:r>
            <a:r>
              <a:rPr spc="-20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Field</a:t>
            </a:r>
            <a:r>
              <a:rPr spc="-8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10" dirty="0"/>
              <a:t>Metallurgy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67636"/>
            <a:ext cx="10360660" cy="464883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6985" indent="-227965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Glazed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potteries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bronze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copper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artefacts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discovered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Indus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Valley 	</a:t>
            </a:r>
            <a:r>
              <a:rPr sz="2400" spc="-20" dirty="0">
                <a:latin typeface="Calibri"/>
                <a:cs typeface="Calibri"/>
              </a:rPr>
              <a:t>excavations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indicate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highly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developed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metallurgy.</a:t>
            </a:r>
            <a:endParaRPr sz="2400">
              <a:latin typeface="Calibri"/>
              <a:cs typeface="Calibri"/>
            </a:endParaRPr>
          </a:p>
          <a:p>
            <a:pPr marL="240029" marR="5715" indent="-227965">
              <a:lnSpc>
                <a:spcPts val="259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2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Vedic</a:t>
            </a:r>
            <a:r>
              <a:rPr sz="2400" spc="3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people</a:t>
            </a:r>
            <a:r>
              <a:rPr sz="2400" spc="3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were</a:t>
            </a:r>
            <a:r>
              <a:rPr sz="2400" spc="2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aware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3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processes</a:t>
            </a:r>
            <a:r>
              <a:rPr sz="2400" spc="2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3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fermenting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grain</a:t>
            </a:r>
            <a:r>
              <a:rPr sz="2400" spc="3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fruits, 	</a:t>
            </a:r>
            <a:r>
              <a:rPr sz="2400" dirty="0">
                <a:latin typeface="Calibri"/>
                <a:cs typeface="Calibri"/>
              </a:rPr>
              <a:t>tanning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leather,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dyeing.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2735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By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century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mass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production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metals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iron,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copper,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silver,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gold,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well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alloys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brass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bronze,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underway.</a:t>
            </a:r>
            <a:endParaRPr sz="2400">
              <a:latin typeface="Calibri"/>
              <a:cs typeface="Calibri"/>
            </a:endParaRPr>
          </a:p>
          <a:p>
            <a:pPr marL="240029" marR="7620" indent="-227965">
              <a:lnSpc>
                <a:spcPts val="259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  <a:tab pos="831215" algn="l"/>
                <a:tab pos="1454150" algn="l"/>
                <a:tab pos="2207260" algn="l"/>
                <a:tab pos="2567305" algn="l"/>
                <a:tab pos="3111500" algn="l"/>
                <a:tab pos="4028440" algn="l"/>
                <a:tab pos="4902200" algn="l"/>
                <a:tab pos="6071235" algn="l"/>
                <a:tab pos="7907655" algn="l"/>
                <a:tab pos="8451850" algn="l"/>
                <a:tab pos="9115425" algn="l"/>
                <a:tab pos="10092055" algn="l"/>
              </a:tabLst>
            </a:pPr>
            <a:r>
              <a:rPr sz="2400" spc="-25" dirty="0">
                <a:latin typeface="Calibri"/>
                <a:cs typeface="Calibri"/>
              </a:rPr>
              <a:t>The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0" dirty="0">
                <a:latin typeface="Calibri"/>
                <a:cs typeface="Calibri"/>
              </a:rPr>
              <a:t>iron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pillar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in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the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Qutub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Minar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complex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demonstrates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the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0" dirty="0">
                <a:latin typeface="Calibri"/>
                <a:cs typeface="Calibri"/>
              </a:rPr>
              <a:t>high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quality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of 	</a:t>
            </a:r>
            <a:r>
              <a:rPr sz="2400" dirty="0">
                <a:latin typeface="Calibri"/>
                <a:cs typeface="Calibri"/>
              </a:rPr>
              <a:t>alloying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took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place.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2735"/>
              </a:lnSpc>
              <a:spcBef>
                <a:spcPts val="68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Alkali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acids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were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created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make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medicines.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technology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was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also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other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crafts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such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dyeing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coloring.</a:t>
            </a:r>
            <a:endParaRPr sz="2400">
              <a:latin typeface="Calibri"/>
              <a:cs typeface="Calibri"/>
            </a:endParaRPr>
          </a:p>
          <a:p>
            <a:pPr marL="240029" marR="5715" indent="-227965">
              <a:lnSpc>
                <a:spcPts val="259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  <a:tab pos="1251585" algn="l"/>
                <a:tab pos="2306320" algn="l"/>
                <a:tab pos="2949575" algn="l"/>
                <a:tab pos="4119879" algn="l"/>
                <a:tab pos="4743450" algn="l"/>
                <a:tab pos="5754370" algn="l"/>
                <a:tab pos="6170295" algn="l"/>
                <a:tab pos="6955155" algn="l"/>
                <a:tab pos="7307580" algn="l"/>
                <a:tab pos="8578215" algn="l"/>
                <a:tab pos="8970010" algn="l"/>
                <a:tab pos="9547860" algn="l"/>
              </a:tabLst>
            </a:pPr>
            <a:r>
              <a:rPr sz="2400" spc="-10" dirty="0">
                <a:latin typeface="Calibri"/>
                <a:cs typeface="Calibri"/>
              </a:rPr>
              <a:t>Dyeing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textiles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was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popular.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The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quality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of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color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is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reflected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in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the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0" dirty="0">
                <a:latin typeface="Calibri"/>
                <a:cs typeface="Calibri"/>
              </a:rPr>
              <a:t>Ajanta 	</a:t>
            </a:r>
            <a:r>
              <a:rPr sz="2400" spc="-10" dirty="0">
                <a:latin typeface="Calibri"/>
                <a:cs typeface="Calibri"/>
              </a:rPr>
              <a:t>frescoes.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These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paintings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survived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present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day.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Technology</a:t>
            </a:r>
            <a:r>
              <a:rPr spc="-80" dirty="0"/>
              <a:t> </a:t>
            </a:r>
            <a:r>
              <a:rPr dirty="0"/>
              <a:t>in</a:t>
            </a:r>
            <a:r>
              <a:rPr spc="-95" dirty="0"/>
              <a:t> </a:t>
            </a:r>
            <a:r>
              <a:rPr dirty="0"/>
              <a:t>Ancient</a:t>
            </a:r>
            <a:r>
              <a:rPr spc="-95" dirty="0"/>
              <a:t> </a:t>
            </a:r>
            <a:r>
              <a:rPr spc="-10" dirty="0"/>
              <a:t>India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62760"/>
            <a:ext cx="10360660" cy="495808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41300" marR="6350" indent="-229235" algn="just">
              <a:lnSpc>
                <a:spcPct val="90000"/>
              </a:lnSpc>
              <a:spcBef>
                <a:spcPts val="41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Early</a:t>
            </a:r>
            <a:r>
              <a:rPr sz="2600" spc="254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humans</a:t>
            </a:r>
            <a:r>
              <a:rPr sz="2600" spc="2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developed</a:t>
            </a:r>
            <a:r>
              <a:rPr sz="2600" spc="2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technologies</a:t>
            </a:r>
            <a:r>
              <a:rPr sz="2600" spc="2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such</a:t>
            </a:r>
            <a:r>
              <a:rPr sz="2600" spc="254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26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stone-</a:t>
            </a:r>
            <a:r>
              <a:rPr sz="2600" dirty="0">
                <a:latin typeface="Calibri"/>
                <a:cs typeface="Calibri"/>
              </a:rPr>
              <a:t>working,</a:t>
            </a:r>
            <a:r>
              <a:rPr sz="2600" spc="2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agriculture, </a:t>
            </a:r>
            <a:r>
              <a:rPr sz="2600" dirty="0">
                <a:latin typeface="Calibri"/>
                <a:cs typeface="Calibri"/>
              </a:rPr>
              <a:t>animal</a:t>
            </a:r>
            <a:r>
              <a:rPr sz="2600" spc="1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husbandry,</a:t>
            </a:r>
            <a:r>
              <a:rPr sz="2600" spc="1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pottery,</a:t>
            </a:r>
            <a:r>
              <a:rPr sz="2600" spc="1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metallurgy,</a:t>
            </a:r>
            <a:r>
              <a:rPr sz="2600" spc="1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textile</a:t>
            </a:r>
            <a:r>
              <a:rPr sz="2600" spc="1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manufacture,</a:t>
            </a:r>
            <a:r>
              <a:rPr sz="2600" spc="1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bead-making, </a:t>
            </a:r>
            <a:r>
              <a:rPr sz="2600" spc="-25" dirty="0">
                <a:latin typeface="Calibri"/>
                <a:cs typeface="Calibri"/>
              </a:rPr>
              <a:t>wood-</a:t>
            </a:r>
            <a:r>
              <a:rPr sz="2600" dirty="0">
                <a:latin typeface="Calibri"/>
                <a:cs typeface="Calibri"/>
              </a:rPr>
              <a:t>carving,</a:t>
            </a:r>
            <a:r>
              <a:rPr sz="2600" spc="434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cart-</a:t>
            </a:r>
            <a:r>
              <a:rPr sz="2600" dirty="0">
                <a:latin typeface="Calibri"/>
                <a:cs typeface="Calibri"/>
              </a:rPr>
              <a:t>making,</a:t>
            </a:r>
            <a:r>
              <a:rPr sz="2600" spc="434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sailing,</a:t>
            </a:r>
            <a:r>
              <a:rPr sz="2600" spc="434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4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</a:t>
            </a:r>
            <a:r>
              <a:rPr sz="2600" spc="4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</a:t>
            </a:r>
            <a:r>
              <a:rPr sz="2600" spc="434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434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little</a:t>
            </a:r>
            <a:r>
              <a:rPr sz="2600" spc="4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science</a:t>
            </a:r>
            <a:r>
              <a:rPr sz="2600" spc="4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42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back </a:t>
            </a:r>
            <a:r>
              <a:rPr sz="2600" dirty="0">
                <a:latin typeface="Calibri"/>
                <a:cs typeface="Calibri"/>
              </a:rPr>
              <a:t>them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up.</a:t>
            </a:r>
            <a:endParaRPr sz="2600">
              <a:latin typeface="Calibri"/>
              <a:cs typeface="Calibri"/>
            </a:endParaRPr>
          </a:p>
          <a:p>
            <a:pPr marL="241300" marR="5715" indent="-229235" algn="just">
              <a:lnSpc>
                <a:spcPct val="9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If</a:t>
            </a:r>
            <a:r>
              <a:rPr sz="2600" spc="2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we</a:t>
            </a:r>
            <a:r>
              <a:rPr sz="2600" spc="2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define</a:t>
            </a:r>
            <a:r>
              <a:rPr sz="2600" spc="229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technology</a:t>
            </a:r>
            <a:r>
              <a:rPr sz="2600" spc="229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229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2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human</a:t>
            </a:r>
            <a:r>
              <a:rPr sz="2600" spc="229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way</a:t>
            </a:r>
            <a:r>
              <a:rPr sz="2600" spc="2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229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modifying</a:t>
            </a:r>
            <a:r>
              <a:rPr sz="2600" spc="229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2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material</a:t>
            </a:r>
            <a:r>
              <a:rPr sz="2600" spc="229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world </a:t>
            </a:r>
            <a:r>
              <a:rPr sz="2600" dirty="0">
                <a:latin typeface="Calibri"/>
                <a:cs typeface="Calibri"/>
              </a:rPr>
              <a:t>around</a:t>
            </a:r>
            <a:r>
              <a:rPr sz="2600" spc="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us,</a:t>
            </a:r>
            <a:r>
              <a:rPr sz="2600" spc="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we</a:t>
            </a:r>
            <a:r>
              <a:rPr sz="2600" spc="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find</a:t>
            </a:r>
            <a:r>
              <a:rPr sz="2600" spc="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first</a:t>
            </a:r>
            <a:r>
              <a:rPr sz="2600" spc="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stone</a:t>
            </a:r>
            <a:r>
              <a:rPr sz="2600" spc="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tools</a:t>
            </a:r>
            <a:r>
              <a:rPr sz="2600" spc="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Indian</a:t>
            </a:r>
            <a:r>
              <a:rPr sz="2600" spc="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subcontinent </a:t>
            </a:r>
            <a:r>
              <a:rPr sz="2600" dirty="0">
                <a:latin typeface="Calibri"/>
                <a:cs typeface="Calibri"/>
              </a:rPr>
              <a:t>date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back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more</a:t>
            </a:r>
            <a:r>
              <a:rPr sz="2600" spc="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than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two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million</a:t>
            </a:r>
            <a:r>
              <a:rPr sz="2600" spc="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years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(That</a:t>
            </a:r>
            <a:r>
              <a:rPr sz="2600" spc="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was</a:t>
            </a:r>
            <a:r>
              <a:rPr sz="2600" spc="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long before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advent</a:t>
            </a:r>
            <a:r>
              <a:rPr sz="2600" spc="2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of </a:t>
            </a:r>
            <a:r>
              <a:rPr sz="2600" dirty="0">
                <a:latin typeface="Calibri"/>
                <a:cs typeface="Calibri"/>
              </a:rPr>
              <a:t>modern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man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India,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which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thought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have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occurred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some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70,000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years ago.)</a:t>
            </a:r>
            <a:endParaRPr sz="2600">
              <a:latin typeface="Calibri"/>
              <a:cs typeface="Calibri"/>
            </a:endParaRPr>
          </a:p>
          <a:p>
            <a:pPr marL="241300" marR="5080" indent="-229235" algn="just">
              <a:lnSpc>
                <a:spcPts val="281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Jumping</a:t>
            </a:r>
            <a:r>
              <a:rPr sz="2600" spc="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ahead</a:t>
            </a:r>
            <a:r>
              <a:rPr sz="2600" spc="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time,</a:t>
            </a:r>
            <a:r>
              <a:rPr sz="2600" spc="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Neolithic</a:t>
            </a:r>
            <a:r>
              <a:rPr sz="2600" spc="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revolution</a:t>
            </a:r>
            <a:r>
              <a:rPr sz="2600" spc="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around</a:t>
            </a:r>
            <a:r>
              <a:rPr sz="2600" spc="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9,000</a:t>
            </a:r>
            <a:r>
              <a:rPr sz="2600" spc="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years</a:t>
            </a:r>
            <a:r>
              <a:rPr sz="2600" spc="8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ago </a:t>
            </a:r>
            <a:r>
              <a:rPr sz="2600" dirty="0">
                <a:latin typeface="Calibri"/>
                <a:cs typeface="Calibri"/>
              </a:rPr>
              <a:t>saw</a:t>
            </a:r>
            <a:r>
              <a:rPr sz="2600" spc="6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6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development</a:t>
            </a:r>
            <a:r>
              <a:rPr sz="2600" spc="6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6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agriculture</a:t>
            </a:r>
            <a:r>
              <a:rPr sz="2600" spc="6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6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parts</a:t>
            </a:r>
            <a:r>
              <a:rPr sz="2600" spc="6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6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6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Indus</a:t>
            </a:r>
            <a:r>
              <a:rPr sz="2600" spc="6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61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Ganges </a:t>
            </a:r>
            <a:r>
              <a:rPr sz="2600" dirty="0">
                <a:latin typeface="Calibri"/>
                <a:cs typeface="Calibri"/>
              </a:rPr>
              <a:t>valleys,</a:t>
            </a:r>
            <a:r>
              <a:rPr sz="2600" spc="4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resulting</a:t>
            </a:r>
            <a:r>
              <a:rPr sz="2600" spc="4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434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4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need</a:t>
            </a:r>
            <a:r>
              <a:rPr sz="2600" spc="4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434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pots,</a:t>
            </a:r>
            <a:r>
              <a:rPr sz="2600" spc="4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water</a:t>
            </a:r>
            <a:r>
              <a:rPr sz="2600" spc="434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management,</a:t>
            </a:r>
            <a:r>
              <a:rPr sz="2600" spc="4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metal</a:t>
            </a:r>
            <a:r>
              <a:rPr sz="2600" spc="4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tools, transportation,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 so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on.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Technology</a:t>
            </a:r>
            <a:r>
              <a:rPr spc="-80" dirty="0"/>
              <a:t> </a:t>
            </a:r>
            <a:r>
              <a:rPr dirty="0"/>
              <a:t>in</a:t>
            </a:r>
            <a:r>
              <a:rPr spc="-95" dirty="0"/>
              <a:t> </a:t>
            </a:r>
            <a:r>
              <a:rPr dirty="0"/>
              <a:t>Ancient</a:t>
            </a:r>
            <a:r>
              <a:rPr spc="-95" dirty="0"/>
              <a:t> </a:t>
            </a:r>
            <a:r>
              <a:rPr spc="-10" dirty="0"/>
              <a:t>India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454912"/>
            <a:ext cx="10361295" cy="521017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41300" marR="5715" indent="-229235" algn="just">
              <a:lnSpc>
                <a:spcPct val="90000"/>
              </a:lnSpc>
              <a:spcBef>
                <a:spcPts val="41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The</a:t>
            </a:r>
            <a:r>
              <a:rPr sz="2600" spc="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Indus</a:t>
            </a:r>
            <a:r>
              <a:rPr sz="2600" spc="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1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Harappan</a:t>
            </a:r>
            <a:r>
              <a:rPr sz="2600" spc="1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civilization</a:t>
            </a:r>
            <a:r>
              <a:rPr sz="2600" spc="114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(2600-</a:t>
            </a:r>
            <a:r>
              <a:rPr sz="2600" dirty="0">
                <a:latin typeface="Calibri"/>
                <a:cs typeface="Calibri"/>
              </a:rPr>
              <a:t>1900</a:t>
            </a:r>
            <a:r>
              <a:rPr sz="2600" spc="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BCE</a:t>
            </a:r>
            <a:r>
              <a:rPr sz="2600" spc="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its</a:t>
            </a:r>
            <a:r>
              <a:rPr sz="2600" spc="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urban</a:t>
            </a:r>
            <a:r>
              <a:rPr sz="2600" spc="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1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Mature </a:t>
            </a:r>
            <a:r>
              <a:rPr sz="2600" dirty="0">
                <a:latin typeface="Calibri"/>
                <a:cs typeface="Calibri"/>
              </a:rPr>
              <a:t>phase),</a:t>
            </a:r>
            <a:r>
              <a:rPr sz="2600" spc="4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which</a:t>
            </a:r>
            <a:r>
              <a:rPr sz="2600" spc="4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flourished</a:t>
            </a:r>
            <a:r>
              <a:rPr sz="2600" spc="4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4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4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northwest</a:t>
            </a:r>
            <a:r>
              <a:rPr sz="2600" spc="4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434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434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subcontinent,</a:t>
            </a:r>
            <a:r>
              <a:rPr sz="2600" spc="4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saw</a:t>
            </a:r>
            <a:r>
              <a:rPr sz="2600" spc="434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the </a:t>
            </a:r>
            <a:r>
              <a:rPr sz="2600" dirty="0">
                <a:latin typeface="Calibri"/>
                <a:cs typeface="Calibri"/>
              </a:rPr>
              <a:t>rapid</a:t>
            </a:r>
            <a:r>
              <a:rPr sz="2600" spc="95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growth</a:t>
            </a:r>
            <a:r>
              <a:rPr sz="2600" spc="95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90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an</a:t>
            </a:r>
            <a:r>
              <a:rPr sz="2600" spc="100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efficient</a:t>
            </a:r>
            <a:r>
              <a:rPr sz="2600" spc="95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agriculture</a:t>
            </a:r>
            <a:r>
              <a:rPr sz="2600" spc="90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95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adapted</a:t>
            </a:r>
            <a:r>
              <a:rPr sz="2600" spc="95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90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very</a:t>
            </a:r>
            <a:r>
              <a:rPr sz="2600" spc="90" dirty="0">
                <a:latin typeface="Calibri"/>
                <a:cs typeface="Calibri"/>
              </a:rPr>
              <a:t>  </a:t>
            </a:r>
            <a:r>
              <a:rPr sz="2600" spc="-10" dirty="0">
                <a:latin typeface="Calibri"/>
                <a:cs typeface="Calibri"/>
              </a:rPr>
              <a:t>diverse </a:t>
            </a:r>
            <a:r>
              <a:rPr sz="2600" dirty="0">
                <a:latin typeface="Calibri"/>
                <a:cs typeface="Calibri"/>
              </a:rPr>
              <a:t>climates</a:t>
            </a:r>
            <a:r>
              <a:rPr sz="2600" spc="1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1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conditions,</a:t>
            </a:r>
            <a:r>
              <a:rPr sz="2600" spc="1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ranging</a:t>
            </a:r>
            <a:r>
              <a:rPr sz="2600" spc="1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from</a:t>
            </a:r>
            <a:r>
              <a:rPr sz="2600" spc="1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150" dirty="0">
                <a:latin typeface="Calibri"/>
                <a:cs typeface="Calibri"/>
              </a:rPr>
              <a:t> </a:t>
            </a:r>
            <a:r>
              <a:rPr sz="2600" spc="-30" dirty="0">
                <a:latin typeface="Calibri"/>
                <a:cs typeface="Calibri"/>
              </a:rPr>
              <a:t>water-</a:t>
            </a:r>
            <a:r>
              <a:rPr sz="2600" dirty="0">
                <a:latin typeface="Calibri"/>
                <a:cs typeface="Calibri"/>
              </a:rPr>
              <a:t>rich</a:t>
            </a:r>
            <a:r>
              <a:rPr sz="2600" spc="1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Indus</a:t>
            </a:r>
            <a:r>
              <a:rPr sz="2600" spc="1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valley</a:t>
            </a:r>
            <a:r>
              <a:rPr sz="2600" spc="1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1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semi- </a:t>
            </a:r>
            <a:r>
              <a:rPr sz="2600" dirty="0">
                <a:latin typeface="Calibri"/>
                <a:cs typeface="Calibri"/>
              </a:rPr>
              <a:t>arid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areas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today's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Rajasthan.</a:t>
            </a:r>
            <a:endParaRPr sz="2600">
              <a:latin typeface="Calibri"/>
              <a:cs typeface="Calibri"/>
            </a:endParaRPr>
          </a:p>
          <a:p>
            <a:pPr marL="241300" marR="5715" indent="-229235">
              <a:lnSpc>
                <a:spcPts val="281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The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Harappans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grew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wheat,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barley,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millets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practiced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plough-based </a:t>
            </a:r>
            <a:r>
              <a:rPr sz="2600" dirty="0">
                <a:latin typeface="Calibri"/>
                <a:cs typeface="Calibri"/>
              </a:rPr>
              <a:t>agriculture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well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intercropping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some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areas.</a:t>
            </a:r>
            <a:endParaRPr sz="2600">
              <a:latin typeface="Calibri"/>
              <a:cs typeface="Calibri"/>
            </a:endParaRPr>
          </a:p>
          <a:p>
            <a:pPr marL="241300" marR="5715" indent="-229235">
              <a:lnSpc>
                <a:spcPts val="281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Their</a:t>
            </a:r>
            <a:r>
              <a:rPr sz="2600" spc="2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wheel-</a:t>
            </a:r>
            <a:r>
              <a:rPr sz="2600" dirty="0">
                <a:latin typeface="Calibri"/>
                <a:cs typeface="Calibri"/>
              </a:rPr>
              <a:t>turned</a:t>
            </a:r>
            <a:r>
              <a:rPr sz="2600" spc="2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pots</a:t>
            </a:r>
            <a:r>
              <a:rPr sz="2600" spc="2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came</a:t>
            </a:r>
            <a:r>
              <a:rPr sz="2600" spc="2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2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2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variety</a:t>
            </a:r>
            <a:r>
              <a:rPr sz="2600" spc="2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2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shapes</a:t>
            </a:r>
            <a:r>
              <a:rPr sz="2600" spc="2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2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sizes,</a:t>
            </a:r>
            <a:r>
              <a:rPr sz="2600" spc="2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229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some </a:t>
            </a:r>
            <a:r>
              <a:rPr sz="2600" dirty="0">
                <a:latin typeface="Calibri"/>
                <a:cs typeface="Calibri"/>
              </a:rPr>
              <a:t>were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also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glazed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painted.</a:t>
            </a:r>
            <a:endParaRPr sz="2600">
              <a:latin typeface="Calibri"/>
              <a:cs typeface="Calibri"/>
            </a:endParaRPr>
          </a:p>
          <a:p>
            <a:pPr marL="241300" marR="5080" indent="-229235">
              <a:lnSpc>
                <a:spcPts val="281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Metal</a:t>
            </a:r>
            <a:r>
              <a:rPr sz="2600" spc="1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smiths</a:t>
            </a:r>
            <a:r>
              <a:rPr sz="2600" spc="1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extracted</a:t>
            </a:r>
            <a:r>
              <a:rPr sz="2600" spc="1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copper</a:t>
            </a:r>
            <a:r>
              <a:rPr sz="2600" spc="1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from</a:t>
            </a:r>
            <a:r>
              <a:rPr sz="2600" spc="1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ore</a:t>
            </a:r>
            <a:r>
              <a:rPr sz="2600" spc="1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found</a:t>
            </a:r>
            <a:r>
              <a:rPr sz="2600" spc="1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1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1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Aravalli</a:t>
            </a:r>
            <a:r>
              <a:rPr sz="2600" spc="1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hills,</a:t>
            </a:r>
            <a:r>
              <a:rPr sz="2600" spc="1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Ambaji </a:t>
            </a:r>
            <a:r>
              <a:rPr sz="2600" dirty="0">
                <a:latin typeface="Calibri"/>
                <a:cs typeface="Calibri"/>
              </a:rPr>
              <a:t>(Gujarat),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Oman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alloyed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tin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create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bronze.</a:t>
            </a:r>
            <a:endParaRPr sz="2600">
              <a:latin typeface="Calibri"/>
              <a:cs typeface="Calibri"/>
            </a:endParaRPr>
          </a:p>
          <a:p>
            <a:pPr marL="241300" marR="11430" indent="-229235">
              <a:lnSpc>
                <a:spcPts val="281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Mixing</a:t>
            </a:r>
            <a:r>
              <a:rPr sz="2600" spc="204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various</a:t>
            </a:r>
            <a:r>
              <a:rPr sz="2600" spc="2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impurities</a:t>
            </a:r>
            <a:r>
              <a:rPr sz="2600" spc="2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into</a:t>
            </a:r>
            <a:r>
              <a:rPr sz="2600" spc="2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it,</a:t>
            </a:r>
            <a:r>
              <a:rPr sz="2600" spc="2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such</a:t>
            </a:r>
            <a:r>
              <a:rPr sz="2600" spc="2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2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nickel</a:t>
            </a:r>
            <a:r>
              <a:rPr sz="2600" spc="2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2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arsenic,</a:t>
            </a:r>
            <a:r>
              <a:rPr sz="2600" spc="2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hardened</a:t>
            </a:r>
            <a:r>
              <a:rPr sz="2600" spc="2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</a:t>
            </a:r>
            <a:r>
              <a:rPr sz="2600" spc="22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to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point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where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bronze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tools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could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dress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stones.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Technology</a:t>
            </a:r>
            <a:r>
              <a:rPr spc="-80" dirty="0"/>
              <a:t> </a:t>
            </a:r>
            <a:r>
              <a:rPr dirty="0"/>
              <a:t>in</a:t>
            </a:r>
            <a:r>
              <a:rPr spc="-95" dirty="0"/>
              <a:t> </a:t>
            </a:r>
            <a:r>
              <a:rPr dirty="0"/>
              <a:t>Ancient</a:t>
            </a:r>
            <a:r>
              <a:rPr spc="-95" dirty="0"/>
              <a:t> </a:t>
            </a:r>
            <a:r>
              <a:rPr spc="-10" dirty="0"/>
              <a:t>India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454912"/>
            <a:ext cx="10360660" cy="495744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41300" marR="5080" indent="-229235" algn="just">
              <a:lnSpc>
                <a:spcPct val="90000"/>
              </a:lnSpc>
              <a:spcBef>
                <a:spcPts val="41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The</a:t>
            </a:r>
            <a:r>
              <a:rPr sz="2600" spc="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true</a:t>
            </a:r>
            <a:r>
              <a:rPr sz="2600" spc="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saw</a:t>
            </a:r>
            <a:r>
              <a:rPr sz="2600" spc="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was</a:t>
            </a:r>
            <a:r>
              <a:rPr sz="2600" spc="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invented</a:t>
            </a:r>
            <a:r>
              <a:rPr sz="2600" spc="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by</a:t>
            </a:r>
            <a:r>
              <a:rPr sz="2600" spc="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Harappans,</a:t>
            </a:r>
            <a:r>
              <a:rPr sz="2600" spc="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teeth</a:t>
            </a:r>
            <a:r>
              <a:rPr sz="2600" spc="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adjoining </a:t>
            </a:r>
            <a:r>
              <a:rPr sz="2600" dirty="0">
                <a:latin typeface="Calibri"/>
                <a:cs typeface="Calibri"/>
              </a:rPr>
              <a:t>part</a:t>
            </a:r>
            <a:r>
              <a:rPr sz="2600" spc="1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1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1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blade</a:t>
            </a:r>
            <a:r>
              <a:rPr sz="2600" spc="114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set</a:t>
            </a:r>
            <a:r>
              <a:rPr sz="2600" spc="1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alternately</a:t>
            </a:r>
            <a:r>
              <a:rPr sz="2600" spc="1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from</a:t>
            </a:r>
            <a:r>
              <a:rPr sz="2600" spc="114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side</a:t>
            </a:r>
            <a:r>
              <a:rPr sz="2600" spc="1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1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side,</a:t>
            </a:r>
            <a:r>
              <a:rPr sz="2600" spc="1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1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type</a:t>
            </a:r>
            <a:r>
              <a:rPr sz="2600" spc="1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1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saw</a:t>
            </a:r>
            <a:r>
              <a:rPr sz="2600" spc="1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unknown </a:t>
            </a:r>
            <a:r>
              <a:rPr sz="2600" dirty="0">
                <a:latin typeface="Calibri"/>
                <a:cs typeface="Calibri"/>
              </a:rPr>
              <a:t>until</a:t>
            </a:r>
            <a:r>
              <a:rPr sz="2600" spc="1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Roman</a:t>
            </a:r>
            <a:r>
              <a:rPr sz="2600" spc="1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times.</a:t>
            </a:r>
            <a:r>
              <a:rPr sz="2600" spc="1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They</a:t>
            </a:r>
            <a:r>
              <a:rPr sz="2600" spc="1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left</a:t>
            </a:r>
            <a:r>
              <a:rPr sz="2600" spc="1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</a:t>
            </a:r>
            <a:r>
              <a:rPr sz="2600" spc="1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1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few</a:t>
            </a:r>
            <a:r>
              <a:rPr sz="2600" spc="1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bronze</a:t>
            </a:r>
            <a:r>
              <a:rPr sz="2600" spc="1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figurines</a:t>
            </a:r>
            <a:r>
              <a:rPr sz="2600" spc="1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cast</a:t>
            </a:r>
            <a:r>
              <a:rPr sz="2600" spc="1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using</a:t>
            </a:r>
            <a:r>
              <a:rPr sz="2600" spc="1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1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lost- </a:t>
            </a:r>
            <a:r>
              <a:rPr sz="2600" dirty="0">
                <a:latin typeface="Calibri"/>
                <a:cs typeface="Calibri"/>
              </a:rPr>
              <a:t>wax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process.</a:t>
            </a:r>
            <a:endParaRPr sz="2600">
              <a:latin typeface="Calibri"/>
              <a:cs typeface="Calibri"/>
            </a:endParaRPr>
          </a:p>
          <a:p>
            <a:pPr marL="241300" marR="5080" indent="-229235" algn="just">
              <a:lnSpc>
                <a:spcPct val="9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The</a:t>
            </a:r>
            <a:r>
              <a:rPr sz="2600" spc="60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Harappans</a:t>
            </a:r>
            <a:r>
              <a:rPr sz="2600" spc="70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also</a:t>
            </a:r>
            <a:r>
              <a:rPr sz="2600" spc="70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invented</a:t>
            </a:r>
            <a:r>
              <a:rPr sz="2600" spc="75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advanced</a:t>
            </a:r>
            <a:r>
              <a:rPr sz="2600" spc="65" dirty="0">
                <a:latin typeface="Calibri"/>
                <a:cs typeface="Calibri"/>
              </a:rPr>
              <a:t>  </a:t>
            </a:r>
            <a:r>
              <a:rPr sz="2600" spc="-20" dirty="0">
                <a:latin typeface="Calibri"/>
                <a:cs typeface="Calibri"/>
              </a:rPr>
              <a:t>grid-</a:t>
            </a:r>
            <a:r>
              <a:rPr sz="2600" dirty="0">
                <a:latin typeface="Calibri"/>
                <a:cs typeface="Calibri"/>
              </a:rPr>
              <a:t>based</a:t>
            </a:r>
            <a:r>
              <a:rPr sz="2600" spc="70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town</a:t>
            </a:r>
            <a:r>
              <a:rPr sz="2600" spc="65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planning</a:t>
            </a:r>
            <a:r>
              <a:rPr sz="2600" spc="65" dirty="0">
                <a:latin typeface="Calibri"/>
                <a:cs typeface="Calibri"/>
              </a:rPr>
              <a:t>  </a:t>
            </a:r>
            <a:r>
              <a:rPr sz="2600" spc="-25" dirty="0">
                <a:latin typeface="Calibri"/>
                <a:cs typeface="Calibri"/>
              </a:rPr>
              <a:t>and </a:t>
            </a:r>
            <a:r>
              <a:rPr sz="2600" dirty="0">
                <a:latin typeface="Calibri"/>
                <a:cs typeface="Calibri"/>
              </a:rPr>
              <a:t>sanitation,</a:t>
            </a:r>
            <a:r>
              <a:rPr sz="2600" spc="6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which</a:t>
            </a:r>
            <a:r>
              <a:rPr sz="2600" spc="6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collected</a:t>
            </a:r>
            <a:r>
              <a:rPr sz="2600" spc="6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used</a:t>
            </a:r>
            <a:r>
              <a:rPr sz="2600" spc="6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water</a:t>
            </a:r>
            <a:r>
              <a:rPr sz="2600" spc="6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from</a:t>
            </a:r>
            <a:r>
              <a:rPr sz="2600" spc="6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individual</a:t>
            </a:r>
            <a:r>
              <a:rPr sz="2600" spc="6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bathrooms</a:t>
            </a:r>
            <a:r>
              <a:rPr sz="2600" spc="61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into </a:t>
            </a:r>
            <a:r>
              <a:rPr sz="2600" dirty="0">
                <a:latin typeface="Calibri"/>
                <a:cs typeface="Calibri"/>
              </a:rPr>
              <a:t>municipal</a:t>
            </a:r>
            <a:r>
              <a:rPr sz="2600" spc="1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drains</a:t>
            </a:r>
            <a:r>
              <a:rPr sz="2600" spc="1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1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were</a:t>
            </a:r>
            <a:r>
              <a:rPr sz="2600" spc="114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inspected</a:t>
            </a:r>
            <a:r>
              <a:rPr sz="2600" spc="114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1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cleaned</a:t>
            </a:r>
            <a:r>
              <a:rPr sz="2600" spc="1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</a:t>
            </a:r>
            <a:r>
              <a:rPr sz="2600" spc="1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114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regular</a:t>
            </a:r>
            <a:r>
              <a:rPr sz="2600" spc="1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basis.</a:t>
            </a:r>
            <a:r>
              <a:rPr sz="2600" spc="114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They </a:t>
            </a:r>
            <a:r>
              <a:rPr sz="2600" dirty="0">
                <a:latin typeface="Calibri"/>
                <a:cs typeface="Calibri"/>
              </a:rPr>
              <a:t>realised</a:t>
            </a:r>
            <a:r>
              <a:rPr sz="2600" spc="1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114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bricks</a:t>
            </a:r>
            <a:r>
              <a:rPr sz="2600" spc="114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1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1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dimensions</a:t>
            </a:r>
            <a:r>
              <a:rPr sz="2600" spc="114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1:</a:t>
            </a:r>
            <a:r>
              <a:rPr sz="2600" spc="114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2:</a:t>
            </a:r>
            <a:r>
              <a:rPr sz="2600" spc="114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4</a:t>
            </a:r>
            <a:r>
              <a:rPr sz="2600" spc="114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(width</a:t>
            </a:r>
            <a:r>
              <a:rPr sz="2600" spc="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equals</a:t>
            </a:r>
            <a:r>
              <a:rPr sz="2600" spc="114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two</a:t>
            </a:r>
            <a:r>
              <a:rPr sz="2600" spc="11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heights; </a:t>
            </a:r>
            <a:r>
              <a:rPr sz="2600" dirty="0">
                <a:latin typeface="Calibri"/>
                <a:cs typeface="Calibri"/>
              </a:rPr>
              <a:t>length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equals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two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widths).</a:t>
            </a:r>
            <a:endParaRPr sz="2600">
              <a:latin typeface="Calibri"/>
              <a:cs typeface="Calibri"/>
            </a:endParaRPr>
          </a:p>
          <a:p>
            <a:pPr marL="241300" marR="5715" indent="-229235" algn="just">
              <a:lnSpc>
                <a:spcPct val="9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Harappan</a:t>
            </a:r>
            <a:r>
              <a:rPr sz="2600" spc="1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craftsmen</a:t>
            </a:r>
            <a:r>
              <a:rPr sz="2600" spc="2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used</a:t>
            </a:r>
            <a:r>
              <a:rPr sz="2600" spc="2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2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variety</a:t>
            </a:r>
            <a:r>
              <a:rPr sz="2600" spc="2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204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minerals</a:t>
            </a:r>
            <a:r>
              <a:rPr sz="2600" spc="2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2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ornamental,</a:t>
            </a:r>
            <a:r>
              <a:rPr sz="2600" spc="204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cosmetic,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35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medicinal</a:t>
            </a:r>
            <a:r>
              <a:rPr sz="2600" spc="35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purposes;</a:t>
            </a:r>
            <a:r>
              <a:rPr sz="2600" spc="35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they</a:t>
            </a:r>
            <a:r>
              <a:rPr sz="2600" spc="30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excelled</a:t>
            </a:r>
            <a:r>
              <a:rPr sz="2600" spc="40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at</a:t>
            </a:r>
            <a:r>
              <a:rPr sz="2600" spc="35" dirty="0">
                <a:latin typeface="Calibri"/>
                <a:cs typeface="Calibri"/>
              </a:rPr>
              <a:t>  </a:t>
            </a:r>
            <a:r>
              <a:rPr sz="2600" spc="-10" dirty="0">
                <a:latin typeface="Calibri"/>
                <a:cs typeface="Calibri"/>
              </a:rPr>
              <a:t>bead-</a:t>
            </a:r>
            <a:r>
              <a:rPr sz="2600" dirty="0">
                <a:latin typeface="Calibri"/>
                <a:cs typeface="Calibri"/>
              </a:rPr>
              <a:t>making,</a:t>
            </a:r>
            <a:r>
              <a:rPr sz="2600" spc="40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35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their</a:t>
            </a:r>
            <a:r>
              <a:rPr sz="2600" spc="40" dirty="0">
                <a:latin typeface="Calibri"/>
                <a:cs typeface="Calibri"/>
              </a:rPr>
              <a:t>  </a:t>
            </a:r>
            <a:r>
              <a:rPr sz="2600" spc="-20" dirty="0">
                <a:latin typeface="Calibri"/>
                <a:cs typeface="Calibri"/>
              </a:rPr>
              <a:t>long </a:t>
            </a:r>
            <a:r>
              <a:rPr sz="2600" dirty="0">
                <a:latin typeface="Calibri"/>
                <a:cs typeface="Calibri"/>
              </a:rPr>
              <a:t>carnelian</a:t>
            </a:r>
            <a:r>
              <a:rPr sz="2600" spc="1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(a</a:t>
            </a:r>
            <a:r>
              <a:rPr sz="2600" spc="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semiprecious</a:t>
            </a:r>
            <a:r>
              <a:rPr sz="2600" spc="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stone)</a:t>
            </a:r>
            <a:r>
              <a:rPr sz="2600" spc="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beads,</a:t>
            </a:r>
            <a:r>
              <a:rPr sz="2600" spc="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particular,</a:t>
            </a:r>
            <a:r>
              <a:rPr sz="2600" spc="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were</a:t>
            </a:r>
            <a:r>
              <a:rPr sz="2600" spc="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highly</a:t>
            </a:r>
            <a:r>
              <a:rPr sz="2600" spc="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prized</a:t>
            </a:r>
            <a:r>
              <a:rPr sz="2600" spc="10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in </a:t>
            </a:r>
            <a:r>
              <a:rPr sz="2600" dirty="0">
                <a:latin typeface="Calibri"/>
                <a:cs typeface="Calibri"/>
              </a:rPr>
              <a:t>Mesopotamian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royal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families.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16939" y="1454912"/>
            <a:ext cx="10358755" cy="233235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41300" marR="5080" indent="-229235" algn="just">
              <a:lnSpc>
                <a:spcPts val="2810"/>
              </a:lnSpc>
              <a:spcBef>
                <a:spcPts val="45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The</a:t>
            </a:r>
            <a:r>
              <a:rPr sz="2600" spc="60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Harappans</a:t>
            </a:r>
            <a:r>
              <a:rPr sz="2600" spc="65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produced</a:t>
            </a:r>
            <a:r>
              <a:rPr sz="2600" spc="70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65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large</a:t>
            </a:r>
            <a:r>
              <a:rPr sz="2600" spc="70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number</a:t>
            </a:r>
            <a:r>
              <a:rPr sz="2600" spc="65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70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gold,</a:t>
            </a:r>
            <a:r>
              <a:rPr sz="2600" spc="60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bronze,</a:t>
            </a:r>
            <a:r>
              <a:rPr sz="2600" spc="65" dirty="0">
                <a:latin typeface="Calibri"/>
                <a:cs typeface="Calibri"/>
              </a:rPr>
              <a:t>  </a:t>
            </a:r>
            <a:r>
              <a:rPr sz="2600" spc="-10" dirty="0">
                <a:latin typeface="Calibri"/>
                <a:cs typeface="Calibri"/>
              </a:rPr>
              <a:t>conchshell, </a:t>
            </a:r>
            <a:r>
              <a:rPr sz="2600" dirty="0">
                <a:latin typeface="Calibri"/>
                <a:cs typeface="Calibri"/>
              </a:rPr>
              <a:t>glazed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faience,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humble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terracotta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bangles,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which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contributed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India's </a:t>
            </a:r>
            <a:r>
              <a:rPr sz="2600" dirty="0">
                <a:latin typeface="Calibri"/>
                <a:cs typeface="Calibri"/>
              </a:rPr>
              <a:t>love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bangles.</a:t>
            </a:r>
            <a:endParaRPr sz="2600">
              <a:latin typeface="Calibri"/>
              <a:cs typeface="Calibri"/>
            </a:endParaRPr>
          </a:p>
          <a:p>
            <a:pPr marL="241300" marR="5080" indent="-229235" algn="just">
              <a:lnSpc>
                <a:spcPts val="281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Weavers</a:t>
            </a:r>
            <a:r>
              <a:rPr sz="2600" spc="6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used</a:t>
            </a:r>
            <a:r>
              <a:rPr sz="2600" spc="30" dirty="0">
                <a:latin typeface="Calibri"/>
                <a:cs typeface="Calibri"/>
              </a:rPr>
              <a:t>  </a:t>
            </a:r>
            <a:r>
              <a:rPr sz="2600" spc="-10" dirty="0">
                <a:latin typeface="Calibri"/>
                <a:cs typeface="Calibri"/>
              </a:rPr>
              <a:t>wheel-</a:t>
            </a:r>
            <a:r>
              <a:rPr sz="2600" dirty="0">
                <a:latin typeface="Calibri"/>
                <a:cs typeface="Calibri"/>
              </a:rPr>
              <a:t>spun</a:t>
            </a:r>
            <a:r>
              <a:rPr sz="2600" spc="30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thread,</a:t>
            </a:r>
            <a:r>
              <a:rPr sz="2600" spc="6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6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evidence</a:t>
            </a:r>
            <a:r>
              <a:rPr sz="2600" spc="30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6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silk,</a:t>
            </a:r>
            <a:r>
              <a:rPr sz="2600" spc="30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30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addition</a:t>
            </a:r>
            <a:r>
              <a:rPr sz="2600" spc="30" dirty="0">
                <a:latin typeface="Calibri"/>
                <a:cs typeface="Calibri"/>
              </a:rPr>
              <a:t>  </a:t>
            </a:r>
            <a:r>
              <a:rPr sz="2600" spc="-25" dirty="0">
                <a:latin typeface="Calibri"/>
                <a:cs typeface="Calibri"/>
              </a:rPr>
              <a:t>to </a:t>
            </a:r>
            <a:r>
              <a:rPr sz="2600" dirty="0">
                <a:latin typeface="Calibri"/>
                <a:cs typeface="Calibri"/>
              </a:rPr>
              <a:t>cotton,</a:t>
            </a:r>
            <a:r>
              <a:rPr sz="2600" spc="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has</a:t>
            </a:r>
            <a:r>
              <a:rPr sz="2600" spc="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recently</a:t>
            </a:r>
            <a:r>
              <a:rPr sz="2600" spc="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been</a:t>
            </a:r>
            <a:r>
              <a:rPr sz="2600" spc="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discovered</a:t>
            </a:r>
            <a:r>
              <a:rPr sz="2600" spc="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</a:t>
            </a:r>
            <a:r>
              <a:rPr sz="2600" spc="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two</a:t>
            </a:r>
            <a:r>
              <a:rPr sz="2600" spc="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sites.</a:t>
            </a:r>
            <a:r>
              <a:rPr sz="2600" spc="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Stone</a:t>
            </a:r>
            <a:r>
              <a:rPr sz="2600" spc="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ivory</a:t>
            </a:r>
            <a:r>
              <a:rPr sz="2600" spc="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carving, </a:t>
            </a:r>
            <a:r>
              <a:rPr sz="2600" dirty="0">
                <a:latin typeface="Calibri"/>
                <a:cs typeface="Calibri"/>
              </a:rPr>
              <a:t>carpetmaking,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inlaid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woodwork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were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among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other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crafts.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8228"/>
            <a:ext cx="10081260" cy="13004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dirty="0"/>
              <a:t>Significant</a:t>
            </a:r>
            <a:r>
              <a:rPr spc="-120" dirty="0"/>
              <a:t> </a:t>
            </a:r>
            <a:r>
              <a:rPr dirty="0"/>
              <a:t>Science</a:t>
            </a:r>
            <a:r>
              <a:rPr spc="-105" dirty="0"/>
              <a:t> </a:t>
            </a:r>
            <a:r>
              <a:rPr dirty="0"/>
              <a:t>and</a:t>
            </a:r>
            <a:r>
              <a:rPr spc="-114" dirty="0"/>
              <a:t> </a:t>
            </a:r>
            <a:r>
              <a:rPr spc="-35" dirty="0"/>
              <a:t>Technology</a:t>
            </a:r>
            <a:r>
              <a:rPr spc="-95" dirty="0"/>
              <a:t> </a:t>
            </a:r>
            <a:r>
              <a:rPr spc="-10" dirty="0"/>
              <a:t>Discovery </a:t>
            </a:r>
            <a:r>
              <a:rPr dirty="0"/>
              <a:t>in</a:t>
            </a:r>
            <a:r>
              <a:rPr spc="-45" dirty="0"/>
              <a:t> </a:t>
            </a:r>
            <a:r>
              <a:rPr dirty="0"/>
              <a:t>Ancient</a:t>
            </a:r>
            <a:r>
              <a:rPr spc="-40" dirty="0"/>
              <a:t> </a:t>
            </a:r>
            <a:r>
              <a:rPr spc="-10" dirty="0"/>
              <a:t>India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571840"/>
            <a:ext cx="10360025" cy="309816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sz="2800" b="1" dirty="0">
                <a:latin typeface="Calibri"/>
                <a:cs typeface="Calibri"/>
              </a:rPr>
              <a:t>Idea</a:t>
            </a:r>
            <a:r>
              <a:rPr sz="2800" b="1" spc="-2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of</a:t>
            </a:r>
            <a:r>
              <a:rPr sz="2800" b="1" spc="-25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Zero</a:t>
            </a:r>
            <a:endParaRPr sz="2800">
              <a:latin typeface="Calibri"/>
              <a:cs typeface="Calibri"/>
            </a:endParaRPr>
          </a:p>
          <a:p>
            <a:pPr marL="240029" marR="6350" indent="-227965" algn="just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Aryabhata,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mathematician,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first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create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symbol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zero, 	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was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through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his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efforts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mathematical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operations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such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as 	</a:t>
            </a:r>
            <a:r>
              <a:rPr sz="2800" dirty="0">
                <a:latin typeface="Calibri"/>
                <a:cs typeface="Calibri"/>
              </a:rPr>
              <a:t>addition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subtraction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began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digit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zero.</a:t>
            </a:r>
            <a:endParaRPr sz="2800">
              <a:latin typeface="Calibri"/>
              <a:cs typeface="Calibri"/>
            </a:endParaRPr>
          </a:p>
          <a:p>
            <a:pPr marL="240029" marR="5080" indent="-227965" algn="just">
              <a:lnSpc>
                <a:spcPts val="302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concept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zero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its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incorporation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into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place-</a:t>
            </a:r>
            <a:r>
              <a:rPr sz="2800" dirty="0">
                <a:latin typeface="Calibri"/>
                <a:cs typeface="Calibri"/>
              </a:rPr>
              <a:t>value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system 	</a:t>
            </a:r>
            <a:r>
              <a:rPr sz="2800" dirty="0">
                <a:latin typeface="Calibri"/>
                <a:cs typeface="Calibri"/>
              </a:rPr>
              <a:t>also</a:t>
            </a:r>
            <a:r>
              <a:rPr sz="2800" spc="4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allowed</a:t>
            </a:r>
            <a:r>
              <a:rPr sz="2800" spc="4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43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4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writing</a:t>
            </a:r>
            <a:r>
              <a:rPr sz="2800" spc="4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4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numbers</a:t>
            </a:r>
            <a:r>
              <a:rPr sz="2800" spc="4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43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any</a:t>
            </a:r>
            <a:r>
              <a:rPr sz="2800" spc="4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size</a:t>
            </a:r>
            <a:r>
              <a:rPr sz="2800" spc="4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using</a:t>
            </a:r>
            <a:r>
              <a:rPr sz="2800" spc="4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only</a:t>
            </a:r>
            <a:r>
              <a:rPr sz="2800" spc="42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ten 	</a:t>
            </a:r>
            <a:r>
              <a:rPr sz="2800" spc="-10" dirty="0">
                <a:latin typeface="Calibri"/>
                <a:cs typeface="Calibri"/>
              </a:rPr>
              <a:t>symbols.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8228"/>
            <a:ext cx="10081260" cy="13004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dirty="0"/>
              <a:t>Significant</a:t>
            </a:r>
            <a:r>
              <a:rPr spc="-120" dirty="0"/>
              <a:t> </a:t>
            </a:r>
            <a:r>
              <a:rPr dirty="0"/>
              <a:t>Science</a:t>
            </a:r>
            <a:r>
              <a:rPr spc="-105" dirty="0"/>
              <a:t> </a:t>
            </a:r>
            <a:r>
              <a:rPr dirty="0"/>
              <a:t>and</a:t>
            </a:r>
            <a:r>
              <a:rPr spc="-114" dirty="0"/>
              <a:t> </a:t>
            </a:r>
            <a:r>
              <a:rPr spc="-35" dirty="0"/>
              <a:t>Technology</a:t>
            </a:r>
            <a:r>
              <a:rPr spc="-95" dirty="0"/>
              <a:t> </a:t>
            </a:r>
            <a:r>
              <a:rPr spc="-10" dirty="0"/>
              <a:t>Discovery </a:t>
            </a:r>
            <a:r>
              <a:rPr dirty="0"/>
              <a:t>in</a:t>
            </a:r>
            <a:r>
              <a:rPr spc="-45" dirty="0"/>
              <a:t> </a:t>
            </a:r>
            <a:r>
              <a:rPr dirty="0"/>
              <a:t>Ancient</a:t>
            </a:r>
            <a:r>
              <a:rPr spc="-40" dirty="0"/>
              <a:t> </a:t>
            </a:r>
            <a:r>
              <a:rPr spc="-10" dirty="0"/>
              <a:t>India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571840"/>
            <a:ext cx="10357485" cy="309816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sz="2800" b="1" dirty="0">
                <a:latin typeface="Calibri"/>
                <a:cs typeface="Calibri"/>
              </a:rPr>
              <a:t>Decimal</a:t>
            </a:r>
            <a:r>
              <a:rPr sz="2800" b="1" spc="-10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System</a:t>
            </a:r>
            <a:endParaRPr sz="2800">
              <a:latin typeface="Calibri"/>
              <a:cs typeface="Calibri"/>
            </a:endParaRPr>
          </a:p>
          <a:p>
            <a:pPr marL="240029" marR="5715" indent="-227965" algn="just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India</a:t>
            </a:r>
            <a:r>
              <a:rPr sz="2800" spc="1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invented</a:t>
            </a:r>
            <a:r>
              <a:rPr sz="2800" spc="18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7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decimal</a:t>
            </a:r>
            <a:r>
              <a:rPr sz="2800" spc="17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system,</a:t>
            </a:r>
            <a:r>
              <a:rPr sz="2800" spc="18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18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uses</a:t>
            </a:r>
            <a:r>
              <a:rPr sz="2800" spc="17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ten</a:t>
            </a:r>
            <a:r>
              <a:rPr sz="2800" spc="17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symbols</a:t>
            </a:r>
            <a:r>
              <a:rPr sz="2800" spc="185" dirty="0">
                <a:latin typeface="Calibri"/>
                <a:cs typeface="Calibri"/>
              </a:rPr>
              <a:t>  </a:t>
            </a:r>
            <a:r>
              <a:rPr sz="2800" spc="-25" dirty="0">
                <a:latin typeface="Calibri"/>
                <a:cs typeface="Calibri"/>
              </a:rPr>
              <a:t>to 	</a:t>
            </a:r>
            <a:r>
              <a:rPr sz="2800" dirty="0">
                <a:latin typeface="Calibri"/>
                <a:cs typeface="Calibri"/>
              </a:rPr>
              <a:t>represent</a:t>
            </a:r>
            <a:r>
              <a:rPr sz="2800" spc="3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</a:t>
            </a:r>
            <a:r>
              <a:rPr sz="2800" spc="3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numbers.</a:t>
            </a:r>
            <a:r>
              <a:rPr sz="2800" spc="3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3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3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system,</a:t>
            </a:r>
            <a:r>
              <a:rPr sz="2800" spc="3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each</a:t>
            </a:r>
            <a:r>
              <a:rPr sz="2800" spc="3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symbol</a:t>
            </a:r>
            <a:r>
              <a:rPr sz="2800" spc="3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was</a:t>
            </a:r>
            <a:r>
              <a:rPr sz="2800" spc="3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assigned</a:t>
            </a:r>
            <a:r>
              <a:rPr sz="2800" spc="39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	</a:t>
            </a:r>
            <a:r>
              <a:rPr sz="2800" dirty="0">
                <a:latin typeface="Calibri"/>
                <a:cs typeface="Calibri"/>
              </a:rPr>
              <a:t>positional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value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well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absolute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value.</a:t>
            </a:r>
            <a:endParaRPr sz="2800">
              <a:latin typeface="Calibri"/>
              <a:cs typeface="Calibri"/>
            </a:endParaRPr>
          </a:p>
          <a:p>
            <a:pPr marL="240029" marR="5080" indent="-227965" algn="just">
              <a:lnSpc>
                <a:spcPts val="302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This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system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made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arithmetic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practical</a:t>
            </a:r>
            <a:r>
              <a:rPr sz="2800" spc="1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inventions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much 	</a:t>
            </a:r>
            <a:r>
              <a:rPr sz="2800" dirty="0">
                <a:latin typeface="Calibri"/>
                <a:cs typeface="Calibri"/>
              </a:rPr>
              <a:t>faster</a:t>
            </a:r>
            <a:r>
              <a:rPr sz="2800" spc="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easier</a:t>
            </a:r>
            <a:r>
              <a:rPr sz="2800" spc="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due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simplicity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decimal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notation,</a:t>
            </a:r>
            <a:r>
              <a:rPr sz="2800" spc="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which 	facilitated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calculation.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8228"/>
            <a:ext cx="10081260" cy="13004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dirty="0"/>
              <a:t>Significant</a:t>
            </a:r>
            <a:r>
              <a:rPr spc="-120" dirty="0"/>
              <a:t> </a:t>
            </a:r>
            <a:r>
              <a:rPr dirty="0"/>
              <a:t>Science</a:t>
            </a:r>
            <a:r>
              <a:rPr spc="-105" dirty="0"/>
              <a:t> </a:t>
            </a:r>
            <a:r>
              <a:rPr dirty="0"/>
              <a:t>and</a:t>
            </a:r>
            <a:r>
              <a:rPr spc="-114" dirty="0"/>
              <a:t> </a:t>
            </a:r>
            <a:r>
              <a:rPr spc="-35" dirty="0"/>
              <a:t>Technology</a:t>
            </a:r>
            <a:r>
              <a:rPr spc="-95" dirty="0"/>
              <a:t> </a:t>
            </a:r>
            <a:r>
              <a:rPr spc="-10" dirty="0"/>
              <a:t>Discovery </a:t>
            </a:r>
            <a:r>
              <a:rPr dirty="0"/>
              <a:t>in</a:t>
            </a:r>
            <a:r>
              <a:rPr spc="-45" dirty="0"/>
              <a:t> </a:t>
            </a:r>
            <a:r>
              <a:rPr dirty="0"/>
              <a:t>Ancient</a:t>
            </a:r>
            <a:r>
              <a:rPr spc="-40" dirty="0"/>
              <a:t> </a:t>
            </a:r>
            <a:r>
              <a:rPr spc="-10" dirty="0"/>
              <a:t>India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571840"/>
            <a:ext cx="10358120" cy="271399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sz="2800" b="1" dirty="0">
                <a:latin typeface="Calibri"/>
                <a:cs typeface="Calibri"/>
              </a:rPr>
              <a:t>Numerical</a:t>
            </a:r>
            <a:r>
              <a:rPr sz="2800" b="1" spc="-114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Notations</a:t>
            </a:r>
            <a:endParaRPr sz="2800">
              <a:latin typeface="Calibri"/>
              <a:cs typeface="Calibri"/>
            </a:endParaRPr>
          </a:p>
          <a:p>
            <a:pPr marL="240029" marR="5715" indent="-227965" algn="just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India</a:t>
            </a:r>
            <a:r>
              <a:rPr sz="2800" spc="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developed</a:t>
            </a:r>
            <a:r>
              <a:rPr sz="2800" spc="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system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different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symbols</a:t>
            </a:r>
            <a:r>
              <a:rPr sz="2800" spc="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each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number</a:t>
            </a:r>
            <a:r>
              <a:rPr sz="2800" spc="9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from 	</a:t>
            </a:r>
            <a:r>
              <a:rPr sz="2800" dirty="0">
                <a:latin typeface="Calibri"/>
                <a:cs typeface="Calibri"/>
              </a:rPr>
              <a:t>one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nine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early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500 </a:t>
            </a:r>
            <a:r>
              <a:rPr sz="2800" spc="-20" dirty="0">
                <a:latin typeface="Calibri"/>
                <a:cs typeface="Calibri"/>
              </a:rPr>
              <a:t>BCE.</a:t>
            </a:r>
            <a:endParaRPr sz="2800">
              <a:latin typeface="Calibri"/>
              <a:cs typeface="Calibri"/>
            </a:endParaRPr>
          </a:p>
          <a:p>
            <a:pPr marL="239395" marR="5080" indent="-227329" algn="just">
              <a:lnSpc>
                <a:spcPct val="90000"/>
              </a:lnSpc>
              <a:spcBef>
                <a:spcPts val="95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4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Arabs,</a:t>
            </a:r>
            <a:r>
              <a:rPr sz="2800" spc="45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who</a:t>
            </a:r>
            <a:r>
              <a:rPr sz="2800" spc="4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called</a:t>
            </a:r>
            <a:r>
              <a:rPr sz="2800" spc="45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45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45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hind</a:t>
            </a:r>
            <a:r>
              <a:rPr sz="2800" spc="4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numerals,</a:t>
            </a:r>
            <a:r>
              <a:rPr sz="2800" spc="4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adopted</a:t>
            </a:r>
            <a:r>
              <a:rPr sz="2800" spc="4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4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notation 	</a:t>
            </a:r>
            <a:r>
              <a:rPr sz="2800" dirty="0">
                <a:latin typeface="Calibri"/>
                <a:cs typeface="Calibri"/>
              </a:rPr>
              <a:t>system.</a:t>
            </a:r>
            <a:r>
              <a:rPr sz="2800" spc="6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Centuries</a:t>
            </a:r>
            <a:r>
              <a:rPr sz="2800" spc="6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later,</a:t>
            </a:r>
            <a:r>
              <a:rPr sz="2800" spc="6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6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western</a:t>
            </a:r>
            <a:r>
              <a:rPr sz="2800" spc="6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world</a:t>
            </a:r>
            <a:r>
              <a:rPr sz="2800" spc="6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adopted</a:t>
            </a:r>
            <a:r>
              <a:rPr sz="2800" spc="6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6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notation 	system,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dubbed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Arabic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numerals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because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arrived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Arab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traders.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8228"/>
            <a:ext cx="10081260" cy="13004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dirty="0"/>
              <a:t>Significant</a:t>
            </a:r>
            <a:r>
              <a:rPr spc="-120" dirty="0"/>
              <a:t> </a:t>
            </a:r>
            <a:r>
              <a:rPr dirty="0"/>
              <a:t>Science</a:t>
            </a:r>
            <a:r>
              <a:rPr spc="-105" dirty="0"/>
              <a:t> </a:t>
            </a:r>
            <a:r>
              <a:rPr dirty="0"/>
              <a:t>and</a:t>
            </a:r>
            <a:r>
              <a:rPr spc="-114" dirty="0"/>
              <a:t> </a:t>
            </a:r>
            <a:r>
              <a:rPr spc="-35" dirty="0"/>
              <a:t>Technology</a:t>
            </a:r>
            <a:r>
              <a:rPr spc="-95" dirty="0"/>
              <a:t> </a:t>
            </a:r>
            <a:r>
              <a:rPr spc="-10" dirty="0"/>
              <a:t>Discovery </a:t>
            </a:r>
            <a:r>
              <a:rPr dirty="0"/>
              <a:t>in</a:t>
            </a:r>
            <a:r>
              <a:rPr spc="-45" dirty="0"/>
              <a:t> </a:t>
            </a:r>
            <a:r>
              <a:rPr dirty="0"/>
              <a:t>Ancient</a:t>
            </a:r>
            <a:r>
              <a:rPr spc="-40" dirty="0"/>
              <a:t> </a:t>
            </a:r>
            <a:r>
              <a:rPr spc="-10" dirty="0"/>
              <a:t>India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571840"/>
            <a:ext cx="10359390" cy="309816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sz="2800" b="1" dirty="0">
                <a:latin typeface="Calibri"/>
                <a:cs typeface="Calibri"/>
              </a:rPr>
              <a:t>Binary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Numbers</a:t>
            </a:r>
            <a:endParaRPr sz="2800">
              <a:latin typeface="Calibri"/>
              <a:cs typeface="Calibri"/>
            </a:endParaRPr>
          </a:p>
          <a:p>
            <a:pPr marL="240029" marR="5080" indent="-227965" algn="just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basic</a:t>
            </a:r>
            <a:r>
              <a:rPr sz="2800" spc="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language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computer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programs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written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binary 	</a:t>
            </a:r>
            <a:r>
              <a:rPr sz="2800" dirty="0">
                <a:latin typeface="Calibri"/>
                <a:cs typeface="Calibri"/>
              </a:rPr>
              <a:t>numbers.</a:t>
            </a:r>
            <a:r>
              <a:rPr sz="2800" spc="4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Binary</a:t>
            </a:r>
            <a:r>
              <a:rPr sz="2800" spc="4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4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essentially</a:t>
            </a:r>
            <a:r>
              <a:rPr sz="2800" spc="4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4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set</a:t>
            </a:r>
            <a:r>
              <a:rPr sz="2800" spc="4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4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two</a:t>
            </a:r>
            <a:r>
              <a:rPr sz="2800" spc="4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numbers,</a:t>
            </a:r>
            <a:r>
              <a:rPr sz="2800" spc="4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</a:t>
            </a:r>
            <a:r>
              <a:rPr sz="2800" spc="4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48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0,</a:t>
            </a:r>
            <a:r>
              <a:rPr sz="2800" spc="4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spc="-10" dirty="0">
                <a:latin typeface="Calibri"/>
                <a:cs typeface="Calibri"/>
              </a:rPr>
              <a:t>combinations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known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bits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bytes.</a:t>
            </a:r>
            <a:endParaRPr sz="2800">
              <a:latin typeface="Calibri"/>
              <a:cs typeface="Calibri"/>
            </a:endParaRPr>
          </a:p>
          <a:p>
            <a:pPr marL="240029" marR="6350" indent="-227965" algn="just">
              <a:lnSpc>
                <a:spcPts val="302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Pingala,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Vedic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scholar,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first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described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binary</a:t>
            </a:r>
            <a:r>
              <a:rPr sz="2800" spc="1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number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system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in 	</a:t>
            </a:r>
            <a:r>
              <a:rPr sz="2800" dirty="0">
                <a:latin typeface="Calibri"/>
                <a:cs typeface="Calibri"/>
              </a:rPr>
              <a:t>his</a:t>
            </a:r>
            <a:r>
              <a:rPr sz="2800" spc="114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book</a:t>
            </a:r>
            <a:r>
              <a:rPr sz="2800" spc="114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Chandahsastra,</a:t>
            </a:r>
            <a:r>
              <a:rPr sz="2800" spc="11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2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earliest</a:t>
            </a:r>
            <a:r>
              <a:rPr sz="2800" spc="12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known</a:t>
            </a:r>
            <a:r>
              <a:rPr sz="2800" spc="11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Sanskrit</a:t>
            </a:r>
            <a:r>
              <a:rPr sz="2800" spc="12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treatise</a:t>
            </a:r>
            <a:r>
              <a:rPr sz="2800" spc="114" dirty="0">
                <a:latin typeface="Calibri"/>
                <a:cs typeface="Calibri"/>
              </a:rPr>
              <a:t>  </a:t>
            </a:r>
            <a:r>
              <a:rPr sz="2800" spc="-25" dirty="0">
                <a:latin typeface="Calibri"/>
                <a:cs typeface="Calibri"/>
              </a:rPr>
              <a:t>on 	</a:t>
            </a:r>
            <a:r>
              <a:rPr sz="2800" dirty="0">
                <a:latin typeface="Calibri"/>
                <a:cs typeface="Calibri"/>
              </a:rPr>
              <a:t>prosody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study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poetic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metres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verse).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8228"/>
            <a:ext cx="10081260" cy="13004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dirty="0"/>
              <a:t>Significant</a:t>
            </a:r>
            <a:r>
              <a:rPr spc="-120" dirty="0"/>
              <a:t> </a:t>
            </a:r>
            <a:r>
              <a:rPr dirty="0"/>
              <a:t>Science</a:t>
            </a:r>
            <a:r>
              <a:rPr spc="-105" dirty="0"/>
              <a:t> </a:t>
            </a:r>
            <a:r>
              <a:rPr dirty="0"/>
              <a:t>and</a:t>
            </a:r>
            <a:r>
              <a:rPr spc="-114" dirty="0"/>
              <a:t> </a:t>
            </a:r>
            <a:r>
              <a:rPr spc="-35" dirty="0"/>
              <a:t>Technology</a:t>
            </a:r>
            <a:r>
              <a:rPr spc="-95" dirty="0"/>
              <a:t> </a:t>
            </a:r>
            <a:r>
              <a:rPr spc="-10" dirty="0"/>
              <a:t>Discovery </a:t>
            </a:r>
            <a:r>
              <a:rPr dirty="0"/>
              <a:t>in</a:t>
            </a:r>
            <a:r>
              <a:rPr spc="-45" dirty="0"/>
              <a:t> </a:t>
            </a:r>
            <a:r>
              <a:rPr dirty="0"/>
              <a:t>Ancient</a:t>
            </a:r>
            <a:r>
              <a:rPr spc="-40" dirty="0"/>
              <a:t> </a:t>
            </a:r>
            <a:r>
              <a:rPr spc="-10" dirty="0"/>
              <a:t>India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571840"/>
            <a:ext cx="10359390" cy="3481704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sz="2800" b="1" spc="-20" dirty="0">
                <a:latin typeface="Calibri"/>
                <a:cs typeface="Calibri"/>
              </a:rPr>
              <a:t>Chakravala</a:t>
            </a:r>
            <a:r>
              <a:rPr sz="2800" b="1" spc="-3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Method</a:t>
            </a:r>
            <a:r>
              <a:rPr sz="2800" b="1" spc="-3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of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Algorithms</a:t>
            </a:r>
            <a:endParaRPr sz="2800">
              <a:latin typeface="Calibri"/>
              <a:cs typeface="Calibri"/>
            </a:endParaRPr>
          </a:p>
          <a:p>
            <a:pPr marL="240029" marR="5715" indent="-227965" algn="just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chakravala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method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cyclic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algorithm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solving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indeterminate 	</a:t>
            </a:r>
            <a:r>
              <a:rPr sz="2800" dirty="0">
                <a:latin typeface="Calibri"/>
                <a:cs typeface="Calibri"/>
              </a:rPr>
              <a:t>quadratic</a:t>
            </a:r>
            <a:r>
              <a:rPr sz="2800" spc="5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equations</a:t>
            </a:r>
            <a:r>
              <a:rPr sz="2800" spc="5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such</a:t>
            </a:r>
            <a:r>
              <a:rPr sz="2800" spc="5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5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Pell's</a:t>
            </a:r>
            <a:r>
              <a:rPr sz="2800" spc="5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equation.</a:t>
            </a:r>
            <a:r>
              <a:rPr sz="2800" spc="5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Brahmagupta,</a:t>
            </a:r>
            <a:r>
              <a:rPr sz="2800" spc="5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5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well- 	</a:t>
            </a:r>
            <a:r>
              <a:rPr sz="2800" dirty="0">
                <a:latin typeface="Calibri"/>
                <a:cs typeface="Calibri"/>
              </a:rPr>
              <a:t>known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mathematician</a:t>
            </a:r>
            <a:r>
              <a:rPr sz="2800" spc="1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7th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century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CE,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developed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method 	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obtaining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integer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solutions.</a:t>
            </a:r>
            <a:endParaRPr sz="2800">
              <a:latin typeface="Calibri"/>
              <a:cs typeface="Calibri"/>
            </a:endParaRPr>
          </a:p>
          <a:p>
            <a:pPr marL="240029" marR="5080" indent="-227965" algn="just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Jayadeva,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another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mathematician,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later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generalised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method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	</a:t>
            </a:r>
            <a:r>
              <a:rPr sz="2800" dirty="0">
                <a:latin typeface="Calibri"/>
                <a:cs typeface="Calibri"/>
              </a:rPr>
              <a:t>broader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range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equations,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refined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further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Bhskara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II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in 	</a:t>
            </a:r>
            <a:r>
              <a:rPr sz="2800" dirty="0">
                <a:latin typeface="Calibri"/>
                <a:cs typeface="Calibri"/>
              </a:rPr>
              <a:t>his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Bijaganita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treatise.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8228"/>
            <a:ext cx="10081260" cy="13004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dirty="0"/>
              <a:t>Significant</a:t>
            </a:r>
            <a:r>
              <a:rPr spc="-120" dirty="0"/>
              <a:t> </a:t>
            </a:r>
            <a:r>
              <a:rPr dirty="0"/>
              <a:t>Science</a:t>
            </a:r>
            <a:r>
              <a:rPr spc="-105" dirty="0"/>
              <a:t> </a:t>
            </a:r>
            <a:r>
              <a:rPr dirty="0"/>
              <a:t>and</a:t>
            </a:r>
            <a:r>
              <a:rPr spc="-114" dirty="0"/>
              <a:t> </a:t>
            </a:r>
            <a:r>
              <a:rPr spc="-35" dirty="0"/>
              <a:t>Technology</a:t>
            </a:r>
            <a:r>
              <a:rPr spc="-95" dirty="0"/>
              <a:t> </a:t>
            </a:r>
            <a:r>
              <a:rPr spc="-10" dirty="0"/>
              <a:t>Discovery </a:t>
            </a:r>
            <a:r>
              <a:rPr dirty="0"/>
              <a:t>in</a:t>
            </a:r>
            <a:r>
              <a:rPr spc="-45" dirty="0"/>
              <a:t> </a:t>
            </a:r>
            <a:r>
              <a:rPr dirty="0"/>
              <a:t>Ancient</a:t>
            </a:r>
            <a:r>
              <a:rPr spc="-40" dirty="0"/>
              <a:t> </a:t>
            </a:r>
            <a:r>
              <a:rPr spc="-10" dirty="0"/>
              <a:t>India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571840"/>
            <a:ext cx="10113010" cy="3992879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b="1" dirty="0">
                <a:latin typeface="Calibri"/>
                <a:cs typeface="Calibri"/>
              </a:rPr>
              <a:t>Ruler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Measurements</a:t>
            </a:r>
            <a:endParaRPr sz="2800">
              <a:latin typeface="Calibri"/>
              <a:cs typeface="Calibri"/>
            </a:endParaRPr>
          </a:p>
          <a:p>
            <a:pPr marL="240029" marR="249554" indent="-227965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Excavations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Harappan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sites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have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yielded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ivory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shell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rulers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or 	</a:t>
            </a:r>
            <a:r>
              <a:rPr sz="2800" dirty="0">
                <a:latin typeface="Calibri"/>
                <a:cs typeface="Calibri"/>
              </a:rPr>
              <a:t>linear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measures.</a:t>
            </a:r>
            <a:endParaRPr sz="2800">
              <a:latin typeface="Calibri"/>
              <a:cs typeface="Calibri"/>
            </a:endParaRPr>
          </a:p>
          <a:p>
            <a:pPr marL="239395" marR="5080" indent="-227329">
              <a:lnSpc>
                <a:spcPct val="90000"/>
              </a:lnSpc>
              <a:spcBef>
                <a:spcPts val="95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calibrations,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marked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minute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subdivisions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with 	</a:t>
            </a:r>
            <a:r>
              <a:rPr sz="2800" dirty="0">
                <a:latin typeface="Calibri"/>
                <a:cs typeface="Calibri"/>
              </a:rPr>
              <a:t>amazing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accuracy,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correspond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closely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hasta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increments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1 	</a:t>
            </a:r>
            <a:r>
              <a:rPr sz="2800" dirty="0">
                <a:latin typeface="Calibri"/>
                <a:cs typeface="Calibri"/>
              </a:rPr>
              <a:t>3/8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inches,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were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traditionally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South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Indian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ancient 	architecture.</a:t>
            </a:r>
            <a:endParaRPr sz="2800">
              <a:latin typeface="Calibri"/>
              <a:cs typeface="Calibri"/>
            </a:endParaRPr>
          </a:p>
          <a:p>
            <a:pPr marL="239395" marR="805815" indent="-227329">
              <a:lnSpc>
                <a:spcPts val="303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dimensions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ancient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bricks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discovered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excavation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sites 	correspond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units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these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rulers.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8228"/>
            <a:ext cx="10081260" cy="13004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dirty="0"/>
              <a:t>Significant</a:t>
            </a:r>
            <a:r>
              <a:rPr spc="-120" dirty="0"/>
              <a:t> </a:t>
            </a:r>
            <a:r>
              <a:rPr dirty="0"/>
              <a:t>Science</a:t>
            </a:r>
            <a:r>
              <a:rPr spc="-105" dirty="0"/>
              <a:t> </a:t>
            </a:r>
            <a:r>
              <a:rPr dirty="0"/>
              <a:t>and</a:t>
            </a:r>
            <a:r>
              <a:rPr spc="-114" dirty="0"/>
              <a:t> </a:t>
            </a:r>
            <a:r>
              <a:rPr spc="-35" dirty="0"/>
              <a:t>Technology</a:t>
            </a:r>
            <a:r>
              <a:rPr spc="-95" dirty="0"/>
              <a:t> </a:t>
            </a:r>
            <a:r>
              <a:rPr spc="-10" dirty="0"/>
              <a:t>Discovery </a:t>
            </a:r>
            <a:r>
              <a:rPr dirty="0"/>
              <a:t>in</a:t>
            </a:r>
            <a:r>
              <a:rPr spc="-45" dirty="0"/>
              <a:t> </a:t>
            </a:r>
            <a:r>
              <a:rPr dirty="0"/>
              <a:t>Ancient</a:t>
            </a:r>
            <a:r>
              <a:rPr spc="-40" dirty="0"/>
              <a:t> </a:t>
            </a:r>
            <a:r>
              <a:rPr spc="-10" dirty="0"/>
              <a:t>India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571840"/>
            <a:ext cx="10356215" cy="3608704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sz="2800" b="1" dirty="0">
                <a:latin typeface="Calibri"/>
                <a:cs typeface="Calibri"/>
              </a:rPr>
              <a:t>Plastic</a:t>
            </a:r>
            <a:r>
              <a:rPr sz="2800" b="1" spc="-10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Surgery</a:t>
            </a:r>
            <a:endParaRPr sz="2800">
              <a:latin typeface="Calibri"/>
              <a:cs typeface="Calibri"/>
            </a:endParaRPr>
          </a:p>
          <a:p>
            <a:pPr marL="240029" marR="5080" indent="-227965" algn="just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Sushruta</a:t>
            </a:r>
            <a:r>
              <a:rPr sz="2800" spc="6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Samhita,</a:t>
            </a:r>
            <a:r>
              <a:rPr sz="2800" spc="6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written</a:t>
            </a:r>
            <a:r>
              <a:rPr sz="2800" spc="6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6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Sushruta</a:t>
            </a:r>
            <a:r>
              <a:rPr sz="2800" spc="6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6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6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sixth</a:t>
            </a:r>
            <a:r>
              <a:rPr sz="2800" spc="6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century</a:t>
            </a:r>
            <a:r>
              <a:rPr sz="2800" spc="6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BC,</a:t>
            </a:r>
            <a:r>
              <a:rPr sz="2800" spc="6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is 	</a:t>
            </a:r>
            <a:r>
              <a:rPr sz="2800" dirty="0">
                <a:latin typeface="Calibri"/>
                <a:cs typeface="Calibri"/>
              </a:rPr>
              <a:t>regarded</a:t>
            </a:r>
            <a:r>
              <a:rPr sz="2800" spc="4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4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</a:t>
            </a:r>
            <a:r>
              <a:rPr sz="2800" spc="4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4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4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most</a:t>
            </a:r>
            <a:r>
              <a:rPr sz="2800" spc="48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comprehensive</a:t>
            </a:r>
            <a:r>
              <a:rPr sz="2800" spc="4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textbooks</a:t>
            </a:r>
            <a:r>
              <a:rPr sz="2800" spc="4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4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ancient 	surgery.</a:t>
            </a:r>
            <a:endParaRPr sz="2800">
              <a:latin typeface="Calibri"/>
              <a:cs typeface="Calibri"/>
            </a:endParaRPr>
          </a:p>
          <a:p>
            <a:pPr marL="240029" marR="5080" indent="-227965" algn="just">
              <a:lnSpc>
                <a:spcPts val="302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2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text</a:t>
            </a:r>
            <a:r>
              <a:rPr sz="2800" spc="2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discusses</a:t>
            </a:r>
            <a:r>
              <a:rPr sz="2800" spc="2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various</a:t>
            </a:r>
            <a:r>
              <a:rPr sz="2800" spc="2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illnesses,</a:t>
            </a:r>
            <a:r>
              <a:rPr sz="2800" spc="2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plants,</a:t>
            </a:r>
            <a:r>
              <a:rPr sz="2800" spc="2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preparations,</a:t>
            </a:r>
            <a:r>
              <a:rPr sz="2800" spc="2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2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cures, 	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well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complex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plastic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surgery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techniques.</a:t>
            </a:r>
            <a:endParaRPr sz="2800">
              <a:latin typeface="Calibri"/>
              <a:cs typeface="Calibri"/>
            </a:endParaRPr>
          </a:p>
          <a:p>
            <a:pPr marL="240029" marR="5715" indent="-227965" algn="just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most</a:t>
            </a:r>
            <a:r>
              <a:rPr sz="2800" spc="1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well-</a:t>
            </a:r>
            <a:r>
              <a:rPr sz="2800" dirty="0">
                <a:latin typeface="Calibri"/>
                <a:cs typeface="Calibri"/>
              </a:rPr>
              <a:t>known</a:t>
            </a:r>
            <a:r>
              <a:rPr sz="2800" spc="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contribution</a:t>
            </a:r>
            <a:r>
              <a:rPr sz="2800" spc="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Sushruta</a:t>
            </a:r>
            <a:r>
              <a:rPr sz="2800" spc="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Samhita</a:t>
            </a:r>
            <a:r>
              <a:rPr sz="2800" spc="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plastic 	</a:t>
            </a:r>
            <a:r>
              <a:rPr sz="2800" dirty="0">
                <a:latin typeface="Calibri"/>
                <a:cs typeface="Calibri"/>
              </a:rPr>
              <a:t>surgery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nose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reconstruction,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also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known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rhinoplasty.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8228"/>
            <a:ext cx="10081260" cy="13004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dirty="0"/>
              <a:t>Significant</a:t>
            </a:r>
            <a:r>
              <a:rPr spc="-120" dirty="0"/>
              <a:t> </a:t>
            </a:r>
            <a:r>
              <a:rPr dirty="0"/>
              <a:t>Science</a:t>
            </a:r>
            <a:r>
              <a:rPr spc="-105" dirty="0"/>
              <a:t> </a:t>
            </a:r>
            <a:r>
              <a:rPr dirty="0"/>
              <a:t>and</a:t>
            </a:r>
            <a:r>
              <a:rPr spc="-114" dirty="0"/>
              <a:t> </a:t>
            </a:r>
            <a:r>
              <a:rPr spc="-35" dirty="0"/>
              <a:t>Technology</a:t>
            </a:r>
            <a:r>
              <a:rPr spc="-95" dirty="0"/>
              <a:t> </a:t>
            </a:r>
            <a:r>
              <a:rPr spc="-10" dirty="0"/>
              <a:t>Discovery </a:t>
            </a:r>
            <a:r>
              <a:rPr dirty="0"/>
              <a:t>in</a:t>
            </a:r>
            <a:r>
              <a:rPr spc="-45" dirty="0"/>
              <a:t> </a:t>
            </a:r>
            <a:r>
              <a:rPr dirty="0"/>
              <a:t>Ancient</a:t>
            </a:r>
            <a:r>
              <a:rPr spc="-40" dirty="0"/>
              <a:t> </a:t>
            </a:r>
            <a:r>
              <a:rPr spc="-10" dirty="0"/>
              <a:t>India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571840"/>
            <a:ext cx="10361295" cy="3992879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b="1" spc="-10" dirty="0">
                <a:latin typeface="Calibri"/>
                <a:cs typeface="Calibri"/>
              </a:rPr>
              <a:t>Ayurveda</a:t>
            </a:r>
            <a:endParaRPr sz="2800">
              <a:latin typeface="Calibri"/>
              <a:cs typeface="Calibri"/>
            </a:endParaRPr>
          </a:p>
          <a:p>
            <a:pPr marL="240029" marR="9525" indent="-227965" algn="just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Long</a:t>
            </a:r>
            <a:r>
              <a:rPr sz="2800" spc="18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before</a:t>
            </a:r>
            <a:r>
              <a:rPr sz="2800" spc="17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Hippocrates,</a:t>
            </a:r>
            <a:r>
              <a:rPr sz="2800" spc="17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Charaka</a:t>
            </a:r>
            <a:r>
              <a:rPr sz="2800" spc="18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wrote</a:t>
            </a:r>
            <a:r>
              <a:rPr sz="2800" spc="18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8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Charakasamhita,</a:t>
            </a:r>
            <a:r>
              <a:rPr sz="2800" spc="180" dirty="0">
                <a:latin typeface="Calibri"/>
                <a:cs typeface="Calibri"/>
              </a:rPr>
              <a:t>  </a:t>
            </a:r>
            <a:r>
              <a:rPr sz="2800" spc="-50" dirty="0">
                <a:latin typeface="Calibri"/>
                <a:cs typeface="Calibri"/>
              </a:rPr>
              <a:t>a 	</a:t>
            </a:r>
            <a:r>
              <a:rPr sz="2800" spc="-10" dirty="0">
                <a:latin typeface="Calibri"/>
                <a:cs typeface="Calibri"/>
              </a:rPr>
              <a:t>foundational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text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ancient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science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Ayurveda.</a:t>
            </a:r>
            <a:endParaRPr sz="2800">
              <a:latin typeface="Calibri"/>
              <a:cs typeface="Calibri"/>
            </a:endParaRPr>
          </a:p>
          <a:p>
            <a:pPr marL="239395" marR="8890" indent="-227329" algn="just">
              <a:lnSpc>
                <a:spcPct val="90000"/>
              </a:lnSpc>
              <a:spcBef>
                <a:spcPts val="95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Charaka,</a:t>
            </a:r>
            <a:r>
              <a:rPr sz="2800" spc="9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known</a:t>
            </a:r>
            <a:r>
              <a:rPr sz="2800" spc="9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10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8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Father</a:t>
            </a:r>
            <a:r>
              <a:rPr sz="2800" spc="9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9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Indian</a:t>
            </a:r>
            <a:r>
              <a:rPr sz="2800" spc="10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Medicine,</a:t>
            </a:r>
            <a:r>
              <a:rPr sz="2800" spc="7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was</a:t>
            </a:r>
            <a:r>
              <a:rPr sz="2800" spc="10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90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first 	</a:t>
            </a:r>
            <a:r>
              <a:rPr sz="2800" dirty="0">
                <a:latin typeface="Calibri"/>
                <a:cs typeface="Calibri"/>
              </a:rPr>
              <a:t>physician</a:t>
            </a:r>
            <a:r>
              <a:rPr sz="2800" spc="4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4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introduce</a:t>
            </a:r>
            <a:r>
              <a:rPr sz="2800" spc="5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4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concepts</a:t>
            </a:r>
            <a:r>
              <a:rPr sz="2800" spc="5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5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digestion,</a:t>
            </a:r>
            <a:r>
              <a:rPr sz="2800" spc="48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metabolism,</a:t>
            </a:r>
            <a:r>
              <a:rPr sz="2800" spc="4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 	</a:t>
            </a:r>
            <a:r>
              <a:rPr sz="2800" dirty="0">
                <a:latin typeface="Calibri"/>
                <a:cs typeface="Calibri"/>
              </a:rPr>
              <a:t>immunity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his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book.</a:t>
            </a:r>
            <a:endParaRPr sz="2800">
              <a:latin typeface="Calibri"/>
              <a:cs typeface="Calibri"/>
            </a:endParaRPr>
          </a:p>
          <a:p>
            <a:pPr marL="240029" marR="5080" indent="-227965" algn="just">
              <a:lnSpc>
                <a:spcPts val="303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For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two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millennia,</a:t>
            </a:r>
            <a:r>
              <a:rPr sz="2800" spc="1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Charaka's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ancient</a:t>
            </a:r>
            <a:r>
              <a:rPr sz="2800" spc="1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manual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preventive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medicine 	</a:t>
            </a:r>
            <a:r>
              <a:rPr sz="2800" dirty="0">
                <a:latin typeface="Calibri"/>
                <a:cs typeface="Calibri"/>
              </a:rPr>
              <a:t>remained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standard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work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subject,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was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translated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into 	</a:t>
            </a:r>
            <a:r>
              <a:rPr sz="2800" dirty="0">
                <a:latin typeface="Calibri"/>
                <a:cs typeface="Calibri"/>
              </a:rPr>
              <a:t>many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foreign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languages,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including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Arabic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Latin.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Irrigation</a:t>
            </a:r>
            <a:r>
              <a:rPr spc="-150" dirty="0"/>
              <a:t> </a:t>
            </a:r>
            <a:r>
              <a:rPr dirty="0"/>
              <a:t>and</a:t>
            </a:r>
            <a:r>
              <a:rPr spc="-150" dirty="0"/>
              <a:t> </a:t>
            </a:r>
            <a:r>
              <a:rPr spc="-10" dirty="0"/>
              <a:t>Water</a:t>
            </a:r>
            <a:r>
              <a:rPr spc="-135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58188"/>
            <a:ext cx="10360660" cy="480568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39395" marR="5080" indent="-227329" algn="just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earliest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mentions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irrigation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found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Rigveda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chapters.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dirty="0">
                <a:latin typeface="Calibri"/>
                <a:cs typeface="Calibri"/>
              </a:rPr>
              <a:t>Veda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mentions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well-</a:t>
            </a:r>
            <a:r>
              <a:rPr sz="2800" dirty="0">
                <a:latin typeface="Calibri"/>
                <a:cs typeface="Calibri"/>
              </a:rPr>
              <a:t>style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irrigation,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where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Kupa</a:t>
            </a:r>
            <a:r>
              <a:rPr sz="2800" i="1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avata</a:t>
            </a:r>
            <a:r>
              <a:rPr sz="2800" i="1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wells</a:t>
            </a:r>
            <a:r>
              <a:rPr sz="2800" spc="-20" dirty="0">
                <a:latin typeface="Calibri"/>
                <a:cs typeface="Calibri"/>
              </a:rPr>
              <a:t> once 	</a:t>
            </a:r>
            <a:r>
              <a:rPr sz="2800" dirty="0">
                <a:latin typeface="Calibri"/>
                <a:cs typeface="Calibri"/>
              </a:rPr>
              <a:t>dug</a:t>
            </a:r>
            <a:r>
              <a:rPr sz="2800" spc="2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2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stated</a:t>
            </a:r>
            <a:r>
              <a:rPr sz="2800" spc="2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2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2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always</a:t>
            </a:r>
            <a:r>
              <a:rPr sz="2800" spc="2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full</a:t>
            </a:r>
            <a:r>
              <a:rPr sz="2800" spc="2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2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water,</a:t>
            </a:r>
            <a:r>
              <a:rPr sz="2800" spc="2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2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27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varatra</a:t>
            </a:r>
            <a:r>
              <a:rPr sz="2800" i="1" spc="2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(rope 	</a:t>
            </a:r>
            <a:r>
              <a:rPr sz="2800" dirty="0">
                <a:latin typeface="Calibri"/>
                <a:cs typeface="Calibri"/>
              </a:rPr>
              <a:t>strap)</a:t>
            </a:r>
            <a:r>
              <a:rPr sz="2800" spc="45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459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cakra</a:t>
            </a:r>
            <a:r>
              <a:rPr sz="2800" i="1" spc="4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(wheel)</a:t>
            </a:r>
            <a:r>
              <a:rPr sz="2800" spc="45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pull</a:t>
            </a:r>
            <a:r>
              <a:rPr sz="2800" spc="459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kosa</a:t>
            </a:r>
            <a:r>
              <a:rPr sz="2800" dirty="0">
                <a:latin typeface="Calibri"/>
                <a:cs typeface="Calibri"/>
              </a:rPr>
              <a:t>(pails)</a:t>
            </a:r>
            <a:r>
              <a:rPr sz="2800" spc="4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45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water.</a:t>
            </a:r>
            <a:r>
              <a:rPr sz="2800" spc="4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4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water</a:t>
            </a:r>
            <a:r>
              <a:rPr sz="2800" spc="4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was, 	</a:t>
            </a:r>
            <a:r>
              <a:rPr sz="2800" dirty="0">
                <a:latin typeface="Calibri"/>
                <a:cs typeface="Calibri"/>
              </a:rPr>
              <a:t>state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Vedas,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led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into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surmi</a:t>
            </a:r>
            <a:r>
              <a:rPr sz="2800" i="1" spc="1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susira</a:t>
            </a:r>
            <a:r>
              <a:rPr sz="2800" dirty="0">
                <a:latin typeface="Calibri"/>
                <a:cs typeface="Calibri"/>
              </a:rPr>
              <a:t>(broad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channels)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there 	</a:t>
            </a:r>
            <a:r>
              <a:rPr sz="2800" dirty="0">
                <a:latin typeface="Calibri"/>
                <a:cs typeface="Calibri"/>
              </a:rPr>
              <a:t>into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khanitrima</a:t>
            </a:r>
            <a:r>
              <a:rPr sz="2800" i="1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(diverting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channels)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fields.</a:t>
            </a:r>
            <a:endParaRPr sz="2800">
              <a:latin typeface="Calibri"/>
              <a:cs typeface="Calibri"/>
            </a:endParaRPr>
          </a:p>
          <a:p>
            <a:pPr marL="240029" marR="6985" indent="-227965" algn="just">
              <a:lnSpc>
                <a:spcPct val="900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Later,</a:t>
            </a:r>
            <a:r>
              <a:rPr sz="2800" spc="43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4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4th-</a:t>
            </a:r>
            <a:r>
              <a:rPr sz="2800" dirty="0">
                <a:latin typeface="Calibri"/>
                <a:cs typeface="Calibri"/>
              </a:rPr>
              <a:t>century</a:t>
            </a:r>
            <a:r>
              <a:rPr sz="2800" spc="45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BCE</a:t>
            </a:r>
            <a:r>
              <a:rPr sz="2800" spc="4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Indian</a:t>
            </a:r>
            <a:r>
              <a:rPr sz="2800" spc="4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scholar</a:t>
            </a:r>
            <a:r>
              <a:rPr sz="2800" spc="4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Pāṇini,</a:t>
            </a:r>
            <a:r>
              <a:rPr sz="2800" spc="4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mentions</a:t>
            </a:r>
            <a:r>
              <a:rPr sz="2800" spc="4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tapping 	</a:t>
            </a:r>
            <a:r>
              <a:rPr sz="2800" dirty="0">
                <a:latin typeface="Calibri"/>
                <a:cs typeface="Calibri"/>
              </a:rPr>
              <a:t>several</a:t>
            </a:r>
            <a:r>
              <a:rPr sz="2800" spc="6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rivers</a:t>
            </a:r>
            <a:r>
              <a:rPr sz="2800" spc="6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6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irrigation.</a:t>
            </a:r>
            <a:r>
              <a:rPr sz="2800" spc="6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6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mentioned</a:t>
            </a:r>
            <a:r>
              <a:rPr sz="2800" spc="6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rivers</a:t>
            </a:r>
            <a:r>
              <a:rPr sz="2800" spc="6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include</a:t>
            </a:r>
            <a:r>
              <a:rPr sz="2800" spc="6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Sindhu, 	</a:t>
            </a:r>
            <a:r>
              <a:rPr sz="2800" dirty="0">
                <a:latin typeface="Calibri"/>
                <a:cs typeface="Calibri"/>
              </a:rPr>
              <a:t>Suvastu,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Varnu,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Sarayu,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Vipas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Chandrabhaga.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Buddhist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texts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from 	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3rd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century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BCE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also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mention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irrigation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crops.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Texts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dirty="0">
                <a:latin typeface="Calibri"/>
                <a:cs typeface="Calibri"/>
              </a:rPr>
              <a:t>Maurya</a:t>
            </a:r>
            <a:r>
              <a:rPr sz="2800" spc="2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Empire</a:t>
            </a:r>
            <a:r>
              <a:rPr sz="2800" spc="2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era</a:t>
            </a:r>
            <a:r>
              <a:rPr sz="2800" spc="2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(3rd</a:t>
            </a:r>
            <a:r>
              <a:rPr sz="2800" spc="2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century</a:t>
            </a:r>
            <a:r>
              <a:rPr sz="2800" spc="2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BCE)</a:t>
            </a:r>
            <a:r>
              <a:rPr sz="2800" spc="2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mention</a:t>
            </a:r>
            <a:r>
              <a:rPr sz="2800" spc="3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2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state</a:t>
            </a:r>
            <a:r>
              <a:rPr sz="2800" spc="2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raised 	</a:t>
            </a:r>
            <a:r>
              <a:rPr sz="2800" dirty="0">
                <a:latin typeface="Calibri"/>
                <a:cs typeface="Calibri"/>
              </a:rPr>
              <a:t>revenue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charging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farmers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irrigation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services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rivers.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Irrigation</a:t>
            </a:r>
            <a:r>
              <a:rPr spc="-150" dirty="0"/>
              <a:t> </a:t>
            </a:r>
            <a:r>
              <a:rPr dirty="0"/>
              <a:t>and</a:t>
            </a:r>
            <a:r>
              <a:rPr spc="-150" dirty="0"/>
              <a:t> </a:t>
            </a:r>
            <a:r>
              <a:rPr spc="-10" dirty="0"/>
              <a:t>Water</a:t>
            </a:r>
            <a:r>
              <a:rPr spc="-135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58188"/>
            <a:ext cx="10359390" cy="211709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39395" marR="5080" indent="-227329" algn="just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Patanjali,</a:t>
            </a:r>
            <a:r>
              <a:rPr sz="2800" spc="15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1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Yogasutra</a:t>
            </a:r>
            <a:r>
              <a:rPr sz="2800" spc="1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15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about</a:t>
            </a:r>
            <a:r>
              <a:rPr sz="2800" spc="1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5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4th</a:t>
            </a:r>
            <a:r>
              <a:rPr sz="2800" spc="15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century</a:t>
            </a:r>
            <a:r>
              <a:rPr sz="2800" spc="15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CE,</a:t>
            </a:r>
            <a:r>
              <a:rPr sz="2800" spc="1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explains</a:t>
            </a:r>
            <a:r>
              <a:rPr sz="2800" spc="160" dirty="0">
                <a:latin typeface="Calibri"/>
                <a:cs typeface="Calibri"/>
              </a:rPr>
              <a:t>  </a:t>
            </a:r>
            <a:r>
              <a:rPr sz="2800" spc="-50" dirty="0">
                <a:latin typeface="Calibri"/>
                <a:cs typeface="Calibri"/>
              </a:rPr>
              <a:t>a 	</a:t>
            </a:r>
            <a:r>
              <a:rPr sz="2800" dirty="0">
                <a:latin typeface="Calibri"/>
                <a:cs typeface="Calibri"/>
              </a:rPr>
              <a:t>technique</a:t>
            </a:r>
            <a:r>
              <a:rPr sz="2800" spc="48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4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yoga</a:t>
            </a:r>
            <a:r>
              <a:rPr sz="2800" spc="4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4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comparing</a:t>
            </a:r>
            <a:r>
              <a:rPr sz="2800" spc="4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4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4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“the</a:t>
            </a:r>
            <a:r>
              <a:rPr sz="2800" spc="4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way</a:t>
            </a:r>
            <a:r>
              <a:rPr sz="2800" spc="4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4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farmer</a:t>
            </a:r>
            <a:r>
              <a:rPr sz="2800" spc="4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diverts</a:t>
            </a:r>
            <a:r>
              <a:rPr sz="2800" spc="48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	</a:t>
            </a:r>
            <a:r>
              <a:rPr sz="2800" dirty="0">
                <a:latin typeface="Calibri"/>
                <a:cs typeface="Calibri"/>
              </a:rPr>
              <a:t>stream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irrigation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canal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irrigation”.</a:t>
            </a:r>
            <a:endParaRPr sz="2800">
              <a:latin typeface="Calibri"/>
              <a:cs typeface="Calibri"/>
            </a:endParaRPr>
          </a:p>
          <a:p>
            <a:pPr marL="240029" marR="6350" indent="-227965" algn="just">
              <a:lnSpc>
                <a:spcPts val="3020"/>
              </a:lnSpc>
              <a:spcBef>
                <a:spcPts val="105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In</a:t>
            </a:r>
            <a:r>
              <a:rPr sz="2800" spc="3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Tamil</a:t>
            </a:r>
            <a:r>
              <a:rPr sz="2800" spc="3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Nadu,</a:t>
            </a:r>
            <a:r>
              <a:rPr sz="2800" spc="3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3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Grand</a:t>
            </a:r>
            <a:r>
              <a:rPr sz="2800" spc="3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Anicut</a:t>
            </a:r>
            <a:r>
              <a:rPr sz="2800" spc="3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(canal)</a:t>
            </a:r>
            <a:r>
              <a:rPr sz="2800" spc="3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across</a:t>
            </a:r>
            <a:r>
              <a:rPr sz="2800" spc="3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3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Kaveri</a:t>
            </a:r>
            <a:r>
              <a:rPr sz="2800" spc="3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river</a:t>
            </a:r>
            <a:r>
              <a:rPr sz="2800" spc="3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was 	</a:t>
            </a:r>
            <a:r>
              <a:rPr sz="2800" dirty="0">
                <a:latin typeface="Calibri"/>
                <a:cs typeface="Calibri"/>
              </a:rPr>
              <a:t>implemented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1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3rd</a:t>
            </a:r>
            <a:r>
              <a:rPr sz="2800" spc="1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century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CE,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basic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design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still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used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5844" y="3707384"/>
            <a:ext cx="90614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45" dirty="0">
                <a:latin typeface="Calibri"/>
                <a:cs typeface="Calibri"/>
              </a:rPr>
              <a:t>today.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5B2AB1-BF36-076B-F6C0-BFA8ECEFD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228600"/>
            <a:ext cx="11506200" cy="6924973"/>
          </a:xfrm>
        </p:spPr>
        <p:txBody>
          <a:bodyPr/>
          <a:lstStyle/>
          <a:p>
            <a:pPr>
              <a:buNone/>
            </a:pPr>
            <a:r>
              <a:rPr lang="en-IN" sz="2500" b="1" dirty="0"/>
              <a:t>Dyes and Painting Technology</a:t>
            </a:r>
          </a:p>
          <a:p>
            <a:pPr>
              <a:buNone/>
            </a:pPr>
            <a:endParaRPr lang="en-IN" sz="2500" b="1" dirty="0"/>
          </a:p>
          <a:p>
            <a:pPr>
              <a:buNone/>
            </a:pPr>
            <a:r>
              <a:rPr lang="en-IN" sz="2500" b="1" dirty="0">
                <a:solidFill>
                  <a:srgbClr val="FF0000"/>
                </a:solidFill>
              </a:rPr>
              <a:t>Natural Dyes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500" b="1" dirty="0"/>
              <a:t>Sources</a:t>
            </a:r>
            <a:r>
              <a:rPr lang="en-IN" sz="2500" dirty="0"/>
              <a:t>: Derived from plants (indigo from </a:t>
            </a:r>
            <a:r>
              <a:rPr lang="en-IN" sz="2500" i="1" dirty="0"/>
              <a:t>Indigofera tinctoria</a:t>
            </a:r>
            <a:r>
              <a:rPr lang="en-IN" sz="2500" dirty="0"/>
              <a:t>, turmeric from </a:t>
            </a:r>
            <a:r>
              <a:rPr lang="en-IN" sz="2500" i="1" dirty="0"/>
              <a:t>Curcuma longa</a:t>
            </a:r>
            <a:r>
              <a:rPr lang="en-IN" sz="2500" dirty="0"/>
              <a:t>, henna from </a:t>
            </a:r>
            <a:r>
              <a:rPr lang="en-IN" sz="2500" i="1" dirty="0" err="1"/>
              <a:t>Lawsonia</a:t>
            </a:r>
            <a:r>
              <a:rPr lang="en-IN" sz="2500" i="1" dirty="0"/>
              <a:t> inermis</a:t>
            </a:r>
            <a:r>
              <a:rPr lang="en-IN" sz="2500" dirty="0"/>
              <a:t>), minerals, and insects (lac dye from lac insects).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500" b="1" dirty="0"/>
              <a:t>Application</a:t>
            </a:r>
            <a:r>
              <a:rPr lang="en-IN" sz="2500" dirty="0"/>
              <a:t>: Used in textiles (e.g., cotton, silk), wall paintings, manuscripts, and body art.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500" b="1" dirty="0"/>
              <a:t>Technique</a:t>
            </a:r>
            <a:r>
              <a:rPr lang="en-IN" sz="2500" dirty="0"/>
              <a:t>: Mordanting process to fix dyes on fabric using natural fixatives like alum, iron, or tannins.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500" dirty="0"/>
          </a:p>
          <a:p>
            <a:pPr>
              <a:buNone/>
            </a:pPr>
            <a:r>
              <a:rPr lang="en-IN" sz="2500" b="1" dirty="0">
                <a:solidFill>
                  <a:srgbClr val="FF0000"/>
                </a:solidFill>
              </a:rPr>
              <a:t>Painting Styles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500" b="1" dirty="0"/>
              <a:t>Ajanta &amp; Ellora (2nd BCE - 6th CE)</a:t>
            </a:r>
            <a:r>
              <a:rPr lang="en-IN" sz="2500" dirty="0"/>
              <a:t>: Fresco paintings using natural dyes and pigments; demonstrate advanced knowledge of </a:t>
            </a:r>
            <a:r>
              <a:rPr lang="en-IN" sz="2500" dirty="0" err="1"/>
              <a:t>color</a:t>
            </a:r>
            <a:r>
              <a:rPr lang="en-IN" sz="2500" dirty="0"/>
              <a:t> mixing, perspective, and human anatomy.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500" b="1" dirty="0"/>
              <a:t>Miniature Paintings</a:t>
            </a:r>
            <a:r>
              <a:rPr lang="en-IN" sz="2500" dirty="0"/>
              <a:t>: Schools like Mughal, Rajput, and Pahari used organic pigments and gold leaf for intricate artworks.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500" b="1" dirty="0"/>
              <a:t>Madhubani, Warli, and Kalamkari</a:t>
            </a:r>
            <a:r>
              <a:rPr lang="en-IN" sz="2500" dirty="0"/>
              <a:t>: Traditional folk painting styles with symbolic use of natural </a:t>
            </a:r>
            <a:r>
              <a:rPr lang="en-IN" sz="2500" dirty="0" err="1"/>
              <a:t>colors</a:t>
            </a:r>
            <a:r>
              <a:rPr lang="en-IN" sz="2500" dirty="0"/>
              <a:t> and eco-friendly techniques.</a:t>
            </a:r>
          </a:p>
          <a:p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379545724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DF41DE-998C-EE4B-ACFE-AE105D1FC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1" y="381001"/>
            <a:ext cx="10818494" cy="6432530"/>
          </a:xfrm>
        </p:spPr>
        <p:txBody>
          <a:bodyPr/>
          <a:lstStyle/>
          <a:p>
            <a:pPr>
              <a:buNone/>
            </a:pPr>
            <a:r>
              <a:rPr lang="en-IN" b="1" dirty="0"/>
              <a:t>Surgical Techniques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Sushruta Samhita (circa 600 BCE)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Author</a:t>
            </a:r>
            <a:r>
              <a:rPr lang="en-IN" dirty="0"/>
              <a:t>: Sushruta, the "Father of Surgery".</a:t>
            </a:r>
          </a:p>
          <a:p>
            <a:endParaRPr lang="en-IN" b="1" dirty="0"/>
          </a:p>
          <a:p>
            <a:r>
              <a:rPr lang="en-IN" b="1" dirty="0"/>
              <a:t>Procedures Described</a:t>
            </a:r>
            <a:r>
              <a:rPr lang="en-IN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Over 300 surgical procedures and 120 surgical instruments.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Plastic surgery techniques, including </a:t>
            </a:r>
            <a:r>
              <a:rPr lang="en-IN" b="1" dirty="0"/>
              <a:t>rhinoplasty</a:t>
            </a:r>
            <a:r>
              <a:rPr lang="en-IN" dirty="0"/>
              <a:t> (nose reconstruction).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C-sections, cataract surgery, extraction of stones, suturing.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 err="1"/>
              <a:t>Anesthesia</a:t>
            </a:r>
            <a:r>
              <a:rPr lang="en-IN" b="1" dirty="0"/>
              <a:t> and Hygiene</a:t>
            </a:r>
            <a:r>
              <a:rPr lang="en-IN" dirty="0"/>
              <a:t>: Use of herbal </a:t>
            </a:r>
            <a:r>
              <a:rPr lang="en-IN" dirty="0" err="1"/>
              <a:t>anesthetics</a:t>
            </a:r>
            <a:r>
              <a:rPr lang="en-IN" dirty="0"/>
              <a:t> and emphasis on hygiene and sterilization.</a:t>
            </a:r>
          </a:p>
          <a:p>
            <a:pPr>
              <a:buNone/>
            </a:pPr>
            <a:r>
              <a:rPr lang="en-IN" b="1" dirty="0"/>
              <a:t>Ayurvedic Surgery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Surgery integrated with Ayurveda principles (balance of doshas, healing herbs).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 of metal tools (</a:t>
            </a:r>
            <a:r>
              <a:rPr lang="en-IN" dirty="0" err="1"/>
              <a:t>kshara</a:t>
            </a:r>
            <a:r>
              <a:rPr lang="en-IN" dirty="0"/>
              <a:t> sutra for treating fistula) and cauterization.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26880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8ACA15-4285-355E-ECE2-E444C36F6F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1" y="457201"/>
            <a:ext cx="10742294" cy="6463308"/>
          </a:xfrm>
        </p:spPr>
        <p:txBody>
          <a:bodyPr/>
          <a:lstStyle/>
          <a:p>
            <a:pPr>
              <a:buNone/>
            </a:pPr>
            <a:r>
              <a:rPr lang="en-US" b="1" dirty="0"/>
              <a:t>Shipbuilding in Ancient India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Historical Evidence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Indus Valley Civilization</a:t>
            </a:r>
            <a:r>
              <a:rPr lang="en-US" dirty="0"/>
              <a:t>: Dockyards at Lothal (Gujarat) indicate maritime activity and ship construction.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Literature References</a:t>
            </a:r>
            <a:r>
              <a:rPr lang="en-US" dirty="0"/>
              <a:t>: Rigveda, Jataka tales, and </a:t>
            </a:r>
            <a:r>
              <a:rPr lang="en-US" dirty="0" err="1"/>
              <a:t>Arthashastra</a:t>
            </a:r>
            <a:r>
              <a:rPr lang="en-US" dirty="0"/>
              <a:t> mention boats and oceanic voyages.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Technological Advances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Design</a:t>
            </a:r>
            <a:r>
              <a:rPr lang="en-US" dirty="0"/>
              <a:t>: Wooden ships with multiple masts, sails, and compartments.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Navigation</a:t>
            </a:r>
            <a:r>
              <a:rPr lang="en-US" dirty="0"/>
              <a:t>: Knowledge of monsoon winds, celestial navigation (nakshatras), and use of magnetic compasses in later periods.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Trade &amp; Influence</a:t>
            </a:r>
            <a:r>
              <a:rPr lang="en-US" dirty="0"/>
              <a:t>: Indian ships sailed to Southeast Asia, Africa, and Arabia—spreading culture and establishing trade routes.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5975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C8B338-87FE-44DB-EB52-FF0437A3D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304800"/>
            <a:ext cx="3505200" cy="861774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Comparison</a:t>
            </a:r>
          </a:p>
          <a:p>
            <a:endParaRPr lang="en-IN" b="1" dirty="0">
              <a:solidFill>
                <a:srgbClr val="00206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F10C49-9D6D-5A54-68C3-EA22293ACB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000" t="19986" r="11875" b="26655"/>
          <a:stretch/>
        </p:blipFill>
        <p:spPr>
          <a:xfrm>
            <a:off x="800100" y="1066800"/>
            <a:ext cx="10591800" cy="5309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6866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44FFAF-164E-3E5A-6BFC-C0A0E17B50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375" t="16675" r="10625" b="27742"/>
          <a:stretch/>
        </p:blipFill>
        <p:spPr>
          <a:xfrm>
            <a:off x="457200" y="457199"/>
            <a:ext cx="10896600" cy="567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8425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AA5928-F16F-95F1-676B-1536D8F723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250" t="21096" r="11875" b="27768"/>
          <a:stretch/>
        </p:blipFill>
        <p:spPr>
          <a:xfrm>
            <a:off x="685800" y="609599"/>
            <a:ext cx="10820400" cy="546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338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Words>4973</Words>
  <Application>Microsoft Office PowerPoint</Application>
  <PresentationFormat>Widescreen</PresentationFormat>
  <Paragraphs>248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2" baseType="lpstr">
      <vt:lpstr>Arial</vt:lpstr>
      <vt:lpstr>Arial MT</vt:lpstr>
      <vt:lpstr>Calibri</vt:lpstr>
      <vt:lpstr>Calibri Light</vt:lpstr>
      <vt:lpstr>Cambria</vt:lpstr>
      <vt:lpstr>Nirmala UI</vt:lpstr>
      <vt:lpstr>Symbol</vt:lpstr>
      <vt:lpstr>Times New Roman</vt:lpstr>
      <vt:lpstr>Wingdings</vt:lpstr>
      <vt:lpstr>Office Theme</vt:lpstr>
      <vt:lpstr>Indian Knowledge System Engineering and Technology in IKS UNIT 4</vt:lpstr>
      <vt:lpstr>Engineering and Technology</vt:lpstr>
      <vt:lpstr>The Indian S &amp; T Heritage</vt:lpstr>
      <vt:lpstr>The Indian S &amp; T Heritage</vt:lpstr>
      <vt:lpstr>The Indian S &amp; T Heritage</vt:lpstr>
      <vt:lpstr>The Indian S &amp; T Heritage</vt:lpstr>
      <vt:lpstr>The Indian S &amp; T Heritage</vt:lpstr>
      <vt:lpstr>Metals and Metalworking Technology</vt:lpstr>
      <vt:lpstr>Metals and Metalworking Technology</vt:lpstr>
      <vt:lpstr>Metals: Brass</vt:lpstr>
      <vt:lpstr>Metals: Copper</vt:lpstr>
      <vt:lpstr>Metals: Gold and silver</vt:lpstr>
      <vt:lpstr>Metals: Zinc</vt:lpstr>
      <vt:lpstr>Metals: Iron</vt:lpstr>
      <vt:lpstr>Wootz and steel</vt:lpstr>
      <vt:lpstr>Wootz and steel</vt:lpstr>
      <vt:lpstr>Manufacture of Steel</vt:lpstr>
      <vt:lpstr>Lost wax casting of Idols and Artefacts</vt:lpstr>
      <vt:lpstr>Lost wax casting of Idols and Artefacts</vt:lpstr>
      <vt:lpstr>Apparatuses used for Extraction of Metallic Components</vt:lpstr>
      <vt:lpstr>PowerPoint Presentation</vt:lpstr>
      <vt:lpstr>PowerPoint Presentation</vt:lpstr>
      <vt:lpstr>PowerPoint Presentation</vt:lpstr>
      <vt:lpstr>Literary sources for Science and Technology</vt:lpstr>
      <vt:lpstr>Achievements in the science of ancient India</vt:lpstr>
      <vt:lpstr>Achievements in the Field of mathematics</vt:lpstr>
      <vt:lpstr>Achievements in the Field of mathematics</vt:lpstr>
      <vt:lpstr>Achievements in the Field of Astronomy</vt:lpstr>
      <vt:lpstr>Achievements in the field of Geometry</vt:lpstr>
      <vt:lpstr>Achievements in the Field of Medical Science</vt:lpstr>
      <vt:lpstr>Achievements in the Field of Engineering and Architecture</vt:lpstr>
      <vt:lpstr>Achievements in the Field of Metallurgy</vt:lpstr>
      <vt:lpstr>Technology in Ancient India</vt:lpstr>
      <vt:lpstr>Technology in Ancient India</vt:lpstr>
      <vt:lpstr>Technology in Ancient India</vt:lpstr>
      <vt:lpstr>PowerPoint Presentation</vt:lpstr>
      <vt:lpstr>Significant Science and Technology Discovery in Ancient India</vt:lpstr>
      <vt:lpstr>Significant Science and Technology Discovery in Ancient India</vt:lpstr>
      <vt:lpstr>Significant Science and Technology Discovery in Ancient India</vt:lpstr>
      <vt:lpstr>Significant Science and Technology Discovery in Ancient India</vt:lpstr>
      <vt:lpstr>Significant Science and Technology Discovery in Ancient India</vt:lpstr>
      <vt:lpstr>Significant Science and Technology Discovery in Ancient India</vt:lpstr>
      <vt:lpstr>Significant Science and Technology Discovery in Ancient India</vt:lpstr>
      <vt:lpstr>Significant Science and Technology Discovery in Ancient India</vt:lpstr>
      <vt:lpstr>Irrigation and Water Management</vt:lpstr>
      <vt:lpstr>Irrigation and Water Management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Indian Knowledge System- An Introduction</dc:title>
  <dc:creator>HIRDESH SHARMA</dc:creator>
  <cp:lastModifiedBy>Sireesha CSE</cp:lastModifiedBy>
  <cp:revision>15</cp:revision>
  <dcterms:created xsi:type="dcterms:W3CDTF">2025-04-15T04:27:36Z</dcterms:created>
  <dcterms:modified xsi:type="dcterms:W3CDTF">2025-05-07T06:28:46Z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2023-01-02T00:00:00Z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2025-04-15T00:00:00Z</vt:filetime>
  </property>
  <property fmtid="{D5CDD505-2E9C-101B-9397-08002B2CF9AE}" pid="5" name="Producer">
    <vt:lpwstr>macOS Version 14.5 (Build 23F79) Quartz PDFContext, AppendMode 1.1</vt:lpwstr>
  </property>
</Properties>
</file>