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60" r:id="rId5"/>
    <p:sldId id="285" r:id="rId6"/>
    <p:sldId id="261" r:id="rId7"/>
    <p:sldId id="286" r:id="rId8"/>
    <p:sldId id="263" r:id="rId9"/>
    <p:sldId id="264" r:id="rId10"/>
    <p:sldId id="265" r:id="rId11"/>
    <p:sldId id="266" r:id="rId12"/>
    <p:sldId id="287" r:id="rId13"/>
    <p:sldId id="288" r:id="rId14"/>
    <p:sldId id="289" r:id="rId15"/>
    <p:sldId id="267" r:id="rId16"/>
    <p:sldId id="290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7D6A8-7E9E-43E7-910F-640DA84E02A8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E3BC8-61E7-4A17-93C7-2B1BEE0AAF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38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E3BC8-61E7-4A17-93C7-2B1BEE0AAFE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8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0779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670" y="1793493"/>
            <a:ext cx="10360659" cy="403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594" y="1702130"/>
            <a:ext cx="5735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Indian</a:t>
            </a:r>
            <a:r>
              <a:rPr spc="-90" dirty="0"/>
              <a:t> </a:t>
            </a:r>
            <a:r>
              <a:rPr spc="-10" dirty="0"/>
              <a:t>Knowledge</a:t>
            </a:r>
            <a:r>
              <a:rPr spc="-7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8157" y="2335149"/>
            <a:ext cx="8156575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535"/>
              </a:lnSpc>
              <a:spcBef>
                <a:spcPts val="105"/>
              </a:spcBef>
            </a:pPr>
            <a:r>
              <a:rPr sz="3200" spc="-35" dirty="0">
                <a:latin typeface="Calibri Light"/>
                <a:cs typeface="Calibri Light"/>
              </a:rPr>
              <a:t>Foundational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Concepts</a:t>
            </a:r>
            <a:r>
              <a:rPr sz="3200" spc="-130" dirty="0">
                <a:latin typeface="Calibri Light"/>
                <a:cs typeface="Calibri Light"/>
              </a:rPr>
              <a:t> </a:t>
            </a:r>
            <a:r>
              <a:rPr sz="3200" spc="-10" dirty="0">
                <a:latin typeface="Calibri Light"/>
                <a:cs typeface="Calibri Light"/>
              </a:rPr>
              <a:t>for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Science</a:t>
            </a:r>
            <a:r>
              <a:rPr sz="3200" spc="-140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and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10" dirty="0">
                <a:latin typeface="Calibri Light"/>
                <a:cs typeface="Calibri Light"/>
              </a:rPr>
              <a:t>Technology</a:t>
            </a:r>
            <a:endParaRPr sz="3200" dirty="0">
              <a:latin typeface="Calibri Light"/>
              <a:cs typeface="Calibri Light"/>
            </a:endParaRPr>
          </a:p>
          <a:p>
            <a:pPr algn="ctr">
              <a:lnSpc>
                <a:spcPts val="4975"/>
              </a:lnSpc>
            </a:pPr>
            <a:r>
              <a:rPr lang="en-IN" sz="4400" dirty="0">
                <a:latin typeface="Calibri Light"/>
                <a:cs typeface="Calibri Light"/>
              </a:rPr>
              <a:t>UNIT</a:t>
            </a:r>
            <a:r>
              <a:rPr lang="en-IN" sz="4400" spc="-5" dirty="0">
                <a:latin typeface="Calibri Light"/>
                <a:cs typeface="Calibri Light"/>
              </a:rPr>
              <a:t> </a:t>
            </a:r>
            <a:r>
              <a:rPr sz="4400" spc="-60" dirty="0">
                <a:latin typeface="Calibri Light"/>
                <a:cs typeface="Calibri Light"/>
              </a:rPr>
              <a:t>2</a:t>
            </a:r>
            <a:endParaRPr sz="4400" dirty="0"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19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Linguistics</a:t>
            </a:r>
            <a:r>
              <a:rPr spc="-95" dirty="0"/>
              <a:t> </a:t>
            </a:r>
            <a:r>
              <a:rPr spc="-1410" dirty="0"/>
              <a:t>(</a:t>
            </a:r>
            <a:r>
              <a:rPr sz="3200" spc="-1410" dirty="0">
                <a:latin typeface="SimSun-ExtB"/>
                <a:cs typeface="SimSun-ExtB"/>
              </a:rPr>
              <a:t>भाषा</a:t>
            </a:r>
            <a:r>
              <a:rPr sz="3200" dirty="0">
                <a:latin typeface="SimSun-ExtB"/>
                <a:cs typeface="SimSun-ExtB"/>
              </a:rPr>
              <a:t> </a:t>
            </a:r>
            <a:r>
              <a:rPr sz="3200" spc="-1535" dirty="0">
                <a:latin typeface="SimSun-ExtB"/>
                <a:cs typeface="SimSun-ExtB"/>
              </a:rPr>
              <a:t>विज्ञान</a:t>
            </a:r>
            <a:r>
              <a:rPr spc="-1535" dirty="0"/>
              <a:t>)</a:t>
            </a:r>
            <a:endParaRPr sz="3200" dirty="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6703" y="1306906"/>
            <a:ext cx="10360659" cy="485248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8890" indent="-22796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Linguistics</a:t>
            </a:r>
            <a:r>
              <a:rPr spc="190" dirty="0"/>
              <a:t> </a:t>
            </a:r>
            <a:r>
              <a:rPr dirty="0"/>
              <a:t>is</a:t>
            </a:r>
            <a:r>
              <a:rPr spc="180" dirty="0"/>
              <a:t> </a:t>
            </a:r>
            <a:r>
              <a:rPr dirty="0"/>
              <a:t>a</a:t>
            </a:r>
            <a:r>
              <a:rPr spc="195" dirty="0"/>
              <a:t> </a:t>
            </a:r>
            <a:r>
              <a:rPr dirty="0"/>
              <a:t>branch</a:t>
            </a:r>
            <a:r>
              <a:rPr spc="170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dirty="0"/>
              <a:t>language</a:t>
            </a:r>
            <a:r>
              <a:rPr spc="180" dirty="0"/>
              <a:t> </a:t>
            </a:r>
            <a:r>
              <a:rPr dirty="0"/>
              <a:t>research</a:t>
            </a:r>
            <a:r>
              <a:rPr spc="180" dirty="0"/>
              <a:t> </a:t>
            </a:r>
            <a:r>
              <a:rPr dirty="0"/>
              <a:t>that</a:t>
            </a:r>
            <a:r>
              <a:rPr spc="185" dirty="0"/>
              <a:t> </a:t>
            </a:r>
            <a:r>
              <a:rPr dirty="0"/>
              <a:t>provides</a:t>
            </a:r>
            <a:r>
              <a:rPr spc="180" dirty="0"/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spc="-10" dirty="0"/>
              <a:t>scientific 	</a:t>
            </a:r>
            <a:r>
              <a:rPr dirty="0"/>
              <a:t>study</a:t>
            </a:r>
            <a:r>
              <a:rPr spc="-1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language.</a:t>
            </a:r>
          </a:p>
          <a:p>
            <a:pPr marL="240665" marR="5715" indent="-227965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  <a:tab pos="1760220" algn="l"/>
                <a:tab pos="2405380" algn="l"/>
                <a:tab pos="3281679" algn="l"/>
                <a:tab pos="3910965" algn="l"/>
                <a:tab pos="4787900" algn="l"/>
                <a:tab pos="6174740" algn="l"/>
                <a:tab pos="6892925" algn="l"/>
                <a:tab pos="7451725" algn="l"/>
                <a:tab pos="8098155" algn="l"/>
              </a:tabLst>
            </a:pPr>
            <a:r>
              <a:rPr spc="-10" dirty="0"/>
              <a:t>Language</a:t>
            </a:r>
            <a:r>
              <a:rPr dirty="0"/>
              <a:t>	</a:t>
            </a:r>
            <a:r>
              <a:rPr spc="-25" dirty="0"/>
              <a:t>has</a:t>
            </a:r>
            <a:r>
              <a:rPr dirty="0"/>
              <a:t>	</a:t>
            </a:r>
            <a:r>
              <a:rPr spc="-20" dirty="0"/>
              <a:t>been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most</a:t>
            </a:r>
            <a:r>
              <a:rPr dirty="0"/>
              <a:t>	</a:t>
            </a:r>
            <a:r>
              <a:rPr spc="-10" dirty="0"/>
              <a:t>effective</a:t>
            </a:r>
            <a:r>
              <a:rPr dirty="0"/>
              <a:t>	</a:t>
            </a:r>
            <a:r>
              <a:rPr spc="-20" dirty="0"/>
              <a:t>tool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25" dirty="0"/>
              <a:t>our</a:t>
            </a:r>
            <a:r>
              <a:rPr dirty="0"/>
              <a:t>	</a:t>
            </a:r>
            <a:r>
              <a:rPr spc="-10" dirty="0"/>
              <a:t>communication 	</a:t>
            </a:r>
            <a:r>
              <a:rPr dirty="0"/>
              <a:t>since</a:t>
            </a:r>
            <a:r>
              <a:rPr spc="-50" dirty="0"/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spc="-10" dirty="0"/>
              <a:t>immemorial.</a:t>
            </a: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215" dirty="0"/>
              <a:t> </a:t>
            </a:r>
            <a:r>
              <a:rPr dirty="0"/>
              <a:t>advancement</a:t>
            </a:r>
            <a:r>
              <a:rPr spc="235" dirty="0"/>
              <a:t> </a:t>
            </a:r>
            <a:r>
              <a:rPr dirty="0"/>
              <a:t>of</a:t>
            </a:r>
            <a:r>
              <a:rPr spc="220" dirty="0"/>
              <a:t> </a:t>
            </a:r>
            <a:r>
              <a:rPr dirty="0"/>
              <a:t>knowledge</a:t>
            </a:r>
            <a:r>
              <a:rPr spc="24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dirty="0"/>
              <a:t>collaborative</a:t>
            </a:r>
            <a:r>
              <a:rPr spc="215" dirty="0"/>
              <a:t> </a:t>
            </a:r>
            <a:r>
              <a:rPr dirty="0"/>
              <a:t>working</a:t>
            </a:r>
            <a:r>
              <a:rPr spc="210" dirty="0"/>
              <a:t> </a:t>
            </a:r>
            <a:r>
              <a:rPr dirty="0"/>
              <a:t>require</a:t>
            </a:r>
            <a:r>
              <a:rPr spc="210" dirty="0"/>
              <a:t> </a:t>
            </a:r>
            <a:r>
              <a:rPr spc="-50" dirty="0"/>
              <a:t>a 	</a:t>
            </a: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communication.</a:t>
            </a:r>
          </a:p>
          <a:p>
            <a:pPr marL="241300" indent="-227965">
              <a:lnSpc>
                <a:spcPct val="150000"/>
              </a:lnSpc>
              <a:spcBef>
                <a:spcPts val="61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Language</a:t>
            </a:r>
            <a:r>
              <a:rPr spc="-80" dirty="0"/>
              <a:t> </a:t>
            </a:r>
            <a:r>
              <a:rPr dirty="0"/>
              <a:t>plays</a:t>
            </a:r>
            <a:r>
              <a:rPr spc="-45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role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civilized</a:t>
            </a:r>
            <a:r>
              <a:rPr spc="-50" dirty="0"/>
              <a:t> </a:t>
            </a:r>
            <a:r>
              <a:rPr spc="-10" dirty="0"/>
              <a:t>society.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372" y="0"/>
            <a:ext cx="9077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45372" y="639555"/>
            <a:ext cx="10360659" cy="557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715" indent="-22796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  <a:tab pos="1746885" algn="l"/>
                <a:tab pos="2098675" algn="l"/>
                <a:tab pos="2402205" algn="l"/>
                <a:tab pos="3107690" algn="l"/>
                <a:tab pos="3930650" algn="l"/>
                <a:tab pos="4409440" algn="l"/>
                <a:tab pos="5885180" algn="l"/>
                <a:tab pos="6287135" algn="l"/>
                <a:tab pos="6590665" algn="l"/>
                <a:tab pos="8361680" algn="l"/>
                <a:tab pos="9040495" algn="l"/>
                <a:tab pos="9373870" algn="l"/>
                <a:tab pos="9727565" algn="l"/>
              </a:tabLst>
            </a:pPr>
            <a:r>
              <a:rPr sz="2000" spc="-10" dirty="0" smtClean="0"/>
              <a:t>Language</a:t>
            </a:r>
            <a:r>
              <a:rPr lang="en-US" sz="2000" spc="-10" dirty="0" smtClean="0"/>
              <a:t> </a:t>
            </a:r>
            <a:r>
              <a:rPr sz="2000" spc="-25" dirty="0" smtClean="0"/>
              <a:t>is</a:t>
            </a:r>
            <a:r>
              <a:rPr lang="en-US" sz="2000" spc="-25" dirty="0" smtClean="0"/>
              <a:t> </a:t>
            </a:r>
            <a:r>
              <a:rPr sz="2000" spc="-50" dirty="0" smtClean="0"/>
              <a:t>a</a:t>
            </a:r>
            <a:r>
              <a:rPr sz="2000" dirty="0"/>
              <a:t>	</a:t>
            </a:r>
            <a:r>
              <a:rPr sz="2000" spc="-20" dirty="0" smtClean="0"/>
              <a:t>tool</a:t>
            </a:r>
            <a:r>
              <a:rPr lang="en-US" sz="2000" dirty="0"/>
              <a:t> </a:t>
            </a:r>
            <a:r>
              <a:rPr sz="2000" spc="-20" dirty="0" smtClean="0"/>
              <a:t>used</a:t>
            </a:r>
            <a:r>
              <a:rPr lang="en-US" sz="2000" dirty="0"/>
              <a:t> </a:t>
            </a:r>
            <a:r>
              <a:rPr sz="2000" spc="-25" dirty="0" smtClean="0"/>
              <a:t>by</a:t>
            </a:r>
            <a:r>
              <a:rPr sz="2000" dirty="0"/>
              <a:t>	</a:t>
            </a:r>
            <a:r>
              <a:rPr sz="2000" spc="-10" dirty="0" smtClean="0"/>
              <a:t>everyone</a:t>
            </a:r>
            <a:r>
              <a:rPr lang="en-US" sz="2000" dirty="0"/>
              <a:t> </a:t>
            </a:r>
            <a:r>
              <a:rPr sz="2000" spc="-25" dirty="0" smtClean="0"/>
              <a:t>in</a:t>
            </a:r>
            <a:r>
              <a:rPr sz="2000" dirty="0"/>
              <a:t>	</a:t>
            </a:r>
            <a:r>
              <a:rPr sz="2000" spc="-50" dirty="0" smtClean="0"/>
              <a:t>a</a:t>
            </a:r>
            <a:r>
              <a:rPr lang="en-US" sz="2000" dirty="0"/>
              <a:t> </a:t>
            </a:r>
            <a:r>
              <a:rPr sz="2000" spc="-10" dirty="0" smtClean="0"/>
              <a:t>community</a:t>
            </a:r>
            <a:r>
              <a:rPr sz="2000" dirty="0"/>
              <a:t>	</a:t>
            </a:r>
            <a:r>
              <a:rPr sz="2000" spc="-25" dirty="0"/>
              <a:t>and</a:t>
            </a:r>
            <a:r>
              <a:rPr sz="2000" dirty="0"/>
              <a:t>	</a:t>
            </a:r>
            <a:r>
              <a:rPr sz="2000" spc="-25" dirty="0"/>
              <a:t>it</a:t>
            </a:r>
            <a:r>
              <a:rPr sz="2000" dirty="0"/>
              <a:t>	</a:t>
            </a:r>
            <a:r>
              <a:rPr sz="2000" spc="-25" dirty="0" smtClean="0"/>
              <a:t>is</a:t>
            </a:r>
            <a:r>
              <a:rPr lang="en-US" sz="2000" spc="-25" dirty="0" smtClean="0"/>
              <a:t> </a:t>
            </a:r>
            <a:r>
              <a:rPr sz="2000" spc="-20" dirty="0" smtClean="0"/>
              <a:t>very </a:t>
            </a:r>
            <a:r>
              <a:rPr sz="2000" dirty="0" smtClean="0"/>
              <a:t>difficult</a:t>
            </a:r>
            <a:r>
              <a:rPr sz="2000" spc="-60" dirty="0" smtClean="0"/>
              <a:t> </a:t>
            </a:r>
            <a:r>
              <a:rPr sz="2000" dirty="0"/>
              <a:t>to</a:t>
            </a:r>
            <a:r>
              <a:rPr sz="2000" spc="-70" dirty="0"/>
              <a:t> </a:t>
            </a:r>
            <a:r>
              <a:rPr sz="2000" dirty="0"/>
              <a:t>maintain</a:t>
            </a:r>
            <a:r>
              <a:rPr sz="2000" spc="-60" dirty="0"/>
              <a:t> </a:t>
            </a:r>
            <a:r>
              <a:rPr sz="2000" dirty="0"/>
              <a:t>it</a:t>
            </a:r>
            <a:r>
              <a:rPr sz="2000" spc="-60" dirty="0"/>
              <a:t> </a:t>
            </a:r>
            <a:r>
              <a:rPr sz="2000" spc="-10" dirty="0"/>
              <a:t>unchanged.</a:t>
            </a:r>
          </a:p>
          <a:p>
            <a:pPr marL="240665" marR="5080" indent="-227965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sz="2000" dirty="0"/>
              <a:t>Communication</a:t>
            </a:r>
            <a:r>
              <a:rPr sz="2000" spc="10" dirty="0"/>
              <a:t> </a:t>
            </a:r>
            <a:r>
              <a:rPr sz="2000" dirty="0"/>
              <a:t>is</a:t>
            </a:r>
            <a:r>
              <a:rPr sz="2000" spc="15" dirty="0"/>
              <a:t> </a:t>
            </a:r>
            <a:r>
              <a:rPr sz="2000" dirty="0"/>
              <a:t>a</a:t>
            </a:r>
            <a:r>
              <a:rPr sz="2000" spc="15" dirty="0"/>
              <a:t> </a:t>
            </a:r>
            <a:r>
              <a:rPr sz="2000" dirty="0"/>
              <a:t>key</a:t>
            </a:r>
            <a:r>
              <a:rPr sz="2000" spc="10" dirty="0"/>
              <a:t> </a:t>
            </a:r>
            <a:r>
              <a:rPr sz="2000" dirty="0"/>
              <a:t>to</a:t>
            </a:r>
            <a:r>
              <a:rPr sz="2000" spc="15" dirty="0"/>
              <a:t> </a:t>
            </a:r>
            <a:r>
              <a:rPr sz="2000" dirty="0"/>
              <a:t>trade,</a:t>
            </a:r>
            <a:r>
              <a:rPr sz="2000" spc="15" dirty="0"/>
              <a:t> </a:t>
            </a:r>
            <a:r>
              <a:rPr sz="2000" dirty="0"/>
              <a:t>science</a:t>
            </a:r>
            <a:r>
              <a:rPr sz="2000" spc="20" dirty="0"/>
              <a:t> </a:t>
            </a:r>
            <a:r>
              <a:rPr sz="2000" dirty="0"/>
              <a:t>and</a:t>
            </a:r>
            <a:r>
              <a:rPr sz="2000" spc="15" dirty="0"/>
              <a:t> </a:t>
            </a:r>
            <a:r>
              <a:rPr sz="2000" dirty="0"/>
              <a:t>technology</a:t>
            </a:r>
            <a:r>
              <a:rPr sz="2000" spc="10" dirty="0"/>
              <a:t> </a:t>
            </a:r>
            <a:r>
              <a:rPr sz="2000" dirty="0"/>
              <a:t>and</a:t>
            </a:r>
            <a:r>
              <a:rPr sz="2000" spc="15" dirty="0"/>
              <a:t> </a:t>
            </a:r>
            <a:r>
              <a:rPr sz="2000" spc="-10" dirty="0"/>
              <a:t>societal </a:t>
            </a:r>
            <a:r>
              <a:rPr sz="2000" spc="-10" dirty="0" smtClean="0"/>
              <a:t>progress</a:t>
            </a:r>
            <a:r>
              <a:rPr sz="2000" spc="-10" dirty="0"/>
              <a:t>.</a:t>
            </a:r>
          </a:p>
          <a:p>
            <a:pPr marL="240029" marR="7620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  <a:tab pos="987425" algn="l"/>
                <a:tab pos="2680970" algn="l"/>
                <a:tab pos="3490595" algn="l"/>
                <a:tab pos="3994785" algn="l"/>
                <a:tab pos="4374515" algn="l"/>
                <a:tab pos="5887720" algn="l"/>
                <a:tab pos="6849745" algn="l"/>
                <a:tab pos="7701915" algn="l"/>
                <a:tab pos="8392160" algn="l"/>
                <a:tab pos="9482455" algn="l"/>
                <a:tab pos="9986645" algn="l"/>
              </a:tabLst>
            </a:pPr>
            <a:r>
              <a:rPr sz="2000" spc="-25" dirty="0" smtClean="0"/>
              <a:t>The</a:t>
            </a:r>
            <a:r>
              <a:rPr lang="en-US" sz="2000" spc="-25" dirty="0" smtClean="0"/>
              <a:t> </a:t>
            </a:r>
            <a:r>
              <a:rPr lang="en-IN" sz="2000" b="1" dirty="0" smtClean="0"/>
              <a:t>receptive</a:t>
            </a:r>
            <a:r>
              <a:rPr lang="en-IN" sz="2000" dirty="0" smtClean="0"/>
              <a:t> </a:t>
            </a:r>
            <a:r>
              <a:rPr sz="2000" spc="-20" dirty="0" smtClean="0"/>
              <a:t>part</a:t>
            </a:r>
            <a:r>
              <a:rPr lang="en-US" sz="2000" spc="-20" dirty="0" smtClean="0"/>
              <a:t> </a:t>
            </a:r>
            <a:r>
              <a:rPr sz="2000" spc="-25" dirty="0" smtClean="0"/>
              <a:t>of</a:t>
            </a:r>
            <a:r>
              <a:rPr lang="en-US" sz="2000" dirty="0"/>
              <a:t> </a:t>
            </a:r>
            <a:r>
              <a:rPr sz="2000" spc="-50" dirty="0" smtClean="0"/>
              <a:t>a</a:t>
            </a:r>
            <a:r>
              <a:rPr sz="2000" dirty="0"/>
              <a:t>	</a:t>
            </a:r>
            <a:r>
              <a:rPr sz="2000" spc="-10" dirty="0" smtClean="0"/>
              <a:t>language</a:t>
            </a:r>
            <a:r>
              <a:rPr lang="en-US" sz="2000" spc="-10" dirty="0" smtClean="0"/>
              <a:t> </a:t>
            </a:r>
            <a:r>
              <a:rPr sz="2000" spc="-10" dirty="0" smtClean="0"/>
              <a:t>deals</a:t>
            </a:r>
            <a:r>
              <a:rPr lang="en-US" sz="2000" spc="-10" dirty="0" smtClean="0"/>
              <a:t> </a:t>
            </a:r>
            <a:r>
              <a:rPr sz="2000" spc="-20" dirty="0" smtClean="0"/>
              <a:t>with</a:t>
            </a:r>
            <a:r>
              <a:rPr lang="en-US" sz="2000" spc="-20" dirty="0" smtClean="0"/>
              <a:t> </a:t>
            </a:r>
            <a:r>
              <a:rPr sz="2000" spc="-25" dirty="0" smtClean="0"/>
              <a:t>the</a:t>
            </a:r>
            <a:r>
              <a:rPr lang="en-US" sz="2000" spc="-25" dirty="0" smtClean="0"/>
              <a:t> </a:t>
            </a:r>
            <a:r>
              <a:rPr sz="2000" spc="-10" dirty="0" smtClean="0"/>
              <a:t>ability</a:t>
            </a:r>
            <a:r>
              <a:rPr sz="2000" dirty="0"/>
              <a:t>	</a:t>
            </a:r>
            <a:r>
              <a:rPr sz="2000" spc="-25" dirty="0" smtClean="0"/>
              <a:t>of</a:t>
            </a:r>
            <a:r>
              <a:rPr lang="en-US" sz="2000" spc="-25" dirty="0" smtClean="0"/>
              <a:t> </a:t>
            </a:r>
            <a:r>
              <a:rPr sz="2000" spc="-25" dirty="0" smtClean="0"/>
              <a:t>an </a:t>
            </a:r>
            <a:r>
              <a:rPr sz="2000" dirty="0" smtClean="0"/>
              <a:t>individual</a:t>
            </a:r>
            <a:r>
              <a:rPr sz="2000" spc="-55" dirty="0" smtClean="0"/>
              <a:t> </a:t>
            </a:r>
            <a:r>
              <a:rPr sz="2000" dirty="0"/>
              <a:t>to</a:t>
            </a:r>
            <a:r>
              <a:rPr sz="2000" spc="-80" dirty="0"/>
              <a:t> </a:t>
            </a:r>
            <a:r>
              <a:rPr sz="2000" dirty="0"/>
              <a:t>receive</a:t>
            </a:r>
            <a:r>
              <a:rPr sz="2000" spc="-85" dirty="0"/>
              <a:t> </a:t>
            </a:r>
            <a:r>
              <a:rPr sz="2000" dirty="0"/>
              <a:t>language</a:t>
            </a:r>
            <a:r>
              <a:rPr sz="2000" spc="-100" dirty="0"/>
              <a:t> </a:t>
            </a:r>
            <a:r>
              <a:rPr sz="2000" dirty="0"/>
              <a:t>inputs</a:t>
            </a:r>
            <a:r>
              <a:rPr sz="2000" spc="-40" dirty="0"/>
              <a:t> </a:t>
            </a:r>
            <a:r>
              <a:rPr sz="2000" dirty="0"/>
              <a:t>from</a:t>
            </a:r>
            <a:r>
              <a:rPr sz="2000" spc="-75" dirty="0"/>
              <a:t> </a:t>
            </a:r>
            <a:r>
              <a:rPr sz="2000" dirty="0"/>
              <a:t>multiple</a:t>
            </a:r>
            <a:r>
              <a:rPr sz="2000" spc="-55" dirty="0"/>
              <a:t> </a:t>
            </a:r>
            <a:r>
              <a:rPr sz="2000" spc="-10" dirty="0"/>
              <a:t>sources</a:t>
            </a:r>
            <a:r>
              <a:rPr sz="2000" spc="-10" dirty="0" smtClean="0"/>
              <a:t>.</a:t>
            </a:r>
            <a:endParaRPr lang="en-US" sz="2000" spc="-10" dirty="0" smtClean="0"/>
          </a:p>
          <a:p>
            <a:pPr marL="697229" marR="7620" lvl="1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  <a:tab pos="987425" algn="l"/>
                <a:tab pos="2680970" algn="l"/>
                <a:tab pos="3490595" algn="l"/>
                <a:tab pos="3994785" algn="l"/>
                <a:tab pos="4374515" algn="l"/>
                <a:tab pos="5887720" algn="l"/>
                <a:tab pos="6849745" algn="l"/>
                <a:tab pos="7701915" algn="l"/>
                <a:tab pos="8392160" algn="l"/>
                <a:tab pos="9482455" algn="l"/>
                <a:tab pos="9986645" algn="l"/>
              </a:tabLst>
            </a:pPr>
            <a:r>
              <a:rPr lang="en-IN" sz="2000" spc="-10" dirty="0"/>
              <a:t>Listening (spoken language input) </a:t>
            </a:r>
          </a:p>
          <a:p>
            <a:pPr marL="697229" marR="7620" lvl="1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  <a:tab pos="987425" algn="l"/>
                <a:tab pos="2680970" algn="l"/>
                <a:tab pos="3490595" algn="l"/>
                <a:tab pos="3994785" algn="l"/>
                <a:tab pos="4374515" algn="l"/>
                <a:tab pos="5887720" algn="l"/>
                <a:tab pos="6849745" algn="l"/>
                <a:tab pos="7701915" algn="l"/>
                <a:tab pos="8392160" algn="l"/>
                <a:tab pos="9482455" algn="l"/>
                <a:tab pos="9986645" algn="l"/>
              </a:tabLst>
            </a:pPr>
            <a:r>
              <a:rPr lang="en-IN" sz="2000" spc="-10" dirty="0"/>
              <a:t>Reading (written language input) </a:t>
            </a:r>
          </a:p>
          <a:p>
            <a:pPr marL="240665" marR="7620" indent="-227965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  <a:tab pos="911225" algn="l"/>
                <a:tab pos="2595880" algn="l"/>
                <a:tab pos="3328670" algn="l"/>
                <a:tab pos="3757295" algn="l"/>
                <a:tab pos="4060190" algn="l"/>
                <a:tab pos="5496560" algn="l"/>
                <a:tab pos="5848350" algn="l"/>
                <a:tab pos="6283960" algn="l"/>
                <a:tab pos="7633334" algn="l"/>
                <a:tab pos="8436610" algn="l"/>
                <a:tab pos="8872220" algn="l"/>
                <a:tab pos="9932035" algn="l"/>
              </a:tabLst>
            </a:pPr>
            <a:r>
              <a:rPr sz="2000" spc="-25" dirty="0" smtClean="0"/>
              <a:t>The</a:t>
            </a:r>
            <a:r>
              <a:rPr lang="en-US" sz="2000" spc="-25" dirty="0" smtClean="0"/>
              <a:t> </a:t>
            </a:r>
            <a:r>
              <a:rPr sz="2000" b="1" spc="-10" dirty="0" smtClean="0"/>
              <a:t>productive</a:t>
            </a:r>
            <a:r>
              <a:rPr lang="en-US" sz="2000" spc="-10" dirty="0" smtClean="0"/>
              <a:t> </a:t>
            </a:r>
            <a:r>
              <a:rPr sz="2000" spc="-20" dirty="0" smtClean="0"/>
              <a:t>part</a:t>
            </a:r>
            <a:r>
              <a:rPr lang="en-US" sz="2000" spc="-20" dirty="0" smtClean="0"/>
              <a:t> </a:t>
            </a:r>
            <a:r>
              <a:rPr sz="2000" spc="-25" dirty="0" smtClean="0"/>
              <a:t>of</a:t>
            </a:r>
            <a:r>
              <a:rPr lang="en-US" sz="2000" spc="-25" dirty="0" smtClean="0"/>
              <a:t> </a:t>
            </a:r>
            <a:r>
              <a:rPr sz="2000" spc="-50" dirty="0" smtClean="0"/>
              <a:t>a</a:t>
            </a:r>
            <a:r>
              <a:rPr lang="en-US" sz="2000" spc="-50" dirty="0" smtClean="0"/>
              <a:t> </a:t>
            </a:r>
            <a:r>
              <a:rPr sz="2000" spc="-10" dirty="0" smtClean="0"/>
              <a:t>language</a:t>
            </a:r>
            <a:r>
              <a:rPr sz="2000" dirty="0"/>
              <a:t>	</a:t>
            </a:r>
            <a:r>
              <a:rPr sz="2000" spc="-25" dirty="0" smtClean="0"/>
              <a:t>is</a:t>
            </a:r>
            <a:r>
              <a:rPr lang="en-US" sz="2000" spc="-25" dirty="0" smtClean="0"/>
              <a:t> </a:t>
            </a:r>
            <a:r>
              <a:rPr sz="2000" spc="-25" dirty="0" smtClean="0"/>
              <a:t>to</a:t>
            </a:r>
            <a:r>
              <a:rPr lang="en-US" sz="2000" dirty="0"/>
              <a:t> </a:t>
            </a:r>
            <a:r>
              <a:rPr sz="2000" spc="-10" dirty="0" smtClean="0"/>
              <a:t>transmit</a:t>
            </a:r>
            <a:r>
              <a:rPr lang="en-US" sz="2000" spc="-10" dirty="0" smtClean="0"/>
              <a:t> </a:t>
            </a:r>
            <a:r>
              <a:rPr sz="2000" spc="-20" dirty="0" smtClean="0"/>
              <a:t>back</a:t>
            </a:r>
            <a:r>
              <a:rPr lang="en-US" sz="2000" spc="-20" dirty="0" smtClean="0"/>
              <a:t> </a:t>
            </a:r>
            <a:r>
              <a:rPr sz="2000" spc="-25" dirty="0" smtClean="0"/>
              <a:t>to</a:t>
            </a:r>
            <a:r>
              <a:rPr lang="en-US" sz="2000" spc="-25" dirty="0" smtClean="0"/>
              <a:t> </a:t>
            </a:r>
            <a:r>
              <a:rPr sz="2000" spc="-10" dirty="0" smtClean="0"/>
              <a:t>others</a:t>
            </a:r>
            <a:r>
              <a:rPr lang="en-US" sz="2000" spc="-10" dirty="0" smtClean="0"/>
              <a:t> </a:t>
            </a:r>
            <a:r>
              <a:rPr sz="2000" spc="-35" dirty="0" smtClean="0"/>
              <a:t>for </a:t>
            </a:r>
            <a:r>
              <a:rPr sz="2000" dirty="0" smtClean="0"/>
              <a:t>their</a:t>
            </a:r>
            <a:r>
              <a:rPr sz="2000" spc="-15" dirty="0" smtClean="0"/>
              <a:t> </a:t>
            </a:r>
            <a:r>
              <a:rPr lang="en-IN" sz="2000" dirty="0"/>
              <a:t>understanding</a:t>
            </a:r>
            <a:r>
              <a:rPr sz="2000" spc="-10" dirty="0" smtClean="0"/>
              <a:t>.</a:t>
            </a:r>
            <a:endParaRPr lang="en-US" sz="2000" spc="-10" dirty="0" smtClean="0"/>
          </a:p>
          <a:p>
            <a:pPr marL="697865" marR="7620" lvl="1" indent="-227965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  <a:tab pos="911225" algn="l"/>
                <a:tab pos="2595880" algn="l"/>
                <a:tab pos="3328670" algn="l"/>
                <a:tab pos="3757295" algn="l"/>
                <a:tab pos="4060190" algn="l"/>
                <a:tab pos="5496560" algn="l"/>
                <a:tab pos="5848350" algn="l"/>
                <a:tab pos="6283960" algn="l"/>
                <a:tab pos="7633334" algn="l"/>
                <a:tab pos="8436610" algn="l"/>
                <a:tab pos="8872220" algn="l"/>
                <a:tab pos="9932035" algn="l"/>
              </a:tabLst>
            </a:pPr>
            <a:r>
              <a:rPr lang="en-IN" sz="2000" spc="-10" dirty="0"/>
              <a:t>Speaking (verbal communication) </a:t>
            </a:r>
          </a:p>
          <a:p>
            <a:pPr marL="697865" marR="7620" lvl="1" indent="-227965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  <a:tab pos="911225" algn="l"/>
                <a:tab pos="2595880" algn="l"/>
                <a:tab pos="3328670" algn="l"/>
                <a:tab pos="3757295" algn="l"/>
                <a:tab pos="4060190" algn="l"/>
                <a:tab pos="5496560" algn="l"/>
                <a:tab pos="5848350" algn="l"/>
                <a:tab pos="6283960" algn="l"/>
                <a:tab pos="7633334" algn="l"/>
                <a:tab pos="8436610" algn="l"/>
                <a:tab pos="8872220" algn="l"/>
                <a:tab pos="9932035" algn="l"/>
              </a:tabLst>
            </a:pPr>
            <a:r>
              <a:rPr lang="en-IN" sz="2000" spc="-10" dirty="0"/>
              <a:t>Writing (written communication) </a:t>
            </a:r>
            <a:endParaRPr sz="2000" spc="-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411" y="228600"/>
            <a:ext cx="9077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Panini’s</a:t>
            </a:r>
            <a:r>
              <a:rPr spc="-105" dirty="0"/>
              <a:t> </a:t>
            </a:r>
            <a:r>
              <a:rPr dirty="0"/>
              <a:t>Work</a:t>
            </a:r>
            <a:r>
              <a:rPr spc="-105" dirty="0"/>
              <a:t> </a:t>
            </a:r>
            <a:r>
              <a:rPr dirty="0"/>
              <a:t>on</a:t>
            </a:r>
            <a:r>
              <a:rPr spc="-100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Grammar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7411" y="925830"/>
            <a:ext cx="10358755" cy="54963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274445" algn="l"/>
                <a:tab pos="2923540" algn="l"/>
                <a:tab pos="3798570" algn="l"/>
                <a:tab pos="4658360" algn="l"/>
                <a:tab pos="5112385" algn="l"/>
                <a:tab pos="7320915" algn="l"/>
                <a:tab pos="7804150" algn="l"/>
                <a:tab pos="8438515" algn="l"/>
                <a:tab pos="9799320" algn="l"/>
              </a:tabLst>
            </a:pPr>
            <a:r>
              <a:rPr sz="2400" spc="-10" dirty="0">
                <a:latin typeface="Calibri"/>
                <a:cs typeface="Calibri"/>
              </a:rPr>
              <a:t>Panini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composed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3983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rules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accommodate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all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patterns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variations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Sanskrit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language</a:t>
            </a:r>
            <a:r>
              <a:rPr sz="2400" spc="-10" dirty="0" smtClean="0">
                <a:latin typeface="Calibri"/>
                <a:cs typeface="Calibri"/>
              </a:rPr>
              <a:t>.</a:t>
            </a:r>
            <a:endParaRPr lang="en-US" sz="2400" spc="-10" dirty="0" smtClean="0">
              <a:latin typeface="Calibri"/>
              <a:cs typeface="Calibri"/>
            </a:endParaRPr>
          </a:p>
          <a:p>
            <a:pPr marL="240029" marR="6350" indent="-22796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274445" algn="l"/>
                <a:tab pos="2923540" algn="l"/>
                <a:tab pos="3798570" algn="l"/>
                <a:tab pos="4658360" algn="l"/>
                <a:tab pos="5112385" algn="l"/>
                <a:tab pos="7320915" algn="l"/>
                <a:tab pos="7804150" algn="l"/>
                <a:tab pos="8438515" algn="l"/>
                <a:tab pos="9799320" algn="l"/>
              </a:tabLst>
            </a:pPr>
            <a:r>
              <a:rPr lang="en-IN" sz="2400" dirty="0"/>
              <a:t>B</a:t>
            </a:r>
            <a:r>
              <a:rPr lang="en-IN" sz="2400" dirty="0" smtClean="0"/>
              <a:t>elieved to have lived around the </a:t>
            </a:r>
            <a:r>
              <a:rPr lang="en-IN" sz="2400" b="1" dirty="0" smtClean="0"/>
              <a:t>5th–4th century BCE</a:t>
            </a:r>
            <a:endParaRPr sz="2400" dirty="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940435" algn="l"/>
                <a:tab pos="1831975" algn="l"/>
                <a:tab pos="3353435" algn="l"/>
                <a:tab pos="3812540" algn="l"/>
                <a:tab pos="4857750" algn="l"/>
                <a:tab pos="5563870" algn="l"/>
                <a:tab pos="6066790" algn="l"/>
                <a:tab pos="8217534" algn="l"/>
                <a:tab pos="9563100" algn="l"/>
              </a:tabLst>
            </a:pP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basic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approach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Panini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distinguishing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make 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Sanskrit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powerful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language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eternal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appeal.</a:t>
            </a:r>
            <a:endParaRPr sz="2400" dirty="0">
              <a:latin typeface="Calibri"/>
              <a:cs typeface="Calibri"/>
            </a:endParaRPr>
          </a:p>
          <a:p>
            <a:pPr marL="239395" marR="6350" indent="-227329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Vedangas</a:t>
            </a:r>
            <a:r>
              <a:rPr sz="24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known</a:t>
            </a:r>
            <a:r>
              <a:rPr sz="24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400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Vyakarana</a:t>
            </a:r>
            <a:r>
              <a:rPr sz="2400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focuses</a:t>
            </a:r>
            <a:r>
              <a:rPr sz="2400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400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linguistics</a:t>
            </a:r>
            <a:r>
              <a:rPr sz="2400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phonetics</a:t>
            </a:r>
            <a:r>
              <a:rPr sz="2400" spc="4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 smtClean="0">
                <a:solidFill>
                  <a:srgbClr val="FF0000"/>
                </a:solidFill>
                <a:latin typeface="Calibri"/>
                <a:cs typeface="Calibri"/>
              </a:rPr>
              <a:t>aspects</a:t>
            </a:r>
            <a:r>
              <a:rPr sz="2400" spc="405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3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 smtClean="0">
                <a:solidFill>
                  <a:srgbClr val="FF0000"/>
                </a:solidFill>
                <a:latin typeface="Calibri"/>
                <a:cs typeface="Calibri"/>
              </a:rPr>
              <a:t>Sanskrit</a:t>
            </a:r>
            <a:r>
              <a:rPr lang="en-US" sz="2400" spc="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 smtClean="0">
                <a:solidFill>
                  <a:srgbClr val="FF0000"/>
                </a:solidFill>
                <a:latin typeface="Calibri"/>
                <a:cs typeface="Calibri"/>
              </a:rPr>
              <a:t>language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15000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Astadhyayi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fine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creation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intelligence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 smtClean="0">
                <a:latin typeface="Calibri"/>
                <a:cs typeface="Calibri"/>
              </a:rPr>
              <a:t>the</a:t>
            </a:r>
            <a:r>
              <a:rPr lang="en-US" sz="2400" spc="-25" dirty="0" smtClean="0">
                <a:latin typeface="Calibri"/>
                <a:cs typeface="Calibri"/>
              </a:rPr>
              <a:t> </a:t>
            </a:r>
            <a:r>
              <a:rPr sz="2400" dirty="0" smtClean="0">
                <a:latin typeface="Calibri"/>
                <a:cs typeface="Calibri"/>
              </a:rPr>
              <a:t>best</a:t>
            </a:r>
            <a:r>
              <a:rPr sz="2400" spc="-50" dirty="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descriptive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language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Astadhyayi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670" y="1793493"/>
            <a:ext cx="10360659" cy="452431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 err="1"/>
              <a:t>Aṣṭādhyāyī</a:t>
            </a:r>
            <a:r>
              <a:rPr lang="en-IN" b="1" dirty="0"/>
              <a:t> (Eight Chapters)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 err="1"/>
              <a:t>Aṣṭādhyāyī</a:t>
            </a:r>
            <a:r>
              <a:rPr lang="en-IN" dirty="0"/>
              <a:t> consists of </a:t>
            </a:r>
            <a:r>
              <a:rPr lang="en-IN" b="1" dirty="0"/>
              <a:t>3,959 sutras (rules)</a:t>
            </a:r>
            <a:r>
              <a:rPr lang="en-IN" dirty="0"/>
              <a:t>, which describe Sanskrit grammar in a structured and generative way.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is divided into </a:t>
            </a:r>
            <a:r>
              <a:rPr lang="en-IN" b="1" dirty="0"/>
              <a:t>eight chapters</a:t>
            </a:r>
            <a:r>
              <a:rPr lang="en-IN" dirty="0"/>
              <a:t>, each focusing on different aspects of grammar, such as </a:t>
            </a:r>
            <a:r>
              <a:rPr lang="en-IN" dirty="0">
                <a:solidFill>
                  <a:srgbClr val="FF0000"/>
                </a:solidFill>
              </a:rPr>
              <a:t>phonetics</a:t>
            </a:r>
            <a:r>
              <a:rPr lang="en-IN" dirty="0"/>
              <a:t>, </a:t>
            </a:r>
            <a:r>
              <a:rPr lang="en-IN" dirty="0">
                <a:solidFill>
                  <a:srgbClr val="FF0000"/>
                </a:solidFill>
              </a:rPr>
              <a:t>word formation</a:t>
            </a:r>
            <a:r>
              <a:rPr lang="en-IN" dirty="0"/>
              <a:t>, and </a:t>
            </a:r>
            <a:r>
              <a:rPr lang="en-IN" dirty="0">
                <a:solidFill>
                  <a:srgbClr val="FF0000"/>
                </a:solidFill>
              </a:rPr>
              <a:t>sentence structure</a:t>
            </a:r>
            <a:r>
              <a:rPr lang="en-IN" dirty="0"/>
              <a:t>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58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75" dirty="0"/>
              <a:t> </a:t>
            </a:r>
            <a:r>
              <a:rPr dirty="0"/>
              <a:t>approach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Panini</a:t>
            </a:r>
            <a:r>
              <a:rPr spc="-4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its</a:t>
            </a:r>
            <a:r>
              <a:rPr spc="-6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76400"/>
            <a:ext cx="10360659" cy="49192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350" indent="-22796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-5" dirty="0"/>
              <a:t> </a:t>
            </a:r>
            <a:r>
              <a:rPr dirty="0"/>
              <a:t>entire</a:t>
            </a:r>
            <a:r>
              <a:rPr spc="15" dirty="0"/>
              <a:t> </a:t>
            </a:r>
            <a:r>
              <a:rPr dirty="0"/>
              <a:t>vocabulary</a:t>
            </a:r>
            <a:r>
              <a:rPr spc="-5" dirty="0"/>
              <a:t> </a:t>
            </a:r>
            <a:r>
              <a:rPr dirty="0"/>
              <a:t>of the</a:t>
            </a:r>
            <a:r>
              <a:rPr spc="5" dirty="0"/>
              <a:t> </a:t>
            </a:r>
            <a:r>
              <a:rPr dirty="0"/>
              <a:t>Sanskrit</a:t>
            </a:r>
            <a:r>
              <a:rPr spc="10" dirty="0"/>
              <a:t> </a:t>
            </a:r>
            <a:r>
              <a:rPr dirty="0"/>
              <a:t>language could</a:t>
            </a:r>
            <a:r>
              <a:rPr spc="10" dirty="0"/>
              <a:t> </a:t>
            </a:r>
            <a:r>
              <a:rPr dirty="0"/>
              <a:t>be created</a:t>
            </a:r>
            <a:r>
              <a:rPr spc="10" dirty="0"/>
              <a:t> </a:t>
            </a:r>
            <a:r>
              <a:rPr spc="-10" dirty="0"/>
              <a:t>using 	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3983</a:t>
            </a:r>
            <a:r>
              <a:rPr spc="-20" dirty="0"/>
              <a:t> </a:t>
            </a:r>
            <a:r>
              <a:rPr spc="-10" dirty="0"/>
              <a:t>rules.</a:t>
            </a:r>
          </a:p>
          <a:p>
            <a:pPr marL="240665" marR="5080" indent="-227965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Language</a:t>
            </a:r>
            <a:r>
              <a:rPr spc="80" dirty="0"/>
              <a:t> </a:t>
            </a:r>
            <a:r>
              <a:rPr dirty="0"/>
              <a:t>processing</a:t>
            </a:r>
            <a:r>
              <a:rPr spc="11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word</a:t>
            </a:r>
            <a:r>
              <a:rPr spc="110" dirty="0"/>
              <a:t> </a:t>
            </a:r>
            <a:r>
              <a:rPr dirty="0"/>
              <a:t>generation</a:t>
            </a:r>
            <a:r>
              <a:rPr spc="95" dirty="0"/>
              <a:t> </a:t>
            </a:r>
            <a:r>
              <a:rPr dirty="0"/>
              <a:t>are</a:t>
            </a:r>
            <a:r>
              <a:rPr spc="105" dirty="0"/>
              <a:t> </a:t>
            </a:r>
            <a:r>
              <a:rPr dirty="0"/>
              <a:t>strictly</a:t>
            </a:r>
            <a:r>
              <a:rPr spc="90" dirty="0"/>
              <a:t> </a:t>
            </a:r>
            <a:r>
              <a:rPr spc="-10" dirty="0" smtClean="0">
                <a:solidFill>
                  <a:srgbClr val="FF0000"/>
                </a:solidFill>
              </a:rPr>
              <a:t>rule-</a:t>
            </a:r>
            <a:r>
              <a:rPr dirty="0" smtClean="0">
                <a:solidFill>
                  <a:srgbClr val="FF0000"/>
                </a:solidFill>
              </a:rPr>
              <a:t>based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en-IN" dirty="0" smtClean="0">
                <a:solidFill>
                  <a:srgbClr val="FF0000"/>
                </a:solidFill>
              </a:rPr>
              <a:t>short</a:t>
            </a:r>
            <a:r>
              <a:rPr lang="en-IN" dirty="0">
                <a:solidFill>
                  <a:srgbClr val="FF0000"/>
                </a:solidFill>
              </a:rPr>
              <a:t>, precise aphorisms (sutras</a:t>
            </a:r>
            <a:r>
              <a:rPr lang="en-IN" dirty="0" smtClean="0">
                <a:solidFill>
                  <a:srgbClr val="FF0000"/>
                </a:solidFill>
              </a:rPr>
              <a:t>))</a:t>
            </a:r>
            <a:r>
              <a:rPr spc="100" dirty="0" smtClean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and </a:t>
            </a:r>
            <a:r>
              <a:rPr dirty="0" smtClean="0">
                <a:solidFill>
                  <a:srgbClr val="FF0000"/>
                </a:solidFill>
              </a:rPr>
              <a:t>derivative</a:t>
            </a:r>
            <a:r>
              <a:rPr spc="-80" dirty="0" smtClean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nature</a:t>
            </a:r>
            <a:r>
              <a:rPr spc="-10" dirty="0" smtClean="0"/>
              <a:t>.</a:t>
            </a:r>
            <a:endParaRPr lang="en-US" spc="-10" dirty="0" smtClean="0"/>
          </a:p>
          <a:p>
            <a:pPr marL="240665" marR="6350" indent="-227965" algn="just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smtClean="0"/>
              <a:t>The</a:t>
            </a:r>
            <a:r>
              <a:rPr spc="180" dirty="0" smtClean="0"/>
              <a:t> </a:t>
            </a:r>
            <a:r>
              <a:rPr dirty="0"/>
              <a:t>derivation</a:t>
            </a:r>
            <a:r>
              <a:rPr spc="175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dirty="0"/>
              <a:t>words</a:t>
            </a:r>
            <a:r>
              <a:rPr spc="200" dirty="0"/>
              <a:t> </a:t>
            </a:r>
            <a:r>
              <a:rPr dirty="0"/>
              <a:t>using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rules</a:t>
            </a:r>
            <a:r>
              <a:rPr spc="180" dirty="0"/>
              <a:t> </a:t>
            </a:r>
            <a:r>
              <a:rPr dirty="0"/>
              <a:t>could</a:t>
            </a:r>
            <a:r>
              <a:rPr spc="195" dirty="0"/>
              <a:t> </a:t>
            </a:r>
            <a:r>
              <a:rPr dirty="0"/>
              <a:t>be</a:t>
            </a:r>
            <a:r>
              <a:rPr spc="180" dirty="0"/>
              <a:t> </a:t>
            </a:r>
            <a:r>
              <a:rPr dirty="0"/>
              <a:t>done</a:t>
            </a:r>
            <a:r>
              <a:rPr spc="185" dirty="0"/>
              <a:t> </a:t>
            </a:r>
            <a:r>
              <a:rPr b="1" dirty="0">
                <a:solidFill>
                  <a:srgbClr val="FF0000"/>
                </a:solidFill>
              </a:rPr>
              <a:t>using</a:t>
            </a:r>
            <a:r>
              <a:rPr b="1" spc="195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step</a:t>
            </a:r>
            <a:r>
              <a:rPr b="1" spc="190" dirty="0">
                <a:solidFill>
                  <a:srgbClr val="FF0000"/>
                </a:solidFill>
              </a:rPr>
              <a:t> </a:t>
            </a:r>
            <a:r>
              <a:rPr b="1" spc="-25" dirty="0">
                <a:solidFill>
                  <a:srgbClr val="FF0000"/>
                </a:solidFill>
              </a:rPr>
              <a:t>by 	</a:t>
            </a:r>
            <a:r>
              <a:rPr b="1" dirty="0">
                <a:solidFill>
                  <a:srgbClr val="FF0000"/>
                </a:solidFill>
              </a:rPr>
              <a:t>step</a:t>
            </a:r>
            <a:r>
              <a:rPr b="1" spc="-114" dirty="0">
                <a:solidFill>
                  <a:srgbClr val="FF0000"/>
                </a:solidFill>
              </a:rPr>
              <a:t> </a:t>
            </a:r>
            <a:r>
              <a:rPr b="1" spc="-10" dirty="0">
                <a:solidFill>
                  <a:srgbClr val="FF0000"/>
                </a:solidFill>
              </a:rPr>
              <a:t>process.</a:t>
            </a:r>
          </a:p>
          <a:p>
            <a:pPr marL="241300" indent="-227965" algn="just">
              <a:lnSpc>
                <a:spcPct val="15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vocabulary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fixed</a:t>
            </a:r>
            <a:r>
              <a:rPr spc="-60" dirty="0"/>
              <a:t> </a:t>
            </a:r>
            <a:r>
              <a:rPr dirty="0"/>
              <a:t>or</a:t>
            </a:r>
            <a:r>
              <a:rPr spc="-55" dirty="0"/>
              <a:t> </a:t>
            </a:r>
            <a:r>
              <a:rPr spc="-10" dirty="0"/>
              <a:t>static.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670" y="309105"/>
            <a:ext cx="11047730" cy="646330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/>
              <a:t>Morphology and Word Formation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Pāṇini</a:t>
            </a:r>
            <a:r>
              <a:rPr lang="en-IN" dirty="0"/>
              <a:t> </a:t>
            </a:r>
            <a:r>
              <a:rPr lang="en-IN" dirty="0" err="1"/>
              <a:t>analyzed</a:t>
            </a:r>
            <a:r>
              <a:rPr lang="en-IN" dirty="0"/>
              <a:t> how words are derived using </a:t>
            </a:r>
            <a:r>
              <a:rPr lang="en-IN" b="1" dirty="0">
                <a:solidFill>
                  <a:srgbClr val="FF0000"/>
                </a:solidFill>
              </a:rPr>
              <a:t>roots (</a:t>
            </a:r>
            <a:r>
              <a:rPr lang="en-IN" b="1" dirty="0" err="1">
                <a:solidFill>
                  <a:srgbClr val="FF0000"/>
                </a:solidFill>
              </a:rPr>
              <a:t>dhātus</a:t>
            </a:r>
            <a:r>
              <a:rPr lang="en-IN" b="1" dirty="0">
                <a:solidFill>
                  <a:srgbClr val="FF0000"/>
                </a:solidFill>
              </a:rPr>
              <a:t>)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FF0000"/>
                </a:solidFill>
              </a:rPr>
              <a:t>affixes (</a:t>
            </a:r>
            <a:r>
              <a:rPr lang="en-IN" b="1" dirty="0" err="1">
                <a:solidFill>
                  <a:srgbClr val="FF0000"/>
                </a:solidFill>
              </a:rPr>
              <a:t>pratyayas</a:t>
            </a:r>
            <a:r>
              <a:rPr lang="en-IN" b="1" dirty="0">
                <a:solidFill>
                  <a:srgbClr val="FF0000"/>
                </a:solidFill>
              </a:rPr>
              <a:t>)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 provided detailed rules on </a:t>
            </a:r>
            <a:r>
              <a:rPr lang="en-IN" b="1" dirty="0" err="1">
                <a:solidFill>
                  <a:srgbClr val="FF0000"/>
                </a:solidFill>
              </a:rPr>
              <a:t>Sandhi</a:t>
            </a:r>
            <a:r>
              <a:rPr lang="en-IN" dirty="0">
                <a:solidFill>
                  <a:srgbClr val="FF0000"/>
                </a:solidFill>
              </a:rPr>
              <a:t> (word joining) </a:t>
            </a:r>
            <a:r>
              <a:rPr lang="en-IN" dirty="0"/>
              <a:t>and </a:t>
            </a:r>
            <a:r>
              <a:rPr lang="en-IN" b="1" dirty="0" err="1">
                <a:solidFill>
                  <a:srgbClr val="FF0000"/>
                </a:solidFill>
              </a:rPr>
              <a:t>Samāsa</a:t>
            </a:r>
            <a:r>
              <a:rPr lang="en-IN" dirty="0">
                <a:solidFill>
                  <a:srgbClr val="FF0000"/>
                </a:solidFill>
              </a:rPr>
              <a:t> (compound words</a:t>
            </a:r>
            <a:r>
              <a:rPr lang="en-IN" dirty="0" smtClean="0">
                <a:solidFill>
                  <a:srgbClr val="FF0000"/>
                </a:solidFill>
              </a:rPr>
              <a:t>)</a:t>
            </a:r>
            <a:r>
              <a:rPr lang="en-IN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Phonetics and Sound Rules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He classified Sanskrit sounds into </a:t>
            </a:r>
            <a:r>
              <a:rPr lang="en-IN" b="1" dirty="0" err="1"/>
              <a:t>varṇamāla</a:t>
            </a:r>
            <a:r>
              <a:rPr lang="en-IN" b="1" dirty="0"/>
              <a:t> (letters)</a:t>
            </a:r>
            <a:r>
              <a:rPr lang="en-IN" dirty="0"/>
              <a:t> based on their place and manner of articulation.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His work influenced the development of </a:t>
            </a:r>
            <a:r>
              <a:rPr lang="en-IN" b="1" dirty="0" err="1"/>
              <a:t>Shiksha</a:t>
            </a:r>
            <a:r>
              <a:rPr lang="en-IN" b="1" dirty="0"/>
              <a:t> (phonetics) and </a:t>
            </a:r>
            <a:r>
              <a:rPr lang="en-IN" b="1" dirty="0" err="1"/>
              <a:t>Pratishakhya</a:t>
            </a:r>
            <a:r>
              <a:rPr lang="en-IN" b="1" dirty="0"/>
              <a:t> (phonological rules</a:t>
            </a:r>
            <a:r>
              <a:rPr lang="en-IN" b="1" dirty="0" smtClean="0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spc="-1170" dirty="0"/>
              <a:t>(</a:t>
            </a:r>
            <a:r>
              <a:rPr sz="3200" spc="-1170" dirty="0">
                <a:latin typeface="SimSun-ExtB"/>
                <a:cs typeface="SimSun-ExtB"/>
              </a:rPr>
              <a:t>स्िर-</a:t>
            </a:r>
            <a:r>
              <a:rPr sz="3200" spc="-1800" dirty="0">
                <a:latin typeface="SimSun-ExtB"/>
                <a:cs typeface="SimSun-ExtB"/>
              </a:rPr>
              <a:t>विज्ञान</a:t>
            </a:r>
            <a:r>
              <a:rPr spc="-1800" dirty="0"/>
              <a:t>)</a:t>
            </a:r>
            <a:r>
              <a:rPr spc="480" dirty="0"/>
              <a:t> </a:t>
            </a:r>
            <a:r>
              <a:rPr dirty="0"/>
              <a:t>in</a:t>
            </a:r>
            <a:r>
              <a:rPr spc="480" dirty="0"/>
              <a:t> </a:t>
            </a:r>
            <a:r>
              <a:rPr spc="-10" dirty="0"/>
              <a:t>Sanskrit</a:t>
            </a:r>
            <a:endParaRPr sz="3200">
              <a:latin typeface="SimSun-ExtB"/>
              <a:cs typeface="SimSun-ExtB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690116"/>
            <a:ext cx="9268968" cy="4738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1434" y="533400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dirty="0" smtClean="0"/>
              <a:t>in</a:t>
            </a:r>
            <a:r>
              <a:rPr spc="480" dirty="0" smtClean="0"/>
              <a:t> </a:t>
            </a:r>
            <a:r>
              <a:rPr spc="-10" dirty="0"/>
              <a:t>Sanskrit</a:t>
            </a:r>
            <a:endParaRPr sz="3200" dirty="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5669" y="1828800"/>
            <a:ext cx="10360659" cy="44549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985" indent="-227965" algn="just">
              <a:lnSpc>
                <a:spcPct val="20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-5" dirty="0"/>
              <a:t> </a:t>
            </a:r>
            <a:r>
              <a:rPr dirty="0"/>
              <a:t>entire</a:t>
            </a:r>
            <a:r>
              <a:rPr spc="5" dirty="0"/>
              <a:t> </a:t>
            </a:r>
            <a:r>
              <a:rPr dirty="0"/>
              <a:t>transmission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Vedas</a:t>
            </a:r>
            <a:r>
              <a:rPr spc="10" dirty="0"/>
              <a:t> </a:t>
            </a:r>
            <a:r>
              <a:rPr dirty="0"/>
              <a:t>from time immemorial</a:t>
            </a:r>
            <a:r>
              <a:rPr spc="10" dirty="0"/>
              <a:t> </a:t>
            </a:r>
            <a:r>
              <a:rPr dirty="0"/>
              <a:t>has</a:t>
            </a:r>
            <a:r>
              <a:rPr spc="15" dirty="0"/>
              <a:t> </a:t>
            </a:r>
            <a:r>
              <a:rPr spc="-20" dirty="0"/>
              <a:t>been 	</a:t>
            </a:r>
            <a:r>
              <a:rPr dirty="0"/>
              <a:t>possible</a:t>
            </a:r>
            <a:r>
              <a:rPr spc="-3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account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0" dirty="0"/>
              <a:t>well-</a:t>
            </a:r>
            <a:r>
              <a:rPr dirty="0"/>
              <a:t>developed</a:t>
            </a:r>
            <a:r>
              <a:rPr spc="-50" dirty="0"/>
              <a:t> </a:t>
            </a:r>
            <a:r>
              <a:rPr dirty="0"/>
              <a:t>science</a:t>
            </a:r>
            <a:r>
              <a:rPr spc="-3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phonetics.</a:t>
            </a:r>
          </a:p>
          <a:p>
            <a:pPr marL="241300" indent="-227965" algn="just">
              <a:lnSpc>
                <a:spcPct val="2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spc="-20" dirty="0">
                <a:solidFill>
                  <a:srgbClr val="FF0000"/>
                </a:solidFill>
              </a:rPr>
              <a:t>Vowels</a:t>
            </a:r>
            <a:r>
              <a:rPr spc="-65" dirty="0"/>
              <a:t> </a:t>
            </a:r>
            <a:r>
              <a:rPr dirty="0"/>
              <a:t>have</a:t>
            </a:r>
            <a:r>
              <a:rPr spc="-7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temporal</a:t>
            </a:r>
            <a:r>
              <a:rPr spc="-60" dirty="0"/>
              <a:t> </a:t>
            </a:r>
            <a:r>
              <a:rPr dirty="0"/>
              <a:t>factor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>
                <a:solidFill>
                  <a:srgbClr val="FF0000"/>
                </a:solidFill>
              </a:rPr>
              <a:t>production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sound</a:t>
            </a:r>
            <a:r>
              <a:rPr spc="-10" dirty="0"/>
              <a:t>.</a:t>
            </a:r>
          </a:p>
          <a:p>
            <a:pPr marL="240665" marR="5080" indent="-227965" algn="just">
              <a:lnSpc>
                <a:spcPct val="200000"/>
              </a:lnSpc>
              <a:spcBef>
                <a:spcPts val="104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>
                <a:solidFill>
                  <a:srgbClr val="FF0000"/>
                </a:solidFill>
              </a:rPr>
              <a:t>Three</a:t>
            </a:r>
            <a:r>
              <a:rPr spc="1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variations</a:t>
            </a:r>
            <a:r>
              <a:rPr spc="1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(short:</a:t>
            </a:r>
            <a:r>
              <a:rPr spc="1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hrasva,</a:t>
            </a:r>
            <a:r>
              <a:rPr spc="17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long:</a:t>
            </a:r>
            <a:r>
              <a:rPr spc="1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dirgha</a:t>
            </a:r>
            <a:r>
              <a:rPr spc="17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1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prolate:</a:t>
            </a:r>
            <a:r>
              <a:rPr spc="1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pulta)</a:t>
            </a:r>
            <a:r>
              <a:rPr spc="19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have 	</a:t>
            </a:r>
            <a:r>
              <a:rPr dirty="0">
                <a:solidFill>
                  <a:srgbClr val="FF0000"/>
                </a:solidFill>
              </a:rPr>
              <a:t>been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specified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pitch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vowel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sound.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970" y="609600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dirty="0" smtClean="0"/>
              <a:t>in</a:t>
            </a:r>
            <a:r>
              <a:rPr spc="480" dirty="0" smtClean="0"/>
              <a:t> </a:t>
            </a:r>
            <a:r>
              <a:rPr spc="-10" dirty="0"/>
              <a:t>Sanskrit</a:t>
            </a:r>
            <a:endParaRPr sz="3200" dirty="0">
              <a:latin typeface="SimSun-ExtB"/>
              <a:cs typeface="SimSun-ExtB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136" y="1690116"/>
            <a:ext cx="9267443" cy="4486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53793" y="1779261"/>
            <a:ext cx="8566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btechnotes.in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4800"/>
            <a:ext cx="9077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Patterns</a:t>
            </a:r>
            <a:r>
              <a:rPr spc="-9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Vocabulary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95400"/>
            <a:ext cx="10360025" cy="470769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 algn="just"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ultimate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word.</a:t>
            </a:r>
            <a:endParaRPr sz="2800" dirty="0">
              <a:latin typeface="Calibri"/>
              <a:cs typeface="Calibri"/>
            </a:endParaRPr>
          </a:p>
          <a:p>
            <a:pPr marL="239395" marR="6985" indent="-227329" algn="just">
              <a:spcBef>
                <a:spcPts val="1045"/>
              </a:spcBef>
              <a:buFont typeface="Arial MT"/>
              <a:buChar char="•"/>
              <a:tabLst>
                <a:tab pos="241300" algn="l"/>
                <a:tab pos="905510" algn="l"/>
                <a:tab pos="1917700" algn="l"/>
                <a:tab pos="2512060" algn="l"/>
                <a:tab pos="4687570" algn="l"/>
                <a:tab pos="5085080" algn="l"/>
                <a:tab pos="6228080" algn="l"/>
                <a:tab pos="7066915" algn="l"/>
                <a:tab pos="7498080" algn="l"/>
                <a:tab pos="959231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words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the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several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ways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ideas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transact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knowledge.</a:t>
            </a:r>
            <a:endParaRPr sz="2800" dirty="0">
              <a:latin typeface="Calibri"/>
              <a:cs typeface="Calibri"/>
            </a:endParaRPr>
          </a:p>
          <a:p>
            <a:pPr marL="240029" marR="7620" indent="-227965" algn="just"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divied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categories:</a:t>
            </a:r>
            <a:r>
              <a:rPr sz="2800" spc="254" dirty="0">
                <a:latin typeface="Calibri"/>
                <a:cs typeface="Calibri"/>
              </a:rPr>
              <a:t> </a:t>
            </a:r>
            <a:endParaRPr lang="en-US" sz="2800" spc="254" dirty="0">
              <a:latin typeface="Calibri"/>
              <a:cs typeface="Calibri"/>
            </a:endParaRPr>
          </a:p>
          <a:p>
            <a:pPr marL="12064" marR="7620" lvl="4" algn="just">
              <a:spcBef>
                <a:spcPts val="994"/>
              </a:spcBef>
              <a:tabLst>
                <a:tab pos="241300" algn="l"/>
              </a:tabLst>
            </a:pPr>
            <a:r>
              <a:rPr lang="en-US" sz="2800" spc="254" dirty="0" smtClean="0">
                <a:latin typeface="Calibri"/>
                <a:cs typeface="Calibri"/>
              </a:rPr>
              <a:t>               </a:t>
            </a:r>
            <a:r>
              <a:rPr sz="2800" dirty="0" smtClean="0">
                <a:latin typeface="Calibri"/>
                <a:cs typeface="Calibri"/>
              </a:rPr>
              <a:t>Noun</a:t>
            </a:r>
            <a:r>
              <a:rPr sz="2800" spc="265" dirty="0" smtClean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forms </a:t>
            </a:r>
            <a:r>
              <a:rPr sz="2800" dirty="0" smtClean="0">
                <a:latin typeface="Calibri"/>
                <a:cs typeface="Calibri"/>
              </a:rPr>
              <a:t>(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subanta)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endParaRPr lang="en-US" sz="2800" spc="-70" dirty="0" smtClean="0">
              <a:latin typeface="Calibri"/>
              <a:cs typeface="Calibri"/>
            </a:endParaRPr>
          </a:p>
          <a:p>
            <a:pPr marL="12064" marR="7620" lvl="5" algn="just">
              <a:spcBef>
                <a:spcPts val="994"/>
              </a:spcBef>
              <a:tabLst>
                <a:tab pos="241300" algn="l"/>
              </a:tabLst>
            </a:pPr>
            <a:r>
              <a:rPr lang="en-US" sz="2800" dirty="0" smtClean="0">
                <a:latin typeface="Calibri"/>
                <a:cs typeface="Calibri"/>
              </a:rPr>
              <a:t>                     V</a:t>
            </a:r>
            <a:r>
              <a:rPr sz="2800" dirty="0" smtClean="0">
                <a:latin typeface="Calibri"/>
                <a:cs typeface="Calibri"/>
              </a:rPr>
              <a:t>erb</a:t>
            </a:r>
            <a:r>
              <a:rPr sz="2800" spc="-85" dirty="0" smtClean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(known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Tinanta).</a:t>
            </a:r>
            <a:endParaRPr sz="2800" dirty="0">
              <a:latin typeface="Calibri"/>
              <a:cs typeface="Calibri"/>
            </a:endParaRPr>
          </a:p>
          <a:p>
            <a:pPr marL="3783329" algn="just">
              <a:spcBef>
                <a:spcPts val="625"/>
              </a:spcBef>
            </a:pP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Word=</a:t>
            </a:r>
            <a:r>
              <a:rPr sz="28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Base+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Suffix</a:t>
            </a:r>
            <a:endParaRPr sz="2800" dirty="0">
              <a:latin typeface="Calibri"/>
              <a:cs typeface="Calibri"/>
            </a:endParaRPr>
          </a:p>
          <a:p>
            <a:pPr marL="240029" marR="5080" indent="-227965" algn="just">
              <a:spcBef>
                <a:spcPts val="1055"/>
              </a:spcBef>
              <a:buFont typeface="Arial MT"/>
              <a:buChar char="•"/>
              <a:tabLst>
                <a:tab pos="241300" algn="l"/>
                <a:tab pos="1148080" algn="l"/>
                <a:tab pos="2303145" algn="l"/>
                <a:tab pos="2651125" algn="l"/>
                <a:tab pos="3600450" algn="l"/>
                <a:tab pos="4080510" algn="l"/>
                <a:tab pos="4739005" algn="l"/>
                <a:tab pos="5676265" algn="l"/>
                <a:tab pos="7033259" algn="l"/>
                <a:tab pos="8997315" algn="l"/>
                <a:tab pos="9879965" algn="l"/>
              </a:tabLst>
            </a:pPr>
            <a:r>
              <a:rPr sz="2800" spc="-10" dirty="0">
                <a:latin typeface="Calibri"/>
                <a:cs typeface="Calibri"/>
              </a:rPr>
              <a:t>After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adding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suffix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base,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relevant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grammatical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rules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invoked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670" y="1793493"/>
            <a:ext cx="10360659" cy="19389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 smtClean="0"/>
              <a:t>Words </a:t>
            </a:r>
            <a:r>
              <a:rPr lang="en-IN" dirty="0"/>
              <a:t>are typically formed by combining a </a:t>
            </a:r>
            <a:endParaRPr lang="en-IN" dirty="0" smtClean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</a:t>
            </a:r>
            <a:r>
              <a:rPr lang="en-IN" b="1" dirty="0" smtClean="0"/>
              <a:t>ase (</a:t>
            </a:r>
            <a:r>
              <a:rPr lang="en-IN" b="1" dirty="0" err="1" smtClean="0"/>
              <a:t>Prakṛti</a:t>
            </a:r>
            <a:r>
              <a:rPr lang="en-IN" b="1" dirty="0"/>
              <a:t>)</a:t>
            </a:r>
            <a:r>
              <a:rPr lang="en-IN" dirty="0"/>
              <a:t> </a:t>
            </a:r>
            <a:endParaRPr lang="en-IN" dirty="0" smtClean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</a:t>
            </a:r>
            <a:r>
              <a:rPr lang="en-IN" b="1" dirty="0" smtClean="0"/>
              <a:t>uffix (</a:t>
            </a:r>
            <a:r>
              <a:rPr lang="en-IN" b="1" dirty="0" err="1" smtClean="0"/>
              <a:t>Pratyaya</a:t>
            </a:r>
            <a:r>
              <a:rPr lang="en-IN" b="1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90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2400"/>
            <a:ext cx="9077960" cy="69723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990600"/>
            <a:ext cx="10360659" cy="544764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/>
              <a:t>1. Base (</a:t>
            </a:r>
            <a:r>
              <a:rPr lang="en-IN" b="1" dirty="0" err="1"/>
              <a:t>Prakṛti</a:t>
            </a:r>
            <a:r>
              <a:rPr lang="en-IN" b="1" dirty="0"/>
              <a:t>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base</a:t>
            </a:r>
            <a:r>
              <a:rPr lang="en-IN" dirty="0"/>
              <a:t> is the </a:t>
            </a:r>
            <a:r>
              <a:rPr lang="en-IN" b="1" dirty="0"/>
              <a:t>root form of a word</a:t>
            </a:r>
            <a:r>
              <a:rPr lang="en-IN" dirty="0"/>
              <a:t> that carries the essential meaning. It can be either: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Dhātu</a:t>
            </a:r>
            <a:r>
              <a:rPr lang="en-IN" b="1" dirty="0"/>
              <a:t> (Root)</a:t>
            </a:r>
            <a:r>
              <a:rPr lang="en-IN" dirty="0"/>
              <a:t>: The verb root, which forms the base for conjugated verbs.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/>
              <a:t>Example: </a:t>
            </a:r>
            <a:r>
              <a:rPr lang="en-IN" sz="2000" b="1" dirty="0"/>
              <a:t>"gam" (</a:t>
            </a:r>
            <a:r>
              <a:rPr lang="en-IN" sz="2000" b="1" dirty="0" err="1"/>
              <a:t>गम्</a:t>
            </a:r>
            <a:r>
              <a:rPr lang="en-IN" sz="2000" b="1" dirty="0"/>
              <a:t>)</a:t>
            </a:r>
            <a:r>
              <a:rPr lang="en-IN" sz="2000" dirty="0"/>
              <a:t> → "to go"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Prātipadika</a:t>
            </a:r>
            <a:r>
              <a:rPr lang="en-IN" b="1" dirty="0"/>
              <a:t> (Nominal Base)</a:t>
            </a:r>
            <a:r>
              <a:rPr lang="en-IN" dirty="0"/>
              <a:t>: The base form of a noun or adjective before adding case endings. 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/>
              <a:t>Example: </a:t>
            </a:r>
            <a:r>
              <a:rPr lang="en-IN" sz="2000" b="1" dirty="0"/>
              <a:t>"</a:t>
            </a:r>
            <a:r>
              <a:rPr lang="en-IN" sz="2000" b="1" dirty="0" err="1"/>
              <a:t>Rāma</a:t>
            </a:r>
            <a:r>
              <a:rPr lang="en-IN" sz="2000" b="1" dirty="0"/>
              <a:t>" (</a:t>
            </a:r>
            <a:r>
              <a:rPr lang="en-IN" sz="2000" b="1" dirty="0" err="1"/>
              <a:t>राम</a:t>
            </a:r>
            <a:r>
              <a:rPr lang="en-IN" sz="2000" b="1" dirty="0"/>
              <a:t>)</a:t>
            </a:r>
            <a:r>
              <a:rPr lang="en-IN" sz="2000" dirty="0"/>
              <a:t> → Base form before adding suffixes like "ḥ" (</a:t>
            </a:r>
            <a:r>
              <a:rPr lang="en-IN" sz="2000" dirty="0" err="1"/>
              <a:t>रामः</a:t>
            </a:r>
            <a:r>
              <a:rPr lang="en-IN" sz="2000" dirty="0" smtClean="0"/>
              <a:t>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13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33400"/>
            <a:ext cx="10360659" cy="54902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/>
              <a:t>2. Suffix (</a:t>
            </a:r>
            <a:r>
              <a:rPr lang="en-IN" sz="2000" b="1" dirty="0" err="1"/>
              <a:t>Pratyaya</a:t>
            </a:r>
            <a:r>
              <a:rPr lang="en-IN" sz="20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 </a:t>
            </a:r>
            <a:r>
              <a:rPr lang="en-IN" sz="2000" b="1" dirty="0"/>
              <a:t>suffix</a:t>
            </a:r>
            <a:r>
              <a:rPr lang="en-IN" sz="2000" dirty="0"/>
              <a:t> is an additional element attached to the base, which modifies its meaning or function. There are different types: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/>
              <a:t>	a</a:t>
            </a:r>
            <a:r>
              <a:rPr lang="en-IN" sz="2000" b="1" dirty="0"/>
              <a:t>) Verbal Suffixes (</a:t>
            </a:r>
            <a:r>
              <a:rPr lang="en-IN" sz="2000" b="1" dirty="0" err="1"/>
              <a:t>Tiñ-pratyaya</a:t>
            </a:r>
            <a:r>
              <a:rPr lang="en-IN" sz="20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These are added to verb roots (</a:t>
            </a:r>
            <a:r>
              <a:rPr lang="en-IN" sz="2000" b="1" dirty="0" err="1"/>
              <a:t>dhātus</a:t>
            </a:r>
            <a:r>
              <a:rPr lang="en-IN" sz="2000" dirty="0"/>
              <a:t>) to indicate tense, mood, and person.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Example: </a:t>
            </a:r>
            <a:r>
              <a:rPr lang="en-IN" sz="2000" b="1" dirty="0"/>
              <a:t>"</a:t>
            </a:r>
            <a:r>
              <a:rPr lang="hi-IN" sz="2000" b="1" dirty="0"/>
              <a:t>गम्" (</a:t>
            </a:r>
            <a:r>
              <a:rPr lang="en-IN" sz="2000" b="1" dirty="0"/>
              <a:t>gam) + "</a:t>
            </a:r>
            <a:r>
              <a:rPr lang="hi-IN" sz="2000" b="1" dirty="0"/>
              <a:t>ति" (</a:t>
            </a:r>
            <a:r>
              <a:rPr lang="en-IN" sz="2000" b="1" dirty="0"/>
              <a:t>ti) → </a:t>
            </a:r>
            <a:r>
              <a:rPr lang="hi-IN" sz="2000" b="1" dirty="0"/>
              <a:t>गच्छति (</a:t>
            </a:r>
            <a:r>
              <a:rPr lang="en-IN" sz="2000" b="1" dirty="0" err="1"/>
              <a:t>gacchati</a:t>
            </a:r>
            <a:r>
              <a:rPr lang="en-IN" sz="2000" b="1" dirty="0"/>
              <a:t>)</a:t>
            </a:r>
            <a:r>
              <a:rPr lang="en-IN" sz="2000" dirty="0"/>
              <a:t> (He/She/It goes)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/>
              <a:t>	b</a:t>
            </a:r>
            <a:r>
              <a:rPr lang="en-IN" sz="2000" b="1" dirty="0"/>
              <a:t>) Nominal Suffixes (</a:t>
            </a:r>
            <a:r>
              <a:rPr lang="en-IN" sz="2000" b="1" dirty="0" err="1"/>
              <a:t>Subanta-pratyaya</a:t>
            </a:r>
            <a:r>
              <a:rPr lang="en-IN" sz="20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These are used to decline nouns and adjectives based on number, case, and gender.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Example: </a:t>
            </a:r>
            <a:r>
              <a:rPr lang="en-IN" sz="2000" b="1" dirty="0"/>
              <a:t>"</a:t>
            </a:r>
            <a:r>
              <a:rPr lang="hi-IN" sz="2000" b="1" dirty="0"/>
              <a:t>राम" (</a:t>
            </a:r>
            <a:r>
              <a:rPr lang="en-IN" sz="2000" b="1" dirty="0" err="1"/>
              <a:t>Rāma</a:t>
            </a:r>
            <a:r>
              <a:rPr lang="en-IN" sz="2000" b="1" dirty="0"/>
              <a:t>) + "</a:t>
            </a:r>
            <a:r>
              <a:rPr lang="hi-IN" sz="2000" b="1" dirty="0"/>
              <a:t>स्" (</a:t>
            </a:r>
            <a:r>
              <a:rPr lang="en-IN" sz="2000" b="1" dirty="0"/>
              <a:t>ḥ) → "</a:t>
            </a:r>
            <a:r>
              <a:rPr lang="hi-IN" sz="2000" b="1" dirty="0"/>
              <a:t>रामः" (</a:t>
            </a:r>
            <a:r>
              <a:rPr lang="en-IN" sz="2000" b="1" dirty="0" err="1"/>
              <a:t>Rāmaḥ</a:t>
            </a:r>
            <a:r>
              <a:rPr lang="en-IN" sz="2000" b="1" dirty="0"/>
              <a:t>)</a:t>
            </a:r>
            <a:r>
              <a:rPr lang="en-IN" sz="2000" dirty="0"/>
              <a:t> (Nominative singular)</a:t>
            </a:r>
          </a:p>
          <a:p>
            <a:pPr>
              <a:lnSpc>
                <a:spcPct val="150000"/>
              </a:lnSpc>
            </a:pPr>
            <a:r>
              <a:rPr lang="en-IN" sz="2000" b="1" dirty="0" smtClean="0"/>
              <a:t>	c</a:t>
            </a:r>
            <a:r>
              <a:rPr lang="en-IN" sz="2000" b="1" dirty="0"/>
              <a:t>) Primary Suffixes (</a:t>
            </a:r>
            <a:r>
              <a:rPr lang="en-IN" sz="2000" b="1" dirty="0" err="1"/>
              <a:t>Kṛt-pratyaya</a:t>
            </a:r>
            <a:r>
              <a:rPr lang="en-IN" sz="20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These are added to roots to form nouns or adjectives.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Example: </a:t>
            </a:r>
            <a:r>
              <a:rPr lang="en-IN" sz="2000" b="1" dirty="0"/>
              <a:t>"</a:t>
            </a:r>
            <a:r>
              <a:rPr lang="hi-IN" sz="2000" b="1" dirty="0"/>
              <a:t>पठ्" (</a:t>
            </a:r>
            <a:r>
              <a:rPr lang="en-IN" sz="2000" b="1" dirty="0" err="1"/>
              <a:t>paṭh</a:t>
            </a:r>
            <a:r>
              <a:rPr lang="en-IN" sz="2000" b="1" dirty="0"/>
              <a:t>, to read) + "</a:t>
            </a:r>
            <a:r>
              <a:rPr lang="hi-IN" sz="2000" b="1" dirty="0"/>
              <a:t>क" → "पाठक" (</a:t>
            </a:r>
            <a:r>
              <a:rPr lang="en-IN" sz="2000" b="1" dirty="0" err="1"/>
              <a:t>pāṭhaka</a:t>
            </a:r>
            <a:r>
              <a:rPr lang="en-IN" sz="2000" b="1" dirty="0"/>
              <a:t>, reader)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8932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Patterns</a:t>
            </a:r>
            <a:r>
              <a:rPr spc="-9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Vocabulary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981200"/>
            <a:ext cx="8395716" cy="40309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19757"/>
            <a:ext cx="115062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Verb Formation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1.Starts </a:t>
            </a:r>
            <a:r>
              <a:rPr lang="en-US" altLang="en-US" sz="2000" dirty="0">
                <a:latin typeface="Arial" panose="020B0604020202020204" pitchFamily="34" charset="0"/>
              </a:rPr>
              <a:t>with a </a:t>
            </a:r>
            <a:r>
              <a:rPr lang="en-US" altLang="en-US" sz="2000" b="1" dirty="0">
                <a:latin typeface="Arial" panose="020B0604020202020204" pitchFamily="34" charset="0"/>
              </a:rPr>
              <a:t>Verb Root (</a:t>
            </a:r>
            <a:r>
              <a:rPr lang="en-US" altLang="en-US" sz="2000" b="1" dirty="0" err="1">
                <a:latin typeface="Arial" panose="020B0604020202020204" pitchFamily="34" charset="0"/>
              </a:rPr>
              <a:t>Dhātu</a:t>
            </a:r>
            <a:r>
              <a:rPr lang="en-US" altLang="en-US" sz="2000" b="1" dirty="0">
                <a:latin typeface="Arial" panose="020B0604020202020204" pitchFamily="34" charset="0"/>
              </a:rPr>
              <a:t>)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2. Adds </a:t>
            </a:r>
            <a:r>
              <a:rPr lang="en-US" altLang="en-US" sz="2000" b="1" dirty="0">
                <a:latin typeface="Arial" panose="020B0604020202020204" pitchFamily="34" charset="0"/>
              </a:rPr>
              <a:t>Required Suffixes (Ting-</a:t>
            </a:r>
            <a:r>
              <a:rPr lang="en-US" altLang="en-US" sz="2000" b="1" dirty="0" err="1">
                <a:latin typeface="Arial" panose="020B0604020202020204" pitchFamily="34" charset="0"/>
              </a:rPr>
              <a:t>pratyaya</a:t>
            </a:r>
            <a:r>
              <a:rPr lang="en-US" altLang="en-US" sz="2000" b="1" dirty="0">
                <a:latin typeface="Arial" panose="020B0604020202020204" pitchFamily="34" charset="0"/>
              </a:rPr>
              <a:t>)</a:t>
            </a:r>
            <a:r>
              <a:rPr lang="en-US" altLang="en-US" sz="2000" dirty="0">
                <a:latin typeface="Arial" panose="020B0604020202020204" pitchFamily="34" charset="0"/>
              </a:rPr>
              <a:t> based on tense, person, and </a:t>
            </a:r>
            <a:r>
              <a:rPr lang="en-US" altLang="en-US" sz="2000" dirty="0" smtClean="0">
                <a:latin typeface="Arial" panose="020B0604020202020204" pitchFamily="34" charset="0"/>
              </a:rPr>
              <a:t>number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3. Forms </a:t>
            </a:r>
            <a:r>
              <a:rPr lang="en-US" altLang="en-US" sz="2000" dirty="0">
                <a:latin typeface="Arial" panose="020B0604020202020204" pitchFamily="34" charset="0"/>
              </a:rPr>
              <a:t>a </a:t>
            </a:r>
            <a:r>
              <a:rPr lang="en-US" altLang="en-US" sz="2000" b="1" dirty="0">
                <a:latin typeface="Arial" panose="020B0604020202020204" pitchFamily="34" charset="0"/>
              </a:rPr>
              <a:t>Verb Form</a:t>
            </a:r>
            <a:r>
              <a:rPr lang="en-US" altLang="en-US" sz="2000" dirty="0">
                <a:latin typeface="Arial" panose="020B0604020202020204" pitchFamily="34" charset="0"/>
              </a:rPr>
              <a:t>, which contributes to creating a complete </a:t>
            </a:r>
            <a:r>
              <a:rPr lang="en-US" altLang="en-US" sz="2000" b="1" dirty="0">
                <a:latin typeface="Arial" panose="020B0604020202020204" pitchFamily="34" charset="0"/>
              </a:rPr>
              <a:t>Word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b="1" dirty="0">
                <a:latin typeface="Arial" panose="020B0604020202020204" pitchFamily="34" charset="0"/>
              </a:rPr>
              <a:t>Noun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Formation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1. Starts </a:t>
            </a:r>
            <a:r>
              <a:rPr lang="en-US" altLang="en-US" sz="2000" dirty="0">
                <a:latin typeface="Arial" panose="020B0604020202020204" pitchFamily="34" charset="0"/>
              </a:rPr>
              <a:t>with a </a:t>
            </a:r>
            <a:r>
              <a:rPr lang="en-US" altLang="en-US" sz="2000" b="1" dirty="0">
                <a:latin typeface="Arial" panose="020B0604020202020204" pitchFamily="34" charset="0"/>
              </a:rPr>
              <a:t>Noun Root (</a:t>
            </a:r>
            <a:r>
              <a:rPr lang="en-US" altLang="en-US" sz="2000" b="1" dirty="0" err="1">
                <a:latin typeface="Arial" panose="020B0604020202020204" pitchFamily="34" charset="0"/>
              </a:rPr>
              <a:t>Prātipadika</a:t>
            </a:r>
            <a:r>
              <a:rPr lang="en-US" altLang="en-US" sz="2000" b="1" dirty="0">
                <a:latin typeface="Arial" panose="020B0604020202020204" pitchFamily="34" charset="0"/>
              </a:rPr>
              <a:t>)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2. Can </a:t>
            </a:r>
            <a:r>
              <a:rPr lang="en-US" altLang="en-US" sz="2000" dirty="0">
                <a:latin typeface="Arial" panose="020B0604020202020204" pitchFamily="34" charset="0"/>
              </a:rPr>
              <a:t>optionally have an </a:t>
            </a:r>
            <a:r>
              <a:rPr lang="en-US" altLang="en-US" sz="2000" b="1" dirty="0">
                <a:latin typeface="Arial" panose="020B0604020202020204" pitchFamily="34" charset="0"/>
              </a:rPr>
              <a:t>additional suffix (</a:t>
            </a:r>
            <a:r>
              <a:rPr lang="en-US" altLang="en-US" sz="2000" b="1" dirty="0" err="1">
                <a:latin typeface="Arial" panose="020B0604020202020204" pitchFamily="34" charset="0"/>
              </a:rPr>
              <a:t>Taddhita-pratyaya</a:t>
            </a:r>
            <a:r>
              <a:rPr lang="en-US" altLang="en-US" sz="2000" b="1" dirty="0">
                <a:latin typeface="Arial" panose="020B0604020202020204" pitchFamily="34" charset="0"/>
              </a:rPr>
              <a:t>, </a:t>
            </a:r>
            <a:r>
              <a:rPr lang="en-US" altLang="en-US" sz="2000" b="1" dirty="0" err="1">
                <a:latin typeface="Arial" panose="020B0604020202020204" pitchFamily="34" charset="0"/>
              </a:rPr>
              <a:t>Kṛt-pratyaya</a:t>
            </a:r>
            <a:r>
              <a:rPr lang="en-US" altLang="en-US" sz="2000" b="1" dirty="0">
                <a:latin typeface="Arial" panose="020B0604020202020204" pitchFamily="34" charset="0"/>
              </a:rPr>
              <a:t>,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	etc</a:t>
            </a:r>
            <a:r>
              <a:rPr lang="en-US" altLang="en-US" sz="2000" b="1" dirty="0">
                <a:latin typeface="Arial" panose="020B0604020202020204" pitchFamily="34" charset="0"/>
              </a:rPr>
              <a:t>.)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3. Adds </a:t>
            </a:r>
            <a:r>
              <a:rPr lang="en-US" altLang="en-US" sz="2000" b="1" dirty="0">
                <a:latin typeface="Arial" panose="020B0604020202020204" pitchFamily="34" charset="0"/>
              </a:rPr>
              <a:t>Required Suffixes (Sup-</a:t>
            </a:r>
            <a:r>
              <a:rPr lang="en-US" altLang="en-US" sz="2000" b="1" dirty="0" err="1">
                <a:latin typeface="Arial" panose="020B0604020202020204" pitchFamily="34" charset="0"/>
              </a:rPr>
              <a:t>pratyaya</a:t>
            </a:r>
            <a:r>
              <a:rPr lang="en-US" altLang="en-US" sz="2000" b="1" dirty="0">
                <a:latin typeface="Arial" panose="020B0604020202020204" pitchFamily="34" charset="0"/>
              </a:rPr>
              <a:t>)</a:t>
            </a:r>
            <a:r>
              <a:rPr lang="en-US" altLang="en-US" sz="2000" dirty="0">
                <a:latin typeface="Arial" panose="020B0604020202020204" pitchFamily="34" charset="0"/>
              </a:rPr>
              <a:t> based on case, number, and </a:t>
            </a:r>
            <a:r>
              <a:rPr lang="en-US" altLang="en-US" sz="2000" dirty="0" smtClean="0">
                <a:latin typeface="Arial" panose="020B0604020202020204" pitchFamily="34" charset="0"/>
              </a:rPr>
              <a:t>gender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4. Forms </a:t>
            </a:r>
            <a:r>
              <a:rPr lang="en-US" altLang="en-US" sz="2000" dirty="0">
                <a:latin typeface="Arial" panose="020B0604020202020204" pitchFamily="34" charset="0"/>
              </a:rPr>
              <a:t>a </a:t>
            </a:r>
            <a:r>
              <a:rPr lang="en-US" altLang="en-US" sz="2000" b="1" dirty="0">
                <a:latin typeface="Arial" panose="020B0604020202020204" pitchFamily="34" charset="0"/>
              </a:rPr>
              <a:t>Noun Form</a:t>
            </a:r>
            <a:r>
              <a:rPr lang="en-US" altLang="en-US" sz="2000" dirty="0">
                <a:latin typeface="Arial" panose="020B0604020202020204" pitchFamily="34" charset="0"/>
              </a:rPr>
              <a:t>, which contributes to creating a complete </a:t>
            </a:r>
            <a:r>
              <a:rPr lang="en-US" altLang="en-US" sz="2000" b="1" dirty="0">
                <a:latin typeface="Arial" panose="020B0604020202020204" pitchFamily="34" charset="0"/>
              </a:rPr>
              <a:t>Word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b="1" dirty="0">
                <a:latin typeface="Arial" panose="020B0604020202020204" pitchFamily="34" charset="0"/>
              </a:rPr>
              <a:t>Commonality Between Verbs and Nouns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1. Both </a:t>
            </a:r>
            <a:r>
              <a:rPr lang="en-US" altLang="en-US" sz="2000" b="1" dirty="0">
                <a:latin typeface="Arial" panose="020B0604020202020204" pitchFamily="34" charset="0"/>
              </a:rPr>
              <a:t>verb roots and noun roots</a:t>
            </a:r>
            <a:r>
              <a:rPr lang="en-US" altLang="en-US" sz="2000" dirty="0">
                <a:latin typeface="Arial" panose="020B0604020202020204" pitchFamily="34" charset="0"/>
              </a:rPr>
              <a:t> can have suffixes.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</a:rPr>
              <a:t>	2. Some </a:t>
            </a:r>
            <a:r>
              <a:rPr lang="en-US" altLang="en-US" sz="2000" dirty="0">
                <a:latin typeface="Arial" panose="020B0604020202020204" pitchFamily="34" charset="0"/>
              </a:rPr>
              <a:t>suffixes convert </a:t>
            </a:r>
            <a:r>
              <a:rPr lang="en-US" altLang="en-US" sz="2000" b="1" dirty="0">
                <a:latin typeface="Arial" panose="020B0604020202020204" pitchFamily="34" charset="0"/>
              </a:rPr>
              <a:t>verbs into nouns or vice versa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8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Computational</a:t>
            </a:r>
            <a:r>
              <a:rPr spc="-114" dirty="0"/>
              <a:t> </a:t>
            </a:r>
            <a:r>
              <a:rPr dirty="0"/>
              <a:t>concepts</a:t>
            </a:r>
            <a:r>
              <a:rPr spc="-10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spc="-10" dirty="0"/>
              <a:t>Astadhyayi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36995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544320" algn="l"/>
                <a:tab pos="3018155" algn="l"/>
                <a:tab pos="3673475" algn="l"/>
                <a:tab pos="4003040" algn="l"/>
                <a:tab pos="5095875" algn="l"/>
                <a:tab pos="6914515" algn="l"/>
                <a:tab pos="7376159" algn="l"/>
                <a:tab pos="8814435" algn="l"/>
                <a:tab pos="9328785" algn="l"/>
              </a:tabLst>
            </a:pPr>
            <a:r>
              <a:rPr sz="2800" spc="-10" dirty="0">
                <a:latin typeface="Calibri"/>
                <a:cs typeface="Calibri"/>
              </a:rPr>
              <a:t>Sanskrit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grammar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robust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mechanism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generate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infinite 	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words.</a:t>
            </a:r>
            <a:endParaRPr sz="2800">
              <a:latin typeface="Calibri"/>
              <a:cs typeface="Calibri"/>
            </a:endParaRPr>
          </a:p>
          <a:p>
            <a:pPr marL="240029" marR="635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aspects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Panini’s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rules: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Vocabulary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exclusively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work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9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Abbreviated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(mnemonics)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brevity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retention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ideas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5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Exclusive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syntax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Astadhyayi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04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5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Recursive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Computational</a:t>
            </a:r>
            <a:r>
              <a:rPr spc="-114" dirty="0"/>
              <a:t> </a:t>
            </a:r>
            <a:r>
              <a:rPr dirty="0"/>
              <a:t>concepts</a:t>
            </a:r>
            <a:r>
              <a:rPr spc="-10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spc="-10" dirty="0"/>
              <a:t>Astadhyayi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828800"/>
            <a:ext cx="9157716" cy="4585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Mahesvara</a:t>
            </a:r>
            <a:r>
              <a:rPr spc="-185" dirty="0"/>
              <a:t> </a:t>
            </a:r>
            <a:r>
              <a:rPr spc="-10" dirty="0"/>
              <a:t>Sutra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447800"/>
            <a:ext cx="10360659" cy="495776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7620" indent="-22796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75" dirty="0"/>
              <a:t> </a:t>
            </a:r>
            <a:r>
              <a:rPr dirty="0"/>
              <a:t>entire</a:t>
            </a:r>
            <a:r>
              <a:rPr spc="190" dirty="0"/>
              <a:t> </a:t>
            </a:r>
            <a:r>
              <a:rPr dirty="0"/>
              <a:t>Sanskrit</a:t>
            </a:r>
            <a:r>
              <a:rPr spc="185" dirty="0"/>
              <a:t> </a:t>
            </a:r>
            <a:r>
              <a:rPr dirty="0"/>
              <a:t>grammar</a:t>
            </a:r>
            <a:r>
              <a:rPr spc="180" dirty="0"/>
              <a:t> </a:t>
            </a:r>
            <a:r>
              <a:rPr dirty="0"/>
              <a:t>of</a:t>
            </a:r>
            <a:r>
              <a:rPr spc="175" dirty="0"/>
              <a:t> </a:t>
            </a:r>
            <a:r>
              <a:rPr dirty="0"/>
              <a:t>Panini</a:t>
            </a:r>
            <a:r>
              <a:rPr spc="175" dirty="0"/>
              <a:t> </a:t>
            </a:r>
            <a:r>
              <a:rPr dirty="0"/>
              <a:t>rests</a:t>
            </a:r>
            <a:r>
              <a:rPr spc="175" dirty="0"/>
              <a:t> </a:t>
            </a:r>
            <a:r>
              <a:rPr dirty="0"/>
              <a:t>on</a:t>
            </a:r>
            <a:r>
              <a:rPr spc="175" dirty="0"/>
              <a:t> </a:t>
            </a:r>
            <a:r>
              <a:rPr dirty="0"/>
              <a:t>a</a:t>
            </a:r>
            <a:r>
              <a:rPr spc="180" dirty="0"/>
              <a:t> </a:t>
            </a:r>
            <a:r>
              <a:rPr dirty="0"/>
              <a:t>fundamental</a:t>
            </a:r>
            <a:r>
              <a:rPr spc="200" dirty="0"/>
              <a:t> </a:t>
            </a:r>
            <a:r>
              <a:rPr dirty="0"/>
              <a:t>set</a:t>
            </a:r>
            <a:r>
              <a:rPr spc="175" dirty="0"/>
              <a:t> </a:t>
            </a:r>
            <a:r>
              <a:rPr spc="-25" dirty="0"/>
              <a:t>of 	</a:t>
            </a:r>
            <a:r>
              <a:rPr dirty="0"/>
              <a:t>sutras</a:t>
            </a:r>
            <a:r>
              <a:rPr spc="-70" dirty="0"/>
              <a:t> </a:t>
            </a:r>
            <a:r>
              <a:rPr dirty="0"/>
              <a:t>known</a:t>
            </a:r>
            <a:r>
              <a:rPr spc="-6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b="1" spc="-20" dirty="0"/>
              <a:t>Mahesvara</a:t>
            </a:r>
            <a:r>
              <a:rPr b="1" spc="-70" dirty="0"/>
              <a:t> </a:t>
            </a:r>
            <a:r>
              <a:rPr b="1" spc="-10" dirty="0"/>
              <a:t>Sutras</a:t>
            </a:r>
            <a:r>
              <a:rPr spc="-10" dirty="0"/>
              <a:t>.</a:t>
            </a:r>
          </a:p>
          <a:p>
            <a:pPr marL="241300" indent="-227965" algn="just">
              <a:lnSpc>
                <a:spcPct val="15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These</a:t>
            </a:r>
            <a:r>
              <a:rPr spc="-95" dirty="0"/>
              <a:t> </a:t>
            </a:r>
            <a:r>
              <a:rPr dirty="0"/>
              <a:t>sutras,</a:t>
            </a:r>
            <a:r>
              <a:rPr spc="-60" dirty="0"/>
              <a:t> </a:t>
            </a:r>
            <a:r>
              <a:rPr b="1" dirty="0"/>
              <a:t>14</a:t>
            </a:r>
            <a:r>
              <a:rPr spc="-7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30" dirty="0"/>
              <a:t>number,</a:t>
            </a:r>
            <a:r>
              <a:rPr spc="-50" dirty="0"/>
              <a:t> </a:t>
            </a:r>
            <a:r>
              <a:rPr dirty="0"/>
              <a:t>present</a:t>
            </a:r>
            <a:r>
              <a:rPr spc="-60" dirty="0"/>
              <a:t> </a:t>
            </a:r>
            <a:r>
              <a:rPr spc="-10" dirty="0"/>
              <a:t>letters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Sanskrit</a:t>
            </a:r>
            <a:r>
              <a:rPr spc="-75" dirty="0"/>
              <a:t> </a:t>
            </a:r>
            <a:r>
              <a:rPr spc="-10" dirty="0"/>
              <a:t>uniquely.</a:t>
            </a:r>
          </a:p>
          <a:p>
            <a:pPr marL="241300" indent="-227965" algn="just">
              <a:lnSpc>
                <a:spcPct val="15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</a:t>
            </a:r>
            <a:r>
              <a:rPr spc="-90" dirty="0"/>
              <a:t> </a:t>
            </a:r>
            <a:r>
              <a:rPr b="1" dirty="0"/>
              <a:t>first</a:t>
            </a:r>
            <a:r>
              <a:rPr b="1" spc="-75" dirty="0"/>
              <a:t> </a:t>
            </a:r>
            <a:r>
              <a:rPr b="1" dirty="0"/>
              <a:t>four</a:t>
            </a:r>
            <a:r>
              <a:rPr b="1" spc="-85" dirty="0"/>
              <a:t> </a:t>
            </a:r>
            <a:r>
              <a:rPr b="1" dirty="0"/>
              <a:t>sutras</a:t>
            </a:r>
            <a:r>
              <a:rPr b="1" spc="-65" dirty="0"/>
              <a:t> </a:t>
            </a:r>
            <a:r>
              <a:rPr dirty="0"/>
              <a:t>covers</a:t>
            </a:r>
            <a:r>
              <a:rPr spc="-8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b="1" dirty="0"/>
              <a:t>alphabets</a:t>
            </a:r>
            <a:r>
              <a:rPr b="1" spc="-65" dirty="0"/>
              <a:t> </a:t>
            </a:r>
            <a:r>
              <a:rPr b="1" dirty="0"/>
              <a:t>in</a:t>
            </a:r>
            <a:r>
              <a:rPr b="1" spc="-80" dirty="0"/>
              <a:t> </a:t>
            </a:r>
            <a:r>
              <a:rPr b="1" dirty="0"/>
              <a:t>the</a:t>
            </a:r>
            <a:r>
              <a:rPr b="1" spc="-85" dirty="0"/>
              <a:t> </a:t>
            </a:r>
            <a:r>
              <a:rPr b="1" dirty="0"/>
              <a:t>normal</a:t>
            </a:r>
            <a:r>
              <a:rPr b="1" spc="-90" dirty="0"/>
              <a:t> </a:t>
            </a:r>
            <a:r>
              <a:rPr b="1" spc="-10" dirty="0"/>
              <a:t>order</a:t>
            </a:r>
            <a:r>
              <a:rPr spc="-10" dirty="0"/>
              <a:t>.</a:t>
            </a:r>
          </a:p>
          <a:p>
            <a:pPr marL="240029" marR="5080" indent="-227329" algn="just">
              <a:lnSpc>
                <a:spcPct val="150000"/>
              </a:lnSpc>
              <a:spcBef>
                <a:spcPts val="103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Sutras</a:t>
            </a:r>
            <a:r>
              <a:rPr spc="265" dirty="0"/>
              <a:t> </a:t>
            </a:r>
            <a:r>
              <a:rPr b="1" dirty="0"/>
              <a:t>5</a:t>
            </a:r>
            <a:r>
              <a:rPr b="1" spc="254" dirty="0"/>
              <a:t> </a:t>
            </a:r>
            <a:r>
              <a:rPr b="1" dirty="0"/>
              <a:t>to14</a:t>
            </a:r>
            <a:r>
              <a:rPr spc="270" dirty="0"/>
              <a:t> </a:t>
            </a:r>
            <a:r>
              <a:rPr dirty="0"/>
              <a:t>present</a:t>
            </a:r>
            <a:r>
              <a:rPr spc="265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b="1" dirty="0"/>
              <a:t>consonants</a:t>
            </a:r>
            <a:r>
              <a:rPr spc="270" dirty="0"/>
              <a:t> </a:t>
            </a:r>
            <a:r>
              <a:rPr dirty="0"/>
              <a:t>in</a:t>
            </a:r>
            <a:r>
              <a:rPr spc="270" dirty="0"/>
              <a:t> </a:t>
            </a:r>
            <a:r>
              <a:rPr dirty="0"/>
              <a:t>a</a:t>
            </a:r>
            <a:r>
              <a:rPr spc="260" dirty="0"/>
              <a:t> </a:t>
            </a:r>
            <a:r>
              <a:rPr dirty="0"/>
              <a:t>somewhat</a:t>
            </a:r>
            <a:r>
              <a:rPr spc="254" dirty="0"/>
              <a:t> </a:t>
            </a:r>
            <a:r>
              <a:rPr dirty="0"/>
              <a:t>obscure</a:t>
            </a:r>
            <a:r>
              <a:rPr spc="254" dirty="0"/>
              <a:t> </a:t>
            </a:r>
            <a:r>
              <a:rPr spc="-10" dirty="0"/>
              <a:t>order 	</a:t>
            </a:r>
            <a:r>
              <a:rPr dirty="0"/>
              <a:t>than</a:t>
            </a:r>
            <a:r>
              <a:rPr spc="-50" dirty="0"/>
              <a:t> </a:t>
            </a: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they</a:t>
            </a:r>
            <a:r>
              <a:rPr spc="-65" dirty="0"/>
              <a:t> </a:t>
            </a:r>
            <a:r>
              <a:rPr dirty="0"/>
              <a:t>normally</a:t>
            </a:r>
            <a:r>
              <a:rPr spc="-7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spc="-20" dirty="0"/>
              <a:t>for.</a:t>
            </a:r>
          </a:p>
          <a:p>
            <a:pPr marL="241300" indent="-227965" algn="just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Each</a:t>
            </a:r>
            <a:r>
              <a:rPr spc="-75" dirty="0"/>
              <a:t> </a:t>
            </a:r>
            <a:r>
              <a:rPr b="1" dirty="0"/>
              <a:t>sutra</a:t>
            </a:r>
            <a:r>
              <a:rPr b="1" spc="-40" dirty="0"/>
              <a:t> </a:t>
            </a:r>
            <a:r>
              <a:rPr b="1" dirty="0"/>
              <a:t>end</a:t>
            </a:r>
            <a:r>
              <a:rPr b="1" spc="-60" dirty="0"/>
              <a:t> </a:t>
            </a:r>
            <a:r>
              <a:rPr b="1" dirty="0"/>
              <a:t>with</a:t>
            </a:r>
            <a:r>
              <a:rPr b="1" spc="-55" dirty="0"/>
              <a:t> </a:t>
            </a:r>
            <a:r>
              <a:rPr b="1" dirty="0"/>
              <a:t>a</a:t>
            </a:r>
            <a:r>
              <a:rPr b="1" spc="-60" dirty="0"/>
              <a:t> </a:t>
            </a:r>
            <a:r>
              <a:rPr b="1" dirty="0"/>
              <a:t>termination</a:t>
            </a:r>
            <a:r>
              <a:rPr b="1" spc="-50" dirty="0"/>
              <a:t> </a:t>
            </a:r>
            <a:r>
              <a:rPr b="1" dirty="0"/>
              <a:t>which</a:t>
            </a:r>
            <a:r>
              <a:rPr b="1" spc="-55" dirty="0"/>
              <a:t> </a:t>
            </a:r>
            <a:r>
              <a:rPr b="1" dirty="0"/>
              <a:t>is</a:t>
            </a:r>
            <a:r>
              <a:rPr b="1" spc="-55" dirty="0"/>
              <a:t> </a:t>
            </a:r>
            <a:r>
              <a:rPr b="1" dirty="0"/>
              <a:t>a</a:t>
            </a:r>
            <a:r>
              <a:rPr b="1" spc="-60" dirty="0"/>
              <a:t> </a:t>
            </a:r>
            <a:r>
              <a:rPr b="1" spc="-10" dirty="0"/>
              <a:t>consonant</a:t>
            </a:r>
            <a:r>
              <a:rPr spc="-1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</a:t>
            </a:r>
            <a:r>
              <a:rPr spc="-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Mnemonics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755" cy="39945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15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discussion,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saw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letters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jointly 	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mnemonics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obtained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combining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Mahesvara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sutra.</a:t>
            </a:r>
            <a:endParaRPr sz="2800" dirty="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Two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suffixex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noun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forms;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these 	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concisely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mnemonics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sup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tin 	</a:t>
            </a:r>
            <a:r>
              <a:rPr sz="2800" spc="-10" dirty="0">
                <a:latin typeface="Calibri"/>
                <a:cs typeface="Calibri"/>
              </a:rPr>
              <a:t>respectively.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Rule-</a:t>
            </a:r>
            <a:r>
              <a:rPr dirty="0"/>
              <a:t>based</a:t>
            </a:r>
            <a:r>
              <a:rPr spc="-85" dirty="0"/>
              <a:t> </a:t>
            </a:r>
            <a:r>
              <a:rPr spc="-10" dirty="0"/>
              <a:t>Grammatical</a:t>
            </a:r>
            <a:r>
              <a:rPr spc="-8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5670" y="1752600"/>
            <a:ext cx="10360659" cy="41960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080" indent="-22796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  <a:tab pos="1473835" algn="l"/>
                <a:tab pos="2614295" algn="l"/>
                <a:tab pos="3048635" algn="l"/>
                <a:tab pos="4408170" algn="l"/>
                <a:tab pos="6336030" algn="l"/>
                <a:tab pos="7979409" algn="l"/>
                <a:tab pos="8422640" algn="l"/>
                <a:tab pos="9464040" algn="l"/>
              </a:tabLst>
            </a:pPr>
            <a:r>
              <a:rPr spc="-10" dirty="0">
                <a:solidFill>
                  <a:srgbClr val="FF0000"/>
                </a:solidFill>
              </a:rPr>
              <a:t>Panini’s</a:t>
            </a:r>
            <a:r>
              <a:rPr dirty="0">
                <a:solidFill>
                  <a:srgbClr val="FF0000"/>
                </a:solidFill>
              </a:rPr>
              <a:t>	</a:t>
            </a:r>
            <a:r>
              <a:rPr spc="-10" dirty="0">
                <a:solidFill>
                  <a:srgbClr val="FF0000"/>
                </a:solidFill>
              </a:rPr>
              <a:t>system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applying</a:t>
            </a:r>
            <a:r>
              <a:rPr dirty="0"/>
              <a:t>	</a:t>
            </a:r>
            <a:r>
              <a:rPr spc="-10" dirty="0"/>
              <a:t>grammatical</a:t>
            </a:r>
            <a:r>
              <a:rPr dirty="0"/>
              <a:t>	</a:t>
            </a:r>
            <a:r>
              <a:rPr spc="-10" dirty="0"/>
              <a:t>conditions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derive</a:t>
            </a:r>
            <a:r>
              <a:rPr dirty="0"/>
              <a:t>	</a:t>
            </a:r>
            <a:r>
              <a:rPr spc="-30" dirty="0"/>
              <a:t>words 	</a:t>
            </a:r>
            <a:r>
              <a:rPr dirty="0"/>
              <a:t>exactly</a:t>
            </a:r>
            <a:r>
              <a:rPr spc="-80" dirty="0"/>
              <a:t> </a:t>
            </a:r>
            <a:r>
              <a:rPr dirty="0"/>
              <a:t>like</a:t>
            </a:r>
            <a:r>
              <a:rPr spc="-70" dirty="0"/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rule-</a:t>
            </a:r>
            <a:r>
              <a:rPr dirty="0">
                <a:solidFill>
                  <a:srgbClr val="FF0000"/>
                </a:solidFill>
              </a:rPr>
              <a:t>based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engine</a:t>
            </a:r>
            <a:r>
              <a:rPr spc="-10" dirty="0"/>
              <a:t>.</a:t>
            </a:r>
          </a:p>
          <a:p>
            <a:pPr marL="240665" marR="5715" indent="-227965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  <a:tab pos="1268095" algn="l"/>
                <a:tab pos="2099945" algn="l"/>
                <a:tab pos="3478529" algn="l"/>
                <a:tab pos="4907915" algn="l"/>
                <a:tab pos="5334635" algn="l"/>
                <a:tab pos="7022465" algn="l"/>
                <a:tab pos="8014334" algn="l"/>
                <a:tab pos="9190990" algn="l"/>
              </a:tabLst>
            </a:pPr>
            <a:r>
              <a:rPr spc="-10" dirty="0"/>
              <a:t>Sutras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different</a:t>
            </a:r>
            <a:r>
              <a:rPr dirty="0"/>
              <a:t>	</a:t>
            </a:r>
            <a:r>
              <a:rPr spc="-10" dirty="0"/>
              <a:t>locations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Astadhyayi</a:t>
            </a:r>
            <a:r>
              <a:rPr dirty="0"/>
              <a:t>	</a:t>
            </a:r>
            <a:r>
              <a:rPr spc="-10" dirty="0"/>
              <a:t>under</a:t>
            </a:r>
            <a:r>
              <a:rPr dirty="0"/>
              <a:t>	</a:t>
            </a:r>
            <a:r>
              <a:rPr spc="-10" dirty="0"/>
              <a:t>various</a:t>
            </a:r>
            <a:r>
              <a:rPr dirty="0"/>
              <a:t>	</a:t>
            </a:r>
            <a:r>
              <a:rPr spc="-10" dirty="0"/>
              <a:t>heading 	</a:t>
            </a:r>
            <a:r>
              <a:rPr dirty="0"/>
              <a:t>come</a:t>
            </a:r>
            <a:r>
              <a:rPr spc="-8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10" dirty="0"/>
              <a:t>operate</a:t>
            </a:r>
            <a:r>
              <a:rPr spc="-80" dirty="0"/>
              <a:t> </a:t>
            </a:r>
            <a:r>
              <a:rPr dirty="0"/>
              <a:t>where</a:t>
            </a:r>
            <a:r>
              <a:rPr spc="-85" dirty="0"/>
              <a:t> </a:t>
            </a:r>
            <a:r>
              <a:rPr dirty="0"/>
              <a:t>their</a:t>
            </a:r>
            <a:r>
              <a:rPr spc="-75" dirty="0"/>
              <a:t> </a:t>
            </a:r>
            <a:r>
              <a:rPr dirty="0"/>
              <a:t>conditions</a:t>
            </a:r>
            <a:r>
              <a:rPr spc="-6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satisfied.</a:t>
            </a:r>
          </a:p>
          <a:p>
            <a:pPr marL="240029" marR="6350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5" dirty="0"/>
              <a:t> </a:t>
            </a:r>
            <a:r>
              <a:rPr dirty="0"/>
              <a:t>final</a:t>
            </a:r>
            <a:r>
              <a:rPr spc="5" dirty="0"/>
              <a:t> </a:t>
            </a:r>
            <a:r>
              <a:rPr dirty="0"/>
              <a:t>form</a:t>
            </a:r>
            <a:r>
              <a:rPr spc="15" dirty="0"/>
              <a:t> </a:t>
            </a:r>
            <a:r>
              <a:rPr dirty="0"/>
              <a:t>remaining</a:t>
            </a:r>
            <a:r>
              <a:rPr spc="20" dirty="0"/>
              <a:t> </a:t>
            </a:r>
            <a:r>
              <a:rPr dirty="0"/>
              <a:t>after</a:t>
            </a:r>
            <a:r>
              <a:rPr spc="1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operations</a:t>
            </a:r>
            <a:r>
              <a:rPr spc="30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dirty="0"/>
              <a:t>carried</a:t>
            </a:r>
            <a:r>
              <a:rPr spc="15" dirty="0"/>
              <a:t> </a:t>
            </a:r>
            <a:r>
              <a:rPr dirty="0"/>
              <a:t>out</a:t>
            </a:r>
            <a:r>
              <a:rPr spc="15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spc="-25" dirty="0"/>
              <a:t>the 	</a:t>
            </a:r>
            <a:r>
              <a:rPr dirty="0"/>
              <a:t>word</a:t>
            </a:r>
            <a:r>
              <a:rPr spc="-8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becomes</a:t>
            </a:r>
            <a:r>
              <a:rPr spc="-50" dirty="0"/>
              <a:t> </a:t>
            </a:r>
            <a:r>
              <a:rPr dirty="0"/>
              <a:t>eligible</a:t>
            </a:r>
            <a:r>
              <a:rPr spc="-8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20" dirty="0"/>
              <a:t>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Rule-</a:t>
            </a:r>
            <a:r>
              <a:rPr dirty="0"/>
              <a:t>based</a:t>
            </a:r>
            <a:r>
              <a:rPr spc="-85" dirty="0"/>
              <a:t> </a:t>
            </a:r>
            <a:r>
              <a:rPr spc="-10" dirty="0"/>
              <a:t>Grammatical</a:t>
            </a:r>
            <a:r>
              <a:rPr spc="-80" dirty="0"/>
              <a:t> 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463" y="1926335"/>
            <a:ext cx="9255252" cy="42809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60025" cy="3735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0" dirty="0">
                <a:latin typeface="Calibri"/>
                <a:cs typeface="Calibri"/>
              </a:rPr>
              <a:t>Words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grammatically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construction.</a:t>
            </a:r>
            <a:endParaRPr sz="2800" dirty="0">
              <a:latin typeface="Calibri"/>
              <a:cs typeface="Calibri"/>
            </a:endParaRPr>
          </a:p>
          <a:p>
            <a:pPr marL="239395" marR="508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Karaka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helps</a:t>
            </a:r>
            <a:r>
              <a:rPr sz="2800" spc="1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800" spc="1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link</a:t>
            </a:r>
            <a:r>
              <a:rPr sz="2800" spc="1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words</a:t>
            </a:r>
            <a:r>
              <a:rPr sz="2800" spc="1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1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1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sentence</a:t>
            </a:r>
            <a:r>
              <a:rPr sz="2800" spc="1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Kriya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(action).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Kriya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Karaka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sentence.</a:t>
            </a:r>
            <a:endParaRPr sz="2800" dirty="0">
              <a:latin typeface="Calibri"/>
              <a:cs typeface="Calibri"/>
            </a:endParaRPr>
          </a:p>
          <a:p>
            <a:pPr marL="239395" marR="7620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744220" algn="l"/>
                <a:tab pos="1675130" algn="l"/>
                <a:tab pos="3147695" algn="l"/>
                <a:tab pos="3874770" algn="l"/>
                <a:tab pos="4476750" algn="l"/>
                <a:tab pos="5461635" algn="l"/>
                <a:tab pos="5865495" algn="l"/>
                <a:tab pos="6171565" algn="l"/>
                <a:tab pos="7613650" algn="l"/>
                <a:tab pos="8215630" algn="l"/>
                <a:tab pos="9305925" algn="l"/>
              </a:tabLst>
            </a:pPr>
            <a:r>
              <a:rPr sz="2800" spc="-25" dirty="0">
                <a:latin typeface="Calibri"/>
                <a:cs typeface="Calibri"/>
              </a:rPr>
              <a:t>All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elements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found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woven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around 	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two.</a:t>
            </a:r>
            <a:endParaRPr sz="2800" dirty="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917700" algn="l"/>
                <a:tab pos="2504440" algn="l"/>
                <a:tab pos="2850515" algn="l"/>
                <a:tab pos="4328795" algn="l"/>
                <a:tab pos="4807585" algn="l"/>
                <a:tab pos="5345430" algn="l"/>
                <a:tab pos="6876415" algn="l"/>
                <a:tab pos="7827009" algn="l"/>
                <a:tab pos="8728075" algn="l"/>
                <a:tab pos="9267825" algn="l"/>
                <a:tab pos="9613265" algn="l"/>
              </a:tabLst>
            </a:pPr>
            <a:r>
              <a:rPr sz="2800" spc="-10" dirty="0">
                <a:latin typeface="Calibri"/>
                <a:cs typeface="Calibri"/>
              </a:rPr>
              <a:t>Therefore,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complete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must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verb, 	</a:t>
            </a:r>
            <a:r>
              <a:rPr sz="2800" dirty="0">
                <a:latin typeface="Calibri"/>
                <a:cs typeface="Calibri"/>
              </a:rPr>
              <a:t>implicit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explicit,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denoting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7485" cy="462562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 algn="just">
              <a:lnSpc>
                <a:spcPct val="2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verb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alone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make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meaningful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sentence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20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karaka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provide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in-built </a:t>
            </a:r>
            <a:r>
              <a:rPr sz="2800" b="1" dirty="0" smtClean="0">
                <a:latin typeface="Calibri"/>
                <a:cs typeface="Calibri"/>
              </a:rPr>
              <a:t>mechanisms</a:t>
            </a:r>
            <a:r>
              <a:rPr sz="2800" b="1" spc="-45" dirty="0" smtClean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for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constructing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unambiguous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grammatically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correct </a:t>
            </a:r>
            <a:r>
              <a:rPr sz="2800" b="1" spc="-10" dirty="0" smtClean="0">
                <a:latin typeface="Calibri"/>
                <a:cs typeface="Calibri"/>
              </a:rPr>
              <a:t>sentence</a:t>
            </a:r>
            <a:r>
              <a:rPr sz="2800" b="1" spc="-10" dirty="0">
                <a:latin typeface="Calibri"/>
                <a:cs typeface="Calibri"/>
              </a:rPr>
              <a:t>.</a:t>
            </a:r>
            <a:endParaRPr sz="2800" b="1" dirty="0">
              <a:latin typeface="Calibri"/>
              <a:cs typeface="Calibri"/>
            </a:endParaRPr>
          </a:p>
          <a:p>
            <a:pPr marL="240029" indent="-227329" algn="just">
              <a:lnSpc>
                <a:spcPct val="2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manner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Karaka.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690116"/>
            <a:ext cx="9380220" cy="4738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9390" cy="3223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sentence,</a:t>
            </a:r>
            <a:endParaRPr sz="2800">
              <a:latin typeface="Calibri"/>
              <a:cs typeface="Calibri"/>
            </a:endParaRPr>
          </a:p>
          <a:p>
            <a:pPr marL="239395" marR="762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“The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technician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removes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800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form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office</a:t>
            </a:r>
            <a:r>
              <a:rPr sz="2800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morning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truck.”</a:t>
            </a:r>
            <a:endParaRPr sz="2800">
              <a:latin typeface="Calibri"/>
              <a:cs typeface="Calibri"/>
            </a:endParaRPr>
          </a:p>
          <a:p>
            <a:pPr marL="240029" marR="5715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970915" algn="l"/>
                <a:tab pos="2426970" algn="l"/>
                <a:tab pos="3083560" algn="l"/>
                <a:tab pos="3597275" algn="l"/>
                <a:tab pos="4799965" algn="l"/>
                <a:tab pos="5217795" algn="l"/>
                <a:tab pos="6514465" algn="l"/>
                <a:tab pos="7063740" algn="l"/>
                <a:tab pos="9403080" algn="l"/>
              </a:tabLst>
            </a:pPr>
            <a:r>
              <a:rPr sz="2800" spc="-20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written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Sanskrit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“yantrakarakah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pratah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kale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yantram</a:t>
            </a:r>
            <a:r>
              <a:rPr sz="2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vahanena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karyalayat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apakaroti.”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kriya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sentence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‘removing’;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	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kriya.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34194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762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935990" algn="l"/>
                <a:tab pos="1468120" algn="l"/>
                <a:tab pos="2590165" algn="l"/>
                <a:tab pos="3213100" algn="l"/>
                <a:tab pos="4394200" algn="l"/>
                <a:tab pos="4856480" algn="l"/>
                <a:tab pos="6301105" algn="l"/>
                <a:tab pos="7450455" algn="l"/>
                <a:tab pos="7879080" algn="l"/>
                <a:tab pos="9273540" algn="l"/>
                <a:tab pos="997013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six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Karaka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related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vibhakits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(cases)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Sanskrit.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six 	</a:t>
            </a:r>
            <a:r>
              <a:rPr sz="2800" spc="-10" dirty="0">
                <a:latin typeface="Calibri"/>
                <a:cs typeface="Calibri"/>
              </a:rPr>
              <a:t>karaka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cases)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8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Kartr-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doer: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resident.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(first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54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Karma-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(second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65"/>
              </a:spcBef>
              <a:buAutoNum type="romanLcPeriod"/>
              <a:tabLst>
                <a:tab pos="984885" algn="l"/>
              </a:tabLst>
            </a:pPr>
            <a:r>
              <a:rPr sz="2000" spc="-10" dirty="0">
                <a:latin typeface="Calibri"/>
                <a:cs typeface="Calibri"/>
              </a:rPr>
              <a:t>Karana-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instrument: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aids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attainment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(third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6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Sampradana-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receiver: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karma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desires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associated.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(fourth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marR="6985" lvl="1" indent="-515620">
              <a:lnSpc>
                <a:spcPts val="2160"/>
              </a:lnSpc>
              <a:spcBef>
                <a:spcPts val="53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Apadana-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reference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separation: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division.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(fifth case)</a:t>
            </a:r>
            <a:endParaRPr sz="2000">
              <a:latin typeface="Calibri"/>
              <a:cs typeface="Calibri"/>
            </a:endParaRPr>
          </a:p>
          <a:p>
            <a:pPr marL="984885" marR="5080" lvl="1" indent="-515620">
              <a:lnSpc>
                <a:spcPts val="2160"/>
              </a:lnSpc>
              <a:spcBef>
                <a:spcPts val="50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Adhikarana-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locus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action: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substratum,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context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</a:t>
            </a:r>
            <a:r>
              <a:rPr sz="2000" spc="-20" dirty="0">
                <a:latin typeface="Calibri"/>
                <a:cs typeface="Calibri"/>
              </a:rPr>
              <a:t>references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kartr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karma.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(sixth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580" y="1926335"/>
            <a:ext cx="8964168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97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Importance</a:t>
            </a:r>
            <a:r>
              <a:rPr spc="-6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30" dirty="0"/>
              <a:t>Verbs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3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Language</a:t>
            </a:r>
            <a:r>
              <a:rPr spc="204" dirty="0"/>
              <a:t> </a:t>
            </a:r>
            <a:r>
              <a:rPr dirty="0"/>
              <a:t>is</a:t>
            </a:r>
            <a:r>
              <a:rPr spc="220" dirty="0"/>
              <a:t> </a:t>
            </a:r>
            <a:r>
              <a:rPr dirty="0"/>
              <a:t>required</a:t>
            </a:r>
            <a:r>
              <a:rPr spc="220" dirty="0"/>
              <a:t> </a:t>
            </a:r>
            <a:r>
              <a:rPr dirty="0"/>
              <a:t>when</a:t>
            </a:r>
            <a:r>
              <a:rPr spc="225" dirty="0"/>
              <a:t> </a:t>
            </a:r>
            <a:r>
              <a:rPr dirty="0"/>
              <a:t>we</a:t>
            </a:r>
            <a:r>
              <a:rPr spc="215" dirty="0"/>
              <a:t> </a:t>
            </a:r>
            <a:r>
              <a:rPr dirty="0"/>
              <a:t>are</a:t>
            </a:r>
            <a:r>
              <a:rPr spc="220" dirty="0"/>
              <a:t> </a:t>
            </a:r>
            <a:r>
              <a:rPr dirty="0"/>
              <a:t>in</a:t>
            </a:r>
            <a:r>
              <a:rPr spc="215" dirty="0"/>
              <a:t> </a:t>
            </a:r>
            <a:r>
              <a:rPr dirty="0"/>
              <a:t>action.</a:t>
            </a:r>
            <a:r>
              <a:rPr spc="235" dirty="0"/>
              <a:t> </a:t>
            </a:r>
            <a:r>
              <a:rPr dirty="0"/>
              <a:t>If</a:t>
            </a:r>
            <a:r>
              <a:rPr spc="215" dirty="0"/>
              <a:t> </a:t>
            </a:r>
            <a:r>
              <a:rPr dirty="0"/>
              <a:t>no</a:t>
            </a:r>
            <a:r>
              <a:rPr spc="220" dirty="0"/>
              <a:t> </a:t>
            </a:r>
            <a:r>
              <a:rPr dirty="0"/>
              <a:t>one</a:t>
            </a:r>
            <a:r>
              <a:rPr spc="215" dirty="0"/>
              <a:t> </a:t>
            </a:r>
            <a:r>
              <a:rPr dirty="0"/>
              <a:t>is</a:t>
            </a:r>
            <a:r>
              <a:rPr spc="229" dirty="0"/>
              <a:t> </a:t>
            </a:r>
            <a:r>
              <a:rPr dirty="0"/>
              <a:t>engaged</a:t>
            </a:r>
            <a:r>
              <a:rPr spc="210" dirty="0"/>
              <a:t> </a:t>
            </a:r>
            <a:r>
              <a:rPr spc="-25" dirty="0"/>
              <a:t>in 	</a:t>
            </a:r>
            <a:r>
              <a:rPr dirty="0"/>
              <a:t>action,</a:t>
            </a:r>
            <a:r>
              <a:rPr spc="-50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dirty="0"/>
              <a:t>need</a:t>
            </a:r>
            <a:r>
              <a:rPr spc="-3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language.</a:t>
            </a:r>
          </a:p>
          <a:p>
            <a:pPr marL="240665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55" dirty="0"/>
              <a:t> </a:t>
            </a:r>
            <a:r>
              <a:rPr dirty="0"/>
              <a:t>importance</a:t>
            </a:r>
            <a:r>
              <a:rPr spc="16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dirty="0"/>
              <a:t>verbs</a:t>
            </a:r>
            <a:r>
              <a:rPr spc="175" dirty="0"/>
              <a:t> </a:t>
            </a:r>
            <a:r>
              <a:rPr dirty="0"/>
              <a:t>in</a:t>
            </a:r>
            <a:r>
              <a:rPr spc="165" dirty="0"/>
              <a:t> </a:t>
            </a:r>
            <a:r>
              <a:rPr dirty="0"/>
              <a:t>further</a:t>
            </a:r>
            <a:r>
              <a:rPr spc="160" dirty="0"/>
              <a:t> </a:t>
            </a:r>
            <a:r>
              <a:rPr dirty="0"/>
              <a:t>amplified</a:t>
            </a:r>
            <a:r>
              <a:rPr spc="160" dirty="0"/>
              <a:t> </a:t>
            </a:r>
            <a:r>
              <a:rPr dirty="0"/>
              <a:t>by</a:t>
            </a:r>
            <a:r>
              <a:rPr spc="165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fact</a:t>
            </a:r>
            <a:r>
              <a:rPr spc="160" dirty="0"/>
              <a:t> </a:t>
            </a:r>
            <a:r>
              <a:rPr dirty="0"/>
              <a:t>that</a:t>
            </a:r>
            <a:r>
              <a:rPr spc="170" dirty="0"/>
              <a:t> </a:t>
            </a:r>
            <a:r>
              <a:rPr spc="-10" dirty="0"/>
              <a:t>several 	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noun</a:t>
            </a:r>
            <a:r>
              <a:rPr spc="-55" dirty="0"/>
              <a:t> </a:t>
            </a:r>
            <a:r>
              <a:rPr dirty="0"/>
              <a:t>roots</a:t>
            </a:r>
            <a:r>
              <a:rPr spc="-40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dirty="0"/>
              <a:t>derived</a:t>
            </a:r>
            <a:r>
              <a:rPr spc="-50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verb</a:t>
            </a:r>
            <a:r>
              <a:rPr spc="-70" dirty="0"/>
              <a:t> </a:t>
            </a:r>
            <a:r>
              <a:rPr dirty="0"/>
              <a:t>roots</a:t>
            </a:r>
            <a:r>
              <a:rPr spc="-40" dirty="0"/>
              <a:t> </a:t>
            </a:r>
            <a:r>
              <a:rPr spc="-10" dirty="0"/>
              <a:t>only.</a:t>
            </a:r>
          </a:p>
          <a:p>
            <a:pPr marL="240029" marR="762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Since</a:t>
            </a:r>
            <a:r>
              <a:rPr spc="270" dirty="0"/>
              <a:t> </a:t>
            </a:r>
            <a:r>
              <a:rPr dirty="0"/>
              <a:t>most</a:t>
            </a:r>
            <a:r>
              <a:rPr spc="275" dirty="0"/>
              <a:t> </a:t>
            </a:r>
            <a:r>
              <a:rPr dirty="0"/>
              <a:t>words</a:t>
            </a:r>
            <a:r>
              <a:rPr spc="260" dirty="0"/>
              <a:t> </a:t>
            </a:r>
            <a:r>
              <a:rPr dirty="0"/>
              <a:t>(both</a:t>
            </a:r>
            <a:r>
              <a:rPr spc="265" dirty="0"/>
              <a:t> </a:t>
            </a:r>
            <a:r>
              <a:rPr dirty="0"/>
              <a:t>verb</a:t>
            </a:r>
            <a:r>
              <a:rPr spc="265" dirty="0"/>
              <a:t> </a:t>
            </a:r>
            <a:r>
              <a:rPr dirty="0"/>
              <a:t>forms</a:t>
            </a:r>
            <a:r>
              <a:rPr spc="265" dirty="0"/>
              <a:t> </a:t>
            </a:r>
            <a:r>
              <a:rPr dirty="0"/>
              <a:t>and</a:t>
            </a:r>
            <a:r>
              <a:rPr spc="275" dirty="0"/>
              <a:t> </a:t>
            </a:r>
            <a:r>
              <a:rPr dirty="0"/>
              <a:t>noun</a:t>
            </a:r>
            <a:r>
              <a:rPr spc="270" dirty="0"/>
              <a:t> </a:t>
            </a:r>
            <a:r>
              <a:rPr dirty="0"/>
              <a:t>forms)</a:t>
            </a:r>
            <a:r>
              <a:rPr spc="275" dirty="0"/>
              <a:t> </a:t>
            </a:r>
            <a:r>
              <a:rPr dirty="0"/>
              <a:t>originate</a:t>
            </a:r>
            <a:r>
              <a:rPr spc="260" dirty="0"/>
              <a:t> </a:t>
            </a:r>
            <a:r>
              <a:rPr spc="-20" dirty="0"/>
              <a:t>from 	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verb</a:t>
            </a:r>
            <a:r>
              <a:rPr spc="-70" dirty="0"/>
              <a:t> </a:t>
            </a:r>
            <a:r>
              <a:rPr dirty="0"/>
              <a:t>roots</a:t>
            </a:r>
            <a:r>
              <a:rPr spc="-65" dirty="0"/>
              <a:t> </a:t>
            </a:r>
            <a:r>
              <a:rPr spc="-10" dirty="0"/>
              <a:t>(dhatus).</a:t>
            </a:r>
          </a:p>
          <a:p>
            <a:pPr marL="240665" marR="9525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In</a:t>
            </a:r>
            <a:r>
              <a:rPr spc="-15" dirty="0"/>
              <a:t> </a:t>
            </a:r>
            <a:r>
              <a:rPr dirty="0"/>
              <a:t>Sanskrit,</a:t>
            </a:r>
            <a:r>
              <a:rPr spc="-5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often</a:t>
            </a:r>
            <a:r>
              <a:rPr spc="-5" dirty="0"/>
              <a:t> </a:t>
            </a:r>
            <a:r>
              <a:rPr dirty="0"/>
              <a:t>find</a:t>
            </a:r>
            <a:r>
              <a:rPr spc="5" dirty="0"/>
              <a:t> </a:t>
            </a:r>
            <a:r>
              <a:rPr dirty="0"/>
              <a:t>several</a:t>
            </a:r>
            <a:r>
              <a:rPr spc="-10" dirty="0"/>
              <a:t> synonyms</a:t>
            </a:r>
            <a:r>
              <a:rPr spc="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word; each</a:t>
            </a:r>
            <a:r>
              <a:rPr spc="5" dirty="0"/>
              <a:t> </a:t>
            </a:r>
            <a:r>
              <a:rPr spc="-10" dirty="0"/>
              <a:t>synonym 	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word</a:t>
            </a:r>
            <a:r>
              <a:rPr spc="-80" dirty="0"/>
              <a:t> </a:t>
            </a:r>
            <a:r>
              <a:rPr dirty="0"/>
              <a:t>derived</a:t>
            </a:r>
            <a:r>
              <a:rPr spc="-55" dirty="0"/>
              <a:t> </a:t>
            </a:r>
            <a:r>
              <a:rPr dirty="0"/>
              <a:t>from</a:t>
            </a:r>
            <a:r>
              <a:rPr spc="-65" dirty="0"/>
              <a:t> </a:t>
            </a:r>
            <a:r>
              <a:rPr spc="-10" dirty="0"/>
              <a:t>dhatu.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Prefixes</a:t>
            </a:r>
            <a:r>
              <a:rPr spc="-185" dirty="0"/>
              <a:t> </a:t>
            </a:r>
            <a:r>
              <a:rPr dirty="0"/>
              <a:t>for</a:t>
            </a:r>
            <a:r>
              <a:rPr spc="-185" dirty="0"/>
              <a:t> </a:t>
            </a:r>
            <a:r>
              <a:rPr dirty="0"/>
              <a:t>Verb</a:t>
            </a:r>
            <a:r>
              <a:rPr spc="-185" dirty="0"/>
              <a:t> </a:t>
            </a:r>
            <a:r>
              <a:rPr spc="-10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605280" algn="l"/>
                <a:tab pos="2731770" algn="l"/>
                <a:tab pos="3193415" algn="l"/>
                <a:tab pos="4982845" algn="l"/>
                <a:tab pos="5600065" algn="l"/>
                <a:tab pos="7208520" algn="l"/>
                <a:tab pos="7662545" algn="l"/>
                <a:tab pos="8295005" algn="l"/>
                <a:tab pos="9089390" algn="l"/>
                <a:tab pos="10075545" algn="l"/>
              </a:tabLst>
            </a:pPr>
            <a:r>
              <a:rPr sz="2800" spc="-10" dirty="0">
                <a:latin typeface="Calibri"/>
                <a:cs typeface="Calibri"/>
              </a:rPr>
              <a:t>Prefixes,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known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upa-</a:t>
            </a:r>
            <a:r>
              <a:rPr sz="2800" spc="-10" dirty="0">
                <a:latin typeface="Calibri"/>
                <a:cs typeface="Calibri"/>
              </a:rPr>
              <a:t>sargas,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appended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verb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forms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words.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22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prefixes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 prefixed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form.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By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adding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prefixes,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express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many 	</a:t>
            </a:r>
            <a:r>
              <a:rPr sz="2800" spc="-10" dirty="0">
                <a:latin typeface="Calibri"/>
                <a:cs typeface="Calibri"/>
              </a:rPr>
              <a:t>ways.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Prefixes</a:t>
            </a:r>
            <a:r>
              <a:rPr spc="-185" dirty="0"/>
              <a:t> </a:t>
            </a:r>
            <a:r>
              <a:rPr dirty="0"/>
              <a:t>for</a:t>
            </a:r>
            <a:r>
              <a:rPr spc="-185" dirty="0"/>
              <a:t> </a:t>
            </a:r>
            <a:r>
              <a:rPr dirty="0"/>
              <a:t>Verb</a:t>
            </a:r>
            <a:r>
              <a:rPr spc="-185" dirty="0"/>
              <a:t> </a:t>
            </a:r>
            <a:r>
              <a:rPr spc="-10" dirty="0"/>
              <a:t>Forms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135" y="1801367"/>
            <a:ext cx="7827263" cy="4253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3587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1625" algn="l"/>
                <a:tab pos="2614295" algn="l"/>
                <a:tab pos="4967605" algn="l"/>
                <a:tab pos="5964555" algn="l"/>
                <a:tab pos="8206740" algn="l"/>
              </a:tabLst>
            </a:pPr>
            <a:r>
              <a:rPr spc="-20" dirty="0"/>
              <a:t>Role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Sanskrit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Natural</a:t>
            </a:r>
            <a:r>
              <a:rPr dirty="0"/>
              <a:t>	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579639"/>
            <a:ext cx="10360025" cy="4609465"/>
          </a:xfrm>
          <a:prstGeom prst="rect">
            <a:avLst/>
          </a:prstGeom>
        </p:spPr>
        <p:txBody>
          <a:bodyPr vert="horz" wrap="square" lIns="0" tIns="344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4400" spc="-10" dirty="0">
                <a:latin typeface="Calibri Light"/>
                <a:cs typeface="Calibri Light"/>
              </a:rPr>
              <a:t>Processing</a:t>
            </a:r>
            <a:endParaRPr sz="4400">
              <a:latin typeface="Calibri Light"/>
              <a:cs typeface="Calibri Light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1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(NLP)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branch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linguistics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mainly 	</a:t>
            </a:r>
            <a:r>
              <a:rPr sz="2800" dirty="0">
                <a:latin typeface="Calibri"/>
                <a:cs typeface="Calibri"/>
              </a:rPr>
              <a:t>concerned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techniques.</a:t>
            </a:r>
            <a:endParaRPr sz="2800">
              <a:latin typeface="Calibri"/>
              <a:cs typeface="Calibri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principles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vibhkti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enable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distill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encoded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linguists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described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fourteen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determiners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fix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multiple 	meaning.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8228"/>
            <a:ext cx="240284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1571625" algn="l"/>
              </a:tabLst>
            </a:pPr>
            <a:r>
              <a:rPr sz="4400" spc="-20" dirty="0">
                <a:latin typeface="Calibri Light"/>
                <a:cs typeface="Calibri Light"/>
              </a:rPr>
              <a:t>Role</a:t>
            </a:r>
            <a:r>
              <a:rPr sz="4400" dirty="0">
                <a:latin typeface="Calibri Light"/>
                <a:cs typeface="Calibri Light"/>
              </a:rPr>
              <a:t>	</a:t>
            </a:r>
            <a:r>
              <a:rPr sz="4400" spc="-25" dirty="0">
                <a:latin typeface="Calibri Light"/>
                <a:cs typeface="Calibri Light"/>
              </a:rPr>
              <a:t>of </a:t>
            </a:r>
            <a:r>
              <a:rPr sz="4400" spc="-20" dirty="0">
                <a:latin typeface="Calibri Light"/>
                <a:cs typeface="Calibri Light"/>
              </a:rPr>
              <a:t>Processing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19042" y="308228"/>
            <a:ext cx="77565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5375" algn="l"/>
                <a:tab pos="3362325" algn="l"/>
                <a:tab pos="5604510" algn="l"/>
              </a:tabLst>
            </a:pPr>
            <a:r>
              <a:rPr spc="-10" dirty="0"/>
              <a:t>Sanskrit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Natural</a:t>
            </a:r>
            <a:r>
              <a:rPr dirty="0"/>
              <a:t>	</a:t>
            </a:r>
            <a:r>
              <a:rPr spc="-10" dirty="0"/>
              <a:t>Language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147" y="2438400"/>
            <a:ext cx="8743188" cy="2811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</TotalTime>
  <Words>581</Words>
  <Application>Microsoft Office PowerPoint</Application>
  <PresentationFormat>Widescreen</PresentationFormat>
  <Paragraphs>141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SimSun-ExtB</vt:lpstr>
      <vt:lpstr>Arial</vt:lpstr>
      <vt:lpstr>Arial MT</vt:lpstr>
      <vt:lpstr>Calibri</vt:lpstr>
      <vt:lpstr>Calibri Light</vt:lpstr>
      <vt:lpstr>Office Theme</vt:lpstr>
      <vt:lpstr>Indian Knowledge System</vt:lpstr>
      <vt:lpstr>Linguistics (भाषा विज्ञान)</vt:lpstr>
      <vt:lpstr>Components of a Language</vt:lpstr>
      <vt:lpstr>Panini’s Work on Sanskrit Grammar</vt:lpstr>
      <vt:lpstr>Astadhyayi</vt:lpstr>
      <vt:lpstr>Basic approach of Panini and its features</vt:lpstr>
      <vt:lpstr>PowerPoint Presentation</vt:lpstr>
      <vt:lpstr>Phonetics (स्िर-विज्ञान) in Sanskrit</vt:lpstr>
      <vt:lpstr>Phonetics in Sanskrit</vt:lpstr>
      <vt:lpstr>Phonetics in Sanskrit</vt:lpstr>
      <vt:lpstr>Patterns in Sanskrit Vocabulary</vt:lpstr>
      <vt:lpstr>PowerPoint Presentation</vt:lpstr>
      <vt:lpstr>PowerPoint Presentation</vt:lpstr>
      <vt:lpstr>PowerPoint Presentation</vt:lpstr>
      <vt:lpstr>Patterns in Sanskrit Vocabulary</vt:lpstr>
      <vt:lpstr>Verb Formation:  1.Starts with a Verb Root (Dhātu).   2. Adds Required Suffixes (Ting-pratyaya) based on tense, person, and number.   3. Forms a Verb Form, which contributes to creating a complete Word.  Noun Formation:  1. Starts with a Noun Root (Prātipadika).   2. Can optionally have an additional suffix (Taddhita-pratyaya, Kṛt-pratyaya,  etc.).   3. Adds Required Suffixes (Sup-pratyaya) based on case, number, and gender.   4. Forms a Noun Form, which contributes to creating a complete Word.  Commonality Between Verbs and Nouns:  1. Both verb roots and noun roots can have suffixes.   2. Some suffixes convert verbs into nouns or vice versa.</vt:lpstr>
      <vt:lpstr>Computational concepts in Astadhyayi</vt:lpstr>
      <vt:lpstr>Computational concepts in Astadhyayi</vt:lpstr>
      <vt:lpstr>Mahesvara Sutra</vt:lpstr>
      <vt:lpstr>Use of Mnemonics</vt:lpstr>
      <vt:lpstr>Rule-based Grammatical Operations</vt:lpstr>
      <vt:lpstr>Rule-based Grammatical Operations</vt:lpstr>
      <vt:lpstr>Logic for Sentence Construction</vt:lpstr>
      <vt:lpstr>Logic for Sentence Construction</vt:lpstr>
      <vt:lpstr>Logic for Sentence Construction</vt:lpstr>
      <vt:lpstr>Logic for Sentence Construction</vt:lpstr>
      <vt:lpstr>Logic for Sentence Construction</vt:lpstr>
      <vt:lpstr>Logic for Sentence Construction</vt:lpstr>
      <vt:lpstr>Importance of Verbs</vt:lpstr>
      <vt:lpstr>Prefixes for Verb Forms</vt:lpstr>
      <vt:lpstr>Prefixes for Verb Forms</vt:lpstr>
      <vt:lpstr>Role of Sanskrit in Natural Language</vt:lpstr>
      <vt:lpstr>Sanskrit in Natural Language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Knowledge System- An Introduction</dc:title>
  <dc:creator>HIRDESH SHARMA</dc:creator>
  <cp:lastModifiedBy>user</cp:lastModifiedBy>
  <cp:revision>22</cp:revision>
  <dcterms:created xsi:type="dcterms:W3CDTF">2025-02-06T13:55:04Z</dcterms:created>
  <dcterms:modified xsi:type="dcterms:W3CDTF">2025-03-18T04:30:54Z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2025-02-06T00:00:00Z</vt:filetime>
  </property>
  <property fmtid="{D5CDD505-2E9C-101B-9397-08002B2CF9AE}" pid="5" name="Producer">
    <vt:lpwstr>macOS Version 14.5 (Build 23F79) Quartz PDFContext, AppendMode 1.1</vt:lpwstr>
  </property>
</Properties>
</file>