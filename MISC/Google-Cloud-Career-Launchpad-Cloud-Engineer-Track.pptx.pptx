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753600" cy="7315200"/>
  <p:notesSz cx="6858000" cy="9144000"/>
  <p:embeddedFontLst>
    <p:embeddedFont>
      <p:font typeface="Arimo" panose="020B0604020202020204" pitchFamily="34" charset="0"/>
      <p:regular r:id="rId13"/>
    </p:embeddedFont>
    <p:embeddedFont>
      <p:font typeface="Arimo Bold" panose="020B0704020202020204" pitchFamily="34" charset="0"/>
      <p:regular r:id="rId14"/>
    </p:embeddedFont>
    <p:embeddedFont>
      <p:font typeface="Cabin" pitchFamily="2" charset="0"/>
      <p:regular r:id="rId15"/>
    </p:embeddedFont>
    <p:embeddedFont>
      <p:font typeface="Cabin Bold" pitchFamily="2" charset="0"/>
      <p:regular r:id="rId16"/>
    </p:embeddedFont>
    <p:embeddedFont>
      <p:font typeface="Canva Sans Bold" panose="020B0803030501040103" pitchFamily="3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font" Target="fonts/font1.fntdata" /><Relationship Id="rId18" Type="http://schemas.openxmlformats.org/officeDocument/2006/relationships/presProps" Target="presProps.xml" /><Relationship Id="rId3" Type="http://schemas.openxmlformats.org/officeDocument/2006/relationships/slide" Target="slides/slide2.xml" /><Relationship Id="rId21" Type="http://schemas.openxmlformats.org/officeDocument/2006/relationships/tableStyles" Target="tableStyles.xml" /><Relationship Id="rId7" Type="http://schemas.openxmlformats.org/officeDocument/2006/relationships/slide" Target="slides/slide6.xml" /><Relationship Id="rId12" Type="http://schemas.openxmlformats.org/officeDocument/2006/relationships/notesMaster" Target="notesMasters/notesMaster1.xml" /><Relationship Id="rId17" Type="http://schemas.openxmlformats.org/officeDocument/2006/relationships/font" Target="fonts/font5.fntdata" /><Relationship Id="rId2" Type="http://schemas.openxmlformats.org/officeDocument/2006/relationships/slide" Target="slides/slide1.xml" /><Relationship Id="rId16" Type="http://schemas.openxmlformats.org/officeDocument/2006/relationships/font" Target="fonts/font4.fntdata" /><Relationship Id="rId20" Type="http://schemas.openxmlformats.org/officeDocument/2006/relationships/theme" Target="theme/them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font" Target="fonts/font3.fntdata" /><Relationship Id="rId10" Type="http://schemas.openxmlformats.org/officeDocument/2006/relationships/slide" Target="slides/slide9.xml" /><Relationship Id="rId19" Type="http://schemas.openxmlformats.org/officeDocument/2006/relationships/viewProps" Target="viewProp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font" Target="fonts/font2.fntdata"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12.01.2025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xml" /><Relationship Id="rId1" Type="http://schemas.openxmlformats.org/officeDocument/2006/relationships/slideLayout" Target="../slideLayouts/slideLayout7.xml" /></Relationships>
</file>

<file path=ppt/slides/_rels/slide2.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2.xml" /><Relationship Id="rId1" Type="http://schemas.openxmlformats.org/officeDocument/2006/relationships/slideLayout" Target="../slideLayouts/slideLayout7.xml" /><Relationship Id="rId4" Type="http://schemas.openxmlformats.org/officeDocument/2006/relationships/image" Target="../media/image2.jpeg" /></Relationships>
</file>

<file path=ppt/slides/_rels/slide3.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3.xml" /><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Relationship Id="rId8" Type="http://schemas.openxmlformats.org/officeDocument/2006/relationships/image" Target="../media/image6.png" /><Relationship Id="rId3" Type="http://schemas.openxmlformats.org/officeDocument/2006/relationships/image" Target="../media/image1.png" /><Relationship Id="rId7" Type="http://schemas.openxmlformats.org/officeDocument/2006/relationships/image" Target="../media/image5.png" /><Relationship Id="rId2" Type="http://schemas.openxmlformats.org/officeDocument/2006/relationships/notesSlide" Target="../notesSlides/notesSlide4.xml" /><Relationship Id="rId1" Type="http://schemas.openxmlformats.org/officeDocument/2006/relationships/slideLayout" Target="../slideLayouts/slideLayout7.xml" /><Relationship Id="rId6" Type="http://schemas.openxmlformats.org/officeDocument/2006/relationships/image" Target="../media/image4.png" /><Relationship Id="rId5" Type="http://schemas.openxmlformats.org/officeDocument/2006/relationships/image" Target="../media/image3.png" /><Relationship Id="rId4" Type="http://schemas.openxmlformats.org/officeDocument/2006/relationships/hyperlink" Target="https://gamma.app/?utm_source=made-with-gamma" TargetMode="External" /><Relationship Id="rId9" Type="http://schemas.openxmlformats.org/officeDocument/2006/relationships/image" Target="../media/image7.png" /></Relationships>
</file>

<file path=ppt/slides/_rels/slide5.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5.xml" /><Relationship Id="rId1" Type="http://schemas.openxmlformats.org/officeDocument/2006/relationships/slideLayout" Target="../slideLayouts/slideLayout7.xml" /><Relationship Id="rId4" Type="http://schemas.openxmlformats.org/officeDocument/2006/relationships/image" Target="../media/image8.jpeg" /></Relationships>
</file>

<file path=ppt/slides/_rels/slide6.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6.xml" /><Relationship Id="rId1" Type="http://schemas.openxmlformats.org/officeDocument/2006/relationships/slideLayout" Target="../slideLayouts/slideLayout7.xml" /><Relationship Id="rId4" Type="http://schemas.openxmlformats.org/officeDocument/2006/relationships/image" Target="../media/image9.jpeg" /></Relationships>
</file>

<file path=ppt/slides/_rels/slide7.xml.rels><?xml version="1.0" encoding="UTF-8" standalone="yes"?>
<Relationships xmlns="http://schemas.openxmlformats.org/package/2006/relationships"><Relationship Id="rId3" Type="http://schemas.openxmlformats.org/officeDocument/2006/relationships/image" Target="../media/image1.png" /><Relationship Id="rId7" Type="http://schemas.openxmlformats.org/officeDocument/2006/relationships/image" Target="../media/image13.png" /><Relationship Id="rId2" Type="http://schemas.openxmlformats.org/officeDocument/2006/relationships/notesSlide" Target="../notesSlides/notesSlide7.xml" /><Relationship Id="rId1" Type="http://schemas.openxmlformats.org/officeDocument/2006/relationships/slideLayout" Target="../slideLayouts/slideLayout7.xml" /><Relationship Id="rId6" Type="http://schemas.openxmlformats.org/officeDocument/2006/relationships/image" Target="../media/image12.png" /><Relationship Id="rId5" Type="http://schemas.openxmlformats.org/officeDocument/2006/relationships/image" Target="../media/image11.png" /><Relationship Id="rId4" Type="http://schemas.openxmlformats.org/officeDocument/2006/relationships/image" Target="../media/image10.png" /></Relationships>
</file>

<file path=ppt/slides/_rels/slide8.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8.xml" /><Relationship Id="rId1" Type="http://schemas.openxmlformats.org/officeDocument/2006/relationships/slideLayout" Target="../slideLayouts/slideLayout7.xml" /><Relationship Id="rId4" Type="http://schemas.openxmlformats.org/officeDocument/2006/relationships/image" Target="../media/image14.jpeg" /></Relationships>
</file>

<file path=ppt/slides/_rels/slide9.xml.rels><?xml version="1.0" encoding="UTF-8" standalone="yes"?>
<Relationships xmlns="http://schemas.openxmlformats.org/package/2006/relationships"><Relationship Id="rId8" Type="http://schemas.openxmlformats.org/officeDocument/2006/relationships/image" Target="../media/image17.png" /><Relationship Id="rId3" Type="http://schemas.openxmlformats.org/officeDocument/2006/relationships/image" Target="../media/image1.png" /><Relationship Id="rId7" Type="http://schemas.openxmlformats.org/officeDocument/2006/relationships/image" Target="../media/image16.png" /><Relationship Id="rId2" Type="http://schemas.openxmlformats.org/officeDocument/2006/relationships/notesSlide" Target="../notesSlides/notesSlide9.xml" /><Relationship Id="rId1" Type="http://schemas.openxmlformats.org/officeDocument/2006/relationships/slideLayout" Target="../slideLayouts/slideLayout7.xml" /><Relationship Id="rId6" Type="http://schemas.openxmlformats.org/officeDocument/2006/relationships/image" Target="../media/image15.png" /><Relationship Id="rId5" Type="http://schemas.openxmlformats.org/officeDocument/2006/relationships/image" Target="../media/image3.png" /><Relationship Id="rId4" Type="http://schemas.openxmlformats.org/officeDocument/2006/relationships/hyperlink" Target="https://gamma.app/?utm_source=made-with-gamma" TargetMode="External" /><Relationship Id="rId9" Type="http://schemas.openxmlformats.org/officeDocument/2006/relationships/image" Target="../media/image18.png" /></Relationships>
</file>

<file path=ppt/slides/_rels/slide10.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0.xml" /><Relationship Id="rId1" Type="http://schemas.openxmlformats.org/officeDocument/2006/relationships/slideLayout" Target="../slideLayouts/slideLayout7.xml" /><Relationship Id="rId4" Type="http://schemas.openxmlformats.org/officeDocument/2006/relationships/image" Target="../media/image19.png"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descr="preencoded.png"/>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grpSp>
        <p:nvGrpSpPr>
          <p:cNvPr id="3" name="Group 3"/>
          <p:cNvGrpSpPr/>
          <p:nvPr/>
        </p:nvGrpSpPr>
        <p:grpSpPr>
          <a:xfrm>
            <a:off x="4762" y="0"/>
            <a:ext cx="9753600" cy="7315200"/>
            <a:chOff x="0" y="0"/>
            <a:chExt cx="13004800" cy="9753600"/>
          </a:xfrm>
        </p:grpSpPr>
        <p:sp>
          <p:nvSpPr>
            <p:cNvPr id="4" name="Freeform 4"/>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close/>
                </a:path>
              </a:pathLst>
            </a:custGeom>
            <a:solidFill>
              <a:srgbClr val="112836"/>
            </a:solidFill>
          </p:spPr>
        </p:sp>
      </p:grpSp>
      <p:sp>
        <p:nvSpPr>
          <p:cNvPr id="5" name="TextBox 5"/>
          <p:cNvSpPr txBox="1"/>
          <p:nvPr/>
        </p:nvSpPr>
        <p:spPr>
          <a:xfrm>
            <a:off x="4872038" y="3095625"/>
            <a:ext cx="9525" cy="1002665"/>
          </a:xfrm>
          <a:prstGeom prst="rect">
            <a:avLst/>
          </a:prstGeom>
        </p:spPr>
        <p:txBody>
          <a:bodyPr lIns="0" tIns="0" rIns="0" bIns="0" rtlCol="0" anchor="t">
            <a:spAutoFit/>
          </a:bodyPr>
          <a:lstStyle/>
          <a:p>
            <a:pPr algn="ctr">
              <a:lnSpc>
                <a:spcPts val="8260"/>
              </a:lnSpc>
            </a:pPr>
            <a:endParaRPr/>
          </a:p>
        </p:txBody>
      </p:sp>
      <p:sp>
        <p:nvSpPr>
          <p:cNvPr id="6" name="TextBox 6"/>
          <p:cNvSpPr txBox="1"/>
          <p:nvPr/>
        </p:nvSpPr>
        <p:spPr>
          <a:xfrm>
            <a:off x="731520" y="403250"/>
            <a:ext cx="8164938" cy="3956170"/>
          </a:xfrm>
          <a:prstGeom prst="rect">
            <a:avLst/>
          </a:prstGeom>
        </p:spPr>
        <p:txBody>
          <a:bodyPr lIns="0" tIns="0" rIns="0" bIns="0" rtlCol="0" anchor="t">
            <a:spAutoFit/>
          </a:bodyPr>
          <a:lstStyle/>
          <a:p>
            <a:pPr algn="ctr">
              <a:lnSpc>
                <a:spcPts val="8515"/>
              </a:lnSpc>
            </a:pPr>
            <a:r>
              <a:rPr lang="en-US" sz="6082" b="1">
                <a:solidFill>
                  <a:srgbClr val="FFFFFF"/>
                </a:solidFill>
                <a:latin typeface="Canva Sans Bold"/>
                <a:ea typeface="Canva Sans Bold"/>
                <a:cs typeface="Canva Sans Bold"/>
                <a:sym typeface="Canva Sans Bold"/>
              </a:rPr>
              <a:t>Google  Cloud </a:t>
            </a:r>
          </a:p>
          <a:p>
            <a:pPr algn="ctr">
              <a:lnSpc>
                <a:spcPts val="8515"/>
              </a:lnSpc>
            </a:pPr>
            <a:r>
              <a:rPr lang="en-US" sz="6082" b="1">
                <a:solidFill>
                  <a:srgbClr val="FFFFFF"/>
                </a:solidFill>
                <a:latin typeface="Canva Sans Bold"/>
                <a:ea typeface="Canva Sans Bold"/>
                <a:cs typeface="Canva Sans Bold"/>
                <a:sym typeface="Canva Sans Bold"/>
              </a:rPr>
              <a:t>Platform  and some</a:t>
            </a:r>
          </a:p>
          <a:p>
            <a:pPr algn="ctr">
              <a:lnSpc>
                <a:spcPts val="8515"/>
              </a:lnSpc>
            </a:pPr>
            <a:r>
              <a:rPr lang="en-US" sz="6082" b="1">
                <a:solidFill>
                  <a:srgbClr val="FFFFFF"/>
                </a:solidFill>
                <a:latin typeface="Canva Sans Bold"/>
                <a:ea typeface="Canva Sans Bold"/>
                <a:cs typeface="Canva Sans Bold"/>
                <a:sym typeface="Canva Sans Bold"/>
              </a:rPr>
              <a:t>of its applications</a:t>
            </a:r>
          </a:p>
          <a:p>
            <a:pPr algn="ctr">
              <a:lnSpc>
                <a:spcPts val="1147"/>
              </a:lnSpc>
            </a:pPr>
            <a:endParaRPr lang="en-US" sz="6082" b="1">
              <a:solidFill>
                <a:srgbClr val="FFFFFF"/>
              </a:solidFill>
              <a:latin typeface="Canva Sans Bold"/>
              <a:ea typeface="Canva Sans Bold"/>
              <a:cs typeface="Canva Sans Bold"/>
              <a:sym typeface="Canva Sans Bold"/>
            </a:endParaRPr>
          </a:p>
          <a:p>
            <a:pPr algn="ctr">
              <a:lnSpc>
                <a:spcPts val="1147"/>
              </a:lnSpc>
            </a:pPr>
            <a:endParaRPr lang="en-US" sz="6082" b="1">
              <a:solidFill>
                <a:srgbClr val="FFFFFF"/>
              </a:solidFill>
              <a:latin typeface="Canva Sans Bold"/>
              <a:ea typeface="Canva Sans Bold"/>
              <a:cs typeface="Canva Sans Bold"/>
              <a:sym typeface="Canva Sans Bold"/>
            </a:endParaRPr>
          </a:p>
          <a:p>
            <a:pPr algn="ctr">
              <a:lnSpc>
                <a:spcPts val="1147"/>
              </a:lnSpc>
            </a:pPr>
            <a:endParaRPr lang="en-US" sz="6082" b="1">
              <a:solidFill>
                <a:srgbClr val="FFFFFF"/>
              </a:solidFill>
              <a:latin typeface="Canva Sans Bold"/>
              <a:ea typeface="Canva Sans Bold"/>
              <a:cs typeface="Canva Sans Bold"/>
              <a:sym typeface="Canva Sans Bold"/>
            </a:endParaRPr>
          </a:p>
          <a:p>
            <a:pPr algn="ctr">
              <a:lnSpc>
                <a:spcPts val="1147"/>
              </a:lnSpc>
            </a:pPr>
            <a:endParaRPr lang="en-US" sz="6082" b="1">
              <a:solidFill>
                <a:srgbClr val="FFFFFF"/>
              </a:solidFill>
              <a:latin typeface="Canva Sans Bold"/>
              <a:ea typeface="Canva Sans Bold"/>
              <a:cs typeface="Canva Sans Bold"/>
              <a:sym typeface="Canva Sans Bold"/>
            </a:endParaRPr>
          </a:p>
          <a:p>
            <a:pPr algn="ctr">
              <a:lnSpc>
                <a:spcPts val="1147"/>
              </a:lnSpc>
            </a:pPr>
            <a:r>
              <a:rPr lang="en-US" sz="819" b="1">
                <a:solidFill>
                  <a:srgbClr val="FFFFFF"/>
                </a:solidFill>
                <a:latin typeface="Canva Sans Bold"/>
                <a:ea typeface="Canva Sans Bold"/>
                <a:cs typeface="Canva Sans Bold"/>
                <a:sym typeface="Canva Sans Bold"/>
              </a:rPr>
              <a:t> </a:t>
            </a:r>
          </a:p>
        </p:txBody>
      </p:sp>
      <p:sp>
        <p:nvSpPr>
          <p:cNvPr id="7" name="TextBox 7"/>
          <p:cNvSpPr txBox="1"/>
          <p:nvPr/>
        </p:nvSpPr>
        <p:spPr>
          <a:xfrm>
            <a:off x="5613973" y="4629054"/>
            <a:ext cx="2862230" cy="1008457"/>
          </a:xfrm>
          <a:prstGeom prst="rect">
            <a:avLst/>
          </a:prstGeom>
        </p:spPr>
        <p:txBody>
          <a:bodyPr lIns="0" tIns="0" rIns="0" bIns="0" rtlCol="0" anchor="t">
            <a:spAutoFit/>
          </a:bodyPr>
          <a:lstStyle/>
          <a:p>
            <a:pPr algn="ctr">
              <a:lnSpc>
                <a:spcPts val="4067"/>
              </a:lnSpc>
              <a:spcBef>
                <a:spcPct val="0"/>
              </a:spcBef>
            </a:pPr>
            <a:r>
              <a:rPr lang="en-US" sz="2550">
                <a:solidFill>
                  <a:srgbClr val="FFFFFF"/>
                </a:solidFill>
                <a:latin typeface="Arimo"/>
                <a:ea typeface="Arimo"/>
                <a:cs typeface="Arimo"/>
                <a:sym typeface="Arimo"/>
              </a:rPr>
              <a:t>presentetd By:</a:t>
            </a:r>
          </a:p>
          <a:p>
            <a:pPr algn="ctr">
              <a:lnSpc>
                <a:spcPts val="4069"/>
              </a:lnSpc>
              <a:spcBef>
                <a:spcPct val="0"/>
              </a:spcBef>
            </a:pPr>
            <a:endParaRPr lang="en-US" sz="2550">
              <a:solidFill>
                <a:srgbClr val="FFFFFF"/>
              </a:solidFill>
              <a:latin typeface="Arimo"/>
              <a:ea typeface="Arimo"/>
              <a:cs typeface="Arimo"/>
              <a:sym typeface="Arimo"/>
            </a:endParaRPr>
          </a:p>
        </p:txBody>
      </p:sp>
      <p:sp>
        <p:nvSpPr>
          <p:cNvPr id="8" name="TextBox 8"/>
          <p:cNvSpPr txBox="1"/>
          <p:nvPr/>
        </p:nvSpPr>
        <p:spPr>
          <a:xfrm>
            <a:off x="7603832" y="5338336"/>
            <a:ext cx="9525" cy="302261"/>
          </a:xfrm>
          <a:prstGeom prst="rect">
            <a:avLst/>
          </a:prstGeom>
        </p:spPr>
        <p:txBody>
          <a:bodyPr lIns="0" tIns="0" rIns="0" bIns="0" rtlCol="0" anchor="t">
            <a:spAutoFit/>
          </a:bodyPr>
          <a:lstStyle/>
          <a:p>
            <a:pPr algn="ctr">
              <a:lnSpc>
                <a:spcPts val="2499"/>
              </a:lnSpc>
              <a:spcBef>
                <a:spcPct val="0"/>
              </a:spcBef>
            </a:pPr>
            <a:endParaRPr/>
          </a:p>
        </p:txBody>
      </p:sp>
      <p:sp>
        <p:nvSpPr>
          <p:cNvPr id="9" name="TextBox 9"/>
          <p:cNvSpPr txBox="1"/>
          <p:nvPr/>
        </p:nvSpPr>
        <p:spPr>
          <a:xfrm>
            <a:off x="6788611" y="5271661"/>
            <a:ext cx="1687592" cy="598349"/>
          </a:xfrm>
          <a:prstGeom prst="rect">
            <a:avLst/>
          </a:prstGeom>
        </p:spPr>
        <p:txBody>
          <a:bodyPr lIns="0" tIns="0" rIns="0" bIns="0" rtlCol="0" anchor="t">
            <a:spAutoFit/>
          </a:bodyPr>
          <a:lstStyle/>
          <a:p>
            <a:pPr algn="ctr">
              <a:lnSpc>
                <a:spcPts val="4893"/>
              </a:lnSpc>
              <a:spcBef>
                <a:spcPct val="0"/>
              </a:spcBef>
            </a:pPr>
            <a:r>
              <a:rPr lang="en-US" sz="3066" b="1">
                <a:solidFill>
                  <a:srgbClr val="FFFFFF"/>
                </a:solidFill>
                <a:latin typeface="Arimo Bold"/>
                <a:ea typeface="Arimo Bold"/>
                <a:cs typeface="Arimo Bold"/>
                <a:sym typeface="Arimo Bold"/>
              </a:rPr>
              <a:t>NITHIN R</a:t>
            </a:r>
          </a:p>
        </p:txBody>
      </p:sp>
      <p:sp>
        <p:nvSpPr>
          <p:cNvPr id="10" name="TextBox 10"/>
          <p:cNvSpPr txBox="1"/>
          <p:nvPr/>
        </p:nvSpPr>
        <p:spPr>
          <a:xfrm>
            <a:off x="6134120" y="5704186"/>
            <a:ext cx="2996574" cy="412357"/>
          </a:xfrm>
          <a:prstGeom prst="rect">
            <a:avLst/>
          </a:prstGeom>
        </p:spPr>
        <p:txBody>
          <a:bodyPr wrap="square" lIns="0" tIns="0" rIns="0" bIns="0" rtlCol="0" anchor="t">
            <a:spAutoFit/>
          </a:bodyPr>
          <a:lstStyle/>
          <a:p>
            <a:pPr algn="ctr">
              <a:lnSpc>
                <a:spcPts val="3616"/>
              </a:lnSpc>
              <a:spcBef>
                <a:spcPct val="0"/>
              </a:spcBef>
            </a:pPr>
            <a:r>
              <a:rPr lang="en-US" sz="2266" b="1" dirty="0">
                <a:solidFill>
                  <a:srgbClr val="FFFFFF"/>
                </a:solidFill>
                <a:latin typeface="Arimo Bold"/>
                <a:ea typeface="Arimo Bold"/>
                <a:cs typeface="Arimo Bold"/>
                <a:sym typeface="Arimo Bold"/>
              </a:rPr>
              <a:t>4VV22CS103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descr="preencoded.png"/>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grpSp>
        <p:nvGrpSpPr>
          <p:cNvPr id="3" name="Group 3"/>
          <p:cNvGrpSpPr/>
          <p:nvPr/>
        </p:nvGrpSpPr>
        <p:grpSpPr>
          <a:xfrm>
            <a:off x="0" y="0"/>
            <a:ext cx="9753600" cy="7315200"/>
            <a:chOff x="0" y="0"/>
            <a:chExt cx="13004800" cy="9753600"/>
          </a:xfrm>
        </p:grpSpPr>
        <p:sp>
          <p:nvSpPr>
            <p:cNvPr id="4" name="Freeform 4"/>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close/>
                </a:path>
              </a:pathLst>
            </a:custGeom>
            <a:solidFill>
              <a:srgbClr val="112836"/>
            </a:solidFill>
          </p:spPr>
        </p:sp>
      </p:grpSp>
      <p:grpSp>
        <p:nvGrpSpPr>
          <p:cNvPr id="5" name="Group 5"/>
          <p:cNvGrpSpPr/>
          <p:nvPr/>
        </p:nvGrpSpPr>
        <p:grpSpPr>
          <a:xfrm>
            <a:off x="385445" y="157899"/>
            <a:ext cx="8636635" cy="938689"/>
            <a:chOff x="0" y="0"/>
            <a:chExt cx="11515513" cy="1251585"/>
          </a:xfrm>
        </p:grpSpPr>
        <p:sp>
          <p:nvSpPr>
            <p:cNvPr id="6" name="Freeform 6"/>
            <p:cNvSpPr/>
            <p:nvPr/>
          </p:nvSpPr>
          <p:spPr>
            <a:xfrm>
              <a:off x="0" y="0"/>
              <a:ext cx="11515513" cy="1251585"/>
            </a:xfrm>
            <a:custGeom>
              <a:avLst/>
              <a:gdLst/>
              <a:ahLst/>
              <a:cxnLst/>
              <a:rect l="l" t="t" r="r" b="b"/>
              <a:pathLst>
                <a:path w="11515513" h="1251585">
                  <a:moveTo>
                    <a:pt x="0" y="0"/>
                  </a:moveTo>
                  <a:lnTo>
                    <a:pt x="11515513" y="0"/>
                  </a:lnTo>
                  <a:lnTo>
                    <a:pt x="11515513" y="1251585"/>
                  </a:lnTo>
                  <a:lnTo>
                    <a:pt x="0" y="1251585"/>
                  </a:lnTo>
                  <a:close/>
                </a:path>
              </a:pathLst>
            </a:custGeom>
            <a:solidFill>
              <a:srgbClr val="000000">
                <a:alpha val="0"/>
              </a:srgbClr>
            </a:solidFill>
          </p:spPr>
        </p:sp>
        <p:sp>
          <p:nvSpPr>
            <p:cNvPr id="7" name="TextBox 7"/>
            <p:cNvSpPr txBox="1"/>
            <p:nvPr/>
          </p:nvSpPr>
          <p:spPr>
            <a:xfrm>
              <a:off x="0" y="-28575"/>
              <a:ext cx="11515513" cy="1280160"/>
            </a:xfrm>
            <a:prstGeom prst="rect">
              <a:avLst/>
            </a:prstGeom>
          </p:spPr>
          <p:txBody>
            <a:bodyPr lIns="0" tIns="0" rIns="0" bIns="0" rtlCol="0" anchor="t"/>
            <a:lstStyle/>
            <a:p>
              <a:pPr algn="l">
                <a:lnSpc>
                  <a:spcPts val="3666"/>
                </a:lnSpc>
              </a:pPr>
              <a:r>
                <a:rPr lang="en-US" sz="2933">
                  <a:solidFill>
                    <a:srgbClr val="FFFFFF"/>
                  </a:solidFill>
                  <a:latin typeface="Arimo"/>
                  <a:ea typeface="Arimo"/>
                  <a:cs typeface="Arimo"/>
                  <a:sym typeface="Arimo"/>
                </a:rPr>
                <a:t>Introduction to Google Cloud Platform (GCP)</a:t>
              </a:r>
            </a:p>
          </p:txBody>
        </p:sp>
      </p:grpSp>
      <p:grpSp>
        <p:nvGrpSpPr>
          <p:cNvPr id="8" name="Group 8"/>
          <p:cNvGrpSpPr/>
          <p:nvPr/>
        </p:nvGrpSpPr>
        <p:grpSpPr>
          <a:xfrm>
            <a:off x="385445" y="3204612"/>
            <a:ext cx="8737804" cy="1571278"/>
            <a:chOff x="0" y="0"/>
            <a:chExt cx="14640696" cy="2632767"/>
          </a:xfrm>
        </p:grpSpPr>
        <p:sp>
          <p:nvSpPr>
            <p:cNvPr id="9" name="Freeform 9"/>
            <p:cNvSpPr/>
            <p:nvPr/>
          </p:nvSpPr>
          <p:spPr>
            <a:xfrm>
              <a:off x="0" y="0"/>
              <a:ext cx="14640695" cy="2632766"/>
            </a:xfrm>
            <a:custGeom>
              <a:avLst/>
              <a:gdLst/>
              <a:ahLst/>
              <a:cxnLst/>
              <a:rect l="l" t="t" r="r" b="b"/>
              <a:pathLst>
                <a:path w="14640695" h="2632766">
                  <a:moveTo>
                    <a:pt x="0" y="0"/>
                  </a:moveTo>
                  <a:lnTo>
                    <a:pt x="14640695" y="0"/>
                  </a:lnTo>
                  <a:lnTo>
                    <a:pt x="14640695" y="2632766"/>
                  </a:lnTo>
                  <a:lnTo>
                    <a:pt x="0" y="2632766"/>
                  </a:lnTo>
                  <a:close/>
                </a:path>
              </a:pathLst>
            </a:custGeom>
            <a:solidFill>
              <a:srgbClr val="000000">
                <a:alpha val="0"/>
              </a:srgbClr>
            </a:solidFill>
          </p:spPr>
        </p:sp>
        <p:sp>
          <p:nvSpPr>
            <p:cNvPr id="10" name="TextBox 10"/>
            <p:cNvSpPr txBox="1"/>
            <p:nvPr/>
          </p:nvSpPr>
          <p:spPr>
            <a:xfrm>
              <a:off x="0" y="-85725"/>
              <a:ext cx="14640696" cy="2718492"/>
            </a:xfrm>
            <a:prstGeom prst="rect">
              <a:avLst/>
            </a:prstGeom>
          </p:spPr>
          <p:txBody>
            <a:bodyPr lIns="0" tIns="0" rIns="0" bIns="0" rtlCol="0" anchor="t"/>
            <a:lstStyle/>
            <a:p>
              <a:pPr algn="l">
                <a:lnSpc>
                  <a:spcPts val="3135"/>
                </a:lnSpc>
              </a:pPr>
              <a:r>
                <a:rPr lang="en-US" sz="1933">
                  <a:solidFill>
                    <a:srgbClr val="CAD6DE"/>
                  </a:solidFill>
                  <a:latin typeface="Cabin"/>
                  <a:ea typeface="Cabin"/>
                  <a:cs typeface="Cabin"/>
                  <a:sym typeface="Cabin"/>
                </a:rPr>
                <a:t>Discover the transformative power of Google Cloud Platform, a suite of cloud computing services that empowers businesses to innovate and grow. GCP provides a range of tools and services for data storage, processing, analytics, machine learning, and more.</a:t>
              </a:r>
            </a:p>
          </p:txBody>
        </p:sp>
      </p:grpSp>
      <p:grpSp>
        <p:nvGrpSpPr>
          <p:cNvPr id="11" name="Group 11"/>
          <p:cNvGrpSpPr/>
          <p:nvPr/>
        </p:nvGrpSpPr>
        <p:grpSpPr>
          <a:xfrm>
            <a:off x="385445" y="4869891"/>
            <a:ext cx="8737804" cy="1387432"/>
            <a:chOff x="0" y="0"/>
            <a:chExt cx="13989987" cy="2221400"/>
          </a:xfrm>
        </p:grpSpPr>
        <p:sp>
          <p:nvSpPr>
            <p:cNvPr id="12" name="Freeform 12"/>
            <p:cNvSpPr/>
            <p:nvPr/>
          </p:nvSpPr>
          <p:spPr>
            <a:xfrm>
              <a:off x="0" y="0"/>
              <a:ext cx="13989986" cy="2221400"/>
            </a:xfrm>
            <a:custGeom>
              <a:avLst/>
              <a:gdLst/>
              <a:ahLst/>
              <a:cxnLst/>
              <a:rect l="l" t="t" r="r" b="b"/>
              <a:pathLst>
                <a:path w="13989986" h="2221400">
                  <a:moveTo>
                    <a:pt x="0" y="0"/>
                  </a:moveTo>
                  <a:lnTo>
                    <a:pt x="13989986" y="0"/>
                  </a:lnTo>
                  <a:lnTo>
                    <a:pt x="13989986" y="2221400"/>
                  </a:lnTo>
                  <a:lnTo>
                    <a:pt x="0" y="2221400"/>
                  </a:lnTo>
                  <a:close/>
                </a:path>
              </a:pathLst>
            </a:custGeom>
            <a:solidFill>
              <a:srgbClr val="000000">
                <a:alpha val="0"/>
              </a:srgbClr>
            </a:solidFill>
          </p:spPr>
        </p:sp>
        <p:sp>
          <p:nvSpPr>
            <p:cNvPr id="13" name="TextBox 13"/>
            <p:cNvSpPr txBox="1"/>
            <p:nvPr/>
          </p:nvSpPr>
          <p:spPr>
            <a:xfrm>
              <a:off x="0" y="-85725"/>
              <a:ext cx="13989987" cy="2307125"/>
            </a:xfrm>
            <a:prstGeom prst="rect">
              <a:avLst/>
            </a:prstGeom>
          </p:spPr>
          <p:txBody>
            <a:bodyPr lIns="0" tIns="0" rIns="0" bIns="0" rtlCol="0" anchor="t"/>
            <a:lstStyle/>
            <a:p>
              <a:pPr algn="l">
                <a:lnSpc>
                  <a:spcPts val="3135"/>
                </a:lnSpc>
              </a:pPr>
              <a:r>
                <a:rPr lang="en-US" sz="1933">
                  <a:solidFill>
                    <a:srgbClr val="CAD6DE"/>
                  </a:solidFill>
                  <a:latin typeface="Cabin"/>
                  <a:ea typeface="Cabin"/>
                  <a:cs typeface="Cabin"/>
                  <a:sym typeface="Cabin"/>
                </a:rPr>
                <a:t>Explore the architecture and key components of GCP, including Google Cloud Storage, Google Compute Engine, and Google Kubernetes Engine. Understanding these fundamentals will lay the foundation for your cloud engineering journey.</a:t>
              </a:r>
            </a:p>
          </p:txBody>
        </p:sp>
      </p:grpSp>
      <p:sp>
        <p:nvSpPr>
          <p:cNvPr id="14" name="Freeform 14"/>
          <p:cNvSpPr/>
          <p:nvPr/>
        </p:nvSpPr>
        <p:spPr>
          <a:xfrm>
            <a:off x="2375571" y="935516"/>
            <a:ext cx="3851198" cy="2032779"/>
          </a:xfrm>
          <a:custGeom>
            <a:avLst/>
            <a:gdLst/>
            <a:ahLst/>
            <a:cxnLst/>
            <a:rect l="l" t="t" r="r" b="b"/>
            <a:pathLst>
              <a:path w="3851198" h="2032779">
                <a:moveTo>
                  <a:pt x="0" y="0"/>
                </a:moveTo>
                <a:lnTo>
                  <a:pt x="3851198" y="0"/>
                </a:lnTo>
                <a:lnTo>
                  <a:pt x="3851198" y="2032779"/>
                </a:lnTo>
                <a:lnTo>
                  <a:pt x="0" y="2032779"/>
                </a:lnTo>
                <a:lnTo>
                  <a:pt x="0" y="0"/>
                </a:lnTo>
                <a:close/>
              </a:path>
            </a:pathLst>
          </a:custGeom>
          <a:blipFill>
            <a:blip r:embed="rId4"/>
            <a:stretch>
              <a:fillRect b="-6568"/>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descr="preencoded.png"/>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grpSp>
        <p:nvGrpSpPr>
          <p:cNvPr id="3" name="Group 3"/>
          <p:cNvGrpSpPr/>
          <p:nvPr/>
        </p:nvGrpSpPr>
        <p:grpSpPr>
          <a:xfrm>
            <a:off x="0" y="0"/>
            <a:ext cx="9753600" cy="7315200"/>
            <a:chOff x="0" y="0"/>
            <a:chExt cx="13004800" cy="9753600"/>
          </a:xfrm>
        </p:grpSpPr>
        <p:sp>
          <p:nvSpPr>
            <p:cNvPr id="4" name="Freeform 4"/>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close/>
                </a:path>
              </a:pathLst>
            </a:custGeom>
            <a:solidFill>
              <a:srgbClr val="112836"/>
            </a:solidFill>
          </p:spPr>
        </p:sp>
      </p:grpSp>
      <p:grpSp>
        <p:nvGrpSpPr>
          <p:cNvPr id="5" name="Group 5"/>
          <p:cNvGrpSpPr/>
          <p:nvPr/>
        </p:nvGrpSpPr>
        <p:grpSpPr>
          <a:xfrm>
            <a:off x="708329" y="481146"/>
            <a:ext cx="7554772" cy="1314758"/>
            <a:chOff x="0" y="0"/>
            <a:chExt cx="12227146" cy="2127892"/>
          </a:xfrm>
        </p:grpSpPr>
        <p:sp>
          <p:nvSpPr>
            <p:cNvPr id="6" name="Freeform 6"/>
            <p:cNvSpPr/>
            <p:nvPr/>
          </p:nvSpPr>
          <p:spPr>
            <a:xfrm>
              <a:off x="0" y="0"/>
              <a:ext cx="12227146" cy="2127892"/>
            </a:xfrm>
            <a:custGeom>
              <a:avLst/>
              <a:gdLst/>
              <a:ahLst/>
              <a:cxnLst/>
              <a:rect l="l" t="t" r="r" b="b"/>
              <a:pathLst>
                <a:path w="12227146" h="2127892">
                  <a:moveTo>
                    <a:pt x="0" y="0"/>
                  </a:moveTo>
                  <a:lnTo>
                    <a:pt x="12227146" y="0"/>
                  </a:lnTo>
                  <a:lnTo>
                    <a:pt x="12227146" y="2127892"/>
                  </a:lnTo>
                  <a:lnTo>
                    <a:pt x="0" y="2127892"/>
                  </a:lnTo>
                  <a:close/>
                </a:path>
              </a:pathLst>
            </a:custGeom>
            <a:solidFill>
              <a:srgbClr val="000000">
                <a:alpha val="0"/>
              </a:srgbClr>
            </a:solidFill>
          </p:spPr>
        </p:sp>
        <p:sp>
          <p:nvSpPr>
            <p:cNvPr id="7" name="TextBox 7"/>
            <p:cNvSpPr txBox="1"/>
            <p:nvPr/>
          </p:nvSpPr>
          <p:spPr>
            <a:xfrm>
              <a:off x="0" y="-28575"/>
              <a:ext cx="12227146" cy="2156467"/>
            </a:xfrm>
            <a:prstGeom prst="rect">
              <a:avLst/>
            </a:prstGeom>
          </p:spPr>
          <p:txBody>
            <a:bodyPr lIns="0" tIns="0" rIns="0" bIns="0" rtlCol="0" anchor="t"/>
            <a:lstStyle/>
            <a:p>
              <a:pPr algn="l">
                <a:lnSpc>
                  <a:spcPts val="3666"/>
                </a:lnSpc>
              </a:pPr>
              <a:r>
                <a:rPr lang="en-US" sz="2933" b="1">
                  <a:solidFill>
                    <a:srgbClr val="FFFFFF"/>
                  </a:solidFill>
                  <a:latin typeface="Arimo Bold"/>
                  <a:ea typeface="Arimo Bold"/>
                  <a:cs typeface="Arimo Bold"/>
                  <a:sym typeface="Arimo Bold"/>
                </a:rPr>
                <a:t>Iaas and Paas Services in Google Cloud</a:t>
              </a:r>
            </a:p>
          </p:txBody>
        </p:sp>
      </p:grpSp>
      <p:grpSp>
        <p:nvGrpSpPr>
          <p:cNvPr id="8" name="Group 8"/>
          <p:cNvGrpSpPr/>
          <p:nvPr/>
        </p:nvGrpSpPr>
        <p:grpSpPr>
          <a:xfrm>
            <a:off x="849031" y="1795904"/>
            <a:ext cx="3122837" cy="4191745"/>
            <a:chOff x="0" y="0"/>
            <a:chExt cx="3676904" cy="4935463"/>
          </a:xfrm>
        </p:grpSpPr>
        <p:sp>
          <p:nvSpPr>
            <p:cNvPr id="9" name="Freeform 9"/>
            <p:cNvSpPr/>
            <p:nvPr/>
          </p:nvSpPr>
          <p:spPr>
            <a:xfrm>
              <a:off x="0" y="0"/>
              <a:ext cx="3676880" cy="4935463"/>
            </a:xfrm>
            <a:custGeom>
              <a:avLst/>
              <a:gdLst/>
              <a:ahLst/>
              <a:cxnLst/>
              <a:rect l="l" t="t" r="r" b="b"/>
              <a:pathLst>
                <a:path w="3676880" h="4935463">
                  <a:moveTo>
                    <a:pt x="0" y="34325"/>
                  </a:moveTo>
                  <a:cubicBezTo>
                    <a:pt x="0" y="15316"/>
                    <a:pt x="16278" y="0"/>
                    <a:pt x="36480" y="0"/>
                  </a:cubicBezTo>
                  <a:lnTo>
                    <a:pt x="3640400" y="0"/>
                  </a:lnTo>
                  <a:cubicBezTo>
                    <a:pt x="3660602" y="0"/>
                    <a:pt x="3676880" y="15316"/>
                    <a:pt x="3676880" y="34325"/>
                  </a:cubicBezTo>
                  <a:lnTo>
                    <a:pt x="3676880" y="4901137"/>
                  </a:lnTo>
                  <a:cubicBezTo>
                    <a:pt x="3676880" y="4920147"/>
                    <a:pt x="3660602" y="4935463"/>
                    <a:pt x="3640400" y="4935463"/>
                  </a:cubicBezTo>
                  <a:lnTo>
                    <a:pt x="36480" y="4935463"/>
                  </a:lnTo>
                  <a:cubicBezTo>
                    <a:pt x="16278" y="4935463"/>
                    <a:pt x="0" y="4920147"/>
                    <a:pt x="0" y="4901137"/>
                  </a:cubicBezTo>
                  <a:close/>
                </a:path>
              </a:pathLst>
            </a:custGeom>
            <a:solidFill>
              <a:srgbClr val="304755"/>
            </a:solidFill>
          </p:spPr>
        </p:sp>
      </p:grpSp>
      <p:grpSp>
        <p:nvGrpSpPr>
          <p:cNvPr id="10" name="Group 10"/>
          <p:cNvGrpSpPr/>
          <p:nvPr/>
        </p:nvGrpSpPr>
        <p:grpSpPr>
          <a:xfrm>
            <a:off x="1013937" y="1923396"/>
            <a:ext cx="2122069" cy="590480"/>
            <a:chOff x="0" y="0"/>
            <a:chExt cx="2829425" cy="787306"/>
          </a:xfrm>
        </p:grpSpPr>
        <p:sp>
          <p:nvSpPr>
            <p:cNvPr id="11" name="Freeform 11"/>
            <p:cNvSpPr/>
            <p:nvPr/>
          </p:nvSpPr>
          <p:spPr>
            <a:xfrm>
              <a:off x="0" y="0"/>
              <a:ext cx="2829425" cy="787306"/>
            </a:xfrm>
            <a:custGeom>
              <a:avLst/>
              <a:gdLst/>
              <a:ahLst/>
              <a:cxnLst/>
              <a:rect l="l" t="t" r="r" b="b"/>
              <a:pathLst>
                <a:path w="2829425" h="787306">
                  <a:moveTo>
                    <a:pt x="0" y="0"/>
                  </a:moveTo>
                  <a:lnTo>
                    <a:pt x="2829425" y="0"/>
                  </a:lnTo>
                  <a:lnTo>
                    <a:pt x="2829425" y="787306"/>
                  </a:lnTo>
                  <a:lnTo>
                    <a:pt x="0" y="787306"/>
                  </a:lnTo>
                  <a:close/>
                </a:path>
              </a:pathLst>
            </a:custGeom>
            <a:solidFill>
              <a:srgbClr val="000000">
                <a:alpha val="0"/>
              </a:srgbClr>
            </a:solidFill>
          </p:spPr>
        </p:sp>
        <p:sp>
          <p:nvSpPr>
            <p:cNvPr id="12" name="TextBox 12"/>
            <p:cNvSpPr txBox="1"/>
            <p:nvPr/>
          </p:nvSpPr>
          <p:spPr>
            <a:xfrm>
              <a:off x="0" y="-19050"/>
              <a:ext cx="2829425" cy="806356"/>
            </a:xfrm>
            <a:prstGeom prst="rect">
              <a:avLst/>
            </a:prstGeom>
          </p:spPr>
          <p:txBody>
            <a:bodyPr lIns="0" tIns="0" rIns="0" bIns="0" rtlCol="0" anchor="t"/>
            <a:lstStyle/>
            <a:p>
              <a:pPr algn="l">
                <a:lnSpc>
                  <a:spcPts val="2083"/>
                </a:lnSpc>
              </a:pPr>
              <a:r>
                <a:rPr lang="en-US" sz="1666" b="1">
                  <a:solidFill>
                    <a:srgbClr val="CAD6DE"/>
                  </a:solidFill>
                  <a:latin typeface="Arimo Bold"/>
                  <a:ea typeface="Arimo Bold"/>
                  <a:cs typeface="Arimo Bold"/>
                  <a:sym typeface="Arimo Bold"/>
                </a:rPr>
                <a:t>Infrastructure as a Service (IaaS)</a:t>
              </a:r>
            </a:p>
          </p:txBody>
        </p:sp>
      </p:grpSp>
      <p:grpSp>
        <p:nvGrpSpPr>
          <p:cNvPr id="13" name="Group 13"/>
          <p:cNvGrpSpPr/>
          <p:nvPr/>
        </p:nvGrpSpPr>
        <p:grpSpPr>
          <a:xfrm>
            <a:off x="1013937" y="2727492"/>
            <a:ext cx="2793025" cy="3336754"/>
            <a:chOff x="0" y="0"/>
            <a:chExt cx="3588390" cy="4286956"/>
          </a:xfrm>
        </p:grpSpPr>
        <p:sp>
          <p:nvSpPr>
            <p:cNvPr id="14" name="Freeform 14"/>
            <p:cNvSpPr/>
            <p:nvPr/>
          </p:nvSpPr>
          <p:spPr>
            <a:xfrm>
              <a:off x="0" y="0"/>
              <a:ext cx="3588390" cy="4286956"/>
            </a:xfrm>
            <a:custGeom>
              <a:avLst/>
              <a:gdLst/>
              <a:ahLst/>
              <a:cxnLst/>
              <a:rect l="l" t="t" r="r" b="b"/>
              <a:pathLst>
                <a:path w="3588390" h="4286956">
                  <a:moveTo>
                    <a:pt x="0" y="0"/>
                  </a:moveTo>
                  <a:lnTo>
                    <a:pt x="3588390" y="0"/>
                  </a:lnTo>
                  <a:lnTo>
                    <a:pt x="3588390" y="4286956"/>
                  </a:lnTo>
                  <a:lnTo>
                    <a:pt x="0" y="4286956"/>
                  </a:lnTo>
                  <a:close/>
                </a:path>
              </a:pathLst>
            </a:custGeom>
            <a:solidFill>
              <a:srgbClr val="000000">
                <a:alpha val="0"/>
              </a:srgbClr>
            </a:solidFill>
          </p:spPr>
        </p:sp>
        <p:sp>
          <p:nvSpPr>
            <p:cNvPr id="15" name="TextBox 15"/>
            <p:cNvSpPr txBox="1"/>
            <p:nvPr/>
          </p:nvSpPr>
          <p:spPr>
            <a:xfrm>
              <a:off x="0" y="-66675"/>
              <a:ext cx="3588390" cy="4353631"/>
            </a:xfrm>
            <a:prstGeom prst="rect">
              <a:avLst/>
            </a:prstGeom>
          </p:spPr>
          <p:txBody>
            <a:bodyPr lIns="0" tIns="0" rIns="0" bIns="0" rtlCol="0" anchor="t"/>
            <a:lstStyle/>
            <a:p>
              <a:pPr algn="l">
                <a:lnSpc>
                  <a:spcPts val="2648"/>
                </a:lnSpc>
              </a:pPr>
              <a:r>
                <a:rPr lang="en-US" sz="1633">
                  <a:solidFill>
                    <a:srgbClr val="CAD6DE"/>
                  </a:solidFill>
                  <a:latin typeface="Cabin"/>
                  <a:ea typeface="Cabin"/>
                  <a:cs typeface="Cabin"/>
                  <a:sym typeface="Cabin"/>
                </a:rPr>
                <a:t>GCP provides IaaS services like Google Compute Engine (GCE), enabling you to provision virtual machines, storage, and networking resources. This approach allows you to manage and control your infrastructure, providing flexibility and customization.</a:t>
              </a:r>
            </a:p>
          </p:txBody>
        </p:sp>
      </p:grpSp>
      <p:grpSp>
        <p:nvGrpSpPr>
          <p:cNvPr id="16" name="Group 16"/>
          <p:cNvGrpSpPr/>
          <p:nvPr/>
        </p:nvGrpSpPr>
        <p:grpSpPr>
          <a:xfrm>
            <a:off x="4726954" y="1822588"/>
            <a:ext cx="3386301" cy="4165061"/>
            <a:chOff x="0" y="0"/>
            <a:chExt cx="4319574" cy="5312962"/>
          </a:xfrm>
        </p:grpSpPr>
        <p:sp>
          <p:nvSpPr>
            <p:cNvPr id="17" name="Freeform 17"/>
            <p:cNvSpPr/>
            <p:nvPr/>
          </p:nvSpPr>
          <p:spPr>
            <a:xfrm>
              <a:off x="0" y="0"/>
              <a:ext cx="4319546" cy="5312962"/>
            </a:xfrm>
            <a:custGeom>
              <a:avLst/>
              <a:gdLst/>
              <a:ahLst/>
              <a:cxnLst/>
              <a:rect l="l" t="t" r="r" b="b"/>
              <a:pathLst>
                <a:path w="4319546" h="5312962">
                  <a:moveTo>
                    <a:pt x="0" y="36951"/>
                  </a:moveTo>
                  <a:cubicBezTo>
                    <a:pt x="0" y="16488"/>
                    <a:pt x="19123" y="0"/>
                    <a:pt x="42856" y="0"/>
                  </a:cubicBezTo>
                  <a:lnTo>
                    <a:pt x="4276690" y="0"/>
                  </a:lnTo>
                  <a:cubicBezTo>
                    <a:pt x="4300423" y="0"/>
                    <a:pt x="4319546" y="16488"/>
                    <a:pt x="4319546" y="36951"/>
                  </a:cubicBezTo>
                  <a:lnTo>
                    <a:pt x="4319546" y="5276011"/>
                  </a:lnTo>
                  <a:cubicBezTo>
                    <a:pt x="4319546" y="5296474"/>
                    <a:pt x="4300423" y="5312962"/>
                    <a:pt x="4276690" y="5312962"/>
                  </a:cubicBezTo>
                  <a:lnTo>
                    <a:pt x="42856" y="5312962"/>
                  </a:lnTo>
                  <a:cubicBezTo>
                    <a:pt x="19123" y="5312962"/>
                    <a:pt x="0" y="5296474"/>
                    <a:pt x="0" y="5276011"/>
                  </a:cubicBezTo>
                  <a:close/>
                </a:path>
              </a:pathLst>
            </a:custGeom>
            <a:solidFill>
              <a:srgbClr val="304755"/>
            </a:solidFill>
          </p:spPr>
        </p:sp>
      </p:grpSp>
      <p:grpSp>
        <p:nvGrpSpPr>
          <p:cNvPr id="18" name="Group 18"/>
          <p:cNvGrpSpPr/>
          <p:nvPr/>
        </p:nvGrpSpPr>
        <p:grpSpPr>
          <a:xfrm>
            <a:off x="5082063" y="1923396"/>
            <a:ext cx="2090658" cy="674813"/>
            <a:chOff x="0" y="0"/>
            <a:chExt cx="2787544" cy="899751"/>
          </a:xfrm>
        </p:grpSpPr>
        <p:sp>
          <p:nvSpPr>
            <p:cNvPr id="19" name="Freeform 19"/>
            <p:cNvSpPr/>
            <p:nvPr/>
          </p:nvSpPr>
          <p:spPr>
            <a:xfrm>
              <a:off x="0" y="0"/>
              <a:ext cx="2787544" cy="899751"/>
            </a:xfrm>
            <a:custGeom>
              <a:avLst/>
              <a:gdLst/>
              <a:ahLst/>
              <a:cxnLst/>
              <a:rect l="l" t="t" r="r" b="b"/>
              <a:pathLst>
                <a:path w="2787544" h="899751">
                  <a:moveTo>
                    <a:pt x="0" y="0"/>
                  </a:moveTo>
                  <a:lnTo>
                    <a:pt x="2787544" y="0"/>
                  </a:lnTo>
                  <a:lnTo>
                    <a:pt x="2787544" y="899751"/>
                  </a:lnTo>
                  <a:lnTo>
                    <a:pt x="0" y="899751"/>
                  </a:lnTo>
                  <a:close/>
                </a:path>
              </a:pathLst>
            </a:custGeom>
            <a:solidFill>
              <a:srgbClr val="000000">
                <a:alpha val="0"/>
              </a:srgbClr>
            </a:solidFill>
          </p:spPr>
        </p:sp>
        <p:sp>
          <p:nvSpPr>
            <p:cNvPr id="20" name="TextBox 20"/>
            <p:cNvSpPr txBox="1"/>
            <p:nvPr/>
          </p:nvSpPr>
          <p:spPr>
            <a:xfrm>
              <a:off x="0" y="-19050"/>
              <a:ext cx="2787544" cy="918801"/>
            </a:xfrm>
            <a:prstGeom prst="rect">
              <a:avLst/>
            </a:prstGeom>
          </p:spPr>
          <p:txBody>
            <a:bodyPr lIns="0" tIns="0" rIns="0" bIns="0" rtlCol="0" anchor="t"/>
            <a:lstStyle/>
            <a:p>
              <a:pPr algn="l">
                <a:lnSpc>
                  <a:spcPts val="2083"/>
                </a:lnSpc>
              </a:pPr>
              <a:r>
                <a:rPr lang="en-US" sz="1666" b="1">
                  <a:solidFill>
                    <a:srgbClr val="CAD6DE"/>
                  </a:solidFill>
                  <a:latin typeface="Arimo Bold"/>
                  <a:ea typeface="Arimo Bold"/>
                  <a:cs typeface="Arimo Bold"/>
                  <a:sym typeface="Arimo Bold"/>
                </a:rPr>
                <a:t>Platform as a Service (PaaS)</a:t>
              </a:r>
            </a:p>
          </p:txBody>
        </p:sp>
      </p:grpSp>
      <p:grpSp>
        <p:nvGrpSpPr>
          <p:cNvPr id="21" name="Group 21"/>
          <p:cNvGrpSpPr/>
          <p:nvPr/>
        </p:nvGrpSpPr>
        <p:grpSpPr>
          <a:xfrm>
            <a:off x="5044068" y="2727492"/>
            <a:ext cx="2752072" cy="3389441"/>
            <a:chOff x="0" y="0"/>
            <a:chExt cx="3649357" cy="4494534"/>
          </a:xfrm>
        </p:grpSpPr>
        <p:sp>
          <p:nvSpPr>
            <p:cNvPr id="22" name="Freeform 22"/>
            <p:cNvSpPr/>
            <p:nvPr/>
          </p:nvSpPr>
          <p:spPr>
            <a:xfrm>
              <a:off x="0" y="0"/>
              <a:ext cx="3649357" cy="4494533"/>
            </a:xfrm>
            <a:custGeom>
              <a:avLst/>
              <a:gdLst/>
              <a:ahLst/>
              <a:cxnLst/>
              <a:rect l="l" t="t" r="r" b="b"/>
              <a:pathLst>
                <a:path w="3649357" h="4494533">
                  <a:moveTo>
                    <a:pt x="0" y="0"/>
                  </a:moveTo>
                  <a:lnTo>
                    <a:pt x="3649357" y="0"/>
                  </a:lnTo>
                  <a:lnTo>
                    <a:pt x="3649357" y="4494533"/>
                  </a:lnTo>
                  <a:lnTo>
                    <a:pt x="0" y="4494533"/>
                  </a:lnTo>
                  <a:close/>
                </a:path>
              </a:pathLst>
            </a:custGeom>
            <a:solidFill>
              <a:srgbClr val="000000">
                <a:alpha val="0"/>
              </a:srgbClr>
            </a:solidFill>
          </p:spPr>
        </p:sp>
        <p:sp>
          <p:nvSpPr>
            <p:cNvPr id="23" name="TextBox 23"/>
            <p:cNvSpPr txBox="1"/>
            <p:nvPr/>
          </p:nvSpPr>
          <p:spPr>
            <a:xfrm>
              <a:off x="0" y="-66675"/>
              <a:ext cx="3649357" cy="4561209"/>
            </a:xfrm>
            <a:prstGeom prst="rect">
              <a:avLst/>
            </a:prstGeom>
          </p:spPr>
          <p:txBody>
            <a:bodyPr lIns="0" tIns="0" rIns="0" bIns="0" rtlCol="0" anchor="t"/>
            <a:lstStyle/>
            <a:p>
              <a:pPr algn="l">
                <a:lnSpc>
                  <a:spcPts val="2648"/>
                </a:lnSpc>
              </a:pPr>
              <a:r>
                <a:rPr lang="en-US" sz="1633" b="1">
                  <a:solidFill>
                    <a:srgbClr val="CAD6DE"/>
                  </a:solidFill>
                  <a:latin typeface="Cabin Bold"/>
                  <a:ea typeface="Cabin Bold"/>
                  <a:cs typeface="Cabin Bold"/>
                  <a:sym typeface="Cabin Bold"/>
                </a:rPr>
                <a:t>GCP offers PaaS services like Google App Engine, simplifying application development and deployment. PaaS handles infrastructure management, allowing you to focus on application development and deployment.</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descr="preencoded.png"/>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grpSp>
        <p:nvGrpSpPr>
          <p:cNvPr id="3" name="Group 3"/>
          <p:cNvGrpSpPr/>
          <p:nvPr/>
        </p:nvGrpSpPr>
        <p:grpSpPr>
          <a:xfrm>
            <a:off x="0" y="0"/>
            <a:ext cx="9753600" cy="7315200"/>
            <a:chOff x="0" y="0"/>
            <a:chExt cx="13004800" cy="9753600"/>
          </a:xfrm>
        </p:grpSpPr>
        <p:sp>
          <p:nvSpPr>
            <p:cNvPr id="4" name="Freeform 4"/>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close/>
                </a:path>
              </a:pathLst>
            </a:custGeom>
            <a:solidFill>
              <a:srgbClr val="112836"/>
            </a:solidFill>
          </p:spPr>
        </p:sp>
      </p:grpSp>
      <p:sp>
        <p:nvSpPr>
          <p:cNvPr id="5" name="Freeform 5" descr="preencoded.png">
            <a:hlinkClick r:id="rId4" tooltip="https://gamma.app/?utm_source=made-with-gamma"/>
          </p:cNvPr>
          <p:cNvSpPr/>
          <p:nvPr/>
        </p:nvSpPr>
        <p:spPr>
          <a:xfrm>
            <a:off x="8559477" y="6995160"/>
            <a:ext cx="1148403" cy="274320"/>
          </a:xfrm>
          <a:custGeom>
            <a:avLst/>
            <a:gdLst/>
            <a:ahLst/>
            <a:cxnLst/>
            <a:rect l="l" t="t" r="r" b="b"/>
            <a:pathLst>
              <a:path w="1148403" h="274320">
                <a:moveTo>
                  <a:pt x="0" y="0"/>
                </a:moveTo>
                <a:lnTo>
                  <a:pt x="1148403" y="0"/>
                </a:lnTo>
                <a:lnTo>
                  <a:pt x="1148403" y="274320"/>
                </a:lnTo>
                <a:lnTo>
                  <a:pt x="0" y="274320"/>
                </a:lnTo>
                <a:lnTo>
                  <a:pt x="0" y="0"/>
                </a:lnTo>
                <a:close/>
              </a:path>
            </a:pathLst>
          </a:custGeom>
          <a:blipFill>
            <a:blip r:embed="rId5"/>
            <a:stretch>
              <a:fillRect/>
            </a:stretch>
          </a:blipFill>
        </p:spPr>
      </p:sp>
      <p:sp>
        <p:nvSpPr>
          <p:cNvPr id="6" name="Freeform 6" descr="preencoded.png"/>
          <p:cNvSpPr/>
          <p:nvPr/>
        </p:nvSpPr>
        <p:spPr>
          <a:xfrm>
            <a:off x="6096000" y="0"/>
            <a:ext cx="3657600" cy="7315438"/>
          </a:xfrm>
          <a:custGeom>
            <a:avLst/>
            <a:gdLst/>
            <a:ahLst/>
            <a:cxnLst/>
            <a:rect l="l" t="t" r="r" b="b"/>
            <a:pathLst>
              <a:path w="3657600" h="7315438">
                <a:moveTo>
                  <a:pt x="0" y="0"/>
                </a:moveTo>
                <a:lnTo>
                  <a:pt x="3657600" y="0"/>
                </a:lnTo>
                <a:lnTo>
                  <a:pt x="3657600" y="7315438"/>
                </a:lnTo>
                <a:lnTo>
                  <a:pt x="0" y="7315438"/>
                </a:lnTo>
                <a:lnTo>
                  <a:pt x="0" y="0"/>
                </a:lnTo>
                <a:close/>
              </a:path>
            </a:pathLst>
          </a:custGeom>
          <a:blipFill>
            <a:blip r:embed="rId6"/>
            <a:stretch>
              <a:fillRect l="-1" r="-1"/>
            </a:stretch>
          </a:blipFill>
        </p:spPr>
      </p:sp>
      <p:grpSp>
        <p:nvGrpSpPr>
          <p:cNvPr id="7" name="Group 7"/>
          <p:cNvGrpSpPr/>
          <p:nvPr/>
        </p:nvGrpSpPr>
        <p:grpSpPr>
          <a:xfrm>
            <a:off x="538321" y="422989"/>
            <a:ext cx="5019357" cy="1357313"/>
            <a:chOff x="0" y="0"/>
            <a:chExt cx="6692476" cy="1809750"/>
          </a:xfrm>
        </p:grpSpPr>
        <p:sp>
          <p:nvSpPr>
            <p:cNvPr id="8" name="Freeform 8"/>
            <p:cNvSpPr/>
            <p:nvPr/>
          </p:nvSpPr>
          <p:spPr>
            <a:xfrm>
              <a:off x="0" y="0"/>
              <a:ext cx="6692477" cy="1809750"/>
            </a:xfrm>
            <a:custGeom>
              <a:avLst/>
              <a:gdLst/>
              <a:ahLst/>
              <a:cxnLst/>
              <a:rect l="l" t="t" r="r" b="b"/>
              <a:pathLst>
                <a:path w="6692477" h="1809750">
                  <a:moveTo>
                    <a:pt x="0" y="0"/>
                  </a:moveTo>
                  <a:lnTo>
                    <a:pt x="6692477" y="0"/>
                  </a:lnTo>
                  <a:lnTo>
                    <a:pt x="6692477" y="1809750"/>
                  </a:lnTo>
                  <a:lnTo>
                    <a:pt x="0" y="1809750"/>
                  </a:lnTo>
                  <a:close/>
                </a:path>
              </a:pathLst>
            </a:custGeom>
            <a:solidFill>
              <a:srgbClr val="000000">
                <a:alpha val="0"/>
              </a:srgbClr>
            </a:solidFill>
          </p:spPr>
        </p:sp>
        <p:sp>
          <p:nvSpPr>
            <p:cNvPr id="9" name="TextBox 9"/>
            <p:cNvSpPr txBox="1"/>
            <p:nvPr/>
          </p:nvSpPr>
          <p:spPr>
            <a:xfrm>
              <a:off x="0" y="-28575"/>
              <a:ext cx="6692476" cy="1838325"/>
            </a:xfrm>
            <a:prstGeom prst="rect">
              <a:avLst/>
            </a:prstGeom>
          </p:spPr>
          <p:txBody>
            <a:bodyPr lIns="0" tIns="0" rIns="0" bIns="0" rtlCol="0" anchor="t"/>
            <a:lstStyle/>
            <a:p>
              <a:pPr algn="l">
                <a:lnSpc>
                  <a:spcPts val="3533"/>
                </a:lnSpc>
              </a:pPr>
              <a:r>
                <a:rPr lang="en-US" sz="2833">
                  <a:solidFill>
                    <a:srgbClr val="FFFFFF"/>
                  </a:solidFill>
                  <a:latin typeface="Arimo"/>
                  <a:ea typeface="Arimo"/>
                  <a:cs typeface="Arimo"/>
                  <a:sym typeface="Arimo"/>
                </a:rPr>
                <a:t>Key Cloud Computing Concepts and Terminology</a:t>
              </a:r>
            </a:p>
          </p:txBody>
        </p:sp>
      </p:grpSp>
      <p:sp>
        <p:nvSpPr>
          <p:cNvPr id="10" name="Freeform 10" descr="preencoded.png"/>
          <p:cNvSpPr/>
          <p:nvPr/>
        </p:nvSpPr>
        <p:spPr>
          <a:xfrm>
            <a:off x="538321" y="1745615"/>
            <a:ext cx="384493" cy="384493"/>
          </a:xfrm>
          <a:custGeom>
            <a:avLst/>
            <a:gdLst/>
            <a:ahLst/>
            <a:cxnLst/>
            <a:rect l="l" t="t" r="r" b="b"/>
            <a:pathLst>
              <a:path w="384493" h="384493">
                <a:moveTo>
                  <a:pt x="0" y="0"/>
                </a:moveTo>
                <a:lnTo>
                  <a:pt x="384493" y="0"/>
                </a:lnTo>
                <a:lnTo>
                  <a:pt x="384493" y="384492"/>
                </a:lnTo>
                <a:lnTo>
                  <a:pt x="0" y="384492"/>
                </a:lnTo>
                <a:lnTo>
                  <a:pt x="0" y="0"/>
                </a:lnTo>
                <a:close/>
              </a:path>
            </a:pathLst>
          </a:custGeom>
          <a:blipFill>
            <a:blip r:embed="rId7"/>
            <a:stretch>
              <a:fillRect/>
            </a:stretch>
          </a:blipFill>
        </p:spPr>
      </p:sp>
      <p:grpSp>
        <p:nvGrpSpPr>
          <p:cNvPr id="11" name="Group 11"/>
          <p:cNvGrpSpPr/>
          <p:nvPr/>
        </p:nvGrpSpPr>
        <p:grpSpPr>
          <a:xfrm>
            <a:off x="520621" y="2248303"/>
            <a:ext cx="2017040" cy="466957"/>
            <a:chOff x="0" y="0"/>
            <a:chExt cx="2436389" cy="564039"/>
          </a:xfrm>
        </p:grpSpPr>
        <p:sp>
          <p:nvSpPr>
            <p:cNvPr id="12" name="Freeform 12"/>
            <p:cNvSpPr/>
            <p:nvPr/>
          </p:nvSpPr>
          <p:spPr>
            <a:xfrm>
              <a:off x="0" y="0"/>
              <a:ext cx="2436389" cy="564039"/>
            </a:xfrm>
            <a:custGeom>
              <a:avLst/>
              <a:gdLst/>
              <a:ahLst/>
              <a:cxnLst/>
              <a:rect l="l" t="t" r="r" b="b"/>
              <a:pathLst>
                <a:path w="2436389" h="564039">
                  <a:moveTo>
                    <a:pt x="0" y="0"/>
                  </a:moveTo>
                  <a:lnTo>
                    <a:pt x="2436389" y="0"/>
                  </a:lnTo>
                  <a:lnTo>
                    <a:pt x="2436389" y="564039"/>
                  </a:lnTo>
                  <a:lnTo>
                    <a:pt x="0" y="564039"/>
                  </a:lnTo>
                  <a:close/>
                </a:path>
              </a:pathLst>
            </a:custGeom>
            <a:solidFill>
              <a:srgbClr val="000000">
                <a:alpha val="0"/>
              </a:srgbClr>
            </a:solidFill>
          </p:spPr>
        </p:sp>
        <p:sp>
          <p:nvSpPr>
            <p:cNvPr id="13" name="TextBox 13"/>
            <p:cNvSpPr txBox="1"/>
            <p:nvPr/>
          </p:nvSpPr>
          <p:spPr>
            <a:xfrm>
              <a:off x="0" y="-19050"/>
              <a:ext cx="2436389" cy="583089"/>
            </a:xfrm>
            <a:prstGeom prst="rect">
              <a:avLst/>
            </a:prstGeom>
          </p:spPr>
          <p:txBody>
            <a:bodyPr lIns="0" tIns="0" rIns="0" bIns="0" rtlCol="0" anchor="t"/>
            <a:lstStyle/>
            <a:p>
              <a:pPr algn="l">
                <a:lnSpc>
                  <a:spcPts val="2397"/>
                </a:lnSpc>
              </a:pPr>
              <a:r>
                <a:rPr lang="en-US" sz="1899" b="1">
                  <a:solidFill>
                    <a:srgbClr val="CAD6DE"/>
                  </a:solidFill>
                  <a:latin typeface="Arimo Bold"/>
                  <a:ea typeface="Arimo Bold"/>
                  <a:cs typeface="Arimo Bold"/>
                  <a:sym typeface="Arimo Bold"/>
                </a:rPr>
                <a:t>Virtual Machines</a:t>
              </a:r>
            </a:p>
          </p:txBody>
        </p:sp>
      </p:grpSp>
      <p:grpSp>
        <p:nvGrpSpPr>
          <p:cNvPr id="14" name="Group 14"/>
          <p:cNvGrpSpPr/>
          <p:nvPr/>
        </p:nvGrpSpPr>
        <p:grpSpPr>
          <a:xfrm>
            <a:off x="435256" y="2775426"/>
            <a:ext cx="2497412" cy="2234957"/>
            <a:chOff x="0" y="0"/>
            <a:chExt cx="3192462" cy="2856964"/>
          </a:xfrm>
        </p:grpSpPr>
        <p:sp>
          <p:nvSpPr>
            <p:cNvPr id="15" name="Freeform 15"/>
            <p:cNvSpPr/>
            <p:nvPr/>
          </p:nvSpPr>
          <p:spPr>
            <a:xfrm>
              <a:off x="0" y="0"/>
              <a:ext cx="3192462" cy="2856964"/>
            </a:xfrm>
            <a:custGeom>
              <a:avLst/>
              <a:gdLst/>
              <a:ahLst/>
              <a:cxnLst/>
              <a:rect l="l" t="t" r="r" b="b"/>
              <a:pathLst>
                <a:path w="3192462" h="2856964">
                  <a:moveTo>
                    <a:pt x="0" y="0"/>
                  </a:moveTo>
                  <a:lnTo>
                    <a:pt x="3192462" y="0"/>
                  </a:lnTo>
                  <a:lnTo>
                    <a:pt x="3192462" y="2856964"/>
                  </a:lnTo>
                  <a:lnTo>
                    <a:pt x="0" y="2856964"/>
                  </a:lnTo>
                  <a:close/>
                </a:path>
              </a:pathLst>
            </a:custGeom>
            <a:solidFill>
              <a:srgbClr val="000000">
                <a:alpha val="0"/>
              </a:srgbClr>
            </a:solidFill>
          </p:spPr>
        </p:sp>
        <p:sp>
          <p:nvSpPr>
            <p:cNvPr id="16" name="TextBox 16"/>
            <p:cNvSpPr txBox="1"/>
            <p:nvPr/>
          </p:nvSpPr>
          <p:spPr>
            <a:xfrm>
              <a:off x="0" y="-66675"/>
              <a:ext cx="3192462" cy="2923639"/>
            </a:xfrm>
            <a:prstGeom prst="rect">
              <a:avLst/>
            </a:prstGeom>
          </p:spPr>
          <p:txBody>
            <a:bodyPr lIns="0" tIns="0" rIns="0" bIns="0" rtlCol="0" anchor="t"/>
            <a:lstStyle/>
            <a:p>
              <a:pPr algn="l">
                <a:lnSpc>
                  <a:spcPts val="2416"/>
                </a:lnSpc>
              </a:pPr>
              <a:r>
                <a:rPr lang="en-US" sz="1499" b="1">
                  <a:solidFill>
                    <a:srgbClr val="CAD6DE"/>
                  </a:solidFill>
                  <a:latin typeface="Cabin Bold"/>
                  <a:ea typeface="Cabin Bold"/>
                  <a:cs typeface="Cabin Bold"/>
                  <a:sym typeface="Cabin Bold"/>
                </a:rPr>
                <a:t>Virtual machines are software-based representations of physical computers, enabling you to run multiple operating systems and applications on a single physical server.</a:t>
              </a:r>
            </a:p>
          </p:txBody>
        </p:sp>
      </p:grpSp>
      <p:sp>
        <p:nvSpPr>
          <p:cNvPr id="17" name="Freeform 17" descr="preencoded.png"/>
          <p:cNvSpPr/>
          <p:nvPr/>
        </p:nvSpPr>
        <p:spPr>
          <a:xfrm>
            <a:off x="3163332" y="1745615"/>
            <a:ext cx="384493" cy="384493"/>
          </a:xfrm>
          <a:custGeom>
            <a:avLst/>
            <a:gdLst/>
            <a:ahLst/>
            <a:cxnLst/>
            <a:rect l="l" t="t" r="r" b="b"/>
            <a:pathLst>
              <a:path w="384493" h="384493">
                <a:moveTo>
                  <a:pt x="0" y="0"/>
                </a:moveTo>
                <a:lnTo>
                  <a:pt x="384493" y="0"/>
                </a:lnTo>
                <a:lnTo>
                  <a:pt x="384493" y="384492"/>
                </a:lnTo>
                <a:lnTo>
                  <a:pt x="0" y="384492"/>
                </a:lnTo>
                <a:lnTo>
                  <a:pt x="0" y="0"/>
                </a:lnTo>
                <a:close/>
              </a:path>
            </a:pathLst>
          </a:custGeom>
          <a:blipFill>
            <a:blip r:embed="rId8"/>
            <a:stretch>
              <a:fillRect/>
            </a:stretch>
          </a:blipFill>
        </p:spPr>
      </p:sp>
      <p:grpSp>
        <p:nvGrpSpPr>
          <p:cNvPr id="18" name="Group 18"/>
          <p:cNvGrpSpPr/>
          <p:nvPr/>
        </p:nvGrpSpPr>
        <p:grpSpPr>
          <a:xfrm>
            <a:off x="3163332" y="2248303"/>
            <a:ext cx="1809591" cy="527123"/>
            <a:chOff x="0" y="0"/>
            <a:chExt cx="2412788" cy="702831"/>
          </a:xfrm>
        </p:grpSpPr>
        <p:sp>
          <p:nvSpPr>
            <p:cNvPr id="19" name="Freeform 19"/>
            <p:cNvSpPr/>
            <p:nvPr/>
          </p:nvSpPr>
          <p:spPr>
            <a:xfrm>
              <a:off x="0" y="0"/>
              <a:ext cx="2412788" cy="702831"/>
            </a:xfrm>
            <a:custGeom>
              <a:avLst/>
              <a:gdLst/>
              <a:ahLst/>
              <a:cxnLst/>
              <a:rect l="l" t="t" r="r" b="b"/>
              <a:pathLst>
                <a:path w="2412788" h="702831">
                  <a:moveTo>
                    <a:pt x="0" y="0"/>
                  </a:moveTo>
                  <a:lnTo>
                    <a:pt x="2412788" y="0"/>
                  </a:lnTo>
                  <a:lnTo>
                    <a:pt x="2412788" y="702831"/>
                  </a:lnTo>
                  <a:lnTo>
                    <a:pt x="0" y="702831"/>
                  </a:lnTo>
                  <a:close/>
                </a:path>
              </a:pathLst>
            </a:custGeom>
            <a:solidFill>
              <a:srgbClr val="000000">
                <a:alpha val="0"/>
              </a:srgbClr>
            </a:solidFill>
          </p:spPr>
        </p:sp>
        <p:sp>
          <p:nvSpPr>
            <p:cNvPr id="20" name="TextBox 20"/>
            <p:cNvSpPr txBox="1"/>
            <p:nvPr/>
          </p:nvSpPr>
          <p:spPr>
            <a:xfrm>
              <a:off x="0" y="-19050"/>
              <a:ext cx="2412788" cy="721881"/>
            </a:xfrm>
            <a:prstGeom prst="rect">
              <a:avLst/>
            </a:prstGeom>
          </p:spPr>
          <p:txBody>
            <a:bodyPr lIns="0" tIns="0" rIns="0" bIns="0" rtlCol="0" anchor="t"/>
            <a:lstStyle/>
            <a:p>
              <a:pPr algn="l">
                <a:lnSpc>
                  <a:spcPts val="2523"/>
                </a:lnSpc>
              </a:pPr>
              <a:r>
                <a:rPr lang="en-US" sz="1999" b="1">
                  <a:solidFill>
                    <a:srgbClr val="CAD6DE"/>
                  </a:solidFill>
                  <a:latin typeface="Arimo Bold"/>
                  <a:ea typeface="Arimo Bold"/>
                  <a:cs typeface="Arimo Bold"/>
                  <a:sym typeface="Arimo Bold"/>
                </a:rPr>
                <a:t>Networking</a:t>
              </a:r>
            </a:p>
          </p:txBody>
        </p:sp>
      </p:grpSp>
      <p:grpSp>
        <p:nvGrpSpPr>
          <p:cNvPr id="21" name="Group 21"/>
          <p:cNvGrpSpPr/>
          <p:nvPr/>
        </p:nvGrpSpPr>
        <p:grpSpPr>
          <a:xfrm>
            <a:off x="3163332" y="2964065"/>
            <a:ext cx="2651427" cy="2142723"/>
            <a:chOff x="0" y="0"/>
            <a:chExt cx="3535236" cy="2856964"/>
          </a:xfrm>
        </p:grpSpPr>
        <p:sp>
          <p:nvSpPr>
            <p:cNvPr id="22" name="Freeform 22"/>
            <p:cNvSpPr/>
            <p:nvPr/>
          </p:nvSpPr>
          <p:spPr>
            <a:xfrm>
              <a:off x="0" y="0"/>
              <a:ext cx="3535237" cy="2856964"/>
            </a:xfrm>
            <a:custGeom>
              <a:avLst/>
              <a:gdLst/>
              <a:ahLst/>
              <a:cxnLst/>
              <a:rect l="l" t="t" r="r" b="b"/>
              <a:pathLst>
                <a:path w="3535237" h="2856964">
                  <a:moveTo>
                    <a:pt x="0" y="0"/>
                  </a:moveTo>
                  <a:lnTo>
                    <a:pt x="3535237" y="0"/>
                  </a:lnTo>
                  <a:lnTo>
                    <a:pt x="3535237" y="2856964"/>
                  </a:lnTo>
                  <a:lnTo>
                    <a:pt x="0" y="2856964"/>
                  </a:lnTo>
                  <a:close/>
                </a:path>
              </a:pathLst>
            </a:custGeom>
            <a:solidFill>
              <a:srgbClr val="000000">
                <a:alpha val="0"/>
              </a:srgbClr>
            </a:solidFill>
          </p:spPr>
        </p:sp>
        <p:sp>
          <p:nvSpPr>
            <p:cNvPr id="23" name="TextBox 23"/>
            <p:cNvSpPr txBox="1"/>
            <p:nvPr/>
          </p:nvSpPr>
          <p:spPr>
            <a:xfrm>
              <a:off x="0" y="-66675"/>
              <a:ext cx="3535236" cy="2923639"/>
            </a:xfrm>
            <a:prstGeom prst="rect">
              <a:avLst/>
            </a:prstGeom>
          </p:spPr>
          <p:txBody>
            <a:bodyPr lIns="0" tIns="0" rIns="0" bIns="0" rtlCol="0" anchor="t"/>
            <a:lstStyle/>
            <a:p>
              <a:pPr algn="l">
                <a:lnSpc>
                  <a:spcPts val="2416"/>
                </a:lnSpc>
              </a:pPr>
              <a:r>
                <a:rPr lang="en-US" sz="1499" b="1">
                  <a:solidFill>
                    <a:srgbClr val="CAD6DE"/>
                  </a:solidFill>
                  <a:latin typeface="Cabin Bold"/>
                  <a:ea typeface="Cabin Bold"/>
                  <a:cs typeface="Cabin Bold"/>
                  <a:sym typeface="Cabin Bold"/>
                </a:rPr>
                <a:t>Cloud networking allows you to connect and manage virtual machines, applications, and services across various cloud regions and zones, providing secure and scalable connectivity.</a:t>
              </a:r>
            </a:p>
          </p:txBody>
        </p:sp>
      </p:grpSp>
      <p:sp>
        <p:nvSpPr>
          <p:cNvPr id="24" name="Freeform 24" descr="preencoded.png"/>
          <p:cNvSpPr/>
          <p:nvPr/>
        </p:nvSpPr>
        <p:spPr>
          <a:xfrm>
            <a:off x="1945719" y="5116983"/>
            <a:ext cx="384493" cy="384493"/>
          </a:xfrm>
          <a:custGeom>
            <a:avLst/>
            <a:gdLst/>
            <a:ahLst/>
            <a:cxnLst/>
            <a:rect l="l" t="t" r="r" b="b"/>
            <a:pathLst>
              <a:path w="384493" h="384493">
                <a:moveTo>
                  <a:pt x="0" y="0"/>
                </a:moveTo>
                <a:lnTo>
                  <a:pt x="384493" y="0"/>
                </a:lnTo>
                <a:lnTo>
                  <a:pt x="384493" y="384493"/>
                </a:lnTo>
                <a:lnTo>
                  <a:pt x="0" y="384493"/>
                </a:lnTo>
                <a:lnTo>
                  <a:pt x="0" y="0"/>
                </a:lnTo>
                <a:close/>
              </a:path>
            </a:pathLst>
          </a:custGeom>
          <a:blipFill>
            <a:blip r:embed="rId9"/>
            <a:stretch>
              <a:fillRect/>
            </a:stretch>
          </a:blipFill>
        </p:spPr>
      </p:sp>
      <p:grpSp>
        <p:nvGrpSpPr>
          <p:cNvPr id="25" name="Group 25"/>
          <p:cNvGrpSpPr/>
          <p:nvPr/>
        </p:nvGrpSpPr>
        <p:grpSpPr>
          <a:xfrm>
            <a:off x="520621" y="5124683"/>
            <a:ext cx="1809591" cy="369094"/>
            <a:chOff x="0" y="0"/>
            <a:chExt cx="2412788" cy="492125"/>
          </a:xfrm>
        </p:grpSpPr>
        <p:sp>
          <p:nvSpPr>
            <p:cNvPr id="26" name="Freeform 26"/>
            <p:cNvSpPr/>
            <p:nvPr/>
          </p:nvSpPr>
          <p:spPr>
            <a:xfrm>
              <a:off x="0" y="0"/>
              <a:ext cx="2412788" cy="492125"/>
            </a:xfrm>
            <a:custGeom>
              <a:avLst/>
              <a:gdLst/>
              <a:ahLst/>
              <a:cxnLst/>
              <a:rect l="l" t="t" r="r" b="b"/>
              <a:pathLst>
                <a:path w="2412788" h="492125">
                  <a:moveTo>
                    <a:pt x="0" y="0"/>
                  </a:moveTo>
                  <a:lnTo>
                    <a:pt x="2412788" y="0"/>
                  </a:lnTo>
                  <a:lnTo>
                    <a:pt x="2412788" y="492125"/>
                  </a:lnTo>
                  <a:lnTo>
                    <a:pt x="0" y="492125"/>
                  </a:lnTo>
                  <a:close/>
                </a:path>
              </a:pathLst>
            </a:custGeom>
            <a:solidFill>
              <a:srgbClr val="000000">
                <a:alpha val="0"/>
              </a:srgbClr>
            </a:solidFill>
          </p:spPr>
        </p:sp>
        <p:sp>
          <p:nvSpPr>
            <p:cNvPr id="27" name="TextBox 27"/>
            <p:cNvSpPr txBox="1"/>
            <p:nvPr/>
          </p:nvSpPr>
          <p:spPr>
            <a:xfrm>
              <a:off x="0" y="-28575"/>
              <a:ext cx="2412788" cy="520700"/>
            </a:xfrm>
            <a:prstGeom prst="rect">
              <a:avLst/>
            </a:prstGeom>
          </p:spPr>
          <p:txBody>
            <a:bodyPr lIns="0" tIns="0" rIns="0" bIns="0" rtlCol="0" anchor="t"/>
            <a:lstStyle/>
            <a:p>
              <a:pPr algn="l">
                <a:lnSpc>
                  <a:spcPts val="2271"/>
                </a:lnSpc>
              </a:pPr>
              <a:r>
                <a:rPr lang="en-US" sz="1799" b="1">
                  <a:solidFill>
                    <a:srgbClr val="CAD6DE"/>
                  </a:solidFill>
                  <a:latin typeface="Arimo Bold"/>
                  <a:ea typeface="Arimo Bold"/>
                  <a:cs typeface="Arimo Bold"/>
                  <a:sym typeface="Arimo Bold"/>
                </a:rPr>
                <a:t>Databases</a:t>
              </a:r>
            </a:p>
          </p:txBody>
        </p:sp>
      </p:grpSp>
      <p:grpSp>
        <p:nvGrpSpPr>
          <p:cNvPr id="28" name="Group 28"/>
          <p:cNvGrpSpPr/>
          <p:nvPr/>
        </p:nvGrpSpPr>
        <p:grpSpPr>
          <a:xfrm>
            <a:off x="435256" y="5581680"/>
            <a:ext cx="2497412" cy="1617718"/>
            <a:chOff x="0" y="0"/>
            <a:chExt cx="3192462" cy="2067942"/>
          </a:xfrm>
        </p:grpSpPr>
        <p:sp>
          <p:nvSpPr>
            <p:cNvPr id="29" name="Freeform 29"/>
            <p:cNvSpPr/>
            <p:nvPr/>
          </p:nvSpPr>
          <p:spPr>
            <a:xfrm>
              <a:off x="0" y="0"/>
              <a:ext cx="3192462" cy="2067942"/>
            </a:xfrm>
            <a:custGeom>
              <a:avLst/>
              <a:gdLst/>
              <a:ahLst/>
              <a:cxnLst/>
              <a:rect l="l" t="t" r="r" b="b"/>
              <a:pathLst>
                <a:path w="3192462" h="2067942">
                  <a:moveTo>
                    <a:pt x="0" y="0"/>
                  </a:moveTo>
                  <a:lnTo>
                    <a:pt x="3192462" y="0"/>
                  </a:lnTo>
                  <a:lnTo>
                    <a:pt x="3192462" y="2067942"/>
                  </a:lnTo>
                  <a:lnTo>
                    <a:pt x="0" y="2067942"/>
                  </a:lnTo>
                  <a:close/>
                </a:path>
              </a:pathLst>
            </a:custGeom>
            <a:solidFill>
              <a:srgbClr val="000000">
                <a:alpha val="0"/>
              </a:srgbClr>
            </a:solidFill>
          </p:spPr>
        </p:sp>
        <p:sp>
          <p:nvSpPr>
            <p:cNvPr id="30" name="TextBox 30"/>
            <p:cNvSpPr txBox="1"/>
            <p:nvPr/>
          </p:nvSpPr>
          <p:spPr>
            <a:xfrm>
              <a:off x="0" y="-47625"/>
              <a:ext cx="3192462" cy="2115567"/>
            </a:xfrm>
            <a:prstGeom prst="rect">
              <a:avLst/>
            </a:prstGeom>
          </p:spPr>
          <p:txBody>
            <a:bodyPr lIns="0" tIns="0" rIns="0" bIns="0" rtlCol="0" anchor="t"/>
            <a:lstStyle/>
            <a:p>
              <a:pPr algn="l">
                <a:lnSpc>
                  <a:spcPts val="2094"/>
                </a:lnSpc>
              </a:pPr>
              <a:r>
                <a:rPr lang="en-US" sz="1299" b="1">
                  <a:solidFill>
                    <a:srgbClr val="CAD6DE"/>
                  </a:solidFill>
                  <a:latin typeface="Cabin Bold"/>
                  <a:ea typeface="Cabin Bold"/>
                  <a:cs typeface="Cabin Bold"/>
                  <a:sym typeface="Cabin Bold"/>
                </a:rPr>
                <a:t>Cloud databases provide reliable and scalable storage and management for your data, offering a variety of options to suit different application requirements.</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descr="preencoded.png"/>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grpSp>
        <p:nvGrpSpPr>
          <p:cNvPr id="3" name="Group 3"/>
          <p:cNvGrpSpPr/>
          <p:nvPr/>
        </p:nvGrpSpPr>
        <p:grpSpPr>
          <a:xfrm>
            <a:off x="0" y="0"/>
            <a:ext cx="9753600" cy="7315200"/>
            <a:chOff x="0" y="0"/>
            <a:chExt cx="13004800" cy="9753600"/>
          </a:xfrm>
        </p:grpSpPr>
        <p:sp>
          <p:nvSpPr>
            <p:cNvPr id="4" name="Freeform 4"/>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close/>
                </a:path>
              </a:pathLst>
            </a:custGeom>
            <a:solidFill>
              <a:srgbClr val="112836"/>
            </a:solidFill>
          </p:spPr>
        </p:sp>
      </p:grpSp>
      <p:grpSp>
        <p:nvGrpSpPr>
          <p:cNvPr id="5" name="Group 5"/>
          <p:cNvGrpSpPr/>
          <p:nvPr/>
        </p:nvGrpSpPr>
        <p:grpSpPr>
          <a:xfrm>
            <a:off x="731520" y="63859"/>
            <a:ext cx="7792403" cy="949430"/>
            <a:chOff x="0" y="0"/>
            <a:chExt cx="10389870" cy="1265907"/>
          </a:xfrm>
        </p:grpSpPr>
        <p:sp>
          <p:nvSpPr>
            <p:cNvPr id="6" name="Freeform 6"/>
            <p:cNvSpPr/>
            <p:nvPr/>
          </p:nvSpPr>
          <p:spPr>
            <a:xfrm>
              <a:off x="0" y="0"/>
              <a:ext cx="10389870" cy="1265907"/>
            </a:xfrm>
            <a:custGeom>
              <a:avLst/>
              <a:gdLst/>
              <a:ahLst/>
              <a:cxnLst/>
              <a:rect l="l" t="t" r="r" b="b"/>
              <a:pathLst>
                <a:path w="10389870" h="1265907">
                  <a:moveTo>
                    <a:pt x="0" y="0"/>
                  </a:moveTo>
                  <a:lnTo>
                    <a:pt x="10389870" y="0"/>
                  </a:lnTo>
                  <a:lnTo>
                    <a:pt x="10389870" y="1265907"/>
                  </a:lnTo>
                  <a:lnTo>
                    <a:pt x="0" y="1265907"/>
                  </a:lnTo>
                  <a:close/>
                </a:path>
              </a:pathLst>
            </a:custGeom>
            <a:solidFill>
              <a:srgbClr val="000000">
                <a:alpha val="0"/>
              </a:srgbClr>
            </a:solidFill>
          </p:spPr>
        </p:sp>
        <p:sp>
          <p:nvSpPr>
            <p:cNvPr id="7" name="TextBox 7"/>
            <p:cNvSpPr txBox="1"/>
            <p:nvPr/>
          </p:nvSpPr>
          <p:spPr>
            <a:xfrm>
              <a:off x="0" y="-47625"/>
              <a:ext cx="10389870" cy="1313532"/>
            </a:xfrm>
            <a:prstGeom prst="rect">
              <a:avLst/>
            </a:prstGeom>
          </p:spPr>
          <p:txBody>
            <a:bodyPr lIns="0" tIns="0" rIns="0" bIns="0" rtlCol="0" anchor="t"/>
            <a:lstStyle/>
            <a:p>
              <a:pPr algn="l">
                <a:lnSpc>
                  <a:spcPts val="4416"/>
                </a:lnSpc>
              </a:pPr>
              <a:r>
                <a:rPr lang="en-US" sz="3533" b="1">
                  <a:solidFill>
                    <a:srgbClr val="FFFFFF"/>
                  </a:solidFill>
                  <a:latin typeface="Arimo Bold"/>
                  <a:ea typeface="Arimo Bold"/>
                  <a:cs typeface="Arimo Bold"/>
                  <a:sym typeface="Arimo Bold"/>
                </a:rPr>
                <a:t>Resources and Access in the Cloud</a:t>
              </a:r>
            </a:p>
          </p:txBody>
        </p:sp>
      </p:grpSp>
      <p:grpSp>
        <p:nvGrpSpPr>
          <p:cNvPr id="8" name="Group 8"/>
          <p:cNvGrpSpPr/>
          <p:nvPr/>
        </p:nvGrpSpPr>
        <p:grpSpPr>
          <a:xfrm>
            <a:off x="522566" y="4912203"/>
            <a:ext cx="4123690" cy="784768"/>
            <a:chOff x="0" y="0"/>
            <a:chExt cx="5498253" cy="1046357"/>
          </a:xfrm>
        </p:grpSpPr>
        <p:sp>
          <p:nvSpPr>
            <p:cNvPr id="9" name="Freeform 9"/>
            <p:cNvSpPr/>
            <p:nvPr/>
          </p:nvSpPr>
          <p:spPr>
            <a:xfrm>
              <a:off x="0" y="0"/>
              <a:ext cx="5498253" cy="1046357"/>
            </a:xfrm>
            <a:custGeom>
              <a:avLst/>
              <a:gdLst/>
              <a:ahLst/>
              <a:cxnLst/>
              <a:rect l="l" t="t" r="r" b="b"/>
              <a:pathLst>
                <a:path w="5498253" h="1046357">
                  <a:moveTo>
                    <a:pt x="0" y="0"/>
                  </a:moveTo>
                  <a:lnTo>
                    <a:pt x="5498253" y="0"/>
                  </a:lnTo>
                  <a:lnTo>
                    <a:pt x="5498253" y="1046357"/>
                  </a:lnTo>
                  <a:lnTo>
                    <a:pt x="0" y="1046357"/>
                  </a:lnTo>
                  <a:close/>
                </a:path>
              </a:pathLst>
            </a:custGeom>
            <a:solidFill>
              <a:srgbClr val="000000">
                <a:alpha val="0"/>
              </a:srgbClr>
            </a:solidFill>
          </p:spPr>
        </p:sp>
        <p:sp>
          <p:nvSpPr>
            <p:cNvPr id="10" name="TextBox 10"/>
            <p:cNvSpPr txBox="1"/>
            <p:nvPr/>
          </p:nvSpPr>
          <p:spPr>
            <a:xfrm>
              <a:off x="0" y="-28575"/>
              <a:ext cx="5498253" cy="1074932"/>
            </a:xfrm>
            <a:prstGeom prst="rect">
              <a:avLst/>
            </a:prstGeom>
          </p:spPr>
          <p:txBody>
            <a:bodyPr lIns="0" tIns="0" rIns="0" bIns="0" rtlCol="0" anchor="t"/>
            <a:lstStyle/>
            <a:p>
              <a:pPr algn="l">
                <a:lnSpc>
                  <a:spcPts val="2708"/>
                </a:lnSpc>
              </a:pPr>
              <a:r>
                <a:rPr lang="en-US" sz="2166" b="1">
                  <a:solidFill>
                    <a:srgbClr val="FFFFFF"/>
                  </a:solidFill>
                  <a:latin typeface="Arimo Bold"/>
                  <a:ea typeface="Arimo Bold"/>
                  <a:cs typeface="Arimo Bold"/>
                  <a:sym typeface="Arimo Bold"/>
                </a:rPr>
                <a:t>IAM (Identity and Access Management)</a:t>
              </a:r>
            </a:p>
          </p:txBody>
        </p:sp>
      </p:grpSp>
      <p:grpSp>
        <p:nvGrpSpPr>
          <p:cNvPr id="11" name="Group 11"/>
          <p:cNvGrpSpPr/>
          <p:nvPr/>
        </p:nvGrpSpPr>
        <p:grpSpPr>
          <a:xfrm>
            <a:off x="522566" y="5792221"/>
            <a:ext cx="4123690" cy="1264579"/>
            <a:chOff x="0" y="0"/>
            <a:chExt cx="5498253" cy="1686105"/>
          </a:xfrm>
        </p:grpSpPr>
        <p:sp>
          <p:nvSpPr>
            <p:cNvPr id="12" name="Freeform 12"/>
            <p:cNvSpPr/>
            <p:nvPr/>
          </p:nvSpPr>
          <p:spPr>
            <a:xfrm>
              <a:off x="0" y="0"/>
              <a:ext cx="5498253" cy="1686105"/>
            </a:xfrm>
            <a:custGeom>
              <a:avLst/>
              <a:gdLst/>
              <a:ahLst/>
              <a:cxnLst/>
              <a:rect l="l" t="t" r="r" b="b"/>
              <a:pathLst>
                <a:path w="5498253" h="1686105">
                  <a:moveTo>
                    <a:pt x="0" y="0"/>
                  </a:moveTo>
                  <a:lnTo>
                    <a:pt x="5498253" y="0"/>
                  </a:lnTo>
                  <a:lnTo>
                    <a:pt x="5498253" y="1686105"/>
                  </a:lnTo>
                  <a:lnTo>
                    <a:pt x="0" y="1686105"/>
                  </a:lnTo>
                  <a:close/>
                </a:path>
              </a:pathLst>
            </a:custGeom>
            <a:solidFill>
              <a:srgbClr val="000000">
                <a:alpha val="0"/>
              </a:srgbClr>
            </a:solidFill>
          </p:spPr>
        </p:sp>
        <p:sp>
          <p:nvSpPr>
            <p:cNvPr id="13" name="TextBox 13"/>
            <p:cNvSpPr txBox="1"/>
            <p:nvPr/>
          </p:nvSpPr>
          <p:spPr>
            <a:xfrm>
              <a:off x="0" y="-66675"/>
              <a:ext cx="5498253" cy="1752780"/>
            </a:xfrm>
            <a:prstGeom prst="rect">
              <a:avLst/>
            </a:prstGeom>
          </p:spPr>
          <p:txBody>
            <a:bodyPr lIns="0" tIns="0" rIns="0" bIns="0" rtlCol="0" anchor="t"/>
            <a:lstStyle/>
            <a:p>
              <a:pPr algn="l">
                <a:lnSpc>
                  <a:spcPts val="2486"/>
                </a:lnSpc>
              </a:pPr>
              <a:r>
                <a:rPr lang="en-US" sz="1533" b="1">
                  <a:solidFill>
                    <a:srgbClr val="CAD6DE"/>
                  </a:solidFill>
                  <a:latin typeface="Cabin Bold"/>
                  <a:ea typeface="Cabin Bold"/>
                  <a:cs typeface="Cabin Bold"/>
                  <a:sym typeface="Cabin Bold"/>
                </a:rPr>
                <a:t>IAM is a crucial component for managing user permissions and access to cloud resources. It allows you to control who can access what and how, ensuring security and compliance.</a:t>
              </a:r>
            </a:p>
          </p:txBody>
        </p:sp>
      </p:grpSp>
      <p:grpSp>
        <p:nvGrpSpPr>
          <p:cNvPr id="14" name="Group 14"/>
          <p:cNvGrpSpPr/>
          <p:nvPr/>
        </p:nvGrpSpPr>
        <p:grpSpPr>
          <a:xfrm>
            <a:off x="5390876" y="5031455"/>
            <a:ext cx="1877457" cy="451015"/>
            <a:chOff x="0" y="0"/>
            <a:chExt cx="2503276" cy="601353"/>
          </a:xfrm>
        </p:grpSpPr>
        <p:sp>
          <p:nvSpPr>
            <p:cNvPr id="15" name="Freeform 15"/>
            <p:cNvSpPr/>
            <p:nvPr/>
          </p:nvSpPr>
          <p:spPr>
            <a:xfrm>
              <a:off x="0" y="0"/>
              <a:ext cx="2503275" cy="601353"/>
            </a:xfrm>
            <a:custGeom>
              <a:avLst/>
              <a:gdLst/>
              <a:ahLst/>
              <a:cxnLst/>
              <a:rect l="l" t="t" r="r" b="b"/>
              <a:pathLst>
                <a:path w="2503275" h="601353">
                  <a:moveTo>
                    <a:pt x="0" y="0"/>
                  </a:moveTo>
                  <a:lnTo>
                    <a:pt x="2503275" y="0"/>
                  </a:lnTo>
                  <a:lnTo>
                    <a:pt x="2503275" y="601353"/>
                  </a:lnTo>
                  <a:lnTo>
                    <a:pt x="0" y="601353"/>
                  </a:lnTo>
                  <a:close/>
                </a:path>
              </a:pathLst>
            </a:custGeom>
            <a:solidFill>
              <a:srgbClr val="000000">
                <a:alpha val="0"/>
              </a:srgbClr>
            </a:solidFill>
          </p:spPr>
        </p:sp>
        <p:sp>
          <p:nvSpPr>
            <p:cNvPr id="16" name="TextBox 16"/>
            <p:cNvSpPr txBox="1"/>
            <p:nvPr/>
          </p:nvSpPr>
          <p:spPr>
            <a:xfrm>
              <a:off x="0" y="-19050"/>
              <a:ext cx="2503276" cy="620403"/>
            </a:xfrm>
            <a:prstGeom prst="rect">
              <a:avLst/>
            </a:prstGeom>
          </p:spPr>
          <p:txBody>
            <a:bodyPr lIns="0" tIns="0" rIns="0" bIns="0" rtlCol="0" anchor="t"/>
            <a:lstStyle/>
            <a:p>
              <a:pPr algn="l">
                <a:lnSpc>
                  <a:spcPts val="2583"/>
                </a:lnSpc>
              </a:pPr>
              <a:r>
                <a:rPr lang="en-US" sz="2066" b="1">
                  <a:solidFill>
                    <a:srgbClr val="FFFFFF"/>
                  </a:solidFill>
                  <a:latin typeface="Arimo Bold"/>
                  <a:ea typeface="Arimo Bold"/>
                  <a:cs typeface="Arimo Bold"/>
                  <a:sym typeface="Arimo Bold"/>
                </a:rPr>
                <a:t>Cloud Console</a:t>
              </a:r>
            </a:p>
          </p:txBody>
        </p:sp>
      </p:grpSp>
      <p:grpSp>
        <p:nvGrpSpPr>
          <p:cNvPr id="17" name="Group 17"/>
          <p:cNvGrpSpPr/>
          <p:nvPr/>
        </p:nvGrpSpPr>
        <p:grpSpPr>
          <a:xfrm>
            <a:off x="5390876" y="5621246"/>
            <a:ext cx="4107109" cy="1435554"/>
            <a:chOff x="0" y="0"/>
            <a:chExt cx="5498253" cy="1921800"/>
          </a:xfrm>
        </p:grpSpPr>
        <p:sp>
          <p:nvSpPr>
            <p:cNvPr id="18" name="Freeform 18"/>
            <p:cNvSpPr/>
            <p:nvPr/>
          </p:nvSpPr>
          <p:spPr>
            <a:xfrm>
              <a:off x="0" y="0"/>
              <a:ext cx="5498253" cy="1921800"/>
            </a:xfrm>
            <a:custGeom>
              <a:avLst/>
              <a:gdLst/>
              <a:ahLst/>
              <a:cxnLst/>
              <a:rect l="l" t="t" r="r" b="b"/>
              <a:pathLst>
                <a:path w="5498253" h="1921800">
                  <a:moveTo>
                    <a:pt x="0" y="0"/>
                  </a:moveTo>
                  <a:lnTo>
                    <a:pt x="5498253" y="0"/>
                  </a:lnTo>
                  <a:lnTo>
                    <a:pt x="5498253" y="1921800"/>
                  </a:lnTo>
                  <a:lnTo>
                    <a:pt x="0" y="1921800"/>
                  </a:lnTo>
                  <a:close/>
                </a:path>
              </a:pathLst>
            </a:custGeom>
            <a:solidFill>
              <a:srgbClr val="000000">
                <a:alpha val="0"/>
              </a:srgbClr>
            </a:solidFill>
          </p:spPr>
        </p:sp>
        <p:sp>
          <p:nvSpPr>
            <p:cNvPr id="19" name="TextBox 19"/>
            <p:cNvSpPr txBox="1"/>
            <p:nvPr/>
          </p:nvSpPr>
          <p:spPr>
            <a:xfrm>
              <a:off x="0" y="-66675"/>
              <a:ext cx="5498253" cy="1988475"/>
            </a:xfrm>
            <a:prstGeom prst="rect">
              <a:avLst/>
            </a:prstGeom>
          </p:spPr>
          <p:txBody>
            <a:bodyPr lIns="0" tIns="0" rIns="0" bIns="0" rtlCol="0" anchor="t"/>
            <a:lstStyle/>
            <a:p>
              <a:pPr algn="l">
                <a:lnSpc>
                  <a:spcPts val="2324"/>
                </a:lnSpc>
              </a:pPr>
              <a:r>
                <a:rPr lang="en-US" sz="1433" b="1">
                  <a:solidFill>
                    <a:srgbClr val="CAD6DE"/>
                  </a:solidFill>
                  <a:latin typeface="Cabin Bold"/>
                  <a:ea typeface="Cabin Bold"/>
                  <a:cs typeface="Cabin Bold"/>
                  <a:sym typeface="Cabin Bold"/>
                </a:rPr>
                <a:t>The Google Cloud Console is a web-based interface that provides access to various GCP services. It offers a user-friendly way to manage resources, monitor applications, and perform various administrative tasks.</a:t>
              </a:r>
            </a:p>
          </p:txBody>
        </p:sp>
      </p:grpSp>
      <p:sp>
        <p:nvSpPr>
          <p:cNvPr id="20" name="Freeform 20"/>
          <p:cNvSpPr/>
          <p:nvPr/>
        </p:nvSpPr>
        <p:spPr>
          <a:xfrm>
            <a:off x="919260" y="1013289"/>
            <a:ext cx="7453992" cy="3803664"/>
          </a:xfrm>
          <a:custGeom>
            <a:avLst/>
            <a:gdLst/>
            <a:ahLst/>
            <a:cxnLst/>
            <a:rect l="l" t="t" r="r" b="b"/>
            <a:pathLst>
              <a:path w="7453992" h="3803664">
                <a:moveTo>
                  <a:pt x="0" y="0"/>
                </a:moveTo>
                <a:lnTo>
                  <a:pt x="7453992" y="0"/>
                </a:lnTo>
                <a:lnTo>
                  <a:pt x="7453992" y="3803664"/>
                </a:lnTo>
                <a:lnTo>
                  <a:pt x="0" y="3803664"/>
                </a:lnTo>
                <a:lnTo>
                  <a:pt x="0" y="0"/>
                </a:lnTo>
                <a:close/>
              </a:path>
            </a:pathLst>
          </a:custGeom>
          <a:blipFill>
            <a:blip r:embed="rId4"/>
            <a:stretch>
              <a:fillRect t="-2198" b="-2198"/>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descr="preencoded.png"/>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grpSp>
        <p:nvGrpSpPr>
          <p:cNvPr id="3" name="Group 3"/>
          <p:cNvGrpSpPr/>
          <p:nvPr/>
        </p:nvGrpSpPr>
        <p:grpSpPr>
          <a:xfrm>
            <a:off x="0" y="0"/>
            <a:ext cx="9753600" cy="7315200"/>
            <a:chOff x="0" y="0"/>
            <a:chExt cx="13004800" cy="9753600"/>
          </a:xfrm>
        </p:grpSpPr>
        <p:sp>
          <p:nvSpPr>
            <p:cNvPr id="4" name="Freeform 4"/>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close/>
                </a:path>
              </a:pathLst>
            </a:custGeom>
            <a:solidFill>
              <a:srgbClr val="112836"/>
            </a:solidFill>
          </p:spPr>
        </p:sp>
      </p:grpSp>
      <p:grpSp>
        <p:nvGrpSpPr>
          <p:cNvPr id="5" name="Group 5"/>
          <p:cNvGrpSpPr/>
          <p:nvPr/>
        </p:nvGrpSpPr>
        <p:grpSpPr>
          <a:xfrm>
            <a:off x="482203" y="262175"/>
            <a:ext cx="4546997" cy="469345"/>
            <a:chOff x="0" y="0"/>
            <a:chExt cx="6062662" cy="625793"/>
          </a:xfrm>
        </p:grpSpPr>
        <p:sp>
          <p:nvSpPr>
            <p:cNvPr id="6" name="Freeform 6"/>
            <p:cNvSpPr/>
            <p:nvPr/>
          </p:nvSpPr>
          <p:spPr>
            <a:xfrm>
              <a:off x="0" y="0"/>
              <a:ext cx="6062662" cy="625793"/>
            </a:xfrm>
            <a:custGeom>
              <a:avLst/>
              <a:gdLst/>
              <a:ahLst/>
              <a:cxnLst/>
              <a:rect l="l" t="t" r="r" b="b"/>
              <a:pathLst>
                <a:path w="6062662" h="625793">
                  <a:moveTo>
                    <a:pt x="0" y="0"/>
                  </a:moveTo>
                  <a:lnTo>
                    <a:pt x="6062662" y="0"/>
                  </a:lnTo>
                  <a:lnTo>
                    <a:pt x="6062662" y="625793"/>
                  </a:lnTo>
                  <a:lnTo>
                    <a:pt x="0" y="625793"/>
                  </a:lnTo>
                  <a:close/>
                </a:path>
              </a:pathLst>
            </a:custGeom>
            <a:solidFill>
              <a:srgbClr val="000000">
                <a:alpha val="0"/>
              </a:srgbClr>
            </a:solidFill>
          </p:spPr>
        </p:sp>
        <p:sp>
          <p:nvSpPr>
            <p:cNvPr id="7" name="TextBox 7"/>
            <p:cNvSpPr txBox="1"/>
            <p:nvPr/>
          </p:nvSpPr>
          <p:spPr>
            <a:xfrm>
              <a:off x="0" y="-28575"/>
              <a:ext cx="6062662" cy="654368"/>
            </a:xfrm>
            <a:prstGeom prst="rect">
              <a:avLst/>
            </a:prstGeom>
          </p:spPr>
          <p:txBody>
            <a:bodyPr lIns="0" tIns="0" rIns="0" bIns="0" rtlCol="0" anchor="t"/>
            <a:lstStyle/>
            <a:p>
              <a:pPr algn="l">
                <a:lnSpc>
                  <a:spcPts val="3666"/>
                </a:lnSpc>
              </a:pPr>
              <a:r>
                <a:rPr lang="en-US" sz="2933">
                  <a:solidFill>
                    <a:srgbClr val="FFFFFF"/>
                  </a:solidFill>
                  <a:latin typeface="Arimo"/>
                  <a:ea typeface="Arimo"/>
                  <a:cs typeface="Arimo"/>
                  <a:sym typeface="Arimo"/>
                </a:rPr>
                <a:t>Storage in the Cloud</a:t>
              </a:r>
            </a:p>
          </p:txBody>
        </p:sp>
      </p:grpSp>
      <p:grpSp>
        <p:nvGrpSpPr>
          <p:cNvPr id="8" name="Group 8"/>
          <p:cNvGrpSpPr/>
          <p:nvPr/>
        </p:nvGrpSpPr>
        <p:grpSpPr>
          <a:xfrm>
            <a:off x="325913" y="1263855"/>
            <a:ext cx="359013" cy="359013"/>
            <a:chOff x="0" y="0"/>
            <a:chExt cx="478684" cy="478684"/>
          </a:xfrm>
        </p:grpSpPr>
        <p:sp>
          <p:nvSpPr>
            <p:cNvPr id="9" name="Freeform 9"/>
            <p:cNvSpPr/>
            <p:nvPr/>
          </p:nvSpPr>
          <p:spPr>
            <a:xfrm>
              <a:off x="0" y="0"/>
              <a:ext cx="478663" cy="478663"/>
            </a:xfrm>
            <a:custGeom>
              <a:avLst/>
              <a:gdLst/>
              <a:ahLst/>
              <a:cxnLst/>
              <a:rect l="l" t="t" r="r" b="b"/>
              <a:pathLst>
                <a:path w="478663" h="478663">
                  <a:moveTo>
                    <a:pt x="0" y="31877"/>
                  </a:moveTo>
                  <a:cubicBezTo>
                    <a:pt x="0" y="14351"/>
                    <a:pt x="14351" y="0"/>
                    <a:pt x="31877" y="0"/>
                  </a:cubicBezTo>
                  <a:lnTo>
                    <a:pt x="446786" y="0"/>
                  </a:lnTo>
                  <a:cubicBezTo>
                    <a:pt x="464439" y="0"/>
                    <a:pt x="478663" y="14351"/>
                    <a:pt x="478663" y="31877"/>
                  </a:cubicBezTo>
                  <a:lnTo>
                    <a:pt x="478663" y="446786"/>
                  </a:lnTo>
                  <a:cubicBezTo>
                    <a:pt x="478663" y="464439"/>
                    <a:pt x="464312" y="478663"/>
                    <a:pt x="446786" y="478663"/>
                  </a:cubicBezTo>
                  <a:lnTo>
                    <a:pt x="31877" y="478663"/>
                  </a:lnTo>
                  <a:cubicBezTo>
                    <a:pt x="14351" y="478663"/>
                    <a:pt x="0" y="464439"/>
                    <a:pt x="0" y="446786"/>
                  </a:cubicBezTo>
                  <a:close/>
                </a:path>
              </a:pathLst>
            </a:custGeom>
            <a:solidFill>
              <a:srgbClr val="304755"/>
            </a:solidFill>
          </p:spPr>
        </p:sp>
      </p:grpSp>
      <p:grpSp>
        <p:nvGrpSpPr>
          <p:cNvPr id="10" name="Group 10"/>
          <p:cNvGrpSpPr/>
          <p:nvPr/>
        </p:nvGrpSpPr>
        <p:grpSpPr>
          <a:xfrm>
            <a:off x="429141" y="1263855"/>
            <a:ext cx="106125" cy="225266"/>
            <a:chOff x="0" y="0"/>
            <a:chExt cx="141500" cy="300355"/>
          </a:xfrm>
        </p:grpSpPr>
        <p:sp>
          <p:nvSpPr>
            <p:cNvPr id="11" name="Freeform 11"/>
            <p:cNvSpPr/>
            <p:nvPr/>
          </p:nvSpPr>
          <p:spPr>
            <a:xfrm>
              <a:off x="0" y="0"/>
              <a:ext cx="141500" cy="300355"/>
            </a:xfrm>
            <a:custGeom>
              <a:avLst/>
              <a:gdLst/>
              <a:ahLst/>
              <a:cxnLst/>
              <a:rect l="l" t="t" r="r" b="b"/>
              <a:pathLst>
                <a:path w="141500" h="300355">
                  <a:moveTo>
                    <a:pt x="0" y="0"/>
                  </a:moveTo>
                  <a:lnTo>
                    <a:pt x="141500" y="0"/>
                  </a:lnTo>
                  <a:lnTo>
                    <a:pt x="141500" y="300355"/>
                  </a:lnTo>
                  <a:lnTo>
                    <a:pt x="0" y="300355"/>
                  </a:lnTo>
                  <a:close/>
                </a:path>
              </a:pathLst>
            </a:custGeom>
            <a:solidFill>
              <a:srgbClr val="000000">
                <a:alpha val="0"/>
              </a:srgbClr>
            </a:solidFill>
          </p:spPr>
        </p:sp>
        <p:sp>
          <p:nvSpPr>
            <p:cNvPr id="12" name="TextBox 12"/>
            <p:cNvSpPr txBox="1"/>
            <p:nvPr/>
          </p:nvSpPr>
          <p:spPr>
            <a:xfrm>
              <a:off x="0" y="9525"/>
              <a:ext cx="141500" cy="290830"/>
            </a:xfrm>
            <a:prstGeom prst="rect">
              <a:avLst/>
            </a:prstGeom>
          </p:spPr>
          <p:txBody>
            <a:bodyPr lIns="0" tIns="0" rIns="0" bIns="0" rtlCol="0" anchor="t"/>
            <a:lstStyle/>
            <a:p>
              <a:pPr algn="ctr">
                <a:lnSpc>
                  <a:spcPts val="1766"/>
                </a:lnSpc>
              </a:pPr>
              <a:r>
                <a:rPr lang="en-US" sz="1766">
                  <a:solidFill>
                    <a:srgbClr val="CAD6DE"/>
                  </a:solidFill>
                  <a:latin typeface="Arimo"/>
                  <a:ea typeface="Arimo"/>
                  <a:cs typeface="Arimo"/>
                  <a:sym typeface="Arimo"/>
                </a:rPr>
                <a:t>1</a:t>
              </a:r>
            </a:p>
          </p:txBody>
        </p:sp>
      </p:grpSp>
      <p:grpSp>
        <p:nvGrpSpPr>
          <p:cNvPr id="13" name="Group 13"/>
          <p:cNvGrpSpPr/>
          <p:nvPr/>
        </p:nvGrpSpPr>
        <p:grpSpPr>
          <a:xfrm>
            <a:off x="864513" y="1197470"/>
            <a:ext cx="1891189" cy="524194"/>
            <a:chOff x="0" y="0"/>
            <a:chExt cx="2521585" cy="698926"/>
          </a:xfrm>
        </p:grpSpPr>
        <p:sp>
          <p:nvSpPr>
            <p:cNvPr id="14" name="Freeform 14"/>
            <p:cNvSpPr/>
            <p:nvPr/>
          </p:nvSpPr>
          <p:spPr>
            <a:xfrm>
              <a:off x="0" y="0"/>
              <a:ext cx="2521585" cy="698926"/>
            </a:xfrm>
            <a:custGeom>
              <a:avLst/>
              <a:gdLst/>
              <a:ahLst/>
              <a:cxnLst/>
              <a:rect l="l" t="t" r="r" b="b"/>
              <a:pathLst>
                <a:path w="2521585" h="698926">
                  <a:moveTo>
                    <a:pt x="0" y="0"/>
                  </a:moveTo>
                  <a:lnTo>
                    <a:pt x="2521585" y="0"/>
                  </a:lnTo>
                  <a:lnTo>
                    <a:pt x="2521585" y="698926"/>
                  </a:lnTo>
                  <a:lnTo>
                    <a:pt x="0" y="698926"/>
                  </a:lnTo>
                  <a:close/>
                </a:path>
              </a:pathLst>
            </a:custGeom>
            <a:solidFill>
              <a:srgbClr val="000000">
                <a:alpha val="0"/>
              </a:srgbClr>
            </a:solidFill>
          </p:spPr>
        </p:sp>
        <p:sp>
          <p:nvSpPr>
            <p:cNvPr id="15" name="TextBox 15"/>
            <p:cNvSpPr txBox="1"/>
            <p:nvPr/>
          </p:nvSpPr>
          <p:spPr>
            <a:xfrm>
              <a:off x="0" y="-19050"/>
              <a:ext cx="2521585" cy="717976"/>
            </a:xfrm>
            <a:prstGeom prst="rect">
              <a:avLst/>
            </a:prstGeom>
          </p:spPr>
          <p:txBody>
            <a:bodyPr lIns="0" tIns="0" rIns="0" bIns="0" rtlCol="0" anchor="t"/>
            <a:lstStyle/>
            <a:p>
              <a:pPr algn="l">
                <a:lnSpc>
                  <a:spcPts val="1833"/>
                </a:lnSpc>
              </a:pPr>
              <a:r>
                <a:rPr lang="en-US" sz="1466" b="1">
                  <a:solidFill>
                    <a:srgbClr val="CAD6DE"/>
                  </a:solidFill>
                  <a:latin typeface="Arimo Bold"/>
                  <a:ea typeface="Arimo Bold"/>
                  <a:cs typeface="Arimo Bold"/>
                  <a:sym typeface="Arimo Bold"/>
                </a:rPr>
                <a:t>Google Cloud Storage (GCS)</a:t>
              </a:r>
            </a:p>
          </p:txBody>
        </p:sp>
      </p:grpSp>
      <p:grpSp>
        <p:nvGrpSpPr>
          <p:cNvPr id="16" name="Group 16"/>
          <p:cNvGrpSpPr/>
          <p:nvPr/>
        </p:nvGrpSpPr>
        <p:grpSpPr>
          <a:xfrm>
            <a:off x="864513" y="1826439"/>
            <a:ext cx="1891189" cy="1511101"/>
            <a:chOff x="0" y="0"/>
            <a:chExt cx="2521585" cy="2014801"/>
          </a:xfrm>
        </p:grpSpPr>
        <p:sp>
          <p:nvSpPr>
            <p:cNvPr id="17" name="Freeform 17"/>
            <p:cNvSpPr/>
            <p:nvPr/>
          </p:nvSpPr>
          <p:spPr>
            <a:xfrm>
              <a:off x="0" y="0"/>
              <a:ext cx="2521585" cy="2014801"/>
            </a:xfrm>
            <a:custGeom>
              <a:avLst/>
              <a:gdLst/>
              <a:ahLst/>
              <a:cxnLst/>
              <a:rect l="l" t="t" r="r" b="b"/>
              <a:pathLst>
                <a:path w="2521585" h="2014801">
                  <a:moveTo>
                    <a:pt x="0" y="0"/>
                  </a:moveTo>
                  <a:lnTo>
                    <a:pt x="2521585" y="0"/>
                  </a:lnTo>
                  <a:lnTo>
                    <a:pt x="2521585" y="2014801"/>
                  </a:lnTo>
                  <a:lnTo>
                    <a:pt x="0" y="2014801"/>
                  </a:lnTo>
                  <a:close/>
                </a:path>
              </a:pathLst>
            </a:custGeom>
            <a:solidFill>
              <a:srgbClr val="000000">
                <a:alpha val="0"/>
              </a:srgbClr>
            </a:solidFill>
          </p:spPr>
        </p:sp>
        <p:sp>
          <p:nvSpPr>
            <p:cNvPr id="18" name="TextBox 18"/>
            <p:cNvSpPr txBox="1"/>
            <p:nvPr/>
          </p:nvSpPr>
          <p:spPr>
            <a:xfrm>
              <a:off x="0" y="-57150"/>
              <a:ext cx="2521585" cy="2071951"/>
            </a:xfrm>
            <a:prstGeom prst="rect">
              <a:avLst/>
            </a:prstGeom>
          </p:spPr>
          <p:txBody>
            <a:bodyPr lIns="0" tIns="0" rIns="0" bIns="0" rtlCol="0" anchor="t"/>
            <a:lstStyle/>
            <a:p>
              <a:pPr algn="l">
                <a:lnSpc>
                  <a:spcPts val="2000"/>
                </a:lnSpc>
              </a:pPr>
              <a:r>
                <a:rPr lang="en-US" sz="1233" b="1">
                  <a:solidFill>
                    <a:srgbClr val="CAD6DE"/>
                  </a:solidFill>
                  <a:latin typeface="Cabin Bold"/>
                  <a:ea typeface="Cabin Bold"/>
                  <a:cs typeface="Cabin Bold"/>
                  <a:sym typeface="Cabin Bold"/>
                </a:rPr>
                <a:t>GCS is a scalable, durable, and cost-effective object storage service for storing data of all kinds, including images, videos, and backups.</a:t>
              </a:r>
            </a:p>
          </p:txBody>
        </p:sp>
      </p:grpSp>
      <p:grpSp>
        <p:nvGrpSpPr>
          <p:cNvPr id="19" name="Group 19"/>
          <p:cNvGrpSpPr/>
          <p:nvPr/>
        </p:nvGrpSpPr>
        <p:grpSpPr>
          <a:xfrm>
            <a:off x="3305532" y="1254488"/>
            <a:ext cx="359013" cy="359013"/>
            <a:chOff x="0" y="0"/>
            <a:chExt cx="478684" cy="478684"/>
          </a:xfrm>
        </p:grpSpPr>
        <p:sp>
          <p:nvSpPr>
            <p:cNvPr id="20" name="Freeform 20"/>
            <p:cNvSpPr/>
            <p:nvPr/>
          </p:nvSpPr>
          <p:spPr>
            <a:xfrm>
              <a:off x="0" y="0"/>
              <a:ext cx="478663" cy="478663"/>
            </a:xfrm>
            <a:custGeom>
              <a:avLst/>
              <a:gdLst/>
              <a:ahLst/>
              <a:cxnLst/>
              <a:rect l="l" t="t" r="r" b="b"/>
              <a:pathLst>
                <a:path w="478663" h="478663">
                  <a:moveTo>
                    <a:pt x="0" y="31877"/>
                  </a:moveTo>
                  <a:cubicBezTo>
                    <a:pt x="0" y="14351"/>
                    <a:pt x="14351" y="0"/>
                    <a:pt x="31877" y="0"/>
                  </a:cubicBezTo>
                  <a:lnTo>
                    <a:pt x="446786" y="0"/>
                  </a:lnTo>
                  <a:cubicBezTo>
                    <a:pt x="464439" y="0"/>
                    <a:pt x="478663" y="14351"/>
                    <a:pt x="478663" y="31877"/>
                  </a:cubicBezTo>
                  <a:lnTo>
                    <a:pt x="478663" y="446786"/>
                  </a:lnTo>
                  <a:cubicBezTo>
                    <a:pt x="478663" y="464439"/>
                    <a:pt x="464312" y="478663"/>
                    <a:pt x="446786" y="478663"/>
                  </a:cubicBezTo>
                  <a:lnTo>
                    <a:pt x="31877" y="478663"/>
                  </a:lnTo>
                  <a:cubicBezTo>
                    <a:pt x="14351" y="478663"/>
                    <a:pt x="0" y="464439"/>
                    <a:pt x="0" y="446786"/>
                  </a:cubicBezTo>
                  <a:close/>
                </a:path>
              </a:pathLst>
            </a:custGeom>
            <a:solidFill>
              <a:srgbClr val="304755"/>
            </a:solidFill>
          </p:spPr>
        </p:sp>
      </p:grpSp>
      <p:grpSp>
        <p:nvGrpSpPr>
          <p:cNvPr id="21" name="Group 21"/>
          <p:cNvGrpSpPr/>
          <p:nvPr/>
        </p:nvGrpSpPr>
        <p:grpSpPr>
          <a:xfrm>
            <a:off x="3367097" y="1316679"/>
            <a:ext cx="177800" cy="225266"/>
            <a:chOff x="0" y="0"/>
            <a:chExt cx="237067" cy="300355"/>
          </a:xfrm>
        </p:grpSpPr>
        <p:sp>
          <p:nvSpPr>
            <p:cNvPr id="22" name="Freeform 22"/>
            <p:cNvSpPr/>
            <p:nvPr/>
          </p:nvSpPr>
          <p:spPr>
            <a:xfrm>
              <a:off x="0" y="0"/>
              <a:ext cx="237067" cy="300355"/>
            </a:xfrm>
            <a:custGeom>
              <a:avLst/>
              <a:gdLst/>
              <a:ahLst/>
              <a:cxnLst/>
              <a:rect l="l" t="t" r="r" b="b"/>
              <a:pathLst>
                <a:path w="237067" h="300355">
                  <a:moveTo>
                    <a:pt x="0" y="0"/>
                  </a:moveTo>
                  <a:lnTo>
                    <a:pt x="237067" y="0"/>
                  </a:lnTo>
                  <a:lnTo>
                    <a:pt x="237067" y="300355"/>
                  </a:lnTo>
                  <a:lnTo>
                    <a:pt x="0" y="300355"/>
                  </a:lnTo>
                  <a:close/>
                </a:path>
              </a:pathLst>
            </a:custGeom>
            <a:solidFill>
              <a:srgbClr val="000000">
                <a:alpha val="0"/>
              </a:srgbClr>
            </a:solidFill>
          </p:spPr>
        </p:sp>
        <p:sp>
          <p:nvSpPr>
            <p:cNvPr id="23" name="TextBox 23"/>
            <p:cNvSpPr txBox="1"/>
            <p:nvPr/>
          </p:nvSpPr>
          <p:spPr>
            <a:xfrm>
              <a:off x="0" y="9525"/>
              <a:ext cx="237067" cy="290830"/>
            </a:xfrm>
            <a:prstGeom prst="rect">
              <a:avLst/>
            </a:prstGeom>
          </p:spPr>
          <p:txBody>
            <a:bodyPr lIns="0" tIns="0" rIns="0" bIns="0" rtlCol="0" anchor="t"/>
            <a:lstStyle/>
            <a:p>
              <a:pPr algn="ctr">
                <a:lnSpc>
                  <a:spcPts val="1766"/>
                </a:lnSpc>
              </a:pPr>
              <a:r>
                <a:rPr lang="en-US" sz="1766">
                  <a:solidFill>
                    <a:srgbClr val="CAD6DE"/>
                  </a:solidFill>
                  <a:latin typeface="Arimo"/>
                  <a:ea typeface="Arimo"/>
                  <a:cs typeface="Arimo"/>
                  <a:sym typeface="Arimo"/>
                </a:rPr>
                <a:t>2</a:t>
              </a:r>
            </a:p>
          </p:txBody>
        </p:sp>
      </p:grpSp>
      <p:grpSp>
        <p:nvGrpSpPr>
          <p:cNvPr id="24" name="Group 24"/>
          <p:cNvGrpSpPr/>
          <p:nvPr/>
        </p:nvGrpSpPr>
        <p:grpSpPr>
          <a:xfrm>
            <a:off x="3757474" y="1280900"/>
            <a:ext cx="1877457" cy="296823"/>
            <a:chOff x="0" y="0"/>
            <a:chExt cx="2503276" cy="395764"/>
          </a:xfrm>
        </p:grpSpPr>
        <p:sp>
          <p:nvSpPr>
            <p:cNvPr id="25" name="Freeform 25"/>
            <p:cNvSpPr/>
            <p:nvPr/>
          </p:nvSpPr>
          <p:spPr>
            <a:xfrm>
              <a:off x="0" y="0"/>
              <a:ext cx="2503275" cy="395764"/>
            </a:xfrm>
            <a:custGeom>
              <a:avLst/>
              <a:gdLst/>
              <a:ahLst/>
              <a:cxnLst/>
              <a:rect l="l" t="t" r="r" b="b"/>
              <a:pathLst>
                <a:path w="2503275" h="395764">
                  <a:moveTo>
                    <a:pt x="0" y="0"/>
                  </a:moveTo>
                  <a:lnTo>
                    <a:pt x="2503275" y="0"/>
                  </a:lnTo>
                  <a:lnTo>
                    <a:pt x="2503275" y="395764"/>
                  </a:lnTo>
                  <a:lnTo>
                    <a:pt x="0" y="395764"/>
                  </a:lnTo>
                  <a:close/>
                </a:path>
              </a:pathLst>
            </a:custGeom>
            <a:solidFill>
              <a:srgbClr val="000000">
                <a:alpha val="0"/>
              </a:srgbClr>
            </a:solidFill>
          </p:spPr>
        </p:sp>
        <p:sp>
          <p:nvSpPr>
            <p:cNvPr id="26" name="TextBox 26"/>
            <p:cNvSpPr txBox="1"/>
            <p:nvPr/>
          </p:nvSpPr>
          <p:spPr>
            <a:xfrm>
              <a:off x="0" y="-19050"/>
              <a:ext cx="2503276" cy="414814"/>
            </a:xfrm>
            <a:prstGeom prst="rect">
              <a:avLst/>
            </a:prstGeom>
          </p:spPr>
          <p:txBody>
            <a:bodyPr lIns="0" tIns="0" rIns="0" bIns="0" rtlCol="0" anchor="t"/>
            <a:lstStyle/>
            <a:p>
              <a:pPr algn="l">
                <a:lnSpc>
                  <a:spcPts val="1833"/>
                </a:lnSpc>
              </a:pPr>
              <a:r>
                <a:rPr lang="en-US" sz="1466" b="1">
                  <a:solidFill>
                    <a:srgbClr val="CAD6DE"/>
                  </a:solidFill>
                  <a:latin typeface="Arimo Bold"/>
                  <a:ea typeface="Arimo Bold"/>
                  <a:cs typeface="Arimo Bold"/>
                  <a:sym typeface="Arimo Bold"/>
                </a:rPr>
                <a:t>Cloud SQL</a:t>
              </a:r>
            </a:p>
          </p:txBody>
        </p:sp>
      </p:grpSp>
      <p:grpSp>
        <p:nvGrpSpPr>
          <p:cNvPr id="27" name="Group 27"/>
          <p:cNvGrpSpPr/>
          <p:nvPr/>
        </p:nvGrpSpPr>
        <p:grpSpPr>
          <a:xfrm>
            <a:off x="3485039" y="1943616"/>
            <a:ext cx="1891189" cy="1276747"/>
            <a:chOff x="0" y="0"/>
            <a:chExt cx="2521585" cy="1702329"/>
          </a:xfrm>
        </p:grpSpPr>
        <p:sp>
          <p:nvSpPr>
            <p:cNvPr id="28" name="Freeform 28"/>
            <p:cNvSpPr/>
            <p:nvPr/>
          </p:nvSpPr>
          <p:spPr>
            <a:xfrm>
              <a:off x="0" y="0"/>
              <a:ext cx="2521585" cy="1702329"/>
            </a:xfrm>
            <a:custGeom>
              <a:avLst/>
              <a:gdLst/>
              <a:ahLst/>
              <a:cxnLst/>
              <a:rect l="l" t="t" r="r" b="b"/>
              <a:pathLst>
                <a:path w="2521585" h="1702329">
                  <a:moveTo>
                    <a:pt x="0" y="0"/>
                  </a:moveTo>
                  <a:lnTo>
                    <a:pt x="2521585" y="0"/>
                  </a:lnTo>
                  <a:lnTo>
                    <a:pt x="2521585" y="1702329"/>
                  </a:lnTo>
                  <a:lnTo>
                    <a:pt x="0" y="1702329"/>
                  </a:lnTo>
                  <a:close/>
                </a:path>
              </a:pathLst>
            </a:custGeom>
            <a:solidFill>
              <a:srgbClr val="000000">
                <a:alpha val="0"/>
              </a:srgbClr>
            </a:solidFill>
          </p:spPr>
        </p:sp>
        <p:sp>
          <p:nvSpPr>
            <p:cNvPr id="29" name="TextBox 29"/>
            <p:cNvSpPr txBox="1"/>
            <p:nvPr/>
          </p:nvSpPr>
          <p:spPr>
            <a:xfrm>
              <a:off x="0" y="-57150"/>
              <a:ext cx="2521585" cy="1759479"/>
            </a:xfrm>
            <a:prstGeom prst="rect">
              <a:avLst/>
            </a:prstGeom>
          </p:spPr>
          <p:txBody>
            <a:bodyPr lIns="0" tIns="0" rIns="0" bIns="0" rtlCol="0" anchor="t"/>
            <a:lstStyle/>
            <a:p>
              <a:pPr algn="l">
                <a:lnSpc>
                  <a:spcPts val="2000"/>
                </a:lnSpc>
              </a:pPr>
              <a:r>
                <a:rPr lang="en-US" sz="1233" b="1">
                  <a:solidFill>
                    <a:srgbClr val="CAD6DE"/>
                  </a:solidFill>
                  <a:latin typeface="Cabin Bold"/>
                  <a:ea typeface="Cabin Bold"/>
                  <a:cs typeface="Cabin Bold"/>
                  <a:sym typeface="Cabin Bold"/>
                </a:rPr>
                <a:t>Cloud SQL offers managed relational database services, providing high availability, scalability, and security for your database applications.</a:t>
              </a:r>
            </a:p>
          </p:txBody>
        </p:sp>
      </p:grpSp>
      <p:grpSp>
        <p:nvGrpSpPr>
          <p:cNvPr id="30" name="Group 30"/>
          <p:cNvGrpSpPr/>
          <p:nvPr/>
        </p:nvGrpSpPr>
        <p:grpSpPr>
          <a:xfrm>
            <a:off x="5727859" y="1263855"/>
            <a:ext cx="359013" cy="359013"/>
            <a:chOff x="0" y="0"/>
            <a:chExt cx="478684" cy="478684"/>
          </a:xfrm>
        </p:grpSpPr>
        <p:sp>
          <p:nvSpPr>
            <p:cNvPr id="31" name="Freeform 31"/>
            <p:cNvSpPr/>
            <p:nvPr/>
          </p:nvSpPr>
          <p:spPr>
            <a:xfrm>
              <a:off x="0" y="0"/>
              <a:ext cx="478663" cy="478663"/>
            </a:xfrm>
            <a:custGeom>
              <a:avLst/>
              <a:gdLst/>
              <a:ahLst/>
              <a:cxnLst/>
              <a:rect l="l" t="t" r="r" b="b"/>
              <a:pathLst>
                <a:path w="478663" h="478663">
                  <a:moveTo>
                    <a:pt x="0" y="31877"/>
                  </a:moveTo>
                  <a:cubicBezTo>
                    <a:pt x="0" y="14351"/>
                    <a:pt x="14351" y="0"/>
                    <a:pt x="31877" y="0"/>
                  </a:cubicBezTo>
                  <a:lnTo>
                    <a:pt x="446786" y="0"/>
                  </a:lnTo>
                  <a:cubicBezTo>
                    <a:pt x="464439" y="0"/>
                    <a:pt x="478663" y="14351"/>
                    <a:pt x="478663" y="31877"/>
                  </a:cubicBezTo>
                  <a:lnTo>
                    <a:pt x="478663" y="446786"/>
                  </a:lnTo>
                  <a:cubicBezTo>
                    <a:pt x="478663" y="464439"/>
                    <a:pt x="464312" y="478663"/>
                    <a:pt x="446786" y="478663"/>
                  </a:cubicBezTo>
                  <a:lnTo>
                    <a:pt x="31877" y="478663"/>
                  </a:lnTo>
                  <a:cubicBezTo>
                    <a:pt x="14351" y="478663"/>
                    <a:pt x="0" y="464439"/>
                    <a:pt x="0" y="446786"/>
                  </a:cubicBezTo>
                  <a:close/>
                </a:path>
              </a:pathLst>
            </a:custGeom>
            <a:solidFill>
              <a:srgbClr val="304755"/>
            </a:solidFill>
          </p:spPr>
        </p:sp>
      </p:grpSp>
      <p:grpSp>
        <p:nvGrpSpPr>
          <p:cNvPr id="32" name="Group 32"/>
          <p:cNvGrpSpPr/>
          <p:nvPr/>
        </p:nvGrpSpPr>
        <p:grpSpPr>
          <a:xfrm>
            <a:off x="5761793" y="1316679"/>
            <a:ext cx="181134" cy="225266"/>
            <a:chOff x="0" y="0"/>
            <a:chExt cx="241512" cy="300355"/>
          </a:xfrm>
        </p:grpSpPr>
        <p:sp>
          <p:nvSpPr>
            <p:cNvPr id="33" name="Freeform 33"/>
            <p:cNvSpPr/>
            <p:nvPr/>
          </p:nvSpPr>
          <p:spPr>
            <a:xfrm>
              <a:off x="0" y="0"/>
              <a:ext cx="241512" cy="300355"/>
            </a:xfrm>
            <a:custGeom>
              <a:avLst/>
              <a:gdLst/>
              <a:ahLst/>
              <a:cxnLst/>
              <a:rect l="l" t="t" r="r" b="b"/>
              <a:pathLst>
                <a:path w="241512" h="300355">
                  <a:moveTo>
                    <a:pt x="0" y="0"/>
                  </a:moveTo>
                  <a:lnTo>
                    <a:pt x="241512" y="0"/>
                  </a:lnTo>
                  <a:lnTo>
                    <a:pt x="241512" y="300355"/>
                  </a:lnTo>
                  <a:lnTo>
                    <a:pt x="0" y="300355"/>
                  </a:lnTo>
                  <a:close/>
                </a:path>
              </a:pathLst>
            </a:custGeom>
            <a:solidFill>
              <a:srgbClr val="000000">
                <a:alpha val="0"/>
              </a:srgbClr>
            </a:solidFill>
          </p:spPr>
        </p:sp>
        <p:sp>
          <p:nvSpPr>
            <p:cNvPr id="34" name="TextBox 34"/>
            <p:cNvSpPr txBox="1"/>
            <p:nvPr/>
          </p:nvSpPr>
          <p:spPr>
            <a:xfrm>
              <a:off x="0" y="9525"/>
              <a:ext cx="241512" cy="290830"/>
            </a:xfrm>
            <a:prstGeom prst="rect">
              <a:avLst/>
            </a:prstGeom>
          </p:spPr>
          <p:txBody>
            <a:bodyPr lIns="0" tIns="0" rIns="0" bIns="0" rtlCol="0" anchor="t"/>
            <a:lstStyle/>
            <a:p>
              <a:pPr algn="ctr">
                <a:lnSpc>
                  <a:spcPts val="1766"/>
                </a:lnSpc>
              </a:pPr>
              <a:r>
                <a:rPr lang="en-US" sz="1766">
                  <a:solidFill>
                    <a:srgbClr val="CAD6DE"/>
                  </a:solidFill>
                  <a:latin typeface="Arimo"/>
                  <a:ea typeface="Arimo"/>
                  <a:cs typeface="Arimo"/>
                  <a:sym typeface="Arimo"/>
                </a:rPr>
                <a:t>3</a:t>
              </a:r>
            </a:p>
          </p:txBody>
        </p:sp>
      </p:grpSp>
      <p:grpSp>
        <p:nvGrpSpPr>
          <p:cNvPr id="35" name="Group 35"/>
          <p:cNvGrpSpPr/>
          <p:nvPr/>
        </p:nvGrpSpPr>
        <p:grpSpPr>
          <a:xfrm>
            <a:off x="6227068" y="1326045"/>
            <a:ext cx="1877457" cy="295594"/>
            <a:chOff x="0" y="0"/>
            <a:chExt cx="2503276" cy="394126"/>
          </a:xfrm>
        </p:grpSpPr>
        <p:sp>
          <p:nvSpPr>
            <p:cNvPr id="36" name="Freeform 36"/>
            <p:cNvSpPr/>
            <p:nvPr/>
          </p:nvSpPr>
          <p:spPr>
            <a:xfrm>
              <a:off x="0" y="0"/>
              <a:ext cx="2503275" cy="394126"/>
            </a:xfrm>
            <a:custGeom>
              <a:avLst/>
              <a:gdLst/>
              <a:ahLst/>
              <a:cxnLst/>
              <a:rect l="l" t="t" r="r" b="b"/>
              <a:pathLst>
                <a:path w="2503275" h="394126">
                  <a:moveTo>
                    <a:pt x="0" y="0"/>
                  </a:moveTo>
                  <a:lnTo>
                    <a:pt x="2503275" y="0"/>
                  </a:lnTo>
                  <a:lnTo>
                    <a:pt x="2503275" y="394126"/>
                  </a:lnTo>
                  <a:lnTo>
                    <a:pt x="0" y="394126"/>
                  </a:lnTo>
                  <a:close/>
                </a:path>
              </a:pathLst>
            </a:custGeom>
            <a:solidFill>
              <a:srgbClr val="000000">
                <a:alpha val="0"/>
              </a:srgbClr>
            </a:solidFill>
          </p:spPr>
        </p:sp>
        <p:sp>
          <p:nvSpPr>
            <p:cNvPr id="37" name="TextBox 37"/>
            <p:cNvSpPr txBox="1"/>
            <p:nvPr/>
          </p:nvSpPr>
          <p:spPr>
            <a:xfrm>
              <a:off x="0" y="-19050"/>
              <a:ext cx="2503276" cy="413176"/>
            </a:xfrm>
            <a:prstGeom prst="rect">
              <a:avLst/>
            </a:prstGeom>
          </p:spPr>
          <p:txBody>
            <a:bodyPr lIns="0" tIns="0" rIns="0" bIns="0" rtlCol="0" anchor="t"/>
            <a:lstStyle/>
            <a:p>
              <a:pPr algn="l">
                <a:lnSpc>
                  <a:spcPts val="1833"/>
                </a:lnSpc>
              </a:pPr>
              <a:r>
                <a:rPr lang="en-US" sz="1466" b="1">
                  <a:solidFill>
                    <a:srgbClr val="CAD6DE"/>
                  </a:solidFill>
                  <a:latin typeface="Arimo Bold"/>
                  <a:ea typeface="Arimo Bold"/>
                  <a:cs typeface="Arimo Bold"/>
                  <a:sym typeface="Arimo Bold"/>
                </a:rPr>
                <a:t>Cloud Spanner</a:t>
              </a:r>
            </a:p>
          </p:txBody>
        </p:sp>
      </p:grpSp>
      <p:grpSp>
        <p:nvGrpSpPr>
          <p:cNvPr id="38" name="Group 38"/>
          <p:cNvGrpSpPr/>
          <p:nvPr/>
        </p:nvGrpSpPr>
        <p:grpSpPr>
          <a:xfrm>
            <a:off x="5761793" y="2020964"/>
            <a:ext cx="3774314" cy="1020379"/>
            <a:chOff x="0" y="0"/>
            <a:chExt cx="4920765" cy="1330319"/>
          </a:xfrm>
        </p:grpSpPr>
        <p:sp>
          <p:nvSpPr>
            <p:cNvPr id="39" name="Freeform 39"/>
            <p:cNvSpPr/>
            <p:nvPr/>
          </p:nvSpPr>
          <p:spPr>
            <a:xfrm>
              <a:off x="0" y="0"/>
              <a:ext cx="4920764" cy="1330319"/>
            </a:xfrm>
            <a:custGeom>
              <a:avLst/>
              <a:gdLst/>
              <a:ahLst/>
              <a:cxnLst/>
              <a:rect l="l" t="t" r="r" b="b"/>
              <a:pathLst>
                <a:path w="4920764" h="1330319">
                  <a:moveTo>
                    <a:pt x="0" y="0"/>
                  </a:moveTo>
                  <a:lnTo>
                    <a:pt x="4920764" y="0"/>
                  </a:lnTo>
                  <a:lnTo>
                    <a:pt x="4920764" y="1330319"/>
                  </a:lnTo>
                  <a:lnTo>
                    <a:pt x="0" y="1330319"/>
                  </a:lnTo>
                  <a:close/>
                </a:path>
              </a:pathLst>
            </a:custGeom>
            <a:solidFill>
              <a:srgbClr val="000000">
                <a:alpha val="0"/>
              </a:srgbClr>
            </a:solidFill>
          </p:spPr>
        </p:sp>
        <p:sp>
          <p:nvSpPr>
            <p:cNvPr id="40" name="TextBox 40"/>
            <p:cNvSpPr txBox="1"/>
            <p:nvPr/>
          </p:nvSpPr>
          <p:spPr>
            <a:xfrm>
              <a:off x="0" y="-57150"/>
              <a:ext cx="4920765" cy="1387469"/>
            </a:xfrm>
            <a:prstGeom prst="rect">
              <a:avLst/>
            </a:prstGeom>
          </p:spPr>
          <p:txBody>
            <a:bodyPr lIns="0" tIns="0" rIns="0" bIns="0" rtlCol="0" anchor="t"/>
            <a:lstStyle/>
            <a:p>
              <a:pPr algn="l">
                <a:lnSpc>
                  <a:spcPts val="2000"/>
                </a:lnSpc>
              </a:pPr>
              <a:r>
                <a:rPr lang="en-US" sz="1233" b="1">
                  <a:solidFill>
                    <a:srgbClr val="CAD6DE"/>
                  </a:solidFill>
                  <a:latin typeface="Cabin Bold"/>
                  <a:ea typeface="Cabin Bold"/>
                  <a:cs typeface="Cabin Bold"/>
                  <a:sym typeface="Cabin Bold"/>
                </a:rPr>
                <a:t>Cloud Spanner is a globally distributed, scalable, and consistent database service, ideal for mission-critical applications requiring high availability and data consistency.</a:t>
              </a:r>
            </a:p>
          </p:txBody>
        </p:sp>
      </p:grpSp>
      <p:sp>
        <p:nvSpPr>
          <p:cNvPr id="41" name="Freeform 41"/>
          <p:cNvSpPr/>
          <p:nvPr/>
        </p:nvSpPr>
        <p:spPr>
          <a:xfrm>
            <a:off x="0" y="3556615"/>
            <a:ext cx="9753600" cy="3758585"/>
          </a:xfrm>
          <a:custGeom>
            <a:avLst/>
            <a:gdLst/>
            <a:ahLst/>
            <a:cxnLst/>
            <a:rect l="l" t="t" r="r" b="b"/>
            <a:pathLst>
              <a:path w="9753600" h="3758585">
                <a:moveTo>
                  <a:pt x="0" y="0"/>
                </a:moveTo>
                <a:lnTo>
                  <a:pt x="9753600" y="0"/>
                </a:lnTo>
                <a:lnTo>
                  <a:pt x="9753600" y="3758585"/>
                </a:lnTo>
                <a:lnTo>
                  <a:pt x="0" y="3758585"/>
                </a:lnTo>
                <a:lnTo>
                  <a:pt x="0" y="0"/>
                </a:lnTo>
                <a:close/>
              </a:path>
            </a:pathLst>
          </a:custGeom>
          <a:blipFill>
            <a:blip r:embed="rId4"/>
            <a:stretch>
              <a:fillRect t="-2696" b="-293"/>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descr="preencoded.png"/>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grpSp>
        <p:nvGrpSpPr>
          <p:cNvPr id="3" name="Group 3"/>
          <p:cNvGrpSpPr/>
          <p:nvPr/>
        </p:nvGrpSpPr>
        <p:grpSpPr>
          <a:xfrm>
            <a:off x="-21669" y="0"/>
            <a:ext cx="9753600" cy="7315200"/>
            <a:chOff x="0" y="0"/>
            <a:chExt cx="13004800" cy="9753600"/>
          </a:xfrm>
        </p:grpSpPr>
        <p:sp>
          <p:nvSpPr>
            <p:cNvPr id="4" name="Freeform 4"/>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close/>
                </a:path>
              </a:pathLst>
            </a:custGeom>
            <a:solidFill>
              <a:srgbClr val="112836"/>
            </a:solidFill>
          </p:spPr>
        </p:sp>
      </p:grpSp>
      <p:grpSp>
        <p:nvGrpSpPr>
          <p:cNvPr id="5" name="Group 5"/>
          <p:cNvGrpSpPr/>
          <p:nvPr/>
        </p:nvGrpSpPr>
        <p:grpSpPr>
          <a:xfrm>
            <a:off x="367943" y="141568"/>
            <a:ext cx="4544060" cy="469345"/>
            <a:chOff x="0" y="0"/>
            <a:chExt cx="6058747" cy="625793"/>
          </a:xfrm>
        </p:grpSpPr>
        <p:sp>
          <p:nvSpPr>
            <p:cNvPr id="6" name="Freeform 6"/>
            <p:cNvSpPr/>
            <p:nvPr/>
          </p:nvSpPr>
          <p:spPr>
            <a:xfrm>
              <a:off x="0" y="0"/>
              <a:ext cx="6058747" cy="625793"/>
            </a:xfrm>
            <a:custGeom>
              <a:avLst/>
              <a:gdLst/>
              <a:ahLst/>
              <a:cxnLst/>
              <a:rect l="l" t="t" r="r" b="b"/>
              <a:pathLst>
                <a:path w="6058747" h="625793">
                  <a:moveTo>
                    <a:pt x="0" y="0"/>
                  </a:moveTo>
                  <a:lnTo>
                    <a:pt x="6058747" y="0"/>
                  </a:lnTo>
                  <a:lnTo>
                    <a:pt x="6058747" y="625793"/>
                  </a:lnTo>
                  <a:lnTo>
                    <a:pt x="0" y="625793"/>
                  </a:lnTo>
                  <a:close/>
                </a:path>
              </a:pathLst>
            </a:custGeom>
            <a:solidFill>
              <a:srgbClr val="000000">
                <a:alpha val="0"/>
              </a:srgbClr>
            </a:solidFill>
          </p:spPr>
        </p:sp>
        <p:sp>
          <p:nvSpPr>
            <p:cNvPr id="7" name="TextBox 7"/>
            <p:cNvSpPr txBox="1"/>
            <p:nvPr/>
          </p:nvSpPr>
          <p:spPr>
            <a:xfrm>
              <a:off x="0" y="-28575"/>
              <a:ext cx="6058747" cy="654368"/>
            </a:xfrm>
            <a:prstGeom prst="rect">
              <a:avLst/>
            </a:prstGeom>
          </p:spPr>
          <p:txBody>
            <a:bodyPr lIns="0" tIns="0" rIns="0" bIns="0" rtlCol="0" anchor="t"/>
            <a:lstStyle/>
            <a:p>
              <a:pPr algn="l">
                <a:lnSpc>
                  <a:spcPts val="3666"/>
                </a:lnSpc>
              </a:pPr>
              <a:r>
                <a:rPr lang="en-US" sz="2933">
                  <a:solidFill>
                    <a:srgbClr val="FFFFFF"/>
                  </a:solidFill>
                  <a:latin typeface="Arimo"/>
                  <a:ea typeface="Arimo"/>
                  <a:cs typeface="Arimo"/>
                  <a:sym typeface="Arimo"/>
                </a:rPr>
                <a:t>VIRTUAL MACHINES</a:t>
              </a:r>
            </a:p>
          </p:txBody>
        </p:sp>
      </p:grpSp>
      <p:sp>
        <p:nvSpPr>
          <p:cNvPr id="8" name="Freeform 8" descr="preencoded.png"/>
          <p:cNvSpPr/>
          <p:nvPr/>
        </p:nvSpPr>
        <p:spPr>
          <a:xfrm>
            <a:off x="1568767" y="1096688"/>
            <a:ext cx="1068705" cy="553720"/>
          </a:xfrm>
          <a:custGeom>
            <a:avLst/>
            <a:gdLst/>
            <a:ahLst/>
            <a:cxnLst/>
            <a:rect l="l" t="t" r="r" b="b"/>
            <a:pathLst>
              <a:path w="1068705" h="553720">
                <a:moveTo>
                  <a:pt x="0" y="0"/>
                </a:moveTo>
                <a:lnTo>
                  <a:pt x="1068706" y="0"/>
                </a:lnTo>
                <a:lnTo>
                  <a:pt x="1068706" y="553720"/>
                </a:lnTo>
                <a:lnTo>
                  <a:pt x="0" y="553720"/>
                </a:lnTo>
                <a:lnTo>
                  <a:pt x="0" y="0"/>
                </a:lnTo>
                <a:close/>
              </a:path>
            </a:pathLst>
          </a:custGeom>
          <a:blipFill>
            <a:blip r:embed="rId4"/>
            <a:stretch>
              <a:fillRect t="-89" b="-89"/>
            </a:stretch>
          </a:blipFill>
        </p:spPr>
      </p:sp>
      <p:grpSp>
        <p:nvGrpSpPr>
          <p:cNvPr id="9" name="Group 9"/>
          <p:cNvGrpSpPr/>
          <p:nvPr/>
        </p:nvGrpSpPr>
        <p:grpSpPr>
          <a:xfrm>
            <a:off x="2056130" y="1256231"/>
            <a:ext cx="93980" cy="319087"/>
            <a:chOff x="0" y="0"/>
            <a:chExt cx="125307" cy="425450"/>
          </a:xfrm>
        </p:grpSpPr>
        <p:sp>
          <p:nvSpPr>
            <p:cNvPr id="10" name="Freeform 10"/>
            <p:cNvSpPr/>
            <p:nvPr/>
          </p:nvSpPr>
          <p:spPr>
            <a:xfrm>
              <a:off x="0" y="0"/>
              <a:ext cx="125307" cy="425450"/>
            </a:xfrm>
            <a:custGeom>
              <a:avLst/>
              <a:gdLst/>
              <a:ahLst/>
              <a:cxnLst/>
              <a:rect l="l" t="t" r="r" b="b"/>
              <a:pathLst>
                <a:path w="125307" h="425450">
                  <a:moveTo>
                    <a:pt x="0" y="0"/>
                  </a:moveTo>
                  <a:lnTo>
                    <a:pt x="125307" y="0"/>
                  </a:lnTo>
                  <a:lnTo>
                    <a:pt x="125307" y="425450"/>
                  </a:lnTo>
                  <a:lnTo>
                    <a:pt x="0" y="425450"/>
                  </a:lnTo>
                  <a:close/>
                </a:path>
              </a:pathLst>
            </a:custGeom>
            <a:solidFill>
              <a:srgbClr val="000000">
                <a:alpha val="0"/>
              </a:srgbClr>
            </a:solidFill>
          </p:spPr>
        </p:sp>
        <p:sp>
          <p:nvSpPr>
            <p:cNvPr id="11" name="TextBox 11"/>
            <p:cNvSpPr txBox="1"/>
            <p:nvPr/>
          </p:nvSpPr>
          <p:spPr>
            <a:xfrm>
              <a:off x="0" y="-66675"/>
              <a:ext cx="125307" cy="492125"/>
            </a:xfrm>
            <a:prstGeom prst="rect">
              <a:avLst/>
            </a:prstGeom>
          </p:spPr>
          <p:txBody>
            <a:bodyPr lIns="0" tIns="0" rIns="0" bIns="0" rtlCol="0" anchor="t"/>
            <a:lstStyle/>
            <a:p>
              <a:pPr algn="ctr">
                <a:lnSpc>
                  <a:spcPts val="2499"/>
                </a:lnSpc>
              </a:pPr>
              <a:r>
                <a:rPr lang="en-US" sz="1566">
                  <a:solidFill>
                    <a:srgbClr val="CAD6DE"/>
                  </a:solidFill>
                  <a:latin typeface="Arimo"/>
                  <a:ea typeface="Arimo"/>
                  <a:cs typeface="Arimo"/>
                  <a:sym typeface="Arimo"/>
                </a:rPr>
                <a:t>1</a:t>
              </a:r>
            </a:p>
          </p:txBody>
        </p:sp>
      </p:grpSp>
      <p:grpSp>
        <p:nvGrpSpPr>
          <p:cNvPr id="12" name="Group 12"/>
          <p:cNvGrpSpPr/>
          <p:nvPr/>
        </p:nvGrpSpPr>
        <p:grpSpPr>
          <a:xfrm>
            <a:off x="3435350" y="1138915"/>
            <a:ext cx="1850390" cy="234633"/>
            <a:chOff x="0" y="0"/>
            <a:chExt cx="2467187" cy="312844"/>
          </a:xfrm>
        </p:grpSpPr>
        <p:sp>
          <p:nvSpPr>
            <p:cNvPr id="13" name="Freeform 13"/>
            <p:cNvSpPr/>
            <p:nvPr/>
          </p:nvSpPr>
          <p:spPr>
            <a:xfrm>
              <a:off x="0" y="0"/>
              <a:ext cx="2467187" cy="312844"/>
            </a:xfrm>
            <a:custGeom>
              <a:avLst/>
              <a:gdLst/>
              <a:ahLst/>
              <a:cxnLst/>
              <a:rect l="l" t="t" r="r" b="b"/>
              <a:pathLst>
                <a:path w="2467187" h="312844">
                  <a:moveTo>
                    <a:pt x="0" y="0"/>
                  </a:moveTo>
                  <a:lnTo>
                    <a:pt x="2467187" y="0"/>
                  </a:lnTo>
                  <a:lnTo>
                    <a:pt x="2467187" y="312844"/>
                  </a:lnTo>
                  <a:lnTo>
                    <a:pt x="0" y="312844"/>
                  </a:lnTo>
                  <a:close/>
                </a:path>
              </a:pathLst>
            </a:custGeom>
            <a:solidFill>
              <a:srgbClr val="000000">
                <a:alpha val="0"/>
              </a:srgbClr>
            </a:solidFill>
          </p:spPr>
        </p:sp>
        <p:sp>
          <p:nvSpPr>
            <p:cNvPr id="14" name="TextBox 14"/>
            <p:cNvSpPr txBox="1"/>
            <p:nvPr/>
          </p:nvSpPr>
          <p:spPr>
            <a:xfrm>
              <a:off x="0" y="-19050"/>
              <a:ext cx="2467187" cy="331894"/>
            </a:xfrm>
            <a:prstGeom prst="rect">
              <a:avLst/>
            </a:prstGeom>
          </p:spPr>
          <p:txBody>
            <a:bodyPr lIns="0" tIns="0" rIns="0" bIns="0" rtlCol="0" anchor="t"/>
            <a:lstStyle/>
            <a:p>
              <a:pPr algn="l">
                <a:lnSpc>
                  <a:spcPts val="1833"/>
                </a:lnSpc>
              </a:pPr>
              <a:r>
                <a:rPr lang="en-US" sz="1466">
                  <a:solidFill>
                    <a:srgbClr val="CAD6DE"/>
                  </a:solidFill>
                  <a:latin typeface="Arimo"/>
                  <a:ea typeface="Arimo"/>
                  <a:cs typeface="Arimo"/>
                  <a:sym typeface="Arimo"/>
                </a:rPr>
                <a:t>Compute Engine</a:t>
              </a:r>
            </a:p>
          </p:txBody>
        </p:sp>
      </p:grpSp>
      <p:sp>
        <p:nvSpPr>
          <p:cNvPr id="15" name="Freeform 15" descr="preencoded.png"/>
          <p:cNvSpPr/>
          <p:nvPr/>
        </p:nvSpPr>
        <p:spPr>
          <a:xfrm>
            <a:off x="1034375" y="1671521"/>
            <a:ext cx="2137489" cy="553720"/>
          </a:xfrm>
          <a:custGeom>
            <a:avLst/>
            <a:gdLst/>
            <a:ahLst/>
            <a:cxnLst/>
            <a:rect l="l" t="t" r="r" b="b"/>
            <a:pathLst>
              <a:path w="2137489" h="553720">
                <a:moveTo>
                  <a:pt x="0" y="0"/>
                </a:moveTo>
                <a:lnTo>
                  <a:pt x="2137490" y="0"/>
                </a:lnTo>
                <a:lnTo>
                  <a:pt x="2137490" y="553720"/>
                </a:lnTo>
                <a:lnTo>
                  <a:pt x="0" y="553720"/>
                </a:lnTo>
                <a:lnTo>
                  <a:pt x="0" y="0"/>
                </a:lnTo>
                <a:close/>
              </a:path>
            </a:pathLst>
          </a:custGeom>
          <a:blipFill>
            <a:blip r:embed="rId5"/>
            <a:stretch>
              <a:fillRect l="-27" r="-27"/>
            </a:stretch>
          </a:blipFill>
        </p:spPr>
      </p:sp>
      <p:grpSp>
        <p:nvGrpSpPr>
          <p:cNvPr id="16" name="Group 16"/>
          <p:cNvGrpSpPr/>
          <p:nvPr/>
        </p:nvGrpSpPr>
        <p:grpSpPr>
          <a:xfrm>
            <a:off x="2024459" y="1788838"/>
            <a:ext cx="157321" cy="319087"/>
            <a:chOff x="0" y="0"/>
            <a:chExt cx="209762" cy="425450"/>
          </a:xfrm>
        </p:grpSpPr>
        <p:sp>
          <p:nvSpPr>
            <p:cNvPr id="17" name="Freeform 17"/>
            <p:cNvSpPr/>
            <p:nvPr/>
          </p:nvSpPr>
          <p:spPr>
            <a:xfrm>
              <a:off x="0" y="0"/>
              <a:ext cx="209762" cy="425450"/>
            </a:xfrm>
            <a:custGeom>
              <a:avLst/>
              <a:gdLst/>
              <a:ahLst/>
              <a:cxnLst/>
              <a:rect l="l" t="t" r="r" b="b"/>
              <a:pathLst>
                <a:path w="209762" h="425450">
                  <a:moveTo>
                    <a:pt x="0" y="0"/>
                  </a:moveTo>
                  <a:lnTo>
                    <a:pt x="209762" y="0"/>
                  </a:lnTo>
                  <a:lnTo>
                    <a:pt x="209762" y="425450"/>
                  </a:lnTo>
                  <a:lnTo>
                    <a:pt x="0" y="425450"/>
                  </a:lnTo>
                  <a:close/>
                </a:path>
              </a:pathLst>
            </a:custGeom>
            <a:solidFill>
              <a:srgbClr val="000000">
                <a:alpha val="0"/>
              </a:srgbClr>
            </a:solidFill>
          </p:spPr>
        </p:sp>
        <p:sp>
          <p:nvSpPr>
            <p:cNvPr id="18" name="TextBox 18"/>
            <p:cNvSpPr txBox="1"/>
            <p:nvPr/>
          </p:nvSpPr>
          <p:spPr>
            <a:xfrm>
              <a:off x="0" y="-66675"/>
              <a:ext cx="209762" cy="492125"/>
            </a:xfrm>
            <a:prstGeom prst="rect">
              <a:avLst/>
            </a:prstGeom>
          </p:spPr>
          <p:txBody>
            <a:bodyPr lIns="0" tIns="0" rIns="0" bIns="0" rtlCol="0" anchor="t"/>
            <a:lstStyle/>
            <a:p>
              <a:pPr algn="ctr">
                <a:lnSpc>
                  <a:spcPts val="2499"/>
                </a:lnSpc>
              </a:pPr>
              <a:r>
                <a:rPr lang="en-US" sz="1566">
                  <a:solidFill>
                    <a:srgbClr val="CAD6DE"/>
                  </a:solidFill>
                  <a:latin typeface="Arimo"/>
                  <a:ea typeface="Arimo"/>
                  <a:cs typeface="Arimo"/>
                  <a:sym typeface="Arimo"/>
                </a:rPr>
                <a:t>2</a:t>
              </a:r>
            </a:p>
          </p:txBody>
        </p:sp>
      </p:grpSp>
      <p:grpSp>
        <p:nvGrpSpPr>
          <p:cNvPr id="19" name="Group 19"/>
          <p:cNvGrpSpPr/>
          <p:nvPr/>
        </p:nvGrpSpPr>
        <p:grpSpPr>
          <a:xfrm>
            <a:off x="3297912" y="1713749"/>
            <a:ext cx="2925604" cy="234633"/>
            <a:chOff x="0" y="0"/>
            <a:chExt cx="3900805" cy="312844"/>
          </a:xfrm>
        </p:grpSpPr>
        <p:sp>
          <p:nvSpPr>
            <p:cNvPr id="20" name="Freeform 20"/>
            <p:cNvSpPr/>
            <p:nvPr/>
          </p:nvSpPr>
          <p:spPr>
            <a:xfrm>
              <a:off x="0" y="0"/>
              <a:ext cx="3900805" cy="312844"/>
            </a:xfrm>
            <a:custGeom>
              <a:avLst/>
              <a:gdLst/>
              <a:ahLst/>
              <a:cxnLst/>
              <a:rect l="l" t="t" r="r" b="b"/>
              <a:pathLst>
                <a:path w="3900805" h="312844">
                  <a:moveTo>
                    <a:pt x="0" y="0"/>
                  </a:moveTo>
                  <a:lnTo>
                    <a:pt x="3900805" y="0"/>
                  </a:lnTo>
                  <a:lnTo>
                    <a:pt x="3900805" y="312844"/>
                  </a:lnTo>
                  <a:lnTo>
                    <a:pt x="0" y="312844"/>
                  </a:lnTo>
                  <a:close/>
                </a:path>
              </a:pathLst>
            </a:custGeom>
            <a:solidFill>
              <a:srgbClr val="000000">
                <a:alpha val="0"/>
              </a:srgbClr>
            </a:solidFill>
          </p:spPr>
        </p:sp>
        <p:sp>
          <p:nvSpPr>
            <p:cNvPr id="21" name="TextBox 21"/>
            <p:cNvSpPr txBox="1"/>
            <p:nvPr/>
          </p:nvSpPr>
          <p:spPr>
            <a:xfrm>
              <a:off x="0" y="-19050"/>
              <a:ext cx="3900805" cy="331894"/>
            </a:xfrm>
            <a:prstGeom prst="rect">
              <a:avLst/>
            </a:prstGeom>
          </p:spPr>
          <p:txBody>
            <a:bodyPr lIns="0" tIns="0" rIns="0" bIns="0" rtlCol="0" anchor="t"/>
            <a:lstStyle/>
            <a:p>
              <a:pPr algn="l">
                <a:lnSpc>
                  <a:spcPts val="1833"/>
                </a:lnSpc>
              </a:pPr>
              <a:r>
                <a:rPr lang="en-US" sz="1466">
                  <a:solidFill>
                    <a:srgbClr val="CAD6DE"/>
                  </a:solidFill>
                  <a:latin typeface="Arimo"/>
                  <a:ea typeface="Arimo"/>
                  <a:cs typeface="Arimo"/>
                  <a:sym typeface="Arimo"/>
                </a:rPr>
                <a:t>Virtual Machine Instances</a:t>
              </a:r>
            </a:p>
          </p:txBody>
        </p:sp>
      </p:grpSp>
      <p:sp>
        <p:nvSpPr>
          <p:cNvPr id="22" name="Freeform 22" descr="preencoded.png"/>
          <p:cNvSpPr/>
          <p:nvPr/>
        </p:nvSpPr>
        <p:spPr>
          <a:xfrm>
            <a:off x="499983" y="2246355"/>
            <a:ext cx="3206274" cy="553720"/>
          </a:xfrm>
          <a:custGeom>
            <a:avLst/>
            <a:gdLst/>
            <a:ahLst/>
            <a:cxnLst/>
            <a:rect l="l" t="t" r="r" b="b"/>
            <a:pathLst>
              <a:path w="3206274" h="553720">
                <a:moveTo>
                  <a:pt x="0" y="0"/>
                </a:moveTo>
                <a:lnTo>
                  <a:pt x="3206274" y="0"/>
                </a:lnTo>
                <a:lnTo>
                  <a:pt x="3206274" y="553720"/>
                </a:lnTo>
                <a:lnTo>
                  <a:pt x="0" y="553720"/>
                </a:lnTo>
                <a:lnTo>
                  <a:pt x="0" y="0"/>
                </a:lnTo>
                <a:close/>
              </a:path>
            </a:pathLst>
          </a:custGeom>
          <a:blipFill>
            <a:blip r:embed="rId6"/>
            <a:stretch>
              <a:fillRect t="-12" b="-12"/>
            </a:stretch>
          </a:blipFill>
        </p:spPr>
      </p:sp>
      <p:grpSp>
        <p:nvGrpSpPr>
          <p:cNvPr id="23" name="Group 23"/>
          <p:cNvGrpSpPr/>
          <p:nvPr/>
        </p:nvGrpSpPr>
        <p:grpSpPr>
          <a:xfrm>
            <a:off x="2056130" y="2368116"/>
            <a:ext cx="160337" cy="319087"/>
            <a:chOff x="0" y="0"/>
            <a:chExt cx="213783" cy="425450"/>
          </a:xfrm>
        </p:grpSpPr>
        <p:sp>
          <p:nvSpPr>
            <p:cNvPr id="24" name="Freeform 24"/>
            <p:cNvSpPr/>
            <p:nvPr/>
          </p:nvSpPr>
          <p:spPr>
            <a:xfrm>
              <a:off x="0" y="0"/>
              <a:ext cx="213783" cy="425450"/>
            </a:xfrm>
            <a:custGeom>
              <a:avLst/>
              <a:gdLst/>
              <a:ahLst/>
              <a:cxnLst/>
              <a:rect l="l" t="t" r="r" b="b"/>
              <a:pathLst>
                <a:path w="213783" h="425450">
                  <a:moveTo>
                    <a:pt x="0" y="0"/>
                  </a:moveTo>
                  <a:lnTo>
                    <a:pt x="213783" y="0"/>
                  </a:lnTo>
                  <a:lnTo>
                    <a:pt x="213783" y="425450"/>
                  </a:lnTo>
                  <a:lnTo>
                    <a:pt x="0" y="425450"/>
                  </a:lnTo>
                  <a:close/>
                </a:path>
              </a:pathLst>
            </a:custGeom>
            <a:solidFill>
              <a:srgbClr val="000000">
                <a:alpha val="0"/>
              </a:srgbClr>
            </a:solidFill>
          </p:spPr>
        </p:sp>
        <p:sp>
          <p:nvSpPr>
            <p:cNvPr id="25" name="TextBox 25"/>
            <p:cNvSpPr txBox="1"/>
            <p:nvPr/>
          </p:nvSpPr>
          <p:spPr>
            <a:xfrm>
              <a:off x="0" y="-66675"/>
              <a:ext cx="213783" cy="492125"/>
            </a:xfrm>
            <a:prstGeom prst="rect">
              <a:avLst/>
            </a:prstGeom>
          </p:spPr>
          <p:txBody>
            <a:bodyPr lIns="0" tIns="0" rIns="0" bIns="0" rtlCol="0" anchor="t"/>
            <a:lstStyle/>
            <a:p>
              <a:pPr algn="ctr">
                <a:lnSpc>
                  <a:spcPts val="2499"/>
                </a:lnSpc>
              </a:pPr>
              <a:r>
                <a:rPr lang="en-US" sz="1566">
                  <a:solidFill>
                    <a:srgbClr val="CAD6DE"/>
                  </a:solidFill>
                  <a:latin typeface="Arimo"/>
                  <a:ea typeface="Arimo"/>
                  <a:cs typeface="Arimo"/>
                  <a:sym typeface="Arimo"/>
                </a:rPr>
                <a:t>3</a:t>
              </a:r>
            </a:p>
          </p:txBody>
        </p:sp>
      </p:grpSp>
      <p:grpSp>
        <p:nvGrpSpPr>
          <p:cNvPr id="26" name="Group 26"/>
          <p:cNvGrpSpPr/>
          <p:nvPr/>
        </p:nvGrpSpPr>
        <p:grpSpPr>
          <a:xfrm>
            <a:off x="3826193" y="2293027"/>
            <a:ext cx="2171621" cy="234633"/>
            <a:chOff x="0" y="0"/>
            <a:chExt cx="2895494" cy="312844"/>
          </a:xfrm>
        </p:grpSpPr>
        <p:sp>
          <p:nvSpPr>
            <p:cNvPr id="27" name="Freeform 27"/>
            <p:cNvSpPr/>
            <p:nvPr/>
          </p:nvSpPr>
          <p:spPr>
            <a:xfrm>
              <a:off x="0" y="0"/>
              <a:ext cx="2895494" cy="312844"/>
            </a:xfrm>
            <a:custGeom>
              <a:avLst/>
              <a:gdLst/>
              <a:ahLst/>
              <a:cxnLst/>
              <a:rect l="l" t="t" r="r" b="b"/>
              <a:pathLst>
                <a:path w="2895494" h="312844">
                  <a:moveTo>
                    <a:pt x="0" y="0"/>
                  </a:moveTo>
                  <a:lnTo>
                    <a:pt x="2895494" y="0"/>
                  </a:lnTo>
                  <a:lnTo>
                    <a:pt x="2895494" y="312844"/>
                  </a:lnTo>
                  <a:lnTo>
                    <a:pt x="0" y="312844"/>
                  </a:lnTo>
                  <a:close/>
                </a:path>
              </a:pathLst>
            </a:custGeom>
            <a:solidFill>
              <a:srgbClr val="000000">
                <a:alpha val="0"/>
              </a:srgbClr>
            </a:solidFill>
          </p:spPr>
        </p:sp>
        <p:sp>
          <p:nvSpPr>
            <p:cNvPr id="28" name="TextBox 28"/>
            <p:cNvSpPr txBox="1"/>
            <p:nvPr/>
          </p:nvSpPr>
          <p:spPr>
            <a:xfrm>
              <a:off x="0" y="-19050"/>
              <a:ext cx="2895494" cy="331894"/>
            </a:xfrm>
            <a:prstGeom prst="rect">
              <a:avLst/>
            </a:prstGeom>
          </p:spPr>
          <p:txBody>
            <a:bodyPr lIns="0" tIns="0" rIns="0" bIns="0" rtlCol="0" anchor="t"/>
            <a:lstStyle/>
            <a:p>
              <a:pPr algn="l">
                <a:lnSpc>
                  <a:spcPts val="1833"/>
                </a:lnSpc>
              </a:pPr>
              <a:r>
                <a:rPr lang="en-US" sz="1466">
                  <a:solidFill>
                    <a:srgbClr val="CAD6DE"/>
                  </a:solidFill>
                  <a:latin typeface="Arimo"/>
                  <a:ea typeface="Arimo"/>
                  <a:cs typeface="Arimo"/>
                  <a:sym typeface="Arimo"/>
                </a:rPr>
                <a:t>Operating Systems</a:t>
              </a:r>
            </a:p>
          </p:txBody>
        </p:sp>
      </p:grpSp>
      <p:sp>
        <p:nvSpPr>
          <p:cNvPr id="29" name="Freeform 29" descr="preencoded.png"/>
          <p:cNvSpPr/>
          <p:nvPr/>
        </p:nvSpPr>
        <p:spPr>
          <a:xfrm>
            <a:off x="-21669" y="2819125"/>
            <a:ext cx="4275058" cy="553720"/>
          </a:xfrm>
          <a:custGeom>
            <a:avLst/>
            <a:gdLst/>
            <a:ahLst/>
            <a:cxnLst/>
            <a:rect l="l" t="t" r="r" b="b"/>
            <a:pathLst>
              <a:path w="4275058" h="553720">
                <a:moveTo>
                  <a:pt x="0" y="0"/>
                </a:moveTo>
                <a:lnTo>
                  <a:pt x="4275058" y="0"/>
                </a:lnTo>
                <a:lnTo>
                  <a:pt x="4275058" y="553720"/>
                </a:lnTo>
                <a:lnTo>
                  <a:pt x="0" y="553720"/>
                </a:lnTo>
                <a:lnTo>
                  <a:pt x="0" y="0"/>
                </a:lnTo>
                <a:close/>
              </a:path>
            </a:pathLst>
          </a:custGeom>
          <a:blipFill>
            <a:blip r:embed="rId7"/>
            <a:stretch>
              <a:fillRect l="-26" r="-26"/>
            </a:stretch>
          </a:blipFill>
        </p:spPr>
      </p:sp>
      <p:grpSp>
        <p:nvGrpSpPr>
          <p:cNvPr id="30" name="Group 30"/>
          <p:cNvGrpSpPr/>
          <p:nvPr/>
        </p:nvGrpSpPr>
        <p:grpSpPr>
          <a:xfrm>
            <a:off x="2056130" y="3009625"/>
            <a:ext cx="160179" cy="319087"/>
            <a:chOff x="0" y="0"/>
            <a:chExt cx="213572" cy="425450"/>
          </a:xfrm>
        </p:grpSpPr>
        <p:sp>
          <p:nvSpPr>
            <p:cNvPr id="31" name="Freeform 31"/>
            <p:cNvSpPr/>
            <p:nvPr/>
          </p:nvSpPr>
          <p:spPr>
            <a:xfrm>
              <a:off x="0" y="0"/>
              <a:ext cx="213572" cy="425450"/>
            </a:xfrm>
            <a:custGeom>
              <a:avLst/>
              <a:gdLst/>
              <a:ahLst/>
              <a:cxnLst/>
              <a:rect l="l" t="t" r="r" b="b"/>
              <a:pathLst>
                <a:path w="213572" h="425450">
                  <a:moveTo>
                    <a:pt x="0" y="0"/>
                  </a:moveTo>
                  <a:lnTo>
                    <a:pt x="213572" y="0"/>
                  </a:lnTo>
                  <a:lnTo>
                    <a:pt x="213572" y="425450"/>
                  </a:lnTo>
                  <a:lnTo>
                    <a:pt x="0" y="425450"/>
                  </a:lnTo>
                  <a:close/>
                </a:path>
              </a:pathLst>
            </a:custGeom>
            <a:solidFill>
              <a:srgbClr val="000000">
                <a:alpha val="0"/>
              </a:srgbClr>
            </a:solidFill>
          </p:spPr>
        </p:sp>
        <p:sp>
          <p:nvSpPr>
            <p:cNvPr id="32" name="TextBox 32"/>
            <p:cNvSpPr txBox="1"/>
            <p:nvPr/>
          </p:nvSpPr>
          <p:spPr>
            <a:xfrm>
              <a:off x="0" y="-66675"/>
              <a:ext cx="213572" cy="492125"/>
            </a:xfrm>
            <a:prstGeom prst="rect">
              <a:avLst/>
            </a:prstGeom>
          </p:spPr>
          <p:txBody>
            <a:bodyPr lIns="0" tIns="0" rIns="0" bIns="0" rtlCol="0" anchor="t"/>
            <a:lstStyle/>
            <a:p>
              <a:pPr algn="ctr">
                <a:lnSpc>
                  <a:spcPts val="2499"/>
                </a:lnSpc>
              </a:pPr>
              <a:r>
                <a:rPr lang="en-US" sz="1566">
                  <a:solidFill>
                    <a:srgbClr val="CAD6DE"/>
                  </a:solidFill>
                  <a:latin typeface="Arimo"/>
                  <a:ea typeface="Arimo"/>
                  <a:cs typeface="Arimo"/>
                  <a:sym typeface="Arimo"/>
                </a:rPr>
                <a:t>4</a:t>
              </a:r>
            </a:p>
          </p:txBody>
        </p:sp>
      </p:grpSp>
      <p:grpSp>
        <p:nvGrpSpPr>
          <p:cNvPr id="33" name="Group 33"/>
          <p:cNvGrpSpPr/>
          <p:nvPr/>
        </p:nvGrpSpPr>
        <p:grpSpPr>
          <a:xfrm>
            <a:off x="4360545" y="2934536"/>
            <a:ext cx="1414701" cy="234633"/>
            <a:chOff x="0" y="0"/>
            <a:chExt cx="1886268" cy="312844"/>
          </a:xfrm>
        </p:grpSpPr>
        <p:sp>
          <p:nvSpPr>
            <p:cNvPr id="34" name="Freeform 34"/>
            <p:cNvSpPr/>
            <p:nvPr/>
          </p:nvSpPr>
          <p:spPr>
            <a:xfrm>
              <a:off x="0" y="0"/>
              <a:ext cx="1886268" cy="312844"/>
            </a:xfrm>
            <a:custGeom>
              <a:avLst/>
              <a:gdLst/>
              <a:ahLst/>
              <a:cxnLst/>
              <a:rect l="l" t="t" r="r" b="b"/>
              <a:pathLst>
                <a:path w="1886268" h="312844">
                  <a:moveTo>
                    <a:pt x="0" y="0"/>
                  </a:moveTo>
                  <a:lnTo>
                    <a:pt x="1886268" y="0"/>
                  </a:lnTo>
                  <a:lnTo>
                    <a:pt x="1886268" y="312844"/>
                  </a:lnTo>
                  <a:lnTo>
                    <a:pt x="0" y="312844"/>
                  </a:lnTo>
                  <a:close/>
                </a:path>
              </a:pathLst>
            </a:custGeom>
            <a:solidFill>
              <a:srgbClr val="000000">
                <a:alpha val="0"/>
              </a:srgbClr>
            </a:solidFill>
          </p:spPr>
        </p:sp>
        <p:sp>
          <p:nvSpPr>
            <p:cNvPr id="35" name="TextBox 35"/>
            <p:cNvSpPr txBox="1"/>
            <p:nvPr/>
          </p:nvSpPr>
          <p:spPr>
            <a:xfrm>
              <a:off x="0" y="-19050"/>
              <a:ext cx="1886268" cy="331894"/>
            </a:xfrm>
            <a:prstGeom prst="rect">
              <a:avLst/>
            </a:prstGeom>
          </p:spPr>
          <p:txBody>
            <a:bodyPr lIns="0" tIns="0" rIns="0" bIns="0" rtlCol="0" anchor="t"/>
            <a:lstStyle/>
            <a:p>
              <a:pPr algn="l">
                <a:lnSpc>
                  <a:spcPts val="1833"/>
                </a:lnSpc>
              </a:pPr>
              <a:r>
                <a:rPr lang="en-US" sz="1466">
                  <a:solidFill>
                    <a:srgbClr val="CAD6DE"/>
                  </a:solidFill>
                  <a:latin typeface="Arimo"/>
                  <a:ea typeface="Arimo"/>
                  <a:cs typeface="Arimo"/>
                  <a:sym typeface="Arimo"/>
                </a:rPr>
                <a:t>Applications</a:t>
              </a:r>
            </a:p>
          </p:txBody>
        </p:sp>
      </p:grpSp>
      <p:sp>
        <p:nvSpPr>
          <p:cNvPr id="36" name="TextBox 36"/>
          <p:cNvSpPr txBox="1"/>
          <p:nvPr/>
        </p:nvSpPr>
        <p:spPr>
          <a:xfrm>
            <a:off x="61189" y="3563345"/>
            <a:ext cx="9631222" cy="1137603"/>
          </a:xfrm>
          <a:prstGeom prst="rect">
            <a:avLst/>
          </a:prstGeom>
        </p:spPr>
        <p:txBody>
          <a:bodyPr lIns="0" tIns="0" rIns="0" bIns="0" rtlCol="0" anchor="t">
            <a:spAutoFit/>
          </a:bodyPr>
          <a:lstStyle/>
          <a:p>
            <a:pPr algn="ctr">
              <a:lnSpc>
                <a:spcPts val="2288"/>
              </a:lnSpc>
              <a:spcBef>
                <a:spcPct val="0"/>
              </a:spcBef>
            </a:pPr>
            <a:r>
              <a:rPr lang="en-US" sz="1434">
                <a:solidFill>
                  <a:srgbClr val="FFFFFF"/>
                </a:solidFill>
                <a:latin typeface="Arimo"/>
                <a:ea typeface="Arimo"/>
                <a:cs typeface="Arimo"/>
                <a:sym typeface="Arimo"/>
              </a:rPr>
              <a:t> Virtual Machine (VM) is a software-based simulation of a physical computer that runs an operating system and   applications, but is abstracted from the underlying hardwareIn cloud platforms like Google Cloud Platform (GCP), virtual machines are managed using services such as Google Compute Engine. Let’s dive into the layers that make up a VM architecture in Google Cloud and their relationship</a:t>
            </a:r>
          </a:p>
        </p:txBody>
      </p:sp>
      <p:sp>
        <p:nvSpPr>
          <p:cNvPr id="37" name="TextBox 37"/>
          <p:cNvSpPr txBox="1"/>
          <p:nvPr/>
        </p:nvSpPr>
        <p:spPr>
          <a:xfrm>
            <a:off x="-130793" y="4691423"/>
            <a:ext cx="9431787" cy="4003459"/>
          </a:xfrm>
          <a:prstGeom prst="rect">
            <a:avLst/>
          </a:prstGeom>
        </p:spPr>
        <p:txBody>
          <a:bodyPr lIns="0" tIns="0" rIns="0" bIns="0" rtlCol="0" anchor="t">
            <a:spAutoFit/>
          </a:bodyPr>
          <a:lstStyle/>
          <a:p>
            <a:pPr algn="ctr">
              <a:lnSpc>
                <a:spcPts val="2244"/>
              </a:lnSpc>
            </a:pPr>
            <a:r>
              <a:rPr lang="en-US" sz="1407">
                <a:solidFill>
                  <a:srgbClr val="FFFFFF"/>
                </a:solidFill>
                <a:latin typeface="Arimo"/>
                <a:ea typeface="Arimo"/>
                <a:cs typeface="Arimo"/>
                <a:sym typeface="Arimo"/>
              </a:rPr>
              <a:t>1. Physical Layer (Hardware): This is the actual physical hardware, such as servers, storage devices, CPUs, and network interfaces, located in data centers</a:t>
            </a:r>
          </a:p>
          <a:p>
            <a:pPr algn="ctr">
              <a:lnSpc>
                <a:spcPts val="2244"/>
              </a:lnSpc>
            </a:pPr>
            <a:r>
              <a:rPr lang="en-US" sz="1407">
                <a:solidFill>
                  <a:srgbClr val="FFFFFF"/>
                </a:solidFill>
                <a:latin typeface="Arimo"/>
                <a:ea typeface="Arimo"/>
                <a:cs typeface="Arimo"/>
                <a:sym typeface="Arimo"/>
              </a:rPr>
              <a:t>2. Compute Engine Layer : Google Compute Engine (GCE) is the service provided by Google Cloud to create, manage, and run virtual machines (VMs) on its infrastructure.</a:t>
            </a:r>
          </a:p>
          <a:p>
            <a:pPr algn="ctr">
              <a:lnSpc>
                <a:spcPts val="2244"/>
              </a:lnSpc>
            </a:pPr>
            <a:r>
              <a:rPr lang="en-US" sz="1407">
                <a:solidFill>
                  <a:srgbClr val="FFFFFF"/>
                </a:solidFill>
                <a:latin typeface="Arimo"/>
                <a:ea typeface="Arimo"/>
                <a:cs typeface="Arimo"/>
                <a:sym typeface="Arimo"/>
              </a:rPr>
              <a:t>3. Virtual Machine Instances  : A Virtual Machine Instance is an individual virtualized computer created using Google Compute Engine. Each instance has its own virtualized CPU, memory, storage, and network interfaces, and it runs its own Guest Os .</a:t>
            </a:r>
          </a:p>
          <a:p>
            <a:pPr algn="ctr">
              <a:lnSpc>
                <a:spcPts val="2244"/>
              </a:lnSpc>
            </a:pPr>
            <a:r>
              <a:rPr lang="en-US" sz="1407">
                <a:solidFill>
                  <a:srgbClr val="FFFFFF"/>
                </a:solidFill>
                <a:latin typeface="Arimo"/>
                <a:ea typeface="Arimo"/>
                <a:cs typeface="Arimo"/>
                <a:sym typeface="Arimo"/>
              </a:rPr>
              <a:t>4. Operating System (Guest OS): The Operating System (OS) installed inside the virtual machine instance is referred to as the Guest OS. This can be any supported OS, such as Linux, Windows Server, or macOS. </a:t>
            </a:r>
          </a:p>
          <a:p>
            <a:pPr algn="ctr">
              <a:lnSpc>
                <a:spcPts val="1916"/>
              </a:lnSpc>
            </a:pPr>
            <a:endParaRPr lang="en-US" sz="1407">
              <a:solidFill>
                <a:srgbClr val="FFFFFF"/>
              </a:solidFill>
              <a:latin typeface="Arimo"/>
              <a:ea typeface="Arimo"/>
              <a:cs typeface="Arimo"/>
              <a:sym typeface="Arimo"/>
            </a:endParaRPr>
          </a:p>
          <a:p>
            <a:pPr algn="ctr">
              <a:lnSpc>
                <a:spcPts val="1916"/>
              </a:lnSpc>
            </a:pPr>
            <a:endParaRPr lang="en-US" sz="1407">
              <a:solidFill>
                <a:srgbClr val="FFFFFF"/>
              </a:solidFill>
              <a:latin typeface="Arimo"/>
              <a:ea typeface="Arimo"/>
              <a:cs typeface="Arimo"/>
              <a:sym typeface="Arimo"/>
            </a:endParaRPr>
          </a:p>
          <a:p>
            <a:pPr algn="ctr">
              <a:lnSpc>
                <a:spcPts val="1916"/>
              </a:lnSpc>
            </a:pPr>
            <a:endParaRPr lang="en-US" sz="1407">
              <a:solidFill>
                <a:srgbClr val="FFFFFF"/>
              </a:solidFill>
              <a:latin typeface="Arimo"/>
              <a:ea typeface="Arimo"/>
              <a:cs typeface="Arimo"/>
              <a:sym typeface="Arimo"/>
            </a:endParaRPr>
          </a:p>
          <a:p>
            <a:pPr algn="ctr">
              <a:lnSpc>
                <a:spcPts val="1916"/>
              </a:lnSpc>
            </a:pPr>
            <a:endParaRPr lang="en-US" sz="1407">
              <a:solidFill>
                <a:srgbClr val="FFFFFF"/>
              </a:solidFill>
              <a:latin typeface="Arimo"/>
              <a:ea typeface="Arimo"/>
              <a:cs typeface="Arimo"/>
              <a:sym typeface="Arimo"/>
            </a:endParaRPr>
          </a:p>
          <a:p>
            <a:pPr algn="ctr">
              <a:lnSpc>
                <a:spcPts val="1916"/>
              </a:lnSpc>
            </a:pPr>
            <a:endParaRPr lang="en-US" sz="1407">
              <a:solidFill>
                <a:srgbClr val="FFFFFF"/>
              </a:solidFill>
              <a:latin typeface="Arimo"/>
              <a:ea typeface="Arimo"/>
              <a:cs typeface="Arimo"/>
              <a:sym typeface="Arimo"/>
            </a:endParaRPr>
          </a:p>
          <a:p>
            <a:pPr algn="ctr">
              <a:lnSpc>
                <a:spcPts val="2047"/>
              </a:lnSpc>
              <a:spcBef>
                <a:spcPct val="0"/>
              </a:spcBef>
            </a:pPr>
            <a:endParaRPr lang="en-US" sz="1407">
              <a:solidFill>
                <a:srgbClr val="FFFFFF"/>
              </a:solidFill>
              <a:latin typeface="Arimo"/>
              <a:ea typeface="Arimo"/>
              <a:cs typeface="Arimo"/>
              <a:sym typeface="Arim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descr="preencoded.png"/>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grpSp>
        <p:nvGrpSpPr>
          <p:cNvPr id="3" name="Group 3"/>
          <p:cNvGrpSpPr/>
          <p:nvPr/>
        </p:nvGrpSpPr>
        <p:grpSpPr>
          <a:xfrm>
            <a:off x="-34727" y="0"/>
            <a:ext cx="9753600" cy="7315200"/>
            <a:chOff x="0" y="0"/>
            <a:chExt cx="13004800" cy="9753600"/>
          </a:xfrm>
        </p:grpSpPr>
        <p:sp>
          <p:nvSpPr>
            <p:cNvPr id="4" name="Freeform 4"/>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close/>
                </a:path>
              </a:pathLst>
            </a:custGeom>
            <a:solidFill>
              <a:srgbClr val="112836"/>
            </a:solidFill>
          </p:spPr>
        </p:sp>
      </p:grpSp>
      <p:grpSp>
        <p:nvGrpSpPr>
          <p:cNvPr id="5" name="Group 5"/>
          <p:cNvGrpSpPr/>
          <p:nvPr/>
        </p:nvGrpSpPr>
        <p:grpSpPr>
          <a:xfrm>
            <a:off x="374874" y="229280"/>
            <a:ext cx="8156125" cy="634024"/>
            <a:chOff x="0" y="0"/>
            <a:chExt cx="10874833" cy="845365"/>
          </a:xfrm>
        </p:grpSpPr>
        <p:sp>
          <p:nvSpPr>
            <p:cNvPr id="6" name="Freeform 6"/>
            <p:cNvSpPr/>
            <p:nvPr/>
          </p:nvSpPr>
          <p:spPr>
            <a:xfrm>
              <a:off x="0" y="0"/>
              <a:ext cx="10874833" cy="845365"/>
            </a:xfrm>
            <a:custGeom>
              <a:avLst/>
              <a:gdLst/>
              <a:ahLst/>
              <a:cxnLst/>
              <a:rect l="l" t="t" r="r" b="b"/>
              <a:pathLst>
                <a:path w="10874833" h="845365">
                  <a:moveTo>
                    <a:pt x="0" y="0"/>
                  </a:moveTo>
                  <a:lnTo>
                    <a:pt x="10874833" y="0"/>
                  </a:lnTo>
                  <a:lnTo>
                    <a:pt x="10874833" y="845365"/>
                  </a:lnTo>
                  <a:lnTo>
                    <a:pt x="0" y="845365"/>
                  </a:lnTo>
                  <a:close/>
                </a:path>
              </a:pathLst>
            </a:custGeom>
            <a:solidFill>
              <a:srgbClr val="000000">
                <a:alpha val="0"/>
              </a:srgbClr>
            </a:solidFill>
          </p:spPr>
        </p:sp>
        <p:sp>
          <p:nvSpPr>
            <p:cNvPr id="7" name="TextBox 7"/>
            <p:cNvSpPr txBox="1"/>
            <p:nvPr/>
          </p:nvSpPr>
          <p:spPr>
            <a:xfrm>
              <a:off x="0" y="-28575"/>
              <a:ext cx="10874833" cy="873940"/>
            </a:xfrm>
            <a:prstGeom prst="rect">
              <a:avLst/>
            </a:prstGeom>
          </p:spPr>
          <p:txBody>
            <a:bodyPr lIns="0" tIns="0" rIns="0" bIns="0" rtlCol="0" anchor="t"/>
            <a:lstStyle/>
            <a:p>
              <a:pPr algn="l">
                <a:lnSpc>
                  <a:spcPts val="3533"/>
                </a:lnSpc>
              </a:pPr>
              <a:r>
                <a:rPr lang="en-US" sz="2833">
                  <a:solidFill>
                    <a:srgbClr val="FFFFFF"/>
                  </a:solidFill>
                  <a:latin typeface="Arimo"/>
                  <a:ea typeface="Arimo"/>
                  <a:cs typeface="Arimo"/>
                  <a:sym typeface="Arimo"/>
                </a:rPr>
                <a:t>  Introduction to Kubernetes and  its Architecture</a:t>
              </a:r>
            </a:p>
          </p:txBody>
        </p:sp>
      </p:grpSp>
      <p:grpSp>
        <p:nvGrpSpPr>
          <p:cNvPr id="8" name="Group 8"/>
          <p:cNvGrpSpPr/>
          <p:nvPr/>
        </p:nvGrpSpPr>
        <p:grpSpPr>
          <a:xfrm>
            <a:off x="4574341" y="2455783"/>
            <a:ext cx="535464" cy="20320"/>
            <a:chOff x="0" y="0"/>
            <a:chExt cx="713952" cy="27093"/>
          </a:xfrm>
        </p:grpSpPr>
        <p:sp>
          <p:nvSpPr>
            <p:cNvPr id="9" name="Freeform 9"/>
            <p:cNvSpPr/>
            <p:nvPr/>
          </p:nvSpPr>
          <p:spPr>
            <a:xfrm>
              <a:off x="0" y="0"/>
              <a:ext cx="713994" cy="27178"/>
            </a:xfrm>
            <a:custGeom>
              <a:avLst/>
              <a:gdLst/>
              <a:ahLst/>
              <a:cxnLst/>
              <a:rect l="l" t="t" r="r" b="b"/>
              <a:pathLst>
                <a:path w="713994" h="27178">
                  <a:moveTo>
                    <a:pt x="0" y="13589"/>
                  </a:moveTo>
                  <a:cubicBezTo>
                    <a:pt x="0" y="6096"/>
                    <a:pt x="6096" y="0"/>
                    <a:pt x="13589" y="0"/>
                  </a:cubicBezTo>
                  <a:lnTo>
                    <a:pt x="700405" y="0"/>
                  </a:lnTo>
                  <a:cubicBezTo>
                    <a:pt x="707898" y="0"/>
                    <a:pt x="713994" y="6096"/>
                    <a:pt x="713994" y="13589"/>
                  </a:cubicBezTo>
                  <a:cubicBezTo>
                    <a:pt x="713994" y="21082"/>
                    <a:pt x="707898" y="27178"/>
                    <a:pt x="700405" y="27178"/>
                  </a:cubicBezTo>
                  <a:lnTo>
                    <a:pt x="13589" y="27178"/>
                  </a:lnTo>
                  <a:cubicBezTo>
                    <a:pt x="6096" y="27051"/>
                    <a:pt x="0" y="21082"/>
                    <a:pt x="0" y="13589"/>
                  </a:cubicBezTo>
                  <a:close/>
                </a:path>
              </a:pathLst>
            </a:custGeom>
            <a:solidFill>
              <a:srgbClr val="49606E"/>
            </a:solidFill>
          </p:spPr>
        </p:sp>
      </p:grpSp>
      <p:grpSp>
        <p:nvGrpSpPr>
          <p:cNvPr id="10" name="Group 10"/>
          <p:cNvGrpSpPr/>
          <p:nvPr/>
        </p:nvGrpSpPr>
        <p:grpSpPr>
          <a:xfrm>
            <a:off x="218202" y="1207651"/>
            <a:ext cx="344249" cy="344249"/>
            <a:chOff x="0" y="0"/>
            <a:chExt cx="458999" cy="458999"/>
          </a:xfrm>
        </p:grpSpPr>
        <p:sp>
          <p:nvSpPr>
            <p:cNvPr id="11" name="Freeform 11"/>
            <p:cNvSpPr/>
            <p:nvPr/>
          </p:nvSpPr>
          <p:spPr>
            <a:xfrm>
              <a:off x="0" y="0"/>
              <a:ext cx="458978" cy="458978"/>
            </a:xfrm>
            <a:custGeom>
              <a:avLst/>
              <a:gdLst/>
              <a:ahLst/>
              <a:cxnLst/>
              <a:rect l="l" t="t" r="r" b="b"/>
              <a:pathLst>
                <a:path w="458978" h="458978">
                  <a:moveTo>
                    <a:pt x="0" y="30607"/>
                  </a:moveTo>
                  <a:cubicBezTo>
                    <a:pt x="0" y="13716"/>
                    <a:pt x="13716" y="0"/>
                    <a:pt x="30607" y="0"/>
                  </a:cubicBezTo>
                  <a:lnTo>
                    <a:pt x="428371" y="0"/>
                  </a:lnTo>
                  <a:cubicBezTo>
                    <a:pt x="445262" y="0"/>
                    <a:pt x="458978" y="13716"/>
                    <a:pt x="458978" y="30607"/>
                  </a:cubicBezTo>
                  <a:lnTo>
                    <a:pt x="458978" y="428371"/>
                  </a:lnTo>
                  <a:cubicBezTo>
                    <a:pt x="458978" y="445262"/>
                    <a:pt x="445262" y="458978"/>
                    <a:pt x="428371" y="458978"/>
                  </a:cubicBezTo>
                  <a:lnTo>
                    <a:pt x="30607" y="458978"/>
                  </a:lnTo>
                  <a:cubicBezTo>
                    <a:pt x="13716" y="458978"/>
                    <a:pt x="0" y="445262"/>
                    <a:pt x="0" y="428371"/>
                  </a:cubicBezTo>
                  <a:close/>
                </a:path>
              </a:pathLst>
            </a:custGeom>
            <a:solidFill>
              <a:srgbClr val="304755"/>
            </a:solidFill>
          </p:spPr>
        </p:sp>
      </p:grpSp>
      <p:grpSp>
        <p:nvGrpSpPr>
          <p:cNvPr id="12" name="Group 12"/>
          <p:cNvGrpSpPr/>
          <p:nvPr/>
        </p:nvGrpSpPr>
        <p:grpSpPr>
          <a:xfrm>
            <a:off x="339448" y="1271786"/>
            <a:ext cx="101759" cy="215979"/>
            <a:chOff x="0" y="0"/>
            <a:chExt cx="135678" cy="287972"/>
          </a:xfrm>
        </p:grpSpPr>
        <p:sp>
          <p:nvSpPr>
            <p:cNvPr id="13" name="Freeform 13"/>
            <p:cNvSpPr/>
            <p:nvPr/>
          </p:nvSpPr>
          <p:spPr>
            <a:xfrm>
              <a:off x="0" y="0"/>
              <a:ext cx="135678" cy="287972"/>
            </a:xfrm>
            <a:custGeom>
              <a:avLst/>
              <a:gdLst/>
              <a:ahLst/>
              <a:cxnLst/>
              <a:rect l="l" t="t" r="r" b="b"/>
              <a:pathLst>
                <a:path w="135678" h="287972">
                  <a:moveTo>
                    <a:pt x="0" y="0"/>
                  </a:moveTo>
                  <a:lnTo>
                    <a:pt x="135678" y="0"/>
                  </a:lnTo>
                  <a:lnTo>
                    <a:pt x="135678" y="287972"/>
                  </a:lnTo>
                  <a:lnTo>
                    <a:pt x="0" y="287972"/>
                  </a:lnTo>
                  <a:close/>
                </a:path>
              </a:pathLst>
            </a:custGeom>
            <a:solidFill>
              <a:srgbClr val="000000">
                <a:alpha val="0"/>
              </a:srgbClr>
            </a:solidFill>
          </p:spPr>
        </p:sp>
        <p:sp>
          <p:nvSpPr>
            <p:cNvPr id="14" name="TextBox 14"/>
            <p:cNvSpPr txBox="1"/>
            <p:nvPr/>
          </p:nvSpPr>
          <p:spPr>
            <a:xfrm>
              <a:off x="0" y="9525"/>
              <a:ext cx="135678" cy="278447"/>
            </a:xfrm>
            <a:prstGeom prst="rect">
              <a:avLst/>
            </a:prstGeom>
          </p:spPr>
          <p:txBody>
            <a:bodyPr lIns="0" tIns="0" rIns="0" bIns="0" rtlCol="0" anchor="t"/>
            <a:lstStyle/>
            <a:p>
              <a:pPr algn="ctr">
                <a:lnSpc>
                  <a:spcPts val="1700"/>
                </a:lnSpc>
              </a:pPr>
              <a:r>
                <a:rPr lang="en-US" sz="1700">
                  <a:solidFill>
                    <a:srgbClr val="CAD6DE"/>
                  </a:solidFill>
                  <a:latin typeface="Arimo"/>
                  <a:ea typeface="Arimo"/>
                  <a:cs typeface="Arimo"/>
                  <a:sym typeface="Arimo"/>
                </a:rPr>
                <a:t>1</a:t>
              </a:r>
            </a:p>
          </p:txBody>
        </p:sp>
      </p:grpSp>
      <p:grpSp>
        <p:nvGrpSpPr>
          <p:cNvPr id="15" name="Group 15"/>
          <p:cNvGrpSpPr/>
          <p:nvPr/>
        </p:nvGrpSpPr>
        <p:grpSpPr>
          <a:xfrm>
            <a:off x="852773" y="1069314"/>
            <a:ext cx="3088268" cy="2202616"/>
            <a:chOff x="0" y="0"/>
            <a:chExt cx="3963154" cy="2826602"/>
          </a:xfrm>
        </p:grpSpPr>
        <p:sp>
          <p:nvSpPr>
            <p:cNvPr id="16" name="Freeform 16"/>
            <p:cNvSpPr/>
            <p:nvPr/>
          </p:nvSpPr>
          <p:spPr>
            <a:xfrm>
              <a:off x="0" y="0"/>
              <a:ext cx="3963154" cy="2826602"/>
            </a:xfrm>
            <a:custGeom>
              <a:avLst/>
              <a:gdLst/>
              <a:ahLst/>
              <a:cxnLst/>
              <a:rect l="l" t="t" r="r" b="b"/>
              <a:pathLst>
                <a:path w="3963154" h="2826602">
                  <a:moveTo>
                    <a:pt x="0" y="0"/>
                  </a:moveTo>
                  <a:lnTo>
                    <a:pt x="3963154" y="0"/>
                  </a:lnTo>
                  <a:lnTo>
                    <a:pt x="3963154" y="2826602"/>
                  </a:lnTo>
                  <a:lnTo>
                    <a:pt x="0" y="2826602"/>
                  </a:lnTo>
                  <a:close/>
                </a:path>
              </a:pathLst>
            </a:custGeom>
            <a:solidFill>
              <a:srgbClr val="000000">
                <a:alpha val="0"/>
              </a:srgbClr>
            </a:solidFill>
          </p:spPr>
        </p:sp>
        <p:sp>
          <p:nvSpPr>
            <p:cNvPr id="17" name="TextBox 17"/>
            <p:cNvSpPr txBox="1"/>
            <p:nvPr/>
          </p:nvSpPr>
          <p:spPr>
            <a:xfrm>
              <a:off x="0" y="-57150"/>
              <a:ext cx="3963154" cy="2883752"/>
            </a:xfrm>
            <a:prstGeom prst="rect">
              <a:avLst/>
            </a:prstGeom>
          </p:spPr>
          <p:txBody>
            <a:bodyPr lIns="0" tIns="0" rIns="0" bIns="0" rtlCol="0" anchor="t"/>
            <a:lstStyle/>
            <a:p>
              <a:pPr algn="l">
                <a:lnSpc>
                  <a:spcPts val="2216"/>
                </a:lnSpc>
              </a:pPr>
              <a:r>
                <a:rPr lang="en-US" sz="1399" b="1">
                  <a:solidFill>
                    <a:srgbClr val="CAD6DE"/>
                  </a:solidFill>
                  <a:latin typeface="Cabin Bold"/>
                  <a:ea typeface="Cabin Bold"/>
                  <a:cs typeface="Cabin Bold"/>
                  <a:sym typeface="Cabin Bold"/>
                </a:rPr>
                <a:t>Kubernetes is an open-source container orchestration platform that automates the deployment, scaling, and management of containerized applications. It's a powerful tool for building and managing microservices-based applications.</a:t>
              </a:r>
            </a:p>
          </p:txBody>
        </p:sp>
      </p:grpSp>
      <p:grpSp>
        <p:nvGrpSpPr>
          <p:cNvPr id="18" name="Group 18"/>
          <p:cNvGrpSpPr/>
          <p:nvPr/>
        </p:nvGrpSpPr>
        <p:grpSpPr>
          <a:xfrm>
            <a:off x="4574341" y="4138613"/>
            <a:ext cx="535464" cy="20320"/>
            <a:chOff x="0" y="0"/>
            <a:chExt cx="713952" cy="27093"/>
          </a:xfrm>
        </p:grpSpPr>
        <p:sp>
          <p:nvSpPr>
            <p:cNvPr id="19" name="Freeform 19"/>
            <p:cNvSpPr/>
            <p:nvPr/>
          </p:nvSpPr>
          <p:spPr>
            <a:xfrm>
              <a:off x="0" y="0"/>
              <a:ext cx="713994" cy="27178"/>
            </a:xfrm>
            <a:custGeom>
              <a:avLst/>
              <a:gdLst/>
              <a:ahLst/>
              <a:cxnLst/>
              <a:rect l="l" t="t" r="r" b="b"/>
              <a:pathLst>
                <a:path w="713994" h="27178">
                  <a:moveTo>
                    <a:pt x="0" y="13589"/>
                  </a:moveTo>
                  <a:cubicBezTo>
                    <a:pt x="0" y="6096"/>
                    <a:pt x="6096" y="0"/>
                    <a:pt x="13589" y="0"/>
                  </a:cubicBezTo>
                  <a:lnTo>
                    <a:pt x="700405" y="0"/>
                  </a:lnTo>
                  <a:cubicBezTo>
                    <a:pt x="707898" y="0"/>
                    <a:pt x="713994" y="6096"/>
                    <a:pt x="713994" y="13589"/>
                  </a:cubicBezTo>
                  <a:cubicBezTo>
                    <a:pt x="713994" y="21082"/>
                    <a:pt x="707898" y="27178"/>
                    <a:pt x="700405" y="27178"/>
                  </a:cubicBezTo>
                  <a:lnTo>
                    <a:pt x="13589" y="27178"/>
                  </a:lnTo>
                  <a:cubicBezTo>
                    <a:pt x="6096" y="27051"/>
                    <a:pt x="0" y="21082"/>
                    <a:pt x="0" y="13589"/>
                  </a:cubicBezTo>
                  <a:close/>
                </a:path>
              </a:pathLst>
            </a:custGeom>
            <a:solidFill>
              <a:srgbClr val="49606E"/>
            </a:solidFill>
          </p:spPr>
        </p:sp>
      </p:grpSp>
      <p:grpSp>
        <p:nvGrpSpPr>
          <p:cNvPr id="20" name="Group 20"/>
          <p:cNvGrpSpPr/>
          <p:nvPr/>
        </p:nvGrpSpPr>
        <p:grpSpPr>
          <a:xfrm>
            <a:off x="218202" y="3404619"/>
            <a:ext cx="344249" cy="344249"/>
            <a:chOff x="0" y="0"/>
            <a:chExt cx="458999" cy="458999"/>
          </a:xfrm>
        </p:grpSpPr>
        <p:sp>
          <p:nvSpPr>
            <p:cNvPr id="21" name="Freeform 21"/>
            <p:cNvSpPr/>
            <p:nvPr/>
          </p:nvSpPr>
          <p:spPr>
            <a:xfrm>
              <a:off x="0" y="0"/>
              <a:ext cx="458978" cy="458978"/>
            </a:xfrm>
            <a:custGeom>
              <a:avLst/>
              <a:gdLst/>
              <a:ahLst/>
              <a:cxnLst/>
              <a:rect l="l" t="t" r="r" b="b"/>
              <a:pathLst>
                <a:path w="458978" h="458978">
                  <a:moveTo>
                    <a:pt x="0" y="30607"/>
                  </a:moveTo>
                  <a:cubicBezTo>
                    <a:pt x="0" y="13716"/>
                    <a:pt x="13716" y="0"/>
                    <a:pt x="30607" y="0"/>
                  </a:cubicBezTo>
                  <a:lnTo>
                    <a:pt x="428371" y="0"/>
                  </a:lnTo>
                  <a:cubicBezTo>
                    <a:pt x="445262" y="0"/>
                    <a:pt x="458978" y="13716"/>
                    <a:pt x="458978" y="30607"/>
                  </a:cubicBezTo>
                  <a:lnTo>
                    <a:pt x="458978" y="428371"/>
                  </a:lnTo>
                  <a:cubicBezTo>
                    <a:pt x="458978" y="445262"/>
                    <a:pt x="445262" y="458978"/>
                    <a:pt x="428371" y="458978"/>
                  </a:cubicBezTo>
                  <a:lnTo>
                    <a:pt x="30607" y="458978"/>
                  </a:lnTo>
                  <a:cubicBezTo>
                    <a:pt x="13716" y="458978"/>
                    <a:pt x="0" y="445262"/>
                    <a:pt x="0" y="428371"/>
                  </a:cubicBezTo>
                  <a:close/>
                </a:path>
              </a:pathLst>
            </a:custGeom>
            <a:solidFill>
              <a:srgbClr val="304755"/>
            </a:solidFill>
          </p:spPr>
        </p:sp>
      </p:grpSp>
      <p:grpSp>
        <p:nvGrpSpPr>
          <p:cNvPr id="22" name="Group 22"/>
          <p:cNvGrpSpPr/>
          <p:nvPr/>
        </p:nvGrpSpPr>
        <p:grpSpPr>
          <a:xfrm>
            <a:off x="270788" y="3441621"/>
            <a:ext cx="170418" cy="215979"/>
            <a:chOff x="0" y="0"/>
            <a:chExt cx="227224" cy="287972"/>
          </a:xfrm>
        </p:grpSpPr>
        <p:sp>
          <p:nvSpPr>
            <p:cNvPr id="23" name="Freeform 23"/>
            <p:cNvSpPr/>
            <p:nvPr/>
          </p:nvSpPr>
          <p:spPr>
            <a:xfrm>
              <a:off x="0" y="0"/>
              <a:ext cx="227224" cy="287972"/>
            </a:xfrm>
            <a:custGeom>
              <a:avLst/>
              <a:gdLst/>
              <a:ahLst/>
              <a:cxnLst/>
              <a:rect l="l" t="t" r="r" b="b"/>
              <a:pathLst>
                <a:path w="227224" h="287972">
                  <a:moveTo>
                    <a:pt x="0" y="0"/>
                  </a:moveTo>
                  <a:lnTo>
                    <a:pt x="227224" y="0"/>
                  </a:lnTo>
                  <a:lnTo>
                    <a:pt x="227224" y="287972"/>
                  </a:lnTo>
                  <a:lnTo>
                    <a:pt x="0" y="287972"/>
                  </a:lnTo>
                  <a:close/>
                </a:path>
              </a:pathLst>
            </a:custGeom>
            <a:solidFill>
              <a:srgbClr val="000000">
                <a:alpha val="0"/>
              </a:srgbClr>
            </a:solidFill>
          </p:spPr>
        </p:sp>
        <p:sp>
          <p:nvSpPr>
            <p:cNvPr id="24" name="TextBox 24"/>
            <p:cNvSpPr txBox="1"/>
            <p:nvPr/>
          </p:nvSpPr>
          <p:spPr>
            <a:xfrm>
              <a:off x="0" y="9525"/>
              <a:ext cx="227224" cy="278447"/>
            </a:xfrm>
            <a:prstGeom prst="rect">
              <a:avLst/>
            </a:prstGeom>
          </p:spPr>
          <p:txBody>
            <a:bodyPr lIns="0" tIns="0" rIns="0" bIns="0" rtlCol="0" anchor="t"/>
            <a:lstStyle/>
            <a:p>
              <a:pPr algn="ctr">
                <a:lnSpc>
                  <a:spcPts val="1700"/>
                </a:lnSpc>
              </a:pPr>
              <a:r>
                <a:rPr lang="en-US" sz="1700">
                  <a:solidFill>
                    <a:srgbClr val="CAD6DE"/>
                  </a:solidFill>
                  <a:latin typeface="Arimo"/>
                  <a:ea typeface="Arimo"/>
                  <a:cs typeface="Arimo"/>
                  <a:sym typeface="Arimo"/>
                </a:rPr>
                <a:t>2</a:t>
              </a:r>
            </a:p>
          </p:txBody>
        </p:sp>
      </p:grpSp>
      <p:grpSp>
        <p:nvGrpSpPr>
          <p:cNvPr id="25" name="Group 25"/>
          <p:cNvGrpSpPr/>
          <p:nvPr/>
        </p:nvGrpSpPr>
        <p:grpSpPr>
          <a:xfrm>
            <a:off x="852773" y="3271930"/>
            <a:ext cx="3088268" cy="1947028"/>
            <a:chOff x="0" y="0"/>
            <a:chExt cx="4117691" cy="2596038"/>
          </a:xfrm>
        </p:grpSpPr>
        <p:sp>
          <p:nvSpPr>
            <p:cNvPr id="26" name="Freeform 26"/>
            <p:cNvSpPr/>
            <p:nvPr/>
          </p:nvSpPr>
          <p:spPr>
            <a:xfrm>
              <a:off x="0" y="0"/>
              <a:ext cx="4117691" cy="2596038"/>
            </a:xfrm>
            <a:custGeom>
              <a:avLst/>
              <a:gdLst/>
              <a:ahLst/>
              <a:cxnLst/>
              <a:rect l="l" t="t" r="r" b="b"/>
              <a:pathLst>
                <a:path w="4117691" h="2596038">
                  <a:moveTo>
                    <a:pt x="0" y="0"/>
                  </a:moveTo>
                  <a:lnTo>
                    <a:pt x="4117691" y="0"/>
                  </a:lnTo>
                  <a:lnTo>
                    <a:pt x="4117691" y="2596038"/>
                  </a:lnTo>
                  <a:lnTo>
                    <a:pt x="0" y="2596038"/>
                  </a:lnTo>
                  <a:close/>
                </a:path>
              </a:pathLst>
            </a:custGeom>
            <a:solidFill>
              <a:srgbClr val="000000">
                <a:alpha val="0"/>
              </a:srgbClr>
            </a:solidFill>
          </p:spPr>
        </p:sp>
        <p:sp>
          <p:nvSpPr>
            <p:cNvPr id="27" name="TextBox 27"/>
            <p:cNvSpPr txBox="1"/>
            <p:nvPr/>
          </p:nvSpPr>
          <p:spPr>
            <a:xfrm>
              <a:off x="0" y="-57150"/>
              <a:ext cx="4117691" cy="2653188"/>
            </a:xfrm>
            <a:prstGeom prst="rect">
              <a:avLst/>
            </a:prstGeom>
          </p:spPr>
          <p:txBody>
            <a:bodyPr lIns="0" tIns="0" rIns="0" bIns="0" rtlCol="0" anchor="t"/>
            <a:lstStyle/>
            <a:p>
              <a:pPr algn="l">
                <a:lnSpc>
                  <a:spcPts val="2216"/>
                </a:lnSpc>
              </a:pPr>
              <a:r>
                <a:rPr lang="en-US" sz="1399">
                  <a:solidFill>
                    <a:srgbClr val="CAD6DE"/>
                  </a:solidFill>
                  <a:latin typeface="Cabin"/>
                  <a:ea typeface="Cabin"/>
                  <a:cs typeface="Cabin"/>
                  <a:sym typeface="Cabin"/>
                </a:rPr>
                <a:t>At the core of Kubernetes lies the control plane, responsible for managing and coordinating the cluster. It includes components like the API server, scheduler, and controller manager, which work together to ensure the smooth operation of the cluster.</a:t>
              </a:r>
            </a:p>
          </p:txBody>
        </p:sp>
      </p:grpSp>
      <p:grpSp>
        <p:nvGrpSpPr>
          <p:cNvPr id="28" name="Group 28"/>
          <p:cNvGrpSpPr/>
          <p:nvPr/>
        </p:nvGrpSpPr>
        <p:grpSpPr>
          <a:xfrm>
            <a:off x="218202" y="5585222"/>
            <a:ext cx="344249" cy="344249"/>
            <a:chOff x="0" y="0"/>
            <a:chExt cx="458999" cy="458999"/>
          </a:xfrm>
        </p:grpSpPr>
        <p:sp>
          <p:nvSpPr>
            <p:cNvPr id="29" name="Freeform 29"/>
            <p:cNvSpPr/>
            <p:nvPr/>
          </p:nvSpPr>
          <p:spPr>
            <a:xfrm>
              <a:off x="0" y="0"/>
              <a:ext cx="458978" cy="458978"/>
            </a:xfrm>
            <a:custGeom>
              <a:avLst/>
              <a:gdLst/>
              <a:ahLst/>
              <a:cxnLst/>
              <a:rect l="l" t="t" r="r" b="b"/>
              <a:pathLst>
                <a:path w="458978" h="458978">
                  <a:moveTo>
                    <a:pt x="0" y="30607"/>
                  </a:moveTo>
                  <a:cubicBezTo>
                    <a:pt x="0" y="13716"/>
                    <a:pt x="13716" y="0"/>
                    <a:pt x="30607" y="0"/>
                  </a:cubicBezTo>
                  <a:lnTo>
                    <a:pt x="428371" y="0"/>
                  </a:lnTo>
                  <a:cubicBezTo>
                    <a:pt x="445262" y="0"/>
                    <a:pt x="458978" y="13716"/>
                    <a:pt x="458978" y="30607"/>
                  </a:cubicBezTo>
                  <a:lnTo>
                    <a:pt x="458978" y="428371"/>
                  </a:lnTo>
                  <a:cubicBezTo>
                    <a:pt x="458978" y="445262"/>
                    <a:pt x="445262" y="458978"/>
                    <a:pt x="428371" y="458978"/>
                  </a:cubicBezTo>
                  <a:lnTo>
                    <a:pt x="30607" y="458978"/>
                  </a:lnTo>
                  <a:cubicBezTo>
                    <a:pt x="13716" y="458978"/>
                    <a:pt x="0" y="445262"/>
                    <a:pt x="0" y="428371"/>
                  </a:cubicBezTo>
                  <a:close/>
                </a:path>
              </a:pathLst>
            </a:custGeom>
            <a:solidFill>
              <a:srgbClr val="304755"/>
            </a:solidFill>
          </p:spPr>
        </p:sp>
      </p:grpSp>
      <p:grpSp>
        <p:nvGrpSpPr>
          <p:cNvPr id="30" name="Group 30"/>
          <p:cNvGrpSpPr/>
          <p:nvPr/>
        </p:nvGrpSpPr>
        <p:grpSpPr>
          <a:xfrm>
            <a:off x="288078" y="5606244"/>
            <a:ext cx="173593" cy="215979"/>
            <a:chOff x="0" y="0"/>
            <a:chExt cx="231458" cy="287972"/>
          </a:xfrm>
        </p:grpSpPr>
        <p:sp>
          <p:nvSpPr>
            <p:cNvPr id="31" name="Freeform 31"/>
            <p:cNvSpPr/>
            <p:nvPr/>
          </p:nvSpPr>
          <p:spPr>
            <a:xfrm>
              <a:off x="0" y="0"/>
              <a:ext cx="231458" cy="287972"/>
            </a:xfrm>
            <a:custGeom>
              <a:avLst/>
              <a:gdLst/>
              <a:ahLst/>
              <a:cxnLst/>
              <a:rect l="l" t="t" r="r" b="b"/>
              <a:pathLst>
                <a:path w="231458" h="287972">
                  <a:moveTo>
                    <a:pt x="0" y="0"/>
                  </a:moveTo>
                  <a:lnTo>
                    <a:pt x="231458" y="0"/>
                  </a:lnTo>
                  <a:lnTo>
                    <a:pt x="231458" y="287972"/>
                  </a:lnTo>
                  <a:lnTo>
                    <a:pt x="0" y="287972"/>
                  </a:lnTo>
                  <a:close/>
                </a:path>
              </a:pathLst>
            </a:custGeom>
            <a:solidFill>
              <a:srgbClr val="000000">
                <a:alpha val="0"/>
              </a:srgbClr>
            </a:solidFill>
          </p:spPr>
        </p:sp>
        <p:sp>
          <p:nvSpPr>
            <p:cNvPr id="32" name="TextBox 32"/>
            <p:cNvSpPr txBox="1"/>
            <p:nvPr/>
          </p:nvSpPr>
          <p:spPr>
            <a:xfrm>
              <a:off x="0" y="9525"/>
              <a:ext cx="231458" cy="278447"/>
            </a:xfrm>
            <a:prstGeom prst="rect">
              <a:avLst/>
            </a:prstGeom>
          </p:spPr>
          <p:txBody>
            <a:bodyPr lIns="0" tIns="0" rIns="0" bIns="0" rtlCol="0" anchor="t"/>
            <a:lstStyle/>
            <a:p>
              <a:pPr algn="ctr">
                <a:lnSpc>
                  <a:spcPts val="1700"/>
                </a:lnSpc>
              </a:pPr>
              <a:r>
                <a:rPr lang="en-US" sz="1700">
                  <a:solidFill>
                    <a:srgbClr val="CAD6DE"/>
                  </a:solidFill>
                  <a:latin typeface="Arimo"/>
                  <a:ea typeface="Arimo"/>
                  <a:cs typeface="Arimo"/>
                  <a:sym typeface="Arimo"/>
                </a:rPr>
                <a:t>3</a:t>
              </a:r>
            </a:p>
          </p:txBody>
        </p:sp>
      </p:grpSp>
      <p:grpSp>
        <p:nvGrpSpPr>
          <p:cNvPr id="33" name="Group 33"/>
          <p:cNvGrpSpPr/>
          <p:nvPr/>
        </p:nvGrpSpPr>
        <p:grpSpPr>
          <a:xfrm>
            <a:off x="852773" y="5428509"/>
            <a:ext cx="3471888" cy="1670803"/>
            <a:chOff x="0" y="0"/>
            <a:chExt cx="4629184" cy="2227738"/>
          </a:xfrm>
        </p:grpSpPr>
        <p:sp>
          <p:nvSpPr>
            <p:cNvPr id="34" name="Freeform 34"/>
            <p:cNvSpPr/>
            <p:nvPr/>
          </p:nvSpPr>
          <p:spPr>
            <a:xfrm>
              <a:off x="0" y="0"/>
              <a:ext cx="4629184" cy="2227738"/>
            </a:xfrm>
            <a:custGeom>
              <a:avLst/>
              <a:gdLst/>
              <a:ahLst/>
              <a:cxnLst/>
              <a:rect l="l" t="t" r="r" b="b"/>
              <a:pathLst>
                <a:path w="4629184" h="2227738">
                  <a:moveTo>
                    <a:pt x="0" y="0"/>
                  </a:moveTo>
                  <a:lnTo>
                    <a:pt x="4629184" y="0"/>
                  </a:lnTo>
                  <a:lnTo>
                    <a:pt x="4629184" y="2227738"/>
                  </a:lnTo>
                  <a:lnTo>
                    <a:pt x="0" y="2227738"/>
                  </a:lnTo>
                  <a:close/>
                </a:path>
              </a:pathLst>
            </a:custGeom>
            <a:solidFill>
              <a:srgbClr val="000000">
                <a:alpha val="0"/>
              </a:srgbClr>
            </a:solidFill>
          </p:spPr>
        </p:sp>
        <p:sp>
          <p:nvSpPr>
            <p:cNvPr id="35" name="TextBox 35"/>
            <p:cNvSpPr txBox="1"/>
            <p:nvPr/>
          </p:nvSpPr>
          <p:spPr>
            <a:xfrm>
              <a:off x="0" y="-57150"/>
              <a:ext cx="4629184" cy="2284888"/>
            </a:xfrm>
            <a:prstGeom prst="rect">
              <a:avLst/>
            </a:prstGeom>
          </p:spPr>
          <p:txBody>
            <a:bodyPr lIns="0" tIns="0" rIns="0" bIns="0" rtlCol="0" anchor="t"/>
            <a:lstStyle/>
            <a:p>
              <a:pPr algn="l">
                <a:lnSpc>
                  <a:spcPts val="2216"/>
                </a:lnSpc>
              </a:pPr>
              <a:r>
                <a:rPr lang="en-US" sz="1399" b="1">
                  <a:solidFill>
                    <a:srgbClr val="CAD6DE"/>
                  </a:solidFill>
                  <a:latin typeface="Cabin Bold"/>
                  <a:ea typeface="Cabin Bold"/>
                  <a:cs typeface="Cabin Bold"/>
                  <a:sym typeface="Cabin Bold"/>
                </a:rPr>
                <a:t>The worker nodes, also known as agents or minions, are the physical or virtual machines that run the actual containerized applications. Each worker node has a Kubernetes agent called a kubelet that communicates with the control plane.</a:t>
              </a:r>
            </a:p>
          </p:txBody>
        </p:sp>
      </p:grpSp>
      <p:sp>
        <p:nvSpPr>
          <p:cNvPr id="36" name="Freeform 36"/>
          <p:cNvSpPr/>
          <p:nvPr/>
        </p:nvSpPr>
        <p:spPr>
          <a:xfrm>
            <a:off x="4170254" y="1957381"/>
            <a:ext cx="5548619" cy="3400438"/>
          </a:xfrm>
          <a:custGeom>
            <a:avLst/>
            <a:gdLst/>
            <a:ahLst/>
            <a:cxnLst/>
            <a:rect l="l" t="t" r="r" b="b"/>
            <a:pathLst>
              <a:path w="5548619" h="3400438">
                <a:moveTo>
                  <a:pt x="0" y="0"/>
                </a:moveTo>
                <a:lnTo>
                  <a:pt x="5548619" y="0"/>
                </a:lnTo>
                <a:lnTo>
                  <a:pt x="5548619" y="3400438"/>
                </a:lnTo>
                <a:lnTo>
                  <a:pt x="0" y="3400438"/>
                </a:lnTo>
                <a:lnTo>
                  <a:pt x="0" y="0"/>
                </a:lnTo>
                <a:close/>
              </a:path>
            </a:pathLst>
          </a:custGeom>
          <a:blipFill>
            <a:blip r:embed="rId4"/>
            <a:stretch>
              <a:fillRect/>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descr="preencoded.png"/>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grpSp>
        <p:nvGrpSpPr>
          <p:cNvPr id="3" name="Group 3"/>
          <p:cNvGrpSpPr/>
          <p:nvPr/>
        </p:nvGrpSpPr>
        <p:grpSpPr>
          <a:xfrm>
            <a:off x="0" y="0"/>
            <a:ext cx="9753600" cy="7315200"/>
            <a:chOff x="0" y="0"/>
            <a:chExt cx="13004800" cy="9753600"/>
          </a:xfrm>
        </p:grpSpPr>
        <p:sp>
          <p:nvSpPr>
            <p:cNvPr id="4" name="Freeform 4"/>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close/>
                </a:path>
              </a:pathLst>
            </a:custGeom>
            <a:solidFill>
              <a:srgbClr val="112836"/>
            </a:solidFill>
          </p:spPr>
        </p:sp>
      </p:grpSp>
      <p:sp>
        <p:nvSpPr>
          <p:cNvPr id="5" name="Freeform 5" descr="preencoded.png">
            <a:hlinkClick r:id="rId4" tooltip="https://gamma.app/?utm_source=made-with-gamma"/>
          </p:cNvPr>
          <p:cNvSpPr/>
          <p:nvPr/>
        </p:nvSpPr>
        <p:spPr>
          <a:xfrm>
            <a:off x="8559477" y="6995160"/>
            <a:ext cx="1148403" cy="274320"/>
          </a:xfrm>
          <a:custGeom>
            <a:avLst/>
            <a:gdLst/>
            <a:ahLst/>
            <a:cxnLst/>
            <a:rect l="l" t="t" r="r" b="b"/>
            <a:pathLst>
              <a:path w="1148403" h="274320">
                <a:moveTo>
                  <a:pt x="0" y="0"/>
                </a:moveTo>
                <a:lnTo>
                  <a:pt x="1148403" y="0"/>
                </a:lnTo>
                <a:lnTo>
                  <a:pt x="1148403" y="274320"/>
                </a:lnTo>
                <a:lnTo>
                  <a:pt x="0" y="274320"/>
                </a:lnTo>
                <a:lnTo>
                  <a:pt x="0" y="0"/>
                </a:lnTo>
                <a:close/>
              </a:path>
            </a:pathLst>
          </a:custGeom>
          <a:blipFill>
            <a:blip r:embed="rId5"/>
            <a:stretch>
              <a:fillRect/>
            </a:stretch>
          </a:blipFill>
        </p:spPr>
      </p:sp>
      <p:sp>
        <p:nvSpPr>
          <p:cNvPr id="6" name="Freeform 6" descr="preencoded.png"/>
          <p:cNvSpPr/>
          <p:nvPr/>
        </p:nvSpPr>
        <p:spPr>
          <a:xfrm>
            <a:off x="6096000" y="0"/>
            <a:ext cx="3657600" cy="7315200"/>
          </a:xfrm>
          <a:custGeom>
            <a:avLst/>
            <a:gdLst/>
            <a:ahLst/>
            <a:cxnLst/>
            <a:rect l="l" t="t" r="r" b="b"/>
            <a:pathLst>
              <a:path w="3657600" h="7315200">
                <a:moveTo>
                  <a:pt x="0" y="0"/>
                </a:moveTo>
                <a:lnTo>
                  <a:pt x="3657600" y="0"/>
                </a:lnTo>
                <a:lnTo>
                  <a:pt x="3657600" y="7315200"/>
                </a:lnTo>
                <a:lnTo>
                  <a:pt x="0" y="7315200"/>
                </a:lnTo>
                <a:lnTo>
                  <a:pt x="0" y="0"/>
                </a:lnTo>
                <a:close/>
              </a:path>
            </a:pathLst>
          </a:custGeom>
          <a:blipFill>
            <a:blip r:embed="rId6"/>
            <a:stretch>
              <a:fillRect/>
            </a:stretch>
          </a:blipFill>
        </p:spPr>
      </p:sp>
      <p:grpSp>
        <p:nvGrpSpPr>
          <p:cNvPr id="7" name="Group 7"/>
          <p:cNvGrpSpPr/>
          <p:nvPr/>
        </p:nvGrpSpPr>
        <p:grpSpPr>
          <a:xfrm>
            <a:off x="558483" y="567849"/>
            <a:ext cx="4979035" cy="1408033"/>
            <a:chOff x="0" y="0"/>
            <a:chExt cx="6638714" cy="1877378"/>
          </a:xfrm>
        </p:grpSpPr>
        <p:sp>
          <p:nvSpPr>
            <p:cNvPr id="8" name="Freeform 8"/>
            <p:cNvSpPr/>
            <p:nvPr/>
          </p:nvSpPr>
          <p:spPr>
            <a:xfrm>
              <a:off x="0" y="0"/>
              <a:ext cx="6638714" cy="1877378"/>
            </a:xfrm>
            <a:custGeom>
              <a:avLst/>
              <a:gdLst/>
              <a:ahLst/>
              <a:cxnLst/>
              <a:rect l="l" t="t" r="r" b="b"/>
              <a:pathLst>
                <a:path w="6638714" h="1877378">
                  <a:moveTo>
                    <a:pt x="0" y="0"/>
                  </a:moveTo>
                  <a:lnTo>
                    <a:pt x="6638714" y="0"/>
                  </a:lnTo>
                  <a:lnTo>
                    <a:pt x="6638714" y="1877378"/>
                  </a:lnTo>
                  <a:lnTo>
                    <a:pt x="0" y="1877378"/>
                  </a:lnTo>
                  <a:close/>
                </a:path>
              </a:pathLst>
            </a:custGeom>
            <a:solidFill>
              <a:srgbClr val="000000">
                <a:alpha val="0"/>
              </a:srgbClr>
            </a:solidFill>
          </p:spPr>
        </p:sp>
        <p:sp>
          <p:nvSpPr>
            <p:cNvPr id="9" name="TextBox 9"/>
            <p:cNvSpPr txBox="1"/>
            <p:nvPr/>
          </p:nvSpPr>
          <p:spPr>
            <a:xfrm>
              <a:off x="0" y="-28575"/>
              <a:ext cx="6638714" cy="1905953"/>
            </a:xfrm>
            <a:prstGeom prst="rect">
              <a:avLst/>
            </a:prstGeom>
          </p:spPr>
          <p:txBody>
            <a:bodyPr lIns="0" tIns="0" rIns="0" bIns="0" rtlCol="0" anchor="t"/>
            <a:lstStyle/>
            <a:p>
              <a:pPr algn="l">
                <a:lnSpc>
                  <a:spcPts val="3666"/>
                </a:lnSpc>
              </a:pPr>
              <a:r>
                <a:rPr lang="en-US" sz="2933">
                  <a:solidFill>
                    <a:srgbClr val="FFFFFF"/>
                  </a:solidFill>
                  <a:latin typeface="Arimo"/>
                  <a:ea typeface="Arimo"/>
                  <a:cs typeface="Arimo"/>
                  <a:sym typeface="Arimo"/>
                </a:rPr>
                <a:t>Managing Deployment using Kubernetes Engine</a:t>
              </a:r>
            </a:p>
          </p:txBody>
        </p:sp>
      </p:grpSp>
      <p:sp>
        <p:nvSpPr>
          <p:cNvPr id="10" name="Freeform 10" descr="preencoded.png"/>
          <p:cNvSpPr/>
          <p:nvPr/>
        </p:nvSpPr>
        <p:spPr>
          <a:xfrm>
            <a:off x="558483" y="1769106"/>
            <a:ext cx="797877" cy="1595835"/>
          </a:xfrm>
          <a:custGeom>
            <a:avLst/>
            <a:gdLst/>
            <a:ahLst/>
            <a:cxnLst/>
            <a:rect l="l" t="t" r="r" b="b"/>
            <a:pathLst>
              <a:path w="797877" h="1595835">
                <a:moveTo>
                  <a:pt x="0" y="0"/>
                </a:moveTo>
                <a:lnTo>
                  <a:pt x="797877" y="0"/>
                </a:lnTo>
                <a:lnTo>
                  <a:pt x="797877" y="1595835"/>
                </a:lnTo>
                <a:lnTo>
                  <a:pt x="0" y="1595835"/>
                </a:lnTo>
                <a:lnTo>
                  <a:pt x="0" y="0"/>
                </a:lnTo>
                <a:close/>
              </a:path>
            </a:pathLst>
          </a:custGeom>
          <a:blipFill>
            <a:blip r:embed="rId7"/>
            <a:stretch>
              <a:fillRect l="-2" r="-2"/>
            </a:stretch>
          </a:blipFill>
        </p:spPr>
      </p:sp>
      <p:grpSp>
        <p:nvGrpSpPr>
          <p:cNvPr id="11" name="Group 11"/>
          <p:cNvGrpSpPr/>
          <p:nvPr/>
        </p:nvGrpSpPr>
        <p:grpSpPr>
          <a:xfrm>
            <a:off x="1755259" y="1769106"/>
            <a:ext cx="3941842" cy="1893229"/>
            <a:chOff x="0" y="0"/>
            <a:chExt cx="5255789" cy="2524305"/>
          </a:xfrm>
        </p:grpSpPr>
        <p:sp>
          <p:nvSpPr>
            <p:cNvPr id="12" name="Freeform 12"/>
            <p:cNvSpPr/>
            <p:nvPr/>
          </p:nvSpPr>
          <p:spPr>
            <a:xfrm>
              <a:off x="0" y="0"/>
              <a:ext cx="5255789" cy="2524305"/>
            </a:xfrm>
            <a:custGeom>
              <a:avLst/>
              <a:gdLst/>
              <a:ahLst/>
              <a:cxnLst/>
              <a:rect l="l" t="t" r="r" b="b"/>
              <a:pathLst>
                <a:path w="5255789" h="2524305">
                  <a:moveTo>
                    <a:pt x="0" y="0"/>
                  </a:moveTo>
                  <a:lnTo>
                    <a:pt x="5255789" y="0"/>
                  </a:lnTo>
                  <a:lnTo>
                    <a:pt x="5255789" y="2524305"/>
                  </a:lnTo>
                  <a:lnTo>
                    <a:pt x="0" y="2524305"/>
                  </a:lnTo>
                  <a:close/>
                </a:path>
              </a:pathLst>
            </a:custGeom>
            <a:solidFill>
              <a:srgbClr val="000000">
                <a:alpha val="0"/>
              </a:srgbClr>
            </a:solidFill>
          </p:spPr>
        </p:sp>
        <p:sp>
          <p:nvSpPr>
            <p:cNvPr id="13" name="TextBox 13"/>
            <p:cNvSpPr txBox="1"/>
            <p:nvPr/>
          </p:nvSpPr>
          <p:spPr>
            <a:xfrm>
              <a:off x="0" y="-66675"/>
              <a:ext cx="5255789" cy="2590980"/>
            </a:xfrm>
            <a:prstGeom prst="rect">
              <a:avLst/>
            </a:prstGeom>
          </p:spPr>
          <p:txBody>
            <a:bodyPr lIns="0" tIns="0" rIns="0" bIns="0" rtlCol="0" anchor="t"/>
            <a:lstStyle/>
            <a:p>
              <a:pPr algn="l">
                <a:lnSpc>
                  <a:spcPts val="2486"/>
                </a:lnSpc>
              </a:pPr>
              <a:r>
                <a:rPr lang="en-US" sz="1533" b="1">
                  <a:solidFill>
                    <a:srgbClr val="CAD6DE"/>
                  </a:solidFill>
                  <a:latin typeface="Cabin Bold"/>
                  <a:ea typeface="Cabin Bold"/>
                  <a:cs typeface="Cabin Bold"/>
                  <a:sym typeface="Cabin Bold"/>
                </a:rPr>
                <a:t>Google Kubernetes Engine (GKE) is a managed Kubernetes service on GCP, simplifying the deployment and management of Kubernetes clusters. It provides a scalable, reliable, and secure platform for running containerized applications.</a:t>
              </a:r>
            </a:p>
          </p:txBody>
        </p:sp>
      </p:grpSp>
      <p:sp>
        <p:nvSpPr>
          <p:cNvPr id="14" name="Freeform 14" descr="preencoded.png"/>
          <p:cNvSpPr/>
          <p:nvPr/>
        </p:nvSpPr>
        <p:spPr>
          <a:xfrm>
            <a:off x="558483" y="3780470"/>
            <a:ext cx="797877" cy="1340485"/>
          </a:xfrm>
          <a:custGeom>
            <a:avLst/>
            <a:gdLst/>
            <a:ahLst/>
            <a:cxnLst/>
            <a:rect l="l" t="t" r="r" b="b"/>
            <a:pathLst>
              <a:path w="797877" h="1340485">
                <a:moveTo>
                  <a:pt x="0" y="0"/>
                </a:moveTo>
                <a:lnTo>
                  <a:pt x="797877" y="0"/>
                </a:lnTo>
                <a:lnTo>
                  <a:pt x="797877" y="1340486"/>
                </a:lnTo>
                <a:lnTo>
                  <a:pt x="0" y="1340486"/>
                </a:lnTo>
                <a:lnTo>
                  <a:pt x="0" y="0"/>
                </a:lnTo>
                <a:close/>
              </a:path>
            </a:pathLst>
          </a:custGeom>
          <a:blipFill>
            <a:blip r:embed="rId8"/>
            <a:stretch>
              <a:fillRect t="-43" b="-43"/>
            </a:stretch>
          </a:blipFill>
        </p:spPr>
      </p:sp>
      <p:grpSp>
        <p:nvGrpSpPr>
          <p:cNvPr id="15" name="Group 15"/>
          <p:cNvGrpSpPr/>
          <p:nvPr/>
        </p:nvGrpSpPr>
        <p:grpSpPr>
          <a:xfrm>
            <a:off x="1595676" y="3736469"/>
            <a:ext cx="3941842" cy="1578904"/>
            <a:chOff x="0" y="0"/>
            <a:chExt cx="5255789" cy="2105205"/>
          </a:xfrm>
        </p:grpSpPr>
        <p:sp>
          <p:nvSpPr>
            <p:cNvPr id="16" name="Freeform 16"/>
            <p:cNvSpPr/>
            <p:nvPr/>
          </p:nvSpPr>
          <p:spPr>
            <a:xfrm>
              <a:off x="0" y="0"/>
              <a:ext cx="5255789" cy="2105205"/>
            </a:xfrm>
            <a:custGeom>
              <a:avLst/>
              <a:gdLst/>
              <a:ahLst/>
              <a:cxnLst/>
              <a:rect l="l" t="t" r="r" b="b"/>
              <a:pathLst>
                <a:path w="5255789" h="2105205">
                  <a:moveTo>
                    <a:pt x="0" y="0"/>
                  </a:moveTo>
                  <a:lnTo>
                    <a:pt x="5255789" y="0"/>
                  </a:lnTo>
                  <a:lnTo>
                    <a:pt x="5255789" y="2105205"/>
                  </a:lnTo>
                  <a:lnTo>
                    <a:pt x="0" y="2105205"/>
                  </a:lnTo>
                  <a:close/>
                </a:path>
              </a:pathLst>
            </a:custGeom>
            <a:solidFill>
              <a:srgbClr val="000000">
                <a:alpha val="0"/>
              </a:srgbClr>
            </a:solidFill>
          </p:spPr>
        </p:sp>
        <p:sp>
          <p:nvSpPr>
            <p:cNvPr id="17" name="TextBox 17"/>
            <p:cNvSpPr txBox="1"/>
            <p:nvPr/>
          </p:nvSpPr>
          <p:spPr>
            <a:xfrm>
              <a:off x="0" y="-66675"/>
              <a:ext cx="5255789" cy="2171880"/>
            </a:xfrm>
            <a:prstGeom prst="rect">
              <a:avLst/>
            </a:prstGeom>
          </p:spPr>
          <p:txBody>
            <a:bodyPr lIns="0" tIns="0" rIns="0" bIns="0" rtlCol="0" anchor="t"/>
            <a:lstStyle/>
            <a:p>
              <a:pPr algn="l">
                <a:lnSpc>
                  <a:spcPts val="2486"/>
                </a:lnSpc>
              </a:pPr>
              <a:r>
                <a:rPr lang="en-US" sz="1533" b="1">
                  <a:solidFill>
                    <a:srgbClr val="CAD6DE"/>
                  </a:solidFill>
                  <a:latin typeface="Cabin Bold"/>
                  <a:ea typeface="Cabin Bold"/>
                  <a:cs typeface="Cabin Bold"/>
                  <a:sym typeface="Cabin Bold"/>
                </a:rPr>
                <a:t>GKE enables you to create and manage Kubernetes clusters with ease. It takes care of infrastructure management, allowing you to focus on deploying and scaling your applications.</a:t>
              </a:r>
            </a:p>
          </p:txBody>
        </p:sp>
      </p:grpSp>
      <p:sp>
        <p:nvSpPr>
          <p:cNvPr id="18" name="Freeform 18" descr="preencoded.png"/>
          <p:cNvSpPr/>
          <p:nvPr/>
        </p:nvSpPr>
        <p:spPr>
          <a:xfrm>
            <a:off x="558483" y="5536485"/>
            <a:ext cx="797877" cy="1595835"/>
          </a:xfrm>
          <a:custGeom>
            <a:avLst/>
            <a:gdLst/>
            <a:ahLst/>
            <a:cxnLst/>
            <a:rect l="l" t="t" r="r" b="b"/>
            <a:pathLst>
              <a:path w="797877" h="1595835">
                <a:moveTo>
                  <a:pt x="0" y="0"/>
                </a:moveTo>
                <a:lnTo>
                  <a:pt x="797877" y="0"/>
                </a:lnTo>
                <a:lnTo>
                  <a:pt x="797877" y="1595835"/>
                </a:lnTo>
                <a:lnTo>
                  <a:pt x="0" y="1595835"/>
                </a:lnTo>
                <a:lnTo>
                  <a:pt x="0" y="0"/>
                </a:lnTo>
                <a:close/>
              </a:path>
            </a:pathLst>
          </a:custGeom>
          <a:blipFill>
            <a:blip r:embed="rId9"/>
            <a:stretch>
              <a:fillRect l="-2" r="-2"/>
            </a:stretch>
          </a:blipFill>
        </p:spPr>
      </p:sp>
      <p:grpSp>
        <p:nvGrpSpPr>
          <p:cNvPr id="19" name="Group 19"/>
          <p:cNvGrpSpPr/>
          <p:nvPr/>
        </p:nvGrpSpPr>
        <p:grpSpPr>
          <a:xfrm>
            <a:off x="1595676" y="5411016"/>
            <a:ext cx="3941842" cy="1721304"/>
            <a:chOff x="0" y="0"/>
            <a:chExt cx="5255789" cy="2295072"/>
          </a:xfrm>
        </p:grpSpPr>
        <p:sp>
          <p:nvSpPr>
            <p:cNvPr id="20" name="Freeform 20"/>
            <p:cNvSpPr/>
            <p:nvPr/>
          </p:nvSpPr>
          <p:spPr>
            <a:xfrm>
              <a:off x="0" y="0"/>
              <a:ext cx="5255789" cy="2295072"/>
            </a:xfrm>
            <a:custGeom>
              <a:avLst/>
              <a:gdLst/>
              <a:ahLst/>
              <a:cxnLst/>
              <a:rect l="l" t="t" r="r" b="b"/>
              <a:pathLst>
                <a:path w="5255789" h="2295072">
                  <a:moveTo>
                    <a:pt x="0" y="0"/>
                  </a:moveTo>
                  <a:lnTo>
                    <a:pt x="5255789" y="0"/>
                  </a:lnTo>
                  <a:lnTo>
                    <a:pt x="5255789" y="2295072"/>
                  </a:lnTo>
                  <a:lnTo>
                    <a:pt x="0" y="2295072"/>
                  </a:lnTo>
                  <a:close/>
                </a:path>
              </a:pathLst>
            </a:custGeom>
            <a:solidFill>
              <a:srgbClr val="000000">
                <a:alpha val="0"/>
              </a:srgbClr>
            </a:solidFill>
          </p:spPr>
        </p:sp>
        <p:sp>
          <p:nvSpPr>
            <p:cNvPr id="21" name="TextBox 21"/>
            <p:cNvSpPr txBox="1"/>
            <p:nvPr/>
          </p:nvSpPr>
          <p:spPr>
            <a:xfrm>
              <a:off x="0" y="-66675"/>
              <a:ext cx="5255789" cy="2361747"/>
            </a:xfrm>
            <a:prstGeom prst="rect">
              <a:avLst/>
            </a:prstGeom>
          </p:spPr>
          <p:txBody>
            <a:bodyPr lIns="0" tIns="0" rIns="0" bIns="0" rtlCol="0" anchor="t"/>
            <a:lstStyle/>
            <a:p>
              <a:pPr algn="l">
                <a:lnSpc>
                  <a:spcPts val="2324"/>
                </a:lnSpc>
              </a:pPr>
              <a:r>
                <a:rPr lang="en-US" sz="1433">
                  <a:solidFill>
                    <a:srgbClr val="CAD6DE"/>
                  </a:solidFill>
                  <a:latin typeface="Cabin"/>
                  <a:ea typeface="Cabin"/>
                  <a:cs typeface="Cabin"/>
                  <a:sym typeface="Cabin"/>
                </a:rPr>
                <a:t>You can deploy and manage your applications using tools like kubectl, a command-line interface for interacting with Kubernetes clusters. GKE provides seamless integration with other GCP services, making it a versatile and powerful platform for containerized deployments.</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descr="preencoded.png"/>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grpSp>
        <p:nvGrpSpPr>
          <p:cNvPr id="3" name="Group 3"/>
          <p:cNvGrpSpPr/>
          <p:nvPr/>
        </p:nvGrpSpPr>
        <p:grpSpPr>
          <a:xfrm>
            <a:off x="4762" y="47625"/>
            <a:ext cx="9753600" cy="7315200"/>
            <a:chOff x="0" y="0"/>
            <a:chExt cx="13004800" cy="9753600"/>
          </a:xfrm>
        </p:grpSpPr>
        <p:sp>
          <p:nvSpPr>
            <p:cNvPr id="4" name="Freeform 4"/>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close/>
                </a:path>
              </a:pathLst>
            </a:custGeom>
            <a:solidFill>
              <a:srgbClr val="112836"/>
            </a:solidFill>
          </p:spPr>
        </p:sp>
      </p:grpSp>
      <p:sp>
        <p:nvSpPr>
          <p:cNvPr id="5" name="Freeform 5" descr="preencoded.png"/>
          <p:cNvSpPr/>
          <p:nvPr/>
        </p:nvSpPr>
        <p:spPr>
          <a:xfrm>
            <a:off x="0" y="0"/>
            <a:ext cx="9753600" cy="47625"/>
          </a:xfrm>
          <a:custGeom>
            <a:avLst/>
            <a:gdLst/>
            <a:ahLst/>
            <a:cxnLst/>
            <a:rect l="l" t="t" r="r" b="b"/>
            <a:pathLst>
              <a:path w="9753600" h="47625">
                <a:moveTo>
                  <a:pt x="0" y="0"/>
                </a:moveTo>
                <a:lnTo>
                  <a:pt x="9753600" y="0"/>
                </a:lnTo>
                <a:lnTo>
                  <a:pt x="9753600" y="47625"/>
                </a:lnTo>
                <a:lnTo>
                  <a:pt x="0" y="47625"/>
                </a:lnTo>
                <a:lnTo>
                  <a:pt x="0" y="0"/>
                </a:lnTo>
                <a:close/>
              </a:path>
            </a:pathLst>
          </a:custGeom>
          <a:blipFill>
            <a:blip r:embed="rId4"/>
            <a:stretch>
              <a:fillRect t="-1749" b="-4090250"/>
            </a:stretch>
          </a:blipFill>
        </p:spPr>
      </p:sp>
      <p:grpSp>
        <p:nvGrpSpPr>
          <p:cNvPr id="6" name="Group 6"/>
          <p:cNvGrpSpPr/>
          <p:nvPr/>
        </p:nvGrpSpPr>
        <p:grpSpPr>
          <a:xfrm>
            <a:off x="385445" y="262176"/>
            <a:ext cx="8636635" cy="938689"/>
            <a:chOff x="0" y="0"/>
            <a:chExt cx="11515513" cy="1251585"/>
          </a:xfrm>
        </p:grpSpPr>
        <p:sp>
          <p:nvSpPr>
            <p:cNvPr id="7" name="Freeform 7"/>
            <p:cNvSpPr/>
            <p:nvPr/>
          </p:nvSpPr>
          <p:spPr>
            <a:xfrm>
              <a:off x="0" y="0"/>
              <a:ext cx="11515513" cy="1251585"/>
            </a:xfrm>
            <a:custGeom>
              <a:avLst/>
              <a:gdLst/>
              <a:ahLst/>
              <a:cxnLst/>
              <a:rect l="l" t="t" r="r" b="b"/>
              <a:pathLst>
                <a:path w="11515513" h="1251585">
                  <a:moveTo>
                    <a:pt x="0" y="0"/>
                  </a:moveTo>
                  <a:lnTo>
                    <a:pt x="11515513" y="0"/>
                  </a:lnTo>
                  <a:lnTo>
                    <a:pt x="11515513" y="1251585"/>
                  </a:lnTo>
                  <a:lnTo>
                    <a:pt x="0" y="1251585"/>
                  </a:lnTo>
                  <a:close/>
                </a:path>
              </a:pathLst>
            </a:custGeom>
            <a:solidFill>
              <a:srgbClr val="000000">
                <a:alpha val="0"/>
              </a:srgbClr>
            </a:solidFill>
          </p:spPr>
        </p:sp>
        <p:sp>
          <p:nvSpPr>
            <p:cNvPr id="8" name="TextBox 8"/>
            <p:cNvSpPr txBox="1"/>
            <p:nvPr/>
          </p:nvSpPr>
          <p:spPr>
            <a:xfrm>
              <a:off x="0" y="-28575"/>
              <a:ext cx="11515513" cy="1280160"/>
            </a:xfrm>
            <a:prstGeom prst="rect">
              <a:avLst/>
            </a:prstGeom>
          </p:spPr>
          <p:txBody>
            <a:bodyPr lIns="0" tIns="0" rIns="0" bIns="0" rtlCol="0" anchor="t"/>
            <a:lstStyle/>
            <a:p>
              <a:pPr algn="l">
                <a:lnSpc>
                  <a:spcPts val="3666"/>
                </a:lnSpc>
              </a:pPr>
              <a:r>
                <a:rPr lang="en-US" sz="2933">
                  <a:solidFill>
                    <a:srgbClr val="FFFFFF"/>
                  </a:solidFill>
                  <a:latin typeface="Arimo"/>
                  <a:ea typeface="Arimo"/>
                  <a:cs typeface="Arimo"/>
                  <a:sym typeface="Arimo"/>
                </a:rPr>
                <a:t>Career Opportunities in Cloud Engineering</a:t>
              </a:r>
            </a:p>
          </p:txBody>
        </p:sp>
      </p:grpSp>
      <p:grpSp>
        <p:nvGrpSpPr>
          <p:cNvPr id="9" name="Group 9"/>
          <p:cNvGrpSpPr/>
          <p:nvPr/>
        </p:nvGrpSpPr>
        <p:grpSpPr>
          <a:xfrm>
            <a:off x="260081" y="1419939"/>
            <a:ext cx="2719308" cy="526574"/>
            <a:chOff x="0" y="0"/>
            <a:chExt cx="3625744" cy="702099"/>
          </a:xfrm>
        </p:grpSpPr>
        <p:sp>
          <p:nvSpPr>
            <p:cNvPr id="10" name="Freeform 10"/>
            <p:cNvSpPr/>
            <p:nvPr/>
          </p:nvSpPr>
          <p:spPr>
            <a:xfrm>
              <a:off x="0" y="0"/>
              <a:ext cx="3625744" cy="702099"/>
            </a:xfrm>
            <a:custGeom>
              <a:avLst/>
              <a:gdLst/>
              <a:ahLst/>
              <a:cxnLst/>
              <a:rect l="l" t="t" r="r" b="b"/>
              <a:pathLst>
                <a:path w="3625744" h="702099">
                  <a:moveTo>
                    <a:pt x="0" y="0"/>
                  </a:moveTo>
                  <a:lnTo>
                    <a:pt x="3625744" y="0"/>
                  </a:lnTo>
                  <a:lnTo>
                    <a:pt x="3625744" y="702099"/>
                  </a:lnTo>
                  <a:lnTo>
                    <a:pt x="0" y="702099"/>
                  </a:lnTo>
                  <a:close/>
                </a:path>
              </a:pathLst>
            </a:custGeom>
            <a:solidFill>
              <a:srgbClr val="000000">
                <a:alpha val="0"/>
              </a:srgbClr>
            </a:solidFill>
          </p:spPr>
        </p:sp>
        <p:sp>
          <p:nvSpPr>
            <p:cNvPr id="11" name="TextBox 11"/>
            <p:cNvSpPr txBox="1"/>
            <p:nvPr/>
          </p:nvSpPr>
          <p:spPr>
            <a:xfrm>
              <a:off x="0" y="57150"/>
              <a:ext cx="3625744" cy="644949"/>
            </a:xfrm>
            <a:prstGeom prst="rect">
              <a:avLst/>
            </a:prstGeom>
          </p:spPr>
          <p:txBody>
            <a:bodyPr lIns="0" tIns="0" rIns="0" bIns="0" rtlCol="0" anchor="t"/>
            <a:lstStyle/>
            <a:p>
              <a:pPr algn="ctr">
                <a:lnSpc>
                  <a:spcPts val="4133"/>
                </a:lnSpc>
              </a:pPr>
              <a:r>
                <a:rPr lang="en-US" sz="4133">
                  <a:solidFill>
                    <a:srgbClr val="CAD6DE"/>
                  </a:solidFill>
                  <a:latin typeface="Arimo"/>
                  <a:ea typeface="Arimo"/>
                  <a:cs typeface="Arimo"/>
                  <a:sym typeface="Arimo"/>
                </a:rPr>
                <a:t>1</a:t>
              </a:r>
            </a:p>
          </p:txBody>
        </p:sp>
      </p:grpSp>
      <p:grpSp>
        <p:nvGrpSpPr>
          <p:cNvPr id="12" name="Group 12"/>
          <p:cNvGrpSpPr/>
          <p:nvPr/>
        </p:nvGrpSpPr>
        <p:grpSpPr>
          <a:xfrm>
            <a:off x="385445" y="2963770"/>
            <a:ext cx="2719308" cy="3953477"/>
            <a:chOff x="0" y="0"/>
            <a:chExt cx="3625744" cy="5271303"/>
          </a:xfrm>
        </p:grpSpPr>
        <p:sp>
          <p:nvSpPr>
            <p:cNvPr id="13" name="Freeform 13"/>
            <p:cNvSpPr/>
            <p:nvPr/>
          </p:nvSpPr>
          <p:spPr>
            <a:xfrm>
              <a:off x="0" y="0"/>
              <a:ext cx="3625744" cy="5271303"/>
            </a:xfrm>
            <a:custGeom>
              <a:avLst/>
              <a:gdLst/>
              <a:ahLst/>
              <a:cxnLst/>
              <a:rect l="l" t="t" r="r" b="b"/>
              <a:pathLst>
                <a:path w="3625744" h="5271303">
                  <a:moveTo>
                    <a:pt x="0" y="0"/>
                  </a:moveTo>
                  <a:lnTo>
                    <a:pt x="3625744" y="0"/>
                  </a:lnTo>
                  <a:lnTo>
                    <a:pt x="3625744" y="5271303"/>
                  </a:lnTo>
                  <a:lnTo>
                    <a:pt x="0" y="5271303"/>
                  </a:lnTo>
                  <a:close/>
                </a:path>
              </a:pathLst>
            </a:custGeom>
            <a:solidFill>
              <a:srgbClr val="000000">
                <a:alpha val="0"/>
              </a:srgbClr>
            </a:solidFill>
          </p:spPr>
        </p:sp>
        <p:sp>
          <p:nvSpPr>
            <p:cNvPr id="14" name="TextBox 14"/>
            <p:cNvSpPr txBox="1"/>
            <p:nvPr/>
          </p:nvSpPr>
          <p:spPr>
            <a:xfrm>
              <a:off x="0" y="-85725"/>
              <a:ext cx="3625744" cy="5357028"/>
            </a:xfrm>
            <a:prstGeom prst="rect">
              <a:avLst/>
            </a:prstGeom>
          </p:spPr>
          <p:txBody>
            <a:bodyPr lIns="0" tIns="0" rIns="0" bIns="0" rtlCol="0" anchor="t"/>
            <a:lstStyle/>
            <a:p>
              <a:pPr algn="ctr">
                <a:lnSpc>
                  <a:spcPts val="3459"/>
                </a:lnSpc>
              </a:pPr>
              <a:r>
                <a:rPr lang="en-US" sz="2133">
                  <a:solidFill>
                    <a:srgbClr val="CAD6DE"/>
                  </a:solidFill>
                  <a:latin typeface="Cabin"/>
                  <a:ea typeface="Cabin"/>
                  <a:cs typeface="Cabin"/>
                  <a:sym typeface="Cabin"/>
                </a:rPr>
                <a:t>Cloud Engineers are in high demand across various industries, as businesses increasingly adopt cloud technologies to improve efficiency, scalability, and innovation.</a:t>
              </a:r>
            </a:p>
          </p:txBody>
        </p:sp>
      </p:grpSp>
      <p:grpSp>
        <p:nvGrpSpPr>
          <p:cNvPr id="15" name="Group 15"/>
          <p:cNvGrpSpPr/>
          <p:nvPr/>
        </p:nvGrpSpPr>
        <p:grpSpPr>
          <a:xfrm>
            <a:off x="3104753" y="1419939"/>
            <a:ext cx="2719308" cy="843910"/>
            <a:chOff x="0" y="0"/>
            <a:chExt cx="3625744" cy="1125213"/>
          </a:xfrm>
        </p:grpSpPr>
        <p:sp>
          <p:nvSpPr>
            <p:cNvPr id="16" name="Freeform 16"/>
            <p:cNvSpPr/>
            <p:nvPr/>
          </p:nvSpPr>
          <p:spPr>
            <a:xfrm>
              <a:off x="0" y="0"/>
              <a:ext cx="3625744" cy="1125213"/>
            </a:xfrm>
            <a:custGeom>
              <a:avLst/>
              <a:gdLst/>
              <a:ahLst/>
              <a:cxnLst/>
              <a:rect l="l" t="t" r="r" b="b"/>
              <a:pathLst>
                <a:path w="3625744" h="1125213">
                  <a:moveTo>
                    <a:pt x="0" y="0"/>
                  </a:moveTo>
                  <a:lnTo>
                    <a:pt x="3625744" y="0"/>
                  </a:lnTo>
                  <a:lnTo>
                    <a:pt x="3625744" y="1125213"/>
                  </a:lnTo>
                  <a:lnTo>
                    <a:pt x="0" y="1125213"/>
                  </a:lnTo>
                  <a:close/>
                </a:path>
              </a:pathLst>
            </a:custGeom>
            <a:solidFill>
              <a:srgbClr val="000000">
                <a:alpha val="0"/>
              </a:srgbClr>
            </a:solidFill>
          </p:spPr>
        </p:sp>
        <p:sp>
          <p:nvSpPr>
            <p:cNvPr id="17" name="TextBox 17"/>
            <p:cNvSpPr txBox="1"/>
            <p:nvPr/>
          </p:nvSpPr>
          <p:spPr>
            <a:xfrm>
              <a:off x="0" y="57150"/>
              <a:ext cx="3625744" cy="1068063"/>
            </a:xfrm>
            <a:prstGeom prst="rect">
              <a:avLst/>
            </a:prstGeom>
          </p:spPr>
          <p:txBody>
            <a:bodyPr lIns="0" tIns="0" rIns="0" bIns="0" rtlCol="0" anchor="t"/>
            <a:lstStyle/>
            <a:p>
              <a:pPr algn="ctr">
                <a:lnSpc>
                  <a:spcPts val="4133"/>
                </a:lnSpc>
              </a:pPr>
              <a:r>
                <a:rPr lang="en-US" sz="4133">
                  <a:solidFill>
                    <a:srgbClr val="CAD6DE"/>
                  </a:solidFill>
                  <a:latin typeface="Arimo"/>
                  <a:ea typeface="Arimo"/>
                  <a:cs typeface="Arimo"/>
                  <a:sym typeface="Arimo"/>
                </a:rPr>
                <a:t>2</a:t>
              </a:r>
            </a:p>
          </p:txBody>
        </p:sp>
      </p:grpSp>
      <p:grpSp>
        <p:nvGrpSpPr>
          <p:cNvPr id="18" name="Group 18"/>
          <p:cNvGrpSpPr/>
          <p:nvPr/>
        </p:nvGrpSpPr>
        <p:grpSpPr>
          <a:xfrm>
            <a:off x="3512383" y="2415554"/>
            <a:ext cx="2466657" cy="497692"/>
            <a:chOff x="0" y="0"/>
            <a:chExt cx="2503276" cy="505080"/>
          </a:xfrm>
        </p:grpSpPr>
        <p:sp>
          <p:nvSpPr>
            <p:cNvPr id="19" name="Freeform 19"/>
            <p:cNvSpPr/>
            <p:nvPr/>
          </p:nvSpPr>
          <p:spPr>
            <a:xfrm>
              <a:off x="0" y="0"/>
              <a:ext cx="2503275" cy="505080"/>
            </a:xfrm>
            <a:custGeom>
              <a:avLst/>
              <a:gdLst/>
              <a:ahLst/>
              <a:cxnLst/>
              <a:rect l="l" t="t" r="r" b="b"/>
              <a:pathLst>
                <a:path w="2503275" h="505080">
                  <a:moveTo>
                    <a:pt x="0" y="0"/>
                  </a:moveTo>
                  <a:lnTo>
                    <a:pt x="2503275" y="0"/>
                  </a:lnTo>
                  <a:lnTo>
                    <a:pt x="2503275" y="505080"/>
                  </a:lnTo>
                  <a:lnTo>
                    <a:pt x="0" y="505080"/>
                  </a:lnTo>
                  <a:close/>
                </a:path>
              </a:pathLst>
            </a:custGeom>
            <a:solidFill>
              <a:srgbClr val="000000">
                <a:alpha val="0"/>
              </a:srgbClr>
            </a:solidFill>
          </p:spPr>
        </p:sp>
        <p:sp>
          <p:nvSpPr>
            <p:cNvPr id="20" name="TextBox 20"/>
            <p:cNvSpPr txBox="1"/>
            <p:nvPr/>
          </p:nvSpPr>
          <p:spPr>
            <a:xfrm>
              <a:off x="0" y="-28575"/>
              <a:ext cx="2503276" cy="533655"/>
            </a:xfrm>
            <a:prstGeom prst="rect">
              <a:avLst/>
            </a:prstGeom>
          </p:spPr>
          <p:txBody>
            <a:bodyPr lIns="0" tIns="0" rIns="0" bIns="0" rtlCol="0" anchor="t"/>
            <a:lstStyle/>
            <a:p>
              <a:pPr algn="ctr">
                <a:lnSpc>
                  <a:spcPts val="2708"/>
                </a:lnSpc>
              </a:pPr>
              <a:r>
                <a:rPr lang="en-US" sz="2166" b="1">
                  <a:solidFill>
                    <a:srgbClr val="CAD6DE"/>
                  </a:solidFill>
                  <a:latin typeface="Arimo Bold"/>
                  <a:ea typeface="Arimo Bold"/>
                  <a:cs typeface="Arimo Bold"/>
                  <a:sym typeface="Arimo Bold"/>
                </a:rPr>
                <a:t>Diverse Skills</a:t>
              </a:r>
            </a:p>
          </p:txBody>
        </p:sp>
      </p:grpSp>
      <p:grpSp>
        <p:nvGrpSpPr>
          <p:cNvPr id="21" name="Group 21"/>
          <p:cNvGrpSpPr/>
          <p:nvPr/>
        </p:nvGrpSpPr>
        <p:grpSpPr>
          <a:xfrm>
            <a:off x="3555024" y="3132320"/>
            <a:ext cx="2833309" cy="3671635"/>
            <a:chOff x="0" y="0"/>
            <a:chExt cx="3625744" cy="4698537"/>
          </a:xfrm>
        </p:grpSpPr>
        <p:sp>
          <p:nvSpPr>
            <p:cNvPr id="22" name="Freeform 22"/>
            <p:cNvSpPr/>
            <p:nvPr/>
          </p:nvSpPr>
          <p:spPr>
            <a:xfrm>
              <a:off x="0" y="0"/>
              <a:ext cx="3625744" cy="4698536"/>
            </a:xfrm>
            <a:custGeom>
              <a:avLst/>
              <a:gdLst/>
              <a:ahLst/>
              <a:cxnLst/>
              <a:rect l="l" t="t" r="r" b="b"/>
              <a:pathLst>
                <a:path w="3625744" h="4698536">
                  <a:moveTo>
                    <a:pt x="0" y="0"/>
                  </a:moveTo>
                  <a:lnTo>
                    <a:pt x="3625744" y="0"/>
                  </a:lnTo>
                  <a:lnTo>
                    <a:pt x="3625744" y="4698536"/>
                  </a:lnTo>
                  <a:lnTo>
                    <a:pt x="0" y="4698536"/>
                  </a:lnTo>
                  <a:close/>
                </a:path>
              </a:pathLst>
            </a:custGeom>
            <a:solidFill>
              <a:srgbClr val="000000">
                <a:alpha val="0"/>
              </a:srgbClr>
            </a:solidFill>
          </p:spPr>
        </p:sp>
        <p:sp>
          <p:nvSpPr>
            <p:cNvPr id="23" name="TextBox 23"/>
            <p:cNvSpPr txBox="1"/>
            <p:nvPr/>
          </p:nvSpPr>
          <p:spPr>
            <a:xfrm>
              <a:off x="0" y="-85725"/>
              <a:ext cx="3625744" cy="4784262"/>
            </a:xfrm>
            <a:prstGeom prst="rect">
              <a:avLst/>
            </a:prstGeom>
          </p:spPr>
          <p:txBody>
            <a:bodyPr lIns="0" tIns="0" rIns="0" bIns="0" rtlCol="0" anchor="t"/>
            <a:lstStyle/>
            <a:p>
              <a:pPr algn="ctr">
                <a:lnSpc>
                  <a:spcPts val="3135"/>
                </a:lnSpc>
              </a:pPr>
              <a:r>
                <a:rPr lang="en-US" sz="1933">
                  <a:solidFill>
                    <a:srgbClr val="CAD6DE"/>
                  </a:solidFill>
                  <a:latin typeface="Cabin"/>
                  <a:ea typeface="Cabin"/>
                  <a:cs typeface="Cabin"/>
                  <a:sym typeface="Cabin"/>
                </a:rPr>
                <a:t>Cloud engineers possess a wide range of skills, including infrastructure management, application development, automation, and security, making them valuable assets to any organization.</a:t>
              </a:r>
            </a:p>
          </p:txBody>
        </p:sp>
      </p:grpSp>
      <p:grpSp>
        <p:nvGrpSpPr>
          <p:cNvPr id="24" name="Group 24"/>
          <p:cNvGrpSpPr/>
          <p:nvPr/>
        </p:nvGrpSpPr>
        <p:grpSpPr>
          <a:xfrm>
            <a:off x="6302693" y="1573076"/>
            <a:ext cx="2719387" cy="843910"/>
            <a:chOff x="0" y="0"/>
            <a:chExt cx="3625850" cy="1125213"/>
          </a:xfrm>
        </p:grpSpPr>
        <p:sp>
          <p:nvSpPr>
            <p:cNvPr id="25" name="Freeform 25"/>
            <p:cNvSpPr/>
            <p:nvPr/>
          </p:nvSpPr>
          <p:spPr>
            <a:xfrm>
              <a:off x="0" y="0"/>
              <a:ext cx="3625850" cy="1125213"/>
            </a:xfrm>
            <a:custGeom>
              <a:avLst/>
              <a:gdLst/>
              <a:ahLst/>
              <a:cxnLst/>
              <a:rect l="l" t="t" r="r" b="b"/>
              <a:pathLst>
                <a:path w="3625850" h="1125213">
                  <a:moveTo>
                    <a:pt x="0" y="0"/>
                  </a:moveTo>
                  <a:lnTo>
                    <a:pt x="3625850" y="0"/>
                  </a:lnTo>
                  <a:lnTo>
                    <a:pt x="3625850" y="1125213"/>
                  </a:lnTo>
                  <a:lnTo>
                    <a:pt x="0" y="1125213"/>
                  </a:lnTo>
                  <a:close/>
                </a:path>
              </a:pathLst>
            </a:custGeom>
            <a:solidFill>
              <a:srgbClr val="000000">
                <a:alpha val="0"/>
              </a:srgbClr>
            </a:solidFill>
          </p:spPr>
        </p:sp>
        <p:sp>
          <p:nvSpPr>
            <p:cNvPr id="26" name="TextBox 26"/>
            <p:cNvSpPr txBox="1"/>
            <p:nvPr/>
          </p:nvSpPr>
          <p:spPr>
            <a:xfrm>
              <a:off x="0" y="57150"/>
              <a:ext cx="3625850" cy="1068063"/>
            </a:xfrm>
            <a:prstGeom prst="rect">
              <a:avLst/>
            </a:prstGeom>
          </p:spPr>
          <p:txBody>
            <a:bodyPr lIns="0" tIns="0" rIns="0" bIns="0" rtlCol="0" anchor="t"/>
            <a:lstStyle/>
            <a:p>
              <a:pPr algn="ctr">
                <a:lnSpc>
                  <a:spcPts val="4133"/>
                </a:lnSpc>
              </a:pPr>
              <a:r>
                <a:rPr lang="en-US" sz="4133">
                  <a:solidFill>
                    <a:srgbClr val="CAD6DE"/>
                  </a:solidFill>
                  <a:latin typeface="Arimo"/>
                  <a:ea typeface="Arimo"/>
                  <a:cs typeface="Arimo"/>
                  <a:sym typeface="Arimo"/>
                </a:rPr>
                <a:t>3</a:t>
              </a:r>
            </a:p>
          </p:txBody>
        </p:sp>
      </p:grpSp>
      <p:grpSp>
        <p:nvGrpSpPr>
          <p:cNvPr id="27" name="Group 27"/>
          <p:cNvGrpSpPr/>
          <p:nvPr/>
        </p:nvGrpSpPr>
        <p:grpSpPr>
          <a:xfrm>
            <a:off x="6878320" y="2415554"/>
            <a:ext cx="2280290" cy="548217"/>
            <a:chOff x="0" y="0"/>
            <a:chExt cx="2552276" cy="613606"/>
          </a:xfrm>
        </p:grpSpPr>
        <p:sp>
          <p:nvSpPr>
            <p:cNvPr id="28" name="Freeform 28"/>
            <p:cNvSpPr/>
            <p:nvPr/>
          </p:nvSpPr>
          <p:spPr>
            <a:xfrm>
              <a:off x="0" y="0"/>
              <a:ext cx="2552276" cy="613606"/>
            </a:xfrm>
            <a:custGeom>
              <a:avLst/>
              <a:gdLst/>
              <a:ahLst/>
              <a:cxnLst/>
              <a:rect l="l" t="t" r="r" b="b"/>
              <a:pathLst>
                <a:path w="2552276" h="613606">
                  <a:moveTo>
                    <a:pt x="0" y="0"/>
                  </a:moveTo>
                  <a:lnTo>
                    <a:pt x="2552276" y="0"/>
                  </a:lnTo>
                  <a:lnTo>
                    <a:pt x="2552276" y="613606"/>
                  </a:lnTo>
                  <a:lnTo>
                    <a:pt x="0" y="613606"/>
                  </a:lnTo>
                  <a:close/>
                </a:path>
              </a:pathLst>
            </a:custGeom>
            <a:solidFill>
              <a:srgbClr val="000000">
                <a:alpha val="0"/>
              </a:srgbClr>
            </a:solidFill>
          </p:spPr>
        </p:sp>
        <p:sp>
          <p:nvSpPr>
            <p:cNvPr id="29" name="TextBox 29"/>
            <p:cNvSpPr txBox="1"/>
            <p:nvPr/>
          </p:nvSpPr>
          <p:spPr>
            <a:xfrm>
              <a:off x="0" y="-28575"/>
              <a:ext cx="2552276" cy="642181"/>
            </a:xfrm>
            <a:prstGeom prst="rect">
              <a:avLst/>
            </a:prstGeom>
          </p:spPr>
          <p:txBody>
            <a:bodyPr lIns="0" tIns="0" rIns="0" bIns="0" rtlCol="0" anchor="t"/>
            <a:lstStyle/>
            <a:p>
              <a:pPr algn="ctr">
                <a:lnSpc>
                  <a:spcPts val="2458"/>
                </a:lnSpc>
              </a:pPr>
              <a:r>
                <a:rPr lang="en-US" sz="1966" b="1">
                  <a:solidFill>
                    <a:srgbClr val="CAD6DE"/>
                  </a:solidFill>
                  <a:latin typeface="Arimo Bold"/>
                  <a:ea typeface="Arimo Bold"/>
                  <a:cs typeface="Arimo Bold"/>
                  <a:sym typeface="Arimo Bold"/>
                </a:rPr>
                <a:t>Growth Potential</a:t>
              </a:r>
            </a:p>
          </p:txBody>
        </p:sp>
      </p:grpSp>
      <p:grpSp>
        <p:nvGrpSpPr>
          <p:cNvPr id="30" name="Group 30"/>
          <p:cNvGrpSpPr/>
          <p:nvPr/>
        </p:nvGrpSpPr>
        <p:grpSpPr>
          <a:xfrm>
            <a:off x="6647249" y="3182845"/>
            <a:ext cx="2742433" cy="3821076"/>
            <a:chOff x="0" y="0"/>
            <a:chExt cx="3564609" cy="4966627"/>
          </a:xfrm>
        </p:grpSpPr>
        <p:sp>
          <p:nvSpPr>
            <p:cNvPr id="31" name="Freeform 31"/>
            <p:cNvSpPr/>
            <p:nvPr/>
          </p:nvSpPr>
          <p:spPr>
            <a:xfrm>
              <a:off x="0" y="0"/>
              <a:ext cx="3564608" cy="4966627"/>
            </a:xfrm>
            <a:custGeom>
              <a:avLst/>
              <a:gdLst/>
              <a:ahLst/>
              <a:cxnLst/>
              <a:rect l="l" t="t" r="r" b="b"/>
              <a:pathLst>
                <a:path w="3564608" h="4966627">
                  <a:moveTo>
                    <a:pt x="0" y="0"/>
                  </a:moveTo>
                  <a:lnTo>
                    <a:pt x="3564608" y="0"/>
                  </a:lnTo>
                  <a:lnTo>
                    <a:pt x="3564608" y="4966627"/>
                  </a:lnTo>
                  <a:lnTo>
                    <a:pt x="0" y="4966627"/>
                  </a:lnTo>
                  <a:close/>
                </a:path>
              </a:pathLst>
            </a:custGeom>
            <a:solidFill>
              <a:srgbClr val="000000">
                <a:alpha val="0"/>
              </a:srgbClr>
            </a:solidFill>
          </p:spPr>
        </p:sp>
        <p:sp>
          <p:nvSpPr>
            <p:cNvPr id="32" name="TextBox 32"/>
            <p:cNvSpPr txBox="1"/>
            <p:nvPr/>
          </p:nvSpPr>
          <p:spPr>
            <a:xfrm>
              <a:off x="0" y="-95250"/>
              <a:ext cx="3564609" cy="5061877"/>
            </a:xfrm>
            <a:prstGeom prst="rect">
              <a:avLst/>
            </a:prstGeom>
          </p:spPr>
          <p:txBody>
            <a:bodyPr lIns="0" tIns="0" rIns="0" bIns="0" rtlCol="0" anchor="t"/>
            <a:lstStyle/>
            <a:p>
              <a:pPr algn="ctr">
                <a:lnSpc>
                  <a:spcPts val="3621"/>
                </a:lnSpc>
              </a:pPr>
              <a:r>
                <a:rPr lang="en-US" sz="2233" b="1">
                  <a:solidFill>
                    <a:srgbClr val="CAD6DE"/>
                  </a:solidFill>
                  <a:latin typeface="Cabin Bold"/>
                  <a:ea typeface="Cabin Bold"/>
                  <a:cs typeface="Cabin Bold"/>
                  <a:sym typeface="Cabin Bold"/>
                </a:rPr>
                <a:t>The cloud computing industry is constantly evolving, offering exciting opportunities for career growth and advancement for Cloud Engineers.</a:t>
              </a:r>
            </a:p>
          </p:txBody>
        </p:sp>
      </p:grpSp>
      <p:sp>
        <p:nvSpPr>
          <p:cNvPr id="33" name="TextBox 33"/>
          <p:cNvSpPr txBox="1"/>
          <p:nvPr/>
        </p:nvSpPr>
        <p:spPr>
          <a:xfrm>
            <a:off x="4872038" y="3452177"/>
            <a:ext cx="9525" cy="372745"/>
          </a:xfrm>
          <a:prstGeom prst="rect">
            <a:avLst/>
          </a:prstGeom>
        </p:spPr>
        <p:txBody>
          <a:bodyPr lIns="0" tIns="0" rIns="0" bIns="0" rtlCol="0" anchor="t">
            <a:spAutoFit/>
          </a:bodyPr>
          <a:lstStyle/>
          <a:p>
            <a:pPr algn="ctr">
              <a:lnSpc>
                <a:spcPts val="3079"/>
              </a:lnSpc>
            </a:pPr>
            <a:endParaRPr/>
          </a:p>
        </p:txBody>
      </p:sp>
      <p:sp>
        <p:nvSpPr>
          <p:cNvPr id="34" name="TextBox 34"/>
          <p:cNvSpPr txBox="1"/>
          <p:nvPr/>
        </p:nvSpPr>
        <p:spPr>
          <a:xfrm>
            <a:off x="788024" y="2386979"/>
            <a:ext cx="1682472" cy="357717"/>
          </a:xfrm>
          <a:prstGeom prst="rect">
            <a:avLst/>
          </a:prstGeom>
        </p:spPr>
        <p:txBody>
          <a:bodyPr lIns="0" tIns="0" rIns="0" bIns="0" rtlCol="0" anchor="t">
            <a:spAutoFit/>
          </a:bodyPr>
          <a:lstStyle/>
          <a:p>
            <a:pPr algn="ctr">
              <a:lnSpc>
                <a:spcPts val="2708"/>
              </a:lnSpc>
              <a:spcBef>
                <a:spcPct val="0"/>
              </a:spcBef>
            </a:pPr>
            <a:r>
              <a:rPr lang="en-US" sz="2166">
                <a:solidFill>
                  <a:srgbClr val="FFFFFF"/>
                </a:solidFill>
                <a:latin typeface="Arimo"/>
                <a:ea typeface="Arimo"/>
                <a:cs typeface="Arimo"/>
                <a:sym typeface="Arimo"/>
              </a:rPr>
              <a:t>High Demand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Custom</PresentationFormat>
  <Paragraphs>0</Paragraphs>
  <Slides>10</Slides>
  <Notes>10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Google-Cloud-Career-Launchpad-Cloud-Engineer-Track.pptx</dc:title>
  <cp:lastModifiedBy>Nithin R</cp:lastModifiedBy>
  <cp:revision>2</cp:revision>
  <dcterms:created xsi:type="dcterms:W3CDTF">2006-08-16T00:00:00Z</dcterms:created>
  <dcterms:modified xsi:type="dcterms:W3CDTF">2025-01-12T09:47:57Z</dcterms:modified>
  <dc:identifier>DAGb6WuUmhg</dc:identifier>
</cp:coreProperties>
</file>