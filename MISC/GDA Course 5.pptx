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D2EA-51FF-E9F6-D025-379C57306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DB1D1-AD19-A088-01B2-1BF3D5E32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6B5D8-DDA4-369E-EB78-6B048978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770DE-CF5D-1E3D-EFD7-B3F8BDB5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5E1AC-C204-7A7C-48E3-CE2C0E26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76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B692-516D-6970-BD60-FC04AFD8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C68A-242C-9762-FC14-8D572D531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2D950-810C-1A5A-1630-7E61B945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AE197-00CE-BEE2-CB18-76424347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A7D52-9E44-916A-E1DA-B7D9E4FF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4E62-6FE1-8902-0A86-CAA6E68F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87713-D32F-C768-1367-A0D5BA6FB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E4CE-2C01-B7D7-9996-241C099A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D370-8B0A-48E3-58AD-1F1A3D4B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81D7B-3EDB-068F-B173-94FFBA27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63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C782-C9DE-4A3D-CDC9-1331ACC3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48486-1C6C-8ADB-486C-8606E5FCA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41EC6-8F4B-D913-C701-4962E6F33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A1391-A607-5ADF-AFC2-E11BD828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BC538-74D5-BC26-9E4C-3AF10198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C2561-D4E5-AA30-7A7B-99877BDE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84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19B2-D1F3-126D-7F54-2433F674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FC0DD-AF46-B22C-58B9-C9879066C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FB53B-10BD-F279-82D1-87C69EDCC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E4B5E-1294-6BD0-4DCE-6AA50F90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B81B7-4BD4-E1DB-FE21-8D32B2DFF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9FA9A-FED1-F83E-2094-84594280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DD84F-C199-53A7-8278-5E6E24E3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96E52-399A-15A6-7EEF-E7ABF46B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36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68BC-4D66-9CB8-154B-39F66223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1282C-E639-CAA8-D8E1-08095D26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F7958-2349-FEE7-91DF-39C060BD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8D278-7D66-891F-42A5-4F658F51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91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4E811-DEEF-4BBA-4BAA-A616ED21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42A67-E9CD-196E-05AD-C30E38D1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78492-C2CE-0958-BC25-951DEC25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2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0CC1-14E1-3261-E632-1E0482477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AC32-AAF0-9EAE-3D3D-12D412CEB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5D7EE-BEDE-75CA-328A-CECA93C65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86F72-54F3-82F8-1CDE-A8CE129B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43524-58EC-8B86-0BDD-DB9E7C48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BD3B1-A38C-3C6A-DD51-F2C5643E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60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2F22-0438-7811-B68F-0EDCDAF8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39F9E-8ACF-6269-F1F7-04CC60155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28D62-8CE3-4263-0204-52CA3677F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B6399-995F-52B1-D419-5D999AEC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7BD6C-1678-913E-C3E5-3CD60E56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88C3-C938-47EE-6ABB-EFBDE665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21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5073-739B-FBB9-B939-2ED5238A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C7F40-8287-B0AF-5EEF-C447371ED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42307-B62B-C395-7618-A48E38FE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57E7E-3CFD-C83B-C1A4-6B90E27A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C7948-D62E-02D9-2F39-CD8B277E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21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9008C-0628-E3FD-5B70-880DF0D1D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425FA-1177-747B-4366-A99967A78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84CC4-A352-ACF3-C677-8238BDAA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845D8-E901-B5B0-A3E2-92019938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20B61-71AF-F7BB-277A-B93EAAE7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73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2BDC0-6E04-DA37-B81A-7E2DB9C5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A2899-382D-4660-6038-9E06E6A4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682B-3FD0-F3F2-D4F0-56D454E8E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18AD-32F6-4546-9188-32EFC3C3604C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8C74-5FD5-B89E-D903-65381F0C0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4F9E5-6237-4243-3BEC-5A27C5AF7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A4D59-52FC-46AD-8DDC-5392E3981B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67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B78902F-2483-BDDA-90F1-D41E67BF81EF}"/>
              </a:ext>
            </a:extLst>
          </p:cNvPr>
          <p:cNvSpPr txBox="1"/>
          <p:nvPr/>
        </p:nvSpPr>
        <p:spPr>
          <a:xfrm>
            <a:off x="933744" y="284221"/>
            <a:ext cx="10324512" cy="2248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8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PREPARE FOR A CLOUD DATA ANALYST JOB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7FEB9-9BB9-C93D-64A5-171B01265FB5}"/>
              </a:ext>
            </a:extLst>
          </p:cNvPr>
          <p:cNvSpPr txBox="1"/>
          <p:nvPr/>
        </p:nvSpPr>
        <p:spPr>
          <a:xfrm>
            <a:off x="9981235" y="5237983"/>
            <a:ext cx="1921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ptos Display" panose="020B0004020202020204" pitchFamily="34" charset="0"/>
              </a:rPr>
              <a:t>By,</a:t>
            </a:r>
          </a:p>
          <a:p>
            <a:r>
              <a:rPr lang="en-IN" sz="2400" dirty="0">
                <a:latin typeface="Aptos Display" panose="020B0004020202020204" pitchFamily="34" charset="0"/>
              </a:rPr>
              <a:t>Inchara S</a:t>
            </a:r>
          </a:p>
          <a:p>
            <a:r>
              <a:rPr lang="en-IN" sz="2400" dirty="0">
                <a:latin typeface="Aptos Display" panose="020B0004020202020204" pitchFamily="34" charset="0"/>
              </a:rPr>
              <a:t>4VV22IS041</a:t>
            </a:r>
          </a:p>
        </p:txBody>
      </p:sp>
      <p:pic>
        <p:nvPicPr>
          <p:cNvPr id="1030" name="Picture 6" descr="Google Cloud Development Services | Hire Expert Developers">
            <a:extLst>
              <a:ext uri="{FF2B5EF4-FFF2-40B4-BE49-F238E27FC236}">
                <a16:creationId xmlns:a16="http://schemas.microsoft.com/office/drawing/2014/main" id="{78D9972E-675D-5CEB-F992-7024E5961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093" y="1546885"/>
            <a:ext cx="7483813" cy="467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240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A4EC-A572-DD54-F63D-A77B1546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3CF98B5-29B5-02A4-39B5-3C1E9A5C061D}"/>
              </a:ext>
            </a:extLst>
          </p:cNvPr>
          <p:cNvSpPr txBox="1"/>
          <p:nvPr/>
        </p:nvSpPr>
        <p:spPr>
          <a:xfrm>
            <a:off x="313266" y="159805"/>
            <a:ext cx="5189819" cy="1043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8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 Capstone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7AEFFA-1D79-3F7D-8759-2C70DABC5B0B}"/>
              </a:ext>
            </a:extLst>
          </p:cNvPr>
          <p:cNvSpPr txBox="1"/>
          <p:nvPr/>
        </p:nvSpPr>
        <p:spPr>
          <a:xfrm>
            <a:off x="490311" y="1450992"/>
            <a:ext cx="11211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A capstone project is a multifaceted assignment, typically at the end of an academic program, where students integrate and apply knowledge and skills gained throughout their studies to a real-world problem or comprehensive research project. It serves as a culminating academic experience and demonstrates a student's readiness for future endeavors. </a:t>
            </a:r>
            <a:endParaRPr lang="en-IN" sz="2800" dirty="0"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9CF11-F14B-8F33-2375-7F581E6DA62D}"/>
              </a:ext>
            </a:extLst>
          </p:cNvPr>
          <p:cNvSpPr txBox="1"/>
          <p:nvPr/>
        </p:nvSpPr>
        <p:spPr>
          <a:xfrm>
            <a:off x="490311" y="3028890"/>
            <a:ext cx="6383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>
                <a:solidFill>
                  <a:srgbClr val="0070C0"/>
                </a:solidFill>
                <a:latin typeface="Aptos Display" panose="020B0004020202020204" pitchFamily="34" charset="0"/>
              </a:rPr>
              <a:t>Key aspects of a capstone project: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32580F-9B19-1C3D-C0A3-2DC3F88D2024}"/>
              </a:ext>
            </a:extLst>
          </p:cNvPr>
          <p:cNvSpPr txBox="1"/>
          <p:nvPr/>
        </p:nvSpPr>
        <p:spPr>
          <a:xfrm>
            <a:off x="490311" y="3615726"/>
            <a:ext cx="1121137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b="1" dirty="0">
                <a:latin typeface="Aptos Display" panose="020B0004020202020204" pitchFamily="34" charset="0"/>
              </a:rPr>
              <a:t>Culminating Experience: </a:t>
            </a:r>
            <a:r>
              <a:rPr lang="en-US" dirty="0">
                <a:latin typeface="Aptos Display" panose="020B0004020202020204" pitchFamily="34" charset="0"/>
              </a:rPr>
              <a:t>It's the final major assignment in a course or degree program, representing the culmination of learning. </a:t>
            </a:r>
          </a:p>
          <a:p>
            <a:pPr>
              <a:spcBef>
                <a:spcPts val="1200"/>
              </a:spcBef>
              <a:buNone/>
            </a:pPr>
            <a:r>
              <a:rPr lang="en-US" b="1" dirty="0">
                <a:latin typeface="Aptos Display" panose="020B0004020202020204" pitchFamily="34" charset="0"/>
              </a:rPr>
              <a:t>Real-World Application: </a:t>
            </a:r>
            <a:r>
              <a:rPr lang="en-US" dirty="0">
                <a:latin typeface="Aptos Display" panose="020B0004020202020204" pitchFamily="34" charset="0"/>
              </a:rPr>
              <a:t>Capstone projects often involve tackling practical problems or conducting research relevant to the student's field of study. </a:t>
            </a:r>
          </a:p>
          <a:p>
            <a:pPr>
              <a:spcBef>
                <a:spcPts val="1200"/>
              </a:spcBef>
              <a:buNone/>
            </a:pPr>
            <a:r>
              <a:rPr lang="en-US" b="1" dirty="0">
                <a:latin typeface="Aptos Display" panose="020B0004020202020204" pitchFamily="34" charset="0"/>
              </a:rPr>
              <a:t>Integration of Knowledge: </a:t>
            </a:r>
            <a:r>
              <a:rPr lang="en-US" dirty="0">
                <a:latin typeface="Aptos Display" panose="020B0004020202020204" pitchFamily="34" charset="0"/>
              </a:rPr>
              <a:t>Students synthesize and apply knowledge and skills acquired in previous courses. </a:t>
            </a:r>
          </a:p>
          <a:p>
            <a:pPr>
              <a:spcBef>
                <a:spcPts val="1200"/>
              </a:spcBef>
              <a:buNone/>
            </a:pPr>
            <a:r>
              <a:rPr lang="en-US" b="1" dirty="0">
                <a:latin typeface="Aptos Display" panose="020B0004020202020204" pitchFamily="34" charset="0"/>
              </a:rPr>
              <a:t>Development of Skills: </a:t>
            </a:r>
            <a:r>
              <a:rPr lang="en-US" dirty="0">
                <a:latin typeface="Aptos Display" panose="020B0004020202020204" pitchFamily="34" charset="0"/>
              </a:rPr>
              <a:t>Capstone projects enhance critical thinking, problem-solving, research, communication, and teamwork skills. </a:t>
            </a:r>
          </a:p>
        </p:txBody>
      </p:sp>
      <p:pic>
        <p:nvPicPr>
          <p:cNvPr id="6146" name="Picture 2" descr="GCP Google Cloud Platform | Design &amp; Optimisation by Pendulum IT">
            <a:extLst>
              <a:ext uri="{FF2B5EF4-FFF2-40B4-BE49-F238E27FC236}">
                <a16:creationId xmlns:a16="http://schemas.microsoft.com/office/drawing/2014/main" id="{FBE5FCE7-1111-FDCE-CBAB-306B1A0F66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4"/>
          <a:stretch>
            <a:fillRect/>
          </a:stretch>
        </p:blipFill>
        <p:spPr bwMode="auto">
          <a:xfrm>
            <a:off x="10918206" y="0"/>
            <a:ext cx="1273794" cy="120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63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0DB5F769-1973-ED1F-7DB0-6BB166B9107E}"/>
              </a:ext>
            </a:extLst>
          </p:cNvPr>
          <p:cNvSpPr txBox="1"/>
          <p:nvPr/>
        </p:nvSpPr>
        <p:spPr>
          <a:xfrm>
            <a:off x="397935" y="0"/>
            <a:ext cx="8508998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Purpose Of A Capstone Project: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EBEC70-9E70-AAA7-F6C8-97C98420F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996" y="6016139"/>
            <a:ext cx="3077004" cy="838317"/>
          </a:xfrm>
          <a:prstGeom prst="rect">
            <a:avLst/>
          </a:prstGeom>
        </p:spPr>
      </p:pic>
      <p:sp>
        <p:nvSpPr>
          <p:cNvPr id="23" name="Rectangle 1">
            <a:extLst>
              <a:ext uri="{FF2B5EF4-FFF2-40B4-BE49-F238E27FC236}">
                <a16:creationId xmlns:a16="http://schemas.microsoft.com/office/drawing/2014/main" id="{C45770C9-F15C-FBB2-EAD5-563DD21DC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57132" rIns="0" bIns="11426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  <a:t>Purpose of a capstone project: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EF0FF"/>
                </a:solidFill>
                <a:effectLst/>
                <a:latin typeface="Google Sans"/>
              </a:rPr>
            </a:b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EEF0F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88B9EA-9A3C-D0E4-195A-1E16C0068A5F}"/>
              </a:ext>
            </a:extLst>
          </p:cNvPr>
          <p:cNvSpPr txBox="1"/>
          <p:nvPr/>
        </p:nvSpPr>
        <p:spPr>
          <a:xfrm>
            <a:off x="490313" y="1374792"/>
            <a:ext cx="11211373" cy="4433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ptos Display" panose="020B0004020202020204" pitchFamily="34" charset="0"/>
              </a:rPr>
              <a:t>Demonstrate Competency: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 Display" panose="020B0004020202020204" pitchFamily="34" charset="0"/>
              </a:rPr>
              <a:t>It provides evidence of a student's ability to apply knowledge and skills to solve complex problems.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b="1" dirty="0">
                <a:latin typeface="Aptos Display" panose="020B0004020202020204" pitchFamily="34" charset="0"/>
              </a:rPr>
              <a:t>Prepare for Future Careers: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 Display" panose="020B0004020202020204" pitchFamily="34" charset="0"/>
              </a:rPr>
              <a:t>Capstone projects bridge the gap between academic learning and professional practice, enhancing job readiness.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b="1" dirty="0">
                <a:latin typeface="Aptos Display" panose="020B0004020202020204" pitchFamily="34" charset="0"/>
              </a:rPr>
              <a:t>Showcase Achievement: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 Display" panose="020B0004020202020204" pitchFamily="34" charset="0"/>
              </a:rPr>
              <a:t>It's a significant accomplishment that demonstrates a student's academic journey and final achievement.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b="1" dirty="0">
                <a:latin typeface="Aptos Display" panose="020B0004020202020204" pitchFamily="34" charset="0"/>
              </a:rPr>
              <a:t>Contribute to the Field: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 Display" panose="020B0004020202020204" pitchFamily="34" charset="0"/>
              </a:rPr>
              <a:t>Some capstone projects may lead to valuable contributions to research, practice, or the community. </a:t>
            </a:r>
            <a:endParaRPr lang="en-IN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87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1BAB602-5EFA-15FF-E595-CE27030260B7}"/>
              </a:ext>
            </a:extLst>
          </p:cNvPr>
          <p:cNvGrpSpPr/>
          <p:nvPr/>
        </p:nvGrpSpPr>
        <p:grpSpPr>
          <a:xfrm>
            <a:off x="233680" y="73160"/>
            <a:ext cx="11611187" cy="1038511"/>
            <a:chOff x="233680" y="73160"/>
            <a:chExt cx="11611187" cy="103851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B403CD-AC41-B88B-728C-A29F128664CF}"/>
                </a:ext>
              </a:extLst>
            </p:cNvPr>
            <p:cNvSpPr txBox="1"/>
            <p:nvPr/>
          </p:nvSpPr>
          <p:spPr>
            <a:xfrm>
              <a:off x="233680" y="73160"/>
              <a:ext cx="7396480" cy="10318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400"/>
                </a:lnSpc>
              </a:pPr>
              <a:r>
                <a:rPr lang="en-US" sz="4200" b="1" spc="10" dirty="0">
                  <a:solidFill>
                    <a:srgbClr val="000000"/>
                  </a:solidFill>
                  <a:latin typeface="Gadugi" panose="020B0502040204020203" pitchFamily="34" charset="0"/>
                  <a:ea typeface="Gadugi" panose="020B0502040204020203" pitchFamily="34" charset="0"/>
                  <a:cs typeface="Raleway Bold"/>
                  <a:sym typeface="Raleway Bold"/>
                </a:rPr>
                <a:t>Collect, Process, and Store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351BC8-3660-327C-BF79-EDAF665C8BCC}"/>
                </a:ext>
              </a:extLst>
            </p:cNvPr>
            <p:cNvSpPr txBox="1"/>
            <p:nvPr/>
          </p:nvSpPr>
          <p:spPr>
            <a:xfrm>
              <a:off x="7100149" y="79785"/>
              <a:ext cx="4744718" cy="10318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400"/>
                </a:lnSpc>
              </a:pPr>
              <a:r>
                <a:rPr lang="en-US" sz="4200" b="1" spc="10" dirty="0">
                  <a:solidFill>
                    <a:srgbClr val="000000"/>
                  </a:solidFill>
                  <a:latin typeface="Gadugi" panose="020B0502040204020203" pitchFamily="34" charset="0"/>
                  <a:ea typeface="Gadugi" panose="020B0502040204020203" pitchFamily="34" charset="0"/>
                  <a:cs typeface="Raleway Bold"/>
                  <a:sym typeface="Raleway Bold"/>
                </a:rPr>
                <a:t>Data In </a:t>
              </a:r>
              <a:r>
                <a:rPr lang="en-US" sz="4200" b="1" spc="10" dirty="0" err="1">
                  <a:solidFill>
                    <a:srgbClr val="000000"/>
                  </a:solidFill>
                  <a:latin typeface="Gadugi" panose="020B0502040204020203" pitchFamily="34" charset="0"/>
                  <a:ea typeface="Gadugi" panose="020B0502040204020203" pitchFamily="34" charset="0"/>
                  <a:cs typeface="Raleway Bold"/>
                  <a:sym typeface="Raleway Bold"/>
                </a:rPr>
                <a:t>BigQuery</a:t>
              </a:r>
              <a:endParaRPr lang="en-US" sz="42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endParaRPr>
            </a:p>
          </p:txBody>
        </p:sp>
      </p:grpSp>
      <p:pic>
        <p:nvPicPr>
          <p:cNvPr id="8194" name="Picture 2" descr="Near Real-Time Data Processing for BigQuery: Part One | Official Pythian®®  Blog">
            <a:extLst>
              <a:ext uri="{FF2B5EF4-FFF2-40B4-BE49-F238E27FC236}">
                <a16:creationId xmlns:a16="http://schemas.microsoft.com/office/drawing/2014/main" id="{1176527B-B6EF-C2FC-20E7-095A7605A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2" y="1610360"/>
            <a:ext cx="104679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9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ED04B234-3702-63B7-1E8D-E5C16DB0E5E5}"/>
              </a:ext>
            </a:extLst>
          </p:cNvPr>
          <p:cNvSpPr txBox="1"/>
          <p:nvPr/>
        </p:nvSpPr>
        <p:spPr>
          <a:xfrm>
            <a:off x="823608" y="0"/>
            <a:ext cx="10544783" cy="103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44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Looker Enterprise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74C21-7B25-A611-FDE7-46EC714A0D4A}"/>
              </a:ext>
            </a:extLst>
          </p:cNvPr>
          <p:cNvSpPr txBox="1"/>
          <p:nvPr/>
        </p:nvSpPr>
        <p:spPr>
          <a:xfrm>
            <a:off x="751214" y="1248309"/>
            <a:ext cx="11367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Looker Enterprise offers its own visualization options within it via its Looks, Explores and Dashboards.</a:t>
            </a:r>
            <a:endParaRPr lang="en-IN" sz="2800" dirty="0">
              <a:latin typeface="Aptos Display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6CB937-C1E9-59D2-2E1B-0E287B89F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296" y="1783562"/>
            <a:ext cx="4905146" cy="4891558"/>
          </a:xfrm>
          <a:prstGeom prst="rect">
            <a:avLst/>
          </a:prstGeom>
        </p:spPr>
      </p:pic>
      <p:pic>
        <p:nvPicPr>
          <p:cNvPr id="3078" name="Picture 6" descr="Starburst | Looker">
            <a:extLst>
              <a:ext uri="{FF2B5EF4-FFF2-40B4-BE49-F238E27FC236}">
                <a16:creationId xmlns:a16="http://schemas.microsoft.com/office/drawing/2014/main" id="{B7BEB84A-0014-1D0F-7057-0585012C1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68" y="5609691"/>
            <a:ext cx="2967605" cy="78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31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Google Cloud Platform billing – OWOX Help Center">
            <a:extLst>
              <a:ext uri="{FF2B5EF4-FFF2-40B4-BE49-F238E27FC236}">
                <a16:creationId xmlns:a16="http://schemas.microsoft.com/office/drawing/2014/main" id="{4AAD6988-02A9-0BA9-6D04-75B3DBC41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370" y="1041848"/>
            <a:ext cx="9639685" cy="401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692C0281-E7E6-11D2-FA00-2B4039706A0A}"/>
              </a:ext>
            </a:extLst>
          </p:cNvPr>
          <p:cNvSpPr txBox="1"/>
          <p:nvPr/>
        </p:nvSpPr>
        <p:spPr>
          <a:xfrm>
            <a:off x="1177945" y="4384547"/>
            <a:ext cx="10544783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00"/>
              </a:lnSpc>
            </a:pPr>
            <a:r>
              <a:rPr lang="en-US" sz="72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Thank You </a:t>
            </a:r>
            <a:r>
              <a:rPr lang="en-US" sz="8000" b="1" spc="10" dirty="0">
                <a:solidFill>
                  <a:srgbClr val="000000"/>
                </a:solidFill>
                <a:latin typeface="Gadugi" panose="020B0502040204020203" pitchFamily="34" charset="0"/>
                <a:ea typeface="Gadugi" panose="020B0502040204020203" pitchFamily="34" charset="0"/>
                <a:cs typeface="Raleway Bold"/>
                <a:sym typeface="Raleway Bold"/>
              </a:rPr>
              <a:t>:)</a:t>
            </a:r>
            <a:endParaRPr lang="en-US" sz="7200" b="1" spc="10" dirty="0">
              <a:solidFill>
                <a:srgbClr val="000000"/>
              </a:solidFill>
              <a:latin typeface="Gadugi" panose="020B0502040204020203" pitchFamily="34" charset="0"/>
              <a:ea typeface="Gadugi" panose="020B0502040204020203" pitchFamily="34" charset="0"/>
              <a:cs typeface="Raleway Bold"/>
              <a:sym typeface="Raleway Bold"/>
            </a:endParaRPr>
          </a:p>
        </p:txBody>
      </p:sp>
    </p:spTree>
    <p:extLst>
      <p:ext uri="{BB962C8B-B14F-4D97-AF65-F5344CB8AC3E}">
        <p14:creationId xmlns:p14="http://schemas.microsoft.com/office/powerpoint/2010/main" val="225899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278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 Display</vt:lpstr>
      <vt:lpstr>Arial</vt:lpstr>
      <vt:lpstr>Calibri</vt:lpstr>
      <vt:lpstr>Calibri Light</vt:lpstr>
      <vt:lpstr>Gadugi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Yashwanth S</dc:creator>
  <cp:lastModifiedBy>Yashwanth S</cp:lastModifiedBy>
  <cp:revision>5</cp:revision>
  <dcterms:created xsi:type="dcterms:W3CDTF">2025-06-24T17:05:00Z</dcterms:created>
  <dcterms:modified xsi:type="dcterms:W3CDTF">2025-06-24T20:42:25Z</dcterms:modified>
</cp:coreProperties>
</file>