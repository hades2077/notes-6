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nva Sans Bold" panose="020B0604020202020204" charset="0"/>
      <p:regular r:id="rId13"/>
    </p:embeddedFont>
    <p:embeddedFont>
      <p:font typeface="Glacial Indifference" panose="020B0604020202020204" charset="0"/>
      <p:regular r:id="rId14"/>
    </p:embeddedFont>
    <p:embeddedFont>
      <p:font typeface="Glacial Indifference Bold" panose="020B0604020202020204" charset="0"/>
      <p:regular r:id="rId15"/>
    </p:embeddedFont>
    <p:embeddedFont>
      <p:font typeface="League Spartan" panose="020B0604020202020204" charset="0"/>
      <p:regular r:id="rId16"/>
    </p:embeddedFont>
    <p:embeddedFont>
      <p:font typeface="Raleway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2.sv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313745" flipV="1">
            <a:off x="11102365" y="1416630"/>
            <a:ext cx="11423443" cy="6334818"/>
          </a:xfrm>
          <a:custGeom>
            <a:avLst/>
            <a:gdLst/>
            <a:ahLst/>
            <a:cxnLst/>
            <a:rect l="l" t="t" r="r" b="b"/>
            <a:pathLst>
              <a:path w="11423443" h="6334818">
                <a:moveTo>
                  <a:pt x="0" y="6334818"/>
                </a:moveTo>
                <a:lnTo>
                  <a:pt x="11423443" y="6334818"/>
                </a:lnTo>
                <a:lnTo>
                  <a:pt x="11423443" y="0"/>
                </a:lnTo>
                <a:lnTo>
                  <a:pt x="0" y="0"/>
                </a:lnTo>
                <a:lnTo>
                  <a:pt x="0" y="633481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a:off x="-4052353" y="2382570"/>
            <a:ext cx="11423443" cy="6334818"/>
          </a:xfrm>
          <a:custGeom>
            <a:avLst/>
            <a:gdLst/>
            <a:ahLst/>
            <a:cxnLst/>
            <a:rect l="l" t="t" r="r" b="b"/>
            <a:pathLst>
              <a:path w="11423443" h="6334818">
                <a:moveTo>
                  <a:pt x="11423443" y="0"/>
                </a:moveTo>
                <a:lnTo>
                  <a:pt x="0" y="0"/>
                </a:lnTo>
                <a:lnTo>
                  <a:pt x="0" y="6334819"/>
                </a:lnTo>
                <a:lnTo>
                  <a:pt x="11423443" y="6334819"/>
                </a:lnTo>
                <a:lnTo>
                  <a:pt x="1142344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829684" y="4762941"/>
            <a:ext cx="16628632" cy="1821727"/>
          </a:xfrm>
          <a:prstGeom prst="rect">
            <a:avLst/>
          </a:prstGeom>
        </p:spPr>
        <p:txBody>
          <a:bodyPr lIns="0" tIns="0" rIns="0" bIns="0" rtlCol="0" anchor="t">
            <a:spAutoFit/>
          </a:bodyPr>
          <a:lstStyle/>
          <a:p>
            <a:pPr algn="ctr">
              <a:lnSpc>
                <a:spcPts val="13596"/>
              </a:lnSpc>
            </a:pPr>
            <a:r>
              <a:rPr lang="en-US" sz="13596" b="1">
                <a:solidFill>
                  <a:srgbClr val="000000"/>
                </a:solidFill>
                <a:latin typeface="Raleway Bold"/>
                <a:ea typeface="Raleway Bold"/>
                <a:cs typeface="Raleway Bold"/>
                <a:sym typeface="Raleway Bold"/>
              </a:rPr>
              <a:t>DATA ANALYTICS</a:t>
            </a:r>
          </a:p>
        </p:txBody>
      </p:sp>
      <p:sp>
        <p:nvSpPr>
          <p:cNvPr id="5" name="Freeform 5"/>
          <p:cNvSpPr/>
          <p:nvPr/>
        </p:nvSpPr>
        <p:spPr>
          <a:xfrm rot="-5400000" flipH="1" flipV="1">
            <a:off x="-8259610" y="7907369"/>
            <a:ext cx="18725784" cy="2587563"/>
          </a:xfrm>
          <a:custGeom>
            <a:avLst/>
            <a:gdLst/>
            <a:ahLst/>
            <a:cxnLst/>
            <a:rect l="l" t="t" r="r" b="b"/>
            <a:pathLst>
              <a:path w="18725784" h="2587563">
                <a:moveTo>
                  <a:pt x="18725783" y="2587562"/>
                </a:moveTo>
                <a:lnTo>
                  <a:pt x="0" y="2587562"/>
                </a:lnTo>
                <a:lnTo>
                  <a:pt x="0" y="0"/>
                </a:lnTo>
                <a:lnTo>
                  <a:pt x="18725783" y="0"/>
                </a:lnTo>
                <a:lnTo>
                  <a:pt x="18725783" y="258756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965538" y="3128165"/>
            <a:ext cx="14356925" cy="1455873"/>
          </a:xfrm>
          <a:prstGeom prst="rect">
            <a:avLst/>
          </a:prstGeom>
        </p:spPr>
        <p:txBody>
          <a:bodyPr lIns="0" tIns="0" rIns="0" bIns="0" rtlCol="0" anchor="t">
            <a:spAutoFit/>
          </a:bodyPr>
          <a:lstStyle/>
          <a:p>
            <a:pPr algn="ctr">
              <a:lnSpc>
                <a:spcPts val="10817"/>
              </a:lnSpc>
            </a:pPr>
            <a:r>
              <a:rPr lang="en-US" sz="10817" b="1" spc="10">
                <a:solidFill>
                  <a:srgbClr val="000000"/>
                </a:solidFill>
                <a:latin typeface="Raleway Bold"/>
                <a:ea typeface="Raleway Bold"/>
                <a:cs typeface="Raleway Bold"/>
                <a:sym typeface="Raleway Bold"/>
              </a:rPr>
              <a:t>GOOGLE CLOUD</a:t>
            </a:r>
          </a:p>
        </p:txBody>
      </p:sp>
      <p:sp>
        <p:nvSpPr>
          <p:cNvPr id="7" name="Freeform 7"/>
          <p:cNvSpPr/>
          <p:nvPr/>
        </p:nvSpPr>
        <p:spPr>
          <a:xfrm>
            <a:off x="7108011" y="-1074365"/>
            <a:ext cx="5029317" cy="4206130"/>
          </a:xfrm>
          <a:custGeom>
            <a:avLst/>
            <a:gdLst/>
            <a:ahLst/>
            <a:cxnLst/>
            <a:rect l="l" t="t" r="r" b="b"/>
            <a:pathLst>
              <a:path w="5029317" h="4206130">
                <a:moveTo>
                  <a:pt x="0" y="0"/>
                </a:moveTo>
                <a:lnTo>
                  <a:pt x="5029317" y="0"/>
                </a:lnTo>
                <a:lnTo>
                  <a:pt x="5029317" y="4206130"/>
                </a:lnTo>
                <a:lnTo>
                  <a:pt x="0" y="4206130"/>
                </a:lnTo>
                <a:lnTo>
                  <a:pt x="0" y="0"/>
                </a:lnTo>
                <a:close/>
              </a:path>
            </a:pathLst>
          </a:custGeom>
          <a:blipFill>
            <a:blip r:embed="rId6"/>
            <a:stretch>
              <a:fillRect b="-19571"/>
            </a:stretch>
          </a:blipFill>
        </p:spPr>
      </p:sp>
      <p:sp>
        <p:nvSpPr>
          <p:cNvPr id="8" name="Freeform 8"/>
          <p:cNvSpPr/>
          <p:nvPr/>
        </p:nvSpPr>
        <p:spPr>
          <a:xfrm rot="-5400000" flipH="1">
            <a:off x="7944033" y="7935944"/>
            <a:ext cx="18725784" cy="2587563"/>
          </a:xfrm>
          <a:custGeom>
            <a:avLst/>
            <a:gdLst/>
            <a:ahLst/>
            <a:cxnLst/>
            <a:rect l="l" t="t" r="r" b="b"/>
            <a:pathLst>
              <a:path w="18725784" h="2587563">
                <a:moveTo>
                  <a:pt x="18725784" y="0"/>
                </a:moveTo>
                <a:lnTo>
                  <a:pt x="0" y="0"/>
                </a:lnTo>
                <a:lnTo>
                  <a:pt x="0" y="2587562"/>
                </a:lnTo>
                <a:lnTo>
                  <a:pt x="18725784" y="2587562"/>
                </a:lnTo>
                <a:lnTo>
                  <a:pt x="1872578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9011302" y="6914885"/>
            <a:ext cx="2518398" cy="419410"/>
          </a:xfrm>
          <a:prstGeom prst="rect">
            <a:avLst/>
          </a:prstGeom>
        </p:spPr>
        <p:txBody>
          <a:bodyPr wrap="square" lIns="0" tIns="0" rIns="0" bIns="0" rtlCol="0" anchor="t">
            <a:spAutoFit/>
          </a:bodyPr>
          <a:lstStyle/>
          <a:p>
            <a:pPr algn="ctr">
              <a:lnSpc>
                <a:spcPts val="3500"/>
              </a:lnSpc>
            </a:pPr>
            <a:r>
              <a:rPr lang="en-US" sz="2500" b="1" dirty="0">
                <a:solidFill>
                  <a:srgbClr val="000000"/>
                </a:solidFill>
                <a:latin typeface="Canva Sans Bold"/>
                <a:ea typeface="Canva Sans Bold"/>
                <a:cs typeface="Canva Sans Bold"/>
                <a:sym typeface="Canva Sans Bold"/>
              </a:rPr>
              <a:t>Presented By</a:t>
            </a:r>
          </a:p>
        </p:txBody>
      </p:sp>
      <p:sp>
        <p:nvSpPr>
          <p:cNvPr id="10" name="TextBox 10"/>
          <p:cNvSpPr txBox="1"/>
          <p:nvPr/>
        </p:nvSpPr>
        <p:spPr>
          <a:xfrm>
            <a:off x="9109093" y="7215451"/>
            <a:ext cx="6904050" cy="629919"/>
          </a:xfrm>
          <a:prstGeom prst="rect">
            <a:avLst/>
          </a:prstGeom>
        </p:spPr>
        <p:txBody>
          <a:bodyPr lIns="0" tIns="0" rIns="0" bIns="0" rtlCol="0" anchor="t">
            <a:spAutoFit/>
          </a:bodyPr>
          <a:lstStyle/>
          <a:p>
            <a:pPr algn="ctr">
              <a:lnSpc>
                <a:spcPts val="5180"/>
              </a:lnSpc>
            </a:pPr>
            <a:r>
              <a:rPr lang="en-US" sz="3700" b="1" dirty="0">
                <a:solidFill>
                  <a:srgbClr val="000000"/>
                </a:solidFill>
                <a:latin typeface="Canva Sans Bold"/>
                <a:ea typeface="Canva Sans Bold"/>
                <a:cs typeface="Canva Sans Bold"/>
                <a:sym typeface="Canva Sans Bold"/>
              </a:rPr>
              <a:t>Vidwath Surya T|4VV22CS182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2"/>
            <a:stretch>
              <a:fillRect/>
            </a:stretch>
          </a:blipFill>
        </p:spPr>
      </p:sp>
      <p:grpSp>
        <p:nvGrpSpPr>
          <p:cNvPr id="3" name="Group 3"/>
          <p:cNvGrpSpPr/>
          <p:nvPr/>
        </p:nvGrpSpPr>
        <p:grpSpPr>
          <a:xfrm rot="-5400000">
            <a:off x="7806054" y="-402391"/>
            <a:ext cx="2675891" cy="20328738"/>
            <a:chOff x="0" y="0"/>
            <a:chExt cx="432040" cy="3282205"/>
          </a:xfrm>
        </p:grpSpPr>
        <p:sp>
          <p:nvSpPr>
            <p:cNvPr id="4" name="Freeform 4"/>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4085F5"/>
            </a:solidFill>
          </p:spPr>
        </p:sp>
        <p:sp>
          <p:nvSpPr>
            <p:cNvPr id="5" name="TextBox 5"/>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10766903">
            <a:off x="-46013" y="8512224"/>
            <a:ext cx="18336773" cy="3186014"/>
          </a:xfrm>
          <a:custGeom>
            <a:avLst/>
            <a:gdLst/>
            <a:ahLst/>
            <a:cxnLst/>
            <a:rect l="l" t="t" r="r" b="b"/>
            <a:pathLst>
              <a:path w="18336773" h="3186014">
                <a:moveTo>
                  <a:pt x="0" y="0"/>
                </a:moveTo>
                <a:lnTo>
                  <a:pt x="18336773" y="0"/>
                </a:lnTo>
                <a:lnTo>
                  <a:pt x="18336773" y="3186015"/>
                </a:lnTo>
                <a:lnTo>
                  <a:pt x="0" y="3186015"/>
                </a:lnTo>
                <a:lnTo>
                  <a:pt x="0" y="0"/>
                </a:lnTo>
                <a:close/>
              </a:path>
            </a:pathLst>
          </a:custGeom>
          <a:blipFill>
            <a:blip r:embed="rId2"/>
            <a:stretch>
              <a:fillRect/>
            </a:stretch>
          </a:blipFill>
        </p:spPr>
      </p:sp>
      <p:grpSp>
        <p:nvGrpSpPr>
          <p:cNvPr id="7" name="Group 7"/>
          <p:cNvGrpSpPr/>
          <p:nvPr/>
        </p:nvGrpSpPr>
        <p:grpSpPr>
          <a:xfrm rot="-5426346">
            <a:off x="8735248" y="-59138"/>
            <a:ext cx="1489766" cy="20328738"/>
            <a:chOff x="0" y="0"/>
            <a:chExt cx="240532" cy="3282205"/>
          </a:xfrm>
        </p:grpSpPr>
        <p:sp>
          <p:nvSpPr>
            <p:cNvPr id="8" name="Freeform 8"/>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ABB14"/>
            </a:solidFill>
          </p:spPr>
        </p:sp>
        <p:sp>
          <p:nvSpPr>
            <p:cNvPr id="9" name="TextBox 9"/>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4618983" y="-757060"/>
            <a:ext cx="4206130" cy="4206130"/>
          </a:xfrm>
          <a:custGeom>
            <a:avLst/>
            <a:gdLst/>
            <a:ahLst/>
            <a:cxnLst/>
            <a:rect l="l" t="t" r="r" b="b"/>
            <a:pathLst>
              <a:path w="4206130" h="4206130">
                <a:moveTo>
                  <a:pt x="0" y="0"/>
                </a:moveTo>
                <a:lnTo>
                  <a:pt x="4206130" y="0"/>
                </a:lnTo>
                <a:lnTo>
                  <a:pt x="4206130" y="4206130"/>
                </a:lnTo>
                <a:lnTo>
                  <a:pt x="0" y="4206130"/>
                </a:lnTo>
                <a:lnTo>
                  <a:pt x="0" y="0"/>
                </a:lnTo>
                <a:close/>
              </a:path>
            </a:pathLst>
          </a:custGeom>
          <a:blipFill>
            <a:blip r:embed="rId3"/>
            <a:stretch>
              <a:fillRect/>
            </a:stretch>
          </a:blipFill>
          <a:ln cap="sq">
            <a:noFill/>
            <a:prstDash val="solid"/>
            <a:miter/>
          </a:ln>
        </p:spPr>
      </p:sp>
      <p:sp>
        <p:nvSpPr>
          <p:cNvPr id="11" name="TextBox 11"/>
          <p:cNvSpPr txBox="1"/>
          <p:nvPr/>
        </p:nvSpPr>
        <p:spPr>
          <a:xfrm>
            <a:off x="3106143" y="2813201"/>
            <a:ext cx="11512840" cy="5025390"/>
          </a:xfrm>
          <a:prstGeom prst="rect">
            <a:avLst/>
          </a:prstGeom>
        </p:spPr>
        <p:txBody>
          <a:bodyPr lIns="0" tIns="0" rIns="0" bIns="0" rtlCol="0" anchor="t">
            <a:spAutoFit/>
          </a:bodyPr>
          <a:lstStyle/>
          <a:p>
            <a:pPr algn="just">
              <a:lnSpc>
                <a:spcPts val="3359"/>
              </a:lnSpc>
            </a:pPr>
            <a:r>
              <a:rPr lang="en-US" sz="2400" spc="168">
                <a:solidFill>
                  <a:srgbClr val="000000"/>
                </a:solidFill>
                <a:latin typeface="Glacial Indifference"/>
                <a:ea typeface="Glacial Indifference"/>
                <a:cs typeface="Glacial Indifference"/>
                <a:sym typeface="Glacial Indifference"/>
              </a:rPr>
              <a:t>Cloud computing is a transformative technology that enables individuals and organizations to access computing resources such as storage, processing power, and applications over the internet on a pay-as-you-go basis. Unlike traditional IT infrastructures that require significant upfront investment and ongoing maintenance, cloud platforms offer scalable, flexible, and cost-effective solutions that can be tailored to dynamic business needs. By leveraging cloud service models like Infrastructure as a Service (IaaS), Platform as a Service (PaaS), and Software as a Service (SaaS), users can build, deploy, and manage applications more efficiently. Google Cloud, one of the leading providers, offers a comprehensive suite of tools to support modern data analytics, machine learning, and enterprise-grade computing with global reliability and robust security.</a:t>
            </a:r>
          </a:p>
        </p:txBody>
      </p:sp>
      <p:sp>
        <p:nvSpPr>
          <p:cNvPr id="12" name="AutoShape 12"/>
          <p:cNvSpPr/>
          <p:nvPr/>
        </p:nvSpPr>
        <p:spPr>
          <a:xfrm>
            <a:off x="3456596" y="2508885"/>
            <a:ext cx="10366605" cy="0"/>
          </a:xfrm>
          <a:prstGeom prst="line">
            <a:avLst/>
          </a:prstGeom>
          <a:ln w="38100" cap="flat">
            <a:solidFill>
              <a:srgbClr val="EA4235"/>
            </a:solidFill>
            <a:prstDash val="solid"/>
            <a:headEnd type="none" w="sm" len="sm"/>
            <a:tailEnd type="none" w="sm" len="sm"/>
          </a:ln>
        </p:spPr>
      </p:sp>
      <p:sp>
        <p:nvSpPr>
          <p:cNvPr id="13" name="TextBox 13"/>
          <p:cNvSpPr txBox="1"/>
          <p:nvPr/>
        </p:nvSpPr>
        <p:spPr>
          <a:xfrm>
            <a:off x="3210078" y="847725"/>
            <a:ext cx="10859641" cy="1642110"/>
          </a:xfrm>
          <a:prstGeom prst="rect">
            <a:avLst/>
          </a:prstGeom>
        </p:spPr>
        <p:txBody>
          <a:bodyPr lIns="0" tIns="0" rIns="0" bIns="0" rtlCol="0" anchor="t">
            <a:spAutoFit/>
          </a:bodyPr>
          <a:lstStyle/>
          <a:p>
            <a:pPr algn="ctr">
              <a:lnSpc>
                <a:spcPts val="13439"/>
              </a:lnSpc>
            </a:pPr>
            <a:r>
              <a:rPr lang="en-US" sz="9600">
                <a:solidFill>
                  <a:srgbClr val="000000"/>
                </a:solidFill>
                <a:latin typeface="League Spartan"/>
                <a:ea typeface="League Spartan"/>
                <a:cs typeface="League Spartan"/>
                <a:sym typeface="League Spartan"/>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8157" y="888115"/>
            <a:ext cx="6105501" cy="7391408"/>
            <a:chOff x="0" y="0"/>
            <a:chExt cx="1608033" cy="1946708"/>
          </a:xfrm>
        </p:grpSpPr>
        <p:sp>
          <p:nvSpPr>
            <p:cNvPr id="3" name="Freeform 3"/>
            <p:cNvSpPr/>
            <p:nvPr/>
          </p:nvSpPr>
          <p:spPr>
            <a:xfrm>
              <a:off x="0" y="0"/>
              <a:ext cx="1608033" cy="1946708"/>
            </a:xfrm>
            <a:custGeom>
              <a:avLst/>
              <a:gdLst/>
              <a:ahLst/>
              <a:cxnLst/>
              <a:rect l="l" t="t" r="r" b="b"/>
              <a:pathLst>
                <a:path w="1608033" h="1946708">
                  <a:moveTo>
                    <a:pt x="21556" y="0"/>
                  </a:moveTo>
                  <a:lnTo>
                    <a:pt x="1586477" y="0"/>
                  </a:lnTo>
                  <a:cubicBezTo>
                    <a:pt x="1598382" y="0"/>
                    <a:pt x="1608033" y="9651"/>
                    <a:pt x="1608033" y="21556"/>
                  </a:cubicBezTo>
                  <a:lnTo>
                    <a:pt x="1608033" y="1925152"/>
                  </a:lnTo>
                  <a:cubicBezTo>
                    <a:pt x="1608033" y="1930869"/>
                    <a:pt x="1605762" y="1936352"/>
                    <a:pt x="1601719" y="1940395"/>
                  </a:cubicBezTo>
                  <a:cubicBezTo>
                    <a:pt x="1597677" y="1944437"/>
                    <a:pt x="1592194" y="1946708"/>
                    <a:pt x="1586477" y="1946708"/>
                  </a:cubicBezTo>
                  <a:lnTo>
                    <a:pt x="21556" y="1946708"/>
                  </a:lnTo>
                  <a:cubicBezTo>
                    <a:pt x="15839" y="1946708"/>
                    <a:pt x="10356" y="1944437"/>
                    <a:pt x="6314" y="1940395"/>
                  </a:cubicBezTo>
                  <a:cubicBezTo>
                    <a:pt x="2271" y="1936352"/>
                    <a:pt x="0" y="1930869"/>
                    <a:pt x="0" y="1925152"/>
                  </a:cubicBezTo>
                  <a:lnTo>
                    <a:pt x="0" y="21556"/>
                  </a:lnTo>
                  <a:cubicBezTo>
                    <a:pt x="0" y="15839"/>
                    <a:pt x="2271" y="10356"/>
                    <a:pt x="6314" y="6314"/>
                  </a:cubicBezTo>
                  <a:cubicBezTo>
                    <a:pt x="10356" y="2271"/>
                    <a:pt x="15839" y="0"/>
                    <a:pt x="21556" y="0"/>
                  </a:cubicBezTo>
                  <a:close/>
                </a:path>
              </a:pathLst>
            </a:custGeom>
            <a:solidFill>
              <a:srgbClr val="000000"/>
            </a:solidFill>
          </p:spPr>
        </p:sp>
        <p:sp>
          <p:nvSpPr>
            <p:cNvPr id="4" name="TextBox 4"/>
            <p:cNvSpPr txBox="1"/>
            <p:nvPr/>
          </p:nvSpPr>
          <p:spPr>
            <a:xfrm>
              <a:off x="0" y="-38100"/>
              <a:ext cx="1608033" cy="198480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352189" y="-396442"/>
            <a:ext cx="4206130" cy="4206130"/>
          </a:xfrm>
          <a:custGeom>
            <a:avLst/>
            <a:gdLst/>
            <a:ahLst/>
            <a:cxnLst/>
            <a:rect l="l" t="t" r="r" b="b"/>
            <a:pathLst>
              <a:path w="4206130" h="4206130">
                <a:moveTo>
                  <a:pt x="0" y="0"/>
                </a:moveTo>
                <a:lnTo>
                  <a:pt x="4206130" y="0"/>
                </a:lnTo>
                <a:lnTo>
                  <a:pt x="4206130" y="4206130"/>
                </a:lnTo>
                <a:lnTo>
                  <a:pt x="0" y="4206130"/>
                </a:lnTo>
                <a:lnTo>
                  <a:pt x="0" y="0"/>
                </a:lnTo>
                <a:close/>
              </a:path>
            </a:pathLst>
          </a:custGeom>
          <a:blipFill>
            <a:blip r:embed="rId2"/>
            <a:stretch>
              <a:fillRect/>
            </a:stretch>
          </a:blipFill>
          <a:ln cap="sq">
            <a:noFill/>
            <a:prstDash val="solid"/>
            <a:miter/>
          </a:ln>
        </p:spPr>
      </p:sp>
      <p:grpSp>
        <p:nvGrpSpPr>
          <p:cNvPr id="6" name="Group 6"/>
          <p:cNvGrpSpPr/>
          <p:nvPr/>
        </p:nvGrpSpPr>
        <p:grpSpPr>
          <a:xfrm>
            <a:off x="8223186" y="888115"/>
            <a:ext cx="6506297" cy="7391408"/>
            <a:chOff x="0" y="0"/>
            <a:chExt cx="1713593" cy="1946708"/>
          </a:xfrm>
        </p:grpSpPr>
        <p:sp>
          <p:nvSpPr>
            <p:cNvPr id="7" name="Freeform 7"/>
            <p:cNvSpPr/>
            <p:nvPr/>
          </p:nvSpPr>
          <p:spPr>
            <a:xfrm>
              <a:off x="0" y="0"/>
              <a:ext cx="1713593" cy="1946708"/>
            </a:xfrm>
            <a:custGeom>
              <a:avLst/>
              <a:gdLst/>
              <a:ahLst/>
              <a:cxnLst/>
              <a:rect l="l" t="t" r="r" b="b"/>
              <a:pathLst>
                <a:path w="1713593" h="1946708">
                  <a:moveTo>
                    <a:pt x="20229" y="0"/>
                  </a:moveTo>
                  <a:lnTo>
                    <a:pt x="1693364" y="0"/>
                  </a:lnTo>
                  <a:cubicBezTo>
                    <a:pt x="1704536" y="0"/>
                    <a:pt x="1713593" y="9057"/>
                    <a:pt x="1713593" y="20229"/>
                  </a:cubicBezTo>
                  <a:lnTo>
                    <a:pt x="1713593" y="1926480"/>
                  </a:lnTo>
                  <a:cubicBezTo>
                    <a:pt x="1713593" y="1937652"/>
                    <a:pt x="1704536" y="1946708"/>
                    <a:pt x="1693364" y="1946708"/>
                  </a:cubicBezTo>
                  <a:lnTo>
                    <a:pt x="20229" y="1946708"/>
                  </a:lnTo>
                  <a:cubicBezTo>
                    <a:pt x="9057" y="1946708"/>
                    <a:pt x="0" y="1937652"/>
                    <a:pt x="0" y="1926480"/>
                  </a:cubicBezTo>
                  <a:lnTo>
                    <a:pt x="0" y="20229"/>
                  </a:lnTo>
                  <a:cubicBezTo>
                    <a:pt x="0" y="9057"/>
                    <a:pt x="9057" y="0"/>
                    <a:pt x="20229" y="0"/>
                  </a:cubicBezTo>
                  <a:close/>
                </a:path>
              </a:pathLst>
            </a:custGeom>
            <a:solidFill>
              <a:srgbClr val="000000"/>
            </a:solidFill>
          </p:spPr>
        </p:sp>
        <p:sp>
          <p:nvSpPr>
            <p:cNvPr id="8" name="TextBox 8"/>
            <p:cNvSpPr txBox="1"/>
            <p:nvPr/>
          </p:nvSpPr>
          <p:spPr>
            <a:xfrm>
              <a:off x="0" y="-38100"/>
              <a:ext cx="1713593" cy="1984808"/>
            </a:xfrm>
            <a:prstGeom prst="rect">
              <a:avLst/>
            </a:prstGeom>
          </p:spPr>
          <p:txBody>
            <a:bodyPr lIns="50800" tIns="50800" rIns="50800" bIns="50800" rtlCol="0" anchor="ctr"/>
            <a:lstStyle/>
            <a:p>
              <a:pPr algn="ctr">
                <a:lnSpc>
                  <a:spcPts val="2659"/>
                </a:lnSpc>
              </a:pPr>
              <a:endParaRPr/>
            </a:p>
          </p:txBody>
        </p:sp>
      </p:grpSp>
      <p:sp>
        <p:nvSpPr>
          <p:cNvPr id="9" name="Freeform 9" descr="shadow black"/>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3"/>
            <a:stretch>
              <a:fillRect/>
            </a:stretch>
          </a:blipFill>
        </p:spPr>
      </p:sp>
      <p:grpSp>
        <p:nvGrpSpPr>
          <p:cNvPr id="10" name="Group 10"/>
          <p:cNvGrpSpPr/>
          <p:nvPr/>
        </p:nvGrpSpPr>
        <p:grpSpPr>
          <a:xfrm rot="-5400000">
            <a:off x="7806054" y="-402391"/>
            <a:ext cx="2675891" cy="20328738"/>
            <a:chOff x="0" y="0"/>
            <a:chExt cx="432040" cy="3282205"/>
          </a:xfrm>
        </p:grpSpPr>
        <p:sp>
          <p:nvSpPr>
            <p:cNvPr id="11" name="Freeform 11"/>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0C6DD8"/>
            </a:solidFill>
          </p:spPr>
        </p:sp>
        <p:sp>
          <p:nvSpPr>
            <p:cNvPr id="12" name="TextBox 12"/>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5426346">
            <a:off x="8735248" y="-59138"/>
            <a:ext cx="1489766" cy="20328738"/>
            <a:chOff x="0" y="0"/>
            <a:chExt cx="240532" cy="3282205"/>
          </a:xfrm>
        </p:grpSpPr>
        <p:sp>
          <p:nvSpPr>
            <p:cNvPr id="14" name="Freeform 14"/>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ABC04"/>
            </a:solidFill>
          </p:spPr>
        </p:sp>
        <p:sp>
          <p:nvSpPr>
            <p:cNvPr id="15" name="TextBox 15"/>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61756" y="1028700"/>
            <a:ext cx="5816037" cy="7094958"/>
            <a:chOff x="0" y="0"/>
            <a:chExt cx="4503058" cy="5493261"/>
          </a:xfrm>
        </p:grpSpPr>
        <p:sp>
          <p:nvSpPr>
            <p:cNvPr id="17" name="Freeform 17"/>
            <p:cNvSpPr/>
            <p:nvPr/>
          </p:nvSpPr>
          <p:spPr>
            <a:xfrm>
              <a:off x="0" y="0"/>
              <a:ext cx="4503058" cy="5493261"/>
            </a:xfrm>
            <a:custGeom>
              <a:avLst/>
              <a:gdLst/>
              <a:ahLst/>
              <a:cxnLst/>
              <a:rect l="l" t="t" r="r" b="b"/>
              <a:pathLst>
                <a:path w="4503058" h="5493261">
                  <a:moveTo>
                    <a:pt x="4378598" y="5493261"/>
                  </a:moveTo>
                  <a:lnTo>
                    <a:pt x="124460" y="5493261"/>
                  </a:lnTo>
                  <a:cubicBezTo>
                    <a:pt x="55880" y="5493261"/>
                    <a:pt x="0" y="5437381"/>
                    <a:pt x="0" y="5368801"/>
                  </a:cubicBezTo>
                  <a:lnTo>
                    <a:pt x="0" y="124460"/>
                  </a:lnTo>
                  <a:cubicBezTo>
                    <a:pt x="0" y="55880"/>
                    <a:pt x="55880" y="0"/>
                    <a:pt x="124460" y="0"/>
                  </a:cubicBezTo>
                  <a:lnTo>
                    <a:pt x="4378598" y="0"/>
                  </a:lnTo>
                  <a:cubicBezTo>
                    <a:pt x="4447178" y="0"/>
                    <a:pt x="4503058" y="55880"/>
                    <a:pt x="4503058" y="124460"/>
                  </a:cubicBezTo>
                  <a:lnTo>
                    <a:pt x="4503058" y="5368801"/>
                  </a:lnTo>
                  <a:cubicBezTo>
                    <a:pt x="4503058" y="5437381"/>
                    <a:pt x="4447178" y="5493261"/>
                    <a:pt x="4378598" y="5493261"/>
                  </a:cubicBezTo>
                  <a:close/>
                </a:path>
              </a:pathLst>
            </a:custGeom>
            <a:solidFill>
              <a:srgbClr val="FFFFFF"/>
            </a:solidFill>
          </p:spPr>
        </p:sp>
      </p:grpSp>
      <p:grpSp>
        <p:nvGrpSpPr>
          <p:cNvPr id="18" name="Group 18"/>
          <p:cNvGrpSpPr/>
          <p:nvPr/>
        </p:nvGrpSpPr>
        <p:grpSpPr>
          <a:xfrm>
            <a:off x="8356784" y="1028700"/>
            <a:ext cx="6175412" cy="7094958"/>
            <a:chOff x="0" y="0"/>
            <a:chExt cx="4781304" cy="5493261"/>
          </a:xfrm>
        </p:grpSpPr>
        <p:sp>
          <p:nvSpPr>
            <p:cNvPr id="19" name="Freeform 19"/>
            <p:cNvSpPr/>
            <p:nvPr/>
          </p:nvSpPr>
          <p:spPr>
            <a:xfrm>
              <a:off x="0" y="0"/>
              <a:ext cx="4781304" cy="5493261"/>
            </a:xfrm>
            <a:custGeom>
              <a:avLst/>
              <a:gdLst/>
              <a:ahLst/>
              <a:cxnLst/>
              <a:rect l="l" t="t" r="r" b="b"/>
              <a:pathLst>
                <a:path w="4781304" h="5493261">
                  <a:moveTo>
                    <a:pt x="4656844" y="5493261"/>
                  </a:moveTo>
                  <a:lnTo>
                    <a:pt x="124460" y="5493261"/>
                  </a:lnTo>
                  <a:cubicBezTo>
                    <a:pt x="55880" y="5493261"/>
                    <a:pt x="0" y="5437381"/>
                    <a:pt x="0" y="5368801"/>
                  </a:cubicBezTo>
                  <a:lnTo>
                    <a:pt x="0" y="124460"/>
                  </a:lnTo>
                  <a:cubicBezTo>
                    <a:pt x="0" y="55880"/>
                    <a:pt x="55880" y="0"/>
                    <a:pt x="124460" y="0"/>
                  </a:cubicBezTo>
                  <a:lnTo>
                    <a:pt x="4656844" y="0"/>
                  </a:lnTo>
                  <a:cubicBezTo>
                    <a:pt x="4725424" y="0"/>
                    <a:pt x="4781304" y="55880"/>
                    <a:pt x="4781304" y="124460"/>
                  </a:cubicBezTo>
                  <a:lnTo>
                    <a:pt x="4781304" y="5368801"/>
                  </a:lnTo>
                  <a:cubicBezTo>
                    <a:pt x="4781304" y="5437381"/>
                    <a:pt x="4725424" y="5493261"/>
                    <a:pt x="4656844" y="5493261"/>
                  </a:cubicBezTo>
                  <a:close/>
                </a:path>
              </a:pathLst>
            </a:custGeom>
            <a:solidFill>
              <a:srgbClr val="FFFFFF"/>
            </a:solidFill>
          </p:spPr>
        </p:sp>
      </p:grpSp>
      <p:sp>
        <p:nvSpPr>
          <p:cNvPr id="20" name="TextBox 20"/>
          <p:cNvSpPr txBox="1"/>
          <p:nvPr/>
        </p:nvSpPr>
        <p:spPr>
          <a:xfrm>
            <a:off x="1361756" y="1126687"/>
            <a:ext cx="5816037" cy="41529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Glacial Indifference Bold"/>
                <a:ea typeface="Glacial Indifference Bold"/>
                <a:cs typeface="Glacial Indifference Bold"/>
                <a:sym typeface="Glacial Indifference Bold"/>
              </a:rPr>
              <a:t>Traditional Data Warehouse</a:t>
            </a:r>
          </a:p>
        </p:txBody>
      </p:sp>
      <p:sp>
        <p:nvSpPr>
          <p:cNvPr id="21" name="TextBox 21"/>
          <p:cNvSpPr txBox="1"/>
          <p:nvPr/>
        </p:nvSpPr>
        <p:spPr>
          <a:xfrm>
            <a:off x="8356784" y="1126687"/>
            <a:ext cx="6175412" cy="41529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Glacial Indifference Bold"/>
                <a:ea typeface="Glacial Indifference Bold"/>
                <a:cs typeface="Glacial Indifference Bold"/>
                <a:sym typeface="Glacial Indifference Bold"/>
              </a:rPr>
              <a:t>Cloud Data Warehouse</a:t>
            </a:r>
          </a:p>
        </p:txBody>
      </p:sp>
      <p:sp>
        <p:nvSpPr>
          <p:cNvPr id="22" name="TextBox 22"/>
          <p:cNvSpPr txBox="1"/>
          <p:nvPr/>
        </p:nvSpPr>
        <p:spPr>
          <a:xfrm>
            <a:off x="1539887" y="1825682"/>
            <a:ext cx="5459773" cy="6625923"/>
          </a:xfrm>
          <a:prstGeom prst="rect">
            <a:avLst/>
          </a:prstGeom>
        </p:spPr>
        <p:txBody>
          <a:bodyPr lIns="0" tIns="0" rIns="0" bIns="0" rtlCol="0" anchor="t">
            <a:spAutoFit/>
          </a:bodyPr>
          <a:lstStyle/>
          <a:p>
            <a:pPr algn="just">
              <a:lnSpc>
                <a:spcPts val="3742"/>
              </a:lnSpc>
              <a:spcBef>
                <a:spcPct val="0"/>
              </a:spcBef>
            </a:pPr>
            <a:r>
              <a:rPr lang="en-US" sz="2673">
                <a:solidFill>
                  <a:srgbClr val="000000"/>
                </a:solidFill>
                <a:latin typeface="Glacial Indifference"/>
                <a:ea typeface="Glacial Indifference"/>
                <a:cs typeface="Glacial Indifference"/>
                <a:sym typeface="Glacial Indifference"/>
              </a:rPr>
              <a:t>Traditional Data Warehouse Cloud Data Warehouse Hosted on-premises, requiring internal teams to manage hardware, software, and security.</a:t>
            </a:r>
          </a:p>
          <a:p>
            <a:pPr algn="just">
              <a:lnSpc>
                <a:spcPts val="3742"/>
              </a:lnSpc>
              <a:spcBef>
                <a:spcPct val="0"/>
              </a:spcBef>
            </a:pPr>
            <a:endParaRPr lang="en-US" sz="2673">
              <a:solidFill>
                <a:srgbClr val="000000"/>
              </a:solidFill>
              <a:latin typeface="Glacial Indifference"/>
              <a:ea typeface="Glacial Indifference"/>
              <a:cs typeface="Glacial Indifference"/>
              <a:sym typeface="Glacial Indifference"/>
            </a:endParaRPr>
          </a:p>
          <a:p>
            <a:pPr algn="just">
              <a:lnSpc>
                <a:spcPts val="3742"/>
              </a:lnSpc>
              <a:spcBef>
                <a:spcPct val="0"/>
              </a:spcBef>
            </a:pPr>
            <a:r>
              <a:rPr lang="en-US" sz="2673">
                <a:solidFill>
                  <a:srgbClr val="000000"/>
                </a:solidFill>
                <a:latin typeface="Glacial Indifference"/>
                <a:ea typeface="Glacial Indifference"/>
                <a:cs typeface="Glacial Indifference"/>
                <a:sym typeface="Glacial Indifference"/>
              </a:rPr>
              <a:t>Scaling requires manual upgrades—new servers, storage, and configuration. </a:t>
            </a:r>
          </a:p>
          <a:p>
            <a:pPr algn="just">
              <a:lnSpc>
                <a:spcPts val="3742"/>
              </a:lnSpc>
              <a:spcBef>
                <a:spcPct val="0"/>
              </a:spcBef>
            </a:pPr>
            <a:endParaRPr lang="en-US" sz="2673">
              <a:solidFill>
                <a:srgbClr val="000000"/>
              </a:solidFill>
              <a:latin typeface="Glacial Indifference"/>
              <a:ea typeface="Glacial Indifference"/>
              <a:cs typeface="Glacial Indifference"/>
              <a:sym typeface="Glacial Indifference"/>
            </a:endParaRPr>
          </a:p>
          <a:p>
            <a:pPr algn="just">
              <a:lnSpc>
                <a:spcPts val="3742"/>
              </a:lnSpc>
              <a:spcBef>
                <a:spcPct val="0"/>
              </a:spcBef>
            </a:pPr>
            <a:r>
              <a:rPr lang="en-US" sz="2673">
                <a:solidFill>
                  <a:srgbClr val="000000"/>
                </a:solidFill>
                <a:latin typeface="Glacial Indifference"/>
                <a:ea typeface="Glacial Indifference"/>
                <a:cs typeface="Glacial Indifference"/>
                <a:sym typeface="Glacial Indifference"/>
              </a:rPr>
              <a:t>High upfront capital for infrastructure and licenses, with fixed capacity.</a:t>
            </a:r>
          </a:p>
          <a:p>
            <a:pPr algn="just">
              <a:lnSpc>
                <a:spcPts val="3742"/>
              </a:lnSpc>
              <a:spcBef>
                <a:spcPct val="0"/>
              </a:spcBef>
            </a:pPr>
            <a:endParaRPr lang="en-US" sz="2673">
              <a:solidFill>
                <a:srgbClr val="000000"/>
              </a:solidFill>
              <a:latin typeface="Glacial Indifference"/>
              <a:ea typeface="Glacial Indifference"/>
              <a:cs typeface="Glacial Indifference"/>
              <a:sym typeface="Glacial Indifference"/>
            </a:endParaRPr>
          </a:p>
          <a:p>
            <a:pPr algn="just">
              <a:lnSpc>
                <a:spcPts val="3742"/>
              </a:lnSpc>
              <a:spcBef>
                <a:spcPct val="0"/>
              </a:spcBef>
            </a:pPr>
            <a:endParaRPr lang="en-US" sz="2673">
              <a:solidFill>
                <a:srgbClr val="000000"/>
              </a:solidFill>
              <a:latin typeface="Glacial Indifference"/>
              <a:ea typeface="Glacial Indifference"/>
              <a:cs typeface="Glacial Indifference"/>
              <a:sym typeface="Glacial Indifference"/>
            </a:endParaRPr>
          </a:p>
        </p:txBody>
      </p:sp>
      <p:sp>
        <p:nvSpPr>
          <p:cNvPr id="23" name="TextBox 23"/>
          <p:cNvSpPr txBox="1"/>
          <p:nvPr/>
        </p:nvSpPr>
        <p:spPr>
          <a:xfrm>
            <a:off x="8536792" y="1649473"/>
            <a:ext cx="5815398" cy="6391910"/>
          </a:xfrm>
          <a:prstGeom prst="rect">
            <a:avLst/>
          </a:prstGeom>
        </p:spPr>
        <p:txBody>
          <a:bodyPr lIns="0" tIns="0" rIns="0" bIns="0" rtlCol="0" anchor="t">
            <a:spAutoFit/>
          </a:bodyPr>
          <a:lstStyle/>
          <a:p>
            <a:pPr algn="just">
              <a:lnSpc>
                <a:spcPts val="3639"/>
              </a:lnSpc>
              <a:spcBef>
                <a:spcPct val="0"/>
              </a:spcBef>
            </a:pPr>
            <a:r>
              <a:rPr lang="en-US" sz="2599">
                <a:solidFill>
                  <a:srgbClr val="000000"/>
                </a:solidFill>
                <a:latin typeface="Glacial Indifference"/>
                <a:ea typeface="Glacial Indifference"/>
                <a:cs typeface="Glacial Indifference"/>
                <a:sym typeface="Glacial Indifference"/>
              </a:rPr>
              <a:t>Fully managed by providers like Google Cloud or AWS. For instance, an e-commerce company can use BigQuery without managing any infrastructure.</a:t>
            </a:r>
          </a:p>
          <a:p>
            <a:pPr algn="just">
              <a:lnSpc>
                <a:spcPts val="3639"/>
              </a:lnSpc>
              <a:spcBef>
                <a:spcPct val="0"/>
              </a:spcBef>
            </a:pPr>
            <a:endParaRPr lang="en-US" sz="2599">
              <a:solidFill>
                <a:srgbClr val="000000"/>
              </a:solidFill>
              <a:latin typeface="Glacial Indifference"/>
              <a:ea typeface="Glacial Indifference"/>
              <a:cs typeface="Glacial Indifference"/>
              <a:sym typeface="Glacial Indifference"/>
            </a:endParaRPr>
          </a:p>
          <a:p>
            <a:pPr algn="just">
              <a:lnSpc>
                <a:spcPts val="3639"/>
              </a:lnSpc>
              <a:spcBef>
                <a:spcPct val="0"/>
              </a:spcBef>
            </a:pPr>
            <a:r>
              <a:rPr lang="en-US" sz="2599">
                <a:solidFill>
                  <a:srgbClr val="000000"/>
                </a:solidFill>
                <a:latin typeface="Glacial Indifference"/>
                <a:ea typeface="Glacial Indifference"/>
                <a:cs typeface="Glacial Indifference"/>
                <a:sym typeface="Glacial Indifference"/>
              </a:rPr>
              <a:t>Instantly scalable to meet fluctuating demand. For example, streaming services scale up storage and compute automatically during peak hours.</a:t>
            </a:r>
          </a:p>
          <a:p>
            <a:pPr algn="just">
              <a:lnSpc>
                <a:spcPts val="3639"/>
              </a:lnSpc>
              <a:spcBef>
                <a:spcPct val="0"/>
              </a:spcBef>
            </a:pPr>
            <a:endParaRPr lang="en-US" sz="2599">
              <a:solidFill>
                <a:srgbClr val="000000"/>
              </a:solidFill>
              <a:latin typeface="Glacial Indifference"/>
              <a:ea typeface="Glacial Indifference"/>
              <a:cs typeface="Glacial Indifference"/>
              <a:sym typeface="Glacial Indifference"/>
            </a:endParaRPr>
          </a:p>
          <a:p>
            <a:pPr algn="just">
              <a:lnSpc>
                <a:spcPts val="3639"/>
              </a:lnSpc>
              <a:spcBef>
                <a:spcPct val="0"/>
              </a:spcBef>
            </a:pPr>
            <a:r>
              <a:rPr lang="en-US" sz="2599">
                <a:solidFill>
                  <a:srgbClr val="000000"/>
                </a:solidFill>
                <a:latin typeface="Glacial Indifference"/>
                <a:ea typeface="Glacial Indifference"/>
                <a:cs typeface="Glacial Indifference"/>
                <a:sym typeface="Glacial Indifference"/>
              </a:rPr>
              <a:t>Pay-as-you-go pricing model. For example, a startup only pays for the queries it runs on BigQuery, making it cost-efficient as it grows.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82816" y="2623676"/>
            <a:ext cx="14758111" cy="5502057"/>
          </a:xfrm>
          <a:custGeom>
            <a:avLst/>
            <a:gdLst/>
            <a:ahLst/>
            <a:cxnLst/>
            <a:rect l="l" t="t" r="r" b="b"/>
            <a:pathLst>
              <a:path w="14758111" h="5502057">
                <a:moveTo>
                  <a:pt x="0" y="0"/>
                </a:moveTo>
                <a:lnTo>
                  <a:pt x="14758111" y="0"/>
                </a:lnTo>
                <a:lnTo>
                  <a:pt x="14758111" y="5502056"/>
                </a:lnTo>
                <a:lnTo>
                  <a:pt x="0" y="5502056"/>
                </a:lnTo>
                <a:lnTo>
                  <a:pt x="0" y="0"/>
                </a:lnTo>
                <a:close/>
              </a:path>
            </a:pathLst>
          </a:custGeom>
          <a:blipFill>
            <a:blip r:embed="rId2"/>
            <a:stretch>
              <a:fillRect t="-2639" b="-2639"/>
            </a:stretch>
          </a:blipFill>
        </p:spPr>
      </p:sp>
      <p:sp>
        <p:nvSpPr>
          <p:cNvPr id="3" name="Freeform 3" descr="shadow black"/>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3"/>
            <a:stretch>
              <a:fillRect/>
            </a:stretch>
          </a:blipFill>
        </p:spPr>
      </p:sp>
      <p:grpSp>
        <p:nvGrpSpPr>
          <p:cNvPr id="4" name="Group 4"/>
          <p:cNvGrpSpPr/>
          <p:nvPr/>
        </p:nvGrpSpPr>
        <p:grpSpPr>
          <a:xfrm rot="-5400000">
            <a:off x="7806054" y="-402391"/>
            <a:ext cx="2675891" cy="20328738"/>
            <a:chOff x="0" y="0"/>
            <a:chExt cx="432040" cy="3282205"/>
          </a:xfrm>
        </p:grpSpPr>
        <p:sp>
          <p:nvSpPr>
            <p:cNvPr id="5" name="Freeform 5"/>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4286F5"/>
            </a:solidFill>
          </p:spPr>
        </p:sp>
        <p:sp>
          <p:nvSpPr>
            <p:cNvPr id="6" name="TextBox 6"/>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26346">
            <a:off x="8735248" y="-59138"/>
            <a:ext cx="1489766" cy="20328738"/>
            <a:chOff x="0" y="0"/>
            <a:chExt cx="240532" cy="3282205"/>
          </a:xfrm>
        </p:grpSpPr>
        <p:sp>
          <p:nvSpPr>
            <p:cNvPr id="8" name="Freeform 8"/>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FFFFF"/>
            </a:solidFill>
          </p:spPr>
        </p:sp>
        <p:sp>
          <p:nvSpPr>
            <p:cNvPr id="9" name="TextBox 9"/>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4"/>
            <a:stretch>
              <a:fillRect t="-21262" b="-22021"/>
            </a:stretch>
          </a:blipFill>
        </p:spPr>
      </p:sp>
      <p:grpSp>
        <p:nvGrpSpPr>
          <p:cNvPr id="11" name="Group 11"/>
          <p:cNvGrpSpPr/>
          <p:nvPr/>
        </p:nvGrpSpPr>
        <p:grpSpPr>
          <a:xfrm>
            <a:off x="-60925" y="10657"/>
            <a:ext cx="5061001" cy="3547749"/>
            <a:chOff x="0" y="0"/>
            <a:chExt cx="1332938" cy="934387"/>
          </a:xfrm>
        </p:grpSpPr>
        <p:sp>
          <p:nvSpPr>
            <p:cNvPr id="12" name="Freeform 12"/>
            <p:cNvSpPr/>
            <p:nvPr/>
          </p:nvSpPr>
          <p:spPr>
            <a:xfrm>
              <a:off x="0" y="0"/>
              <a:ext cx="1332939" cy="934387"/>
            </a:xfrm>
            <a:custGeom>
              <a:avLst/>
              <a:gdLst/>
              <a:ahLst/>
              <a:cxnLst/>
              <a:rect l="l" t="t" r="r" b="b"/>
              <a:pathLst>
                <a:path w="1332939" h="934387">
                  <a:moveTo>
                    <a:pt x="26005" y="0"/>
                  </a:moveTo>
                  <a:lnTo>
                    <a:pt x="1306933" y="0"/>
                  </a:lnTo>
                  <a:cubicBezTo>
                    <a:pt x="1321296" y="0"/>
                    <a:pt x="1332939" y="11643"/>
                    <a:pt x="1332939" y="26005"/>
                  </a:cubicBezTo>
                  <a:lnTo>
                    <a:pt x="1332939" y="908381"/>
                  </a:lnTo>
                  <a:cubicBezTo>
                    <a:pt x="1332939" y="922744"/>
                    <a:pt x="1321296" y="934387"/>
                    <a:pt x="1306933" y="934387"/>
                  </a:cubicBezTo>
                  <a:lnTo>
                    <a:pt x="26005" y="934387"/>
                  </a:lnTo>
                  <a:cubicBezTo>
                    <a:pt x="11643" y="934387"/>
                    <a:pt x="0" y="922744"/>
                    <a:pt x="0" y="908381"/>
                  </a:cubicBezTo>
                  <a:lnTo>
                    <a:pt x="0" y="26005"/>
                  </a:lnTo>
                  <a:cubicBezTo>
                    <a:pt x="0" y="11643"/>
                    <a:pt x="11643" y="0"/>
                    <a:pt x="26005" y="0"/>
                  </a:cubicBezTo>
                  <a:close/>
                </a:path>
              </a:pathLst>
            </a:custGeom>
            <a:solidFill>
              <a:srgbClr val="000000"/>
            </a:solidFill>
          </p:spPr>
        </p:sp>
        <p:sp>
          <p:nvSpPr>
            <p:cNvPr id="13" name="TextBox 13"/>
            <p:cNvSpPr txBox="1"/>
            <p:nvPr/>
          </p:nvSpPr>
          <p:spPr>
            <a:xfrm>
              <a:off x="0" y="-38100"/>
              <a:ext cx="1332938" cy="97248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91557" y="134580"/>
            <a:ext cx="4756037" cy="3299903"/>
            <a:chOff x="0" y="0"/>
            <a:chExt cx="4245083" cy="2945385"/>
          </a:xfrm>
        </p:grpSpPr>
        <p:sp>
          <p:nvSpPr>
            <p:cNvPr id="15" name="Freeform 15"/>
            <p:cNvSpPr/>
            <p:nvPr/>
          </p:nvSpPr>
          <p:spPr>
            <a:xfrm>
              <a:off x="0" y="0"/>
              <a:ext cx="4245083" cy="2945386"/>
            </a:xfrm>
            <a:custGeom>
              <a:avLst/>
              <a:gdLst/>
              <a:ahLst/>
              <a:cxnLst/>
              <a:rect l="l" t="t" r="r" b="b"/>
              <a:pathLst>
                <a:path w="4245083" h="2945386">
                  <a:moveTo>
                    <a:pt x="4120623" y="2945385"/>
                  </a:moveTo>
                  <a:lnTo>
                    <a:pt x="124460" y="2945385"/>
                  </a:lnTo>
                  <a:cubicBezTo>
                    <a:pt x="55880" y="2945385"/>
                    <a:pt x="0" y="2889505"/>
                    <a:pt x="0" y="2820925"/>
                  </a:cubicBezTo>
                  <a:lnTo>
                    <a:pt x="0" y="124460"/>
                  </a:lnTo>
                  <a:cubicBezTo>
                    <a:pt x="0" y="55880"/>
                    <a:pt x="55880" y="0"/>
                    <a:pt x="124460" y="0"/>
                  </a:cubicBezTo>
                  <a:lnTo>
                    <a:pt x="4120623" y="0"/>
                  </a:lnTo>
                  <a:cubicBezTo>
                    <a:pt x="4189203" y="0"/>
                    <a:pt x="4245083" y="55880"/>
                    <a:pt x="4245083" y="124460"/>
                  </a:cubicBezTo>
                  <a:lnTo>
                    <a:pt x="4245083" y="2820925"/>
                  </a:lnTo>
                  <a:cubicBezTo>
                    <a:pt x="4245083" y="2889505"/>
                    <a:pt x="4189203" y="2945386"/>
                    <a:pt x="4120623" y="2945386"/>
                  </a:cubicBezTo>
                  <a:close/>
                </a:path>
              </a:pathLst>
            </a:custGeom>
            <a:solidFill>
              <a:srgbClr val="FFFFFF"/>
            </a:solidFill>
          </p:spPr>
        </p:sp>
      </p:grpSp>
      <p:sp>
        <p:nvSpPr>
          <p:cNvPr id="16" name="TextBox 16"/>
          <p:cNvSpPr txBox="1"/>
          <p:nvPr/>
        </p:nvSpPr>
        <p:spPr>
          <a:xfrm>
            <a:off x="307891" y="366896"/>
            <a:ext cx="4140256" cy="3191511"/>
          </a:xfrm>
          <a:prstGeom prst="rect">
            <a:avLst/>
          </a:prstGeom>
        </p:spPr>
        <p:txBody>
          <a:bodyPr lIns="0" tIns="0" rIns="0" bIns="0" rtlCol="0" anchor="t">
            <a:spAutoFit/>
          </a:bodyPr>
          <a:lstStyle/>
          <a:p>
            <a:pPr algn="just">
              <a:lnSpc>
                <a:spcPts val="3639"/>
              </a:lnSpc>
              <a:spcBef>
                <a:spcPct val="0"/>
              </a:spcBef>
            </a:pPr>
            <a:r>
              <a:rPr lang="en-US" sz="2599" b="1">
                <a:solidFill>
                  <a:srgbClr val="000000"/>
                </a:solidFill>
                <a:latin typeface="Glacial Indifference Bold"/>
                <a:ea typeface="Glacial Indifference Bold"/>
                <a:cs typeface="Glacial Indifference Bold"/>
                <a:sym typeface="Glacial Indifference Bold"/>
              </a:rPr>
              <a:t>BigQuery </a:t>
            </a:r>
            <a:r>
              <a:rPr lang="en-US" sz="2599">
                <a:solidFill>
                  <a:srgbClr val="000000"/>
                </a:solidFill>
                <a:latin typeface="Glacial Indifference"/>
                <a:ea typeface="Glacial Indifference"/>
                <a:cs typeface="Glacial Indifference"/>
                <a:sym typeface="Glacial Indifference"/>
              </a:rPr>
              <a:t>is a serverless, scalable cloud data warehouse enabling fast SQL queries and pay-per-use analytics without infrastructure management.</a:t>
            </a:r>
          </a:p>
          <a:p>
            <a:pPr algn="just">
              <a:lnSpc>
                <a:spcPts val="3639"/>
              </a:lnSpc>
              <a:spcBef>
                <a:spcPct val="0"/>
              </a:spcBef>
            </a:pPr>
            <a:endParaRPr lang="en-US" sz="2599">
              <a:solidFill>
                <a:srgbClr val="000000"/>
              </a:solidFill>
              <a:latin typeface="Glacial Indifference"/>
              <a:ea typeface="Glacial Indifference"/>
              <a:cs typeface="Glacial Indifference"/>
              <a:sym typeface="Glacial Indifference"/>
            </a:endParaRPr>
          </a:p>
        </p:txBody>
      </p:sp>
      <p:sp>
        <p:nvSpPr>
          <p:cNvPr id="17" name="TextBox 17"/>
          <p:cNvSpPr txBox="1"/>
          <p:nvPr/>
        </p:nvSpPr>
        <p:spPr>
          <a:xfrm>
            <a:off x="8831416" y="1702795"/>
            <a:ext cx="4529809" cy="480027"/>
          </a:xfrm>
          <a:prstGeom prst="rect">
            <a:avLst/>
          </a:prstGeom>
        </p:spPr>
        <p:txBody>
          <a:bodyPr lIns="0" tIns="0" rIns="0" bIns="0" rtlCol="0" anchor="t">
            <a:spAutoFit/>
          </a:bodyPr>
          <a:lstStyle/>
          <a:p>
            <a:pPr algn="ctr">
              <a:lnSpc>
                <a:spcPts val="3991"/>
              </a:lnSpc>
              <a:spcBef>
                <a:spcPct val="0"/>
              </a:spcBef>
            </a:pPr>
            <a:r>
              <a:rPr lang="en-US" sz="2851" b="1">
                <a:solidFill>
                  <a:srgbClr val="737373"/>
                </a:solidFill>
                <a:latin typeface="Glacial Indifference Bold"/>
                <a:ea typeface="Glacial Indifference Bold"/>
                <a:cs typeface="Glacial Indifference Bold"/>
                <a:sym typeface="Glacial Indifference Bold"/>
              </a:rPr>
              <a:t>BigQuery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1689" y="4762373"/>
            <a:ext cx="6596406" cy="4947304"/>
          </a:xfrm>
          <a:custGeom>
            <a:avLst/>
            <a:gdLst/>
            <a:ahLst/>
            <a:cxnLst/>
            <a:rect l="l" t="t" r="r" b="b"/>
            <a:pathLst>
              <a:path w="6596406" h="4947304">
                <a:moveTo>
                  <a:pt x="0" y="0"/>
                </a:moveTo>
                <a:lnTo>
                  <a:pt x="6596406" y="0"/>
                </a:lnTo>
                <a:lnTo>
                  <a:pt x="6596406" y="4947304"/>
                </a:lnTo>
                <a:lnTo>
                  <a:pt x="0" y="4947304"/>
                </a:lnTo>
                <a:lnTo>
                  <a:pt x="0" y="0"/>
                </a:lnTo>
                <a:close/>
              </a:path>
            </a:pathLst>
          </a:custGeom>
          <a:blipFill>
            <a:blip r:embed="rId2"/>
            <a:stretch>
              <a:fillRect/>
            </a:stretch>
          </a:blipFill>
        </p:spPr>
      </p:sp>
      <p:sp>
        <p:nvSpPr>
          <p:cNvPr id="3" name="Freeform 3"/>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3"/>
            <a:stretch>
              <a:fillRect t="-21262" b="-22021"/>
            </a:stretch>
          </a:blipFill>
        </p:spPr>
      </p:sp>
      <p:sp>
        <p:nvSpPr>
          <p:cNvPr id="4" name="Freeform 4"/>
          <p:cNvSpPr/>
          <p:nvPr/>
        </p:nvSpPr>
        <p:spPr>
          <a:xfrm>
            <a:off x="3829501" y="-125422"/>
            <a:ext cx="11301259" cy="4887795"/>
          </a:xfrm>
          <a:custGeom>
            <a:avLst/>
            <a:gdLst/>
            <a:ahLst/>
            <a:cxnLst/>
            <a:rect l="l" t="t" r="r" b="b"/>
            <a:pathLst>
              <a:path w="11301259" h="4887795">
                <a:moveTo>
                  <a:pt x="0" y="0"/>
                </a:moveTo>
                <a:lnTo>
                  <a:pt x="11301259" y="0"/>
                </a:lnTo>
                <a:lnTo>
                  <a:pt x="11301259" y="4887795"/>
                </a:lnTo>
                <a:lnTo>
                  <a:pt x="0" y="4887795"/>
                </a:lnTo>
                <a:lnTo>
                  <a:pt x="0" y="0"/>
                </a:lnTo>
                <a:close/>
              </a:path>
            </a:pathLst>
          </a:custGeom>
          <a:blipFill>
            <a:blip r:embed="rId4"/>
            <a:stretch>
              <a:fillRect/>
            </a:stretch>
          </a:blipFill>
        </p:spPr>
      </p:sp>
      <p:sp>
        <p:nvSpPr>
          <p:cNvPr id="5" name="Freeform 5"/>
          <p:cNvSpPr/>
          <p:nvPr/>
        </p:nvSpPr>
        <p:spPr>
          <a:xfrm>
            <a:off x="0" y="4762373"/>
            <a:ext cx="6122975" cy="4815465"/>
          </a:xfrm>
          <a:custGeom>
            <a:avLst/>
            <a:gdLst/>
            <a:ahLst/>
            <a:cxnLst/>
            <a:rect l="l" t="t" r="r" b="b"/>
            <a:pathLst>
              <a:path w="6122975" h="4815465">
                <a:moveTo>
                  <a:pt x="0" y="0"/>
                </a:moveTo>
                <a:lnTo>
                  <a:pt x="6122975" y="0"/>
                </a:lnTo>
                <a:lnTo>
                  <a:pt x="6122975" y="4815464"/>
                </a:lnTo>
                <a:lnTo>
                  <a:pt x="0" y="4815464"/>
                </a:lnTo>
                <a:lnTo>
                  <a:pt x="0" y="0"/>
                </a:lnTo>
                <a:close/>
              </a:path>
            </a:pathLst>
          </a:custGeom>
          <a:blipFill>
            <a:blip r:embed="rId5"/>
            <a:stretch>
              <a:fillRect/>
            </a:stretch>
          </a:blipFill>
        </p:spPr>
      </p:sp>
      <p:sp>
        <p:nvSpPr>
          <p:cNvPr id="6" name="Freeform 6"/>
          <p:cNvSpPr/>
          <p:nvPr/>
        </p:nvSpPr>
        <p:spPr>
          <a:xfrm>
            <a:off x="5904090" y="4762373"/>
            <a:ext cx="6880616" cy="5342859"/>
          </a:xfrm>
          <a:custGeom>
            <a:avLst/>
            <a:gdLst/>
            <a:ahLst/>
            <a:cxnLst/>
            <a:rect l="l" t="t" r="r" b="b"/>
            <a:pathLst>
              <a:path w="6880616" h="5342859">
                <a:moveTo>
                  <a:pt x="0" y="0"/>
                </a:moveTo>
                <a:lnTo>
                  <a:pt x="6880616" y="0"/>
                </a:lnTo>
                <a:lnTo>
                  <a:pt x="6880616" y="5342858"/>
                </a:lnTo>
                <a:lnTo>
                  <a:pt x="0" y="5342858"/>
                </a:lnTo>
                <a:lnTo>
                  <a:pt x="0" y="0"/>
                </a:lnTo>
                <a:close/>
              </a:path>
            </a:pathLst>
          </a:custGeom>
          <a:blipFill>
            <a:blip r:embed="rId6"/>
            <a:stretch>
              <a:fillRect r="-1941"/>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shadow black"/>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2"/>
            <a:stretch>
              <a:fillRect/>
            </a:stretch>
          </a:blipFill>
        </p:spPr>
      </p:sp>
      <p:grpSp>
        <p:nvGrpSpPr>
          <p:cNvPr id="3" name="Group 3"/>
          <p:cNvGrpSpPr/>
          <p:nvPr/>
        </p:nvGrpSpPr>
        <p:grpSpPr>
          <a:xfrm rot="-5400000">
            <a:off x="7806054" y="-402391"/>
            <a:ext cx="2675891" cy="20328738"/>
            <a:chOff x="0" y="0"/>
            <a:chExt cx="432040" cy="3282205"/>
          </a:xfrm>
        </p:grpSpPr>
        <p:sp>
          <p:nvSpPr>
            <p:cNvPr id="4" name="Freeform 4"/>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4286F5"/>
            </a:solidFill>
          </p:spPr>
        </p:sp>
        <p:sp>
          <p:nvSpPr>
            <p:cNvPr id="5" name="TextBox 5"/>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5426346">
            <a:off x="8735248" y="-59138"/>
            <a:ext cx="1489766" cy="20328738"/>
            <a:chOff x="0" y="0"/>
            <a:chExt cx="240532" cy="3282205"/>
          </a:xfrm>
        </p:grpSpPr>
        <p:sp>
          <p:nvSpPr>
            <p:cNvPr id="7" name="Freeform 7"/>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FFFFF"/>
            </a:solidFill>
          </p:spPr>
        </p:sp>
        <p:sp>
          <p:nvSpPr>
            <p:cNvPr id="8" name="TextBox 8"/>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3"/>
            <a:stretch>
              <a:fillRect t="-21262" b="-22021"/>
            </a:stretch>
          </a:blipFill>
        </p:spPr>
      </p:sp>
      <p:sp>
        <p:nvSpPr>
          <p:cNvPr id="10" name="Freeform 10"/>
          <p:cNvSpPr/>
          <p:nvPr/>
        </p:nvSpPr>
        <p:spPr>
          <a:xfrm>
            <a:off x="3233283" y="97383"/>
            <a:ext cx="11748359" cy="8326649"/>
          </a:xfrm>
          <a:custGeom>
            <a:avLst/>
            <a:gdLst/>
            <a:ahLst/>
            <a:cxnLst/>
            <a:rect l="l" t="t" r="r" b="b"/>
            <a:pathLst>
              <a:path w="11748359" h="8326649">
                <a:moveTo>
                  <a:pt x="0" y="0"/>
                </a:moveTo>
                <a:lnTo>
                  <a:pt x="11748358" y="0"/>
                </a:lnTo>
                <a:lnTo>
                  <a:pt x="11748358" y="8326649"/>
                </a:lnTo>
                <a:lnTo>
                  <a:pt x="0" y="83266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shadow black"/>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2"/>
            <a:stretch>
              <a:fillRect/>
            </a:stretch>
          </a:blipFill>
        </p:spPr>
      </p:sp>
      <p:grpSp>
        <p:nvGrpSpPr>
          <p:cNvPr id="3" name="Group 3"/>
          <p:cNvGrpSpPr/>
          <p:nvPr/>
        </p:nvGrpSpPr>
        <p:grpSpPr>
          <a:xfrm rot="-5400000">
            <a:off x="7806054" y="-402391"/>
            <a:ext cx="2675891" cy="20328738"/>
            <a:chOff x="0" y="0"/>
            <a:chExt cx="432040" cy="3282205"/>
          </a:xfrm>
        </p:grpSpPr>
        <p:sp>
          <p:nvSpPr>
            <p:cNvPr id="4" name="Freeform 4"/>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4286F5"/>
            </a:solidFill>
          </p:spPr>
        </p:sp>
        <p:sp>
          <p:nvSpPr>
            <p:cNvPr id="5" name="TextBox 5"/>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5426346">
            <a:off x="8735248" y="-59138"/>
            <a:ext cx="1489766" cy="20328738"/>
            <a:chOff x="0" y="0"/>
            <a:chExt cx="240532" cy="3282205"/>
          </a:xfrm>
        </p:grpSpPr>
        <p:sp>
          <p:nvSpPr>
            <p:cNvPr id="7" name="Freeform 7"/>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FFFFF"/>
            </a:solidFill>
          </p:spPr>
        </p:sp>
        <p:sp>
          <p:nvSpPr>
            <p:cNvPr id="8" name="TextBox 8"/>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160737" y="1438177"/>
            <a:ext cx="8098563" cy="6494313"/>
          </a:xfrm>
          <a:custGeom>
            <a:avLst/>
            <a:gdLst/>
            <a:ahLst/>
            <a:cxnLst/>
            <a:rect l="l" t="t" r="r" b="b"/>
            <a:pathLst>
              <a:path w="8098563" h="6494313">
                <a:moveTo>
                  <a:pt x="0" y="0"/>
                </a:moveTo>
                <a:lnTo>
                  <a:pt x="8098563" y="0"/>
                </a:lnTo>
                <a:lnTo>
                  <a:pt x="8098563" y="6494313"/>
                </a:lnTo>
                <a:lnTo>
                  <a:pt x="0" y="6494313"/>
                </a:lnTo>
                <a:lnTo>
                  <a:pt x="0" y="0"/>
                </a:lnTo>
                <a:close/>
              </a:path>
            </a:pathLst>
          </a:custGeom>
          <a:blipFill>
            <a:blip r:embed="rId3"/>
            <a:stretch>
              <a:fillRect/>
            </a:stretch>
          </a:blipFill>
        </p:spPr>
      </p:sp>
      <p:sp>
        <p:nvSpPr>
          <p:cNvPr id="10" name="Freeform 10"/>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4"/>
            <a:stretch>
              <a:fillRect t="-21262" b="-22021"/>
            </a:stretch>
          </a:blipFill>
        </p:spPr>
      </p:sp>
      <p:grpSp>
        <p:nvGrpSpPr>
          <p:cNvPr id="11" name="Group 11"/>
          <p:cNvGrpSpPr/>
          <p:nvPr/>
        </p:nvGrpSpPr>
        <p:grpSpPr>
          <a:xfrm>
            <a:off x="-60925" y="10657"/>
            <a:ext cx="8556835" cy="5907994"/>
            <a:chOff x="0" y="0"/>
            <a:chExt cx="2253652" cy="1556015"/>
          </a:xfrm>
        </p:grpSpPr>
        <p:sp>
          <p:nvSpPr>
            <p:cNvPr id="12" name="Freeform 12"/>
            <p:cNvSpPr/>
            <p:nvPr/>
          </p:nvSpPr>
          <p:spPr>
            <a:xfrm>
              <a:off x="0" y="0"/>
              <a:ext cx="2253652" cy="1556015"/>
            </a:xfrm>
            <a:custGeom>
              <a:avLst/>
              <a:gdLst/>
              <a:ahLst/>
              <a:cxnLst/>
              <a:rect l="l" t="t" r="r" b="b"/>
              <a:pathLst>
                <a:path w="2253652" h="1556015">
                  <a:moveTo>
                    <a:pt x="15381" y="0"/>
                  </a:moveTo>
                  <a:lnTo>
                    <a:pt x="2238271" y="0"/>
                  </a:lnTo>
                  <a:cubicBezTo>
                    <a:pt x="2242350" y="0"/>
                    <a:pt x="2246263" y="1620"/>
                    <a:pt x="2249147" y="4505"/>
                  </a:cubicBezTo>
                  <a:cubicBezTo>
                    <a:pt x="2252032" y="7389"/>
                    <a:pt x="2253652" y="11302"/>
                    <a:pt x="2253652" y="15381"/>
                  </a:cubicBezTo>
                  <a:lnTo>
                    <a:pt x="2253652" y="1540634"/>
                  </a:lnTo>
                  <a:cubicBezTo>
                    <a:pt x="2253652" y="1544713"/>
                    <a:pt x="2252032" y="1548625"/>
                    <a:pt x="2249147" y="1551510"/>
                  </a:cubicBezTo>
                  <a:cubicBezTo>
                    <a:pt x="2246263" y="1554394"/>
                    <a:pt x="2242350" y="1556015"/>
                    <a:pt x="2238271" y="1556015"/>
                  </a:cubicBezTo>
                  <a:lnTo>
                    <a:pt x="15381" y="1556015"/>
                  </a:lnTo>
                  <a:cubicBezTo>
                    <a:pt x="11302" y="1556015"/>
                    <a:pt x="7389" y="1554394"/>
                    <a:pt x="4505" y="1551510"/>
                  </a:cubicBezTo>
                  <a:cubicBezTo>
                    <a:pt x="1620" y="1548625"/>
                    <a:pt x="0" y="1544713"/>
                    <a:pt x="0" y="1540634"/>
                  </a:cubicBezTo>
                  <a:lnTo>
                    <a:pt x="0" y="15381"/>
                  </a:lnTo>
                  <a:cubicBezTo>
                    <a:pt x="0" y="11302"/>
                    <a:pt x="1620" y="7389"/>
                    <a:pt x="4505" y="4505"/>
                  </a:cubicBezTo>
                  <a:cubicBezTo>
                    <a:pt x="7389" y="1620"/>
                    <a:pt x="11302" y="0"/>
                    <a:pt x="15381" y="0"/>
                  </a:cubicBezTo>
                  <a:close/>
                </a:path>
              </a:pathLst>
            </a:custGeom>
            <a:solidFill>
              <a:srgbClr val="000000"/>
            </a:solidFill>
          </p:spPr>
        </p:sp>
        <p:sp>
          <p:nvSpPr>
            <p:cNvPr id="13" name="TextBox 13"/>
            <p:cNvSpPr txBox="1"/>
            <p:nvPr/>
          </p:nvSpPr>
          <p:spPr>
            <a:xfrm>
              <a:off x="0" y="-38100"/>
              <a:ext cx="2253652" cy="159411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91557" y="134580"/>
            <a:ext cx="8186263" cy="5574955"/>
            <a:chOff x="0" y="0"/>
            <a:chExt cx="5153009" cy="3509268"/>
          </a:xfrm>
        </p:grpSpPr>
        <p:sp>
          <p:nvSpPr>
            <p:cNvPr id="15" name="Freeform 15"/>
            <p:cNvSpPr/>
            <p:nvPr/>
          </p:nvSpPr>
          <p:spPr>
            <a:xfrm>
              <a:off x="0" y="0"/>
              <a:ext cx="5153009" cy="3509268"/>
            </a:xfrm>
            <a:custGeom>
              <a:avLst/>
              <a:gdLst/>
              <a:ahLst/>
              <a:cxnLst/>
              <a:rect l="l" t="t" r="r" b="b"/>
              <a:pathLst>
                <a:path w="5153009" h="3509268">
                  <a:moveTo>
                    <a:pt x="5028549" y="3509268"/>
                  </a:moveTo>
                  <a:lnTo>
                    <a:pt x="124460" y="3509268"/>
                  </a:lnTo>
                  <a:cubicBezTo>
                    <a:pt x="55880" y="3509268"/>
                    <a:pt x="0" y="3453388"/>
                    <a:pt x="0" y="3384808"/>
                  </a:cubicBezTo>
                  <a:lnTo>
                    <a:pt x="0" y="124460"/>
                  </a:lnTo>
                  <a:cubicBezTo>
                    <a:pt x="0" y="55880"/>
                    <a:pt x="55880" y="0"/>
                    <a:pt x="124460" y="0"/>
                  </a:cubicBezTo>
                  <a:lnTo>
                    <a:pt x="5028549" y="0"/>
                  </a:lnTo>
                  <a:cubicBezTo>
                    <a:pt x="5097129" y="0"/>
                    <a:pt x="5153009" y="55880"/>
                    <a:pt x="5153009" y="124460"/>
                  </a:cubicBezTo>
                  <a:lnTo>
                    <a:pt x="5153009" y="3384809"/>
                  </a:lnTo>
                  <a:cubicBezTo>
                    <a:pt x="5153009" y="3453388"/>
                    <a:pt x="5097129" y="3509268"/>
                    <a:pt x="5028549" y="3509268"/>
                  </a:cubicBezTo>
                  <a:close/>
                </a:path>
              </a:pathLst>
            </a:custGeom>
            <a:solidFill>
              <a:srgbClr val="FFFFFF"/>
            </a:solidFill>
          </p:spPr>
        </p:sp>
      </p:grpSp>
      <p:sp>
        <p:nvSpPr>
          <p:cNvPr id="16" name="TextBox 16"/>
          <p:cNvSpPr txBox="1"/>
          <p:nvPr/>
        </p:nvSpPr>
        <p:spPr>
          <a:xfrm>
            <a:off x="424643" y="323521"/>
            <a:ext cx="7295461" cy="5088261"/>
          </a:xfrm>
          <a:prstGeom prst="rect">
            <a:avLst/>
          </a:prstGeom>
        </p:spPr>
        <p:txBody>
          <a:bodyPr lIns="0" tIns="0" rIns="0" bIns="0" rtlCol="0" anchor="t">
            <a:spAutoFit/>
          </a:bodyPr>
          <a:lstStyle/>
          <a:p>
            <a:pPr algn="just">
              <a:lnSpc>
                <a:spcPts val="3709"/>
              </a:lnSpc>
              <a:spcBef>
                <a:spcPct val="0"/>
              </a:spcBef>
            </a:pPr>
            <a:r>
              <a:rPr lang="en-US" sz="2649" b="1">
                <a:solidFill>
                  <a:srgbClr val="000000"/>
                </a:solidFill>
                <a:latin typeface="Glacial Indifference Bold"/>
                <a:ea typeface="Glacial Indifference Bold"/>
                <a:cs typeface="Glacial Indifference Bold"/>
                <a:sym typeface="Glacial Indifference Bold"/>
              </a:rPr>
              <a:t>A data lakehouse </a:t>
            </a:r>
            <a:r>
              <a:rPr lang="en-US" sz="2649">
                <a:solidFill>
                  <a:srgbClr val="000000"/>
                </a:solidFill>
                <a:latin typeface="Glacial Indifference"/>
                <a:ea typeface="Glacial Indifference"/>
                <a:cs typeface="Glacial Indifference"/>
                <a:sym typeface="Glacial Indifference"/>
              </a:rPr>
              <a:t>is a modern data architecture that combines the features of both data lakes and data warehouses. It allows organizations to store all types of data—structured, semi-structured, and unstructured—on low-cost storage, while enabling users to perform a wide range of analytics tasks. From business intelligence to machine learning and AI, a data lakehouse provides a unified platform where data can be organized, explored, and leveraged flexibly according to user needs.</a:t>
            </a:r>
          </a:p>
          <a:p>
            <a:pPr algn="just">
              <a:lnSpc>
                <a:spcPts val="3429"/>
              </a:lnSpc>
              <a:spcBef>
                <a:spcPct val="0"/>
              </a:spcBef>
            </a:pPr>
            <a:endParaRPr lang="en-US" sz="2649">
              <a:solidFill>
                <a:srgbClr val="000000"/>
              </a:solidFill>
              <a:latin typeface="Glacial Indifference"/>
              <a:ea typeface="Glacial Indifference"/>
              <a:cs typeface="Glacial Indifference"/>
              <a:sym typeface="Glacial Indifferen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2"/>
            <a:stretch>
              <a:fillRect t="-21262" b="-22021"/>
            </a:stretch>
          </a:blipFill>
        </p:spPr>
      </p:sp>
      <p:sp>
        <p:nvSpPr>
          <p:cNvPr id="3" name="Freeform 3"/>
          <p:cNvSpPr/>
          <p:nvPr/>
        </p:nvSpPr>
        <p:spPr>
          <a:xfrm>
            <a:off x="450895" y="865090"/>
            <a:ext cx="15212126" cy="8556821"/>
          </a:xfrm>
          <a:custGeom>
            <a:avLst/>
            <a:gdLst/>
            <a:ahLst/>
            <a:cxnLst/>
            <a:rect l="l" t="t" r="r" b="b"/>
            <a:pathLst>
              <a:path w="15212126" h="8556821">
                <a:moveTo>
                  <a:pt x="0" y="0"/>
                </a:moveTo>
                <a:lnTo>
                  <a:pt x="15212126" y="0"/>
                </a:lnTo>
                <a:lnTo>
                  <a:pt x="15212126" y="8556820"/>
                </a:lnTo>
                <a:lnTo>
                  <a:pt x="0" y="8556820"/>
                </a:lnTo>
                <a:lnTo>
                  <a:pt x="0" y="0"/>
                </a:lnTo>
                <a:close/>
              </a:path>
            </a:pathLst>
          </a:custGeom>
          <a:blipFill>
            <a:blip r:embed="rId3"/>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2"/>
            <a:stretch>
              <a:fillRect t="-21262" b="-22021"/>
            </a:stretch>
          </a:blipFill>
        </p:spPr>
      </p:sp>
      <p:sp>
        <p:nvSpPr>
          <p:cNvPr id="3" name="Freeform 3"/>
          <p:cNvSpPr/>
          <p:nvPr/>
        </p:nvSpPr>
        <p:spPr>
          <a:xfrm>
            <a:off x="10324259" y="1977477"/>
            <a:ext cx="6444830" cy="6332045"/>
          </a:xfrm>
          <a:custGeom>
            <a:avLst/>
            <a:gdLst/>
            <a:ahLst/>
            <a:cxnLst/>
            <a:rect l="l" t="t" r="r" b="b"/>
            <a:pathLst>
              <a:path w="6444830" h="6332045">
                <a:moveTo>
                  <a:pt x="0" y="0"/>
                </a:moveTo>
                <a:lnTo>
                  <a:pt x="6444830" y="0"/>
                </a:lnTo>
                <a:lnTo>
                  <a:pt x="6444830" y="6332046"/>
                </a:lnTo>
                <a:lnTo>
                  <a:pt x="0" y="6332046"/>
                </a:lnTo>
                <a:lnTo>
                  <a:pt x="0" y="0"/>
                </a:lnTo>
                <a:close/>
              </a:path>
            </a:pathLst>
          </a:custGeom>
          <a:blipFill>
            <a:blip r:embed="rId3"/>
            <a:stretch>
              <a:fillRect/>
            </a:stretch>
          </a:blipFill>
        </p:spPr>
      </p:sp>
      <p:grpSp>
        <p:nvGrpSpPr>
          <p:cNvPr id="4" name="Group 4"/>
          <p:cNvGrpSpPr/>
          <p:nvPr/>
        </p:nvGrpSpPr>
        <p:grpSpPr>
          <a:xfrm>
            <a:off x="-60925" y="10657"/>
            <a:ext cx="9315098" cy="8298865"/>
            <a:chOff x="0" y="0"/>
            <a:chExt cx="2453359" cy="2185709"/>
          </a:xfrm>
        </p:grpSpPr>
        <p:sp>
          <p:nvSpPr>
            <p:cNvPr id="5" name="Freeform 5"/>
            <p:cNvSpPr/>
            <p:nvPr/>
          </p:nvSpPr>
          <p:spPr>
            <a:xfrm>
              <a:off x="0" y="0"/>
              <a:ext cx="2453359" cy="2185709"/>
            </a:xfrm>
            <a:custGeom>
              <a:avLst/>
              <a:gdLst/>
              <a:ahLst/>
              <a:cxnLst/>
              <a:rect l="l" t="t" r="r" b="b"/>
              <a:pathLst>
                <a:path w="2453359" h="2185709">
                  <a:moveTo>
                    <a:pt x="14129" y="0"/>
                  </a:moveTo>
                  <a:lnTo>
                    <a:pt x="2439230" y="0"/>
                  </a:lnTo>
                  <a:cubicBezTo>
                    <a:pt x="2447033" y="0"/>
                    <a:pt x="2453359" y="6326"/>
                    <a:pt x="2453359" y="14129"/>
                  </a:cubicBezTo>
                  <a:lnTo>
                    <a:pt x="2453359" y="2171580"/>
                  </a:lnTo>
                  <a:cubicBezTo>
                    <a:pt x="2453359" y="2179384"/>
                    <a:pt x="2447033" y="2185709"/>
                    <a:pt x="2439230" y="2185709"/>
                  </a:cubicBezTo>
                  <a:lnTo>
                    <a:pt x="14129" y="2185709"/>
                  </a:lnTo>
                  <a:cubicBezTo>
                    <a:pt x="6326" y="2185709"/>
                    <a:pt x="0" y="2179384"/>
                    <a:pt x="0" y="2171580"/>
                  </a:cubicBezTo>
                  <a:lnTo>
                    <a:pt x="0" y="14129"/>
                  </a:lnTo>
                  <a:cubicBezTo>
                    <a:pt x="0" y="6326"/>
                    <a:pt x="6326" y="0"/>
                    <a:pt x="14129" y="0"/>
                  </a:cubicBezTo>
                  <a:close/>
                </a:path>
              </a:pathLst>
            </a:custGeom>
            <a:solidFill>
              <a:srgbClr val="000000"/>
            </a:solidFill>
          </p:spPr>
        </p:sp>
        <p:sp>
          <p:nvSpPr>
            <p:cNvPr id="6" name="TextBox 6"/>
            <p:cNvSpPr txBox="1"/>
            <p:nvPr/>
          </p:nvSpPr>
          <p:spPr>
            <a:xfrm>
              <a:off x="0" y="-38100"/>
              <a:ext cx="2453359" cy="2223809"/>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91557" y="134580"/>
            <a:ext cx="8915557" cy="7960690"/>
            <a:chOff x="0" y="0"/>
            <a:chExt cx="5153009" cy="4601115"/>
          </a:xfrm>
        </p:grpSpPr>
        <p:sp>
          <p:nvSpPr>
            <p:cNvPr id="8" name="Freeform 8"/>
            <p:cNvSpPr/>
            <p:nvPr/>
          </p:nvSpPr>
          <p:spPr>
            <a:xfrm>
              <a:off x="0" y="0"/>
              <a:ext cx="5153009" cy="4601115"/>
            </a:xfrm>
            <a:custGeom>
              <a:avLst/>
              <a:gdLst/>
              <a:ahLst/>
              <a:cxnLst/>
              <a:rect l="l" t="t" r="r" b="b"/>
              <a:pathLst>
                <a:path w="5153009" h="4601115">
                  <a:moveTo>
                    <a:pt x="5028549" y="4601115"/>
                  </a:moveTo>
                  <a:lnTo>
                    <a:pt x="124460" y="4601115"/>
                  </a:lnTo>
                  <a:cubicBezTo>
                    <a:pt x="55880" y="4601115"/>
                    <a:pt x="0" y="4545235"/>
                    <a:pt x="0" y="4476655"/>
                  </a:cubicBezTo>
                  <a:lnTo>
                    <a:pt x="0" y="124460"/>
                  </a:lnTo>
                  <a:cubicBezTo>
                    <a:pt x="0" y="55880"/>
                    <a:pt x="55880" y="0"/>
                    <a:pt x="124460" y="0"/>
                  </a:cubicBezTo>
                  <a:lnTo>
                    <a:pt x="5028549" y="0"/>
                  </a:lnTo>
                  <a:cubicBezTo>
                    <a:pt x="5097129" y="0"/>
                    <a:pt x="5153009" y="55880"/>
                    <a:pt x="5153009" y="124460"/>
                  </a:cubicBezTo>
                  <a:lnTo>
                    <a:pt x="5153009" y="4476655"/>
                  </a:lnTo>
                  <a:cubicBezTo>
                    <a:pt x="5153009" y="4545235"/>
                    <a:pt x="5097129" y="4601115"/>
                    <a:pt x="5028549" y="4601115"/>
                  </a:cubicBezTo>
                  <a:close/>
                </a:path>
              </a:pathLst>
            </a:custGeom>
            <a:solidFill>
              <a:srgbClr val="FFFFFF"/>
            </a:solidFill>
          </p:spPr>
        </p:sp>
      </p:grpSp>
      <p:sp>
        <p:nvSpPr>
          <p:cNvPr id="9" name="TextBox 9"/>
          <p:cNvSpPr txBox="1"/>
          <p:nvPr/>
        </p:nvSpPr>
        <p:spPr>
          <a:xfrm>
            <a:off x="508016" y="204259"/>
            <a:ext cx="8082639" cy="7764182"/>
          </a:xfrm>
          <a:prstGeom prst="rect">
            <a:avLst/>
          </a:prstGeom>
        </p:spPr>
        <p:txBody>
          <a:bodyPr lIns="0" tIns="0" rIns="0" bIns="0" rtlCol="0" anchor="t">
            <a:spAutoFit/>
          </a:bodyPr>
          <a:lstStyle/>
          <a:p>
            <a:pPr algn="just">
              <a:lnSpc>
                <a:spcPts val="3602"/>
              </a:lnSpc>
              <a:spcBef>
                <a:spcPct val="0"/>
              </a:spcBef>
            </a:pPr>
            <a:r>
              <a:rPr lang="en-US" sz="2573" b="1">
                <a:solidFill>
                  <a:srgbClr val="000000"/>
                </a:solidFill>
                <a:latin typeface="Glacial Indifference Bold"/>
                <a:ea typeface="Glacial Indifference Bold"/>
                <a:cs typeface="Glacial Indifference Bold"/>
                <a:sym typeface="Glacial Indifference Bold"/>
              </a:rPr>
              <a:t>LookML (Looker Modeling Language)</a:t>
            </a:r>
            <a:r>
              <a:rPr lang="en-US" sz="2573">
                <a:solidFill>
                  <a:srgbClr val="000000"/>
                </a:solidFill>
                <a:latin typeface="Glacial Indifference"/>
                <a:ea typeface="Glacial Indifference"/>
                <a:cs typeface="Glacial Indifference"/>
                <a:sym typeface="Glacial Indifference"/>
              </a:rPr>
              <a:t> is a declarative language used in Looker to create semantic data models by describing dimensions, measures, calculations, and relationships within SQL databases. It allows data analysts to define data logic once using the DRY (Don't Repeat Yourself) principle, enabling reusable and consistent SQL generation. Unlike traditional programming languages, LookML is a dependency language—simple to learn and independent of specific SQL dialects. When business users create queries using the Explore interface, Looker translates those selections into SQL using the underlying LookML model. The SQL is then executed against the database, and the results are returned as interactive, visual insights. This separation of logic and exploration empowers business users to generate insights without needing to understand SQL or data structure complexities.</a:t>
            </a:r>
          </a:p>
        </p:txBody>
      </p:sp>
      <p:sp>
        <p:nvSpPr>
          <p:cNvPr id="10" name="Freeform 10" descr="shadow black"/>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4"/>
            <a:stretch>
              <a:fillRect/>
            </a:stretch>
          </a:blipFill>
        </p:spPr>
      </p:sp>
      <p:grpSp>
        <p:nvGrpSpPr>
          <p:cNvPr id="11" name="Group 11"/>
          <p:cNvGrpSpPr/>
          <p:nvPr/>
        </p:nvGrpSpPr>
        <p:grpSpPr>
          <a:xfrm rot="-5400000">
            <a:off x="7806054" y="-402391"/>
            <a:ext cx="2675891" cy="20328738"/>
            <a:chOff x="0" y="0"/>
            <a:chExt cx="432040" cy="3282205"/>
          </a:xfrm>
        </p:grpSpPr>
        <p:sp>
          <p:nvSpPr>
            <p:cNvPr id="12" name="Freeform 12"/>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4286F5"/>
            </a:solidFill>
          </p:spPr>
        </p:sp>
        <p:sp>
          <p:nvSpPr>
            <p:cNvPr id="13" name="TextBox 13"/>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rot="-5426346">
            <a:off x="8735248" y="-59138"/>
            <a:ext cx="1489766" cy="20328738"/>
            <a:chOff x="0" y="0"/>
            <a:chExt cx="240532" cy="3282205"/>
          </a:xfrm>
        </p:grpSpPr>
        <p:sp>
          <p:nvSpPr>
            <p:cNvPr id="15" name="Freeform 15"/>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FFFFF"/>
            </a:solidFill>
          </p:spPr>
        </p:sp>
        <p:sp>
          <p:nvSpPr>
            <p:cNvPr id="16" name="TextBox 16"/>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shadow black"/>
          <p:cNvSpPr/>
          <p:nvPr/>
        </p:nvSpPr>
        <p:spPr>
          <a:xfrm rot="-10800000">
            <a:off x="-60925" y="7665293"/>
            <a:ext cx="18336773" cy="3186014"/>
          </a:xfrm>
          <a:custGeom>
            <a:avLst/>
            <a:gdLst/>
            <a:ahLst/>
            <a:cxnLst/>
            <a:rect l="l" t="t" r="r" b="b"/>
            <a:pathLst>
              <a:path w="18336773" h="3186014">
                <a:moveTo>
                  <a:pt x="0" y="0"/>
                </a:moveTo>
                <a:lnTo>
                  <a:pt x="18336773" y="0"/>
                </a:lnTo>
                <a:lnTo>
                  <a:pt x="18336773" y="3186014"/>
                </a:lnTo>
                <a:lnTo>
                  <a:pt x="0" y="3186014"/>
                </a:lnTo>
                <a:lnTo>
                  <a:pt x="0" y="0"/>
                </a:lnTo>
                <a:close/>
              </a:path>
            </a:pathLst>
          </a:custGeom>
          <a:blipFill>
            <a:blip r:embed="rId2"/>
            <a:stretch>
              <a:fillRect/>
            </a:stretch>
          </a:blipFill>
        </p:spPr>
      </p:sp>
      <p:grpSp>
        <p:nvGrpSpPr>
          <p:cNvPr id="3" name="Group 3"/>
          <p:cNvGrpSpPr/>
          <p:nvPr/>
        </p:nvGrpSpPr>
        <p:grpSpPr>
          <a:xfrm rot="-5400000">
            <a:off x="7806054" y="-402391"/>
            <a:ext cx="2675891" cy="20328738"/>
            <a:chOff x="0" y="0"/>
            <a:chExt cx="432040" cy="3282205"/>
          </a:xfrm>
        </p:grpSpPr>
        <p:sp>
          <p:nvSpPr>
            <p:cNvPr id="4" name="Freeform 4"/>
            <p:cNvSpPr/>
            <p:nvPr/>
          </p:nvSpPr>
          <p:spPr>
            <a:xfrm>
              <a:off x="0" y="0"/>
              <a:ext cx="432040" cy="3282205"/>
            </a:xfrm>
            <a:custGeom>
              <a:avLst/>
              <a:gdLst/>
              <a:ahLst/>
              <a:cxnLst/>
              <a:rect l="l" t="t" r="r" b="b"/>
              <a:pathLst>
                <a:path w="432040" h="3282205">
                  <a:moveTo>
                    <a:pt x="0" y="0"/>
                  </a:moveTo>
                  <a:lnTo>
                    <a:pt x="432040" y="0"/>
                  </a:lnTo>
                  <a:lnTo>
                    <a:pt x="432040" y="3282205"/>
                  </a:lnTo>
                  <a:lnTo>
                    <a:pt x="0" y="3282205"/>
                  </a:lnTo>
                  <a:close/>
                </a:path>
              </a:pathLst>
            </a:custGeom>
            <a:solidFill>
              <a:srgbClr val="4286F5"/>
            </a:solidFill>
          </p:spPr>
        </p:sp>
        <p:sp>
          <p:nvSpPr>
            <p:cNvPr id="5" name="TextBox 5"/>
            <p:cNvSpPr txBox="1"/>
            <p:nvPr/>
          </p:nvSpPr>
          <p:spPr>
            <a:xfrm>
              <a:off x="0" y="-38100"/>
              <a:ext cx="432040" cy="332030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5426346">
            <a:off x="8735248" y="-59138"/>
            <a:ext cx="1489766" cy="20328738"/>
            <a:chOff x="0" y="0"/>
            <a:chExt cx="240532" cy="3282205"/>
          </a:xfrm>
        </p:grpSpPr>
        <p:sp>
          <p:nvSpPr>
            <p:cNvPr id="7" name="Freeform 7"/>
            <p:cNvSpPr/>
            <p:nvPr/>
          </p:nvSpPr>
          <p:spPr>
            <a:xfrm>
              <a:off x="0" y="0"/>
              <a:ext cx="240532" cy="3282205"/>
            </a:xfrm>
            <a:custGeom>
              <a:avLst/>
              <a:gdLst/>
              <a:ahLst/>
              <a:cxnLst/>
              <a:rect l="l" t="t" r="r" b="b"/>
              <a:pathLst>
                <a:path w="240532" h="3282205">
                  <a:moveTo>
                    <a:pt x="0" y="0"/>
                  </a:moveTo>
                  <a:lnTo>
                    <a:pt x="240532" y="0"/>
                  </a:lnTo>
                  <a:lnTo>
                    <a:pt x="240532" y="3282205"/>
                  </a:lnTo>
                  <a:lnTo>
                    <a:pt x="0" y="3282205"/>
                  </a:lnTo>
                  <a:close/>
                </a:path>
              </a:pathLst>
            </a:custGeom>
            <a:solidFill>
              <a:srgbClr val="FFFFFF"/>
            </a:solidFill>
          </p:spPr>
        </p:sp>
        <p:sp>
          <p:nvSpPr>
            <p:cNvPr id="8" name="TextBox 8"/>
            <p:cNvSpPr txBox="1"/>
            <p:nvPr/>
          </p:nvSpPr>
          <p:spPr>
            <a:xfrm>
              <a:off x="0" y="-38100"/>
              <a:ext cx="240532" cy="332030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5115413"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3"/>
            <a:stretch>
              <a:fillRect t="-21262" b="-22021"/>
            </a:stretch>
          </a:blipFill>
        </p:spPr>
      </p:sp>
      <p:sp>
        <p:nvSpPr>
          <p:cNvPr id="10" name="Freeform 10"/>
          <p:cNvSpPr/>
          <p:nvPr/>
        </p:nvSpPr>
        <p:spPr>
          <a:xfrm>
            <a:off x="4502377" y="338440"/>
            <a:ext cx="9283246" cy="7821135"/>
          </a:xfrm>
          <a:custGeom>
            <a:avLst/>
            <a:gdLst/>
            <a:ahLst/>
            <a:cxnLst/>
            <a:rect l="l" t="t" r="r" b="b"/>
            <a:pathLst>
              <a:path w="9283246" h="7821135">
                <a:moveTo>
                  <a:pt x="0" y="0"/>
                </a:moveTo>
                <a:lnTo>
                  <a:pt x="9283246" y="0"/>
                </a:lnTo>
                <a:lnTo>
                  <a:pt x="9283246" y="7821135"/>
                </a:lnTo>
                <a:lnTo>
                  <a:pt x="0" y="7821135"/>
                </a:lnTo>
                <a:lnTo>
                  <a:pt x="0" y="0"/>
                </a:lnTo>
                <a:close/>
              </a:path>
            </a:pathLst>
          </a:custGeom>
          <a:blipFill>
            <a:blip r:embed="rId4"/>
            <a:stretch>
              <a:fillRect/>
            </a:stretch>
          </a:blipFill>
        </p:spPr>
      </p:sp>
      <p:sp>
        <p:nvSpPr>
          <p:cNvPr id="11" name="TextBox 11"/>
          <p:cNvSpPr txBox="1"/>
          <p:nvPr/>
        </p:nvSpPr>
        <p:spPr>
          <a:xfrm>
            <a:off x="143777" y="480976"/>
            <a:ext cx="4774168" cy="547371"/>
          </a:xfrm>
          <a:prstGeom prst="rect">
            <a:avLst/>
          </a:prstGeom>
        </p:spPr>
        <p:txBody>
          <a:bodyPr lIns="0" tIns="0" rIns="0" bIns="0" rtlCol="0" anchor="t">
            <a:spAutoFit/>
          </a:bodyPr>
          <a:lstStyle/>
          <a:p>
            <a:pPr algn="ctr">
              <a:lnSpc>
                <a:spcPts val="4479"/>
              </a:lnSpc>
              <a:spcBef>
                <a:spcPct val="0"/>
              </a:spcBef>
            </a:pPr>
            <a:r>
              <a:rPr lang="en-US" sz="3199" b="1">
                <a:solidFill>
                  <a:srgbClr val="000000"/>
                </a:solidFill>
                <a:latin typeface="Glacial Indifference Bold"/>
                <a:ea typeface="Glacial Indifference Bold"/>
                <a:cs typeface="Glacial Indifference Bold"/>
                <a:sym typeface="Glacial Indifference Bold"/>
              </a:rPr>
              <a:t>Parts of a LookML Project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1927907" y="2350236"/>
            <a:ext cx="10552081" cy="5851609"/>
          </a:xfrm>
          <a:custGeom>
            <a:avLst/>
            <a:gdLst/>
            <a:ahLst/>
            <a:cxnLst/>
            <a:rect l="l" t="t" r="r" b="b"/>
            <a:pathLst>
              <a:path w="10552081" h="5851609">
                <a:moveTo>
                  <a:pt x="0" y="0"/>
                </a:moveTo>
                <a:lnTo>
                  <a:pt x="10552082" y="0"/>
                </a:lnTo>
                <a:lnTo>
                  <a:pt x="10552082" y="5851609"/>
                </a:lnTo>
                <a:lnTo>
                  <a:pt x="0" y="58516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437784" y="8106480"/>
            <a:ext cx="18725784" cy="2587563"/>
          </a:xfrm>
          <a:custGeom>
            <a:avLst/>
            <a:gdLst/>
            <a:ahLst/>
            <a:cxnLst/>
            <a:rect l="l" t="t" r="r" b="b"/>
            <a:pathLst>
              <a:path w="18725784" h="2587563">
                <a:moveTo>
                  <a:pt x="18725784" y="0"/>
                </a:moveTo>
                <a:lnTo>
                  <a:pt x="0" y="0"/>
                </a:lnTo>
                <a:lnTo>
                  <a:pt x="0" y="2587563"/>
                </a:lnTo>
                <a:lnTo>
                  <a:pt x="18725784" y="2587563"/>
                </a:lnTo>
                <a:lnTo>
                  <a:pt x="1872578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952748" y="4190295"/>
            <a:ext cx="12382504" cy="2211210"/>
          </a:xfrm>
          <a:prstGeom prst="rect">
            <a:avLst/>
          </a:prstGeom>
        </p:spPr>
        <p:txBody>
          <a:bodyPr lIns="0" tIns="0" rIns="0" bIns="0" rtlCol="0" anchor="t">
            <a:spAutoFit/>
          </a:bodyPr>
          <a:lstStyle/>
          <a:p>
            <a:pPr algn="ctr">
              <a:lnSpc>
                <a:spcPts val="16555"/>
              </a:lnSpc>
            </a:pPr>
            <a:r>
              <a:rPr lang="en-US" sz="16555" b="1">
                <a:solidFill>
                  <a:srgbClr val="000000"/>
                </a:solidFill>
                <a:latin typeface="Raleway Bold"/>
                <a:ea typeface="Raleway Bold"/>
                <a:cs typeface="Raleway Bold"/>
                <a:sym typeface="Raleway Bold"/>
              </a:rPr>
              <a:t>Thank You</a:t>
            </a:r>
          </a:p>
        </p:txBody>
      </p:sp>
      <p:sp>
        <p:nvSpPr>
          <p:cNvPr id="5" name="Freeform 5"/>
          <p:cNvSpPr/>
          <p:nvPr/>
        </p:nvSpPr>
        <p:spPr>
          <a:xfrm rot="-5400000" flipV="1">
            <a:off x="-4565264" y="2414936"/>
            <a:ext cx="10842572" cy="6012699"/>
          </a:xfrm>
          <a:custGeom>
            <a:avLst/>
            <a:gdLst/>
            <a:ahLst/>
            <a:cxnLst/>
            <a:rect l="l" t="t" r="r" b="b"/>
            <a:pathLst>
              <a:path w="10842572" h="6012699">
                <a:moveTo>
                  <a:pt x="0" y="6012699"/>
                </a:moveTo>
                <a:lnTo>
                  <a:pt x="10842572" y="6012699"/>
                </a:lnTo>
                <a:lnTo>
                  <a:pt x="10842572" y="0"/>
                </a:lnTo>
                <a:lnTo>
                  <a:pt x="0" y="0"/>
                </a:lnTo>
                <a:lnTo>
                  <a:pt x="0" y="601269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2888767" y="-125422"/>
            <a:ext cx="3307353" cy="2308244"/>
          </a:xfrm>
          <a:custGeom>
            <a:avLst/>
            <a:gdLst/>
            <a:ahLst/>
            <a:cxnLst/>
            <a:rect l="l" t="t" r="r" b="b"/>
            <a:pathLst>
              <a:path w="3307353" h="2308244">
                <a:moveTo>
                  <a:pt x="0" y="0"/>
                </a:moveTo>
                <a:lnTo>
                  <a:pt x="3307353" y="0"/>
                </a:lnTo>
                <a:lnTo>
                  <a:pt x="3307353" y="2308244"/>
                </a:lnTo>
                <a:lnTo>
                  <a:pt x="0" y="2308244"/>
                </a:lnTo>
                <a:lnTo>
                  <a:pt x="0" y="0"/>
                </a:lnTo>
                <a:close/>
              </a:path>
            </a:pathLst>
          </a:custGeom>
          <a:blipFill>
            <a:blip r:embed="rId6"/>
            <a:stretch>
              <a:fillRect t="-21262" b="-2202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531</Words>
  <Application>Microsoft Office PowerPoint</Application>
  <PresentationFormat>Custom</PresentationFormat>
  <Paragraphs>24</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Glacial Indifference</vt:lpstr>
      <vt:lpstr>Calibri</vt:lpstr>
      <vt:lpstr>Raleway Bold</vt:lpstr>
      <vt:lpstr>League Spartan</vt:lpstr>
      <vt:lpstr>Canva Sans Bold</vt:lpstr>
      <vt:lpstr>Arial</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dc:title>
  <cp:lastModifiedBy>Vidwath Surya T</cp:lastModifiedBy>
  <cp:revision>3</cp:revision>
  <dcterms:created xsi:type="dcterms:W3CDTF">2006-08-16T00:00:00Z</dcterms:created>
  <dcterms:modified xsi:type="dcterms:W3CDTF">2025-06-22T15:48:30Z</dcterms:modified>
  <dc:identifier>DAGrCfW8Rwo</dc:identifier>
</cp:coreProperties>
</file>