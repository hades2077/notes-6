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D2EA-51FF-E9F6-D025-379C573063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5DB1D1-AD19-A088-01B2-1BF3D5E320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46B5D8-DDA4-369E-EB78-6B04897859D3}"/>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691770DE-CF5D-1E3D-EFD7-B3F8BDB5A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75E1AC-C204-7A7C-48E3-CE2C0E26260F}"/>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4193769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CB692-516D-6970-BD60-FC04AFD8EE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2AC68A-242C-9762-FC14-8D572D5318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E2D950-810C-1A5A-1630-7E61B945FBB7}"/>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DACAE197-00CE-BEE2-CB18-76424347F9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FA7D52-9E44-916A-E1DA-B7D9E4FFD12D}"/>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2617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4E62-6FE1-8902-0A86-CAA6E68FCC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A87713-D32F-C768-1367-A0D5BA6FB4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4CE4CE-2C01-B7D7-9996-241C099A98FA}"/>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38CBD370-8B0A-48E3-58AD-1F1A3D4B75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81D7B-3EDB-068F-B173-94FFBA27102F}"/>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2636632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C782-C9DE-4A3D-CDC9-1331ACC304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148486-1C6C-8ADB-486C-8606E5FCAB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441EC6-8F4B-D913-C701-4962E6F33E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0A1391-A607-5ADF-AFC2-E11BD828FDE4}"/>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6" name="Footer Placeholder 5">
            <a:extLst>
              <a:ext uri="{FF2B5EF4-FFF2-40B4-BE49-F238E27FC236}">
                <a16:creationId xmlns:a16="http://schemas.microsoft.com/office/drawing/2014/main" id="{3F0BC538-74D5-BC26-9E4C-3AF1019876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C2561-D4E5-AA30-7A7B-99877BDE2616}"/>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744841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19B2-D1F3-126D-7F54-2433F67481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3FC0DD-AF46-B22C-58B9-C9879066C2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4FB53B-10BD-F279-82D1-87C69EDCC3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EE4B5E-1294-6BD0-4DCE-6AA50F90C1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CB81B7-4BD4-E1DB-FE21-8D32B2DFF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E9FA9A-FED1-F83E-2094-845942809D55}"/>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8" name="Footer Placeholder 7">
            <a:extLst>
              <a:ext uri="{FF2B5EF4-FFF2-40B4-BE49-F238E27FC236}">
                <a16:creationId xmlns:a16="http://schemas.microsoft.com/office/drawing/2014/main" id="{BC9DD84F-C199-53A7-8278-5E6E24E369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A96E52-399A-15A6-7EEF-E7ABF46B8D13}"/>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789364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68BC-4D66-9CB8-154B-39F662239F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C1282C-E639-CAA8-D8E1-08095D26594E}"/>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4" name="Footer Placeholder 3">
            <a:extLst>
              <a:ext uri="{FF2B5EF4-FFF2-40B4-BE49-F238E27FC236}">
                <a16:creationId xmlns:a16="http://schemas.microsoft.com/office/drawing/2014/main" id="{A96F7958-2349-FEE7-91DF-39C060BD8B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58D278-7D66-891F-42A5-4F658F51D2DA}"/>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465914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A4E811-DEEF-4BBA-4BAA-A616ED21E5B0}"/>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3" name="Footer Placeholder 2">
            <a:extLst>
              <a:ext uri="{FF2B5EF4-FFF2-40B4-BE49-F238E27FC236}">
                <a16:creationId xmlns:a16="http://schemas.microsoft.com/office/drawing/2014/main" id="{78042A67-E9CD-196E-05AD-C30E38D107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B78492-C2CE-0958-BC25-951DEC25C1A7}"/>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62742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F0CC1-14E1-3261-E632-1E0482477D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DEAC32-AAF0-9EAE-3D3D-12D412CEBA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05D7EE-BEDE-75CA-328A-CECA93C65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986F72-54F3-82F8-1CDE-A8CE129B30E7}"/>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6" name="Footer Placeholder 5">
            <a:extLst>
              <a:ext uri="{FF2B5EF4-FFF2-40B4-BE49-F238E27FC236}">
                <a16:creationId xmlns:a16="http://schemas.microsoft.com/office/drawing/2014/main" id="{98943524-58EC-8B86-0BDD-DB9E7C48D2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BBD3B1-A38C-3C6A-DD51-F2C5643E095E}"/>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81960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2F22-0438-7811-B68F-0EDCDAF86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E39F9E-8ACF-6269-F1F7-04CC60155D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B28D62-8CE3-4263-0204-52CA3677F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B6399-995F-52B1-D419-5D999AECAC28}"/>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6" name="Footer Placeholder 5">
            <a:extLst>
              <a:ext uri="{FF2B5EF4-FFF2-40B4-BE49-F238E27FC236}">
                <a16:creationId xmlns:a16="http://schemas.microsoft.com/office/drawing/2014/main" id="{0947BD6C-1678-913E-C3E5-3CD60E56D9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688C3-C938-47EE-6ABB-EFBDE665EBB3}"/>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23121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5073-739B-FBB9-B939-2ED5238A93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9C7F40-8287-B0AF-5EEF-C447371EDC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442307-B62B-C395-7618-A48E38FE114A}"/>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9BA57E7E-3CFD-C83B-C1A4-6B90E27A4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FC7948-D62E-02D9-2F39-CD8B277E273D}"/>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780218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9008C-0628-E3FD-5B70-880DF0D1D0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A425FA-1177-747B-4366-A99967A78F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984CC4-A352-ACF3-C677-8238BDAA034A}"/>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919845D8-E901-B5B0-A3E2-920199381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D20B61-71AF-F7BB-277A-B93EAAE7E2DE}"/>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648739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A2BDC0-6E04-DA37-B81A-7E2DB9C509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0A2899-382D-4660-6038-9E06E6A42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B2682B-3FD0-F3F2-D4F0-56D454E8E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A7948C74-5FD5-B89E-D903-65381F0C0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D4F9E5-6237-4243-3BEC-5A27C5AF7F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9A4D59-52FC-46AD-8DDC-5392E3981B7A}" type="slidenum">
              <a:rPr lang="en-IN" smtClean="0"/>
              <a:t>‹#›</a:t>
            </a:fld>
            <a:endParaRPr lang="en-IN"/>
          </a:p>
        </p:txBody>
      </p:sp>
    </p:spTree>
    <p:extLst>
      <p:ext uri="{BB962C8B-B14F-4D97-AF65-F5344CB8AC3E}">
        <p14:creationId xmlns:p14="http://schemas.microsoft.com/office/powerpoint/2010/main" val="4140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B78902F-2483-BDDA-90F1-D41E67BF81EF}"/>
              </a:ext>
            </a:extLst>
          </p:cNvPr>
          <p:cNvSpPr txBox="1"/>
          <p:nvPr/>
        </p:nvSpPr>
        <p:spPr>
          <a:xfrm>
            <a:off x="1147821" y="301155"/>
            <a:ext cx="9896355" cy="2248949"/>
          </a:xfrm>
          <a:prstGeom prst="rect">
            <a:avLst/>
          </a:prstGeom>
        </p:spPr>
        <p:txBody>
          <a:bodyPr wrap="square" lIns="0" tIns="0" rIns="0" bIns="0" rtlCol="0" anchor="t">
            <a:spAutoFit/>
          </a:bodyPr>
          <a:lstStyle/>
          <a:p>
            <a:pPr algn="ctr">
              <a:lnSpc>
                <a:spcPts val="9400"/>
              </a:lnSpc>
            </a:pPr>
            <a:r>
              <a:rPr lang="en-US" sz="4800" b="1" spc="10" dirty="0">
                <a:solidFill>
                  <a:srgbClr val="000000"/>
                </a:solidFill>
                <a:latin typeface="Gadugi" panose="020B0502040204020203" pitchFamily="34" charset="0"/>
                <a:ea typeface="Gadugi" panose="020B0502040204020203" pitchFamily="34" charset="0"/>
                <a:cs typeface="Raleway Bold"/>
                <a:sym typeface="Raleway Bold"/>
              </a:rPr>
              <a:t>DATA TRANSFORMATION IN THE CLOUD</a:t>
            </a:r>
          </a:p>
        </p:txBody>
      </p:sp>
      <p:sp>
        <p:nvSpPr>
          <p:cNvPr id="8" name="TextBox 7">
            <a:extLst>
              <a:ext uri="{FF2B5EF4-FFF2-40B4-BE49-F238E27FC236}">
                <a16:creationId xmlns:a16="http://schemas.microsoft.com/office/drawing/2014/main" id="{10F7FEB9-9BB9-C93D-64A5-171B01265FB5}"/>
              </a:ext>
            </a:extLst>
          </p:cNvPr>
          <p:cNvSpPr txBox="1"/>
          <p:nvPr/>
        </p:nvSpPr>
        <p:spPr>
          <a:xfrm>
            <a:off x="9981235" y="5237983"/>
            <a:ext cx="1921398" cy="1200329"/>
          </a:xfrm>
          <a:prstGeom prst="rect">
            <a:avLst/>
          </a:prstGeom>
          <a:noFill/>
        </p:spPr>
        <p:txBody>
          <a:bodyPr wrap="square" rtlCol="0">
            <a:spAutoFit/>
          </a:bodyPr>
          <a:lstStyle/>
          <a:p>
            <a:r>
              <a:rPr lang="en-IN" sz="2400" dirty="0">
                <a:latin typeface="Aptos Display" panose="020B0004020202020204" pitchFamily="34" charset="0"/>
              </a:rPr>
              <a:t>By,</a:t>
            </a:r>
          </a:p>
          <a:p>
            <a:r>
              <a:rPr lang="en-IN" sz="2400" dirty="0">
                <a:latin typeface="Aptos Display" panose="020B0004020202020204" pitchFamily="34" charset="0"/>
              </a:rPr>
              <a:t>Inchara S</a:t>
            </a:r>
          </a:p>
          <a:p>
            <a:r>
              <a:rPr lang="en-IN" sz="2400" dirty="0">
                <a:latin typeface="Aptos Display" panose="020B0004020202020204" pitchFamily="34" charset="0"/>
              </a:rPr>
              <a:t>4VV22IS041</a:t>
            </a:r>
          </a:p>
        </p:txBody>
      </p:sp>
      <p:pic>
        <p:nvPicPr>
          <p:cNvPr id="1028" name="Picture 4" descr="Data Management in Google Cloud Platform: Tools &amp; Techniques - NashTech Blog">
            <a:extLst>
              <a:ext uri="{FF2B5EF4-FFF2-40B4-BE49-F238E27FC236}">
                <a16:creationId xmlns:a16="http://schemas.microsoft.com/office/drawing/2014/main" id="{B59D9E10-A3EC-23D7-3AA9-4541896C2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791" y="2570431"/>
            <a:ext cx="683895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240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EA4EC-A572-DD54-F63D-A77B1546002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3CF98B5-29B5-02A4-39B5-3C1E9A5C061D}"/>
              </a:ext>
            </a:extLst>
          </p:cNvPr>
          <p:cNvSpPr txBox="1"/>
          <p:nvPr/>
        </p:nvSpPr>
        <p:spPr>
          <a:xfrm>
            <a:off x="-575627" y="374218"/>
            <a:ext cx="9896355"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What Is Data Transformation?</a:t>
            </a:r>
          </a:p>
        </p:txBody>
      </p:sp>
      <p:sp>
        <p:nvSpPr>
          <p:cNvPr id="2" name="TextBox 1">
            <a:extLst>
              <a:ext uri="{FF2B5EF4-FFF2-40B4-BE49-F238E27FC236}">
                <a16:creationId xmlns:a16="http://schemas.microsoft.com/office/drawing/2014/main" id="{2B7AEFFA-1D79-3F7D-8759-2C70DABC5B0B}"/>
              </a:ext>
            </a:extLst>
          </p:cNvPr>
          <p:cNvSpPr txBox="1"/>
          <p:nvPr/>
        </p:nvSpPr>
        <p:spPr>
          <a:xfrm>
            <a:off x="413900" y="1756774"/>
            <a:ext cx="11211373" cy="1015663"/>
          </a:xfrm>
          <a:prstGeom prst="rect">
            <a:avLst/>
          </a:prstGeom>
          <a:noFill/>
        </p:spPr>
        <p:txBody>
          <a:bodyPr wrap="square" rtlCol="0">
            <a:spAutoFit/>
          </a:bodyPr>
          <a:lstStyle/>
          <a:p>
            <a:r>
              <a:rPr lang="en-US" sz="2000" dirty="0">
                <a:latin typeface="Aptos Display" panose="020B0004020202020204" pitchFamily="34" charset="0"/>
              </a:rPr>
              <a:t>Data transformation, at its core, is the process of systematically reshaping, cleaning, and enriching data. It readies data for analysis, reporting, or integration into other systems. In short, it is the process of converting data from one format to another.</a:t>
            </a:r>
            <a:endParaRPr lang="en-IN" sz="2800" dirty="0">
              <a:latin typeface="Aptos Display" panose="020B0004020202020204" pitchFamily="34" charset="0"/>
            </a:endParaRPr>
          </a:p>
        </p:txBody>
      </p:sp>
      <p:pic>
        <p:nvPicPr>
          <p:cNvPr id="3" name="Picture 2" descr="Data transformation schema">
            <a:extLst>
              <a:ext uri="{FF2B5EF4-FFF2-40B4-BE49-F238E27FC236}">
                <a16:creationId xmlns:a16="http://schemas.microsoft.com/office/drawing/2014/main" id="{9BB96AAA-7C56-61E4-4C2B-D58EF2DD63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361" y="3048000"/>
            <a:ext cx="817245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63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0DB5F769-1973-ED1F-7DB0-6BB166B9107E}"/>
              </a:ext>
            </a:extLst>
          </p:cNvPr>
          <p:cNvSpPr txBox="1"/>
          <p:nvPr/>
        </p:nvSpPr>
        <p:spPr>
          <a:xfrm>
            <a:off x="1147822" y="0"/>
            <a:ext cx="9896355"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Data Transformation Life Cycle</a:t>
            </a:r>
          </a:p>
        </p:txBody>
      </p:sp>
      <p:pic>
        <p:nvPicPr>
          <p:cNvPr id="7" name="Picture 6">
            <a:extLst>
              <a:ext uri="{FF2B5EF4-FFF2-40B4-BE49-F238E27FC236}">
                <a16:creationId xmlns:a16="http://schemas.microsoft.com/office/drawing/2014/main" id="{C6632E0E-986F-87DA-7AF5-0530CAA4ED8D}"/>
              </a:ext>
            </a:extLst>
          </p:cNvPr>
          <p:cNvPicPr>
            <a:picLocks noChangeAspect="1"/>
          </p:cNvPicPr>
          <p:nvPr/>
        </p:nvPicPr>
        <p:blipFill>
          <a:blip r:embed="rId2"/>
          <a:stretch>
            <a:fillRect/>
          </a:stretch>
        </p:blipFill>
        <p:spPr>
          <a:xfrm>
            <a:off x="2722032" y="1031886"/>
            <a:ext cx="6747934" cy="5711944"/>
          </a:xfrm>
          <a:prstGeom prst="rect">
            <a:avLst/>
          </a:prstGeom>
        </p:spPr>
      </p:pic>
    </p:spTree>
    <p:extLst>
      <p:ext uri="{BB962C8B-B14F-4D97-AF65-F5344CB8AC3E}">
        <p14:creationId xmlns:p14="http://schemas.microsoft.com/office/powerpoint/2010/main" val="3144873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12A15B40-5FDC-7EF4-2C64-C382E430304A}"/>
              </a:ext>
            </a:extLst>
          </p:cNvPr>
          <p:cNvSpPr txBox="1"/>
          <p:nvPr/>
        </p:nvSpPr>
        <p:spPr>
          <a:xfrm>
            <a:off x="531222" y="0"/>
            <a:ext cx="5959824"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Data Pipeline Process</a:t>
            </a:r>
          </a:p>
        </p:txBody>
      </p:sp>
      <p:sp>
        <p:nvSpPr>
          <p:cNvPr id="3" name="TextBox 2">
            <a:extLst>
              <a:ext uri="{FF2B5EF4-FFF2-40B4-BE49-F238E27FC236}">
                <a16:creationId xmlns:a16="http://schemas.microsoft.com/office/drawing/2014/main" id="{DE1B2111-5C61-9601-2180-84B2F3B03806}"/>
              </a:ext>
            </a:extLst>
          </p:cNvPr>
          <p:cNvSpPr txBox="1"/>
          <p:nvPr/>
        </p:nvSpPr>
        <p:spPr>
          <a:xfrm>
            <a:off x="600891" y="1182231"/>
            <a:ext cx="10249990" cy="2246769"/>
          </a:xfrm>
          <a:prstGeom prst="rect">
            <a:avLst/>
          </a:prstGeom>
          <a:noFill/>
        </p:spPr>
        <p:txBody>
          <a:bodyPr wrap="square" rtlCol="0">
            <a:spAutoFit/>
          </a:bodyPr>
          <a:lstStyle/>
          <a:p>
            <a:r>
              <a:rPr lang="en-US" sz="2000" dirty="0">
                <a:latin typeface="Aptos Display" panose="020B0004020202020204" pitchFamily="34" charset="0"/>
              </a:rPr>
              <a:t>The purpose of a data pipeline is to automate data collection, transformation, and storage for</a:t>
            </a:r>
          </a:p>
          <a:p>
            <a:r>
              <a:rPr lang="en-US" sz="2000" dirty="0">
                <a:latin typeface="Aptos Display" panose="020B0004020202020204" pitchFamily="34" charset="0"/>
              </a:rPr>
              <a:t>businesses. The data pipeline begins when data is collected in the collection phase of the data</a:t>
            </a:r>
          </a:p>
          <a:p>
            <a:r>
              <a:rPr lang="en-US" sz="2000" dirty="0">
                <a:latin typeface="Aptos Display" panose="020B0004020202020204" pitchFamily="34" charset="0"/>
              </a:rPr>
              <a:t>journey. The data pipeline moves collected data to where it’s stored for future analysis in the</a:t>
            </a:r>
          </a:p>
          <a:p>
            <a:r>
              <a:rPr lang="en-US" sz="2000" dirty="0">
                <a:latin typeface="Aptos Display" panose="020B0004020202020204" pitchFamily="34" charset="0"/>
              </a:rPr>
              <a:t>storage phase. </a:t>
            </a:r>
          </a:p>
          <a:p>
            <a:endParaRPr lang="en-US" sz="2000" dirty="0">
              <a:latin typeface="Aptos Display" panose="020B0004020202020204" pitchFamily="34" charset="0"/>
            </a:endParaRPr>
          </a:p>
          <a:p>
            <a:r>
              <a:rPr lang="en-US" sz="2000" dirty="0">
                <a:latin typeface="Aptos Display" panose="020B0004020202020204" pitchFamily="34" charset="0"/>
              </a:rPr>
              <a:t>There are three processes of a data pipeline, including extract, transform, and</a:t>
            </a:r>
          </a:p>
          <a:p>
            <a:r>
              <a:rPr lang="en-US" sz="2000" dirty="0">
                <a:latin typeface="Aptos Display" panose="020B0004020202020204" pitchFamily="34" charset="0"/>
              </a:rPr>
              <a:t>load. These data pipeline processes are also known as the E-T-L process.</a:t>
            </a:r>
            <a:endParaRPr lang="en-IN" sz="2800" dirty="0">
              <a:latin typeface="Aptos Display" panose="020B0004020202020204" pitchFamily="34" charset="0"/>
            </a:endParaRPr>
          </a:p>
        </p:txBody>
      </p:sp>
      <p:pic>
        <p:nvPicPr>
          <p:cNvPr id="4" name="Picture 2" descr="ETL Process (Extract Transform Load) - TatvaSoft Blog">
            <a:extLst>
              <a:ext uri="{FF2B5EF4-FFF2-40B4-BE49-F238E27FC236}">
                <a16:creationId xmlns:a16="http://schemas.microsoft.com/office/drawing/2014/main" id="{A5CF1006-42C7-0BE3-C9C6-47DA030B45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3211" y="3579345"/>
            <a:ext cx="5959824" cy="301569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CP Google Cloud Platform | Design &amp; Optimisation by Pendulum IT">
            <a:extLst>
              <a:ext uri="{FF2B5EF4-FFF2-40B4-BE49-F238E27FC236}">
                <a16:creationId xmlns:a16="http://schemas.microsoft.com/office/drawing/2014/main" id="{2EBBE77E-14F0-558F-DB94-458D1EDB59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0430" y="0"/>
            <a:ext cx="1341570" cy="1341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9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ED04B234-3702-63B7-1E8D-E5C16DB0E5E5}"/>
              </a:ext>
            </a:extLst>
          </p:cNvPr>
          <p:cNvSpPr txBox="1"/>
          <p:nvPr/>
        </p:nvSpPr>
        <p:spPr>
          <a:xfrm>
            <a:off x="823608" y="0"/>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Data Aggregation</a:t>
            </a:r>
          </a:p>
        </p:txBody>
      </p:sp>
      <p:sp>
        <p:nvSpPr>
          <p:cNvPr id="3" name="TextBox 2">
            <a:extLst>
              <a:ext uri="{FF2B5EF4-FFF2-40B4-BE49-F238E27FC236}">
                <a16:creationId xmlns:a16="http://schemas.microsoft.com/office/drawing/2014/main" id="{B8274C21-7B25-A611-FDE7-46EC714A0D4A}"/>
              </a:ext>
            </a:extLst>
          </p:cNvPr>
          <p:cNvSpPr txBox="1"/>
          <p:nvPr/>
        </p:nvSpPr>
        <p:spPr>
          <a:xfrm>
            <a:off x="412490" y="1189936"/>
            <a:ext cx="11367017" cy="1015663"/>
          </a:xfrm>
          <a:prstGeom prst="rect">
            <a:avLst/>
          </a:prstGeom>
          <a:noFill/>
        </p:spPr>
        <p:txBody>
          <a:bodyPr wrap="square" rtlCol="0">
            <a:spAutoFit/>
          </a:bodyPr>
          <a:lstStyle/>
          <a:p>
            <a:r>
              <a:rPr lang="en-US" sz="2000" dirty="0">
                <a:latin typeface="Aptos Display" panose="020B0004020202020204" pitchFamily="34" charset="0"/>
              </a:rPr>
              <a:t>Data aggregation is the process of collecting and summarizing data from various sources into a single, consolidated format for analysis and reporting. This process helps in gaining a comprehensive view of the data, identifying trends, and making informed decisions.</a:t>
            </a:r>
            <a:endParaRPr lang="en-IN" sz="2800" dirty="0">
              <a:latin typeface="Aptos Display" panose="020B0004020202020204" pitchFamily="34" charset="0"/>
            </a:endParaRPr>
          </a:p>
        </p:txBody>
      </p:sp>
      <p:sp>
        <p:nvSpPr>
          <p:cNvPr id="6" name="TextBox 5">
            <a:extLst>
              <a:ext uri="{FF2B5EF4-FFF2-40B4-BE49-F238E27FC236}">
                <a16:creationId xmlns:a16="http://schemas.microsoft.com/office/drawing/2014/main" id="{F1BE3016-C95B-F0C0-B25C-52DA936ED9F1}"/>
              </a:ext>
            </a:extLst>
          </p:cNvPr>
          <p:cNvSpPr txBox="1"/>
          <p:nvPr/>
        </p:nvSpPr>
        <p:spPr>
          <a:xfrm>
            <a:off x="412489" y="2353845"/>
            <a:ext cx="6094378" cy="400110"/>
          </a:xfrm>
          <a:prstGeom prst="rect">
            <a:avLst/>
          </a:prstGeom>
          <a:noFill/>
        </p:spPr>
        <p:txBody>
          <a:bodyPr wrap="square">
            <a:spAutoFit/>
          </a:bodyPr>
          <a:lstStyle/>
          <a:p>
            <a:r>
              <a:rPr lang="en-US" sz="2000" b="1" dirty="0">
                <a:solidFill>
                  <a:srgbClr val="0070C0"/>
                </a:solidFill>
              </a:rPr>
              <a:t>Benefits of Data Aggregation</a:t>
            </a:r>
            <a:endParaRPr lang="en-IN" sz="2000" b="1" dirty="0">
              <a:solidFill>
                <a:srgbClr val="0070C0"/>
              </a:solidFill>
            </a:endParaRPr>
          </a:p>
        </p:txBody>
      </p:sp>
      <p:pic>
        <p:nvPicPr>
          <p:cNvPr id="10" name="Picture 9">
            <a:extLst>
              <a:ext uri="{FF2B5EF4-FFF2-40B4-BE49-F238E27FC236}">
                <a16:creationId xmlns:a16="http://schemas.microsoft.com/office/drawing/2014/main" id="{912D5954-600A-2A44-FCE1-3BBAE10C6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4996" y="5939307"/>
            <a:ext cx="3077004" cy="838317"/>
          </a:xfrm>
          <a:prstGeom prst="rect">
            <a:avLst/>
          </a:prstGeom>
        </p:spPr>
      </p:pic>
      <p:sp>
        <p:nvSpPr>
          <p:cNvPr id="4" name="TextBox 3">
            <a:extLst>
              <a:ext uri="{FF2B5EF4-FFF2-40B4-BE49-F238E27FC236}">
                <a16:creationId xmlns:a16="http://schemas.microsoft.com/office/drawing/2014/main" id="{F3B71EA5-BBB5-5511-F837-D3C85F6FBED9}"/>
              </a:ext>
            </a:extLst>
          </p:cNvPr>
          <p:cNvSpPr txBox="1"/>
          <p:nvPr/>
        </p:nvSpPr>
        <p:spPr>
          <a:xfrm>
            <a:off x="412489" y="2753955"/>
            <a:ext cx="11367017" cy="3376374"/>
          </a:xfrm>
          <a:prstGeom prst="rect">
            <a:avLst/>
          </a:prstGeom>
          <a:noFill/>
        </p:spPr>
        <p:txBody>
          <a:bodyPr wrap="square" rtlCol="0">
            <a:spAutoFit/>
          </a:bodyPr>
          <a:lstStyle/>
          <a:p>
            <a:pPr>
              <a:lnSpc>
                <a:spcPct val="150000"/>
              </a:lnSpc>
            </a:pPr>
            <a:r>
              <a:rPr lang="en-US" b="1" dirty="0">
                <a:latin typeface="Aptos Display" panose="020B0004020202020204" pitchFamily="34" charset="0"/>
              </a:rPr>
              <a:t>Improved decision-making: </a:t>
            </a:r>
            <a:r>
              <a:rPr lang="en-US" dirty="0">
                <a:latin typeface="Aptos Display" panose="020B0004020202020204" pitchFamily="34" charset="0"/>
              </a:rPr>
              <a:t>Aggregated data provides a holistic view of information, enabling better-informed decisions based on trends and patterns. </a:t>
            </a:r>
          </a:p>
          <a:p>
            <a:pPr>
              <a:lnSpc>
                <a:spcPct val="150000"/>
              </a:lnSpc>
            </a:pPr>
            <a:r>
              <a:rPr lang="en-US" b="1" dirty="0">
                <a:latin typeface="Aptos Display" panose="020B0004020202020204" pitchFamily="34" charset="0"/>
              </a:rPr>
              <a:t>Efficiency and cost savings: </a:t>
            </a:r>
            <a:r>
              <a:rPr lang="en-US" dirty="0">
                <a:latin typeface="Aptos Display" panose="020B0004020202020204" pitchFamily="34" charset="0"/>
              </a:rPr>
              <a:t>By consolidating data from various sources, businesses can avoid redundant efforts and save resources. </a:t>
            </a:r>
          </a:p>
          <a:p>
            <a:pPr>
              <a:lnSpc>
                <a:spcPct val="150000"/>
              </a:lnSpc>
            </a:pPr>
            <a:r>
              <a:rPr lang="en-US" b="1" dirty="0">
                <a:latin typeface="Aptos Display" panose="020B0004020202020204" pitchFamily="34" charset="0"/>
              </a:rPr>
              <a:t>Enhanced reporting and analysis: </a:t>
            </a:r>
            <a:r>
              <a:rPr lang="en-US" dirty="0">
                <a:latin typeface="Aptos Display" panose="020B0004020202020204" pitchFamily="34" charset="0"/>
              </a:rPr>
              <a:t>Summarized data makes it easier to generate reports, identify key performance indicators (KPIs), and perform in-depth analysis. </a:t>
            </a:r>
          </a:p>
          <a:p>
            <a:pPr>
              <a:lnSpc>
                <a:spcPct val="150000"/>
              </a:lnSpc>
            </a:pPr>
            <a:r>
              <a:rPr lang="en-US" b="1" dirty="0">
                <a:latin typeface="Aptos Display" panose="020B0004020202020204" pitchFamily="34" charset="0"/>
              </a:rPr>
              <a:t>Data-driven insights: </a:t>
            </a:r>
            <a:r>
              <a:rPr lang="en-US" dirty="0">
                <a:latin typeface="Aptos Display" panose="020B0004020202020204" pitchFamily="34" charset="0"/>
              </a:rPr>
              <a:t>Aggregation reveals hidden patterns and relationships within the data that may not be apparent when looking at individual data points.</a:t>
            </a:r>
            <a:endParaRPr lang="en-IN" sz="2400" dirty="0">
              <a:latin typeface="Aptos Display" panose="020B0004020202020204" pitchFamily="34" charset="0"/>
            </a:endParaRPr>
          </a:p>
        </p:txBody>
      </p:sp>
    </p:spTree>
    <p:extLst>
      <p:ext uri="{BB962C8B-B14F-4D97-AF65-F5344CB8AC3E}">
        <p14:creationId xmlns:p14="http://schemas.microsoft.com/office/powerpoint/2010/main" val="3888313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DD1407-970F-9D41-AAAD-5C8076F0A011}"/>
              </a:ext>
            </a:extLst>
          </p:cNvPr>
          <p:cNvPicPr>
            <a:picLocks noChangeAspect="1"/>
          </p:cNvPicPr>
          <p:nvPr/>
        </p:nvPicPr>
        <p:blipFill>
          <a:blip r:embed="rId2"/>
          <a:stretch>
            <a:fillRect/>
          </a:stretch>
        </p:blipFill>
        <p:spPr>
          <a:xfrm>
            <a:off x="700572" y="567448"/>
            <a:ext cx="10790855" cy="5570703"/>
          </a:xfrm>
          <a:prstGeom prst="rect">
            <a:avLst/>
          </a:prstGeom>
        </p:spPr>
      </p:pic>
    </p:spTree>
    <p:extLst>
      <p:ext uri="{BB962C8B-B14F-4D97-AF65-F5344CB8AC3E}">
        <p14:creationId xmlns:p14="http://schemas.microsoft.com/office/powerpoint/2010/main" val="243514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oogle Cloud brings on 27-year SAP veteran as it doubles down on enterprise  adoption | TechCrunch">
            <a:extLst>
              <a:ext uri="{FF2B5EF4-FFF2-40B4-BE49-F238E27FC236}">
                <a16:creationId xmlns:a16="http://schemas.microsoft.com/office/drawing/2014/main" id="{6E31EE21-22B2-0AB3-1C23-BB4CA1765EE1}"/>
              </a:ext>
            </a:extLst>
          </p:cNvPr>
          <p:cNvPicPr>
            <a:picLocks noChangeAspect="1" noChangeArrowheads="1"/>
          </p:cNvPicPr>
          <p:nvPr/>
        </p:nvPicPr>
        <p:blipFill>
          <a:blip r:embed="rId2">
            <a:alphaModFix amt="71000"/>
            <a:extLst>
              <a:ext uri="{28A0092B-C50C-407E-A947-70E740481C1C}">
                <a14:useLocalDpi xmlns:a14="http://schemas.microsoft.com/office/drawing/2010/main" val="0"/>
              </a:ext>
            </a:extLst>
          </a:blip>
          <a:srcRect/>
          <a:stretch>
            <a:fillRect/>
          </a:stretch>
        </p:blipFill>
        <p:spPr bwMode="auto">
          <a:xfrm>
            <a:off x="0" y="1701800"/>
            <a:ext cx="12192000" cy="6096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6">
            <a:extLst>
              <a:ext uri="{FF2B5EF4-FFF2-40B4-BE49-F238E27FC236}">
                <a16:creationId xmlns:a16="http://schemas.microsoft.com/office/drawing/2014/main" id="{692C0281-E7E6-11D2-FA00-2B4039706A0A}"/>
              </a:ext>
            </a:extLst>
          </p:cNvPr>
          <p:cNvSpPr txBox="1"/>
          <p:nvPr/>
        </p:nvSpPr>
        <p:spPr>
          <a:xfrm>
            <a:off x="711847" y="1016000"/>
            <a:ext cx="10544783" cy="1205458"/>
          </a:xfrm>
          <a:prstGeom prst="rect">
            <a:avLst/>
          </a:prstGeom>
        </p:spPr>
        <p:txBody>
          <a:bodyPr wrap="square" lIns="0" tIns="0" rIns="0" bIns="0" rtlCol="0" anchor="t">
            <a:spAutoFit/>
          </a:bodyPr>
          <a:lstStyle/>
          <a:p>
            <a:pPr algn="ctr">
              <a:lnSpc>
                <a:spcPts val="9400"/>
              </a:lnSpc>
            </a:pPr>
            <a:r>
              <a:rPr lang="en-US" sz="7200" b="1" spc="10" dirty="0">
                <a:solidFill>
                  <a:srgbClr val="000000"/>
                </a:solidFill>
                <a:latin typeface="Gadugi" panose="020B0502040204020203" pitchFamily="34" charset="0"/>
                <a:ea typeface="Gadugi" panose="020B0502040204020203" pitchFamily="34" charset="0"/>
                <a:cs typeface="Raleway Bold"/>
                <a:sym typeface="Raleway Bold"/>
              </a:rPr>
              <a:t>Thank You </a:t>
            </a:r>
            <a:r>
              <a:rPr lang="en-US" sz="8000" b="1" spc="10" dirty="0">
                <a:solidFill>
                  <a:srgbClr val="000000"/>
                </a:solidFill>
                <a:latin typeface="Gadugi" panose="020B0502040204020203" pitchFamily="34" charset="0"/>
                <a:ea typeface="Gadugi" panose="020B0502040204020203" pitchFamily="34" charset="0"/>
                <a:cs typeface="Raleway Bold"/>
                <a:sym typeface="Raleway Bold"/>
              </a:rPr>
              <a:t>:)</a:t>
            </a:r>
            <a:endParaRPr lang="en-US" sz="7200" b="1" spc="10" dirty="0">
              <a:solidFill>
                <a:srgbClr val="000000"/>
              </a:solidFill>
              <a:latin typeface="Gadugi" panose="020B0502040204020203" pitchFamily="34" charset="0"/>
              <a:ea typeface="Gadugi" panose="020B0502040204020203" pitchFamily="34" charset="0"/>
              <a:cs typeface="Raleway Bold"/>
              <a:sym typeface="Raleway Bold"/>
            </a:endParaRPr>
          </a:p>
        </p:txBody>
      </p:sp>
    </p:spTree>
    <p:extLst>
      <p:ext uri="{BB962C8B-B14F-4D97-AF65-F5344CB8AC3E}">
        <p14:creationId xmlns:p14="http://schemas.microsoft.com/office/powerpoint/2010/main" val="2258996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300</Words>
  <Application>Microsoft Office PowerPoint</Application>
  <PresentationFormat>Widescreen</PresentationFormat>
  <Paragraphs>23</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 Display</vt:lpstr>
      <vt:lpstr>Arial</vt:lpstr>
      <vt:lpstr>Calibri</vt:lpstr>
      <vt:lpstr>Calibri Light</vt:lpstr>
      <vt:lpstr>Gadugi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Yashwanth S</dc:creator>
  <cp:lastModifiedBy>Yashwanth S</cp:lastModifiedBy>
  <cp:revision>4</cp:revision>
  <dcterms:created xsi:type="dcterms:W3CDTF">2025-06-24T17:05:00Z</dcterms:created>
  <dcterms:modified xsi:type="dcterms:W3CDTF">2025-06-24T19:17:56Z</dcterms:modified>
</cp:coreProperties>
</file>