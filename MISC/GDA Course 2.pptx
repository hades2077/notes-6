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D2EA-51FF-E9F6-D025-379C57306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DB1D1-AD19-A088-01B2-1BF3D5E32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6B5D8-DDA4-369E-EB78-6B048978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770DE-CF5D-1E3D-EFD7-B3F8BDB5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5E1AC-C204-7A7C-48E3-CE2C0E26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76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B692-516D-6970-BD60-FC04AFD8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C68A-242C-9762-FC14-8D572D531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2D950-810C-1A5A-1630-7E61B945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AE197-00CE-BEE2-CB18-76424347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A7D52-9E44-916A-E1DA-B7D9E4FF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54E62-6FE1-8902-0A86-CAA6E68F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87713-D32F-C768-1367-A0D5BA6FB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CE4CE-2C01-B7D7-9996-241C099A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D370-8B0A-48E3-58AD-1F1A3D4B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81D7B-3EDB-068F-B173-94FFBA27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63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C782-C9DE-4A3D-CDC9-1331ACC3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48486-1C6C-8ADB-486C-8606E5FCA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41EC6-8F4B-D913-C701-4962E6F33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A1391-A607-5ADF-AFC2-E11BD828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BC538-74D5-BC26-9E4C-3AF10198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C2561-D4E5-AA30-7A7B-99877BDE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84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19B2-D1F3-126D-7F54-2433F674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FC0DD-AF46-B22C-58B9-C9879066C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FB53B-10BD-F279-82D1-87C69EDCC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E4B5E-1294-6BD0-4DCE-6AA50F90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B81B7-4BD4-E1DB-FE21-8D32B2DFF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9FA9A-FED1-F83E-2094-845942809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DD84F-C199-53A7-8278-5E6E24E3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96E52-399A-15A6-7EEF-E7ABF46B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36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68BC-4D66-9CB8-154B-39F66223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1282C-E639-CAA8-D8E1-08095D265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F7958-2349-FEE7-91DF-39C060BD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8D278-7D66-891F-42A5-4F658F51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91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4E811-DEEF-4BBA-4BAA-A616ED21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42A67-E9CD-196E-05AD-C30E38D1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78492-C2CE-0958-BC25-951DEC25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2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0CC1-14E1-3261-E632-1E0482477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AC32-AAF0-9EAE-3D3D-12D412CEB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5D7EE-BEDE-75CA-328A-CECA93C65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86F72-54F3-82F8-1CDE-A8CE129B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43524-58EC-8B86-0BDD-DB9E7C48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BD3B1-A38C-3C6A-DD51-F2C5643E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60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2F22-0438-7811-B68F-0EDCDAF8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39F9E-8ACF-6269-F1F7-04CC60155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28D62-8CE3-4263-0204-52CA3677F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B6399-995F-52B1-D419-5D999AEC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7BD6C-1678-913E-C3E5-3CD60E56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688C3-C938-47EE-6ABB-EFBDE665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21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5073-739B-FBB9-B939-2ED5238A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C7F40-8287-B0AF-5EEF-C447371ED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42307-B62B-C395-7618-A48E38FE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57E7E-3CFD-C83B-C1A4-6B90E27A4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C7948-D62E-02D9-2F39-CD8B277E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21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9008C-0628-E3FD-5B70-880DF0D1D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425FA-1177-747B-4366-A99967A78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84CC4-A352-ACF3-C677-8238BDAA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845D8-E901-B5B0-A3E2-92019938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20B61-71AF-F7BB-277A-B93EAAE7E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73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2BDC0-6E04-DA37-B81A-7E2DB9C5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A2899-382D-4660-6038-9E06E6A4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682B-3FD0-F3F2-D4F0-56D454E8E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A18AD-32F6-4546-9188-32EFC3C3604C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8C74-5FD5-B89E-D903-65381F0C0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4F9E5-6237-4243-3BEC-5A27C5AF7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67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B78902F-2483-BDDA-90F1-D41E67BF81EF}"/>
              </a:ext>
            </a:extLst>
          </p:cNvPr>
          <p:cNvSpPr txBox="1"/>
          <p:nvPr/>
        </p:nvSpPr>
        <p:spPr>
          <a:xfrm>
            <a:off x="1147821" y="301155"/>
            <a:ext cx="9896355" cy="2269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8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DATA MANAGEMENT AND STORAGE IN THE CLOUD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7FEB9-9BB9-C93D-64A5-171B01265FB5}"/>
              </a:ext>
            </a:extLst>
          </p:cNvPr>
          <p:cNvSpPr txBox="1"/>
          <p:nvPr/>
        </p:nvSpPr>
        <p:spPr>
          <a:xfrm>
            <a:off x="9981235" y="5237983"/>
            <a:ext cx="1921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ptos Display" panose="020B0004020202020204" pitchFamily="34" charset="0"/>
              </a:rPr>
              <a:t>By,</a:t>
            </a:r>
          </a:p>
          <a:p>
            <a:r>
              <a:rPr lang="en-IN" sz="2400" dirty="0">
                <a:latin typeface="Aptos Display" panose="020B0004020202020204" pitchFamily="34" charset="0"/>
              </a:rPr>
              <a:t>Inchara S</a:t>
            </a:r>
          </a:p>
          <a:p>
            <a:r>
              <a:rPr lang="en-IN" sz="2400" dirty="0">
                <a:latin typeface="Aptos Display" panose="020B0004020202020204" pitchFamily="34" charset="0"/>
              </a:rPr>
              <a:t>4VV22IS041</a:t>
            </a:r>
          </a:p>
        </p:txBody>
      </p:sp>
      <p:pic>
        <p:nvPicPr>
          <p:cNvPr id="2" name="Picture 2" descr="Google Cloud Platform Migration Services / Univio">
            <a:extLst>
              <a:ext uri="{FF2B5EF4-FFF2-40B4-BE49-F238E27FC236}">
                <a16:creationId xmlns:a16="http://schemas.microsoft.com/office/drawing/2014/main" id="{89A8152E-0599-6662-8CB9-DF7016F42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733" y="2412470"/>
            <a:ext cx="6976533" cy="4305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240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A4EC-A572-DD54-F63D-A77B1546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3CF98B5-29B5-02A4-39B5-3C1E9A5C061D}"/>
              </a:ext>
            </a:extLst>
          </p:cNvPr>
          <p:cNvSpPr txBox="1"/>
          <p:nvPr/>
        </p:nvSpPr>
        <p:spPr>
          <a:xfrm>
            <a:off x="-575627" y="374218"/>
            <a:ext cx="9896355" cy="103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What is Cloud Data Storage?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7AEFFA-1D79-3F7D-8759-2C70DABC5B0B}"/>
              </a:ext>
            </a:extLst>
          </p:cNvPr>
          <p:cNvSpPr txBox="1"/>
          <p:nvPr/>
        </p:nvSpPr>
        <p:spPr>
          <a:xfrm>
            <a:off x="549366" y="1900055"/>
            <a:ext cx="11211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Cloud data storage refers to storing digital data on remote servers accessed over the internet, rather than on a local computer or hard drive.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It allows users to store, access, and manage data from anywhere with an internet connection. Cloud storage providers manage the infrastructure, security, and accessibility of the data.</a:t>
            </a:r>
            <a:endParaRPr lang="en-IN" sz="2800" dirty="0">
              <a:latin typeface="Aptos Display" panose="020B0004020202020204" pitchFamily="34" charset="0"/>
            </a:endParaRPr>
          </a:p>
        </p:txBody>
      </p:sp>
      <p:pic>
        <p:nvPicPr>
          <p:cNvPr id="2050" name="Picture 2" descr="What Is Cloud Storage?">
            <a:extLst>
              <a:ext uri="{FF2B5EF4-FFF2-40B4-BE49-F238E27FC236}">
                <a16:creationId xmlns:a16="http://schemas.microsoft.com/office/drawing/2014/main" id="{0EF46E13-C88F-4F65-FA35-002B458F9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22115"/>
          <a:stretch>
            <a:fillRect/>
          </a:stretch>
        </p:blipFill>
        <p:spPr bwMode="auto">
          <a:xfrm>
            <a:off x="3966363" y="4138771"/>
            <a:ext cx="4574521" cy="271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63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0DB5F769-1973-ED1F-7DB0-6BB166B9107E}"/>
              </a:ext>
            </a:extLst>
          </p:cNvPr>
          <p:cNvSpPr txBox="1"/>
          <p:nvPr/>
        </p:nvSpPr>
        <p:spPr>
          <a:xfrm>
            <a:off x="1147822" y="0"/>
            <a:ext cx="9896355" cy="103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Types of Cloud Data Storage</a:t>
            </a:r>
          </a:p>
        </p:txBody>
      </p:sp>
      <p:pic>
        <p:nvPicPr>
          <p:cNvPr id="3" name="Picture 2" descr="What Is Cloud Storage? Definition, Types, Benefits, and Best Practices -  Spiceworks">
            <a:extLst>
              <a:ext uri="{FF2B5EF4-FFF2-40B4-BE49-F238E27FC236}">
                <a16:creationId xmlns:a16="http://schemas.microsoft.com/office/drawing/2014/main" id="{0E055584-39D5-24B9-E8D3-348021B7A2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4" b="6524"/>
          <a:stretch>
            <a:fillRect/>
          </a:stretch>
        </p:blipFill>
        <p:spPr bwMode="auto">
          <a:xfrm>
            <a:off x="1845012" y="1372355"/>
            <a:ext cx="8501974" cy="530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87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12A15B40-5FDC-7EF4-2C64-C382E430304A}"/>
              </a:ext>
            </a:extLst>
          </p:cNvPr>
          <p:cNvSpPr txBox="1"/>
          <p:nvPr/>
        </p:nvSpPr>
        <p:spPr>
          <a:xfrm>
            <a:off x="1322962" y="0"/>
            <a:ext cx="9896355" cy="103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Main Ways In Which Data Is Stored</a:t>
            </a:r>
          </a:p>
        </p:txBody>
      </p:sp>
      <p:pic>
        <p:nvPicPr>
          <p:cNvPr id="4098" name="Picture 2" descr="Structured vs Semi-structured vs Unstructured data - key differences">
            <a:extLst>
              <a:ext uri="{FF2B5EF4-FFF2-40B4-BE49-F238E27FC236}">
                <a16:creationId xmlns:a16="http://schemas.microsoft.com/office/drawing/2014/main" id="{0B6CEBC2-AD41-07D6-D916-587ED01A7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71" y="778213"/>
            <a:ext cx="9539867" cy="617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98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ED04B234-3702-63B7-1E8D-E5C16DB0E5E5}"/>
              </a:ext>
            </a:extLst>
          </p:cNvPr>
          <p:cNvSpPr txBox="1"/>
          <p:nvPr/>
        </p:nvSpPr>
        <p:spPr>
          <a:xfrm>
            <a:off x="823608" y="0"/>
            <a:ext cx="10544783" cy="103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Data Lakehouse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74C21-7B25-A611-FDE7-46EC714A0D4A}"/>
              </a:ext>
            </a:extLst>
          </p:cNvPr>
          <p:cNvSpPr txBox="1"/>
          <p:nvPr/>
        </p:nvSpPr>
        <p:spPr>
          <a:xfrm>
            <a:off x="412490" y="1189936"/>
            <a:ext cx="113670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A data </a:t>
            </a:r>
            <a:r>
              <a:rPr lang="en-US" sz="2000" dirty="0" err="1">
                <a:latin typeface="Aptos Display" panose="020B0004020202020204" pitchFamily="34" charset="0"/>
              </a:rPr>
              <a:t>lakehouse</a:t>
            </a:r>
            <a:r>
              <a:rPr lang="en-US" sz="2000" dirty="0">
                <a:latin typeface="Aptos Display" panose="020B0004020202020204" pitchFamily="34" charset="0"/>
              </a:rPr>
              <a:t> is a data architecture that blends a data lake and data warehouse together. Data </a:t>
            </a:r>
            <a:r>
              <a:rPr lang="en-US" sz="2000" dirty="0" err="1">
                <a:latin typeface="Aptos Display" panose="020B0004020202020204" pitchFamily="34" charset="0"/>
              </a:rPr>
              <a:t>lakehouses</a:t>
            </a:r>
            <a:r>
              <a:rPr lang="en-US" sz="2000" dirty="0">
                <a:latin typeface="Aptos Display" panose="020B0004020202020204" pitchFamily="34" charset="0"/>
              </a:rPr>
              <a:t> enable machine learning, business intelligence, and predictive analytics, allowing organizations to leverage low-cost, flexible storage for all types of data — structured, unstructured, and semi-structured — while providing data structures and data management features.</a:t>
            </a:r>
            <a:endParaRPr lang="en-IN" sz="2800" dirty="0"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E3016-C95B-F0C0-B25C-52DA936ED9F1}"/>
              </a:ext>
            </a:extLst>
          </p:cNvPr>
          <p:cNvSpPr txBox="1"/>
          <p:nvPr/>
        </p:nvSpPr>
        <p:spPr>
          <a:xfrm>
            <a:off x="412490" y="2671425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Components of Data Lakehouse Architecture </a:t>
            </a:r>
            <a:endParaRPr lang="en-IN" sz="2000" b="1" dirty="0">
              <a:solidFill>
                <a:srgbClr val="0070C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495472-DACA-D78F-115D-347C3D8C6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7" t="26523" r="5981" b="3299"/>
          <a:stretch>
            <a:fillRect/>
          </a:stretch>
        </p:blipFill>
        <p:spPr>
          <a:xfrm>
            <a:off x="513279" y="3229585"/>
            <a:ext cx="5892800" cy="34120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2D5954-600A-2A44-FCE1-3BBAE10C6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996" y="5939307"/>
            <a:ext cx="3077004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13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5F6C59D1-9943-837C-7730-4A90B7CD8136}"/>
              </a:ext>
            </a:extLst>
          </p:cNvPr>
          <p:cNvSpPr txBox="1"/>
          <p:nvPr/>
        </p:nvSpPr>
        <p:spPr>
          <a:xfrm>
            <a:off x="967537" y="-207536"/>
            <a:ext cx="10544783" cy="103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Data Management</a:t>
            </a:r>
          </a:p>
        </p:txBody>
      </p:sp>
      <p:pic>
        <p:nvPicPr>
          <p:cNvPr id="5122" name="Picture 2" descr="What Is Data Management? Examples, Strategies &amp; Challenges">
            <a:extLst>
              <a:ext uri="{FF2B5EF4-FFF2-40B4-BE49-F238E27FC236}">
                <a16:creationId xmlns:a16="http://schemas.microsoft.com/office/drawing/2014/main" id="{DEA1C105-D98D-F110-8685-CD75D434D3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1" t="6790" r="5572" b="12840"/>
          <a:stretch>
            <a:fillRect/>
          </a:stretch>
        </p:blipFill>
        <p:spPr bwMode="auto">
          <a:xfrm>
            <a:off x="3268133" y="2478844"/>
            <a:ext cx="6121400" cy="437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A4DD98-B9F3-34DB-00D3-5F65930858AD}"/>
              </a:ext>
            </a:extLst>
          </p:cNvPr>
          <p:cNvSpPr txBox="1"/>
          <p:nvPr/>
        </p:nvSpPr>
        <p:spPr>
          <a:xfrm>
            <a:off x="412491" y="912933"/>
            <a:ext cx="113670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Cloud data management is a way of managing all data that an enterprise has stored, either in the cloud—or multiple clouds—or on-premises using a cloud-based solution.</a:t>
            </a:r>
          </a:p>
          <a:p>
            <a:r>
              <a:rPr lang="en-US" dirty="0">
                <a:latin typeface="Aptos Display" panose="020B0004020202020204" pitchFamily="34" charset="0"/>
              </a:rPr>
              <a:t>An effective cloud-based data management solution can have the same capabilities as a modern on-prem data management solution such as data backup, disaster recovery, archiving, file and object services, and analytics. Some data management in cloud vendors even offer protection against ransomware.</a:t>
            </a:r>
            <a:endParaRPr lang="en-IN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09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15806A61-6562-BF73-786E-879873779C78}"/>
              </a:ext>
            </a:extLst>
          </p:cNvPr>
          <p:cNvSpPr txBox="1"/>
          <p:nvPr/>
        </p:nvSpPr>
        <p:spPr>
          <a:xfrm>
            <a:off x="823608" y="-110102"/>
            <a:ext cx="10544783" cy="103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The </a:t>
            </a:r>
            <a:r>
              <a:rPr lang="en-US" sz="4400" b="1" spc="10" dirty="0" err="1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Dataplex</a:t>
            </a: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B8EE7-BCDD-D4BC-313A-7333A9A99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463" y="2301567"/>
            <a:ext cx="8691488" cy="4192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64A154-6556-50DD-BFB5-0B58AFCC132D}"/>
              </a:ext>
            </a:extLst>
          </p:cNvPr>
          <p:cNvSpPr txBox="1"/>
          <p:nvPr/>
        </p:nvSpPr>
        <p:spPr>
          <a:xfrm>
            <a:off x="412490" y="1103844"/>
            <a:ext cx="11367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As a data fabric, </a:t>
            </a:r>
            <a:r>
              <a:rPr lang="en-US" sz="2000" dirty="0" err="1"/>
              <a:t>Dataplex</a:t>
            </a:r>
            <a:r>
              <a:rPr lang="en-US" sz="2000" dirty="0"/>
              <a:t> provides centralized data access and security controls. This means that all the data in an organization falls under the same governance and rules. </a:t>
            </a:r>
            <a:r>
              <a:rPr lang="en-US" sz="2000" dirty="0" err="1"/>
              <a:t>Dataplex</a:t>
            </a:r>
            <a:r>
              <a:rPr lang="en-US" sz="2000" dirty="0"/>
              <a:t> brings together various data sources and services. </a:t>
            </a:r>
            <a:endParaRPr lang="en-IN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42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EFC4CAE1-B607-5B8E-B573-4FB101043825}"/>
              </a:ext>
            </a:extLst>
          </p:cNvPr>
          <p:cNvSpPr txBox="1"/>
          <p:nvPr/>
        </p:nvSpPr>
        <p:spPr>
          <a:xfrm>
            <a:off x="722008" y="0"/>
            <a:ext cx="10544783" cy="103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BigQuery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25CF8-6E87-672B-04ED-804A724CFAFC}"/>
              </a:ext>
            </a:extLst>
          </p:cNvPr>
          <p:cNvSpPr txBox="1"/>
          <p:nvPr/>
        </p:nvSpPr>
        <p:spPr>
          <a:xfrm>
            <a:off x="563271" y="1242137"/>
            <a:ext cx="110654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BigQuery is a fully managed data warehouse developed by Google that helps manage and analyze data. The tool’s serverless architecture enables organizations to get insights into their business and answer questions quickly. </a:t>
            </a:r>
          </a:p>
          <a:p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2000" dirty="0">
                <a:latin typeface="Aptos Display" panose="020B0004020202020204" pitchFamily="34" charset="0"/>
              </a:rPr>
              <a:t>BigQuery’s scalable and distributed analytical engine also lets users query petabytes of data using SQL.</a:t>
            </a:r>
            <a:endParaRPr lang="en-IN" sz="2800" dirty="0">
              <a:latin typeface="Aptos Display" panose="020B0004020202020204" pitchFamily="34" charset="0"/>
            </a:endParaRPr>
          </a:p>
        </p:txBody>
      </p:sp>
      <p:pic>
        <p:nvPicPr>
          <p:cNvPr id="7170" name="Picture 2" descr="Google BigQuery: A Tutorial for Marketers | CXL">
            <a:extLst>
              <a:ext uri="{FF2B5EF4-FFF2-40B4-BE49-F238E27FC236}">
                <a16:creationId xmlns:a16="http://schemas.microsoft.com/office/drawing/2014/main" id="{3FBFBA45-2169-FD92-BDBA-4B6C5AB2C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600" y="83643"/>
            <a:ext cx="2057400" cy="115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046B31-928C-E199-E1EA-27C91EF98F89}"/>
              </a:ext>
            </a:extLst>
          </p:cNvPr>
          <p:cNvSpPr txBox="1"/>
          <p:nvPr/>
        </p:nvSpPr>
        <p:spPr>
          <a:xfrm>
            <a:off x="563271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How Does </a:t>
            </a:r>
            <a:r>
              <a:rPr lang="en-IN" b="1" i="0" dirty="0" err="1">
                <a:solidFill>
                  <a:srgbClr val="05192D"/>
                </a:solidFill>
                <a:effectLst/>
                <a:latin typeface="Studio-Feixen-Sans"/>
              </a:rPr>
              <a:t>BigQuery</a:t>
            </a:r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 Work?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9A46AC-899F-D0C4-6E55-D9FBB2AC5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867" y="3516674"/>
            <a:ext cx="9423400" cy="318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1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pringML and Google Cloud are driving digital solutions for the public  sector. | Google Cloud Blog">
            <a:extLst>
              <a:ext uri="{FF2B5EF4-FFF2-40B4-BE49-F238E27FC236}">
                <a16:creationId xmlns:a16="http://schemas.microsoft.com/office/drawing/2014/main" id="{D4463894-E32B-B18B-7664-526C3D842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855" y="468223"/>
            <a:ext cx="9525000" cy="511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692C0281-E7E6-11D2-FA00-2B4039706A0A}"/>
              </a:ext>
            </a:extLst>
          </p:cNvPr>
          <p:cNvSpPr txBox="1"/>
          <p:nvPr/>
        </p:nvSpPr>
        <p:spPr>
          <a:xfrm>
            <a:off x="932414" y="4378219"/>
            <a:ext cx="10544783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72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Thank You </a:t>
            </a:r>
            <a:r>
              <a:rPr lang="en-US" sz="80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:)</a:t>
            </a:r>
            <a:endParaRPr lang="en-US" sz="7200" b="1" spc="10" dirty="0">
              <a:solidFill>
                <a:srgbClr val="000000"/>
              </a:solidFill>
              <a:latin typeface="Gadugi" panose="020B0502040204020203" pitchFamily="34" charset="0"/>
              <a:ea typeface="Gadugi" panose="020B0502040204020203" pitchFamily="34" charset="0"/>
              <a:cs typeface="Raleway Bold"/>
              <a:sym typeface="Raleway Bold"/>
            </a:endParaRPr>
          </a:p>
        </p:txBody>
      </p:sp>
    </p:spTree>
    <p:extLst>
      <p:ext uri="{BB962C8B-B14F-4D97-AF65-F5344CB8AC3E}">
        <p14:creationId xmlns:p14="http://schemas.microsoft.com/office/powerpoint/2010/main" val="2258996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340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 Display</vt:lpstr>
      <vt:lpstr>Arial</vt:lpstr>
      <vt:lpstr>Calibri</vt:lpstr>
      <vt:lpstr>Calibri Light</vt:lpstr>
      <vt:lpstr>Gadugi</vt:lpstr>
      <vt:lpstr>Studio-Feixen-Sans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Yashwanth S</dc:creator>
  <cp:lastModifiedBy>Yashwanth S</cp:lastModifiedBy>
  <cp:revision>3</cp:revision>
  <dcterms:created xsi:type="dcterms:W3CDTF">2025-06-24T17:05:00Z</dcterms:created>
  <dcterms:modified xsi:type="dcterms:W3CDTF">2025-06-24T18:53:39Z</dcterms:modified>
</cp:coreProperties>
</file>