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75" d="100"/>
          <a:sy n="75" d="100"/>
        </p:scale>
        <p:origin x="931"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D2EA-51FF-E9F6-D025-379C573063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5DB1D1-AD19-A088-01B2-1BF3D5E320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46B5D8-DDA4-369E-EB78-6B04897859D3}"/>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5" name="Footer Placeholder 4">
            <a:extLst>
              <a:ext uri="{FF2B5EF4-FFF2-40B4-BE49-F238E27FC236}">
                <a16:creationId xmlns:a16="http://schemas.microsoft.com/office/drawing/2014/main" id="{691770DE-CF5D-1E3D-EFD7-B3F8BDB5A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75E1AC-C204-7A7C-48E3-CE2C0E26260F}"/>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4193769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CB692-516D-6970-BD60-FC04AFD8EE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2AC68A-242C-9762-FC14-8D572D5318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E2D950-810C-1A5A-1630-7E61B945FBB7}"/>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5" name="Footer Placeholder 4">
            <a:extLst>
              <a:ext uri="{FF2B5EF4-FFF2-40B4-BE49-F238E27FC236}">
                <a16:creationId xmlns:a16="http://schemas.microsoft.com/office/drawing/2014/main" id="{DACAE197-00CE-BEE2-CB18-76424347F9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FA7D52-9E44-916A-E1DA-B7D9E4FFD12D}"/>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2617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4E62-6FE1-8902-0A86-CAA6E68FCC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A87713-D32F-C768-1367-A0D5BA6FB4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4CE4CE-2C01-B7D7-9996-241C099A98FA}"/>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5" name="Footer Placeholder 4">
            <a:extLst>
              <a:ext uri="{FF2B5EF4-FFF2-40B4-BE49-F238E27FC236}">
                <a16:creationId xmlns:a16="http://schemas.microsoft.com/office/drawing/2014/main" id="{38CBD370-8B0A-48E3-58AD-1F1A3D4B75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81D7B-3EDB-068F-B173-94FFBA27102F}"/>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2636632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C782-C9DE-4A3D-CDC9-1331ACC304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148486-1C6C-8ADB-486C-8606E5FCAB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441EC6-8F4B-D913-C701-4962E6F33E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0A1391-A607-5ADF-AFC2-E11BD828FDE4}"/>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6" name="Footer Placeholder 5">
            <a:extLst>
              <a:ext uri="{FF2B5EF4-FFF2-40B4-BE49-F238E27FC236}">
                <a16:creationId xmlns:a16="http://schemas.microsoft.com/office/drawing/2014/main" id="{3F0BC538-74D5-BC26-9E4C-3AF1019876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C2561-D4E5-AA30-7A7B-99877BDE2616}"/>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744841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19B2-D1F3-126D-7F54-2433F67481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3FC0DD-AF46-B22C-58B9-C9879066C2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4FB53B-10BD-F279-82D1-87C69EDCC3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EE4B5E-1294-6BD0-4DCE-6AA50F90C1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CB81B7-4BD4-E1DB-FE21-8D32B2DFF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E9FA9A-FED1-F83E-2094-845942809D55}"/>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8" name="Footer Placeholder 7">
            <a:extLst>
              <a:ext uri="{FF2B5EF4-FFF2-40B4-BE49-F238E27FC236}">
                <a16:creationId xmlns:a16="http://schemas.microsoft.com/office/drawing/2014/main" id="{BC9DD84F-C199-53A7-8278-5E6E24E369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A96E52-399A-15A6-7EEF-E7ABF46B8D13}"/>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789364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68BC-4D66-9CB8-154B-39F662239F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C1282C-E639-CAA8-D8E1-08095D26594E}"/>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4" name="Footer Placeholder 3">
            <a:extLst>
              <a:ext uri="{FF2B5EF4-FFF2-40B4-BE49-F238E27FC236}">
                <a16:creationId xmlns:a16="http://schemas.microsoft.com/office/drawing/2014/main" id="{A96F7958-2349-FEE7-91DF-39C060BD8B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58D278-7D66-891F-42A5-4F658F51D2DA}"/>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465914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A4E811-DEEF-4BBA-4BAA-A616ED21E5B0}"/>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3" name="Footer Placeholder 2">
            <a:extLst>
              <a:ext uri="{FF2B5EF4-FFF2-40B4-BE49-F238E27FC236}">
                <a16:creationId xmlns:a16="http://schemas.microsoft.com/office/drawing/2014/main" id="{78042A67-E9CD-196E-05AD-C30E38D107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B78492-C2CE-0958-BC25-951DEC25C1A7}"/>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62742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F0CC1-14E1-3261-E632-1E0482477D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DEAC32-AAF0-9EAE-3D3D-12D412CEBA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05D7EE-BEDE-75CA-328A-CECA93C65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986F72-54F3-82F8-1CDE-A8CE129B30E7}"/>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6" name="Footer Placeholder 5">
            <a:extLst>
              <a:ext uri="{FF2B5EF4-FFF2-40B4-BE49-F238E27FC236}">
                <a16:creationId xmlns:a16="http://schemas.microsoft.com/office/drawing/2014/main" id="{98943524-58EC-8B86-0BDD-DB9E7C48D2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BBD3B1-A38C-3C6A-DD51-F2C5643E095E}"/>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81960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2F22-0438-7811-B68F-0EDCDAF86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E39F9E-8ACF-6269-F1F7-04CC60155D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B28D62-8CE3-4263-0204-52CA3677F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B6399-995F-52B1-D419-5D999AECAC28}"/>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6" name="Footer Placeholder 5">
            <a:extLst>
              <a:ext uri="{FF2B5EF4-FFF2-40B4-BE49-F238E27FC236}">
                <a16:creationId xmlns:a16="http://schemas.microsoft.com/office/drawing/2014/main" id="{0947BD6C-1678-913E-C3E5-3CD60E56D9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688C3-C938-47EE-6ABB-EFBDE665EBB3}"/>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23121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5073-739B-FBB9-B939-2ED5238A93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9C7F40-8287-B0AF-5EEF-C447371EDC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442307-B62B-C395-7618-A48E38FE114A}"/>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5" name="Footer Placeholder 4">
            <a:extLst>
              <a:ext uri="{FF2B5EF4-FFF2-40B4-BE49-F238E27FC236}">
                <a16:creationId xmlns:a16="http://schemas.microsoft.com/office/drawing/2014/main" id="{9BA57E7E-3CFD-C83B-C1A4-6B90E27A4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FC7948-D62E-02D9-2F39-CD8B277E273D}"/>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780218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9008C-0628-E3FD-5B70-880DF0D1D0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A425FA-1177-747B-4366-A99967A78F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984CC4-A352-ACF3-C677-8238BDAA034A}"/>
              </a:ext>
            </a:extLst>
          </p:cNvPr>
          <p:cNvSpPr>
            <a:spLocks noGrp="1"/>
          </p:cNvSpPr>
          <p:nvPr>
            <p:ph type="dt" sz="half" idx="10"/>
          </p:nvPr>
        </p:nvSpPr>
        <p:spPr/>
        <p:txBody>
          <a:bodyPr/>
          <a:lstStyle/>
          <a:p>
            <a:fld id="{0A0A18AD-32F6-4546-9188-32EFC3C3604C}" type="datetimeFigureOut">
              <a:rPr lang="en-IN" smtClean="0"/>
              <a:t>24-06-2025</a:t>
            </a:fld>
            <a:endParaRPr lang="en-IN"/>
          </a:p>
        </p:txBody>
      </p:sp>
      <p:sp>
        <p:nvSpPr>
          <p:cNvPr id="5" name="Footer Placeholder 4">
            <a:extLst>
              <a:ext uri="{FF2B5EF4-FFF2-40B4-BE49-F238E27FC236}">
                <a16:creationId xmlns:a16="http://schemas.microsoft.com/office/drawing/2014/main" id="{919845D8-E901-B5B0-A3E2-920199381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D20B61-71AF-F7BB-277A-B93EAAE7E2DE}"/>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648739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A2BDC0-6E04-DA37-B81A-7E2DB9C509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0A2899-382D-4660-6038-9E06E6A42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B2682B-3FD0-F3F2-D4F0-56D454E8E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0A18AD-32F6-4546-9188-32EFC3C3604C}" type="datetimeFigureOut">
              <a:rPr lang="en-IN" smtClean="0"/>
              <a:t>24-06-2025</a:t>
            </a:fld>
            <a:endParaRPr lang="en-IN"/>
          </a:p>
        </p:txBody>
      </p:sp>
      <p:sp>
        <p:nvSpPr>
          <p:cNvPr id="5" name="Footer Placeholder 4">
            <a:extLst>
              <a:ext uri="{FF2B5EF4-FFF2-40B4-BE49-F238E27FC236}">
                <a16:creationId xmlns:a16="http://schemas.microsoft.com/office/drawing/2014/main" id="{A7948C74-5FD5-B89E-D903-65381F0C0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D4F9E5-6237-4243-3BEC-5A27C5AF7F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9A4D59-52FC-46AD-8DDC-5392E3981B7A}" type="slidenum">
              <a:rPr lang="en-IN" smtClean="0"/>
              <a:t>‹#›</a:t>
            </a:fld>
            <a:endParaRPr lang="en-IN"/>
          </a:p>
        </p:txBody>
      </p:sp>
    </p:spTree>
    <p:extLst>
      <p:ext uri="{BB962C8B-B14F-4D97-AF65-F5344CB8AC3E}">
        <p14:creationId xmlns:p14="http://schemas.microsoft.com/office/powerpoint/2010/main" val="4140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oogle Cloud Data Analytics Certificate - Credly">
            <a:extLst>
              <a:ext uri="{FF2B5EF4-FFF2-40B4-BE49-F238E27FC236}">
                <a16:creationId xmlns:a16="http://schemas.microsoft.com/office/drawing/2014/main" id="{49FEC6F6-1077-A7F5-857A-BE200199B9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6183" y="2810932"/>
            <a:ext cx="3839633" cy="38396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6">
            <a:extLst>
              <a:ext uri="{FF2B5EF4-FFF2-40B4-BE49-F238E27FC236}">
                <a16:creationId xmlns:a16="http://schemas.microsoft.com/office/drawing/2014/main" id="{4B78902F-2483-BDDA-90F1-D41E67BF81EF}"/>
              </a:ext>
            </a:extLst>
          </p:cNvPr>
          <p:cNvSpPr txBox="1"/>
          <p:nvPr/>
        </p:nvSpPr>
        <p:spPr>
          <a:xfrm>
            <a:off x="1147821" y="419688"/>
            <a:ext cx="9896355" cy="2269276"/>
          </a:xfrm>
          <a:prstGeom prst="rect">
            <a:avLst/>
          </a:prstGeom>
        </p:spPr>
        <p:txBody>
          <a:bodyPr wrap="square" lIns="0" tIns="0" rIns="0" bIns="0" rtlCol="0" anchor="t">
            <a:spAutoFit/>
          </a:bodyPr>
          <a:lstStyle/>
          <a:p>
            <a:pPr algn="ctr">
              <a:lnSpc>
                <a:spcPts val="9400"/>
              </a:lnSpc>
            </a:pPr>
            <a:r>
              <a:rPr lang="en-US" sz="5500" b="1" spc="10" dirty="0">
                <a:solidFill>
                  <a:srgbClr val="000000"/>
                </a:solidFill>
                <a:latin typeface="Gadugi" panose="020B0502040204020203" pitchFamily="34" charset="0"/>
                <a:ea typeface="Gadugi" panose="020B0502040204020203" pitchFamily="34" charset="0"/>
                <a:cs typeface="Raleway Bold"/>
                <a:sym typeface="Raleway Bold"/>
              </a:rPr>
              <a:t>GOOGLE CLOUD DATA ANALYTICS</a:t>
            </a:r>
          </a:p>
        </p:txBody>
      </p:sp>
      <p:sp>
        <p:nvSpPr>
          <p:cNvPr id="8" name="TextBox 7">
            <a:extLst>
              <a:ext uri="{FF2B5EF4-FFF2-40B4-BE49-F238E27FC236}">
                <a16:creationId xmlns:a16="http://schemas.microsoft.com/office/drawing/2014/main" id="{10F7FEB9-9BB9-C93D-64A5-171B01265FB5}"/>
              </a:ext>
            </a:extLst>
          </p:cNvPr>
          <p:cNvSpPr txBox="1"/>
          <p:nvPr/>
        </p:nvSpPr>
        <p:spPr>
          <a:xfrm>
            <a:off x="9981235" y="5237983"/>
            <a:ext cx="1921398" cy="1200329"/>
          </a:xfrm>
          <a:prstGeom prst="rect">
            <a:avLst/>
          </a:prstGeom>
          <a:noFill/>
        </p:spPr>
        <p:txBody>
          <a:bodyPr wrap="square" rtlCol="0">
            <a:spAutoFit/>
          </a:bodyPr>
          <a:lstStyle/>
          <a:p>
            <a:r>
              <a:rPr lang="en-IN" sz="2400" dirty="0">
                <a:latin typeface="Aptos Display" panose="020B0004020202020204" pitchFamily="34" charset="0"/>
              </a:rPr>
              <a:t>By,</a:t>
            </a:r>
          </a:p>
          <a:p>
            <a:r>
              <a:rPr lang="en-IN" sz="2400" dirty="0">
                <a:latin typeface="Aptos Display" panose="020B0004020202020204" pitchFamily="34" charset="0"/>
              </a:rPr>
              <a:t>Inchara S</a:t>
            </a:r>
          </a:p>
          <a:p>
            <a:r>
              <a:rPr lang="en-IN" sz="2400" dirty="0">
                <a:latin typeface="Aptos Display" panose="020B0004020202020204" pitchFamily="34" charset="0"/>
              </a:rPr>
              <a:t>4VV22IS041</a:t>
            </a:r>
          </a:p>
        </p:txBody>
      </p:sp>
    </p:spTree>
    <p:extLst>
      <p:ext uri="{BB962C8B-B14F-4D97-AF65-F5344CB8AC3E}">
        <p14:creationId xmlns:p14="http://schemas.microsoft.com/office/powerpoint/2010/main" val="1726240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EA4EC-A572-DD54-F63D-A77B1546002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3CF98B5-29B5-02A4-39B5-3C1E9A5C061D}"/>
              </a:ext>
            </a:extLst>
          </p:cNvPr>
          <p:cNvSpPr txBox="1"/>
          <p:nvPr/>
        </p:nvSpPr>
        <p:spPr>
          <a:xfrm>
            <a:off x="-460203" y="382927"/>
            <a:ext cx="9896355"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What is Cloud Data Analytics?</a:t>
            </a:r>
          </a:p>
        </p:txBody>
      </p:sp>
      <p:pic>
        <p:nvPicPr>
          <p:cNvPr id="2062" name="Picture 14" descr="What to expect from cloud data analytics in 2021">
            <a:extLst>
              <a:ext uri="{FF2B5EF4-FFF2-40B4-BE49-F238E27FC236}">
                <a16:creationId xmlns:a16="http://schemas.microsoft.com/office/drawing/2014/main" id="{FE48980D-F751-F968-22AF-B3B729CB4163}"/>
              </a:ext>
            </a:extLst>
          </p:cNvPr>
          <p:cNvPicPr>
            <a:picLocks noChangeAspect="1" noChangeArrowheads="1"/>
          </p:cNvPicPr>
          <p:nvPr/>
        </p:nvPicPr>
        <p:blipFill>
          <a:blip r:embed="rId2">
            <a:alphaModFix amt="33000"/>
            <a:extLst>
              <a:ext uri="{28A0092B-C50C-407E-A947-70E740481C1C}">
                <a14:useLocalDpi xmlns:a14="http://schemas.microsoft.com/office/drawing/2010/main" val="0"/>
              </a:ext>
            </a:extLst>
          </a:blip>
          <a:srcRect/>
          <a:stretch>
            <a:fillRect/>
          </a:stretch>
        </p:blipFill>
        <p:spPr bwMode="auto">
          <a:xfrm>
            <a:off x="4285575" y="3067983"/>
            <a:ext cx="9093200" cy="37900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B7AEFFA-1D79-3F7D-8759-2C70DABC5B0B}"/>
              </a:ext>
            </a:extLst>
          </p:cNvPr>
          <p:cNvSpPr txBox="1"/>
          <p:nvPr/>
        </p:nvSpPr>
        <p:spPr>
          <a:xfrm>
            <a:off x="549368" y="2090172"/>
            <a:ext cx="7646366" cy="2985433"/>
          </a:xfrm>
          <a:prstGeom prst="rect">
            <a:avLst/>
          </a:prstGeom>
          <a:noFill/>
        </p:spPr>
        <p:txBody>
          <a:bodyPr wrap="square" rtlCol="0">
            <a:spAutoFit/>
          </a:bodyPr>
          <a:lstStyle/>
          <a:p>
            <a:r>
              <a:rPr lang="en-US" sz="2000" dirty="0"/>
              <a:t>Cloud data analytics refers to the practice of </a:t>
            </a:r>
            <a:r>
              <a:rPr lang="en-US" sz="2000" dirty="0">
                <a:solidFill>
                  <a:srgbClr val="00B0F0"/>
                </a:solidFill>
              </a:rPr>
              <a:t>storing</a:t>
            </a:r>
            <a:r>
              <a:rPr lang="en-US" sz="2000" dirty="0"/>
              <a:t> and </a:t>
            </a:r>
            <a:r>
              <a:rPr lang="en-US" sz="2000" dirty="0">
                <a:solidFill>
                  <a:srgbClr val="00B0F0"/>
                </a:solidFill>
              </a:rPr>
              <a:t>analyzing</a:t>
            </a:r>
            <a:r>
              <a:rPr lang="en-US" sz="2000" dirty="0"/>
              <a:t> data in the cloud to extract valuable business insights. </a:t>
            </a:r>
          </a:p>
          <a:p>
            <a:endParaRPr lang="en-US" sz="2800" dirty="0">
              <a:latin typeface="Aptos Display" panose="020B0004020202020204" pitchFamily="34" charset="0"/>
            </a:endParaRPr>
          </a:p>
          <a:p>
            <a:r>
              <a:rPr lang="en-US" sz="2000" dirty="0"/>
              <a:t>It leverages cloud computing resources to process and analyze large datasets, enabling businesses to identify trends, make predictions, and improve decision-making. </a:t>
            </a:r>
          </a:p>
          <a:p>
            <a:endParaRPr lang="en-US" sz="2000" dirty="0"/>
          </a:p>
          <a:p>
            <a:r>
              <a:rPr lang="en-US" sz="2000" dirty="0"/>
              <a:t>Cloud analytics offers </a:t>
            </a:r>
            <a:r>
              <a:rPr lang="en-US" sz="2000" dirty="0">
                <a:solidFill>
                  <a:srgbClr val="00B0F0"/>
                </a:solidFill>
              </a:rPr>
              <a:t>scalability</a:t>
            </a:r>
            <a:r>
              <a:rPr lang="en-US" sz="2000" dirty="0"/>
              <a:t>, </a:t>
            </a:r>
            <a:r>
              <a:rPr lang="en-US" sz="2000" dirty="0">
                <a:solidFill>
                  <a:srgbClr val="00B0F0"/>
                </a:solidFill>
              </a:rPr>
              <a:t>cost-effectiveness</a:t>
            </a:r>
            <a:r>
              <a:rPr lang="en-US" sz="2000" dirty="0"/>
              <a:t>, and </a:t>
            </a:r>
            <a:r>
              <a:rPr lang="en-US" sz="2000" dirty="0">
                <a:solidFill>
                  <a:srgbClr val="00B0F0"/>
                </a:solidFill>
              </a:rPr>
              <a:t>accessibility</a:t>
            </a:r>
            <a:r>
              <a:rPr lang="en-US" sz="2000" dirty="0"/>
              <a:t>, making it a popular alternative to traditional on-premises data analytics</a:t>
            </a:r>
            <a:endParaRPr lang="en-IN" sz="2800" dirty="0">
              <a:latin typeface="Aptos Display" panose="020B0004020202020204" pitchFamily="34" charset="0"/>
            </a:endParaRPr>
          </a:p>
        </p:txBody>
      </p:sp>
    </p:spTree>
    <p:extLst>
      <p:ext uri="{BB962C8B-B14F-4D97-AF65-F5344CB8AC3E}">
        <p14:creationId xmlns:p14="http://schemas.microsoft.com/office/powerpoint/2010/main" val="81863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loud Computing Models - TatvaSoft Blog">
            <a:extLst>
              <a:ext uri="{FF2B5EF4-FFF2-40B4-BE49-F238E27FC236}">
                <a16:creationId xmlns:a16="http://schemas.microsoft.com/office/drawing/2014/main" id="{BA859FB0-514A-E9B9-987D-874CB44D0E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495" r="7978"/>
          <a:stretch>
            <a:fillRect/>
          </a:stretch>
        </p:blipFill>
        <p:spPr bwMode="auto">
          <a:xfrm>
            <a:off x="175098" y="1829304"/>
            <a:ext cx="5671226" cy="37052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extBox 6">
            <a:extLst>
              <a:ext uri="{FF2B5EF4-FFF2-40B4-BE49-F238E27FC236}">
                <a16:creationId xmlns:a16="http://schemas.microsoft.com/office/drawing/2014/main" id="{0DB5F769-1973-ED1F-7DB0-6BB166B9107E}"/>
              </a:ext>
            </a:extLst>
          </p:cNvPr>
          <p:cNvSpPr txBox="1"/>
          <p:nvPr/>
        </p:nvSpPr>
        <p:spPr>
          <a:xfrm>
            <a:off x="1147822" y="0"/>
            <a:ext cx="9896355"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Cloud Computing Service Models</a:t>
            </a:r>
          </a:p>
        </p:txBody>
      </p:sp>
      <p:pic>
        <p:nvPicPr>
          <p:cNvPr id="3076" name="Picture 4" descr="What are the IaaS, PaaS, and SaaS Cloud Service Models?">
            <a:extLst>
              <a:ext uri="{FF2B5EF4-FFF2-40B4-BE49-F238E27FC236}">
                <a16:creationId xmlns:a16="http://schemas.microsoft.com/office/drawing/2014/main" id="{7994599F-F616-DFF5-9155-EA6BC1D7C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2187" y="1793911"/>
            <a:ext cx="5944715" cy="3776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873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12A15B40-5FDC-7EF4-2C64-C382E430304A}"/>
              </a:ext>
            </a:extLst>
          </p:cNvPr>
          <p:cNvSpPr txBox="1"/>
          <p:nvPr/>
        </p:nvSpPr>
        <p:spPr>
          <a:xfrm>
            <a:off x="0" y="266195"/>
            <a:ext cx="9896355"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What is a Cloud Data Warehouse?</a:t>
            </a:r>
          </a:p>
        </p:txBody>
      </p:sp>
      <p:sp>
        <p:nvSpPr>
          <p:cNvPr id="6" name="TextBox 5">
            <a:extLst>
              <a:ext uri="{FF2B5EF4-FFF2-40B4-BE49-F238E27FC236}">
                <a16:creationId xmlns:a16="http://schemas.microsoft.com/office/drawing/2014/main" id="{104877E1-95E6-EDC1-14D1-06D48E79E810}"/>
              </a:ext>
            </a:extLst>
          </p:cNvPr>
          <p:cNvSpPr txBox="1"/>
          <p:nvPr/>
        </p:nvSpPr>
        <p:spPr>
          <a:xfrm>
            <a:off x="471546" y="1739977"/>
            <a:ext cx="11065457" cy="1015663"/>
          </a:xfrm>
          <a:prstGeom prst="rect">
            <a:avLst/>
          </a:prstGeom>
          <a:noFill/>
        </p:spPr>
        <p:txBody>
          <a:bodyPr wrap="square" rtlCol="0">
            <a:spAutoFit/>
          </a:bodyPr>
          <a:lstStyle/>
          <a:p>
            <a:r>
              <a:rPr lang="en-US" sz="2000" dirty="0">
                <a:latin typeface="Aptos Display" panose="020B0004020202020204" pitchFamily="34" charset="0"/>
              </a:rPr>
              <a:t>A cloud data warehouse is a data warehouse that exists in the cloud environment, capable of combining exabytes of data from multiple sources. Cloud data warehouses are designed to handle complex queries and are optimized for business intelligence (BI) and analytics. </a:t>
            </a:r>
            <a:endParaRPr lang="en-IN" sz="2800" dirty="0">
              <a:latin typeface="Aptos Display" panose="020B0004020202020204" pitchFamily="34" charset="0"/>
            </a:endParaRPr>
          </a:p>
        </p:txBody>
      </p:sp>
      <p:sp>
        <p:nvSpPr>
          <p:cNvPr id="9" name="TextBox 8">
            <a:extLst>
              <a:ext uri="{FF2B5EF4-FFF2-40B4-BE49-F238E27FC236}">
                <a16:creationId xmlns:a16="http://schemas.microsoft.com/office/drawing/2014/main" id="{E2955EEF-DF74-474F-9204-C2F213F05125}"/>
              </a:ext>
            </a:extLst>
          </p:cNvPr>
          <p:cNvSpPr txBox="1"/>
          <p:nvPr/>
        </p:nvSpPr>
        <p:spPr>
          <a:xfrm>
            <a:off x="471546" y="3026880"/>
            <a:ext cx="6094378" cy="341312"/>
          </a:xfrm>
          <a:prstGeom prst="rect">
            <a:avLst/>
          </a:prstGeom>
          <a:noFill/>
        </p:spPr>
        <p:txBody>
          <a:bodyPr wrap="square">
            <a:spAutoFit/>
          </a:bodyPr>
          <a:lstStyle/>
          <a:p>
            <a:pPr algn="l">
              <a:lnSpc>
                <a:spcPts val="1875"/>
              </a:lnSpc>
              <a:spcBef>
                <a:spcPts val="1500"/>
              </a:spcBef>
              <a:spcAft>
                <a:spcPts val="750"/>
              </a:spcAft>
            </a:pPr>
            <a:r>
              <a:rPr lang="en-US" sz="2000" b="1" i="0" dirty="0">
                <a:solidFill>
                  <a:srgbClr val="1D5599"/>
                </a:solidFill>
                <a:effectLst/>
                <a:latin typeface="Open Sans" panose="020B0606030504020204" pitchFamily="34" charset="0"/>
              </a:rPr>
              <a:t>Key Features of a Cloud Data Warehouse</a:t>
            </a:r>
            <a:endParaRPr lang="en-US" sz="2000" b="1" i="0" dirty="0">
              <a:solidFill>
                <a:srgbClr val="01348D"/>
              </a:solidFill>
              <a:effectLst/>
              <a:latin typeface="Open Sans" panose="020B0606030504020204" pitchFamily="34" charset="0"/>
            </a:endParaRPr>
          </a:p>
        </p:txBody>
      </p:sp>
      <p:sp>
        <p:nvSpPr>
          <p:cNvPr id="11" name="TextBox 10">
            <a:extLst>
              <a:ext uri="{FF2B5EF4-FFF2-40B4-BE49-F238E27FC236}">
                <a16:creationId xmlns:a16="http://schemas.microsoft.com/office/drawing/2014/main" id="{67C3B0A0-41E3-4732-6B09-4366659E5C94}"/>
              </a:ext>
            </a:extLst>
          </p:cNvPr>
          <p:cNvSpPr txBox="1"/>
          <p:nvPr/>
        </p:nvSpPr>
        <p:spPr>
          <a:xfrm>
            <a:off x="471546" y="3429000"/>
            <a:ext cx="9674403" cy="2960875"/>
          </a:xfrm>
          <a:prstGeom prst="rect">
            <a:avLst/>
          </a:prstGeom>
          <a:noFill/>
        </p:spPr>
        <p:txBody>
          <a:bodyPr wrap="square">
            <a:spAutoFit/>
          </a:bodyPr>
          <a:lstStyle/>
          <a:p>
            <a:pPr algn="l">
              <a:lnSpc>
                <a:spcPct val="150000"/>
              </a:lnSpc>
              <a:buNone/>
            </a:pPr>
            <a:r>
              <a:rPr lang="en-US" b="1" i="0" dirty="0">
                <a:solidFill>
                  <a:srgbClr val="535353"/>
                </a:solidFill>
                <a:effectLst/>
                <a:latin typeface="Aptos Display" panose="020B0004020202020204" pitchFamily="34" charset="0"/>
              </a:rPr>
              <a:t>Performance:</a:t>
            </a:r>
            <a:r>
              <a:rPr lang="en-US" b="0" i="0" dirty="0">
                <a:solidFill>
                  <a:srgbClr val="535353"/>
                </a:solidFill>
                <a:effectLst/>
                <a:latin typeface="Aptos Display" panose="020B0004020202020204" pitchFamily="34" charset="0"/>
              </a:rPr>
              <a:t> Quick and efficient querying of large datasets.</a:t>
            </a:r>
          </a:p>
          <a:p>
            <a:pPr algn="l">
              <a:lnSpc>
                <a:spcPct val="150000"/>
              </a:lnSpc>
              <a:buNone/>
            </a:pPr>
            <a:r>
              <a:rPr lang="en-US" b="1" i="0" dirty="0">
                <a:solidFill>
                  <a:srgbClr val="535353"/>
                </a:solidFill>
                <a:effectLst/>
                <a:latin typeface="Aptos Display" panose="020B0004020202020204" pitchFamily="34" charset="0"/>
              </a:rPr>
              <a:t>Integration:</a:t>
            </a:r>
            <a:r>
              <a:rPr lang="en-US" b="0" i="0" dirty="0">
                <a:solidFill>
                  <a:srgbClr val="535353"/>
                </a:solidFill>
                <a:effectLst/>
                <a:latin typeface="Aptos Display" panose="020B0004020202020204" pitchFamily="34" charset="0"/>
              </a:rPr>
              <a:t> Seamless integration with various analytics tools.</a:t>
            </a:r>
          </a:p>
          <a:p>
            <a:pPr algn="l">
              <a:lnSpc>
                <a:spcPct val="150000"/>
              </a:lnSpc>
              <a:buNone/>
            </a:pPr>
            <a:r>
              <a:rPr lang="en-US" b="1" i="0" dirty="0">
                <a:solidFill>
                  <a:srgbClr val="535353"/>
                </a:solidFill>
                <a:effectLst/>
                <a:latin typeface="Aptos Display" panose="020B0004020202020204" pitchFamily="34" charset="0"/>
              </a:rPr>
              <a:t>Security:</a:t>
            </a:r>
            <a:r>
              <a:rPr lang="en-US" b="0" i="0" dirty="0">
                <a:solidFill>
                  <a:srgbClr val="535353"/>
                </a:solidFill>
                <a:effectLst/>
                <a:latin typeface="Aptos Display" panose="020B0004020202020204" pitchFamily="34" charset="0"/>
              </a:rPr>
              <a:t> Strong measures like encryption and access controls.</a:t>
            </a:r>
          </a:p>
          <a:p>
            <a:pPr algn="l">
              <a:lnSpc>
                <a:spcPct val="150000"/>
              </a:lnSpc>
              <a:buNone/>
            </a:pPr>
            <a:r>
              <a:rPr lang="en-US" b="1" i="0" dirty="0">
                <a:solidFill>
                  <a:srgbClr val="535353"/>
                </a:solidFill>
                <a:effectLst/>
                <a:latin typeface="Aptos Display" panose="020B0004020202020204" pitchFamily="34" charset="0"/>
              </a:rPr>
              <a:t>Cost Management:</a:t>
            </a:r>
            <a:r>
              <a:rPr lang="en-US" b="0" i="0" dirty="0">
                <a:solidFill>
                  <a:srgbClr val="535353"/>
                </a:solidFill>
                <a:effectLst/>
                <a:latin typeface="Aptos Display" panose="020B0004020202020204" pitchFamily="34" charset="0"/>
              </a:rPr>
              <a:t> Pay-as-you-go model for cost-effectiveness.</a:t>
            </a:r>
          </a:p>
          <a:p>
            <a:pPr algn="l">
              <a:lnSpc>
                <a:spcPct val="150000"/>
              </a:lnSpc>
              <a:buNone/>
            </a:pPr>
            <a:r>
              <a:rPr lang="en-US" b="1" i="0" dirty="0">
                <a:solidFill>
                  <a:srgbClr val="535353"/>
                </a:solidFill>
                <a:effectLst/>
                <a:latin typeface="Aptos Display" panose="020B0004020202020204" pitchFamily="34" charset="0"/>
              </a:rPr>
              <a:t>Scalability:</a:t>
            </a:r>
            <a:r>
              <a:rPr lang="en-US" b="0" i="0" dirty="0">
                <a:solidFill>
                  <a:srgbClr val="535353"/>
                </a:solidFill>
                <a:effectLst/>
                <a:latin typeface="Aptos Display" panose="020B0004020202020204" pitchFamily="34" charset="0"/>
              </a:rPr>
              <a:t> Easily adjusts to data volume and processing needs.</a:t>
            </a:r>
          </a:p>
          <a:p>
            <a:pPr algn="l">
              <a:lnSpc>
                <a:spcPct val="150000"/>
              </a:lnSpc>
              <a:buNone/>
            </a:pPr>
            <a:r>
              <a:rPr lang="en-US" b="1" i="0" dirty="0">
                <a:solidFill>
                  <a:srgbClr val="535353"/>
                </a:solidFill>
                <a:effectLst/>
                <a:latin typeface="Aptos Display" panose="020B0004020202020204" pitchFamily="34" charset="0"/>
              </a:rPr>
              <a:t>Accessibility:</a:t>
            </a:r>
            <a:r>
              <a:rPr lang="en-US" b="0" i="0" dirty="0">
                <a:solidFill>
                  <a:srgbClr val="535353"/>
                </a:solidFill>
                <a:effectLst/>
                <a:latin typeface="Aptos Display" panose="020B0004020202020204" pitchFamily="34" charset="0"/>
              </a:rPr>
              <a:t> Data access from anywhere with an internet connection.</a:t>
            </a:r>
          </a:p>
          <a:p>
            <a:pPr algn="l">
              <a:lnSpc>
                <a:spcPct val="150000"/>
              </a:lnSpc>
            </a:pPr>
            <a:r>
              <a:rPr lang="en-US" b="1" i="0" dirty="0">
                <a:solidFill>
                  <a:srgbClr val="535353"/>
                </a:solidFill>
                <a:effectLst/>
                <a:latin typeface="Aptos Display" panose="020B0004020202020204" pitchFamily="34" charset="0"/>
              </a:rPr>
              <a:t>Automatic Updates:</a:t>
            </a:r>
            <a:r>
              <a:rPr lang="en-US" b="0" i="0" dirty="0">
                <a:solidFill>
                  <a:srgbClr val="535353"/>
                </a:solidFill>
                <a:effectLst/>
                <a:latin typeface="Aptos Display" panose="020B0004020202020204" pitchFamily="34" charset="0"/>
              </a:rPr>
              <a:t> Regular automatic updates for the latest features and security patches.</a:t>
            </a:r>
          </a:p>
        </p:txBody>
      </p:sp>
      <p:pic>
        <p:nvPicPr>
          <p:cNvPr id="14" name="Picture 13">
            <a:extLst>
              <a:ext uri="{FF2B5EF4-FFF2-40B4-BE49-F238E27FC236}">
                <a16:creationId xmlns:a16="http://schemas.microsoft.com/office/drawing/2014/main" id="{7C8DA437-BFC3-8F93-604D-CAFA93B28199}"/>
              </a:ext>
            </a:extLst>
          </p:cNvPr>
          <p:cNvPicPr>
            <a:picLocks noChangeAspect="1"/>
          </p:cNvPicPr>
          <p:nvPr/>
        </p:nvPicPr>
        <p:blipFill>
          <a:blip r:embed="rId2"/>
          <a:stretch>
            <a:fillRect/>
          </a:stretch>
        </p:blipFill>
        <p:spPr>
          <a:xfrm>
            <a:off x="8851923" y="2816448"/>
            <a:ext cx="3024149" cy="2757021"/>
          </a:xfrm>
          <a:prstGeom prst="rect">
            <a:avLst/>
          </a:prstGeom>
        </p:spPr>
      </p:pic>
    </p:spTree>
    <p:extLst>
      <p:ext uri="{BB962C8B-B14F-4D97-AF65-F5344CB8AC3E}">
        <p14:creationId xmlns:p14="http://schemas.microsoft.com/office/powerpoint/2010/main" val="4759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ED04B234-3702-63B7-1E8D-E5C16DB0E5E5}"/>
              </a:ext>
            </a:extLst>
          </p:cNvPr>
          <p:cNvSpPr txBox="1"/>
          <p:nvPr/>
        </p:nvSpPr>
        <p:spPr>
          <a:xfrm>
            <a:off x="823608" y="0"/>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 Google Cloud Architecture Framework</a:t>
            </a:r>
          </a:p>
        </p:txBody>
      </p:sp>
      <p:pic>
        <p:nvPicPr>
          <p:cNvPr id="5" name="Picture 4">
            <a:extLst>
              <a:ext uri="{FF2B5EF4-FFF2-40B4-BE49-F238E27FC236}">
                <a16:creationId xmlns:a16="http://schemas.microsoft.com/office/drawing/2014/main" id="{6D542E5F-FCC6-4DE7-4006-3D9551A45980}"/>
              </a:ext>
            </a:extLst>
          </p:cNvPr>
          <p:cNvPicPr>
            <a:picLocks noChangeAspect="1"/>
          </p:cNvPicPr>
          <p:nvPr/>
        </p:nvPicPr>
        <p:blipFill>
          <a:blip r:embed="rId2"/>
          <a:stretch>
            <a:fillRect/>
          </a:stretch>
        </p:blipFill>
        <p:spPr>
          <a:xfrm>
            <a:off x="2006209" y="1657689"/>
            <a:ext cx="8179581" cy="4645835"/>
          </a:xfrm>
          <a:prstGeom prst="rect">
            <a:avLst/>
          </a:prstGeom>
        </p:spPr>
      </p:pic>
    </p:spTree>
    <p:extLst>
      <p:ext uri="{BB962C8B-B14F-4D97-AF65-F5344CB8AC3E}">
        <p14:creationId xmlns:p14="http://schemas.microsoft.com/office/powerpoint/2010/main" val="3888313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5F6C59D1-9943-837C-7730-4A90B7CD8136}"/>
              </a:ext>
            </a:extLst>
          </p:cNvPr>
          <p:cNvSpPr txBox="1"/>
          <p:nvPr/>
        </p:nvSpPr>
        <p:spPr>
          <a:xfrm>
            <a:off x="823604" y="70168"/>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Data Lifecycle</a:t>
            </a:r>
          </a:p>
        </p:txBody>
      </p:sp>
      <p:sp>
        <p:nvSpPr>
          <p:cNvPr id="3" name="Freeform 4">
            <a:extLst>
              <a:ext uri="{FF2B5EF4-FFF2-40B4-BE49-F238E27FC236}">
                <a16:creationId xmlns:a16="http://schemas.microsoft.com/office/drawing/2014/main" id="{DF9BE402-2D48-7BD8-5F38-125F37D638CD}"/>
              </a:ext>
            </a:extLst>
          </p:cNvPr>
          <p:cNvSpPr/>
          <p:nvPr/>
        </p:nvSpPr>
        <p:spPr>
          <a:xfrm>
            <a:off x="445367" y="1384094"/>
            <a:ext cx="11301259" cy="4887795"/>
          </a:xfrm>
          <a:custGeom>
            <a:avLst/>
            <a:gdLst/>
            <a:ahLst/>
            <a:cxnLst/>
            <a:rect l="l" t="t" r="r" b="b"/>
            <a:pathLst>
              <a:path w="11301259" h="4887795">
                <a:moveTo>
                  <a:pt x="0" y="0"/>
                </a:moveTo>
                <a:lnTo>
                  <a:pt x="11301259" y="0"/>
                </a:lnTo>
                <a:lnTo>
                  <a:pt x="11301259" y="4887795"/>
                </a:lnTo>
                <a:lnTo>
                  <a:pt x="0" y="4887795"/>
                </a:lnTo>
                <a:lnTo>
                  <a:pt x="0" y="0"/>
                </a:lnTo>
                <a:close/>
              </a:path>
            </a:pathLst>
          </a:custGeom>
          <a:blipFill>
            <a:blip r:embed="rId2"/>
            <a:stretch>
              <a:fillRect/>
            </a:stretch>
          </a:blipFill>
        </p:spPr>
      </p:sp>
    </p:spTree>
    <p:extLst>
      <p:ext uri="{BB962C8B-B14F-4D97-AF65-F5344CB8AC3E}">
        <p14:creationId xmlns:p14="http://schemas.microsoft.com/office/powerpoint/2010/main" val="4129094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15806A61-6562-BF73-786E-879873779C78}"/>
              </a:ext>
            </a:extLst>
          </p:cNvPr>
          <p:cNvSpPr txBox="1"/>
          <p:nvPr/>
        </p:nvSpPr>
        <p:spPr>
          <a:xfrm>
            <a:off x="823608" y="-110102"/>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Google Cloud Data Analytics tools</a:t>
            </a:r>
          </a:p>
        </p:txBody>
      </p:sp>
      <p:pic>
        <p:nvPicPr>
          <p:cNvPr id="5122" name="Picture 2" descr="Google Cloud Analytics Services | GCP Data Analysis | Jade">
            <a:extLst>
              <a:ext uri="{FF2B5EF4-FFF2-40B4-BE49-F238E27FC236}">
                <a16:creationId xmlns:a16="http://schemas.microsoft.com/office/drawing/2014/main" id="{6EF50CCB-B4A5-7AEC-F5AA-381BC8624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044" y="1148119"/>
            <a:ext cx="9905351" cy="5709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426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DFD105B-9F19-EC39-10A3-3A3B710E5384}"/>
              </a:ext>
            </a:extLst>
          </p:cNvPr>
          <p:cNvPicPr>
            <a:picLocks noChangeAspect="1"/>
          </p:cNvPicPr>
          <p:nvPr/>
        </p:nvPicPr>
        <p:blipFill>
          <a:blip r:embed="rId2"/>
          <a:stretch>
            <a:fillRect/>
          </a:stretch>
        </p:blipFill>
        <p:spPr>
          <a:xfrm>
            <a:off x="9398000" y="6103100"/>
            <a:ext cx="2794000" cy="754900"/>
          </a:xfrm>
          <a:prstGeom prst="rect">
            <a:avLst/>
          </a:prstGeom>
        </p:spPr>
      </p:pic>
      <p:sp>
        <p:nvSpPr>
          <p:cNvPr id="2" name="TextBox 6">
            <a:extLst>
              <a:ext uri="{FF2B5EF4-FFF2-40B4-BE49-F238E27FC236}">
                <a16:creationId xmlns:a16="http://schemas.microsoft.com/office/drawing/2014/main" id="{EFC4CAE1-B607-5B8E-B573-4FB101043825}"/>
              </a:ext>
            </a:extLst>
          </p:cNvPr>
          <p:cNvSpPr txBox="1"/>
          <p:nvPr/>
        </p:nvSpPr>
        <p:spPr>
          <a:xfrm>
            <a:off x="722008" y="0"/>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Data Access Management </a:t>
            </a:r>
          </a:p>
        </p:txBody>
      </p:sp>
      <p:sp>
        <p:nvSpPr>
          <p:cNvPr id="3" name="TextBox 2">
            <a:extLst>
              <a:ext uri="{FF2B5EF4-FFF2-40B4-BE49-F238E27FC236}">
                <a16:creationId xmlns:a16="http://schemas.microsoft.com/office/drawing/2014/main" id="{65D25CF8-6E87-672B-04ED-804A724CFAFC}"/>
              </a:ext>
            </a:extLst>
          </p:cNvPr>
          <p:cNvSpPr txBox="1"/>
          <p:nvPr/>
        </p:nvSpPr>
        <p:spPr>
          <a:xfrm>
            <a:off x="563271" y="1242137"/>
            <a:ext cx="11065457" cy="707886"/>
          </a:xfrm>
          <a:prstGeom prst="rect">
            <a:avLst/>
          </a:prstGeom>
          <a:noFill/>
        </p:spPr>
        <p:txBody>
          <a:bodyPr wrap="square" rtlCol="0">
            <a:spAutoFit/>
          </a:bodyPr>
          <a:lstStyle/>
          <a:p>
            <a:r>
              <a:rPr lang="en-US" sz="2000" dirty="0">
                <a:latin typeface="Aptos Display" panose="020B0004020202020204" pitchFamily="34" charset="0"/>
              </a:rPr>
              <a:t>Data access management is the process of using features like password protection, user permissions, and encryption to safeguard data and related processes</a:t>
            </a:r>
            <a:endParaRPr lang="en-IN" sz="2800" dirty="0">
              <a:latin typeface="Aptos Display" panose="020B0004020202020204" pitchFamily="34" charset="0"/>
            </a:endParaRPr>
          </a:p>
        </p:txBody>
      </p:sp>
      <p:sp>
        <p:nvSpPr>
          <p:cNvPr id="5" name="TextBox 4">
            <a:extLst>
              <a:ext uri="{FF2B5EF4-FFF2-40B4-BE49-F238E27FC236}">
                <a16:creationId xmlns:a16="http://schemas.microsoft.com/office/drawing/2014/main" id="{72A0263C-7638-449E-6F1C-A156A0817047}"/>
              </a:ext>
            </a:extLst>
          </p:cNvPr>
          <p:cNvSpPr txBox="1"/>
          <p:nvPr/>
        </p:nvSpPr>
        <p:spPr>
          <a:xfrm>
            <a:off x="563271" y="2160274"/>
            <a:ext cx="6096000" cy="369332"/>
          </a:xfrm>
          <a:prstGeom prst="rect">
            <a:avLst/>
          </a:prstGeom>
          <a:noFill/>
        </p:spPr>
        <p:txBody>
          <a:bodyPr wrap="square">
            <a:spAutoFit/>
          </a:bodyPr>
          <a:lstStyle/>
          <a:p>
            <a:r>
              <a:rPr lang="en-US" b="1" dirty="0"/>
              <a:t>Methods of Data Access Management</a:t>
            </a:r>
          </a:p>
        </p:txBody>
      </p:sp>
      <p:pic>
        <p:nvPicPr>
          <p:cNvPr id="7" name="Picture 6">
            <a:extLst>
              <a:ext uri="{FF2B5EF4-FFF2-40B4-BE49-F238E27FC236}">
                <a16:creationId xmlns:a16="http://schemas.microsoft.com/office/drawing/2014/main" id="{60C125A5-2A48-4CA6-36F5-3F08BECCC8FB}"/>
              </a:ext>
            </a:extLst>
          </p:cNvPr>
          <p:cNvPicPr>
            <a:picLocks noChangeAspect="1"/>
          </p:cNvPicPr>
          <p:nvPr/>
        </p:nvPicPr>
        <p:blipFill>
          <a:blip r:embed="rId3"/>
          <a:stretch>
            <a:fillRect/>
          </a:stretch>
        </p:blipFill>
        <p:spPr>
          <a:xfrm>
            <a:off x="1974972" y="2533483"/>
            <a:ext cx="8565191" cy="3589823"/>
          </a:xfrm>
          <a:prstGeom prst="rect">
            <a:avLst/>
          </a:prstGeom>
        </p:spPr>
      </p:pic>
    </p:spTree>
    <p:extLst>
      <p:ext uri="{BB962C8B-B14F-4D97-AF65-F5344CB8AC3E}">
        <p14:creationId xmlns:p14="http://schemas.microsoft.com/office/powerpoint/2010/main" val="3238613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Understand the Data Analytics Lifecycle on Google Cloud - Introducing a  Google Cloud data analytics workflow | Google Cloud Skills Boost">
            <a:extLst>
              <a:ext uri="{FF2B5EF4-FFF2-40B4-BE49-F238E27FC236}">
                <a16:creationId xmlns:a16="http://schemas.microsoft.com/office/drawing/2014/main" id="{EF716CB0-F84A-3A7F-4D28-AE777DB639F2}"/>
              </a:ext>
            </a:extLst>
          </p:cNvPr>
          <p:cNvPicPr>
            <a:picLocks noChangeAspect="1" noChangeArrowheads="1"/>
          </p:cNvPicPr>
          <p:nvPr/>
        </p:nvPicPr>
        <p:blipFill>
          <a:blip r:embed="rId2">
            <a:alphaModFix amt="26000"/>
            <a:extLst>
              <a:ext uri="{28A0092B-C50C-407E-A947-70E740481C1C}">
                <a14:useLocalDpi xmlns:a14="http://schemas.microsoft.com/office/drawing/2010/main" val="0"/>
              </a:ext>
            </a:extLst>
          </a:blip>
          <a:srcRect/>
          <a:stretch>
            <a:fillRect/>
          </a:stretch>
        </p:blipFill>
        <p:spPr bwMode="auto">
          <a:xfrm>
            <a:off x="45155" y="0"/>
            <a:ext cx="12101689" cy="713232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6">
            <a:extLst>
              <a:ext uri="{FF2B5EF4-FFF2-40B4-BE49-F238E27FC236}">
                <a16:creationId xmlns:a16="http://schemas.microsoft.com/office/drawing/2014/main" id="{692C0281-E7E6-11D2-FA00-2B4039706A0A}"/>
              </a:ext>
            </a:extLst>
          </p:cNvPr>
          <p:cNvSpPr txBox="1"/>
          <p:nvPr/>
        </p:nvSpPr>
        <p:spPr>
          <a:xfrm>
            <a:off x="711847" y="1016000"/>
            <a:ext cx="10544783" cy="1205458"/>
          </a:xfrm>
          <a:prstGeom prst="rect">
            <a:avLst/>
          </a:prstGeom>
        </p:spPr>
        <p:txBody>
          <a:bodyPr wrap="square" lIns="0" tIns="0" rIns="0" bIns="0" rtlCol="0" anchor="t">
            <a:spAutoFit/>
          </a:bodyPr>
          <a:lstStyle/>
          <a:p>
            <a:pPr algn="ctr">
              <a:lnSpc>
                <a:spcPts val="9400"/>
              </a:lnSpc>
            </a:pPr>
            <a:r>
              <a:rPr lang="en-US" sz="7200" b="1" spc="10" dirty="0">
                <a:solidFill>
                  <a:srgbClr val="000000"/>
                </a:solidFill>
                <a:latin typeface="Gadugi" panose="020B0502040204020203" pitchFamily="34" charset="0"/>
                <a:ea typeface="Gadugi" panose="020B0502040204020203" pitchFamily="34" charset="0"/>
                <a:cs typeface="Raleway Bold"/>
                <a:sym typeface="Raleway Bold"/>
              </a:rPr>
              <a:t>Thank You </a:t>
            </a:r>
            <a:r>
              <a:rPr lang="en-US" sz="8000" b="1" spc="10" dirty="0">
                <a:solidFill>
                  <a:srgbClr val="000000"/>
                </a:solidFill>
                <a:latin typeface="Gadugi" panose="020B0502040204020203" pitchFamily="34" charset="0"/>
                <a:ea typeface="Gadugi" panose="020B0502040204020203" pitchFamily="34" charset="0"/>
                <a:cs typeface="Raleway Bold"/>
                <a:sym typeface="Raleway Bold"/>
              </a:rPr>
              <a:t>:)</a:t>
            </a:r>
            <a:endParaRPr lang="en-US" sz="7200" b="1" spc="10" dirty="0">
              <a:solidFill>
                <a:srgbClr val="000000"/>
              </a:solidFill>
              <a:latin typeface="Gadugi" panose="020B0502040204020203" pitchFamily="34" charset="0"/>
              <a:ea typeface="Gadugi" panose="020B0502040204020203" pitchFamily="34" charset="0"/>
              <a:cs typeface="Raleway Bold"/>
              <a:sym typeface="Raleway Bold"/>
            </a:endParaRPr>
          </a:p>
        </p:txBody>
      </p:sp>
    </p:spTree>
    <p:extLst>
      <p:ext uri="{BB962C8B-B14F-4D97-AF65-F5344CB8AC3E}">
        <p14:creationId xmlns:p14="http://schemas.microsoft.com/office/powerpoint/2010/main" val="2258996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265</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 Display</vt:lpstr>
      <vt:lpstr>Arial</vt:lpstr>
      <vt:lpstr>Calibri</vt:lpstr>
      <vt:lpstr>Calibri Light</vt:lpstr>
      <vt:lpstr>Gadugi</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Yashwanth S</dc:creator>
  <cp:lastModifiedBy>Yashwanth S</cp:lastModifiedBy>
  <cp:revision>1</cp:revision>
  <dcterms:created xsi:type="dcterms:W3CDTF">2025-06-24T17:05:00Z</dcterms:created>
  <dcterms:modified xsi:type="dcterms:W3CDTF">2025-06-24T17:49:17Z</dcterms:modified>
</cp:coreProperties>
</file>