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entury Gothic Paneuropean Bold" charset="1" panose="020B0702020202020204"/>
      <p:regular r:id="rId22"/>
    </p:embeddedFont>
    <p:embeddedFont>
      <p:font typeface="Century Gothic Paneuropean" charset="1" panose="020B0502020202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5303637" y="2413642"/>
            <a:ext cx="7680726" cy="5999956"/>
          </a:xfrm>
          <a:custGeom>
            <a:avLst/>
            <a:gdLst/>
            <a:ahLst/>
            <a:cxnLst/>
            <a:rect r="r" b="b" t="t" l="l"/>
            <a:pathLst>
              <a:path h="5999956" w="7680726">
                <a:moveTo>
                  <a:pt x="0" y="0"/>
                </a:moveTo>
                <a:lnTo>
                  <a:pt x="7680726" y="0"/>
                </a:lnTo>
                <a:lnTo>
                  <a:pt x="7680726" y="5999957"/>
                </a:lnTo>
                <a:lnTo>
                  <a:pt x="0" y="5999957"/>
                </a:lnTo>
                <a:lnTo>
                  <a:pt x="0" y="0"/>
                </a:lnTo>
                <a:close/>
              </a:path>
            </a:pathLst>
          </a:custGeom>
          <a:blipFill>
            <a:blip r:embed="rId4"/>
            <a:stretch>
              <a:fillRect l="0" t="0" r="0" b="0"/>
            </a:stretch>
          </a:blipFill>
        </p:spPr>
      </p:sp>
      <p:sp>
        <p:nvSpPr>
          <p:cNvPr name="TextBox 14" id="14"/>
          <p:cNvSpPr txBox="true"/>
          <p:nvPr/>
        </p:nvSpPr>
        <p:spPr>
          <a:xfrm rot="0">
            <a:off x="3246246" y="364847"/>
            <a:ext cx="11795508" cy="2192511"/>
          </a:xfrm>
          <a:prstGeom prst="rect">
            <a:avLst/>
          </a:prstGeom>
        </p:spPr>
        <p:txBody>
          <a:bodyPr anchor="t" rtlCol="false" tIns="0" lIns="0" bIns="0" rIns="0">
            <a:spAutoFit/>
          </a:bodyPr>
          <a:lstStyle/>
          <a:p>
            <a:pPr algn="ctr">
              <a:lnSpc>
                <a:spcPts val="8827"/>
              </a:lnSpc>
            </a:pPr>
            <a:r>
              <a:rPr lang="en-US" b="true" sz="6305">
                <a:solidFill>
                  <a:srgbClr val="000000"/>
                </a:solidFill>
                <a:latin typeface="Century Gothic Paneuropean Bold"/>
                <a:ea typeface="Century Gothic Paneuropean Bold"/>
                <a:cs typeface="Century Gothic Paneuropean Bold"/>
                <a:sym typeface="Century Gothic Paneuropean Bold"/>
              </a:rPr>
              <a:t>DATA ANALY</a:t>
            </a:r>
            <a:r>
              <a:rPr lang="en-US" b="true" sz="6305">
                <a:solidFill>
                  <a:srgbClr val="000000"/>
                </a:solidFill>
                <a:latin typeface="Century Gothic Paneuropean Bold"/>
                <a:ea typeface="Century Gothic Paneuropean Bold"/>
                <a:cs typeface="Century Gothic Paneuropean Bold"/>
                <a:sym typeface="Century Gothic Paneuropean Bold"/>
              </a:rPr>
              <a:t>ST LEARNING PATH</a:t>
            </a:r>
          </a:p>
          <a:p>
            <a:pPr algn="ctr">
              <a:lnSpc>
                <a:spcPts val="8827"/>
              </a:lnSpc>
            </a:pPr>
          </a:p>
        </p:txBody>
      </p:sp>
      <p:sp>
        <p:nvSpPr>
          <p:cNvPr name="TextBox 15" id="15"/>
          <p:cNvSpPr txBox="true"/>
          <p:nvPr/>
        </p:nvSpPr>
        <p:spPr>
          <a:xfrm rot="0">
            <a:off x="13399336" y="7645769"/>
            <a:ext cx="4580285" cy="1967069"/>
          </a:xfrm>
          <a:prstGeom prst="rect">
            <a:avLst/>
          </a:prstGeom>
        </p:spPr>
        <p:txBody>
          <a:bodyPr anchor="t" rtlCol="false" tIns="0" lIns="0" bIns="0" rIns="0">
            <a:spAutoFit/>
          </a:bodyPr>
          <a:lstStyle/>
          <a:p>
            <a:pPr algn="ctr">
              <a:lnSpc>
                <a:spcPts val="5235"/>
              </a:lnSpc>
            </a:pPr>
            <a:r>
              <a:rPr lang="en-US" sz="3739">
                <a:solidFill>
                  <a:srgbClr val="000000"/>
                </a:solidFill>
                <a:latin typeface="Century Gothic Paneuropean"/>
                <a:ea typeface="Century Gothic Paneuropean"/>
                <a:cs typeface="Century Gothic Paneuropean"/>
                <a:sym typeface="Century Gothic Paneuropean"/>
              </a:rPr>
              <a:t>Presented By,</a:t>
            </a:r>
          </a:p>
          <a:p>
            <a:pPr algn="ctr">
              <a:lnSpc>
                <a:spcPts val="5235"/>
              </a:lnSpc>
            </a:pPr>
            <a:r>
              <a:rPr lang="en-US" sz="3739">
                <a:solidFill>
                  <a:srgbClr val="000000"/>
                </a:solidFill>
                <a:latin typeface="Century Gothic Paneuropean"/>
                <a:ea typeface="Century Gothic Paneuropean"/>
                <a:cs typeface="Century Gothic Paneuropean"/>
                <a:sym typeface="Century Gothic Paneuropean"/>
              </a:rPr>
              <a:t>Yashwanth S</a:t>
            </a:r>
          </a:p>
          <a:p>
            <a:pPr algn="ctr">
              <a:lnSpc>
                <a:spcPts val="5235"/>
              </a:lnSpc>
            </a:pPr>
            <a:r>
              <a:rPr lang="en-US" sz="3739">
                <a:solidFill>
                  <a:srgbClr val="000000"/>
                </a:solidFill>
                <a:latin typeface="Century Gothic Paneuropean"/>
                <a:ea typeface="Century Gothic Paneuropean"/>
                <a:cs typeface="Century Gothic Paneuropean"/>
                <a:sym typeface="Century Gothic Paneuropean"/>
              </a:rPr>
              <a:t>4VV22CS189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569057" y="1909865"/>
            <a:ext cx="14882811" cy="8240007"/>
          </a:xfrm>
          <a:prstGeom prst="rect">
            <a:avLst/>
          </a:prstGeom>
        </p:spPr>
        <p:txBody>
          <a:bodyPr anchor="t" rtlCol="false" tIns="0" lIns="0" bIns="0" rIns="0">
            <a:spAutoFit/>
          </a:bodyPr>
          <a:lstStyle/>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•The Google Data Analytics course is designed to provide a comprehensive overview of data analytics and its application in modern industries.</a:t>
            </a:r>
          </a:p>
          <a:p>
            <a:pPr algn="l">
              <a:lnSpc>
                <a:spcPts val="4676"/>
              </a:lnSpc>
            </a:pP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 The course covers various topics, including data collection, cleaning, analysis, and visualization.</a:t>
            </a:r>
          </a:p>
          <a:p>
            <a:pPr algn="l">
              <a:lnSpc>
                <a:spcPts val="4676"/>
              </a:lnSpc>
            </a:pP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 It focuses on using Google Cloud’s ecosystem to handle real-world data challenges. </a:t>
            </a:r>
          </a:p>
          <a:p>
            <a:pPr algn="l">
              <a:lnSpc>
                <a:spcPts val="4676"/>
              </a:lnSpc>
            </a:pP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•By the end of the course, learners will have the skills to analyze data, extract insights, and present findings using industry-leading tools like BigQuery and Looker.</a:t>
            </a:r>
          </a:p>
          <a:p>
            <a:pPr algn="l">
              <a:lnSpc>
                <a:spcPts val="4676"/>
              </a:lnSpc>
            </a:pPr>
          </a:p>
        </p:txBody>
      </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0778914" y="408843"/>
            <a:ext cx="1245704" cy="1239715"/>
          </a:xfrm>
          <a:custGeom>
            <a:avLst/>
            <a:gdLst/>
            <a:ahLst/>
            <a:cxnLst/>
            <a:rect r="r" b="b" t="t" l="l"/>
            <a:pathLst>
              <a:path h="1239715" w="1245704">
                <a:moveTo>
                  <a:pt x="0" y="0"/>
                </a:moveTo>
                <a:lnTo>
                  <a:pt x="1245704" y="0"/>
                </a:lnTo>
                <a:lnTo>
                  <a:pt x="1245704" y="1239714"/>
                </a:lnTo>
                <a:lnTo>
                  <a:pt x="0" y="1239714"/>
                </a:lnTo>
                <a:lnTo>
                  <a:pt x="0" y="0"/>
                </a:lnTo>
                <a:close/>
              </a:path>
            </a:pathLst>
          </a:custGeom>
          <a:blipFill>
            <a:blip r:embed="rId4"/>
            <a:stretch>
              <a:fillRect l="0" t="0" r="0" b="0"/>
            </a:stretch>
          </a:blipFill>
        </p:spPr>
      </p:sp>
      <p:sp>
        <p:nvSpPr>
          <p:cNvPr name="TextBox 15" id="15"/>
          <p:cNvSpPr txBox="true"/>
          <p:nvPr/>
        </p:nvSpPr>
        <p:spPr>
          <a:xfrm rot="0">
            <a:off x="2241736" y="256443"/>
            <a:ext cx="8537178" cy="1392115"/>
          </a:xfrm>
          <a:prstGeom prst="rect">
            <a:avLst/>
          </a:prstGeom>
        </p:spPr>
        <p:txBody>
          <a:bodyPr anchor="t" rtlCol="false" tIns="0" lIns="0" bIns="0" rIns="0">
            <a:spAutoFit/>
          </a:bodyPr>
          <a:lstStyle/>
          <a:p>
            <a:pPr algn="ctr">
              <a:lnSpc>
                <a:spcPts val="11469"/>
              </a:lnSpc>
            </a:pPr>
            <a:r>
              <a:rPr lang="en-US" b="true" sz="8192">
                <a:solidFill>
                  <a:srgbClr val="000000"/>
                </a:solidFill>
                <a:latin typeface="Century Gothic Paneuropean Bold"/>
                <a:ea typeface="Century Gothic Paneuropean Bold"/>
                <a:cs typeface="Century Gothic Paneuropean Bold"/>
                <a:sym typeface="Century Gothic Paneuropean Bold"/>
              </a:rPr>
              <a:t>INTR</a:t>
            </a:r>
            <a:r>
              <a:rPr lang="en-US" b="true" sz="8192">
                <a:solidFill>
                  <a:srgbClr val="000000"/>
                </a:solidFill>
                <a:latin typeface="Century Gothic Paneuropean Bold"/>
                <a:ea typeface="Century Gothic Paneuropean Bold"/>
                <a:cs typeface="Century Gothic Paneuropean Bold"/>
                <a:sym typeface="Century Gothic Paneuropean Bold"/>
              </a:rPr>
              <a:t>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69057" y="194292"/>
            <a:ext cx="12332395" cy="2069014"/>
          </a:xfrm>
          <a:prstGeom prst="rect">
            <a:avLst/>
          </a:prstGeom>
        </p:spPr>
        <p:txBody>
          <a:bodyPr anchor="t" rtlCol="false" tIns="0" lIns="0" bIns="0" rIns="0">
            <a:spAutoFit/>
          </a:bodyPr>
          <a:lstStyle/>
          <a:p>
            <a:pPr algn="ctr">
              <a:lnSpc>
                <a:spcPts val="8304"/>
              </a:lnSpc>
            </a:pPr>
            <a:r>
              <a:rPr lang="en-US" b="true" sz="5932">
                <a:solidFill>
                  <a:srgbClr val="000000"/>
                </a:solidFill>
                <a:latin typeface="Century Gothic Paneuropean Bold"/>
                <a:ea typeface="Century Gothic Paneuropean Bold"/>
                <a:cs typeface="Century Gothic Paneuropean Bold"/>
                <a:sym typeface="Century Gothic Paneuropean Bold"/>
              </a:rPr>
              <a:t>KEY COMP</a:t>
            </a:r>
            <a:r>
              <a:rPr lang="en-US" b="true" sz="5932">
                <a:solidFill>
                  <a:srgbClr val="000000"/>
                </a:solidFill>
                <a:latin typeface="Century Gothic Paneuropean Bold"/>
                <a:ea typeface="Century Gothic Paneuropean Bold"/>
                <a:cs typeface="Century Gothic Paneuropean Bold"/>
                <a:sym typeface="Century Gothic Paneuropean Bold"/>
              </a:rPr>
              <a:t>ONENTS OF GOOGLE CLOUD FOR DATA ANALYTICS</a:t>
            </a:r>
          </a:p>
        </p:txBody>
      </p:sp>
      <p:sp>
        <p:nvSpPr>
          <p:cNvPr name="TextBox 3" id="3"/>
          <p:cNvSpPr txBox="true"/>
          <p:nvPr/>
        </p:nvSpPr>
        <p:spPr>
          <a:xfrm rot="0">
            <a:off x="1028700" y="2385753"/>
            <a:ext cx="15830809" cy="8240007"/>
          </a:xfrm>
          <a:prstGeom prst="rect">
            <a:avLst/>
          </a:prstGeom>
        </p:spPr>
        <p:txBody>
          <a:bodyPr anchor="t" rtlCol="false" tIns="0" lIns="0" bIns="0" rIns="0">
            <a:spAutoFit/>
          </a:bodyPr>
          <a:lstStyle/>
          <a:p>
            <a:pPr algn="l" marL="721164" indent="-360582" lvl="1">
              <a:lnSpc>
                <a:spcPts val="4676"/>
              </a:lnSpc>
              <a:buFont typeface="Arial"/>
              <a:buChar char="•"/>
            </a:pPr>
            <a:r>
              <a:rPr lang="en-US" b="true" sz="3340" u="sng">
                <a:solidFill>
                  <a:srgbClr val="000000"/>
                </a:solidFill>
                <a:latin typeface="Century Gothic Paneuropean Bold"/>
                <a:ea typeface="Century Gothic Paneuropean Bold"/>
                <a:cs typeface="Century Gothic Paneuropean Bold"/>
                <a:sym typeface="Century Gothic Paneuropean Bold"/>
              </a:rPr>
              <a:t>BigQuery</a:t>
            </a:r>
          </a:p>
          <a:p>
            <a:pPr algn="l" marL="721164" indent="-360582" lvl="1">
              <a:lnSpc>
                <a:spcPts val="4676"/>
              </a:lnSpc>
              <a:buFont typeface="Arial"/>
              <a:buChar char="•"/>
            </a:pPr>
            <a:r>
              <a:rPr lang="en-US" sz="3340">
                <a:solidFill>
                  <a:srgbClr val="000000"/>
                </a:solidFill>
                <a:latin typeface="Century Gothic Paneuropean"/>
                <a:ea typeface="Century Gothic Paneuropean"/>
                <a:cs typeface="Century Gothic Paneuropean"/>
                <a:sym typeface="Century Gothic Paneuropean"/>
              </a:rPr>
              <a:t>A serverless data warehouse that enables fast and efficient data analysis.</a:t>
            </a:r>
          </a:p>
          <a:p>
            <a:pPr algn="l">
              <a:lnSpc>
                <a:spcPts val="4676"/>
              </a:lnSpc>
            </a:pPr>
          </a:p>
          <a:p>
            <a:pPr algn="l" marL="721164" indent="-360582" lvl="1">
              <a:lnSpc>
                <a:spcPts val="4676"/>
              </a:lnSpc>
              <a:buFont typeface="Arial"/>
              <a:buChar char="•"/>
            </a:pPr>
            <a:r>
              <a:rPr lang="en-US" b="true" sz="3340" u="sng">
                <a:solidFill>
                  <a:srgbClr val="000000"/>
                </a:solidFill>
                <a:latin typeface="Century Gothic Paneuropean Bold"/>
                <a:ea typeface="Century Gothic Paneuropean Bold"/>
                <a:cs typeface="Century Gothic Paneuropean Bold"/>
                <a:sym typeface="Century Gothic Paneuropean Bold"/>
              </a:rPr>
              <a:t>Cloud Dataproc</a:t>
            </a:r>
          </a:p>
          <a:p>
            <a:pPr algn="l" marL="721164" indent="-360582" lvl="1">
              <a:lnSpc>
                <a:spcPts val="4676"/>
              </a:lnSpc>
              <a:buFont typeface="Arial"/>
              <a:buChar char="•"/>
            </a:pPr>
            <a:r>
              <a:rPr lang="en-US" sz="3340">
                <a:solidFill>
                  <a:srgbClr val="000000"/>
                </a:solidFill>
                <a:latin typeface="Century Gothic Paneuropean"/>
                <a:ea typeface="Century Gothic Paneuropean"/>
                <a:cs typeface="Century Gothic Paneuropean"/>
                <a:sym typeface="Century Gothic Paneuropean"/>
              </a:rPr>
              <a:t>A managed service for running Apache Spark and Hadoop clusters.</a:t>
            </a:r>
          </a:p>
          <a:p>
            <a:pPr algn="l">
              <a:lnSpc>
                <a:spcPts val="4676"/>
              </a:lnSpc>
            </a:pPr>
          </a:p>
          <a:p>
            <a:pPr algn="l" marL="721164" indent="-360582" lvl="1">
              <a:lnSpc>
                <a:spcPts val="4676"/>
              </a:lnSpc>
              <a:buFont typeface="Arial"/>
              <a:buChar char="•"/>
            </a:pPr>
            <a:r>
              <a:rPr lang="en-US" b="true" sz="3340" u="sng">
                <a:solidFill>
                  <a:srgbClr val="000000"/>
                </a:solidFill>
                <a:latin typeface="Century Gothic Paneuropean Bold"/>
                <a:ea typeface="Century Gothic Paneuropean Bold"/>
                <a:cs typeface="Century Gothic Paneuropean Bold"/>
                <a:sym typeface="Century Gothic Paneuropean Bold"/>
              </a:rPr>
              <a:t>Cloud Dataflow</a:t>
            </a:r>
          </a:p>
          <a:p>
            <a:pPr algn="l" marL="721164" indent="-360582" lvl="1">
              <a:lnSpc>
                <a:spcPts val="4676"/>
              </a:lnSpc>
              <a:buFont typeface="Arial"/>
              <a:buChar char="•"/>
            </a:pPr>
            <a:r>
              <a:rPr lang="en-US" sz="3340">
                <a:solidFill>
                  <a:srgbClr val="000000"/>
                </a:solidFill>
                <a:latin typeface="Century Gothic Paneuropean"/>
                <a:ea typeface="Century Gothic Paneuropean"/>
                <a:cs typeface="Century Gothic Paneuropean"/>
                <a:sym typeface="Century Gothic Paneuropean"/>
              </a:rPr>
              <a:t>A serverless service for batch and streaming data processing.</a:t>
            </a:r>
          </a:p>
          <a:p>
            <a:pPr algn="l">
              <a:lnSpc>
                <a:spcPts val="4676"/>
              </a:lnSpc>
            </a:pPr>
          </a:p>
          <a:p>
            <a:pPr algn="l" marL="721164" indent="-360582" lvl="1">
              <a:lnSpc>
                <a:spcPts val="4676"/>
              </a:lnSpc>
              <a:buFont typeface="Arial"/>
              <a:buChar char="•"/>
            </a:pPr>
            <a:r>
              <a:rPr lang="en-US" b="true" sz="3340" u="sng">
                <a:solidFill>
                  <a:srgbClr val="000000"/>
                </a:solidFill>
                <a:latin typeface="Century Gothic Paneuropean Bold"/>
                <a:ea typeface="Century Gothic Paneuropean Bold"/>
                <a:cs typeface="Century Gothic Paneuropean Bold"/>
                <a:sym typeface="Century Gothic Paneuropean Bold"/>
              </a:rPr>
              <a:t>Cloud Dataprep</a:t>
            </a:r>
          </a:p>
          <a:p>
            <a:pPr algn="l" marL="721164" indent="-360582" lvl="1">
              <a:lnSpc>
                <a:spcPts val="4676"/>
              </a:lnSpc>
              <a:buFont typeface="Arial"/>
              <a:buChar char="•"/>
            </a:pPr>
            <a:r>
              <a:rPr lang="en-US" sz="3340">
                <a:solidFill>
                  <a:srgbClr val="000000"/>
                </a:solidFill>
                <a:latin typeface="Century Gothic Paneuropean"/>
                <a:ea typeface="Century Gothic Paneuropean"/>
                <a:cs typeface="Century Gothic Paneuropean"/>
                <a:sym typeface="Century Gothic Paneuropean"/>
              </a:rPr>
              <a:t>A tool that streamlines data preparation and cleansing for analysis.</a:t>
            </a:r>
          </a:p>
          <a:p>
            <a:pPr algn="l">
              <a:lnSpc>
                <a:spcPts val="4676"/>
              </a:lnSpc>
            </a:pPr>
          </a:p>
          <a:p>
            <a:pPr algn="l">
              <a:lnSpc>
                <a:spcPts val="4676"/>
              </a:lnSpc>
            </a:pP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69057" y="120554"/>
            <a:ext cx="15920471" cy="1730566"/>
          </a:xfrm>
          <a:prstGeom prst="rect">
            <a:avLst/>
          </a:prstGeom>
        </p:spPr>
        <p:txBody>
          <a:bodyPr anchor="t" rtlCol="false" tIns="0" lIns="0" bIns="0" rIns="0">
            <a:spAutoFit/>
          </a:bodyPr>
          <a:lstStyle/>
          <a:p>
            <a:pPr algn="ctr">
              <a:lnSpc>
                <a:spcPts val="6989"/>
              </a:lnSpc>
            </a:pPr>
            <a:r>
              <a:rPr lang="en-US" b="true" sz="4992">
                <a:solidFill>
                  <a:srgbClr val="000000"/>
                </a:solidFill>
                <a:latin typeface="Century Gothic Paneuropean Bold"/>
                <a:ea typeface="Century Gothic Paneuropean Bold"/>
                <a:cs typeface="Century Gothic Paneuropean Bold"/>
                <a:sym typeface="Century Gothic Paneuropean Bold"/>
              </a:rPr>
              <a:t>DISCUINTRODUCTION TO DATA ANALYTICS ON GOOGLE CLOUDSSION</a:t>
            </a:r>
          </a:p>
        </p:txBody>
      </p:sp>
      <p:sp>
        <p:nvSpPr>
          <p:cNvPr name="TextBox 3" id="3"/>
          <p:cNvSpPr txBox="true"/>
          <p:nvPr/>
        </p:nvSpPr>
        <p:spPr>
          <a:xfrm rot="0">
            <a:off x="1188060" y="1909865"/>
            <a:ext cx="15530882" cy="5287257"/>
          </a:xfrm>
          <a:prstGeom prst="rect">
            <a:avLst/>
          </a:prstGeom>
        </p:spPr>
        <p:txBody>
          <a:bodyPr anchor="t" rtlCol="false" tIns="0" lIns="0" bIns="0" rIns="0">
            <a:spAutoFit/>
          </a:bodyPr>
          <a:lstStyle/>
          <a:p>
            <a:pPr algn="l" marL="721164" indent="-360582" lvl="1">
              <a:lnSpc>
                <a:spcPts val="4676"/>
              </a:lnSpc>
              <a:buFont typeface="Arial"/>
              <a:buChar char="•"/>
            </a:pPr>
            <a:r>
              <a:rPr lang="en-US" b="true" sz="3340" u="sng">
                <a:solidFill>
                  <a:srgbClr val="000000"/>
                </a:solidFill>
                <a:latin typeface="Century Gothic Paneuropean Bold"/>
                <a:ea typeface="Century Gothic Paneuropean Bold"/>
                <a:cs typeface="Century Gothic Paneuropean Bold"/>
                <a:sym typeface="Century Gothic Paneuropean Bold"/>
              </a:rPr>
              <a:t>Objective</a:t>
            </a:r>
            <a:r>
              <a:rPr lang="en-US" b="true" sz="3340">
                <a:solidFill>
                  <a:srgbClr val="000000"/>
                </a:solidFill>
                <a:latin typeface="Century Gothic Paneuropean Bold"/>
                <a:ea typeface="Century Gothic Paneuropean Bold"/>
                <a:cs typeface="Century Gothic Paneuropean Bold"/>
                <a:sym typeface="Century Gothic Paneuropean Bold"/>
              </a:rPr>
              <a:t>:</a:t>
            </a:r>
            <a:r>
              <a:rPr lang="en-US" sz="3340">
                <a:solidFill>
                  <a:srgbClr val="000000"/>
                </a:solidFill>
                <a:latin typeface="Century Gothic Paneuropean"/>
                <a:ea typeface="Century Gothic Paneuropean"/>
                <a:cs typeface="Century Gothic Paneuropean"/>
                <a:sym typeface="Century Gothic Paneuropean"/>
              </a:rPr>
              <a:t> Familiarize with Google Cloud’s data analytics tools</a:t>
            </a:r>
          </a:p>
          <a:p>
            <a:pPr algn="l">
              <a:lnSpc>
                <a:spcPts val="4676"/>
              </a:lnSpc>
            </a:pPr>
          </a:p>
          <a:p>
            <a:pPr algn="l" marL="721164" indent="-360582" lvl="1">
              <a:lnSpc>
                <a:spcPts val="4676"/>
              </a:lnSpc>
              <a:buFont typeface="Arial"/>
              <a:buChar char="•"/>
            </a:pPr>
            <a:r>
              <a:rPr lang="en-US" b="true" sz="3340" u="sng">
                <a:solidFill>
                  <a:srgbClr val="000000"/>
                </a:solidFill>
                <a:latin typeface="Century Gothic Paneuropean Bold"/>
                <a:ea typeface="Century Gothic Paneuropean Bold"/>
                <a:cs typeface="Century Gothic Paneuropean Bold"/>
                <a:sym typeface="Century Gothic Paneuropean Bold"/>
              </a:rPr>
              <a:t>Key Topics:</a:t>
            </a:r>
          </a:p>
          <a:p>
            <a:pPr algn="l" marL="721164" indent="-360582" lvl="1">
              <a:lnSpc>
                <a:spcPts val="4676"/>
              </a:lnSpc>
              <a:buFont typeface="Arial"/>
              <a:buChar char="•"/>
            </a:pPr>
            <a:r>
              <a:rPr lang="en-US" sz="3340">
                <a:solidFill>
                  <a:srgbClr val="000000"/>
                </a:solidFill>
                <a:latin typeface="Century Gothic Paneuropean"/>
                <a:ea typeface="Century Gothic Paneuropean"/>
                <a:cs typeface="Century Gothic Paneuropean"/>
                <a:sym typeface="Century Gothic Paneuropean"/>
              </a:rPr>
              <a:t>Overview of data analytics lifecycle: Collection, Storage, Analysis, Visualization, and Action.</a:t>
            </a:r>
          </a:p>
          <a:p>
            <a:pPr algn="l" marL="721164" indent="-360582" lvl="1">
              <a:lnSpc>
                <a:spcPts val="4676"/>
              </a:lnSpc>
              <a:buFont typeface="Arial"/>
              <a:buChar char="•"/>
            </a:pPr>
            <a:r>
              <a:rPr lang="en-US" sz="3340">
                <a:solidFill>
                  <a:srgbClr val="000000"/>
                </a:solidFill>
                <a:latin typeface="Century Gothic Paneuropean"/>
                <a:ea typeface="Century Gothic Paneuropean"/>
                <a:cs typeface="Century Gothic Paneuropean"/>
                <a:sym typeface="Century Gothic Paneuropean"/>
              </a:rPr>
              <a:t>Introduction to Google Cloud’s data analytics products: BigQuery, Looker, AI/ML services.</a:t>
            </a:r>
          </a:p>
          <a:p>
            <a:pPr algn="l" marL="721164" indent="-360582" lvl="1">
              <a:lnSpc>
                <a:spcPts val="4676"/>
              </a:lnSpc>
              <a:buFont typeface="Arial"/>
              <a:buChar char="•"/>
            </a:pPr>
            <a:r>
              <a:rPr lang="en-US" sz="3340">
                <a:solidFill>
                  <a:srgbClr val="000000"/>
                </a:solidFill>
                <a:latin typeface="Century Gothic Paneuropean"/>
                <a:ea typeface="Century Gothic Paneuropean"/>
                <a:cs typeface="Century Gothic Paneuropean"/>
                <a:sym typeface="Century Gothic Paneuropean"/>
              </a:rPr>
              <a:t>Setting up a Google Cloud environment: Creating a project, enabling APIs, and setting up billing.</a:t>
            </a: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19827"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4263675" y="7280159"/>
            <a:ext cx="2708884" cy="2247948"/>
          </a:xfrm>
          <a:custGeom>
            <a:avLst/>
            <a:gdLst/>
            <a:ahLst/>
            <a:cxnLst/>
            <a:rect r="r" b="b" t="t" l="l"/>
            <a:pathLst>
              <a:path h="2247948" w="2708884">
                <a:moveTo>
                  <a:pt x="0" y="0"/>
                </a:moveTo>
                <a:lnTo>
                  <a:pt x="2708884" y="0"/>
                </a:lnTo>
                <a:lnTo>
                  <a:pt x="2708884" y="2247948"/>
                </a:lnTo>
                <a:lnTo>
                  <a:pt x="0" y="2247948"/>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69057" y="-105129"/>
            <a:ext cx="15149885" cy="1989012"/>
          </a:xfrm>
          <a:prstGeom prst="rect">
            <a:avLst/>
          </a:prstGeom>
        </p:spPr>
        <p:txBody>
          <a:bodyPr anchor="t" rtlCol="false" tIns="0" lIns="0" bIns="0" rIns="0">
            <a:spAutoFit/>
          </a:bodyPr>
          <a:lstStyle/>
          <a:p>
            <a:pPr algn="ctr">
              <a:lnSpc>
                <a:spcPts val="7969"/>
              </a:lnSpc>
            </a:pPr>
            <a:r>
              <a:rPr lang="en-US" b="true" sz="5692">
                <a:solidFill>
                  <a:srgbClr val="000000"/>
                </a:solidFill>
                <a:latin typeface="Century Gothic Paneuropean Bold"/>
                <a:ea typeface="Century Gothic Paneuropean Bold"/>
                <a:cs typeface="Century Gothic Paneuropean Bold"/>
                <a:sym typeface="Century Gothic Paneuropean Bold"/>
              </a:rPr>
              <a:t>ANALYZING AND VIS</a:t>
            </a:r>
            <a:r>
              <a:rPr lang="en-US" b="true" sz="5692">
                <a:solidFill>
                  <a:srgbClr val="000000"/>
                </a:solidFill>
                <a:latin typeface="Century Gothic Paneuropean Bold"/>
                <a:ea typeface="Century Gothic Paneuropean Bold"/>
                <a:cs typeface="Century Gothic Paneuropean Bold"/>
                <a:sym typeface="Century Gothic Paneuropean Bold"/>
              </a:rPr>
              <a:t>UALIZING DATA IN LOOKER</a:t>
            </a:r>
          </a:p>
        </p:txBody>
      </p:sp>
      <p:sp>
        <p:nvSpPr>
          <p:cNvPr name="TextBox 3" id="3"/>
          <p:cNvSpPr txBox="true"/>
          <p:nvPr/>
        </p:nvSpPr>
        <p:spPr>
          <a:xfrm rot="0">
            <a:off x="1252174" y="2479524"/>
            <a:ext cx="15787076" cy="5877807"/>
          </a:xfrm>
          <a:prstGeom prst="rect">
            <a:avLst/>
          </a:prstGeom>
        </p:spPr>
        <p:txBody>
          <a:bodyPr anchor="t" rtlCol="false" tIns="0" lIns="0" bIns="0" rIns="0">
            <a:spAutoFit/>
          </a:bodyPr>
          <a:lstStyle/>
          <a:p>
            <a:pPr algn="l">
              <a:lnSpc>
                <a:spcPts val="4676"/>
              </a:lnSpc>
            </a:pPr>
            <a:r>
              <a:rPr lang="en-US" sz="3340" u="sng" b="true">
                <a:solidFill>
                  <a:srgbClr val="000000"/>
                </a:solidFill>
                <a:latin typeface="Century Gothic Paneuropean Bold"/>
                <a:ea typeface="Century Gothic Paneuropean Bold"/>
                <a:cs typeface="Century Gothic Paneuropean Bold"/>
                <a:sym typeface="Century Gothic Paneuropean Bold"/>
              </a:rPr>
              <a:t>•Objective: </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Learn how to use Looker to explore and visualize datasets.</a:t>
            </a:r>
          </a:p>
          <a:p>
            <a:pPr algn="l">
              <a:lnSpc>
                <a:spcPts val="4676"/>
              </a:lnSpc>
            </a:pPr>
          </a:p>
          <a:p>
            <a:pPr algn="l">
              <a:lnSpc>
                <a:spcPts val="4676"/>
              </a:lnSpc>
            </a:pPr>
            <a:r>
              <a:rPr lang="en-US" sz="3340" u="sng" b="true">
                <a:solidFill>
                  <a:srgbClr val="000000"/>
                </a:solidFill>
                <a:latin typeface="Century Gothic Paneuropean Bold"/>
                <a:ea typeface="Century Gothic Paneuropean Bold"/>
                <a:cs typeface="Century Gothic Paneuropean Bold"/>
                <a:sym typeface="Century Gothic Paneuropean Bold"/>
              </a:rPr>
              <a:t>•Key Topics: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•Introduction to Looker’s interface and its key features.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•Looker: A business intelligence (BI) tool that connects directly to your database for real-time data exploration and analysis.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•Building and sharing interactive dashboards.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•Using Looker’s data exploration tools: filters, pivots, and visualizations.</a:t>
            </a:r>
          </a:p>
          <a:p>
            <a:pPr algn="l">
              <a:lnSpc>
                <a:spcPts val="4676"/>
              </a:lnSpc>
            </a:pP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4180667" y="1227902"/>
            <a:ext cx="2301920" cy="2301920"/>
          </a:xfrm>
          <a:custGeom>
            <a:avLst/>
            <a:gdLst/>
            <a:ahLst/>
            <a:cxnLst/>
            <a:rect r="r" b="b" t="t" l="l"/>
            <a:pathLst>
              <a:path h="2301920" w="2301920">
                <a:moveTo>
                  <a:pt x="0" y="0"/>
                </a:moveTo>
                <a:lnTo>
                  <a:pt x="2301920" y="0"/>
                </a:lnTo>
                <a:lnTo>
                  <a:pt x="2301920" y="2301920"/>
                </a:lnTo>
                <a:lnTo>
                  <a:pt x="0" y="2301920"/>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13218" y="150938"/>
            <a:ext cx="14377009" cy="821246"/>
          </a:xfrm>
          <a:prstGeom prst="rect">
            <a:avLst/>
          </a:prstGeom>
        </p:spPr>
        <p:txBody>
          <a:bodyPr anchor="t" rtlCol="false" tIns="0" lIns="0" bIns="0" rIns="0">
            <a:spAutoFit/>
          </a:bodyPr>
          <a:lstStyle/>
          <a:p>
            <a:pPr algn="ctr">
              <a:lnSpc>
                <a:spcPts val="6709"/>
              </a:lnSpc>
            </a:pPr>
            <a:r>
              <a:rPr lang="en-US" b="true" sz="4792">
                <a:solidFill>
                  <a:srgbClr val="000000"/>
                </a:solidFill>
                <a:latin typeface="Century Gothic Paneuropean Bold"/>
                <a:ea typeface="Century Gothic Paneuropean Bold"/>
                <a:cs typeface="Century Gothic Paneuropean Bold"/>
                <a:sym typeface="Century Gothic Paneuropean Bold"/>
              </a:rPr>
              <a:t>DEVELOPING DATA MOD</a:t>
            </a:r>
            <a:r>
              <a:rPr lang="en-US" b="true" sz="4792">
                <a:solidFill>
                  <a:srgbClr val="000000"/>
                </a:solidFill>
                <a:latin typeface="Century Gothic Paneuropean Bold"/>
                <a:ea typeface="Century Gothic Paneuropean Bold"/>
                <a:cs typeface="Century Gothic Paneuropean Bold"/>
                <a:sym typeface="Century Gothic Paneuropean Bold"/>
              </a:rPr>
              <a:t>ELS WITH LOOKML</a:t>
            </a:r>
          </a:p>
        </p:txBody>
      </p:sp>
      <p:grpSp>
        <p:nvGrpSpPr>
          <p:cNvPr name="Group 3" id="3"/>
          <p:cNvGrpSpPr/>
          <p:nvPr/>
        </p:nvGrpSpPr>
        <p:grpSpPr>
          <a:xfrm rot="0">
            <a:off x="16718943" y="-989670"/>
            <a:ext cx="1080715" cy="2956684"/>
            <a:chOff x="0" y="0"/>
            <a:chExt cx="284633" cy="778715"/>
          </a:xfrm>
        </p:grpSpPr>
        <p:sp>
          <p:nvSpPr>
            <p:cNvPr name="Freeform 4" id="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5" id="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29352" y="9803843"/>
            <a:ext cx="19346704" cy="821917"/>
            <a:chOff x="0" y="0"/>
            <a:chExt cx="5095428" cy="216472"/>
          </a:xfrm>
        </p:grpSpPr>
        <p:sp>
          <p:nvSpPr>
            <p:cNvPr name="Freeform 7" id="7"/>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8" id="8"/>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4797913" y="246188"/>
            <a:ext cx="1351609" cy="1370156"/>
          </a:xfrm>
          <a:custGeom>
            <a:avLst/>
            <a:gdLst/>
            <a:ahLst/>
            <a:cxnLst/>
            <a:rect r="r" b="b" t="t" l="l"/>
            <a:pathLst>
              <a:path h="1370156" w="1351609">
                <a:moveTo>
                  <a:pt x="0" y="0"/>
                </a:moveTo>
                <a:lnTo>
                  <a:pt x="1351610" y="0"/>
                </a:lnTo>
                <a:lnTo>
                  <a:pt x="1351610" y="1370157"/>
                </a:lnTo>
                <a:lnTo>
                  <a:pt x="0" y="1370157"/>
                </a:lnTo>
                <a:lnTo>
                  <a:pt x="0" y="0"/>
                </a:lnTo>
                <a:close/>
              </a:path>
            </a:pathLst>
          </a:custGeom>
          <a:blipFill>
            <a:blip r:embed="rId4"/>
            <a:stretch>
              <a:fillRect l="0" t="0" r="-1900" b="0"/>
            </a:stretch>
          </a:blipFill>
        </p:spPr>
      </p:sp>
      <p:sp>
        <p:nvSpPr>
          <p:cNvPr name="TextBox 15" id="15"/>
          <p:cNvSpPr txBox="true"/>
          <p:nvPr/>
        </p:nvSpPr>
        <p:spPr>
          <a:xfrm rot="0">
            <a:off x="1832501" y="1260037"/>
            <a:ext cx="15426799" cy="8240007"/>
          </a:xfrm>
          <a:prstGeom prst="rect">
            <a:avLst/>
          </a:prstGeom>
        </p:spPr>
        <p:txBody>
          <a:bodyPr anchor="t" rtlCol="false" tIns="0" lIns="0" bIns="0" rIns="0">
            <a:spAutoFit/>
          </a:bodyPr>
          <a:lstStyle/>
          <a:p>
            <a:pPr algn="l">
              <a:lnSpc>
                <a:spcPts val="4676"/>
              </a:lnSpc>
            </a:pPr>
            <a:r>
              <a:rPr lang="en-US" sz="3340" u="sng" b="true">
                <a:solidFill>
                  <a:srgbClr val="000000"/>
                </a:solidFill>
                <a:latin typeface="Century Gothic Paneuropean Bold"/>
                <a:ea typeface="Century Gothic Paneuropean Bold"/>
                <a:cs typeface="Century Gothic Paneuropean Bold"/>
                <a:sym typeface="Century Gothic Paneuropean Bold"/>
              </a:rPr>
              <a:t>•Objective:</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Unde</a:t>
            </a:r>
            <a:r>
              <a:rPr lang="en-US" sz="3340">
                <a:solidFill>
                  <a:srgbClr val="000000"/>
                </a:solidFill>
                <a:latin typeface="Century Gothic Paneuropean"/>
                <a:ea typeface="Century Gothic Paneuropean"/>
                <a:cs typeface="Century Gothic Paneuropean"/>
                <a:sym typeface="Century Gothic Paneuropean"/>
              </a:rPr>
              <a:t>rstand the principles of data modeling and apply them using LookML</a:t>
            </a:r>
          </a:p>
          <a:p>
            <a:pPr algn="l">
              <a:lnSpc>
                <a:spcPts val="4676"/>
              </a:lnSpc>
            </a:pP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u="sng" b="true">
                <a:solidFill>
                  <a:srgbClr val="000000"/>
                </a:solidFill>
                <a:latin typeface="Century Gothic Paneuropean Bold"/>
                <a:ea typeface="Century Gothic Paneuropean Bold"/>
                <a:cs typeface="Century Gothic Paneuropean Bold"/>
                <a:sym typeface="Century Gothic Paneuropean Bold"/>
              </a:rPr>
              <a:t>Key Topics: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•Introduction to LookML: Syntax, Structure, and Use Cases.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•LookML: Modeling language in Looker to define dimensions, measures, and business logic. </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•Enables consistent, reusable data models.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•Creating and managing models: Exploring and creating views, explores, and joins.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•Best practices for data modeling: Ensuring accuracy, performance, and scalability.</a:t>
            </a:r>
          </a:p>
          <a:p>
            <a:pPr algn="l">
              <a:lnSpc>
                <a:spcPts val="4676"/>
              </a:lnSpc>
            </a:pPr>
          </a:p>
          <a:p>
            <a:pPr algn="l">
              <a:lnSpc>
                <a:spcPts val="4676"/>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98879" y="134428"/>
            <a:ext cx="15690243" cy="870776"/>
          </a:xfrm>
          <a:prstGeom prst="rect">
            <a:avLst/>
          </a:prstGeom>
        </p:spPr>
        <p:txBody>
          <a:bodyPr anchor="t" rtlCol="false" tIns="0" lIns="0" bIns="0" rIns="0">
            <a:spAutoFit/>
          </a:bodyPr>
          <a:lstStyle/>
          <a:p>
            <a:pPr algn="ctr">
              <a:lnSpc>
                <a:spcPts val="7129"/>
              </a:lnSpc>
            </a:pPr>
            <a:r>
              <a:rPr lang="en-US" b="true" sz="5092">
                <a:solidFill>
                  <a:srgbClr val="000000"/>
                </a:solidFill>
                <a:latin typeface="Century Gothic Paneuropean Bold"/>
                <a:ea typeface="Century Gothic Paneuropean Bold"/>
                <a:cs typeface="Century Gothic Paneuropean Bold"/>
                <a:sym typeface="Century Gothic Paneuropean Bold"/>
              </a:rPr>
              <a:t>PREPARE DATA FOR ML </a:t>
            </a:r>
            <a:r>
              <a:rPr lang="en-US" b="true" sz="5092">
                <a:solidFill>
                  <a:srgbClr val="000000"/>
                </a:solidFill>
                <a:latin typeface="Century Gothic Paneuropean Bold"/>
                <a:ea typeface="Century Gothic Paneuropean Bold"/>
                <a:cs typeface="Century Gothic Paneuropean Bold"/>
                <a:sym typeface="Century Gothic Paneuropean Bold"/>
              </a:rPr>
              <a:t>APIS ON GOOGLE CLOUD</a:t>
            </a:r>
          </a:p>
        </p:txBody>
      </p:sp>
      <p:sp>
        <p:nvSpPr>
          <p:cNvPr name="TextBox 3" id="3"/>
          <p:cNvSpPr txBox="true"/>
          <p:nvPr/>
        </p:nvSpPr>
        <p:spPr>
          <a:xfrm rot="0">
            <a:off x="1569057" y="1195628"/>
            <a:ext cx="14646424" cy="6468357"/>
          </a:xfrm>
          <a:prstGeom prst="rect">
            <a:avLst/>
          </a:prstGeom>
        </p:spPr>
        <p:txBody>
          <a:bodyPr anchor="t" rtlCol="false" tIns="0" lIns="0" bIns="0" rIns="0">
            <a:spAutoFit/>
          </a:bodyPr>
          <a:lstStyle/>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u="sng" b="true">
                <a:solidFill>
                  <a:srgbClr val="000000"/>
                </a:solidFill>
                <a:latin typeface="Century Gothic Paneuropean Bold"/>
                <a:ea typeface="Century Gothic Paneuropean Bold"/>
                <a:cs typeface="Century Gothic Paneuropean Bold"/>
                <a:sym typeface="Century Gothic Paneuropean Bold"/>
              </a:rPr>
              <a:t>Objective</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Learn how to prepare data for machine learning using Google Cloud’s ML APIs.</a:t>
            </a:r>
          </a:p>
          <a:p>
            <a:pPr algn="l">
              <a:lnSpc>
                <a:spcPts val="4676"/>
              </a:lnSpc>
            </a:pP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u="sng" b="true">
                <a:solidFill>
                  <a:srgbClr val="000000"/>
                </a:solidFill>
                <a:latin typeface="Century Gothic Paneuropean Bold"/>
                <a:ea typeface="Century Gothic Paneuropean Bold"/>
                <a:cs typeface="Century Gothic Paneuropean Bold"/>
                <a:sym typeface="Century Gothic Paneuropean Bold"/>
              </a:rPr>
              <a:t>Key Topics: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•Data preprocessing: Cleaning, transforming, and normalizing data.</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•Automate data preparation for analysis and machine learning.</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•Integrating data with Google Cloud’s AI and ML APIs.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•Data quality considerations: Handling missing data, outliers, and</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  feature scaling.</a:t>
            </a:r>
          </a:p>
          <a:p>
            <a:pPr algn="l">
              <a:lnSpc>
                <a:spcPts val="4676"/>
              </a:lnSpc>
            </a:pP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4607092" y="7025037"/>
            <a:ext cx="2014974" cy="2233263"/>
          </a:xfrm>
          <a:custGeom>
            <a:avLst/>
            <a:gdLst/>
            <a:ahLst/>
            <a:cxnLst/>
            <a:rect r="r" b="b" t="t" l="l"/>
            <a:pathLst>
              <a:path h="2233263" w="2014974">
                <a:moveTo>
                  <a:pt x="0" y="0"/>
                </a:moveTo>
                <a:lnTo>
                  <a:pt x="2014974" y="0"/>
                </a:lnTo>
                <a:lnTo>
                  <a:pt x="2014974" y="2233263"/>
                </a:lnTo>
                <a:lnTo>
                  <a:pt x="0" y="2233263"/>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58521" y="84994"/>
            <a:ext cx="16770957" cy="1792162"/>
          </a:xfrm>
          <a:prstGeom prst="rect">
            <a:avLst/>
          </a:prstGeom>
        </p:spPr>
        <p:txBody>
          <a:bodyPr anchor="t" rtlCol="false" tIns="0" lIns="0" bIns="0" rIns="0">
            <a:spAutoFit/>
          </a:bodyPr>
          <a:lstStyle/>
          <a:p>
            <a:pPr algn="ctr">
              <a:lnSpc>
                <a:spcPts val="7269"/>
              </a:lnSpc>
            </a:pPr>
            <a:r>
              <a:rPr lang="en-US" b="true" sz="5192">
                <a:solidFill>
                  <a:srgbClr val="000000"/>
                </a:solidFill>
                <a:latin typeface="Century Gothic Paneuropean Bold"/>
                <a:ea typeface="Century Gothic Paneuropean Bold"/>
                <a:cs typeface="Century Gothic Paneuropean Bold"/>
                <a:sym typeface="Century Gothic Paneuropean Bold"/>
              </a:rPr>
              <a:t>PREPARE DATA FOR LOOK</a:t>
            </a:r>
            <a:r>
              <a:rPr lang="en-US" b="true" sz="5192">
                <a:solidFill>
                  <a:srgbClr val="000000"/>
                </a:solidFill>
                <a:latin typeface="Century Gothic Paneuropean Bold"/>
                <a:ea typeface="Century Gothic Paneuropean Bold"/>
                <a:cs typeface="Century Gothic Paneuropean Bold"/>
                <a:sym typeface="Century Gothic Paneuropean Bold"/>
              </a:rPr>
              <a:t>ER DASHBOARDS AND REPORTS</a:t>
            </a:r>
          </a:p>
        </p:txBody>
      </p:sp>
      <p:sp>
        <p:nvSpPr>
          <p:cNvPr name="TextBox 3" id="3"/>
          <p:cNvSpPr txBox="true"/>
          <p:nvPr/>
        </p:nvSpPr>
        <p:spPr>
          <a:xfrm rot="0">
            <a:off x="1569057" y="1585471"/>
            <a:ext cx="14375231" cy="7649457"/>
          </a:xfrm>
          <a:prstGeom prst="rect">
            <a:avLst/>
          </a:prstGeom>
        </p:spPr>
        <p:txBody>
          <a:bodyPr anchor="t" rtlCol="false" tIns="0" lIns="0" bIns="0" rIns="0">
            <a:spAutoFit/>
          </a:bodyPr>
          <a:lstStyle/>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u="sng" b="true">
                <a:solidFill>
                  <a:srgbClr val="000000"/>
                </a:solidFill>
                <a:latin typeface="Century Gothic Paneuropean Bold"/>
                <a:ea typeface="Century Gothic Paneuropean Bold"/>
                <a:cs typeface="Century Gothic Paneuropean Bold"/>
                <a:sym typeface="Century Gothic Paneuropean Bold"/>
              </a:rPr>
              <a:t>Objective:</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•Optimize data for reporting and dashboarding in Looker.</a:t>
            </a:r>
          </a:p>
          <a:p>
            <a:pPr algn="l">
              <a:lnSpc>
                <a:spcPts val="4676"/>
              </a:lnSpc>
            </a:pPr>
          </a:p>
          <a:p>
            <a:pPr algn="l">
              <a:lnSpc>
                <a:spcPts val="4676"/>
              </a:lnSpc>
            </a:pPr>
            <a:r>
              <a:rPr lang="en-US" sz="3340" u="sng" b="true">
                <a:solidFill>
                  <a:srgbClr val="000000"/>
                </a:solidFill>
                <a:latin typeface="Century Gothic Paneuropean Bold"/>
                <a:ea typeface="Century Gothic Paneuropean Bold"/>
                <a:cs typeface="Century Gothic Paneuropean Bold"/>
                <a:sym typeface="Century Gothic Paneuropean Bold"/>
              </a:rPr>
              <a:t>•Key Topics: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b="true">
                <a:solidFill>
                  <a:srgbClr val="000000"/>
                </a:solidFill>
                <a:latin typeface="Century Gothic Paneuropean Bold"/>
                <a:ea typeface="Century Gothic Paneuropean Bold"/>
                <a:cs typeface="Century Gothic Paneuropean Bold"/>
                <a:sym typeface="Century Gothic Paneuropean Bold"/>
              </a:rPr>
              <a:t>ETL (Extract, Transform, Load) processes</a:t>
            </a:r>
            <a:r>
              <a:rPr lang="en-US" sz="3340">
                <a:solidFill>
                  <a:srgbClr val="000000"/>
                </a:solidFill>
                <a:latin typeface="Century Gothic Paneuropean"/>
                <a:ea typeface="Century Gothic Paneuropean"/>
                <a:cs typeface="Century Gothic Paneuropean"/>
                <a:sym typeface="Century Gothic Paneuropean"/>
              </a:rPr>
              <a:t>: Best practices and tools.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b="true">
                <a:solidFill>
                  <a:srgbClr val="000000"/>
                </a:solidFill>
                <a:latin typeface="Century Gothic Paneuropean Bold"/>
                <a:ea typeface="Century Gothic Paneuropean Bold"/>
                <a:cs typeface="Century Gothic Paneuropean Bold"/>
                <a:sym typeface="Century Gothic Paneuropean Bold"/>
              </a:rPr>
              <a:t>Structuring data for ease of use in Looker</a:t>
            </a:r>
            <a:r>
              <a:rPr lang="en-US" sz="3340">
                <a:solidFill>
                  <a:srgbClr val="000000"/>
                </a:solidFill>
                <a:latin typeface="Century Gothic Paneuropean"/>
                <a:ea typeface="Century Gothic Paneuropean"/>
                <a:cs typeface="Century Gothic Paneuropean"/>
                <a:sym typeface="Century Gothic Paneuropean"/>
              </a:rPr>
              <a:t>: Creating clean, usable datasets.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b="true">
                <a:solidFill>
                  <a:srgbClr val="000000"/>
                </a:solidFill>
                <a:latin typeface="Century Gothic Paneuropean Bold"/>
                <a:ea typeface="Century Gothic Paneuropean Bold"/>
                <a:cs typeface="Century Gothic Paneuropean Bold"/>
                <a:sym typeface="Century Gothic Paneuropean Bold"/>
              </a:rPr>
              <a:t>Data optimization:</a:t>
            </a:r>
            <a:r>
              <a:rPr lang="en-US" sz="3340">
                <a:solidFill>
                  <a:srgbClr val="000000"/>
                </a:solidFill>
                <a:latin typeface="Century Gothic Paneuropean"/>
                <a:ea typeface="Century Gothic Paneuropean"/>
                <a:cs typeface="Century Gothic Paneuropean"/>
                <a:sym typeface="Century Gothic Paneuropean"/>
              </a:rPr>
              <a:t> Indexing, partitioning, and query optimization.</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b="true">
                <a:solidFill>
                  <a:srgbClr val="000000"/>
                </a:solidFill>
                <a:latin typeface="Century Gothic Paneuropean Bold"/>
                <a:ea typeface="Century Gothic Paneuropean Bold"/>
                <a:cs typeface="Century Gothic Paneuropean Bold"/>
                <a:sym typeface="Century Gothic Paneuropean Bold"/>
              </a:rPr>
              <a:t>Filtering</a:t>
            </a:r>
            <a:r>
              <a:rPr lang="en-US" sz="3340">
                <a:solidFill>
                  <a:srgbClr val="000000"/>
                </a:solidFill>
                <a:latin typeface="Century Gothic Paneuropean"/>
                <a:ea typeface="Century Gothic Paneuropean"/>
                <a:cs typeface="Century Gothic Paneuropean"/>
                <a:sym typeface="Century Gothic Paneuropean"/>
              </a:rPr>
              <a:t>: Narrow down data by applying conditions based on dimensions.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•Sorting &amp; Pivoting: Organize data for better insights, with options to pivot tables for cross-analysis.</a:t>
            </a:r>
          </a:p>
          <a:p>
            <a:pPr algn="l">
              <a:lnSpc>
                <a:spcPts val="4676"/>
              </a:lnSpc>
            </a:pP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3738373" y="1642621"/>
            <a:ext cx="2676653" cy="2125954"/>
          </a:xfrm>
          <a:custGeom>
            <a:avLst/>
            <a:gdLst/>
            <a:ahLst/>
            <a:cxnLst/>
            <a:rect r="r" b="b" t="t" l="l"/>
            <a:pathLst>
              <a:path h="2125954" w="2676653">
                <a:moveTo>
                  <a:pt x="0" y="0"/>
                </a:moveTo>
                <a:lnTo>
                  <a:pt x="2676653" y="0"/>
                </a:lnTo>
                <a:lnTo>
                  <a:pt x="2676653" y="2125955"/>
                </a:lnTo>
                <a:lnTo>
                  <a:pt x="0" y="2125955"/>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08379" y="-60381"/>
            <a:ext cx="16770957" cy="993332"/>
          </a:xfrm>
          <a:prstGeom prst="rect">
            <a:avLst/>
          </a:prstGeom>
        </p:spPr>
        <p:txBody>
          <a:bodyPr anchor="t" rtlCol="false" tIns="0" lIns="0" bIns="0" rIns="0">
            <a:spAutoFit/>
          </a:bodyPr>
          <a:lstStyle/>
          <a:p>
            <a:pPr algn="ctr">
              <a:lnSpc>
                <a:spcPts val="8249"/>
              </a:lnSpc>
            </a:pPr>
            <a:r>
              <a:rPr lang="en-US" b="true" sz="5892">
                <a:solidFill>
                  <a:srgbClr val="000000"/>
                </a:solidFill>
                <a:latin typeface="Century Gothic Paneuropean Bold"/>
                <a:ea typeface="Century Gothic Paneuropean Bold"/>
                <a:cs typeface="Century Gothic Paneuropean Bold"/>
                <a:sym typeface="Century Gothic Paneuropean Bold"/>
              </a:rPr>
              <a:t>CREATE ML MODELS WITH BIGQUERY ML</a:t>
            </a:r>
          </a:p>
        </p:txBody>
      </p:sp>
      <p:sp>
        <p:nvSpPr>
          <p:cNvPr name="TextBox 3" id="3"/>
          <p:cNvSpPr txBox="true"/>
          <p:nvPr/>
        </p:nvSpPr>
        <p:spPr>
          <a:xfrm rot="0">
            <a:off x="1569057" y="1608843"/>
            <a:ext cx="15149885" cy="7058907"/>
          </a:xfrm>
          <a:prstGeom prst="rect">
            <a:avLst/>
          </a:prstGeom>
        </p:spPr>
        <p:txBody>
          <a:bodyPr anchor="t" rtlCol="false" tIns="0" lIns="0" bIns="0" rIns="0">
            <a:spAutoFit/>
          </a:bodyPr>
          <a:lstStyle/>
          <a:p>
            <a:pPr algn="l">
              <a:lnSpc>
                <a:spcPts val="4676"/>
              </a:lnSpc>
            </a:pPr>
            <a:r>
              <a:rPr lang="en-US" sz="3340" u="sng" b="true">
                <a:solidFill>
                  <a:srgbClr val="000000"/>
                </a:solidFill>
                <a:latin typeface="Century Gothic Paneuropean Bold"/>
                <a:ea typeface="Century Gothic Paneuropean Bold"/>
                <a:cs typeface="Century Gothic Paneuropean Bold"/>
                <a:sym typeface="Century Gothic Paneuropean Bold"/>
              </a:rPr>
              <a:t>•Objective:</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•Build and train machine learning models directly within BigQuery.</a:t>
            </a:r>
          </a:p>
          <a:p>
            <a:pPr algn="l">
              <a:lnSpc>
                <a:spcPts val="4676"/>
              </a:lnSpc>
            </a:pPr>
          </a:p>
          <a:p>
            <a:pPr algn="l">
              <a:lnSpc>
                <a:spcPts val="4676"/>
              </a:lnSpc>
            </a:pPr>
            <a:r>
              <a:rPr lang="en-US" sz="3340" u="sng" b="true">
                <a:solidFill>
                  <a:srgbClr val="000000"/>
                </a:solidFill>
                <a:latin typeface="Century Gothic Paneuropean Bold"/>
                <a:ea typeface="Century Gothic Paneuropean Bold"/>
                <a:cs typeface="Century Gothic Paneuropean Bold"/>
                <a:sym typeface="Century Gothic Paneuropean Bold"/>
              </a:rPr>
              <a:t>•Key Topics: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b="true">
                <a:solidFill>
                  <a:srgbClr val="000000"/>
                </a:solidFill>
                <a:latin typeface="Century Gothic Paneuropean Bold"/>
                <a:ea typeface="Century Gothic Paneuropean Bold"/>
                <a:cs typeface="Century Gothic Paneuropean Bold"/>
                <a:sym typeface="Century Gothic Paneuropean Bold"/>
              </a:rPr>
              <a:t>Introduction to BigQuery ML</a:t>
            </a:r>
            <a:r>
              <a:rPr lang="en-US" sz="3340">
                <a:solidFill>
                  <a:srgbClr val="000000"/>
                </a:solidFill>
                <a:latin typeface="Century Gothic Paneuropean"/>
                <a:ea typeface="Century Gothic Paneuropean"/>
                <a:cs typeface="Century Gothic Paneuropean"/>
                <a:sym typeface="Century Gothic Paneuropean"/>
              </a:rPr>
              <a:t>: Overview and Benefits.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b="true">
                <a:solidFill>
                  <a:srgbClr val="000000"/>
                </a:solidFill>
                <a:latin typeface="Century Gothic Paneuropean Bold"/>
                <a:ea typeface="Century Gothic Paneuropean Bold"/>
                <a:cs typeface="Century Gothic Paneuropean Bold"/>
                <a:sym typeface="Century Gothic Paneuropean Bold"/>
              </a:rPr>
              <a:t>Model Types</a:t>
            </a:r>
            <a:r>
              <a:rPr lang="en-US" sz="3340">
                <a:solidFill>
                  <a:srgbClr val="000000"/>
                </a:solidFill>
                <a:latin typeface="Century Gothic Paneuropean"/>
                <a:ea typeface="Century Gothic Paneuropean"/>
                <a:cs typeface="Century Gothic Paneuropean"/>
                <a:sym typeface="Century Gothic Paneuropean"/>
              </a:rPr>
              <a:t>: Utilize BigQuery ML to build various types of models, such as linear regression, logistic regression, and time series forecasting. </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b="true">
                <a:solidFill>
                  <a:srgbClr val="000000"/>
                </a:solidFill>
                <a:latin typeface="Century Gothic Paneuropean Bold"/>
                <a:ea typeface="Century Gothic Paneuropean Bold"/>
                <a:cs typeface="Century Gothic Paneuropean Bold"/>
                <a:sym typeface="Century Gothic Paneuropean Bold"/>
              </a:rPr>
              <a:t>SQL-Based Model Creation</a:t>
            </a:r>
            <a:r>
              <a:rPr lang="en-US" sz="3340">
                <a:solidFill>
                  <a:srgbClr val="000000"/>
                </a:solidFill>
                <a:latin typeface="Century Gothic Paneuropean"/>
                <a:ea typeface="Century Gothic Paneuropean"/>
                <a:cs typeface="Century Gothic Paneuropean"/>
                <a:sym typeface="Century Gothic Paneuropean"/>
              </a:rPr>
              <a:t>: Define and train models using standard SQL queries directly in BigQuery, simplifying the ML workflow.</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b="true">
                <a:solidFill>
                  <a:srgbClr val="000000"/>
                </a:solidFill>
                <a:latin typeface="Century Gothic Paneuropean Bold"/>
                <a:ea typeface="Century Gothic Paneuropean Bold"/>
                <a:cs typeface="Century Gothic Paneuropean Bold"/>
                <a:sym typeface="Century Gothic Paneuropean Bold"/>
              </a:rPr>
              <a:t>Model evaluation</a:t>
            </a:r>
            <a:r>
              <a:rPr lang="en-US" sz="3340">
                <a:solidFill>
                  <a:srgbClr val="000000"/>
                </a:solidFill>
                <a:latin typeface="Century Gothic Paneuropean"/>
                <a:ea typeface="Century Gothic Paneuropean"/>
                <a:cs typeface="Century Gothic Paneuropean"/>
                <a:sym typeface="Century Gothic Paneuropean"/>
              </a:rPr>
              <a:t>: Accuracy, Precision, Recall, and Cross-Validation.</a:t>
            </a:r>
          </a:p>
          <a:p>
            <a:pPr algn="l">
              <a:lnSpc>
                <a:spcPts val="4676"/>
              </a:lnSpc>
            </a:pPr>
          </a:p>
          <a:p>
            <a:pPr algn="l">
              <a:lnSpc>
                <a:spcPts val="4676"/>
              </a:lnSpc>
            </a:pP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4423930" y="2927722"/>
            <a:ext cx="1762920" cy="1772101"/>
          </a:xfrm>
          <a:custGeom>
            <a:avLst/>
            <a:gdLst/>
            <a:ahLst/>
            <a:cxnLst/>
            <a:rect r="r" b="b" t="t" l="l"/>
            <a:pathLst>
              <a:path h="1772101" w="1762920">
                <a:moveTo>
                  <a:pt x="0" y="0"/>
                </a:moveTo>
                <a:lnTo>
                  <a:pt x="1762920" y="0"/>
                </a:lnTo>
                <a:lnTo>
                  <a:pt x="1762920" y="1772101"/>
                </a:lnTo>
                <a:lnTo>
                  <a:pt x="0" y="1772101"/>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46516" y="1853311"/>
            <a:ext cx="13419789" cy="5877807"/>
          </a:xfrm>
          <a:prstGeom prst="rect">
            <a:avLst/>
          </a:prstGeom>
        </p:spPr>
        <p:txBody>
          <a:bodyPr anchor="t" rtlCol="false" tIns="0" lIns="0" bIns="0" rIns="0">
            <a:spAutoFit/>
          </a:bodyPr>
          <a:lstStyle/>
          <a:p>
            <a:pPr algn="l">
              <a:lnSpc>
                <a:spcPts val="4676"/>
              </a:lnSpc>
            </a:pPr>
            <a:r>
              <a:rPr lang="en-US" sz="3340" u="sng" b="true">
                <a:solidFill>
                  <a:srgbClr val="000000"/>
                </a:solidFill>
                <a:latin typeface="Century Gothic Paneuropean Bold"/>
                <a:ea typeface="Century Gothic Paneuropean Bold"/>
                <a:cs typeface="Century Gothic Paneuropean Bold"/>
                <a:sym typeface="Century Gothic Paneuropean Bold"/>
              </a:rPr>
              <a:t>•Objective:</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•Deepen your understanding of LookML and apply advanced modeling techniques.</a:t>
            </a:r>
          </a:p>
          <a:p>
            <a:pPr algn="l">
              <a:lnSpc>
                <a:spcPts val="4676"/>
              </a:lnSpc>
            </a:pP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t>
            </a:r>
            <a:r>
              <a:rPr lang="en-US" sz="3340" u="sng" b="true">
                <a:solidFill>
                  <a:srgbClr val="000000"/>
                </a:solidFill>
                <a:latin typeface="Century Gothic Paneuropean Bold"/>
                <a:ea typeface="Century Gothic Paneuropean Bold"/>
                <a:cs typeface="Century Gothic Paneuropean Bold"/>
                <a:sym typeface="Century Gothic Paneuropean Bold"/>
              </a:rPr>
              <a:t>Key Topics: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•Advanced LookML concepts: Derived tables, SQL runner, and custom fields.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•Implementing custom dimensions and measures.</a:t>
            </a: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•Optimizing LookML models for performance and scalability.</a:t>
            </a:r>
          </a:p>
          <a:p>
            <a:pPr algn="l">
              <a:lnSpc>
                <a:spcPts val="4676"/>
              </a:lnSpc>
            </a:pPr>
          </a:p>
        </p:txBody>
      </p:sp>
      <p:grpSp>
        <p:nvGrpSpPr>
          <p:cNvPr name="Group 3" id="3"/>
          <p:cNvGrpSpPr/>
          <p:nvPr/>
        </p:nvGrpSpPr>
        <p:grpSpPr>
          <a:xfrm rot="0">
            <a:off x="16718943" y="-989670"/>
            <a:ext cx="1080715" cy="2956684"/>
            <a:chOff x="0" y="0"/>
            <a:chExt cx="284633" cy="778715"/>
          </a:xfrm>
        </p:grpSpPr>
        <p:sp>
          <p:nvSpPr>
            <p:cNvPr name="Freeform 4" id="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5" id="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29352" y="9803843"/>
            <a:ext cx="19346704" cy="821917"/>
            <a:chOff x="0" y="0"/>
            <a:chExt cx="5095428" cy="216472"/>
          </a:xfrm>
        </p:grpSpPr>
        <p:sp>
          <p:nvSpPr>
            <p:cNvPr name="Freeform 7" id="7"/>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8" id="8"/>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4593746" y="6420072"/>
            <a:ext cx="2378453" cy="2838228"/>
          </a:xfrm>
          <a:custGeom>
            <a:avLst/>
            <a:gdLst/>
            <a:ahLst/>
            <a:cxnLst/>
            <a:rect r="r" b="b" t="t" l="l"/>
            <a:pathLst>
              <a:path h="2838228" w="2378453">
                <a:moveTo>
                  <a:pt x="0" y="0"/>
                </a:moveTo>
                <a:lnTo>
                  <a:pt x="2378453" y="0"/>
                </a:lnTo>
                <a:lnTo>
                  <a:pt x="2378453" y="2838228"/>
                </a:lnTo>
                <a:lnTo>
                  <a:pt x="0" y="2838228"/>
                </a:lnTo>
                <a:lnTo>
                  <a:pt x="0" y="0"/>
                </a:lnTo>
                <a:close/>
              </a:path>
            </a:pathLst>
          </a:custGeom>
          <a:blipFill>
            <a:blip r:embed="rId4"/>
            <a:stretch>
              <a:fillRect l="0" t="0" r="0" b="0"/>
            </a:stretch>
          </a:blipFill>
        </p:spPr>
      </p:sp>
      <p:sp>
        <p:nvSpPr>
          <p:cNvPr name="TextBox 15" id="15"/>
          <p:cNvSpPr txBox="true"/>
          <p:nvPr/>
        </p:nvSpPr>
        <p:spPr>
          <a:xfrm rot="0">
            <a:off x="1746516" y="123036"/>
            <a:ext cx="10473041" cy="1384491"/>
          </a:xfrm>
          <a:prstGeom prst="rect">
            <a:avLst/>
          </a:prstGeom>
        </p:spPr>
        <p:txBody>
          <a:bodyPr anchor="t" rtlCol="false" tIns="0" lIns="0" bIns="0" rIns="0">
            <a:spAutoFit/>
          </a:bodyPr>
          <a:lstStyle/>
          <a:p>
            <a:pPr algn="ctr">
              <a:lnSpc>
                <a:spcPts val="5589"/>
              </a:lnSpc>
            </a:pPr>
            <a:r>
              <a:rPr lang="en-US" b="true" sz="3992">
                <a:solidFill>
                  <a:srgbClr val="000000"/>
                </a:solidFill>
                <a:latin typeface="Century Gothic Paneuropean Bold"/>
                <a:ea typeface="Century Gothic Paneuropean Bold"/>
                <a:cs typeface="Century Gothic Paneuropean Bold"/>
                <a:sym typeface="Century Gothic Paneuropean Bold"/>
              </a:rPr>
              <a:t>APPLYING ADVANCED LOOKML </a:t>
            </a:r>
            <a:r>
              <a:rPr lang="en-US" b="true" sz="3992">
                <a:solidFill>
                  <a:srgbClr val="000000"/>
                </a:solidFill>
                <a:latin typeface="Century Gothic Paneuropean Bold"/>
                <a:ea typeface="Century Gothic Paneuropean Bold"/>
                <a:cs typeface="Century Gothic Paneuropean Bold"/>
                <a:sym typeface="Century Gothic Paneuropean Bold"/>
              </a:rPr>
              <a:t>CONCEPTS IN LOOKER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4532743" y="2868455"/>
            <a:ext cx="1826039" cy="1509192"/>
          </a:xfrm>
          <a:custGeom>
            <a:avLst/>
            <a:gdLst/>
            <a:ahLst/>
            <a:cxnLst/>
            <a:rect r="r" b="b" t="t" l="l"/>
            <a:pathLst>
              <a:path h="1509192" w="1826039">
                <a:moveTo>
                  <a:pt x="0" y="0"/>
                </a:moveTo>
                <a:lnTo>
                  <a:pt x="1826039" y="0"/>
                </a:lnTo>
                <a:lnTo>
                  <a:pt x="1826039" y="1509193"/>
                </a:lnTo>
                <a:lnTo>
                  <a:pt x="0" y="1509193"/>
                </a:lnTo>
                <a:lnTo>
                  <a:pt x="0" y="0"/>
                </a:lnTo>
                <a:close/>
              </a:path>
            </a:pathLst>
          </a:custGeom>
          <a:blipFill>
            <a:blip r:embed="rId4"/>
            <a:stretch>
              <a:fillRect l="0" t="0" r="0" b="0"/>
            </a:stretch>
          </a:blipFill>
        </p:spPr>
      </p:sp>
      <p:sp>
        <p:nvSpPr>
          <p:cNvPr name="TextBox 14" id="14"/>
          <p:cNvSpPr txBox="true"/>
          <p:nvPr/>
        </p:nvSpPr>
        <p:spPr>
          <a:xfrm rot="0">
            <a:off x="1569057" y="-114300"/>
            <a:ext cx="14997559" cy="979362"/>
          </a:xfrm>
          <a:prstGeom prst="rect">
            <a:avLst/>
          </a:prstGeom>
        </p:spPr>
        <p:txBody>
          <a:bodyPr anchor="t" rtlCol="false" tIns="0" lIns="0" bIns="0" rIns="0">
            <a:spAutoFit/>
          </a:bodyPr>
          <a:lstStyle/>
          <a:p>
            <a:pPr algn="ctr">
              <a:lnSpc>
                <a:spcPts val="7969"/>
              </a:lnSpc>
            </a:pPr>
            <a:r>
              <a:rPr lang="en-US" b="true" sz="5692">
                <a:solidFill>
                  <a:srgbClr val="000000"/>
                </a:solidFill>
                <a:latin typeface="Century Gothic Paneuropean Bold"/>
                <a:ea typeface="Century Gothic Paneuropean Bold"/>
                <a:cs typeface="Century Gothic Paneuropean Bold"/>
                <a:sym typeface="Century Gothic Paneuropean Bold"/>
              </a:rPr>
              <a:t>DERIVE I</a:t>
            </a:r>
            <a:r>
              <a:rPr lang="en-US" b="true" sz="5692">
                <a:solidFill>
                  <a:srgbClr val="000000"/>
                </a:solidFill>
                <a:latin typeface="Century Gothic Paneuropean Bold"/>
                <a:ea typeface="Century Gothic Paneuropean Bold"/>
                <a:cs typeface="Century Gothic Paneuropean Bold"/>
                <a:sym typeface="Century Gothic Paneuropean Bold"/>
              </a:rPr>
              <a:t>NSIGHTS FROM BIGQUERY DATA</a:t>
            </a:r>
          </a:p>
        </p:txBody>
      </p:sp>
      <p:sp>
        <p:nvSpPr>
          <p:cNvPr name="TextBox 15" id="15"/>
          <p:cNvSpPr txBox="true"/>
          <p:nvPr/>
        </p:nvSpPr>
        <p:spPr>
          <a:xfrm rot="0">
            <a:off x="1569057" y="1554311"/>
            <a:ext cx="15423182" cy="7985372"/>
          </a:xfrm>
          <a:prstGeom prst="rect">
            <a:avLst/>
          </a:prstGeom>
        </p:spPr>
        <p:txBody>
          <a:bodyPr anchor="t" rtlCol="false" tIns="0" lIns="0" bIns="0" rIns="0">
            <a:spAutoFit/>
          </a:bodyPr>
          <a:lstStyle/>
          <a:p>
            <a:pPr algn="l">
              <a:lnSpc>
                <a:spcPts val="4536"/>
              </a:lnSpc>
            </a:pPr>
            <a:r>
              <a:rPr lang="en-US" sz="3240" u="sng" b="true">
                <a:solidFill>
                  <a:srgbClr val="000000"/>
                </a:solidFill>
                <a:latin typeface="Century Gothic Paneuropean Bold"/>
                <a:ea typeface="Century Gothic Paneuropean Bold"/>
                <a:cs typeface="Century Gothic Paneuropean Bold"/>
                <a:sym typeface="Century Gothic Paneuropean Bold"/>
              </a:rPr>
              <a:t>•Objective:</a:t>
            </a:r>
          </a:p>
          <a:p>
            <a:pPr algn="l">
              <a:lnSpc>
                <a:spcPts val="4536"/>
              </a:lnSpc>
            </a:pPr>
            <a:r>
              <a:rPr lang="en-US" sz="3240">
                <a:solidFill>
                  <a:srgbClr val="000000"/>
                </a:solidFill>
                <a:latin typeface="Century Gothic Paneuropean"/>
                <a:ea typeface="Century Gothic Paneuropean"/>
                <a:cs typeface="Century Gothic Paneuropean"/>
                <a:sym typeface="Century Gothic Paneuropean"/>
              </a:rPr>
              <a:t>•Utilize BigQuery to run SQL queries and derive insights from large datasets.</a:t>
            </a:r>
          </a:p>
          <a:p>
            <a:pPr algn="l">
              <a:lnSpc>
                <a:spcPts val="4536"/>
              </a:lnSpc>
            </a:pPr>
          </a:p>
          <a:p>
            <a:pPr algn="l">
              <a:lnSpc>
                <a:spcPts val="4536"/>
              </a:lnSpc>
            </a:pPr>
            <a:r>
              <a:rPr lang="en-US" sz="3240" u="sng" b="true">
                <a:solidFill>
                  <a:srgbClr val="000000"/>
                </a:solidFill>
                <a:latin typeface="Century Gothic Paneuropean Bold"/>
                <a:ea typeface="Century Gothic Paneuropean Bold"/>
                <a:cs typeface="Century Gothic Paneuropean Bold"/>
                <a:sym typeface="Century Gothic Paneuropean Bold"/>
              </a:rPr>
              <a:t>•Key Topics:</a:t>
            </a:r>
          </a:p>
          <a:p>
            <a:pPr algn="l">
              <a:lnSpc>
                <a:spcPts val="4536"/>
              </a:lnSpc>
            </a:pPr>
            <a:r>
              <a:rPr lang="en-US" sz="3240">
                <a:solidFill>
                  <a:srgbClr val="000000"/>
                </a:solidFill>
                <a:latin typeface="Century Gothic Paneuropean"/>
                <a:ea typeface="Century Gothic Paneuropean"/>
                <a:cs typeface="Century Gothic Paneuropean"/>
                <a:sym typeface="Century Gothic Paneuropean"/>
              </a:rPr>
              <a:t>•</a:t>
            </a:r>
            <a:r>
              <a:rPr lang="en-US" sz="3240" b="true">
                <a:solidFill>
                  <a:srgbClr val="000000"/>
                </a:solidFill>
                <a:latin typeface="Century Gothic Paneuropean Bold"/>
                <a:ea typeface="Century Gothic Paneuropean Bold"/>
                <a:cs typeface="Century Gothic Paneuropean Bold"/>
                <a:sym typeface="Century Gothic Paneuropean Bold"/>
              </a:rPr>
              <a:t>Introduction to BigQuery</a:t>
            </a:r>
            <a:r>
              <a:rPr lang="en-US" sz="3240">
                <a:solidFill>
                  <a:srgbClr val="000000"/>
                </a:solidFill>
                <a:latin typeface="Century Gothic Paneuropean"/>
                <a:ea typeface="Century Gothic Paneuropean"/>
                <a:cs typeface="Century Gothic Paneuropean"/>
                <a:sym typeface="Century Gothic Paneuropean"/>
              </a:rPr>
              <a:t>: Architecture, Features, and Use Cases.</a:t>
            </a:r>
          </a:p>
          <a:p>
            <a:pPr algn="l">
              <a:lnSpc>
                <a:spcPts val="4536"/>
              </a:lnSpc>
            </a:pPr>
            <a:r>
              <a:rPr lang="en-US" sz="3240">
                <a:solidFill>
                  <a:srgbClr val="000000"/>
                </a:solidFill>
                <a:latin typeface="Century Gothic Paneuropean"/>
                <a:ea typeface="Century Gothic Paneuropean"/>
                <a:cs typeface="Century Gothic Paneuropean"/>
                <a:sym typeface="Century Gothic Paneuropean"/>
              </a:rPr>
              <a:t>•</a:t>
            </a:r>
            <a:r>
              <a:rPr lang="en-US" sz="3240" b="true">
                <a:solidFill>
                  <a:srgbClr val="000000"/>
                </a:solidFill>
                <a:latin typeface="Century Gothic Paneuropean Bold"/>
                <a:ea typeface="Century Gothic Paneuropean Bold"/>
                <a:cs typeface="Century Gothic Paneuropean Bold"/>
                <a:sym typeface="Century Gothic Paneuropean Bold"/>
              </a:rPr>
              <a:t>Writing and optimizing SQL queries in BigQuery</a:t>
            </a:r>
            <a:r>
              <a:rPr lang="en-US" sz="3240">
                <a:solidFill>
                  <a:srgbClr val="000000"/>
                </a:solidFill>
                <a:latin typeface="Century Gothic Paneuropean"/>
                <a:ea typeface="Century Gothic Paneuropean"/>
                <a:cs typeface="Century Gothic Paneuropean"/>
                <a:sym typeface="Century Gothic Paneuropean"/>
              </a:rPr>
              <a:t>: Create and execute SQL queries to retrieve, manipulate, and analyze data. SELECT, JOIN, WHERE, GROUP BY.</a:t>
            </a:r>
          </a:p>
          <a:p>
            <a:pPr algn="l">
              <a:lnSpc>
                <a:spcPts val="4536"/>
              </a:lnSpc>
            </a:pPr>
            <a:r>
              <a:rPr lang="en-US" sz="3240">
                <a:solidFill>
                  <a:srgbClr val="000000"/>
                </a:solidFill>
                <a:latin typeface="Century Gothic Paneuropean"/>
                <a:ea typeface="Century Gothic Paneuropean"/>
                <a:cs typeface="Century Gothic Paneuropean"/>
                <a:sym typeface="Century Gothic Paneuropean"/>
              </a:rPr>
              <a:t>•</a:t>
            </a:r>
            <a:r>
              <a:rPr lang="en-US" sz="3240" b="true">
                <a:solidFill>
                  <a:srgbClr val="000000"/>
                </a:solidFill>
                <a:latin typeface="Century Gothic Paneuropean Bold"/>
                <a:ea typeface="Century Gothic Paneuropean Bold"/>
                <a:cs typeface="Century Gothic Paneuropean Bold"/>
                <a:sym typeface="Century Gothic Paneuropean Bold"/>
              </a:rPr>
              <a:t>Connect to BigQuery</a:t>
            </a:r>
            <a:r>
              <a:rPr lang="en-US" sz="3240">
                <a:solidFill>
                  <a:srgbClr val="000000"/>
                </a:solidFill>
                <a:latin typeface="Century Gothic Paneuropean"/>
                <a:ea typeface="Century Gothic Paneuropean"/>
                <a:cs typeface="Century Gothic Paneuropean"/>
                <a:sym typeface="Century Gothic Paneuropean"/>
              </a:rPr>
              <a:t>: Link Looker Studio to BigQuery to access and visualize your data.</a:t>
            </a:r>
          </a:p>
          <a:p>
            <a:pPr algn="l">
              <a:lnSpc>
                <a:spcPts val="4536"/>
              </a:lnSpc>
            </a:pPr>
            <a:r>
              <a:rPr lang="en-US" sz="3240">
                <a:solidFill>
                  <a:srgbClr val="000000"/>
                </a:solidFill>
                <a:latin typeface="Century Gothic Paneuropean"/>
                <a:ea typeface="Century Gothic Paneuropean"/>
                <a:cs typeface="Century Gothic Paneuropean"/>
                <a:sym typeface="Century Gothic Paneuropean"/>
              </a:rPr>
              <a:t>•</a:t>
            </a:r>
            <a:r>
              <a:rPr lang="en-US" sz="3240" b="true">
                <a:solidFill>
                  <a:srgbClr val="000000"/>
                </a:solidFill>
                <a:latin typeface="Century Gothic Paneuropean Bold"/>
                <a:ea typeface="Century Gothic Paneuropean Bold"/>
                <a:cs typeface="Century Gothic Paneuropean Bold"/>
                <a:sym typeface="Century Gothic Paneuropean Bold"/>
              </a:rPr>
              <a:t>Build Reports</a:t>
            </a:r>
            <a:r>
              <a:rPr lang="en-US" sz="3240">
                <a:solidFill>
                  <a:srgbClr val="000000"/>
                </a:solidFill>
                <a:latin typeface="Century Gothic Paneuropean"/>
                <a:ea typeface="Century Gothic Paneuropean"/>
                <a:cs typeface="Century Gothic Paneuropean"/>
                <a:sym typeface="Century Gothic Paneuropean"/>
              </a:rPr>
              <a:t>: Design and customize reports to present insights and trends from BigQuery data</a:t>
            </a:r>
          </a:p>
          <a:p>
            <a:pPr algn="l">
              <a:lnSpc>
                <a:spcPts val="4536"/>
              </a:lnSpc>
            </a:pPr>
          </a:p>
          <a:p>
            <a:pPr algn="l">
              <a:lnSpc>
                <a:spcPts val="4536"/>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88544" y="-82742"/>
            <a:ext cx="14860110" cy="1111442"/>
          </a:xfrm>
          <a:prstGeom prst="rect">
            <a:avLst/>
          </a:prstGeom>
        </p:spPr>
        <p:txBody>
          <a:bodyPr anchor="t" rtlCol="false" tIns="0" lIns="0" bIns="0" rIns="0">
            <a:spAutoFit/>
          </a:bodyPr>
          <a:lstStyle/>
          <a:p>
            <a:pPr algn="ctr">
              <a:lnSpc>
                <a:spcPts val="9089"/>
              </a:lnSpc>
            </a:pPr>
            <a:r>
              <a:rPr lang="en-US" b="true" sz="6492">
                <a:solidFill>
                  <a:srgbClr val="000000"/>
                </a:solidFill>
                <a:latin typeface="Century Gothic Paneuropean Bold"/>
                <a:ea typeface="Century Gothic Paneuropean Bold"/>
                <a:cs typeface="Century Gothic Paneuropean Bold"/>
                <a:sym typeface="Century Gothic Paneuropean Bold"/>
              </a:rPr>
              <a:t>DATA </a:t>
            </a:r>
            <a:r>
              <a:rPr lang="en-US" b="true" sz="6492">
                <a:solidFill>
                  <a:srgbClr val="000000"/>
                </a:solidFill>
                <a:latin typeface="Century Gothic Paneuropean Bold"/>
                <a:ea typeface="Century Gothic Paneuropean Bold"/>
                <a:cs typeface="Century Gothic Paneuropean Bold"/>
                <a:sym typeface="Century Gothic Paneuropean Bold"/>
              </a:rPr>
              <a:t>CATALOG FUNDAMENTALS</a:t>
            </a:r>
          </a:p>
        </p:txBody>
      </p:sp>
      <p:sp>
        <p:nvSpPr>
          <p:cNvPr name="TextBox 3" id="3"/>
          <p:cNvSpPr txBox="true"/>
          <p:nvPr/>
        </p:nvSpPr>
        <p:spPr>
          <a:xfrm rot="0">
            <a:off x="1803825" y="1718551"/>
            <a:ext cx="15455475" cy="6788397"/>
          </a:xfrm>
          <a:prstGeom prst="rect">
            <a:avLst/>
          </a:prstGeom>
        </p:spPr>
        <p:txBody>
          <a:bodyPr anchor="t" rtlCol="false" tIns="0" lIns="0" bIns="0" rIns="0">
            <a:spAutoFit/>
          </a:bodyPr>
          <a:lstStyle/>
          <a:p>
            <a:pPr algn="l">
              <a:lnSpc>
                <a:spcPts val="3836"/>
              </a:lnSpc>
            </a:pPr>
            <a:r>
              <a:rPr lang="en-US" sz="2740" u="sng" b="true">
                <a:solidFill>
                  <a:srgbClr val="000000"/>
                </a:solidFill>
                <a:latin typeface="Century Gothic Paneuropean Bold"/>
                <a:ea typeface="Century Gothic Paneuropean Bold"/>
                <a:cs typeface="Century Gothic Paneuropean Bold"/>
                <a:sym typeface="Century Gothic Paneuropean Bold"/>
              </a:rPr>
              <a:t>•Objective:</a:t>
            </a:r>
          </a:p>
          <a:p>
            <a:pPr algn="l">
              <a:lnSpc>
                <a:spcPts val="3836"/>
              </a:lnSpc>
            </a:pPr>
            <a:r>
              <a:rPr lang="en-US" sz="2740">
                <a:solidFill>
                  <a:srgbClr val="000000"/>
                </a:solidFill>
                <a:latin typeface="Century Gothic Paneuropean"/>
                <a:ea typeface="Century Gothic Paneuropean"/>
                <a:cs typeface="Century Gothic Paneuropean"/>
                <a:sym typeface="Century Gothic Paneuropean"/>
              </a:rPr>
              <a:t>•Learn the basics of Google Cloud’s Data Catalog for organizing and managing data assets.</a:t>
            </a:r>
          </a:p>
          <a:p>
            <a:pPr algn="l">
              <a:lnSpc>
                <a:spcPts val="3836"/>
              </a:lnSpc>
            </a:pPr>
          </a:p>
          <a:p>
            <a:pPr algn="l">
              <a:lnSpc>
                <a:spcPts val="3836"/>
              </a:lnSpc>
            </a:pPr>
            <a:r>
              <a:rPr lang="en-US" sz="2740">
                <a:solidFill>
                  <a:srgbClr val="000000"/>
                </a:solidFill>
                <a:latin typeface="Century Gothic Paneuropean"/>
                <a:ea typeface="Century Gothic Paneuropean"/>
                <a:cs typeface="Century Gothic Paneuropean"/>
                <a:sym typeface="Century Gothic Paneuropean"/>
              </a:rPr>
              <a:t>•</a:t>
            </a:r>
            <a:r>
              <a:rPr lang="en-US" sz="2740" u="sng" b="true">
                <a:solidFill>
                  <a:srgbClr val="000000"/>
                </a:solidFill>
                <a:latin typeface="Century Gothic Paneuropean Bold"/>
                <a:ea typeface="Century Gothic Paneuropean Bold"/>
                <a:cs typeface="Century Gothic Paneuropean Bold"/>
                <a:sym typeface="Century Gothic Paneuropean Bold"/>
              </a:rPr>
              <a:t>Key Topics:</a:t>
            </a:r>
          </a:p>
          <a:p>
            <a:pPr algn="l">
              <a:lnSpc>
                <a:spcPts val="3836"/>
              </a:lnSpc>
            </a:pPr>
            <a:r>
              <a:rPr lang="en-US" sz="2740">
                <a:solidFill>
                  <a:srgbClr val="000000"/>
                </a:solidFill>
                <a:latin typeface="Century Gothic Paneuropean"/>
                <a:ea typeface="Century Gothic Paneuropean"/>
                <a:cs typeface="Century Gothic Paneuropean"/>
                <a:sym typeface="Century Gothic Paneuropean"/>
              </a:rPr>
              <a:t>•</a:t>
            </a:r>
            <a:r>
              <a:rPr lang="en-US" sz="2740" b="true">
                <a:solidFill>
                  <a:srgbClr val="000000"/>
                </a:solidFill>
                <a:latin typeface="Century Gothic Paneuropean Bold"/>
                <a:ea typeface="Century Gothic Paneuropean Bold"/>
                <a:cs typeface="Century Gothic Paneuropean Bold"/>
                <a:sym typeface="Century Gothic Paneuropean Bold"/>
              </a:rPr>
              <a:t>Introduction to Data Catalog: Features and Use Cases:</a:t>
            </a:r>
            <a:r>
              <a:rPr lang="en-US" sz="2740">
                <a:solidFill>
                  <a:srgbClr val="000000"/>
                </a:solidFill>
                <a:latin typeface="Century Gothic Paneuropean"/>
                <a:ea typeface="Century Gothic Paneuropean"/>
                <a:cs typeface="Century Gothic Paneuropean"/>
                <a:sym typeface="Century Gothic Paneuropean"/>
              </a:rPr>
              <a:t>Catalog is useful for organizations with large amounts of data spread across different sources. It helps data teams find and use data more efficiently, supports data governance by controlling who can access what data, and enhances collaboration by providing a clear overview of available data assets. This is particularly helpful for data-driven decision-making, data compliance, and improving productivity in data analytics.</a:t>
            </a:r>
          </a:p>
          <a:p>
            <a:pPr algn="l">
              <a:lnSpc>
                <a:spcPts val="3836"/>
              </a:lnSpc>
            </a:pPr>
            <a:r>
              <a:rPr lang="en-US" sz="2740">
                <a:solidFill>
                  <a:srgbClr val="000000"/>
                </a:solidFill>
                <a:latin typeface="Century Gothic Paneuropean"/>
                <a:ea typeface="Century Gothic Paneuropean"/>
                <a:cs typeface="Century Gothic Paneuropean"/>
                <a:sym typeface="Century Gothic Paneuropean"/>
              </a:rPr>
              <a:t>•</a:t>
            </a:r>
            <a:r>
              <a:rPr lang="en-US" sz="2740" b="true">
                <a:solidFill>
                  <a:srgbClr val="000000"/>
                </a:solidFill>
                <a:latin typeface="Century Gothic Paneuropean Bold"/>
                <a:ea typeface="Century Gothic Paneuropean Bold"/>
                <a:cs typeface="Century Gothic Paneuropean Bold"/>
                <a:sym typeface="Century Gothic Paneuropean Bold"/>
              </a:rPr>
              <a:t>Metadata management</a:t>
            </a:r>
            <a:r>
              <a:rPr lang="en-US" sz="2740">
                <a:solidFill>
                  <a:srgbClr val="000000"/>
                </a:solidFill>
                <a:latin typeface="Century Gothic Paneuropean"/>
                <a:ea typeface="Century Gothic Paneuropean"/>
                <a:cs typeface="Century Gothic Paneuropean"/>
                <a:sym typeface="Century Gothic Paneuropean"/>
              </a:rPr>
              <a:t>: Creating, organizing, and searching for metadata.</a:t>
            </a:r>
          </a:p>
          <a:p>
            <a:pPr algn="l">
              <a:lnSpc>
                <a:spcPts val="3836"/>
              </a:lnSpc>
            </a:pPr>
            <a:r>
              <a:rPr lang="en-US" sz="2740">
                <a:solidFill>
                  <a:srgbClr val="000000"/>
                </a:solidFill>
                <a:latin typeface="Century Gothic Paneuropean"/>
                <a:ea typeface="Century Gothic Paneuropean"/>
                <a:cs typeface="Century Gothic Paneuropean"/>
                <a:sym typeface="Century Gothic Paneuropean"/>
              </a:rPr>
              <a:t>•</a:t>
            </a:r>
            <a:r>
              <a:rPr lang="en-US" sz="2740" b="true">
                <a:solidFill>
                  <a:srgbClr val="000000"/>
                </a:solidFill>
                <a:latin typeface="Century Gothic Paneuropean Bold"/>
                <a:ea typeface="Century Gothic Paneuropean Bold"/>
                <a:cs typeface="Century Gothic Paneuropean Bold"/>
                <a:sym typeface="Century Gothic Paneuropean Bold"/>
              </a:rPr>
              <a:t>Data discovery and governance</a:t>
            </a:r>
            <a:r>
              <a:rPr lang="en-US" sz="2740">
                <a:solidFill>
                  <a:srgbClr val="000000"/>
                </a:solidFill>
                <a:latin typeface="Century Gothic Paneuropean"/>
                <a:ea typeface="Century Gothic Paneuropean"/>
                <a:cs typeface="Century Gothic Paneuropean"/>
                <a:sym typeface="Century Gothic Paneuropean"/>
              </a:rPr>
              <a:t>: Ensuring compliance and managing data access.</a:t>
            </a:r>
          </a:p>
          <a:p>
            <a:pPr algn="l">
              <a:lnSpc>
                <a:spcPts val="3836"/>
              </a:lnSpc>
            </a:pP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4521225" y="243091"/>
            <a:ext cx="2054857" cy="2063313"/>
          </a:xfrm>
          <a:custGeom>
            <a:avLst/>
            <a:gdLst/>
            <a:ahLst/>
            <a:cxnLst/>
            <a:rect r="r" b="b" t="t" l="l"/>
            <a:pathLst>
              <a:path h="2063313" w="2054857">
                <a:moveTo>
                  <a:pt x="0" y="0"/>
                </a:moveTo>
                <a:lnTo>
                  <a:pt x="2054857" y="0"/>
                </a:lnTo>
                <a:lnTo>
                  <a:pt x="2054857" y="2063314"/>
                </a:lnTo>
                <a:lnTo>
                  <a:pt x="0" y="2063314"/>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39466"/>
            <a:ext cx="13882278" cy="2031557"/>
          </a:xfrm>
          <a:prstGeom prst="rect">
            <a:avLst/>
          </a:prstGeom>
        </p:spPr>
        <p:txBody>
          <a:bodyPr anchor="t" rtlCol="false" tIns="0" lIns="0" bIns="0" rIns="0">
            <a:spAutoFit/>
          </a:bodyPr>
          <a:lstStyle/>
          <a:p>
            <a:pPr algn="ctr">
              <a:lnSpc>
                <a:spcPts val="8249"/>
              </a:lnSpc>
            </a:pPr>
            <a:r>
              <a:rPr lang="en-US" b="true" sz="5892">
                <a:solidFill>
                  <a:srgbClr val="000000"/>
                </a:solidFill>
                <a:latin typeface="Century Gothic Paneuropean Bold"/>
                <a:ea typeface="Century Gothic Paneuropean Bold"/>
                <a:cs typeface="Century Gothic Paneuropean Bold"/>
                <a:sym typeface="Century Gothic Paneuropean Bold"/>
              </a:rPr>
              <a:t>BUILD LO</a:t>
            </a:r>
            <a:r>
              <a:rPr lang="en-US" b="true" sz="5892">
                <a:solidFill>
                  <a:srgbClr val="000000"/>
                </a:solidFill>
                <a:latin typeface="Century Gothic Paneuropean Bold"/>
                <a:ea typeface="Century Gothic Paneuropean Bold"/>
                <a:cs typeface="Century Gothic Paneuropean Bold"/>
                <a:sym typeface="Century Gothic Paneuropean Bold"/>
              </a:rPr>
              <a:t>OKML OBJECTS IN LOOKER</a:t>
            </a:r>
          </a:p>
          <a:p>
            <a:pPr algn="ctr">
              <a:lnSpc>
                <a:spcPts val="8249"/>
              </a:lnSpc>
            </a:pPr>
          </a:p>
        </p:txBody>
      </p:sp>
      <p:sp>
        <p:nvSpPr>
          <p:cNvPr name="TextBox 3" id="3"/>
          <p:cNvSpPr txBox="true"/>
          <p:nvPr/>
        </p:nvSpPr>
        <p:spPr>
          <a:xfrm rot="0">
            <a:off x="1569057" y="1655693"/>
            <a:ext cx="15149885" cy="6355962"/>
          </a:xfrm>
          <a:prstGeom prst="rect">
            <a:avLst/>
          </a:prstGeom>
        </p:spPr>
        <p:txBody>
          <a:bodyPr anchor="t" rtlCol="false" tIns="0" lIns="0" bIns="0" rIns="0">
            <a:spAutoFit/>
          </a:bodyPr>
          <a:lstStyle/>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a:t>
            </a:r>
            <a:r>
              <a:rPr lang="en-US" sz="3640" u="sng" b="true">
                <a:solidFill>
                  <a:srgbClr val="000000"/>
                </a:solidFill>
                <a:latin typeface="Century Gothic Paneuropean Bold"/>
                <a:ea typeface="Century Gothic Paneuropean Bold"/>
                <a:cs typeface="Century Gothic Paneuropean Bold"/>
                <a:sym typeface="Century Gothic Paneuropean Bold"/>
              </a:rPr>
              <a:t>Objective:</a:t>
            </a: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•Build reusable LookML objects to streamline data analysis workflows.</a:t>
            </a:r>
          </a:p>
          <a:p>
            <a:pPr algn="l">
              <a:lnSpc>
                <a:spcPts val="5096"/>
              </a:lnSpc>
            </a:pP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a:t>
            </a:r>
            <a:r>
              <a:rPr lang="en-US" sz="3640" u="sng" b="true">
                <a:solidFill>
                  <a:srgbClr val="000000"/>
                </a:solidFill>
                <a:latin typeface="Century Gothic Paneuropean Bold"/>
                <a:ea typeface="Century Gothic Paneuropean Bold"/>
                <a:cs typeface="Century Gothic Paneuropean Bold"/>
                <a:sym typeface="Century Gothic Paneuropean Bold"/>
              </a:rPr>
              <a:t>Key Topics:</a:t>
            </a: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•Creating LookML views, explores, and fields.</a:t>
            </a: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•Best practices for object creation: Reusability, modularity, and documentation.</a:t>
            </a: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•Managing and sharing LookML objects across teams.</a:t>
            </a:r>
          </a:p>
          <a:p>
            <a:pPr algn="l">
              <a:lnSpc>
                <a:spcPts val="5096"/>
              </a:lnSpc>
            </a:pP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3914670" y="6333029"/>
            <a:ext cx="2682112" cy="2692233"/>
          </a:xfrm>
          <a:custGeom>
            <a:avLst/>
            <a:gdLst/>
            <a:ahLst/>
            <a:cxnLst/>
            <a:rect r="r" b="b" t="t" l="l"/>
            <a:pathLst>
              <a:path h="2692233" w="2682112">
                <a:moveTo>
                  <a:pt x="0" y="0"/>
                </a:moveTo>
                <a:lnTo>
                  <a:pt x="2682112" y="0"/>
                </a:lnTo>
                <a:lnTo>
                  <a:pt x="2682112" y="2692233"/>
                </a:lnTo>
                <a:lnTo>
                  <a:pt x="0" y="2692233"/>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96315" y="97921"/>
            <a:ext cx="15220270" cy="1078422"/>
          </a:xfrm>
          <a:prstGeom prst="rect">
            <a:avLst/>
          </a:prstGeom>
        </p:spPr>
        <p:txBody>
          <a:bodyPr anchor="t" rtlCol="false" tIns="0" lIns="0" bIns="0" rIns="0">
            <a:spAutoFit/>
          </a:bodyPr>
          <a:lstStyle/>
          <a:p>
            <a:pPr algn="ctr">
              <a:lnSpc>
                <a:spcPts val="8809"/>
              </a:lnSpc>
            </a:pPr>
            <a:r>
              <a:rPr lang="en-US" b="true" sz="6292">
                <a:solidFill>
                  <a:srgbClr val="000000"/>
                </a:solidFill>
                <a:latin typeface="Century Gothic Paneuropean Bold"/>
                <a:ea typeface="Century Gothic Paneuropean Bold"/>
                <a:cs typeface="Century Gothic Paneuropean Bold"/>
                <a:sym typeface="Century Gothic Paneuropean Bold"/>
              </a:rPr>
              <a:t>MA</a:t>
            </a:r>
            <a:r>
              <a:rPr lang="en-US" b="true" sz="6292">
                <a:solidFill>
                  <a:srgbClr val="000000"/>
                </a:solidFill>
                <a:latin typeface="Century Gothic Paneuropean Bold"/>
                <a:ea typeface="Century Gothic Paneuropean Bold"/>
                <a:cs typeface="Century Gothic Paneuropean Bold"/>
                <a:sym typeface="Century Gothic Paneuropean Bold"/>
              </a:rPr>
              <a:t>NAGE DATA MODELS IN LOOKER</a:t>
            </a:r>
          </a:p>
        </p:txBody>
      </p:sp>
      <p:sp>
        <p:nvSpPr>
          <p:cNvPr name="TextBox 3" id="3"/>
          <p:cNvSpPr txBox="true"/>
          <p:nvPr/>
        </p:nvSpPr>
        <p:spPr>
          <a:xfrm rot="0">
            <a:off x="1569057" y="1613094"/>
            <a:ext cx="16863825" cy="5717787"/>
          </a:xfrm>
          <a:prstGeom prst="rect">
            <a:avLst/>
          </a:prstGeom>
        </p:spPr>
        <p:txBody>
          <a:bodyPr anchor="t" rtlCol="false" tIns="0" lIns="0" bIns="0" rIns="0">
            <a:spAutoFit/>
          </a:bodyPr>
          <a:lstStyle/>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a:t>
            </a:r>
            <a:r>
              <a:rPr lang="en-US" sz="3640" u="sng" b="true">
                <a:solidFill>
                  <a:srgbClr val="000000"/>
                </a:solidFill>
                <a:latin typeface="Century Gothic Paneuropean Bold"/>
                <a:ea typeface="Century Gothic Paneuropean Bold"/>
                <a:cs typeface="Century Gothic Paneuropean Bold"/>
                <a:sym typeface="Century Gothic Paneuropean Bold"/>
              </a:rPr>
              <a:t>Objective:</a:t>
            </a: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•Learn to manage and optimize LookML data models in a production environment.</a:t>
            </a:r>
          </a:p>
          <a:p>
            <a:pPr algn="l">
              <a:lnSpc>
                <a:spcPts val="5096"/>
              </a:lnSpc>
            </a:pP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a:t>
            </a:r>
            <a:r>
              <a:rPr lang="en-US" sz="3640" u="sng" b="true">
                <a:solidFill>
                  <a:srgbClr val="000000"/>
                </a:solidFill>
                <a:latin typeface="Century Gothic Paneuropean Bold"/>
                <a:ea typeface="Century Gothic Paneuropean Bold"/>
                <a:cs typeface="Century Gothic Paneuropean Bold"/>
                <a:sym typeface="Century Gothic Paneuropean Bold"/>
              </a:rPr>
              <a:t>Key Topics:</a:t>
            </a: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•Version control and collaboration: Using Git and other tools.</a:t>
            </a: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•Model optimization: Improving query performance and reducing costs.</a:t>
            </a:r>
          </a:p>
          <a:p>
            <a:pPr algn="l">
              <a:lnSpc>
                <a:spcPts val="5096"/>
              </a:lnSpc>
            </a:pPr>
            <a:r>
              <a:rPr lang="en-US" sz="3640">
                <a:solidFill>
                  <a:srgbClr val="000000"/>
                </a:solidFill>
                <a:latin typeface="Century Gothic Paneuropean"/>
                <a:ea typeface="Century Gothic Paneuropean"/>
                <a:cs typeface="Century Gothic Paneuropean"/>
                <a:sym typeface="Century Gothic Paneuropean"/>
              </a:rPr>
              <a:t>•Managing large-scale models: Best practices for handling complexity.</a:t>
            </a:r>
          </a:p>
          <a:p>
            <a:pPr algn="l">
              <a:lnSpc>
                <a:spcPts val="5096"/>
              </a:lnSpc>
            </a:pP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4496361" y="7025037"/>
            <a:ext cx="2020224" cy="2607011"/>
          </a:xfrm>
          <a:custGeom>
            <a:avLst/>
            <a:gdLst/>
            <a:ahLst/>
            <a:cxnLst/>
            <a:rect r="r" b="b" t="t" l="l"/>
            <a:pathLst>
              <a:path h="2607011" w="2020224">
                <a:moveTo>
                  <a:pt x="0" y="0"/>
                </a:moveTo>
                <a:lnTo>
                  <a:pt x="2020224" y="0"/>
                </a:lnTo>
                <a:lnTo>
                  <a:pt x="2020224" y="2607011"/>
                </a:lnTo>
                <a:lnTo>
                  <a:pt x="0" y="2607011"/>
                </a:lnTo>
                <a:lnTo>
                  <a:pt x="0" y="0"/>
                </a:lnTo>
                <a:close/>
              </a:path>
            </a:pathLst>
          </a:custGeom>
          <a:blipFill>
            <a:blip r:embed="rId4"/>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91536" y="78871"/>
            <a:ext cx="8537178" cy="1293053"/>
          </a:xfrm>
          <a:prstGeom prst="rect">
            <a:avLst/>
          </a:prstGeom>
        </p:spPr>
        <p:txBody>
          <a:bodyPr anchor="t" rtlCol="false" tIns="0" lIns="0" bIns="0" rIns="0">
            <a:spAutoFit/>
          </a:bodyPr>
          <a:lstStyle/>
          <a:p>
            <a:pPr algn="ctr">
              <a:lnSpc>
                <a:spcPts val="10629"/>
              </a:lnSpc>
            </a:pPr>
            <a:r>
              <a:rPr lang="en-US" b="true" sz="7592">
                <a:solidFill>
                  <a:srgbClr val="000000"/>
                </a:solidFill>
                <a:latin typeface="Century Gothic Paneuropean Bold"/>
                <a:ea typeface="Century Gothic Paneuropean Bold"/>
                <a:cs typeface="Century Gothic Paneuropean Bold"/>
                <a:sym typeface="Century Gothic Paneuropean Bold"/>
              </a:rPr>
              <a:t>CONCLUSION</a:t>
            </a:r>
          </a:p>
        </p:txBody>
      </p:sp>
      <p:sp>
        <p:nvSpPr>
          <p:cNvPr name="TextBox 3" id="3"/>
          <p:cNvSpPr txBox="true"/>
          <p:nvPr/>
        </p:nvSpPr>
        <p:spPr>
          <a:xfrm rot="0">
            <a:off x="1569057" y="1909865"/>
            <a:ext cx="15500379" cy="7649457"/>
          </a:xfrm>
          <a:prstGeom prst="rect">
            <a:avLst/>
          </a:prstGeom>
        </p:spPr>
        <p:txBody>
          <a:bodyPr anchor="t" rtlCol="false" tIns="0" lIns="0" bIns="0" rIns="0">
            <a:spAutoFit/>
          </a:bodyPr>
          <a:lstStyle/>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•This learning path offered a comprehensive foundation for aspiring Data Analysts, combining theoretical knowledge with practical, real-world experience.</a:t>
            </a:r>
          </a:p>
          <a:p>
            <a:pPr algn="l">
              <a:lnSpc>
                <a:spcPts val="4676"/>
              </a:lnSpc>
            </a:pP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•Through a series of carefully selected on-demand courses, interactive labs, and skill badges, you will develop proficiency in leveraging Google Cloud technologies critical to the Data Analyst role.</a:t>
            </a:r>
          </a:p>
          <a:p>
            <a:pPr algn="l">
              <a:lnSpc>
                <a:spcPts val="4676"/>
              </a:lnSpc>
            </a:pPr>
          </a:p>
          <a:p>
            <a:pPr algn="l">
              <a:lnSpc>
                <a:spcPts val="4676"/>
              </a:lnSpc>
            </a:pPr>
            <a:r>
              <a:rPr lang="en-US" sz="3340">
                <a:solidFill>
                  <a:srgbClr val="000000"/>
                </a:solidFill>
                <a:latin typeface="Century Gothic Paneuropean"/>
                <a:ea typeface="Century Gothic Paneuropean"/>
                <a:cs typeface="Century Gothic Paneuropean"/>
                <a:sym typeface="Century Gothic Paneuropean"/>
              </a:rPr>
              <a:t>•Upon completion, we were well-equipped to gather, analyze, and interpret data, uncover trends, and generate actionable insights. This expertise will enable us to address complex business challenges and contribute to informed decision-making within the organization.</a:t>
            </a:r>
          </a:p>
          <a:p>
            <a:pPr algn="l">
              <a:lnSpc>
                <a:spcPts val="4676"/>
              </a:lnSpc>
            </a:pP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950481" y="4013348"/>
            <a:ext cx="12387037" cy="2031703"/>
          </a:xfrm>
          <a:prstGeom prst="rect">
            <a:avLst/>
          </a:prstGeom>
        </p:spPr>
        <p:txBody>
          <a:bodyPr anchor="t" rtlCol="false" tIns="0" lIns="0" bIns="0" rIns="0">
            <a:spAutoFit/>
          </a:bodyPr>
          <a:lstStyle/>
          <a:p>
            <a:pPr algn="ctr">
              <a:lnSpc>
                <a:spcPts val="16641"/>
              </a:lnSpc>
            </a:pPr>
            <a:r>
              <a:rPr lang="en-US" b="true" sz="11886">
                <a:solidFill>
                  <a:srgbClr val="000000"/>
                </a:solidFill>
                <a:latin typeface="Century Gothic Paneuropean Bold"/>
                <a:ea typeface="Century Gothic Paneuropean Bold"/>
                <a:cs typeface="Century Gothic Paneuropean Bold"/>
                <a:sym typeface="Century Gothic Paneuropean Bold"/>
              </a:rPr>
              <a:t>THANK YOU</a:t>
            </a:r>
          </a:p>
        </p:txBody>
      </p:sp>
      <p:grpSp>
        <p:nvGrpSpPr>
          <p:cNvPr name="Group 3" id="3"/>
          <p:cNvGrpSpPr/>
          <p:nvPr/>
        </p:nvGrpSpPr>
        <p:grpSpPr>
          <a:xfrm rot="0">
            <a:off x="16718943" y="-989670"/>
            <a:ext cx="1080715" cy="2956684"/>
            <a:chOff x="0" y="0"/>
            <a:chExt cx="284633" cy="778715"/>
          </a:xfrm>
        </p:grpSpPr>
        <p:sp>
          <p:nvSpPr>
            <p:cNvPr name="Freeform 4" id="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5" id="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29352" y="9803843"/>
            <a:ext cx="19346704" cy="821917"/>
            <a:chOff x="0" y="0"/>
            <a:chExt cx="5095428" cy="216472"/>
          </a:xfrm>
        </p:grpSpPr>
        <p:sp>
          <p:nvSpPr>
            <p:cNvPr name="Freeform 7" id="7"/>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8" id="8"/>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DAGrALPbxBg</dc:identifier>
  <dcterms:modified xsi:type="dcterms:W3CDTF">2011-08-01T06:04:30Z</dcterms:modified>
  <cp:revision>1</cp:revision>
  <dc:title>Black Yellow Modern Minimalist Elegant Presentation</dc:title>
</cp:coreProperties>
</file>