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9" d="100"/>
          <a:sy n="79" d="100"/>
        </p:scale>
        <p:origin x="67" y="3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D2EA-51FF-E9F6-D025-379C573063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5DB1D1-AD19-A088-01B2-1BF3D5E320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46B5D8-DDA4-369E-EB78-6B04897859D3}"/>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691770DE-CF5D-1E3D-EFD7-B3F8BDB5AD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75E1AC-C204-7A7C-48E3-CE2C0E26260F}"/>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4193769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CB692-516D-6970-BD60-FC04AFD8EE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2AC68A-242C-9762-FC14-8D572D5318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E2D950-810C-1A5A-1630-7E61B945FBB7}"/>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DACAE197-00CE-BEE2-CB18-76424347F9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FA7D52-9E44-916A-E1DA-B7D9E4FFD12D}"/>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26174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4E62-6FE1-8902-0A86-CAA6E68FCC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A87713-D32F-C768-1367-A0D5BA6FB4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4CE4CE-2C01-B7D7-9996-241C099A98FA}"/>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38CBD370-8B0A-48E3-58AD-1F1A3D4B75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B81D7B-3EDB-068F-B173-94FFBA27102F}"/>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2636632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C782-C9DE-4A3D-CDC9-1331ACC304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148486-1C6C-8ADB-486C-8606E5FCAB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5441EC6-8F4B-D913-C701-4962E6F33E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0A1391-A607-5ADF-AFC2-E11BD828FDE4}"/>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6" name="Footer Placeholder 5">
            <a:extLst>
              <a:ext uri="{FF2B5EF4-FFF2-40B4-BE49-F238E27FC236}">
                <a16:creationId xmlns:a16="http://schemas.microsoft.com/office/drawing/2014/main" id="{3F0BC538-74D5-BC26-9E4C-3AF1019876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EC2561-D4E5-AA30-7A7B-99877BDE2616}"/>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744841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19B2-D1F3-126D-7F54-2433F67481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3FC0DD-AF46-B22C-58B9-C9879066C2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4FB53B-10BD-F279-82D1-87C69EDCC3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EE4B5E-1294-6BD0-4DCE-6AA50F90C1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CB81B7-4BD4-E1DB-FE21-8D32B2DFF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E9FA9A-FED1-F83E-2094-845942809D55}"/>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8" name="Footer Placeholder 7">
            <a:extLst>
              <a:ext uri="{FF2B5EF4-FFF2-40B4-BE49-F238E27FC236}">
                <a16:creationId xmlns:a16="http://schemas.microsoft.com/office/drawing/2014/main" id="{BC9DD84F-C199-53A7-8278-5E6E24E369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A96E52-399A-15A6-7EEF-E7ABF46B8D13}"/>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789364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68BC-4D66-9CB8-154B-39F662239F1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C1282C-E639-CAA8-D8E1-08095D26594E}"/>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4" name="Footer Placeholder 3">
            <a:extLst>
              <a:ext uri="{FF2B5EF4-FFF2-40B4-BE49-F238E27FC236}">
                <a16:creationId xmlns:a16="http://schemas.microsoft.com/office/drawing/2014/main" id="{A96F7958-2349-FEE7-91DF-39C060BD8B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558D278-7D66-891F-42A5-4F658F51D2DA}"/>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465914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A4E811-DEEF-4BBA-4BAA-A616ED21E5B0}"/>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3" name="Footer Placeholder 2">
            <a:extLst>
              <a:ext uri="{FF2B5EF4-FFF2-40B4-BE49-F238E27FC236}">
                <a16:creationId xmlns:a16="http://schemas.microsoft.com/office/drawing/2014/main" id="{78042A67-E9CD-196E-05AD-C30E38D107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B78492-C2CE-0958-BC25-951DEC25C1A7}"/>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627424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F0CC1-14E1-3261-E632-1E0482477D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DEAC32-AAF0-9EAE-3D3D-12D412CEBA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05D7EE-BEDE-75CA-328A-CECA93C65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986F72-54F3-82F8-1CDE-A8CE129B30E7}"/>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6" name="Footer Placeholder 5">
            <a:extLst>
              <a:ext uri="{FF2B5EF4-FFF2-40B4-BE49-F238E27FC236}">
                <a16:creationId xmlns:a16="http://schemas.microsoft.com/office/drawing/2014/main" id="{98943524-58EC-8B86-0BDD-DB9E7C48D2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BBD3B1-A38C-3C6A-DD51-F2C5643E095E}"/>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819607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62F22-0438-7811-B68F-0EDCDAF86C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CE39F9E-8ACF-6269-F1F7-04CC60155D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B28D62-8CE3-4263-0204-52CA3677F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FB6399-995F-52B1-D419-5D999AECAC28}"/>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6" name="Footer Placeholder 5">
            <a:extLst>
              <a:ext uri="{FF2B5EF4-FFF2-40B4-BE49-F238E27FC236}">
                <a16:creationId xmlns:a16="http://schemas.microsoft.com/office/drawing/2014/main" id="{0947BD6C-1678-913E-C3E5-3CD60E56D9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688C3-C938-47EE-6ABB-EFBDE665EBB3}"/>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323121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85073-739B-FBB9-B939-2ED5238A93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9C7F40-8287-B0AF-5EEF-C447371EDC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442307-B62B-C395-7618-A48E38FE114A}"/>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9BA57E7E-3CFD-C83B-C1A4-6B90E27A4E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FC7948-D62E-02D9-2F39-CD8B277E273D}"/>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780218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A9008C-0628-E3FD-5B70-880DF0D1D0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A425FA-1177-747B-4366-A99967A78F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984CC4-A352-ACF3-C677-8238BDAA034A}"/>
              </a:ext>
            </a:extLst>
          </p:cNvPr>
          <p:cNvSpPr>
            <a:spLocks noGrp="1"/>
          </p:cNvSpPr>
          <p:nvPr>
            <p:ph type="dt" sz="half" idx="10"/>
          </p:nvPr>
        </p:nvSpPr>
        <p:spPr/>
        <p:txBody>
          <a:body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919845D8-E901-B5B0-A3E2-920199381E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D20B61-71AF-F7BB-277A-B93EAAE7E2DE}"/>
              </a:ext>
            </a:extLst>
          </p:cNvPr>
          <p:cNvSpPr>
            <a:spLocks noGrp="1"/>
          </p:cNvSpPr>
          <p:nvPr>
            <p:ph type="sldNum" sz="quarter" idx="12"/>
          </p:nvPr>
        </p:nvSpPr>
        <p:spPr/>
        <p:txBody>
          <a:bodyPr/>
          <a:lstStyle/>
          <a:p>
            <a:fld id="{AF9A4D59-52FC-46AD-8DDC-5392E3981B7A}" type="slidenum">
              <a:rPr lang="en-IN" smtClean="0"/>
              <a:t>‹#›</a:t>
            </a:fld>
            <a:endParaRPr lang="en-IN"/>
          </a:p>
        </p:txBody>
      </p:sp>
    </p:spTree>
    <p:extLst>
      <p:ext uri="{BB962C8B-B14F-4D97-AF65-F5344CB8AC3E}">
        <p14:creationId xmlns:p14="http://schemas.microsoft.com/office/powerpoint/2010/main" val="1648739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A2BDC0-6E04-DA37-B81A-7E2DB9C509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0A2899-382D-4660-6038-9E06E6A422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B2682B-3FD0-F3F2-D4F0-56D454E8E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0A18AD-32F6-4546-9188-32EFC3C3604C}" type="datetimeFigureOut">
              <a:rPr lang="en-IN" smtClean="0"/>
              <a:t>25-06-2025</a:t>
            </a:fld>
            <a:endParaRPr lang="en-IN"/>
          </a:p>
        </p:txBody>
      </p:sp>
      <p:sp>
        <p:nvSpPr>
          <p:cNvPr id="5" name="Footer Placeholder 4">
            <a:extLst>
              <a:ext uri="{FF2B5EF4-FFF2-40B4-BE49-F238E27FC236}">
                <a16:creationId xmlns:a16="http://schemas.microsoft.com/office/drawing/2014/main" id="{A7948C74-5FD5-B89E-D903-65381F0C0C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BD4F9E5-6237-4243-3BEC-5A27C5AF7F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9A4D59-52FC-46AD-8DDC-5392E3981B7A}" type="slidenum">
              <a:rPr lang="en-IN" smtClean="0"/>
              <a:t>‹#›</a:t>
            </a:fld>
            <a:endParaRPr lang="en-IN"/>
          </a:p>
        </p:txBody>
      </p:sp>
    </p:spTree>
    <p:extLst>
      <p:ext uri="{BB962C8B-B14F-4D97-AF65-F5344CB8AC3E}">
        <p14:creationId xmlns:p14="http://schemas.microsoft.com/office/powerpoint/2010/main" val="4140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4B78902F-2483-BDDA-90F1-D41E67BF81EF}"/>
              </a:ext>
            </a:extLst>
          </p:cNvPr>
          <p:cNvSpPr txBox="1"/>
          <p:nvPr/>
        </p:nvSpPr>
        <p:spPr>
          <a:xfrm>
            <a:off x="1147821" y="301155"/>
            <a:ext cx="9896355" cy="1043491"/>
          </a:xfrm>
          <a:prstGeom prst="rect">
            <a:avLst/>
          </a:prstGeom>
        </p:spPr>
        <p:txBody>
          <a:bodyPr wrap="square" lIns="0" tIns="0" rIns="0" bIns="0" rtlCol="0" anchor="t">
            <a:spAutoFit/>
          </a:bodyPr>
          <a:lstStyle/>
          <a:p>
            <a:pPr algn="ctr">
              <a:lnSpc>
                <a:spcPts val="9400"/>
              </a:lnSpc>
            </a:pPr>
            <a:r>
              <a:rPr lang="en-US" sz="4800" b="1" spc="10" dirty="0">
                <a:solidFill>
                  <a:srgbClr val="000000"/>
                </a:solidFill>
                <a:latin typeface="Gadugi" panose="020B0502040204020203" pitchFamily="34" charset="0"/>
                <a:ea typeface="Gadugi" panose="020B0502040204020203" pitchFamily="34" charset="0"/>
                <a:cs typeface="Raleway Bold"/>
                <a:sym typeface="Raleway Bold"/>
              </a:rPr>
              <a:t>VISUALIZE DATA IN THE CLOUD</a:t>
            </a:r>
          </a:p>
        </p:txBody>
      </p:sp>
      <p:sp>
        <p:nvSpPr>
          <p:cNvPr id="8" name="TextBox 7">
            <a:extLst>
              <a:ext uri="{FF2B5EF4-FFF2-40B4-BE49-F238E27FC236}">
                <a16:creationId xmlns:a16="http://schemas.microsoft.com/office/drawing/2014/main" id="{10F7FEB9-9BB9-C93D-64A5-171B01265FB5}"/>
              </a:ext>
            </a:extLst>
          </p:cNvPr>
          <p:cNvSpPr txBox="1"/>
          <p:nvPr/>
        </p:nvSpPr>
        <p:spPr>
          <a:xfrm>
            <a:off x="9981235" y="5237983"/>
            <a:ext cx="1921398" cy="1200329"/>
          </a:xfrm>
          <a:prstGeom prst="rect">
            <a:avLst/>
          </a:prstGeom>
          <a:noFill/>
        </p:spPr>
        <p:txBody>
          <a:bodyPr wrap="square" rtlCol="0">
            <a:spAutoFit/>
          </a:bodyPr>
          <a:lstStyle/>
          <a:p>
            <a:r>
              <a:rPr lang="en-IN" sz="2400" dirty="0">
                <a:latin typeface="Aptos Display" panose="020B0004020202020204" pitchFamily="34" charset="0"/>
              </a:rPr>
              <a:t>By,</a:t>
            </a:r>
          </a:p>
          <a:p>
            <a:r>
              <a:rPr lang="en-IN" sz="2400" dirty="0">
                <a:latin typeface="Aptos Display" panose="020B0004020202020204" pitchFamily="34" charset="0"/>
              </a:rPr>
              <a:t>Inchara S</a:t>
            </a:r>
          </a:p>
          <a:p>
            <a:r>
              <a:rPr lang="en-IN" sz="2400" dirty="0">
                <a:latin typeface="Aptos Display" panose="020B0004020202020204" pitchFamily="34" charset="0"/>
              </a:rPr>
              <a:t>4VV22IS041</a:t>
            </a:r>
          </a:p>
        </p:txBody>
      </p:sp>
      <p:pic>
        <p:nvPicPr>
          <p:cNvPr id="5" name="Picture 4">
            <a:extLst>
              <a:ext uri="{FF2B5EF4-FFF2-40B4-BE49-F238E27FC236}">
                <a16:creationId xmlns:a16="http://schemas.microsoft.com/office/drawing/2014/main" id="{21C5803B-A7C1-BD1F-05B9-EF9238A6E5B8}"/>
              </a:ext>
            </a:extLst>
          </p:cNvPr>
          <p:cNvPicPr>
            <a:picLocks noChangeAspect="1"/>
          </p:cNvPicPr>
          <p:nvPr/>
        </p:nvPicPr>
        <p:blipFill>
          <a:blip r:embed="rId2"/>
          <a:srcRect l="1073" t="2099" r="607" b="988"/>
          <a:stretch>
            <a:fillRect/>
          </a:stretch>
        </p:blipFill>
        <p:spPr>
          <a:xfrm>
            <a:off x="2870200" y="1637060"/>
            <a:ext cx="6223002" cy="4621625"/>
          </a:xfrm>
          <a:prstGeom prst="rect">
            <a:avLst/>
          </a:prstGeom>
          <a:ln>
            <a:noFill/>
          </a:ln>
          <a:effectLst>
            <a:softEdge rad="112500"/>
          </a:effectLst>
        </p:spPr>
      </p:pic>
    </p:spTree>
    <p:extLst>
      <p:ext uri="{BB962C8B-B14F-4D97-AF65-F5344CB8AC3E}">
        <p14:creationId xmlns:p14="http://schemas.microsoft.com/office/powerpoint/2010/main" val="1726240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EA4EC-A572-DD54-F63D-A77B15460025}"/>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03CF98B5-29B5-02A4-39B5-3C1E9A5C061D}"/>
              </a:ext>
            </a:extLst>
          </p:cNvPr>
          <p:cNvSpPr txBox="1"/>
          <p:nvPr/>
        </p:nvSpPr>
        <p:spPr>
          <a:xfrm>
            <a:off x="-812693" y="49517"/>
            <a:ext cx="9896355"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What is Data Visualization?</a:t>
            </a:r>
          </a:p>
        </p:txBody>
      </p:sp>
      <p:sp>
        <p:nvSpPr>
          <p:cNvPr id="2" name="TextBox 1">
            <a:extLst>
              <a:ext uri="{FF2B5EF4-FFF2-40B4-BE49-F238E27FC236}">
                <a16:creationId xmlns:a16="http://schemas.microsoft.com/office/drawing/2014/main" id="{2B7AEFFA-1D79-3F7D-8759-2C70DABC5B0B}"/>
              </a:ext>
            </a:extLst>
          </p:cNvPr>
          <p:cNvSpPr txBox="1"/>
          <p:nvPr/>
        </p:nvSpPr>
        <p:spPr>
          <a:xfrm>
            <a:off x="490313" y="1273728"/>
            <a:ext cx="11211373" cy="1015663"/>
          </a:xfrm>
          <a:prstGeom prst="rect">
            <a:avLst/>
          </a:prstGeom>
          <a:noFill/>
        </p:spPr>
        <p:txBody>
          <a:bodyPr wrap="square" rtlCol="0">
            <a:spAutoFit/>
          </a:bodyPr>
          <a:lstStyle/>
          <a:p>
            <a:r>
              <a:rPr lang="en-US" sz="2000" dirty="0">
                <a:latin typeface="Aptos Display" panose="020B0004020202020204" pitchFamily="34" charset="0"/>
              </a:rPr>
              <a:t>Data visualization is the representation of data through use of common graphics, such as charts, plots, infographics and even animations. These visual displays of information communicate complex data relationships and data-driven insights in a way that is easy to understand.</a:t>
            </a:r>
            <a:endParaRPr lang="en-IN" sz="2800" dirty="0">
              <a:latin typeface="Aptos Display" panose="020B0004020202020204" pitchFamily="34" charset="0"/>
            </a:endParaRPr>
          </a:p>
        </p:txBody>
      </p:sp>
      <p:sp>
        <p:nvSpPr>
          <p:cNvPr id="4" name="TextBox 3">
            <a:extLst>
              <a:ext uri="{FF2B5EF4-FFF2-40B4-BE49-F238E27FC236}">
                <a16:creationId xmlns:a16="http://schemas.microsoft.com/office/drawing/2014/main" id="{C109CF11-F14B-8F33-2375-7F581E6DA62D}"/>
              </a:ext>
            </a:extLst>
          </p:cNvPr>
          <p:cNvSpPr txBox="1"/>
          <p:nvPr/>
        </p:nvSpPr>
        <p:spPr>
          <a:xfrm>
            <a:off x="490313" y="2458859"/>
            <a:ext cx="6383866" cy="369332"/>
          </a:xfrm>
          <a:prstGeom prst="rect">
            <a:avLst/>
          </a:prstGeom>
          <a:noFill/>
        </p:spPr>
        <p:txBody>
          <a:bodyPr wrap="square">
            <a:spAutoFit/>
          </a:bodyPr>
          <a:lstStyle/>
          <a:p>
            <a:pPr algn="l" fontAlgn="base">
              <a:buNone/>
            </a:pPr>
            <a:r>
              <a:rPr lang="en-IN" b="1" i="0" dirty="0">
                <a:solidFill>
                  <a:srgbClr val="0070C0"/>
                </a:solidFill>
                <a:effectLst/>
                <a:latin typeface="Aptos Display" panose="020B0004020202020204" pitchFamily="34" charset="0"/>
              </a:rPr>
              <a:t>Importance of Data Visualization</a:t>
            </a:r>
          </a:p>
        </p:txBody>
      </p:sp>
      <p:sp>
        <p:nvSpPr>
          <p:cNvPr id="7" name="TextBox 6">
            <a:extLst>
              <a:ext uri="{FF2B5EF4-FFF2-40B4-BE49-F238E27FC236}">
                <a16:creationId xmlns:a16="http://schemas.microsoft.com/office/drawing/2014/main" id="{CD32580F-9B19-1C3D-C0A3-2DC3F88D2024}"/>
              </a:ext>
            </a:extLst>
          </p:cNvPr>
          <p:cNvSpPr txBox="1"/>
          <p:nvPr/>
        </p:nvSpPr>
        <p:spPr>
          <a:xfrm>
            <a:off x="490313" y="2997659"/>
            <a:ext cx="11211373" cy="3477875"/>
          </a:xfrm>
          <a:prstGeom prst="rect">
            <a:avLst/>
          </a:prstGeom>
          <a:noFill/>
        </p:spPr>
        <p:txBody>
          <a:bodyPr wrap="square">
            <a:spAutoFit/>
          </a:bodyPr>
          <a:lstStyle/>
          <a:p>
            <a:pPr>
              <a:spcBef>
                <a:spcPts val="1200"/>
              </a:spcBef>
              <a:buNone/>
            </a:pPr>
            <a:r>
              <a:rPr lang="en-US" b="1" dirty="0"/>
              <a:t>1. Simplifies Complex Data: </a:t>
            </a:r>
            <a:r>
              <a:rPr lang="en-US" dirty="0"/>
              <a:t>Data visualization breaks down large data sets into easy-to-understand visuals. For instance, a Tableau heatmap uses red to highlight underperforming states, instantly identifying problem areas.</a:t>
            </a:r>
          </a:p>
          <a:p>
            <a:pPr>
              <a:spcBef>
                <a:spcPts val="1200"/>
              </a:spcBef>
              <a:buNone/>
            </a:pPr>
            <a:r>
              <a:rPr lang="en-US" b="1" dirty="0"/>
              <a:t>2. Enhances Data Interpretation: </a:t>
            </a:r>
            <a:r>
              <a:rPr lang="en-US" dirty="0"/>
              <a:t>Visuals help uncover hidden patterns and trends. For example, a sales vs. profit chart might show that high sales don’t always mean high profits, guiding better strategic decisions.</a:t>
            </a:r>
          </a:p>
          <a:p>
            <a:pPr>
              <a:spcBef>
                <a:spcPts val="1200"/>
              </a:spcBef>
              <a:buNone/>
            </a:pPr>
            <a:r>
              <a:rPr lang="en-US" b="1" dirty="0"/>
              <a:t>3. Saves Time: </a:t>
            </a:r>
            <a:r>
              <a:rPr lang="en-US" dirty="0"/>
              <a:t>Visualization highlights key insights at a glance, like instantly spotting loss-making states in a heatmap, instead of scanning through rows of data.</a:t>
            </a:r>
          </a:p>
          <a:p>
            <a:pPr>
              <a:spcBef>
                <a:spcPts val="1200"/>
              </a:spcBef>
              <a:buNone/>
            </a:pPr>
            <a:r>
              <a:rPr lang="en-US" b="1" dirty="0"/>
              <a:t>4. Improves Communication: </a:t>
            </a:r>
            <a:r>
              <a:rPr lang="en-US" dirty="0"/>
              <a:t>Visuals like </a:t>
            </a:r>
            <a:r>
              <a:rPr lang="en-US" dirty="0" err="1"/>
              <a:t>TreeMaps</a:t>
            </a:r>
            <a:r>
              <a:rPr lang="en-US" dirty="0"/>
              <a:t> make data accessible to non-experts. For instance, a large rectangle for California clearly indicates high sales without needing complex interpretation.</a:t>
            </a:r>
          </a:p>
          <a:p>
            <a:pPr>
              <a:spcBef>
                <a:spcPts val="1200"/>
              </a:spcBef>
              <a:buNone/>
            </a:pPr>
            <a:r>
              <a:rPr lang="en-US" b="1" dirty="0"/>
              <a:t>5. Tells a Data Story: </a:t>
            </a:r>
            <a:r>
              <a:rPr lang="en-US" dirty="0"/>
              <a:t>Data visualization presents a clear narrative. A visual of product profits and losses can lead to actionable recommendations, making insights more engaging and impactful.</a:t>
            </a:r>
          </a:p>
        </p:txBody>
      </p:sp>
    </p:spTree>
    <p:extLst>
      <p:ext uri="{BB962C8B-B14F-4D97-AF65-F5344CB8AC3E}">
        <p14:creationId xmlns:p14="http://schemas.microsoft.com/office/powerpoint/2010/main" val="818634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0DB5F769-1973-ED1F-7DB0-6BB166B9107E}"/>
              </a:ext>
            </a:extLst>
          </p:cNvPr>
          <p:cNvSpPr txBox="1"/>
          <p:nvPr/>
        </p:nvSpPr>
        <p:spPr>
          <a:xfrm>
            <a:off x="397935" y="0"/>
            <a:ext cx="11565466"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Visualization Decisions Based On Data Type</a:t>
            </a:r>
          </a:p>
        </p:txBody>
      </p:sp>
      <p:sp>
        <p:nvSpPr>
          <p:cNvPr id="5" name="TextBox 4">
            <a:extLst>
              <a:ext uri="{FF2B5EF4-FFF2-40B4-BE49-F238E27FC236}">
                <a16:creationId xmlns:a16="http://schemas.microsoft.com/office/drawing/2014/main" id="{722C8D3F-C522-3070-A7CC-3B1A069BB401}"/>
              </a:ext>
            </a:extLst>
          </p:cNvPr>
          <p:cNvSpPr txBox="1"/>
          <p:nvPr/>
        </p:nvSpPr>
        <p:spPr>
          <a:xfrm>
            <a:off x="2112434" y="1481669"/>
            <a:ext cx="2197100" cy="369332"/>
          </a:xfrm>
          <a:prstGeom prst="rect">
            <a:avLst/>
          </a:prstGeom>
          <a:noFill/>
        </p:spPr>
        <p:txBody>
          <a:bodyPr wrap="square">
            <a:spAutoFit/>
          </a:bodyPr>
          <a:lstStyle/>
          <a:p>
            <a:r>
              <a:rPr lang="en-IN" b="1" dirty="0">
                <a:solidFill>
                  <a:srgbClr val="0070C0"/>
                </a:solidFill>
              </a:rPr>
              <a:t>Numerical data</a:t>
            </a:r>
          </a:p>
        </p:txBody>
      </p:sp>
      <p:sp>
        <p:nvSpPr>
          <p:cNvPr id="6" name="TextBox 5">
            <a:extLst>
              <a:ext uri="{FF2B5EF4-FFF2-40B4-BE49-F238E27FC236}">
                <a16:creationId xmlns:a16="http://schemas.microsoft.com/office/drawing/2014/main" id="{F6D28717-D553-1FFF-77F3-63D1A849492F}"/>
              </a:ext>
            </a:extLst>
          </p:cNvPr>
          <p:cNvSpPr txBox="1"/>
          <p:nvPr/>
        </p:nvSpPr>
        <p:spPr>
          <a:xfrm>
            <a:off x="8310034" y="1481669"/>
            <a:ext cx="2197100" cy="369332"/>
          </a:xfrm>
          <a:prstGeom prst="rect">
            <a:avLst/>
          </a:prstGeom>
          <a:noFill/>
        </p:spPr>
        <p:txBody>
          <a:bodyPr wrap="square">
            <a:spAutoFit/>
          </a:bodyPr>
          <a:lstStyle/>
          <a:p>
            <a:r>
              <a:rPr lang="en-IN" b="1" dirty="0">
                <a:solidFill>
                  <a:srgbClr val="0070C0"/>
                </a:solidFill>
              </a:rPr>
              <a:t>Categorical data </a:t>
            </a:r>
          </a:p>
        </p:txBody>
      </p:sp>
      <p:cxnSp>
        <p:nvCxnSpPr>
          <p:cNvPr id="8" name="Straight Connector 7">
            <a:extLst>
              <a:ext uri="{FF2B5EF4-FFF2-40B4-BE49-F238E27FC236}">
                <a16:creationId xmlns:a16="http://schemas.microsoft.com/office/drawing/2014/main" id="{F6E96CE8-1E8B-E595-74DC-39B566D69CCB}"/>
              </a:ext>
            </a:extLst>
          </p:cNvPr>
          <p:cNvCxnSpPr/>
          <p:nvPr/>
        </p:nvCxnSpPr>
        <p:spPr>
          <a:xfrm>
            <a:off x="6096000" y="1491735"/>
            <a:ext cx="0" cy="5019132"/>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D315DB1B-7401-BEEB-0300-AFB35AA3518D}"/>
              </a:ext>
            </a:extLst>
          </p:cNvPr>
          <p:cNvGrpSpPr/>
          <p:nvPr/>
        </p:nvGrpSpPr>
        <p:grpSpPr>
          <a:xfrm>
            <a:off x="936045" y="3507268"/>
            <a:ext cx="4283655" cy="2928030"/>
            <a:chOff x="940279" y="3033134"/>
            <a:chExt cx="4283655" cy="2928030"/>
          </a:xfrm>
        </p:grpSpPr>
        <p:pic>
          <p:nvPicPr>
            <p:cNvPr id="12" name="Picture 11">
              <a:extLst>
                <a:ext uri="{FF2B5EF4-FFF2-40B4-BE49-F238E27FC236}">
                  <a16:creationId xmlns:a16="http://schemas.microsoft.com/office/drawing/2014/main" id="{DA3EA270-CB1C-E2ED-9E09-EA1B9E014141}"/>
                </a:ext>
              </a:extLst>
            </p:cNvPr>
            <p:cNvPicPr>
              <a:picLocks noChangeAspect="1"/>
            </p:cNvPicPr>
            <p:nvPr/>
          </p:nvPicPr>
          <p:blipFill>
            <a:blip r:embed="rId2"/>
            <a:stretch>
              <a:fillRect/>
            </a:stretch>
          </p:blipFill>
          <p:spPr>
            <a:xfrm>
              <a:off x="940279" y="3033134"/>
              <a:ext cx="4275190" cy="1181202"/>
            </a:xfrm>
            <a:prstGeom prst="rect">
              <a:avLst/>
            </a:prstGeom>
          </p:spPr>
        </p:pic>
        <p:pic>
          <p:nvPicPr>
            <p:cNvPr id="14" name="Picture 13">
              <a:extLst>
                <a:ext uri="{FF2B5EF4-FFF2-40B4-BE49-F238E27FC236}">
                  <a16:creationId xmlns:a16="http://schemas.microsoft.com/office/drawing/2014/main" id="{F70497CB-B22B-5D43-B6E2-EB5683C0E45B}"/>
                </a:ext>
              </a:extLst>
            </p:cNvPr>
            <p:cNvPicPr>
              <a:picLocks noChangeAspect="1"/>
            </p:cNvPicPr>
            <p:nvPr/>
          </p:nvPicPr>
          <p:blipFill>
            <a:blip r:embed="rId3"/>
            <a:stretch>
              <a:fillRect/>
            </a:stretch>
          </p:blipFill>
          <p:spPr>
            <a:xfrm>
              <a:off x="948746" y="4155067"/>
              <a:ext cx="4275188" cy="1806097"/>
            </a:xfrm>
            <a:prstGeom prst="rect">
              <a:avLst/>
            </a:prstGeom>
          </p:spPr>
        </p:pic>
      </p:grpSp>
      <p:sp>
        <p:nvSpPr>
          <p:cNvPr id="17" name="TextBox 16">
            <a:extLst>
              <a:ext uri="{FF2B5EF4-FFF2-40B4-BE49-F238E27FC236}">
                <a16:creationId xmlns:a16="http://schemas.microsoft.com/office/drawing/2014/main" id="{9A9CC68B-ABFA-F49A-E21C-660B33D0CA9D}"/>
              </a:ext>
            </a:extLst>
          </p:cNvPr>
          <p:cNvSpPr txBox="1"/>
          <p:nvPr/>
        </p:nvSpPr>
        <p:spPr>
          <a:xfrm>
            <a:off x="397935" y="2018827"/>
            <a:ext cx="5590115" cy="954107"/>
          </a:xfrm>
          <a:prstGeom prst="rect">
            <a:avLst/>
          </a:prstGeom>
          <a:noFill/>
        </p:spPr>
        <p:txBody>
          <a:bodyPr wrap="square">
            <a:spAutoFit/>
          </a:bodyPr>
          <a:lstStyle/>
          <a:p>
            <a:r>
              <a:rPr lang="en-US" sz="1400" dirty="0">
                <a:latin typeface="Aptos Display" panose="020B0004020202020204" pitchFamily="34" charset="0"/>
              </a:rPr>
              <a:t>Since numerical data is focused on number values, graph types that draw attention to, and accurately portray the numbers will best represent the data. For example, a line chart typically draws attention to the variable on the Y-axis, which is a numerical value. </a:t>
            </a:r>
            <a:endParaRPr lang="en-IN" sz="1400" dirty="0">
              <a:latin typeface="Aptos Display" panose="020B0004020202020204" pitchFamily="34" charset="0"/>
            </a:endParaRPr>
          </a:p>
        </p:txBody>
      </p:sp>
      <p:sp>
        <p:nvSpPr>
          <p:cNvPr id="18" name="TextBox 17">
            <a:extLst>
              <a:ext uri="{FF2B5EF4-FFF2-40B4-BE49-F238E27FC236}">
                <a16:creationId xmlns:a16="http://schemas.microsoft.com/office/drawing/2014/main" id="{45459402-FF2A-B061-A8E7-8A1F481D8EB8}"/>
              </a:ext>
            </a:extLst>
          </p:cNvPr>
          <p:cNvSpPr txBox="1"/>
          <p:nvPr/>
        </p:nvSpPr>
        <p:spPr>
          <a:xfrm>
            <a:off x="6434668" y="2018827"/>
            <a:ext cx="5590115" cy="738664"/>
          </a:xfrm>
          <a:prstGeom prst="rect">
            <a:avLst/>
          </a:prstGeom>
          <a:noFill/>
        </p:spPr>
        <p:txBody>
          <a:bodyPr wrap="square">
            <a:spAutoFit/>
          </a:bodyPr>
          <a:lstStyle/>
          <a:p>
            <a:r>
              <a:rPr lang="en-US" sz="1400" dirty="0">
                <a:latin typeface="Aptos Display" panose="020B0004020202020204" pitchFamily="34" charset="0"/>
              </a:rPr>
              <a:t>Since categorical data is descriptive, and groups values by a label or characteristic, visualizations that represent parts of a whole, or distinct categories, are more appropriate to illustrate the data’s meaning. </a:t>
            </a:r>
            <a:endParaRPr lang="en-IN" sz="1400" dirty="0">
              <a:latin typeface="Aptos Display" panose="020B0004020202020204" pitchFamily="34" charset="0"/>
            </a:endParaRPr>
          </a:p>
        </p:txBody>
      </p:sp>
      <p:pic>
        <p:nvPicPr>
          <p:cNvPr id="20" name="Picture 19">
            <a:extLst>
              <a:ext uri="{FF2B5EF4-FFF2-40B4-BE49-F238E27FC236}">
                <a16:creationId xmlns:a16="http://schemas.microsoft.com/office/drawing/2014/main" id="{722E80FC-F6BD-BE4B-C05D-B71E50469030}"/>
              </a:ext>
            </a:extLst>
          </p:cNvPr>
          <p:cNvPicPr>
            <a:picLocks noChangeAspect="1"/>
          </p:cNvPicPr>
          <p:nvPr/>
        </p:nvPicPr>
        <p:blipFill>
          <a:blip r:embed="rId4"/>
          <a:stretch>
            <a:fillRect/>
          </a:stretch>
        </p:blipFill>
        <p:spPr>
          <a:xfrm>
            <a:off x="7006166" y="3151668"/>
            <a:ext cx="4290432" cy="2530059"/>
          </a:xfrm>
          <a:prstGeom prst="rect">
            <a:avLst/>
          </a:prstGeom>
        </p:spPr>
      </p:pic>
      <p:pic>
        <p:nvPicPr>
          <p:cNvPr id="22" name="Picture 21">
            <a:extLst>
              <a:ext uri="{FF2B5EF4-FFF2-40B4-BE49-F238E27FC236}">
                <a16:creationId xmlns:a16="http://schemas.microsoft.com/office/drawing/2014/main" id="{18EBEC70-9E70-AAA7-F6C8-97C98420F6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14996" y="6016139"/>
            <a:ext cx="3077004" cy="838317"/>
          </a:xfrm>
          <a:prstGeom prst="rect">
            <a:avLst/>
          </a:prstGeom>
        </p:spPr>
      </p:pic>
    </p:spTree>
    <p:extLst>
      <p:ext uri="{BB962C8B-B14F-4D97-AF65-F5344CB8AC3E}">
        <p14:creationId xmlns:p14="http://schemas.microsoft.com/office/powerpoint/2010/main" val="3144873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12A15B40-5FDC-7EF4-2C64-C382E430304A}"/>
              </a:ext>
            </a:extLst>
          </p:cNvPr>
          <p:cNvSpPr txBox="1"/>
          <p:nvPr/>
        </p:nvSpPr>
        <p:spPr>
          <a:xfrm>
            <a:off x="569429" y="0"/>
            <a:ext cx="11275438"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Dimensions And Measures In Data Models</a:t>
            </a:r>
          </a:p>
        </p:txBody>
      </p:sp>
      <p:sp>
        <p:nvSpPr>
          <p:cNvPr id="4" name="TextBox 3">
            <a:extLst>
              <a:ext uri="{FF2B5EF4-FFF2-40B4-BE49-F238E27FC236}">
                <a16:creationId xmlns:a16="http://schemas.microsoft.com/office/drawing/2014/main" id="{4BD6AB72-FDD1-3EE3-4E0D-E4AA870C8B72}"/>
              </a:ext>
            </a:extLst>
          </p:cNvPr>
          <p:cNvSpPr txBox="1"/>
          <p:nvPr/>
        </p:nvSpPr>
        <p:spPr>
          <a:xfrm>
            <a:off x="433961" y="1130447"/>
            <a:ext cx="10538837" cy="1575881"/>
          </a:xfrm>
          <a:prstGeom prst="rect">
            <a:avLst/>
          </a:prstGeom>
          <a:noFill/>
        </p:spPr>
        <p:txBody>
          <a:bodyPr wrap="square">
            <a:spAutoFit/>
          </a:bodyPr>
          <a:lstStyle/>
          <a:p>
            <a:pPr algn="l">
              <a:buNone/>
            </a:pPr>
            <a:r>
              <a:rPr lang="en-US" b="1" i="0" dirty="0">
                <a:solidFill>
                  <a:srgbClr val="0070C0"/>
                </a:solidFill>
                <a:effectLst/>
                <a:latin typeface="Aptos Display" panose="020B0004020202020204" pitchFamily="34" charset="0"/>
              </a:rPr>
              <a:t>Overview of Data Models</a:t>
            </a:r>
          </a:p>
          <a:p>
            <a:pPr marL="285750" indent="-285750" algn="l">
              <a:lnSpc>
                <a:spcPct val="150000"/>
              </a:lnSpc>
              <a:buFont typeface="Wingdings" panose="05000000000000000000" pitchFamily="2" charset="2"/>
              <a:buChar char="§"/>
            </a:pPr>
            <a:r>
              <a:rPr lang="en-US" b="0" i="0" dirty="0">
                <a:effectLst/>
                <a:latin typeface="Aptos Display" panose="020B0004020202020204" pitchFamily="34" charset="0"/>
              </a:rPr>
              <a:t>A data model is a way to organize data elements and define how they relate to each other.</a:t>
            </a:r>
          </a:p>
          <a:p>
            <a:pPr marL="285750" indent="-285750" algn="l">
              <a:lnSpc>
                <a:spcPct val="150000"/>
              </a:lnSpc>
              <a:buFont typeface="Wingdings" panose="05000000000000000000" pitchFamily="2" charset="2"/>
              <a:buChar char="§"/>
            </a:pPr>
            <a:r>
              <a:rPr lang="en-US" b="0" i="0" dirty="0">
                <a:effectLst/>
                <a:latin typeface="Aptos Display" panose="020B0004020202020204" pitchFamily="34" charset="0"/>
              </a:rPr>
              <a:t>Data models can be visually represented to show the structure and relationships within the data.</a:t>
            </a:r>
          </a:p>
          <a:p>
            <a:pPr marL="285750" indent="-285750" algn="l">
              <a:lnSpc>
                <a:spcPct val="150000"/>
              </a:lnSpc>
              <a:buFont typeface="Wingdings" panose="05000000000000000000" pitchFamily="2" charset="2"/>
              <a:buChar char="§"/>
            </a:pPr>
            <a:r>
              <a:rPr lang="en-US" b="0" i="0" dirty="0">
                <a:effectLst/>
                <a:latin typeface="Aptos Display" panose="020B0004020202020204" pitchFamily="34" charset="0"/>
              </a:rPr>
              <a:t>Every data source has a data model, even if it's not explicitly defined. </a:t>
            </a:r>
          </a:p>
        </p:txBody>
      </p:sp>
      <p:sp>
        <p:nvSpPr>
          <p:cNvPr id="5" name="TextBox 4">
            <a:extLst>
              <a:ext uri="{FF2B5EF4-FFF2-40B4-BE49-F238E27FC236}">
                <a16:creationId xmlns:a16="http://schemas.microsoft.com/office/drawing/2014/main" id="{A04483EB-1C24-1C78-B9A8-E7E130DEDFDC}"/>
              </a:ext>
            </a:extLst>
          </p:cNvPr>
          <p:cNvSpPr txBox="1"/>
          <p:nvPr/>
        </p:nvSpPr>
        <p:spPr>
          <a:xfrm>
            <a:off x="433961" y="2731729"/>
            <a:ext cx="11173839" cy="2545377"/>
          </a:xfrm>
          <a:prstGeom prst="rect">
            <a:avLst/>
          </a:prstGeom>
          <a:noFill/>
        </p:spPr>
        <p:txBody>
          <a:bodyPr wrap="square">
            <a:spAutoFit/>
          </a:bodyPr>
          <a:lstStyle/>
          <a:p>
            <a:pPr>
              <a:lnSpc>
                <a:spcPct val="150000"/>
              </a:lnSpc>
            </a:pPr>
            <a:r>
              <a:rPr lang="en-US" b="1" dirty="0">
                <a:solidFill>
                  <a:srgbClr val="0070C0"/>
                </a:solidFill>
                <a:latin typeface="Aptos Display" panose="020B0004020202020204" pitchFamily="34" charset="0"/>
              </a:rPr>
              <a:t>Dimensions</a:t>
            </a:r>
          </a:p>
          <a:p>
            <a:pPr marL="285750" indent="-285750">
              <a:lnSpc>
                <a:spcPct val="150000"/>
              </a:lnSpc>
              <a:buFont typeface="Wingdings" panose="05000000000000000000" pitchFamily="2" charset="2"/>
              <a:buChar char="§"/>
            </a:pPr>
            <a:r>
              <a:rPr lang="en-US" dirty="0">
                <a:latin typeface="Aptos Display" panose="020B0004020202020204" pitchFamily="34" charset="0"/>
              </a:rPr>
              <a:t>Dimensions are unique attributes that describe data.</a:t>
            </a:r>
          </a:p>
          <a:p>
            <a:pPr marL="285750" indent="-285750">
              <a:lnSpc>
                <a:spcPct val="150000"/>
              </a:lnSpc>
              <a:buFont typeface="Wingdings" panose="05000000000000000000" pitchFamily="2" charset="2"/>
              <a:buChar char="§"/>
            </a:pPr>
            <a:r>
              <a:rPr lang="en-US" dirty="0">
                <a:latin typeface="Aptos Display" panose="020B0004020202020204" pitchFamily="34" charset="0"/>
              </a:rPr>
              <a:t>In a table (such as one containing information about books), dimensions could include columns like title, genre, price, date published, and whether the book is in stock.</a:t>
            </a:r>
          </a:p>
          <a:p>
            <a:pPr marL="285750" indent="-285750">
              <a:lnSpc>
                <a:spcPct val="150000"/>
              </a:lnSpc>
              <a:buFont typeface="Wingdings" panose="05000000000000000000" pitchFamily="2" charset="2"/>
              <a:buChar char="§"/>
            </a:pPr>
            <a:r>
              <a:rPr lang="en-US" dirty="0">
                <a:latin typeface="Aptos Display" panose="020B0004020202020204" pitchFamily="34" charset="0"/>
              </a:rPr>
              <a:t>Each row in the table represents an item (e.g., a book) and contains values for each dimension.</a:t>
            </a:r>
          </a:p>
          <a:p>
            <a:pPr marL="285750" indent="-285750">
              <a:lnSpc>
                <a:spcPct val="150000"/>
              </a:lnSpc>
              <a:buFont typeface="Wingdings" panose="05000000000000000000" pitchFamily="2" charset="2"/>
              <a:buChar char="§"/>
            </a:pPr>
            <a:r>
              <a:rPr lang="en-US" dirty="0">
                <a:latin typeface="Aptos Display" panose="020B0004020202020204" pitchFamily="34" charset="0"/>
              </a:rPr>
              <a:t>Dimensions allow you to group and filter data to gain insights. </a:t>
            </a:r>
          </a:p>
        </p:txBody>
      </p:sp>
      <p:sp>
        <p:nvSpPr>
          <p:cNvPr id="6" name="TextBox 5">
            <a:extLst>
              <a:ext uri="{FF2B5EF4-FFF2-40B4-BE49-F238E27FC236}">
                <a16:creationId xmlns:a16="http://schemas.microsoft.com/office/drawing/2014/main" id="{6BDC23A8-63F7-FFA2-C221-EC5AEBA6C967}"/>
              </a:ext>
            </a:extLst>
          </p:cNvPr>
          <p:cNvSpPr txBox="1"/>
          <p:nvPr/>
        </p:nvSpPr>
        <p:spPr>
          <a:xfrm>
            <a:off x="433961" y="5290356"/>
            <a:ext cx="11410906" cy="1298882"/>
          </a:xfrm>
          <a:prstGeom prst="rect">
            <a:avLst/>
          </a:prstGeom>
          <a:noFill/>
        </p:spPr>
        <p:txBody>
          <a:bodyPr wrap="square">
            <a:spAutoFit/>
          </a:bodyPr>
          <a:lstStyle/>
          <a:p>
            <a:pPr>
              <a:lnSpc>
                <a:spcPct val="150000"/>
              </a:lnSpc>
            </a:pPr>
            <a:r>
              <a:rPr lang="en-US" b="1" dirty="0">
                <a:solidFill>
                  <a:srgbClr val="0070C0"/>
                </a:solidFill>
                <a:latin typeface="Aptos Display" panose="020B0004020202020204" pitchFamily="34" charset="0"/>
              </a:rPr>
              <a:t>Measures</a:t>
            </a:r>
          </a:p>
          <a:p>
            <a:pPr marL="285750" indent="-285750">
              <a:lnSpc>
                <a:spcPct val="150000"/>
              </a:lnSpc>
              <a:buFont typeface="Wingdings" panose="05000000000000000000" pitchFamily="2" charset="2"/>
              <a:buChar char="§"/>
            </a:pPr>
            <a:r>
              <a:rPr lang="en-US" dirty="0">
                <a:latin typeface="Aptos Display" panose="020B0004020202020204" pitchFamily="34" charset="0"/>
              </a:rPr>
              <a:t>Measures are aggregations or calculations performed on dimensions, such as counts, sums, or averages.</a:t>
            </a:r>
          </a:p>
          <a:p>
            <a:pPr marL="285750" indent="-285750">
              <a:lnSpc>
                <a:spcPct val="150000"/>
              </a:lnSpc>
              <a:buFont typeface="Wingdings" panose="05000000000000000000" pitchFamily="2" charset="2"/>
              <a:buChar char="§"/>
            </a:pPr>
            <a:r>
              <a:rPr lang="en-US" dirty="0">
                <a:latin typeface="Aptos Display" panose="020B0004020202020204" pitchFamily="34" charset="0"/>
              </a:rPr>
              <a:t>Measures can also be used to calculate the sum or average of a particular dimension, like the average price of books</a:t>
            </a:r>
          </a:p>
        </p:txBody>
      </p:sp>
    </p:spTree>
    <p:extLst>
      <p:ext uri="{BB962C8B-B14F-4D97-AF65-F5344CB8AC3E}">
        <p14:creationId xmlns:p14="http://schemas.microsoft.com/office/powerpoint/2010/main" val="47598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ED04B234-3702-63B7-1E8D-E5C16DB0E5E5}"/>
              </a:ext>
            </a:extLst>
          </p:cNvPr>
          <p:cNvSpPr txBox="1"/>
          <p:nvPr/>
        </p:nvSpPr>
        <p:spPr>
          <a:xfrm>
            <a:off x="823608" y="0"/>
            <a:ext cx="10544783"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Looker Studio</a:t>
            </a:r>
          </a:p>
        </p:txBody>
      </p:sp>
      <p:sp>
        <p:nvSpPr>
          <p:cNvPr id="3" name="TextBox 2">
            <a:extLst>
              <a:ext uri="{FF2B5EF4-FFF2-40B4-BE49-F238E27FC236}">
                <a16:creationId xmlns:a16="http://schemas.microsoft.com/office/drawing/2014/main" id="{B8274C21-7B25-A611-FDE7-46EC714A0D4A}"/>
              </a:ext>
            </a:extLst>
          </p:cNvPr>
          <p:cNvSpPr txBox="1"/>
          <p:nvPr/>
        </p:nvSpPr>
        <p:spPr>
          <a:xfrm>
            <a:off x="412490" y="1189936"/>
            <a:ext cx="11367017" cy="1015663"/>
          </a:xfrm>
          <a:prstGeom prst="rect">
            <a:avLst/>
          </a:prstGeom>
          <a:noFill/>
        </p:spPr>
        <p:txBody>
          <a:bodyPr wrap="square" rtlCol="0">
            <a:spAutoFit/>
          </a:bodyPr>
          <a:lstStyle/>
          <a:p>
            <a:r>
              <a:rPr lang="en-US" sz="2000" dirty="0"/>
              <a:t>Looker Studio, formerly known as Google Data Studio, is a cloud-based data visualization tool that you can use to turn data into shareable dashboards and reports. Available to anyone with a Google account, it’s a free tool that can connect to a wide variety of data sources, including databases.</a:t>
            </a:r>
            <a:endParaRPr lang="en-IN" sz="2800" dirty="0">
              <a:latin typeface="Aptos Display" panose="020B0004020202020204" pitchFamily="34" charset="0"/>
            </a:endParaRPr>
          </a:p>
        </p:txBody>
      </p:sp>
      <p:pic>
        <p:nvPicPr>
          <p:cNvPr id="3074" name="Picture 2" descr="Looker Studio Integration HubSpot Integration | Connect Them Today">
            <a:extLst>
              <a:ext uri="{FF2B5EF4-FFF2-40B4-BE49-F238E27FC236}">
                <a16:creationId xmlns:a16="http://schemas.microsoft.com/office/drawing/2014/main" id="{7E596B27-C9B9-D18F-2794-857ECFE86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3498" y="-216424"/>
            <a:ext cx="1464733" cy="1464733"/>
          </a:xfrm>
          <a:prstGeom prst="rect">
            <a:avLst/>
          </a:prstGeom>
          <a:noFill/>
          <a:extLst>
            <a:ext uri="{909E8E84-426E-40DD-AFC4-6F175D3DCCD1}">
              <a14:hiddenFill xmlns:a14="http://schemas.microsoft.com/office/drawing/2010/main">
                <a:solidFill>
                  <a:srgbClr val="FFFFFF"/>
                </a:solidFill>
              </a14:hiddenFill>
            </a:ext>
          </a:extLst>
        </p:spPr>
      </p:pic>
      <p:sp>
        <p:nvSpPr>
          <p:cNvPr id="4" name="Freeform 3">
            <a:extLst>
              <a:ext uri="{FF2B5EF4-FFF2-40B4-BE49-F238E27FC236}">
                <a16:creationId xmlns:a16="http://schemas.microsoft.com/office/drawing/2014/main" id="{41EE9FFE-A49D-2C25-EF50-2812D321248E}"/>
              </a:ext>
            </a:extLst>
          </p:cNvPr>
          <p:cNvSpPr/>
          <p:nvPr/>
        </p:nvSpPr>
        <p:spPr>
          <a:xfrm>
            <a:off x="1944148" y="2205599"/>
            <a:ext cx="8600508" cy="4485765"/>
          </a:xfrm>
          <a:custGeom>
            <a:avLst/>
            <a:gdLst/>
            <a:ahLst/>
            <a:cxnLst/>
            <a:rect l="l" t="t" r="r" b="b"/>
            <a:pathLst>
              <a:path w="15212126" h="8556821">
                <a:moveTo>
                  <a:pt x="0" y="0"/>
                </a:moveTo>
                <a:lnTo>
                  <a:pt x="15212126" y="0"/>
                </a:lnTo>
                <a:lnTo>
                  <a:pt x="15212126" y="8556820"/>
                </a:lnTo>
                <a:lnTo>
                  <a:pt x="0" y="8556820"/>
                </a:lnTo>
                <a:lnTo>
                  <a:pt x="0" y="0"/>
                </a:lnTo>
                <a:close/>
              </a:path>
            </a:pathLst>
          </a:custGeom>
          <a:blipFill>
            <a:blip r:embed="rId3"/>
            <a:stretch>
              <a:fillRect/>
            </a:stretch>
          </a:blipFill>
        </p:spPr>
      </p:sp>
    </p:spTree>
    <p:extLst>
      <p:ext uri="{BB962C8B-B14F-4D97-AF65-F5344CB8AC3E}">
        <p14:creationId xmlns:p14="http://schemas.microsoft.com/office/powerpoint/2010/main" val="3888313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5F6C59D1-9943-837C-7730-4A90B7CD8136}"/>
              </a:ext>
            </a:extLst>
          </p:cNvPr>
          <p:cNvSpPr txBox="1"/>
          <p:nvPr/>
        </p:nvSpPr>
        <p:spPr>
          <a:xfrm>
            <a:off x="967537" y="-207536"/>
            <a:ext cx="10544783" cy="1031886"/>
          </a:xfrm>
          <a:prstGeom prst="rect">
            <a:avLst/>
          </a:prstGeom>
        </p:spPr>
        <p:txBody>
          <a:bodyPr wrap="square" lIns="0" tIns="0" rIns="0" bIns="0" rtlCol="0" anchor="t">
            <a:spAutoFit/>
          </a:bodyPr>
          <a:lstStyle/>
          <a:p>
            <a:pPr algn="ctr">
              <a:lnSpc>
                <a:spcPts val="9400"/>
              </a:lnSpc>
            </a:pPr>
            <a:r>
              <a:rPr lang="en-US" sz="4400" b="1" spc="10" dirty="0">
                <a:solidFill>
                  <a:srgbClr val="000000"/>
                </a:solidFill>
                <a:latin typeface="Gadugi" panose="020B0502040204020203" pitchFamily="34" charset="0"/>
                <a:ea typeface="Gadugi" panose="020B0502040204020203" pitchFamily="34" charset="0"/>
                <a:cs typeface="Raleway Bold"/>
                <a:sym typeface="Raleway Bold"/>
              </a:rPr>
              <a:t>Data Modeling Languages</a:t>
            </a:r>
          </a:p>
        </p:txBody>
      </p:sp>
      <p:sp>
        <p:nvSpPr>
          <p:cNvPr id="4" name="TextBox 3">
            <a:extLst>
              <a:ext uri="{FF2B5EF4-FFF2-40B4-BE49-F238E27FC236}">
                <a16:creationId xmlns:a16="http://schemas.microsoft.com/office/drawing/2014/main" id="{D9A4DD98-B9F3-34DB-00D3-5F65930858AD}"/>
              </a:ext>
            </a:extLst>
          </p:cNvPr>
          <p:cNvSpPr txBox="1"/>
          <p:nvPr/>
        </p:nvSpPr>
        <p:spPr>
          <a:xfrm>
            <a:off x="412491" y="912933"/>
            <a:ext cx="11367017" cy="1200329"/>
          </a:xfrm>
          <a:prstGeom prst="rect">
            <a:avLst/>
          </a:prstGeom>
          <a:noFill/>
        </p:spPr>
        <p:txBody>
          <a:bodyPr wrap="square" rtlCol="0">
            <a:spAutoFit/>
          </a:bodyPr>
          <a:lstStyle/>
          <a:p>
            <a:r>
              <a:rPr lang="en-US" dirty="0">
                <a:latin typeface="Aptos Display" panose="020B0004020202020204" pitchFamily="34" charset="0"/>
              </a:rPr>
              <a:t>A data modeling language is a specialized language used to represent and structure data, defining its types, relationships, and constraints. It's a tool for creating semantic models, allowing for abstraction, modularity, and efficiency in data representation. These languages are crucial for data management, ensuring consistency and clarity across different systems and for facilitating communication between stakeholders. </a:t>
            </a:r>
            <a:endParaRPr lang="en-IN" sz="2400" dirty="0">
              <a:latin typeface="Aptos Display" panose="020B0004020202020204" pitchFamily="34" charset="0"/>
            </a:endParaRPr>
          </a:p>
        </p:txBody>
      </p:sp>
      <p:sp>
        <p:nvSpPr>
          <p:cNvPr id="5" name="TextBox 4">
            <a:extLst>
              <a:ext uri="{FF2B5EF4-FFF2-40B4-BE49-F238E27FC236}">
                <a16:creationId xmlns:a16="http://schemas.microsoft.com/office/drawing/2014/main" id="{92F773B3-3349-0890-8900-AE6A4B909B7C}"/>
              </a:ext>
            </a:extLst>
          </p:cNvPr>
          <p:cNvSpPr txBox="1"/>
          <p:nvPr/>
        </p:nvSpPr>
        <p:spPr>
          <a:xfrm>
            <a:off x="412491" y="2266433"/>
            <a:ext cx="6096000" cy="369332"/>
          </a:xfrm>
          <a:prstGeom prst="rect">
            <a:avLst/>
          </a:prstGeom>
          <a:noFill/>
        </p:spPr>
        <p:txBody>
          <a:bodyPr wrap="square">
            <a:spAutoFit/>
          </a:bodyPr>
          <a:lstStyle/>
          <a:p>
            <a:r>
              <a:rPr lang="en-US" b="1" i="0" dirty="0">
                <a:solidFill>
                  <a:srgbClr val="0070C0"/>
                </a:solidFill>
                <a:effectLst/>
                <a:latin typeface="Aptos Display" panose="020B0004020202020204" pitchFamily="34" charset="0"/>
              </a:rPr>
              <a:t>Purpose of Data Modeling Languages:</a:t>
            </a:r>
            <a:endParaRPr lang="en-IN" b="1" dirty="0">
              <a:solidFill>
                <a:srgbClr val="0070C0"/>
              </a:solidFill>
              <a:latin typeface="Aptos Display" panose="020B0004020202020204" pitchFamily="34" charset="0"/>
            </a:endParaRPr>
          </a:p>
        </p:txBody>
      </p:sp>
      <p:sp>
        <p:nvSpPr>
          <p:cNvPr id="8" name="TextBox 7">
            <a:extLst>
              <a:ext uri="{FF2B5EF4-FFF2-40B4-BE49-F238E27FC236}">
                <a16:creationId xmlns:a16="http://schemas.microsoft.com/office/drawing/2014/main" id="{188E73FF-3373-D93D-3DC8-E7CA2C361725}"/>
              </a:ext>
            </a:extLst>
          </p:cNvPr>
          <p:cNvSpPr txBox="1"/>
          <p:nvPr/>
        </p:nvSpPr>
        <p:spPr>
          <a:xfrm>
            <a:off x="412491" y="2788936"/>
            <a:ext cx="11099829" cy="3524042"/>
          </a:xfrm>
          <a:prstGeom prst="rect">
            <a:avLst/>
          </a:prstGeom>
          <a:noFill/>
        </p:spPr>
        <p:txBody>
          <a:bodyPr wrap="square">
            <a:spAutoFit/>
          </a:bodyPr>
          <a:lstStyle/>
          <a:p>
            <a:pPr>
              <a:spcBef>
                <a:spcPts val="600"/>
              </a:spcBef>
            </a:pPr>
            <a:r>
              <a:rPr lang="en-IN" b="1" dirty="0">
                <a:latin typeface="Aptos Display" panose="020B0004020202020204" pitchFamily="34" charset="0"/>
              </a:rPr>
              <a:t>Abstraction: </a:t>
            </a:r>
            <a:r>
              <a:rPr lang="en-IN" dirty="0">
                <a:latin typeface="Aptos Display" panose="020B0004020202020204" pitchFamily="34" charset="0"/>
              </a:rPr>
              <a:t>Data </a:t>
            </a:r>
            <a:r>
              <a:rPr lang="en-IN" dirty="0" err="1">
                <a:latin typeface="Aptos Display" panose="020B0004020202020204" pitchFamily="34" charset="0"/>
              </a:rPr>
              <a:t>modeling</a:t>
            </a:r>
            <a:r>
              <a:rPr lang="en-IN" dirty="0">
                <a:latin typeface="Aptos Display" panose="020B0004020202020204" pitchFamily="34" charset="0"/>
              </a:rPr>
              <a:t> languages provide a way to represent complex data in a simplified, abstract manner, hiding unnecessary details and focusing on essential characteristics. </a:t>
            </a:r>
          </a:p>
          <a:p>
            <a:pPr>
              <a:spcBef>
                <a:spcPts val="600"/>
              </a:spcBef>
            </a:pPr>
            <a:r>
              <a:rPr lang="en-IN" b="1" dirty="0">
                <a:latin typeface="Aptos Display" panose="020B0004020202020204" pitchFamily="34" charset="0"/>
              </a:rPr>
              <a:t>Modularity: </a:t>
            </a:r>
            <a:r>
              <a:rPr lang="en-IN" dirty="0">
                <a:latin typeface="Aptos Display" panose="020B0004020202020204" pitchFamily="34" charset="0"/>
              </a:rPr>
              <a:t>They enable the breakdown of data into manageable modules or components, making it easier to understand, modify, and reuse. </a:t>
            </a:r>
          </a:p>
          <a:p>
            <a:pPr>
              <a:spcBef>
                <a:spcPts val="600"/>
              </a:spcBef>
            </a:pPr>
            <a:r>
              <a:rPr lang="en-IN" b="1" dirty="0">
                <a:latin typeface="Aptos Display" panose="020B0004020202020204" pitchFamily="34" charset="0"/>
              </a:rPr>
              <a:t>Efficiency: </a:t>
            </a:r>
            <a:r>
              <a:rPr lang="en-IN" dirty="0">
                <a:latin typeface="Aptos Display" panose="020B0004020202020204" pitchFamily="34" charset="0"/>
              </a:rPr>
              <a:t>By defining data structures and relationships, these languages help optimize data storage and retrieval processes. </a:t>
            </a:r>
          </a:p>
          <a:p>
            <a:pPr>
              <a:spcBef>
                <a:spcPts val="600"/>
              </a:spcBef>
            </a:pPr>
            <a:r>
              <a:rPr lang="en-IN" b="1" dirty="0">
                <a:latin typeface="Aptos Display" panose="020B0004020202020204" pitchFamily="34" charset="0"/>
              </a:rPr>
              <a:t>Communication: </a:t>
            </a:r>
            <a:r>
              <a:rPr lang="en-IN" dirty="0">
                <a:latin typeface="Aptos Display" panose="020B0004020202020204" pitchFamily="34" charset="0"/>
              </a:rPr>
              <a:t>They serve as a common language for data professionals, business analysts, and other stakeholders to understand and discuss data requirements. </a:t>
            </a:r>
          </a:p>
          <a:p>
            <a:pPr>
              <a:spcBef>
                <a:spcPts val="600"/>
              </a:spcBef>
            </a:pPr>
            <a:r>
              <a:rPr lang="en-IN" b="1" dirty="0">
                <a:latin typeface="Aptos Display" panose="020B0004020202020204" pitchFamily="34" charset="0"/>
              </a:rPr>
              <a:t>Data Integrity: </a:t>
            </a:r>
            <a:r>
              <a:rPr lang="en-IN" dirty="0">
                <a:latin typeface="Aptos Display" panose="020B0004020202020204" pitchFamily="34" charset="0"/>
              </a:rPr>
              <a:t>Data </a:t>
            </a:r>
            <a:r>
              <a:rPr lang="en-IN" dirty="0" err="1">
                <a:latin typeface="Aptos Display" panose="020B0004020202020204" pitchFamily="34" charset="0"/>
              </a:rPr>
              <a:t>modeling</a:t>
            </a:r>
            <a:r>
              <a:rPr lang="en-IN" dirty="0">
                <a:latin typeface="Aptos Display" panose="020B0004020202020204" pitchFamily="34" charset="0"/>
              </a:rPr>
              <a:t> languages help enforce rules and constraints, ensuring data consistency and accuracy. </a:t>
            </a:r>
          </a:p>
          <a:p>
            <a:pPr>
              <a:spcBef>
                <a:spcPts val="600"/>
              </a:spcBef>
            </a:pPr>
            <a:r>
              <a:rPr lang="en-IN" b="1" dirty="0">
                <a:latin typeface="Aptos Display" panose="020B0004020202020204" pitchFamily="34" charset="0"/>
              </a:rPr>
              <a:t>Database Design: </a:t>
            </a:r>
            <a:r>
              <a:rPr lang="en-IN" dirty="0">
                <a:latin typeface="Aptos Display" panose="020B0004020202020204" pitchFamily="34" charset="0"/>
              </a:rPr>
              <a:t>They play a vital role in designing the structure of databases, defining tables, columns, relationships, and constraints. </a:t>
            </a:r>
          </a:p>
        </p:txBody>
      </p:sp>
    </p:spTree>
    <p:extLst>
      <p:ext uri="{BB962C8B-B14F-4D97-AF65-F5344CB8AC3E}">
        <p14:creationId xmlns:p14="http://schemas.microsoft.com/office/powerpoint/2010/main" val="4129094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15806A61-6562-BF73-786E-879873779C78}"/>
              </a:ext>
            </a:extLst>
          </p:cNvPr>
          <p:cNvSpPr txBox="1"/>
          <p:nvPr/>
        </p:nvSpPr>
        <p:spPr>
          <a:xfrm>
            <a:off x="823608" y="-110102"/>
            <a:ext cx="10544783" cy="1031886"/>
          </a:xfrm>
          <a:prstGeom prst="rect">
            <a:avLst/>
          </a:prstGeom>
        </p:spPr>
        <p:txBody>
          <a:bodyPr wrap="square" lIns="0" tIns="0" rIns="0" bIns="0" rtlCol="0" anchor="t">
            <a:spAutoFit/>
          </a:bodyPr>
          <a:lstStyle/>
          <a:p>
            <a:pPr algn="ctr">
              <a:lnSpc>
                <a:spcPts val="9400"/>
              </a:lnSpc>
            </a:pPr>
            <a:r>
              <a:rPr lang="en-US" sz="4400" b="1" spc="10" dirty="0" err="1">
                <a:solidFill>
                  <a:srgbClr val="000000"/>
                </a:solidFill>
                <a:latin typeface="Gadugi" panose="020B0502040204020203" pitchFamily="34" charset="0"/>
                <a:ea typeface="Gadugi" panose="020B0502040204020203" pitchFamily="34" charset="0"/>
                <a:cs typeface="Raleway Bold"/>
                <a:sym typeface="Raleway Bold"/>
              </a:rPr>
              <a:t>LookML</a:t>
            </a:r>
            <a:endParaRPr lang="en-US" sz="4400" b="1" spc="10" dirty="0">
              <a:solidFill>
                <a:srgbClr val="000000"/>
              </a:solidFill>
              <a:latin typeface="Gadugi" panose="020B0502040204020203" pitchFamily="34" charset="0"/>
              <a:ea typeface="Gadugi" panose="020B0502040204020203" pitchFamily="34" charset="0"/>
              <a:cs typeface="Raleway Bold"/>
              <a:sym typeface="Raleway Bold"/>
            </a:endParaRPr>
          </a:p>
        </p:txBody>
      </p:sp>
      <p:sp>
        <p:nvSpPr>
          <p:cNvPr id="5" name="TextBox 4">
            <a:extLst>
              <a:ext uri="{FF2B5EF4-FFF2-40B4-BE49-F238E27FC236}">
                <a16:creationId xmlns:a16="http://schemas.microsoft.com/office/drawing/2014/main" id="{9864A154-6556-50DD-BFB5-0B58AFCC132D}"/>
              </a:ext>
            </a:extLst>
          </p:cNvPr>
          <p:cNvSpPr txBox="1"/>
          <p:nvPr/>
        </p:nvSpPr>
        <p:spPr>
          <a:xfrm>
            <a:off x="412490" y="1103844"/>
            <a:ext cx="11367017" cy="1015663"/>
          </a:xfrm>
          <a:prstGeom prst="rect">
            <a:avLst/>
          </a:prstGeom>
          <a:noFill/>
        </p:spPr>
        <p:txBody>
          <a:bodyPr wrap="square" rtlCol="0">
            <a:spAutoFit/>
          </a:bodyPr>
          <a:lstStyle/>
          <a:p>
            <a:r>
              <a:rPr lang="en-US" sz="2000" dirty="0" err="1"/>
              <a:t>LookML</a:t>
            </a:r>
            <a:r>
              <a:rPr lang="en-US" sz="2000" dirty="0"/>
              <a:t> is a data modeling language used in the Looker development environment to create semantic data models. A semantic data model is an approach to structuring data that emphasizes the meaning and relationships between data elements. </a:t>
            </a:r>
            <a:endParaRPr lang="en-IN" sz="2800" dirty="0">
              <a:latin typeface="Aptos Display" panose="020B0004020202020204" pitchFamily="34" charset="0"/>
            </a:endParaRPr>
          </a:p>
        </p:txBody>
      </p:sp>
      <p:pic>
        <p:nvPicPr>
          <p:cNvPr id="5122" name="Picture 2" descr="The Genesis of LookML: A Game-Changing Approach">
            <a:extLst>
              <a:ext uri="{FF2B5EF4-FFF2-40B4-BE49-F238E27FC236}">
                <a16:creationId xmlns:a16="http://schemas.microsoft.com/office/drawing/2014/main" id="{5927A2F2-6843-4243-4647-4D006A42E5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5267" y="0"/>
            <a:ext cx="2226733" cy="83123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A LookML project can contain models, views, and LookML dashboards, each of which is made up other LookML elements.">
            <a:extLst>
              <a:ext uri="{FF2B5EF4-FFF2-40B4-BE49-F238E27FC236}">
                <a16:creationId xmlns:a16="http://schemas.microsoft.com/office/drawing/2014/main" id="{699024D5-FF01-8968-5F29-4882DC2958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011" y="2119507"/>
            <a:ext cx="5466456" cy="46069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43156ED-EFC3-4ACF-30DC-23843896EE99}"/>
              </a:ext>
            </a:extLst>
          </p:cNvPr>
          <p:cNvSpPr txBox="1"/>
          <p:nvPr/>
        </p:nvSpPr>
        <p:spPr>
          <a:xfrm>
            <a:off x="-1125749" y="3539361"/>
            <a:ext cx="6096000" cy="589072"/>
          </a:xfrm>
          <a:prstGeom prst="rect">
            <a:avLst/>
          </a:prstGeom>
          <a:noFill/>
        </p:spPr>
        <p:txBody>
          <a:bodyPr wrap="square">
            <a:spAutoFit/>
          </a:bodyPr>
          <a:lstStyle/>
          <a:p>
            <a:pPr algn="ctr">
              <a:lnSpc>
                <a:spcPts val="4479"/>
              </a:lnSpc>
              <a:spcBef>
                <a:spcPct val="0"/>
              </a:spcBef>
            </a:pPr>
            <a:r>
              <a:rPr lang="en-US" sz="1800" b="1" dirty="0">
                <a:solidFill>
                  <a:srgbClr val="000000"/>
                </a:solidFill>
                <a:latin typeface="Aptos Display" panose="020B0004020202020204" pitchFamily="34" charset="0"/>
                <a:ea typeface="Glacial Indifference Bold"/>
                <a:cs typeface="Glacial Indifference Bold"/>
                <a:sym typeface="Glacial Indifference Bold"/>
              </a:rPr>
              <a:t>Parts of a </a:t>
            </a:r>
            <a:r>
              <a:rPr lang="en-US" sz="1800" b="1" dirty="0" err="1">
                <a:solidFill>
                  <a:srgbClr val="000000"/>
                </a:solidFill>
                <a:latin typeface="Aptos Display" panose="020B0004020202020204" pitchFamily="34" charset="0"/>
                <a:ea typeface="Glacial Indifference Bold"/>
                <a:cs typeface="Glacial Indifference Bold"/>
                <a:sym typeface="Glacial Indifference Bold"/>
              </a:rPr>
              <a:t>LookML</a:t>
            </a:r>
            <a:r>
              <a:rPr lang="en-US" sz="1800" b="1" dirty="0">
                <a:solidFill>
                  <a:srgbClr val="000000"/>
                </a:solidFill>
                <a:latin typeface="Aptos Display" panose="020B0004020202020204" pitchFamily="34" charset="0"/>
                <a:ea typeface="Glacial Indifference Bold"/>
                <a:cs typeface="Glacial Indifference Bold"/>
                <a:sym typeface="Glacial Indifference Bold"/>
              </a:rPr>
              <a:t> Project</a:t>
            </a:r>
          </a:p>
        </p:txBody>
      </p:sp>
    </p:spTree>
    <p:extLst>
      <p:ext uri="{BB962C8B-B14F-4D97-AF65-F5344CB8AC3E}">
        <p14:creationId xmlns:p14="http://schemas.microsoft.com/office/powerpoint/2010/main" val="440426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Latest news on cloud computing from Google">
            <a:extLst>
              <a:ext uri="{FF2B5EF4-FFF2-40B4-BE49-F238E27FC236}">
                <a16:creationId xmlns:a16="http://schemas.microsoft.com/office/drawing/2014/main" id="{28E86AC1-FE5B-7124-C32E-1ACCDB2B6F1F}"/>
              </a:ext>
            </a:extLst>
          </p:cNvPr>
          <p:cNvPicPr>
            <a:picLocks noChangeAspect="1" noChangeArrowheads="1"/>
          </p:cNvPicPr>
          <p:nvPr/>
        </p:nvPicPr>
        <p:blipFill>
          <a:blip r:embed="rId2">
            <a:alphaModFix amt="33000"/>
            <a:extLst>
              <a:ext uri="{28A0092B-C50C-407E-A947-70E740481C1C}">
                <a14:useLocalDpi xmlns:a14="http://schemas.microsoft.com/office/drawing/2010/main" val="0"/>
              </a:ext>
            </a:extLst>
          </a:blip>
          <a:srcRect/>
          <a:stretch>
            <a:fillRect/>
          </a:stretch>
        </p:blipFill>
        <p:spPr bwMode="auto">
          <a:xfrm>
            <a:off x="108804" y="143145"/>
            <a:ext cx="12192000" cy="50736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6">
            <a:extLst>
              <a:ext uri="{FF2B5EF4-FFF2-40B4-BE49-F238E27FC236}">
                <a16:creationId xmlns:a16="http://schemas.microsoft.com/office/drawing/2014/main" id="{692C0281-E7E6-11D2-FA00-2B4039706A0A}"/>
              </a:ext>
            </a:extLst>
          </p:cNvPr>
          <p:cNvSpPr txBox="1"/>
          <p:nvPr/>
        </p:nvSpPr>
        <p:spPr>
          <a:xfrm>
            <a:off x="932412" y="4971606"/>
            <a:ext cx="10544783" cy="1205458"/>
          </a:xfrm>
          <a:prstGeom prst="rect">
            <a:avLst/>
          </a:prstGeom>
        </p:spPr>
        <p:txBody>
          <a:bodyPr wrap="square" lIns="0" tIns="0" rIns="0" bIns="0" rtlCol="0" anchor="t">
            <a:spAutoFit/>
          </a:bodyPr>
          <a:lstStyle/>
          <a:p>
            <a:pPr algn="ctr">
              <a:lnSpc>
                <a:spcPts val="9400"/>
              </a:lnSpc>
            </a:pPr>
            <a:r>
              <a:rPr lang="en-US" sz="7200" b="1" spc="10" dirty="0">
                <a:solidFill>
                  <a:srgbClr val="000000"/>
                </a:solidFill>
                <a:latin typeface="Gadugi" panose="020B0502040204020203" pitchFamily="34" charset="0"/>
                <a:ea typeface="Gadugi" panose="020B0502040204020203" pitchFamily="34" charset="0"/>
                <a:cs typeface="Raleway Bold"/>
                <a:sym typeface="Raleway Bold"/>
              </a:rPr>
              <a:t>Thank You </a:t>
            </a:r>
            <a:r>
              <a:rPr lang="en-US" sz="8000" b="1" spc="10" dirty="0">
                <a:solidFill>
                  <a:srgbClr val="000000"/>
                </a:solidFill>
                <a:latin typeface="Gadugi" panose="020B0502040204020203" pitchFamily="34" charset="0"/>
                <a:ea typeface="Gadugi" panose="020B0502040204020203" pitchFamily="34" charset="0"/>
                <a:cs typeface="Raleway Bold"/>
                <a:sym typeface="Raleway Bold"/>
              </a:rPr>
              <a:t>:)</a:t>
            </a:r>
            <a:endParaRPr lang="en-US" sz="7200" b="1" spc="10" dirty="0">
              <a:solidFill>
                <a:srgbClr val="000000"/>
              </a:solidFill>
              <a:latin typeface="Gadugi" panose="020B0502040204020203" pitchFamily="34" charset="0"/>
              <a:ea typeface="Gadugi" panose="020B0502040204020203" pitchFamily="34" charset="0"/>
              <a:cs typeface="Raleway Bold"/>
              <a:sym typeface="Raleway Bold"/>
            </a:endParaRPr>
          </a:p>
        </p:txBody>
      </p:sp>
    </p:spTree>
    <p:extLst>
      <p:ext uri="{BB962C8B-B14F-4D97-AF65-F5344CB8AC3E}">
        <p14:creationId xmlns:p14="http://schemas.microsoft.com/office/powerpoint/2010/main" val="2258996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826</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 Display</vt:lpstr>
      <vt:lpstr>Arial</vt:lpstr>
      <vt:lpstr>Calibri</vt:lpstr>
      <vt:lpstr>Calibri Light</vt:lpstr>
      <vt:lpstr>Gadugi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Yashwanth S</dc:creator>
  <cp:lastModifiedBy>Yashwanth S</cp:lastModifiedBy>
  <cp:revision>4</cp:revision>
  <dcterms:created xsi:type="dcterms:W3CDTF">2025-06-24T17:05:00Z</dcterms:created>
  <dcterms:modified xsi:type="dcterms:W3CDTF">2025-06-24T20:12:46Z</dcterms:modified>
</cp:coreProperties>
</file>